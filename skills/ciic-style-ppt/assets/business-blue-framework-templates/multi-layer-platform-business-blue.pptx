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drawings/drawing1.xml" ContentType="application/vnd.openxmlformats-officedocument.drawingml.chartshapes+xml"/>
  <Override PartName="/ppt/handoutMasters/handoutMaster1.xml" ContentType="application/vnd.openxmlformats-officedocument.presentationml.handoutMaster+xml"/>
  <Override PartName="/ppt/media/image101.svg" ContentType="image/svg+xml"/>
  <Override PartName="/ppt/media/image103.svg" ContentType="image/svg+xml"/>
  <Override PartName="/ppt/media/image105.svg" ContentType="image/svg+xml"/>
  <Override PartName="/ppt/media/image107.svg" ContentType="image/svg+xml"/>
  <Override PartName="/ppt/media/image109.svg" ContentType="image/svg+xml"/>
  <Override PartName="/ppt/media/image111.svg" ContentType="image/svg+xml"/>
  <Override PartName="/ppt/media/image113.svg" ContentType="image/svg+xml"/>
  <Override PartName="/ppt/media/image115.svg" ContentType="image/svg+xml"/>
  <Override PartName="/ppt/media/image117.svg" ContentType="image/svg+xml"/>
  <Override PartName="/ppt/media/image118.svg" ContentType="image/svg+xml"/>
  <Override PartName="/ppt/media/image122.svg" ContentType="image/svg+xml"/>
  <Override PartName="/ppt/media/image123.svg" ContentType="image/svg+xml"/>
  <Override PartName="/ppt/media/image127.svg" ContentType="image/svg+xml"/>
  <Override PartName="/ppt/media/image132.svg" ContentType="image/svg+xml"/>
  <Override PartName="/ppt/media/image134.svg" ContentType="image/svg+xml"/>
  <Override PartName="/ppt/media/image136.svg" ContentType="image/svg+xml"/>
  <Override PartName="/ppt/media/image138.svg" ContentType="image/svg+xml"/>
  <Override PartName="/ppt/media/image140.svg" ContentType="image/svg+xml"/>
  <Override PartName="/ppt/media/image142.svg" ContentType="image/svg+xml"/>
  <Override PartName="/ppt/media/image144.svg" ContentType="image/svg+xml"/>
  <Override PartName="/ppt/media/image146.svg" ContentType="image/svg+xml"/>
  <Override PartName="/ppt/media/image148.svg" ContentType="image/svg+xml"/>
  <Override PartName="/ppt/media/image150.svg" ContentType="image/svg+xml"/>
  <Override PartName="/ppt/media/image151.svg" ContentType="image/svg+xml"/>
  <Override PartName="/ppt/media/image153.svg" ContentType="image/svg+xml"/>
  <Override PartName="/ppt/media/image154.svg" ContentType="image/svg+xml"/>
  <Override PartName="/ppt/media/image156.svg" ContentType="image/svg+xml"/>
  <Override PartName="/ppt/media/image158.svg" ContentType="image/svg+xml"/>
  <Override PartName="/ppt/media/image160.svg" ContentType="image/svg+xml"/>
  <Override PartName="/ppt/media/image162.svg" ContentType="image/svg+xml"/>
  <Override PartName="/ppt/media/image164.svg" ContentType="image/svg+xml"/>
  <Override PartName="/ppt/media/image166.svg" ContentType="image/svg+xml"/>
  <Override PartName="/ppt/media/image168.svg" ContentType="image/svg+xml"/>
  <Override PartName="/ppt/media/image170.svg" ContentType="image/svg+xml"/>
  <Override PartName="/ppt/media/image172.svg" ContentType="image/svg+xml"/>
  <Override PartName="/ppt/media/image174.svg" ContentType="image/svg+xml"/>
  <Override PartName="/ppt/media/image176.svg" ContentType="image/svg+xml"/>
  <Override PartName="/ppt/media/image178.svg" ContentType="image/svg+xml"/>
  <Override PartName="/ppt/media/image18.svg" ContentType="image/svg+xml"/>
  <Override PartName="/ppt/media/image180.svg" ContentType="image/svg+xml"/>
  <Override PartName="/ppt/media/image182.svg" ContentType="image/svg+xml"/>
  <Override PartName="/ppt/media/image184.svg" ContentType="image/svg+xml"/>
  <Override PartName="/ppt/media/image186.svg" ContentType="image/svg+xml"/>
  <Override PartName="/ppt/media/image188.svg" ContentType="image/svg+xml"/>
  <Override PartName="/ppt/media/image190.svg" ContentType="image/svg+xml"/>
  <Override PartName="/ppt/media/image192.svg" ContentType="image/svg+xml"/>
  <Override PartName="/ppt/media/image194.svg" ContentType="image/svg+xml"/>
  <Override PartName="/ppt/media/image196.svg" ContentType="image/svg+xml"/>
  <Override PartName="/ppt/media/image206.svg" ContentType="image/svg+xml"/>
  <Override PartName="/ppt/media/image208.svg" ContentType="image/svg+xml"/>
  <Override PartName="/ppt/media/image21.svg" ContentType="image/svg+xml"/>
  <Override PartName="/ppt/media/image210.svg" ContentType="image/svg+xml"/>
  <Override PartName="/ppt/media/image212.svg" ContentType="image/svg+xml"/>
  <Override PartName="/ppt/media/image214.svg" ContentType="image/svg+xml"/>
  <Override PartName="/ppt/media/image215.svg" ContentType="image/svg+xml"/>
  <Override PartName="/ppt/media/image217.svg" ContentType="image/svg+xml"/>
  <Override PartName="/ppt/media/image219.svg" ContentType="image/svg+xml"/>
  <Override PartName="/ppt/media/image220.svg" ContentType="image/svg+xml"/>
  <Override PartName="/ppt/media/image221.svg" ContentType="image/svg+xml"/>
  <Override PartName="/ppt/media/image222.svg" ContentType="image/svg+xml"/>
  <Override PartName="/ppt/media/image223.svg" ContentType="image/svg+xml"/>
  <Override PartName="/ppt/media/image224.svg" ContentType="image/svg+xml"/>
  <Override PartName="/ppt/media/image225.svg" ContentType="image/svg+xml"/>
  <Override PartName="/ppt/media/image226.svg" ContentType="image/svg+xml"/>
  <Override PartName="/ppt/media/image227.svg" ContentType="image/svg+xml"/>
  <Override PartName="/ppt/media/image228.svg" ContentType="image/svg+xml"/>
  <Override PartName="/ppt/media/image229.svg" ContentType="image/svg+xml"/>
  <Override PartName="/ppt/media/image23.svg" ContentType="image/svg+xml"/>
  <Override PartName="/ppt/media/image230.svg" ContentType="image/svg+xml"/>
  <Override PartName="/ppt/media/image231.svg" ContentType="image/svg+xml"/>
  <Override PartName="/ppt/media/image232.svg" ContentType="image/svg+xml"/>
  <Override PartName="/ppt/media/image233.svg" ContentType="image/svg+xml"/>
  <Override PartName="/ppt/media/image234.svg" ContentType="image/svg+xml"/>
  <Override PartName="/ppt/media/image235.svg" ContentType="image/svg+xml"/>
  <Override PartName="/ppt/media/image236.svg" ContentType="image/svg+xml"/>
  <Override PartName="/ppt/media/image237.svg" ContentType="image/svg+xml"/>
  <Override PartName="/ppt/media/image238.svg" ContentType="image/svg+xml"/>
  <Override PartName="/ppt/media/image239.svg" ContentType="image/svg+xml"/>
  <Override PartName="/ppt/media/image240.svg" ContentType="image/svg+xml"/>
  <Override PartName="/ppt/media/image241.svg" ContentType="image/svg+xml"/>
  <Override PartName="/ppt/media/image242.svg" ContentType="image/svg+xml"/>
  <Override PartName="/ppt/media/image244.svg" ContentType="image/svg+xml"/>
  <Override PartName="/ppt/media/image246.svg" ContentType="image/svg+xml"/>
  <Override PartName="/ppt/media/image248.svg" ContentType="image/svg+xml"/>
  <Override PartName="/ppt/media/image25.svg" ContentType="image/svg+xml"/>
  <Override PartName="/ppt/media/image250.svg" ContentType="image/svg+xml"/>
  <Override PartName="/ppt/media/image252.svg" ContentType="image/svg+xml"/>
  <Override PartName="/ppt/media/image254.svg" ContentType="image/svg+xml"/>
  <Override PartName="/ppt/media/image256.svg" ContentType="image/svg+xml"/>
  <Override PartName="/ppt/media/image258.svg" ContentType="image/svg+xml"/>
  <Override PartName="/ppt/media/image260.svg" ContentType="image/svg+xml"/>
  <Override PartName="/ppt/media/image262.svg" ContentType="image/svg+xml"/>
  <Override PartName="/ppt/media/image264.svg" ContentType="image/svg+xml"/>
  <Override PartName="/ppt/media/image266.svg" ContentType="image/svg+xml"/>
  <Override PartName="/ppt/media/image268.svg" ContentType="image/svg+xml"/>
  <Override PartName="/ppt/media/image27.svg" ContentType="image/svg+xml"/>
  <Override PartName="/ppt/media/image270.svg" ContentType="image/svg+xml"/>
  <Override PartName="/ppt/media/image272.svg" ContentType="image/svg+xml"/>
  <Override PartName="/ppt/media/image273.svg" ContentType="image/svg+xml"/>
  <Override PartName="/ppt/media/image275.svg" ContentType="image/svg+xml"/>
  <Override PartName="/ppt/media/image277.svg" ContentType="image/svg+xml"/>
  <Override PartName="/ppt/media/image279.svg" ContentType="image/svg+xml"/>
  <Override PartName="/ppt/media/image281.svg" ContentType="image/svg+xml"/>
  <Override PartName="/ppt/media/image282.svg" ContentType="image/svg+xml"/>
  <Override PartName="/ppt/media/image286.svg" ContentType="image/svg+xml"/>
  <Override PartName="/ppt/media/image287.svg" ContentType="image/svg+xml"/>
  <Override PartName="/ppt/media/image289.svg" ContentType="image/svg+xml"/>
  <Override PartName="/ppt/media/image29.svg" ContentType="image/svg+xml"/>
  <Override PartName="/ppt/media/image291.svg" ContentType="image/svg+xml"/>
  <Override PartName="/ppt/media/image293.svg" ContentType="image/svg+xml"/>
  <Override PartName="/ppt/media/image294.svg" ContentType="image/svg+xml"/>
  <Override PartName="/ppt/media/image296.svg" ContentType="image/svg+xml"/>
  <Override PartName="/ppt/media/image298.svg" ContentType="image/svg+xml"/>
  <Override PartName="/ppt/media/image299.svg" ContentType="image/svg+xml"/>
  <Override PartName="/ppt/media/image300.svg" ContentType="image/svg+xml"/>
  <Override PartName="/ppt/media/image302.svg" ContentType="image/svg+xml"/>
  <Override PartName="/ppt/media/image303.svg" ContentType="image/svg+xml"/>
  <Override PartName="/ppt/media/image304.svg" ContentType="image/svg+xml"/>
  <Override PartName="/ppt/media/image306.svg" ContentType="image/svg+xml"/>
  <Override PartName="/ppt/media/image308.svg" ContentType="image/svg+xml"/>
  <Override PartName="/ppt/media/image31.svg" ContentType="image/svg+xml"/>
  <Override PartName="/ppt/media/image310.svg" ContentType="image/svg+xml"/>
  <Override PartName="/ppt/media/image312.svg" ContentType="image/svg+xml"/>
  <Override PartName="/ppt/media/image314.svg" ContentType="image/svg+xml"/>
  <Override PartName="/ppt/media/image316.svg" ContentType="image/svg+xml"/>
  <Override PartName="/ppt/media/image318.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44.svg" ContentType="image/svg+xml"/>
  <Override PartName="/ppt/media/image45.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8.svg" ContentType="image/svg+xml"/>
  <Override PartName="/ppt/media/image59.svg" ContentType="image/svg+xml"/>
  <Override PartName="/ppt/media/image60.svg" ContentType="image/svg+xml"/>
  <Override PartName="/ppt/media/image61.svg" ContentType="image/svg+xml"/>
  <Override PartName="/ppt/media/image62.svg" ContentType="image/svg+xml"/>
  <Override PartName="/ppt/media/image63.svg" ContentType="image/svg+xml"/>
  <Override PartName="/ppt/media/image65.svg" ContentType="image/svg+xml"/>
  <Override PartName="/ppt/media/image67.svg" ContentType="image/svg+xml"/>
  <Override PartName="/ppt/media/image69.svg" ContentType="image/svg+xml"/>
  <Override PartName="/ppt/media/image71.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89.svg" ContentType="image/svg+xml"/>
  <Override PartName="/ppt/media/image91.svg" ContentType="image/svg+xml"/>
  <Override PartName="/ppt/media/image93.svg" ContentType="image/svg+xml"/>
  <Override PartName="/ppt/media/image95.svg" ContentType="image/svg+xml"/>
  <Override PartName="/ppt/media/image97.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57" r:id="rId3"/>
  </p:sldMasterIdLst>
  <p:notesMasterIdLst>
    <p:notesMasterId r:id="rId6"/>
  </p:notesMasterIdLst>
  <p:handoutMasterIdLst>
    <p:handoutMasterId r:id="rId52"/>
  </p:handoutMasterIdLst>
  <p:sldIdLst>
    <p:sldId id="15004852" r:id="rId4"/>
    <p:sldId id="15004853" r:id="rId5"/>
    <p:sldId id="15004854" r:id="rId7"/>
    <p:sldId id="15004855" r:id="rId8"/>
    <p:sldId id="15004857" r:id="rId9"/>
    <p:sldId id="15004858" r:id="rId10"/>
    <p:sldId id="15004859" r:id="rId11"/>
    <p:sldId id="15004860" r:id="rId12"/>
    <p:sldId id="15005093" r:id="rId13"/>
    <p:sldId id="15005158" r:id="rId14"/>
    <p:sldId id="15005159" r:id="rId15"/>
    <p:sldId id="15005160" r:id="rId16"/>
    <p:sldId id="15005161" r:id="rId17"/>
    <p:sldId id="15005162" r:id="rId18"/>
    <p:sldId id="15005163" r:id="rId19"/>
    <p:sldId id="15005164" r:id="rId20"/>
    <p:sldId id="15005165" r:id="rId21"/>
    <p:sldId id="15005166" r:id="rId22"/>
    <p:sldId id="15005167" r:id="rId23"/>
    <p:sldId id="15005168" r:id="rId24"/>
    <p:sldId id="15005169" r:id="rId25"/>
    <p:sldId id="15005170" r:id="rId26"/>
    <p:sldId id="15005171" r:id="rId27"/>
    <p:sldId id="15005172" r:id="rId28"/>
    <p:sldId id="15005173" r:id="rId29"/>
    <p:sldId id="15005174" r:id="rId30"/>
    <p:sldId id="15005175" r:id="rId31"/>
    <p:sldId id="15005176" r:id="rId32"/>
    <p:sldId id="15005177" r:id="rId33"/>
    <p:sldId id="15005178" r:id="rId34"/>
    <p:sldId id="15005179" r:id="rId35"/>
    <p:sldId id="15005180" r:id="rId36"/>
    <p:sldId id="15005181" r:id="rId37"/>
    <p:sldId id="15005182" r:id="rId38"/>
    <p:sldId id="15005183" r:id="rId39"/>
    <p:sldId id="15005184" r:id="rId40"/>
    <p:sldId id="15005185" r:id="rId41"/>
    <p:sldId id="15005186" r:id="rId42"/>
    <p:sldId id="15005187" r:id="rId43"/>
    <p:sldId id="15005188" r:id="rId44"/>
    <p:sldId id="15005189" r:id="rId45"/>
    <p:sldId id="15005190" r:id="rId46"/>
    <p:sldId id="15005191" r:id="rId47"/>
    <p:sldId id="15005192" r:id="rId48"/>
    <p:sldId id="15005193" r:id="rId49"/>
    <p:sldId id="15005194" r:id="rId50"/>
    <p:sldId id="15004861" r:id="rId51"/>
  </p:sldIdLst>
  <p:sldSz cx="12192000" cy="6858000"/>
  <p:notesSz cx="9144000" cy="6858000"/>
  <p:custDataLst>
    <p:tags r:id="rId5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0ec71487-c55b-4996-a761-65f7137326e2}">
          <p14:sldIdLst>
            <p14:sldId id="15004852"/>
            <p14:sldId id="15004853"/>
            <p14:sldId id="15004854"/>
            <p14:sldId id="15004855"/>
            <p14:sldId id="15004857"/>
            <p14:sldId id="15004858"/>
            <p14:sldId id="15004859"/>
            <p14:sldId id="15004860"/>
          </p14:sldIdLst>
        </p14:section>
        <p14:section name="02-多层平台架构" id="{6f2722b7-8fed-4087-812a-c6685516a321}">
          <p14:sldIdLst>
            <p14:sldId id="15005093"/>
            <p14:sldId id="15005158"/>
            <p14:sldId id="15005159"/>
            <p14:sldId id="15005160"/>
            <p14:sldId id="15005161"/>
            <p14:sldId id="15005162"/>
            <p14:sldId id="15005163"/>
            <p14:sldId id="15005164"/>
            <p14:sldId id="15005165"/>
            <p14:sldId id="15005166"/>
            <p14:sldId id="15005167"/>
            <p14:sldId id="15005168"/>
            <p14:sldId id="15005169"/>
            <p14:sldId id="15005170"/>
            <p14:sldId id="15005171"/>
            <p14:sldId id="15005172"/>
            <p14:sldId id="15005173"/>
            <p14:sldId id="15005174"/>
            <p14:sldId id="15005175"/>
            <p14:sldId id="15005176"/>
            <p14:sldId id="15005177"/>
            <p14:sldId id="15005178"/>
            <p14:sldId id="15005179"/>
            <p14:sldId id="15005180"/>
            <p14:sldId id="15005181"/>
            <p14:sldId id="15005182"/>
            <p14:sldId id="15005183"/>
            <p14:sldId id="15005184"/>
            <p14:sldId id="15005185"/>
            <p14:sldId id="15005186"/>
            <p14:sldId id="15005187"/>
            <p14:sldId id="15005188"/>
            <p14:sldId id="15005189"/>
            <p14:sldId id="15005190"/>
            <p14:sldId id="15005191"/>
            <p14:sldId id="15005192"/>
            <p14:sldId id="15005193"/>
            <p14:sldId id="15005194"/>
            <p14:sldId id="15004861"/>
          </p14:sldIdLst>
        </p14:section>
      </p14:sectionLst>
    </p:ext>
    <p:ext uri="{EFAFB233-063F-42B5-8137-9DF3F51BA10A}">
      <p15:sldGuideLst xmlns:p15="http://schemas.microsoft.com/office/powerpoint/2012/main">
        <p15:guide id="1" orient="horz" pos="2466" userDrawn="1">
          <p15:clr>
            <a:srgbClr val="A4A3A4"/>
          </p15:clr>
        </p15:guide>
        <p15:guide id="2" pos="412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微软用户" initials="微软用户" lastIdx="1" clrIdx="0"/>
  <p:cmAuthor id="7" name="Administrator" initials="A" lastIdx="0" clrIdx="6"/>
  <p:cmAuthor id="1" name="Microsoft Office User" initials="MOU" lastIdx="1" clrIdx="0"/>
  <p:cmAuthor id="8" name="宋洁然" initials="宋" lastIdx="0" clrIdx="7"/>
  <p:cmAuthor id="2" name="小麦" initials="l" lastIdx="1" clrIdx="1"/>
  <p:cmAuthor id="9" name="ming qiu" initials="m" lastIdx="0" clrIdx="8"/>
  <p:cmAuthor id="3" name="仲杰 李" initials="仲杰" lastIdx="1" clrIdx="3"/>
  <p:cmAuthor id="10" name="WPS_1679281038" initials="W" lastIdx="0" clrIdx="9"/>
  <p:cmAuthor id="5" name="1206988966@qq.com" initials="1" lastIdx="0" clrIdx="4"/>
  <p:cmAuthor id="6" name="姜伟光" initials="姜" lastIdx="0" clrIdx="5"/>
  <p:cmAuthor id="11" name="田野田野" initials="田野田野" lastIdx="0" clrIdx="10"/>
  <p:cmAuthor id="12" name="作者" initials="A" lastIdx="0" clrIdx="11"/>
  <p:cmAuthor id="13" name="ALA11.黄宜隆" initials="A" lastIdx="0" clrIdx="12"/>
  <p:cmAuthor id="14" name="陈 源晨" initials="陈" lastIdx="0" clrIdx="13"/>
  <p:cmAuthor id="15" name="Haval Sh" initials="HS" lastIdx="0" clrIdx="14"/>
  <p:cmAuthor id="16" name="宋 雪贤" initials="宋" lastIdx="0" clrIdx="15"/>
  <p:cmAuthor id="17" name="YOYOON" initials="Y" lastIdx="0" clrIdx="16"/>
  <p:cmAuthor id="18" name=" src" initials="s" lastIdx="0" clrIdx="17"/>
  <p:cmAuthor id="19" name="WHITE GRAPHIC" initials="WG" lastIdx="0" clrIdx="18"/>
  <p:cmAuthor id="20" name="USER" initials="U" lastIdx="0" clrIdx="19"/>
  <p:cmAuthor id="21" name="SheHab" initials="S" lastIdx="0" clrIdx="20"/>
  <p:cmAuthor id="22" name="幸全" initials="幸全" lastIdx="0" clrIdx="21"/>
  <p:cmAuthor id="23" name="刘付观生" initials="刘付观生" lastIdx="0" clrIdx="22"/>
  <p:cmAuthor id="24" name="liufuguansheng" initials="liufu" lastIdx="0" clrIdx="23"/>
  <p:cmAuthor id="25" name="ITC" initials="I" lastIdx="0" clrIdx="24"/>
  <p:cmAuthor id="26" name="WATER MELON" initials="WM" lastIdx="0" clrIdx="25"/>
  <p:cmAuthor id="27" name="余 KM" initials="余" lastIdx="0" clrIdx="26"/>
  <p:cmAuthor id="28" name="WPS" initials="W" lastIdx="0" clrIdx="27"/>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3F7FC"/>
    <a:srgbClr val="404040"/>
    <a:srgbClr val="1C4274"/>
    <a:srgbClr val="9A3123"/>
    <a:srgbClr val="457B9D"/>
    <a:srgbClr val="FAF4F4"/>
    <a:srgbClr val="E8ECF1"/>
    <a:srgbClr val="AA3722"/>
    <a:srgbClr val="F1F5FA"/>
    <a:srgbClr val="F7F1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60" autoAdjust="0"/>
    <p:restoredTop sz="96457"/>
  </p:normalViewPr>
  <p:slideViewPr>
    <p:cSldViewPr snapToGrid="0" showGuides="1">
      <p:cViewPr varScale="1">
        <p:scale>
          <a:sx n="95" d="100"/>
          <a:sy n="95" d="100"/>
        </p:scale>
        <p:origin x="350" y="53"/>
      </p:cViewPr>
      <p:guideLst>
        <p:guide orient="horz" pos="2466"/>
        <p:guide pos="4128"/>
      </p:guideLst>
    </p:cSldViewPr>
  </p:slideViewPr>
  <p:outlineViewPr>
    <p:cViewPr>
      <p:scale>
        <a:sx n="33" d="100"/>
        <a:sy n="33" d="100"/>
      </p:scale>
      <p:origin x="0" y="-2576"/>
    </p:cViewPr>
  </p:outlineViewPr>
  <p:notesTextViewPr>
    <p:cViewPr>
      <p:scale>
        <a:sx n="3" d="2"/>
        <a:sy n="3" d="2"/>
      </p:scale>
      <p:origin x="0" y="0"/>
    </p:cViewPr>
  </p:notesTextViewPr>
  <p:sorterViewPr>
    <p:cViewPr>
      <p:scale>
        <a:sx n="1" d="1"/>
        <a:sy n="1" d="1"/>
      </p:scale>
      <p:origin x="0" y="-2271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7" Type="http://schemas.openxmlformats.org/officeDocument/2006/relationships/tags" Target="tags/tag527.xml"/><Relationship Id="rId56" Type="http://schemas.openxmlformats.org/officeDocument/2006/relationships/commentAuthors" Target="commentAuthors.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5" Type="http://schemas.microsoft.com/office/2011/relationships/chartColorStyle" Target="colors1.xml"/><Relationship Id="rId4" Type="http://schemas.microsoft.com/office/2011/relationships/chartStyle" Target="style1.xml"/><Relationship Id="rId3" Type="http://schemas.openxmlformats.org/officeDocument/2006/relationships/chartUserShapes" Target="../drawings/drawing1.xml"/><Relationship Id="rId2" Type="http://schemas.openxmlformats.org/officeDocument/2006/relationships/themeOverride" Target="../theme/themeOverrid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Sheet1!$B$1</c:f>
              <c:strCache>
                <c:ptCount val="1"/>
                <c:pt idx="0">
                  <c:v>系列 1</c:v>
                </c:pt>
              </c:strCache>
            </c:strRef>
          </c:tx>
          <c:spPr>
            <a:solidFill>
              <a:srgbClr val="1C4274">
                <a:lumMod val="60000"/>
                <a:lumOff val="40000"/>
              </a:srgbClr>
            </a:solidFill>
            <a:ln>
              <a:noFill/>
            </a:ln>
            <a:effectLst/>
          </c:spPr>
          <c:invertIfNegative val="0"/>
          <c:dLbls>
            <c:delete val="1"/>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er>
        <c:ser>
          <c:idx val="1"/>
          <c:order val="1"/>
          <c:tx>
            <c:strRef>
              <c:f>Sheet1!$C$1</c:f>
              <c:strCache>
                <c:ptCount val="1"/>
                <c:pt idx="0">
                  <c:v>系列 2</c:v>
                </c:pt>
              </c:strCache>
            </c:strRef>
          </c:tx>
          <c:spPr>
            <a:solidFill>
              <a:srgbClr val="404040">
                <a:lumMod val="20000"/>
                <a:lumOff val="80000"/>
              </a:srgbClr>
            </a:solidFill>
            <a:ln>
              <a:noFill/>
            </a:ln>
            <a:effectLst/>
          </c:spPr>
          <c:invertIfNegative val="0"/>
          <c:dLbls>
            <c:delete val="1"/>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c:v>
                </c:pt>
                <c:pt idx="2">
                  <c:v>1.8</c:v>
                </c:pt>
                <c:pt idx="3">
                  <c:v>2.8</c:v>
                </c:pt>
              </c:numCache>
            </c:numRef>
          </c:val>
        </c:ser>
        <c:dLbls>
          <c:showLegendKey val="0"/>
          <c:showVal val="0"/>
          <c:showCatName val="0"/>
          <c:showSerName val="0"/>
          <c:showPercent val="0"/>
          <c:showBubbleSize val="0"/>
        </c:dLbls>
        <c:gapWidth val="219"/>
        <c:overlap val="-27"/>
        <c:axId val="1564728768"/>
        <c:axId val="1564725488"/>
      </c:barChart>
      <c:catAx>
        <c:axId val="1564728768"/>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rgbClr val="000000">
                    <a:lumMod val="65000"/>
                    <a:lumOff val="35000"/>
                  </a:srgbClr>
                </a:solidFill>
                <a:latin typeface="+mn-lt"/>
                <a:ea typeface="+mn-ea"/>
                <a:cs typeface="微软雅黑" panose="020B0503020204020204" charset="-122"/>
              </a:defRPr>
            </a:pPr>
          </a:p>
        </c:txPr>
        <c:crossAx val="1564725488"/>
        <c:crosses val="autoZero"/>
        <c:auto val="1"/>
        <c:lblAlgn val="ctr"/>
        <c:lblOffset val="100"/>
        <c:noMultiLvlLbl val="0"/>
      </c:catAx>
      <c:valAx>
        <c:axId val="1564725488"/>
        <c:scaling>
          <c:orientation val="minMax"/>
        </c:scaling>
        <c:delete val="1"/>
        <c:axPos val="l"/>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rgbClr val="000000">
                    <a:lumMod val="65000"/>
                    <a:lumOff val="35000"/>
                  </a:srgbClr>
                </a:solidFill>
                <a:latin typeface="+mn-lt"/>
                <a:ea typeface="+mn-ea"/>
                <a:cs typeface="微软雅黑" panose="020B0503020204020204" charset="-122"/>
              </a:defRPr>
            </a:pPr>
          </a:p>
        </c:txPr>
        <c:crossAx val="1564728768"/>
        <c:crosses val="autoZero"/>
        <c:crossBetween val="between"/>
      </c:valAx>
      <c:spPr>
        <a:noFill/>
        <a:ln>
          <a:noFill/>
        </a:ln>
        <a:effectLst/>
      </c:spPr>
    </c:plotArea>
    <c:plotVisOnly val="1"/>
    <c:dispBlanksAs val="gap"/>
    <c:showDLblsOverMax val="0"/>
    <c:extLst>
      <c:ext uri="{0b15fc19-7d7d-44ad-8c2d-2c3a37ce22c3}">
        <chartProps xmlns="https://web.wps.cn/et/2018/main" chartId="{90505590-1d1d-4672-b78f-f533f3979681}"/>
      </c:ext>
    </c:extLst>
  </c:chart>
  <c:spPr>
    <a:noFill/>
    <a:ln w="9525" cap="flat" cmpd="sng" algn="ctr">
      <a:noFill/>
      <a:round/>
    </a:ln>
    <a:effectLst/>
  </c:spPr>
  <c:txPr>
    <a:bodyPr/>
    <a:lstStyle/>
    <a:p>
      <a:pPr>
        <a:defRPr lang="zh-CN"/>
      </a:pPr>
    </a:p>
  </c:txPr>
  <c:externalData r:id="rId1">
    <c:autoUpdate val="0"/>
  </c:externalData>
  <c:userShapes r:id="rId3"/>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rgbClr val="000000">
        <a:lumMod val="65000"/>
        <a:lumOff val="35000"/>
      </a:srgbClr>
    </cs:fontRef>
    <cs:defRPr sz="1330" kern="1200"/>
  </cs:axisTitle>
  <cs:categoryAxis>
    <cs:lnRef idx="0"/>
    <cs:fillRef idx="0"/>
    <cs:effectRef idx="0"/>
    <cs:fontRef idx="minor">
      <a:srgbClr val="000000">
        <a:lumMod val="65000"/>
        <a:lumOff val="35000"/>
      </a:srgbClr>
    </cs:fontRef>
    <cs:spPr>
      <a:ln w="9525" cap="flat" cmpd="sng" algn="ctr">
        <a:solidFill>
          <a:srgbClr val="000000">
            <a:lumMod val="15000"/>
            <a:lumOff val="85000"/>
          </a:srgbClr>
        </a:solidFill>
        <a:round/>
      </a:ln>
    </cs:spPr>
    <cs:defRPr sz="1195" kern="1200"/>
  </cs:categoryAxis>
  <cs:chartArea mods="allowNoFillOverride allowNoLineOverride">
    <cs:lnRef idx="0"/>
    <cs:fillRef idx="0"/>
    <cs:effectRef idx="0"/>
    <cs:fontRef idx="minor">
      <a:srgbClr val="000000"/>
    </cs:fontRef>
    <cs:spPr>
      <a:solidFill>
        <a:srgbClr val="FFFFFF"/>
      </a:solidFill>
      <a:ln w="9525" cap="flat" cmpd="sng" algn="ctr">
        <a:solidFill>
          <a:srgbClr val="000000">
            <a:lumMod val="15000"/>
            <a:lumOff val="85000"/>
          </a:srgbClr>
        </a:solidFill>
        <a:round/>
      </a:ln>
    </cs:spPr>
    <cs:defRPr sz="1330" kern="1200"/>
  </cs:chartArea>
  <cs:dataLabel>
    <cs:lnRef idx="0"/>
    <cs:fillRef idx="0"/>
    <cs:effectRef idx="0"/>
    <cs:fontRef idx="minor">
      <a:srgbClr val="000000">
        <a:lumMod val="75000"/>
        <a:lumOff val="25000"/>
      </a:srgbClr>
    </cs:fontRef>
    <cs:defRPr sz="1195" kern="1200"/>
  </cs:dataLabel>
  <cs:dataLabelCallout>
    <cs:lnRef idx="0"/>
    <cs:fillRef idx="0"/>
    <cs:effectRef idx="0"/>
    <cs:fontRef idx="minor">
      <a:srgbClr val="000000">
        <a:lumMod val="65000"/>
        <a:lumOff val="35000"/>
      </a:srgbClr>
    </cs:fontRef>
    <cs:spPr>
      <a:solidFill>
        <a:srgbClr val="FFFFFF"/>
      </a:solidFill>
      <a:ln>
        <a:solidFill>
          <a:srgbClr val="000000">
            <a:lumMod val="25000"/>
            <a:lumOff val="75000"/>
          </a:srgb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rgbClr val="000000"/>
    </cs:fontRef>
  </cs:dataPoint>
  <cs:dataPoint3D>
    <cs:lnRef idx="0"/>
    <cs:fillRef idx="1">
      <cs:styleClr val="auto"/>
    </cs:fillRef>
    <cs:effectRef idx="0"/>
    <cs:fontRef idx="minor">
      <a:srgbClr val="000000"/>
    </cs:fontRef>
  </cs:dataPoint3D>
  <cs:dataPointLine>
    <cs:lnRef idx="0">
      <cs:styleClr val="auto"/>
    </cs:lnRef>
    <cs:fillRef idx="1"/>
    <cs:effectRef idx="0"/>
    <cs:fontRef idx="minor">
      <a:srgbClr val="000000"/>
    </cs:fontRef>
    <cs:spPr>
      <a:ln w="28575" cap="rnd">
        <a:solidFill>
          <a:srgbClr val="FFFFFF"/>
        </a:solidFill>
        <a:round/>
      </a:ln>
    </cs:spPr>
  </cs:dataPointLine>
  <cs:dataPointMarker>
    <cs:lnRef idx="0">
      <cs:styleClr val="auto"/>
    </cs:lnRef>
    <cs:fillRef idx="1">
      <cs:styleClr val="auto"/>
    </cs:fillRef>
    <cs:effectRef idx="0"/>
    <cs:fontRef idx="minor">
      <a:srgbClr val="000000"/>
    </cs:fontRef>
    <cs:spPr>
      <a:ln w="9525">
        <a:solidFill>
          <a:srgbClr val="FFFFFF"/>
        </a:solidFill>
      </a:ln>
    </cs:spPr>
  </cs:dataPointMarker>
  <cs:dataPointMarkerLayout symbol="circle" size="5"/>
  <cs:dataPointWireframe>
    <cs:lnRef idx="0">
      <cs:styleClr val="auto"/>
    </cs:lnRef>
    <cs:fillRef idx="1"/>
    <cs:effectRef idx="0"/>
    <cs:fontRef idx="minor">
      <a:srgbClr val="000000"/>
    </cs:fontRef>
    <cs:spPr>
      <a:ln w="9525" cap="rnd">
        <a:solidFill>
          <a:srgbClr val="FFFFFF"/>
        </a:solidFill>
        <a:round/>
      </a:ln>
    </cs:spPr>
  </cs:dataPointWireframe>
  <cs:dataTable>
    <cs:lnRef idx="0"/>
    <cs:fillRef idx="0"/>
    <cs:effectRef idx="0"/>
    <cs:fontRef idx="minor">
      <a:srgbClr val="000000">
        <a:lumMod val="65000"/>
        <a:lumOff val="35000"/>
      </a:srgbClr>
    </cs:fontRef>
    <cs:spPr>
      <a:noFill/>
      <a:ln w="9525" cap="flat" cmpd="sng" algn="ctr">
        <a:solidFill>
          <a:srgbClr val="000000">
            <a:lumMod val="15000"/>
            <a:lumOff val="85000"/>
          </a:srgbClr>
        </a:solidFill>
        <a:round/>
      </a:ln>
    </cs:spPr>
    <cs:defRPr sz="1195" kern="1200"/>
  </cs:dataTable>
  <cs:downBar>
    <cs:lnRef idx="0"/>
    <cs:fillRef idx="0"/>
    <cs:effectRef idx="0"/>
    <cs:fontRef idx="minor">
      <a:srgbClr val="000000"/>
    </cs:fontRef>
    <cs:spPr>
      <a:solidFill>
        <a:srgbClr val="000000">
          <a:lumMod val="65000"/>
          <a:lumOff val="35000"/>
        </a:srgbClr>
      </a:solidFill>
      <a:ln w="9525">
        <a:solidFill>
          <a:srgbClr val="000000">
            <a:lumMod val="65000"/>
            <a:lumOff val="35000"/>
          </a:srgbClr>
        </a:solidFill>
      </a:ln>
    </cs:spPr>
  </cs:downBar>
  <cs:dropLine>
    <cs:lnRef idx="0"/>
    <cs:fillRef idx="0"/>
    <cs:effectRef idx="0"/>
    <cs:fontRef idx="minor">
      <a:srgbClr val="000000"/>
    </cs:fontRef>
    <cs:spPr>
      <a:ln w="9525" cap="flat" cmpd="sng" algn="ctr">
        <a:solidFill>
          <a:srgbClr val="000000">
            <a:lumMod val="35000"/>
            <a:lumOff val="65000"/>
          </a:srgbClr>
        </a:solidFill>
        <a:round/>
      </a:ln>
    </cs:spPr>
  </cs:dropLine>
  <cs:errorBar>
    <cs:lnRef idx="0"/>
    <cs:fillRef idx="0"/>
    <cs:effectRef idx="0"/>
    <cs:fontRef idx="minor">
      <a:srgbClr val="000000"/>
    </cs:fontRef>
    <cs:spPr>
      <a:ln w="9525" cap="flat" cmpd="sng" algn="ctr">
        <a:solidFill>
          <a:srgbClr val="000000">
            <a:lumMod val="65000"/>
            <a:lumOff val="35000"/>
          </a:srgbClr>
        </a:solidFill>
        <a:round/>
      </a:ln>
    </cs:spPr>
  </cs:errorBar>
  <cs:floor>
    <cs:lnRef idx="0"/>
    <cs:fillRef idx="0"/>
    <cs:effectRef idx="0"/>
    <cs:fontRef idx="minor">
      <a:srgbClr val="000000"/>
    </cs:fontRef>
    <cs:spPr>
      <a:noFill/>
      <a:ln>
        <a:noFill/>
      </a:ln>
    </cs:spPr>
  </cs:floor>
  <cs:gridlineMajor>
    <cs:lnRef idx="0"/>
    <cs:fillRef idx="0"/>
    <cs:effectRef idx="0"/>
    <cs:fontRef idx="minor">
      <a:srgbClr val="000000"/>
    </cs:fontRef>
    <cs:spPr>
      <a:ln w="9525" cap="flat" cmpd="sng" algn="ctr">
        <a:solidFill>
          <a:srgbClr val="000000">
            <a:lumMod val="15000"/>
            <a:lumOff val="85000"/>
          </a:srgbClr>
        </a:solidFill>
        <a:round/>
      </a:ln>
    </cs:spPr>
  </cs:gridlineMajor>
  <cs:gridlineMinor>
    <cs:lnRef idx="0"/>
    <cs:fillRef idx="0"/>
    <cs:effectRef idx="0"/>
    <cs:fontRef idx="minor">
      <a:srgbClr val="000000"/>
    </cs:fontRef>
    <cs:spPr>
      <a:ln w="9525" cap="flat" cmpd="sng" algn="ctr">
        <a:solidFill>
          <a:srgbClr val="000000">
            <a:lumMod val="5000"/>
            <a:lumOff val="95000"/>
          </a:srgbClr>
        </a:solidFill>
        <a:round/>
      </a:ln>
    </cs:spPr>
  </cs:gridlineMinor>
  <cs:hiLoLine>
    <cs:lnRef idx="0"/>
    <cs:fillRef idx="0"/>
    <cs:effectRef idx="0"/>
    <cs:fontRef idx="minor">
      <a:srgbClr val="000000"/>
    </cs:fontRef>
    <cs:spPr>
      <a:ln w="9525" cap="flat" cmpd="sng" algn="ctr">
        <a:solidFill>
          <a:srgbClr val="000000">
            <a:lumMod val="75000"/>
            <a:lumOff val="25000"/>
          </a:srgbClr>
        </a:solidFill>
        <a:round/>
      </a:ln>
    </cs:spPr>
  </cs:hiLoLine>
  <cs:leaderLine>
    <cs:lnRef idx="0"/>
    <cs:fillRef idx="0"/>
    <cs:effectRef idx="0"/>
    <cs:fontRef idx="minor">
      <a:srgbClr val="000000"/>
    </cs:fontRef>
    <cs:spPr>
      <a:ln w="9525" cap="flat" cmpd="sng" algn="ctr">
        <a:solidFill>
          <a:srgbClr val="000000">
            <a:lumMod val="35000"/>
            <a:lumOff val="65000"/>
          </a:srgbClr>
        </a:solidFill>
        <a:round/>
      </a:ln>
    </cs:spPr>
  </cs:leaderLine>
  <cs:legend>
    <cs:lnRef idx="0"/>
    <cs:fillRef idx="0"/>
    <cs:effectRef idx="0"/>
    <cs:fontRef idx="minor">
      <a:srgbClr val="000000">
        <a:lumMod val="65000"/>
        <a:lumOff val="35000"/>
      </a:srgbClr>
    </cs:fontRef>
    <cs:defRPr sz="1195" kern="1200"/>
  </cs:legend>
  <cs:plotArea mods="allowNoFillOverride allowNoLineOverride">
    <cs:lnRef idx="0"/>
    <cs:fillRef idx="0"/>
    <cs:effectRef idx="0"/>
    <cs:fontRef idx="minor">
      <a:srgbClr val="000000"/>
    </cs:fontRef>
  </cs:plotArea>
  <cs:plotArea3D mods="allowNoFillOverride allowNoLineOverride">
    <cs:lnRef idx="0"/>
    <cs:fillRef idx="0"/>
    <cs:effectRef idx="0"/>
    <cs:fontRef idx="minor">
      <a:srgbClr val="000000"/>
    </cs:fontRef>
  </cs:plotArea3D>
  <cs:seriesAxis>
    <cs:lnRef idx="0"/>
    <cs:fillRef idx="0"/>
    <cs:effectRef idx="0"/>
    <cs:fontRef idx="minor">
      <a:srgbClr val="000000">
        <a:lumMod val="65000"/>
        <a:lumOff val="35000"/>
      </a:srgbClr>
    </cs:fontRef>
    <cs:defRPr sz="1195" kern="1200"/>
  </cs:seriesAxis>
  <cs:seriesLine>
    <cs:lnRef idx="0"/>
    <cs:fillRef idx="0"/>
    <cs:effectRef idx="0"/>
    <cs:fontRef idx="minor">
      <a:srgbClr val="000000"/>
    </cs:fontRef>
    <cs:spPr>
      <a:ln w="9525" cap="flat" cmpd="sng" algn="ctr">
        <a:solidFill>
          <a:srgbClr val="000000">
            <a:lumMod val="35000"/>
            <a:lumOff val="65000"/>
          </a:srgbClr>
        </a:solidFill>
        <a:round/>
      </a:ln>
    </cs:spPr>
  </cs:seriesLine>
  <cs:title>
    <cs:lnRef idx="0"/>
    <cs:fillRef idx="0"/>
    <cs:effectRef idx="0"/>
    <cs:fontRef idx="minor">
      <a:srgbClr val="000000">
        <a:lumMod val="65000"/>
        <a:lumOff val="35000"/>
      </a:srgbClr>
    </cs:fontRef>
    <cs:defRPr sz="1860" b="0" kern="1200" spc="0" baseline="0"/>
  </cs:title>
  <cs:trendline>
    <cs:lnRef idx="0">
      <cs:styleClr val="auto"/>
    </cs:lnRef>
    <cs:fillRef idx="0"/>
    <cs:effectRef idx="0"/>
    <cs:fontRef idx="minor">
      <a:srgbClr val="000000"/>
    </cs:fontRef>
    <cs:spPr>
      <a:ln w="19050" cap="rnd">
        <a:solidFill>
          <a:srgbClr val="FFFFFF"/>
        </a:solidFill>
        <a:prstDash val="sysDot"/>
      </a:ln>
    </cs:spPr>
  </cs:trendline>
  <cs:trendlineLabel>
    <cs:lnRef idx="0"/>
    <cs:fillRef idx="0"/>
    <cs:effectRef idx="0"/>
    <cs:fontRef idx="minor">
      <a:srgbClr val="000000">
        <a:lumMod val="65000"/>
        <a:lumOff val="35000"/>
      </a:srgbClr>
    </cs:fontRef>
    <cs:defRPr sz="1195" kern="1200"/>
  </cs:trendlineLabel>
  <cs:upBar>
    <cs:lnRef idx="0"/>
    <cs:fillRef idx="0"/>
    <cs:effectRef idx="0"/>
    <cs:fontRef idx="minor">
      <a:srgbClr val="000000"/>
    </cs:fontRef>
    <cs:spPr>
      <a:solidFill>
        <a:srgbClr val="FFFFFF"/>
      </a:solidFill>
      <a:ln w="9525">
        <a:solidFill>
          <a:srgbClr val="000000">
            <a:lumMod val="15000"/>
            <a:lumOff val="85000"/>
          </a:srgbClr>
        </a:solidFill>
      </a:ln>
    </cs:spPr>
  </cs:upBar>
  <cs:valueAxis>
    <cs:lnRef idx="0"/>
    <cs:fillRef idx="0"/>
    <cs:effectRef idx="0"/>
    <cs:fontRef idx="minor">
      <a:srgbClr val="000000">
        <a:lumMod val="65000"/>
        <a:lumOff val="35000"/>
      </a:srgbClr>
    </cs:fontRef>
    <cs:defRPr sz="1195" kern="1200"/>
  </cs:valueAxis>
  <cs:wall>
    <cs:lnRef idx="0"/>
    <cs:fillRef idx="0"/>
    <cs:effectRef idx="0"/>
    <cs:fontRef idx="minor">
      <a:srgbClr val="000000"/>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0.06452</cdr:x>
      <cdr:y>0.91229</cdr:y>
    </cdr:from>
    <cdr:to>
      <cdr:x>0.98046</cdr:x>
      <cdr:y>0.91229</cdr:y>
    </cdr:to>
    <cdr:cxnSp>
      <cdr:nvCxnSpPr>
        <cdr:cNvPr id="2" name="直接箭头连接符 1"/>
        <cdr:cNvCxnSpPr/>
      </cdr:nvCxnSpPr>
      <cdr:spPr xmlns:a="http://schemas.openxmlformats.org/drawingml/2006/main">
        <a:xfrm xmlns:a="http://schemas.openxmlformats.org/drawingml/2006/main">
          <a:off x="146050" y="1466487"/>
          <a:ext cx="2073275" cy="0"/>
        </a:xfrm>
        <a:prstGeom xmlns:a="http://schemas.openxmlformats.org/drawingml/2006/main" prst="straightConnector1">
          <a:avLst/>
        </a:prstGeom>
        <a:ln w="12700">
          <a:solidFill>
            <a:srgbClr val="FFFFFF">
              <a:lumMod val="65000"/>
            </a:srgbClr>
          </a:solidFill>
          <a:tailEnd type="arrow"/>
        </a:ln>
      </cdr:spPr>
      <cdr:style>
        <a:lnRef xmlns:a="http://schemas.openxmlformats.org/drawingml/2006/main" idx="1">
          <a:srgbClr val="24396B"/>
        </a:lnRef>
        <a:fillRef xmlns:a="http://schemas.openxmlformats.org/drawingml/2006/main" idx="0">
          <a:srgbClr val="24396B"/>
        </a:fillRef>
        <a:effectRef xmlns:a="http://schemas.openxmlformats.org/drawingml/2006/main" idx="0">
          <a:srgbClr val="24396B"/>
        </a:effectRef>
        <a:fontRef xmlns:a="http://schemas.openxmlformats.org/drawingml/2006/main" idx="minor">
          <a:srgbClr val="000000"/>
        </a:fontRef>
      </cdr:style>
    </cdr:cxnSp>
  </cdr:relSizeAnchor>
  <cdr:relSizeAnchor xmlns:cdr="http://schemas.openxmlformats.org/drawingml/2006/chartDrawing">
    <cdr:from>
      <cdr:x>0.06583</cdr:x>
      <cdr:y>0.05891</cdr:y>
    </cdr:from>
    <cdr:to>
      <cdr:x>0.06583</cdr:x>
      <cdr:y>0.91175</cdr:y>
    </cdr:to>
    <cdr:cxnSp>
      <cdr:nvCxnSpPr>
        <cdr:cNvPr id="3" name="直接箭头连接符 2"/>
        <cdr:cNvCxnSpPr/>
      </cdr:nvCxnSpPr>
      <cdr:spPr xmlns:a="http://schemas.openxmlformats.org/drawingml/2006/main">
        <a:xfrm xmlns:a="http://schemas.openxmlformats.org/drawingml/2006/main" flipV="1">
          <a:off x="149003" y="94697"/>
          <a:ext cx="0" cy="1370920"/>
        </a:xfrm>
        <a:prstGeom xmlns:a="http://schemas.openxmlformats.org/drawingml/2006/main" prst="straightConnector1">
          <a:avLst/>
        </a:prstGeom>
        <a:ln w="12700">
          <a:solidFill>
            <a:srgbClr val="FFFFFF">
              <a:lumMod val="65000"/>
            </a:srgbClr>
          </a:solidFill>
          <a:tailEnd type="arrow"/>
        </a:ln>
      </cdr:spPr>
      <cdr:style>
        <a:lnRef xmlns:a="http://schemas.openxmlformats.org/drawingml/2006/main" idx="1">
          <a:srgbClr val="24396B"/>
        </a:lnRef>
        <a:fillRef xmlns:a="http://schemas.openxmlformats.org/drawingml/2006/main" idx="0">
          <a:srgbClr val="24396B"/>
        </a:fillRef>
        <a:effectRef xmlns:a="http://schemas.openxmlformats.org/drawingml/2006/main" idx="0">
          <a:srgbClr val="24396B"/>
        </a:effectRef>
        <a:fontRef xmlns:a="http://schemas.openxmlformats.org/drawingml/2006/main" idx="minor">
          <a:srgbClr val="000000"/>
        </a:fontRef>
      </cdr:style>
    </cdr:cxn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6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6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6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6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kumimoji="1"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ACF6214C-E03D-6F40-B83F-4BCCB0CB53EF}"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3"/>
            <a:ext cx="7315200" cy="2700338"/>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kumimoji="1"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7D75D23C-CB69-BA4F-AB82-253009860475}"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 </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 </a:t>
            </a: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页眉占位符 3"/>
          <p:cNvSpPr>
            <a:spLocks noGrp="1"/>
          </p:cNvSpPr>
          <p:nvPr>
            <p:ph type="hdr" sz="quarter"/>
          </p:nvPr>
        </p:nvSpPr>
        <p:spPr/>
        <p:txBody>
          <a:bodyPr/>
          <a:p>
            <a:r>
              <a:rPr kumimoji="1" lang="zh-CN" altLang="en-US"/>
              <a:t>开悟思维-框架搭建系列PPT模板</a:t>
            </a:r>
            <a:endParaRPr kumimoji="1"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9" name="文本框 8"/>
          <p:cNvSpPr txBox="1"/>
          <p:nvPr userDrawn="1"/>
        </p:nvSpPr>
        <p:spPr>
          <a:xfrm>
            <a:off x="5227955" y="215900"/>
            <a:ext cx="5846445" cy="826135"/>
          </a:xfrm>
          <a:prstGeom prst="rect">
            <a:avLst/>
          </a:prstGeom>
          <a:noFill/>
        </p:spPr>
        <p:txBody>
          <a:bodyPr wrap="square" rtlCol="0" anchor="ctr" anchorCtr="0">
            <a:noAutofit/>
          </a:bodyPr>
          <a:lstStyle/>
          <a:p>
            <a:pPr algn="ctr">
              <a:lnSpc>
                <a:spcPct val="150000"/>
              </a:lnSpc>
            </a:pP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本作品系开悟思维原创作品，已获国家版权局作品登记证书！</a:t>
            </a:r>
            <a:endPar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pP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原创版权保护，仅供个人学习使用，侵权必究！</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a:p>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cxnSp>
        <p:nvCxnSpPr>
          <p:cNvPr id="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8" name="内容占位符 57"/>
          <p:cNvSpPr>
            <a:spLocks noGrp="1"/>
          </p:cNvSpPr>
          <p:nvPr>
            <p:ph sz="quarter" idx="18"/>
          </p:nvPr>
        </p:nvSpPr>
        <p:spPr>
          <a:xfrm>
            <a:off x="519113" y="1289050"/>
            <a:ext cx="10987087" cy="4627563"/>
          </a:xfrm>
        </p:spPr>
        <p:txBody>
          <a:bodyPr/>
          <a:lstStyle>
            <a:lvl1pPr>
              <a:defRPr>
                <a:latin typeface="微软雅黑" panose="020B0503020204020204" charset="-122"/>
                <a:ea typeface="微软雅黑" panose="020B0503020204020204" charset="-122"/>
              </a:defRPr>
            </a:lvl1pPr>
            <a:lvl2pPr>
              <a:defRPr>
                <a:latin typeface="微软雅黑" panose="020B0503020204020204" charset="-122"/>
                <a:ea typeface="微软雅黑" panose="020B0503020204020204" charset="-122"/>
              </a:defRPr>
            </a:lvl2pPr>
            <a:lvl3pPr>
              <a:defRPr>
                <a:latin typeface="微软雅黑" panose="020B0503020204020204" charset="-122"/>
                <a:ea typeface="微软雅黑" panose="020B0503020204020204" charset="-122"/>
              </a:defRPr>
            </a:lvl3pPr>
            <a:lvl4pPr>
              <a:defRPr>
                <a:latin typeface="微软雅黑" panose="020B0503020204020204" charset="-122"/>
                <a:ea typeface="微软雅黑" panose="020B0503020204020204" charset="-122"/>
              </a:defRPr>
            </a:lvl4pPr>
            <a:lvl5pPr>
              <a:defRPr>
                <a:latin typeface="微软雅黑" panose="020B0503020204020204" charset="-122"/>
                <a:ea typeface="微软雅黑" panose="020B0503020204020204" charset="-122"/>
              </a:defRPr>
            </a:lvl5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标题 1"/>
          <p:cNvSpPr>
            <a:spLocks noGrp="1"/>
          </p:cNvSpPr>
          <p:nvPr>
            <p:ph type="ctrTitle" hasCustomPrompt="1"/>
          </p:nvPr>
        </p:nvSpPr>
        <p:spPr>
          <a:xfrm>
            <a:off x="368705" y="275357"/>
            <a:ext cx="2188210" cy="481330"/>
          </a:xfrm>
          <a:ln w="12700">
            <a:miter lim="400000"/>
          </a:ln>
        </p:spPr>
        <p:txBody>
          <a:bodyPr wrap="none" lIns="25400" tIns="25400" rIns="25400" bIns="25400">
            <a:spAutoFit/>
          </a:bodyPr>
          <a:lstStyle>
            <a:lvl1pPr>
              <a:defRPr kumimoji="0" lang="zh-CN" altLang="en-US" sz="2800" b="1" u="none" strike="noStrike" cap="none" spc="0" normalizeH="0" baseline="0" dirty="0">
                <a:ln>
                  <a:noFill/>
                </a:ln>
                <a:solidFill>
                  <a:schemeClr val="accent1"/>
                </a:solidFill>
                <a:effectLst>
                  <a:outerShdw blurRad="187896" dist="38100" dir="2700000" algn="tl" rotWithShape="0">
                    <a:srgbClr val="1C2952">
                      <a:alpha val="6000"/>
                    </a:srgbClr>
                  </a:outerShdw>
                </a:effectLst>
                <a:uLnTx/>
                <a:uFillTx/>
                <a:latin typeface="微软雅黑" panose="020B0503020204020204" charset="-122"/>
                <a:ea typeface="微软雅黑" panose="020B0503020204020204" charset="-122"/>
                <a:cs typeface="微软雅黑" panose="020B0503020204020204" charset="-122"/>
              </a:defRPr>
            </a:lvl1pPr>
          </a:lstStyle>
          <a:p>
            <a:pPr marL="0" marR="0" lvl="0" indent="0" fontAlgn="auto">
              <a:lnSpc>
                <a:spcPct val="100000"/>
              </a:lnSpc>
              <a:spcBef>
                <a:spcPts val="0"/>
              </a:spcBef>
              <a:spcAft>
                <a:spcPts val="0"/>
              </a:spcAft>
              <a:buClrTx/>
              <a:buSzTx/>
              <a:buFontTx/>
            </a:pPr>
            <a:r>
              <a:rPr lang="zh-CN" altLang="en-US" dirty="0"/>
              <a:t>单击输入文字</a:t>
            </a:r>
            <a:endParaRPr lang="zh-CN" altLang="en-US" dirty="0"/>
          </a:p>
        </p:txBody>
      </p:sp>
      <p:pic>
        <p:nvPicPr>
          <p:cNvPr id="4" name="图片 3"/>
          <p:cNvPicPr>
            <a:picLocks noChangeAspect="1"/>
          </p:cNvPicPr>
          <p:nvPr userDrawn="1"/>
        </p:nvPicPr>
        <p:blipFill>
          <a:blip r:embed="rId2"/>
          <a:srcRect r="56499" b="-1176"/>
          <a:stretch>
            <a:fillRect/>
          </a:stretch>
        </p:blipFill>
        <p:spPr>
          <a:xfrm>
            <a:off x="7656830" y="354330"/>
            <a:ext cx="1649095" cy="327660"/>
          </a:xfrm>
          <a:prstGeom prst="rect">
            <a:avLst/>
          </a:prstGeom>
        </p:spPr>
      </p:pic>
      <p:sp>
        <p:nvSpPr>
          <p:cNvPr id="2" name="文本框 1"/>
          <p:cNvSpPr txBox="1"/>
          <p:nvPr userDrawn="1"/>
        </p:nvSpPr>
        <p:spPr>
          <a:xfrm>
            <a:off x="9227185" y="417830"/>
            <a:ext cx="2970530" cy="245110"/>
          </a:xfrm>
          <a:prstGeom prst="rect">
            <a:avLst/>
          </a:prstGeom>
          <a:noFill/>
        </p:spPr>
        <p:txBody>
          <a:bodyPr wrap="square" rtlCol="0">
            <a:spAutoFit/>
          </a:bodyPr>
          <a:lstStyle/>
          <a:p>
            <a:r>
              <a:rPr lang="zh-CN" altLang="en-US" sz="1000">
                <a:solidFill>
                  <a:schemeClr val="tx2"/>
                </a:solidFill>
                <a:latin typeface="微软雅黑" panose="020B0503020204020204" charset="-122"/>
                <a:ea typeface="微软雅黑" panose="020B0503020204020204" charset="-122"/>
                <a:cs typeface="微软雅黑" panose="020B0503020204020204" charset="-122"/>
              </a:rPr>
              <a:t>复杂逻辑场景</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框架搭建系列</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PPT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模板</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0FC04CB4-406B-4597-B044-D3B6F9EB61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CD9AE3D-545A-4B2E-82ED-8AC91F57BFD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28" y="608412"/>
            <a:ext cx="10969709" cy="705614"/>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28" y="1490430"/>
            <a:ext cx="10969709" cy="4759297"/>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9" name="文本框 8"/>
          <p:cNvSpPr txBox="1"/>
          <p:nvPr userDrawn="1"/>
        </p:nvSpPr>
        <p:spPr>
          <a:xfrm>
            <a:off x="5227955" y="215900"/>
            <a:ext cx="5846445" cy="826135"/>
          </a:xfrm>
          <a:prstGeom prst="rect">
            <a:avLst/>
          </a:prstGeom>
          <a:noFill/>
        </p:spPr>
        <p:txBody>
          <a:bodyPr wrap="square" rtlCol="0" anchor="ctr" anchorCtr="0">
            <a:noAutofit/>
          </a:bodyPr>
          <a:lstStyle/>
          <a:p>
            <a:pPr algn="ctr">
              <a:lnSpc>
                <a:spcPct val="150000"/>
              </a:lnSpc>
            </a:pP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本作品系开悟思维原创作品，已获国家版权局作品登记证书！</a:t>
            </a:r>
            <a:endPar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pP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原创版权保护，仅供个人学习使用，侵权必究！</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a:p>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cxnSp>
        <p:nvCxnSpPr>
          <p:cNvPr id="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8" name="内容占位符 57"/>
          <p:cNvSpPr>
            <a:spLocks noGrp="1"/>
          </p:cNvSpPr>
          <p:nvPr>
            <p:ph sz="quarter" idx="18"/>
          </p:nvPr>
        </p:nvSpPr>
        <p:spPr>
          <a:xfrm>
            <a:off x="519113" y="1289050"/>
            <a:ext cx="10987087" cy="4627563"/>
          </a:xfrm>
        </p:spPr>
        <p:txBody>
          <a:bodyPr/>
          <a:lstStyle>
            <a:lvl1pPr>
              <a:defRPr>
                <a:latin typeface="微软雅黑" panose="020B0503020204020204" charset="-122"/>
                <a:ea typeface="微软雅黑" panose="020B0503020204020204" charset="-122"/>
              </a:defRPr>
            </a:lvl1pPr>
            <a:lvl2pPr>
              <a:defRPr>
                <a:latin typeface="微软雅黑" panose="020B0503020204020204" charset="-122"/>
                <a:ea typeface="微软雅黑" panose="020B0503020204020204" charset="-122"/>
              </a:defRPr>
            </a:lvl2pPr>
            <a:lvl3pPr>
              <a:defRPr>
                <a:latin typeface="微软雅黑" panose="020B0503020204020204" charset="-122"/>
                <a:ea typeface="微软雅黑" panose="020B0503020204020204" charset="-122"/>
              </a:defRPr>
            </a:lvl3pPr>
            <a:lvl4pPr>
              <a:defRPr>
                <a:latin typeface="微软雅黑" panose="020B0503020204020204" charset="-122"/>
                <a:ea typeface="微软雅黑" panose="020B0503020204020204" charset="-122"/>
              </a:defRPr>
            </a:lvl4pPr>
            <a:lvl5pPr>
              <a:defRPr>
                <a:latin typeface="微软雅黑" panose="020B0503020204020204" charset="-122"/>
                <a:ea typeface="微软雅黑" panose="020B0503020204020204" charset="-122"/>
              </a:defRPr>
            </a:lvl5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标题 1"/>
          <p:cNvSpPr>
            <a:spLocks noGrp="1"/>
          </p:cNvSpPr>
          <p:nvPr>
            <p:ph type="ctrTitle" hasCustomPrompt="1"/>
          </p:nvPr>
        </p:nvSpPr>
        <p:spPr>
          <a:xfrm>
            <a:off x="368705" y="275357"/>
            <a:ext cx="2188210" cy="481330"/>
          </a:xfrm>
          <a:ln w="12700">
            <a:miter lim="400000"/>
          </a:ln>
        </p:spPr>
        <p:txBody>
          <a:bodyPr wrap="none" lIns="25400" tIns="25400" rIns="25400" bIns="25400">
            <a:spAutoFit/>
          </a:bodyPr>
          <a:lstStyle>
            <a:lvl1pPr>
              <a:defRPr kumimoji="0" lang="zh-CN" altLang="en-US" sz="2800" b="1" u="none" strike="noStrike" cap="none" spc="0" normalizeH="0" baseline="0" dirty="0">
                <a:ln>
                  <a:noFill/>
                </a:ln>
                <a:solidFill>
                  <a:schemeClr val="accent1"/>
                </a:solidFill>
                <a:effectLst>
                  <a:outerShdw blurRad="187896" dist="38100" dir="2700000" algn="tl" rotWithShape="0">
                    <a:srgbClr val="1C2952">
                      <a:alpha val="6000"/>
                    </a:srgbClr>
                  </a:outerShdw>
                </a:effectLst>
                <a:uLnTx/>
                <a:uFillTx/>
                <a:latin typeface="微软雅黑" panose="020B0503020204020204" charset="-122"/>
                <a:ea typeface="微软雅黑" panose="020B0503020204020204" charset="-122"/>
                <a:cs typeface="微软雅黑" panose="020B0503020204020204" charset="-122"/>
              </a:defRPr>
            </a:lvl1pPr>
          </a:lstStyle>
          <a:p>
            <a:pPr marL="0" marR="0" lvl="0" indent="0" fontAlgn="auto">
              <a:lnSpc>
                <a:spcPct val="100000"/>
              </a:lnSpc>
              <a:spcBef>
                <a:spcPts val="0"/>
              </a:spcBef>
              <a:spcAft>
                <a:spcPts val="0"/>
              </a:spcAft>
              <a:buClrTx/>
              <a:buSzTx/>
              <a:buFontTx/>
            </a:pPr>
            <a:r>
              <a:rPr lang="zh-CN" altLang="en-US" dirty="0"/>
              <a:t>单击输入文字</a:t>
            </a:r>
            <a:endParaRPr lang="zh-CN" altLang="en-US" dirty="0"/>
          </a:p>
        </p:txBody>
      </p:sp>
      <p:pic>
        <p:nvPicPr>
          <p:cNvPr id="4" name="图片 3"/>
          <p:cNvPicPr>
            <a:picLocks noChangeAspect="1"/>
          </p:cNvPicPr>
          <p:nvPr userDrawn="1"/>
        </p:nvPicPr>
        <p:blipFill>
          <a:blip r:embed="rId2"/>
          <a:srcRect r="56499" b="-1176"/>
          <a:stretch>
            <a:fillRect/>
          </a:stretch>
        </p:blipFill>
        <p:spPr>
          <a:xfrm>
            <a:off x="7656830" y="354330"/>
            <a:ext cx="1649095" cy="327660"/>
          </a:xfrm>
          <a:prstGeom prst="rect">
            <a:avLst/>
          </a:prstGeom>
        </p:spPr>
      </p:pic>
      <p:sp>
        <p:nvSpPr>
          <p:cNvPr id="2" name="文本框 1"/>
          <p:cNvSpPr txBox="1"/>
          <p:nvPr userDrawn="1"/>
        </p:nvSpPr>
        <p:spPr>
          <a:xfrm>
            <a:off x="9227185" y="417830"/>
            <a:ext cx="2970530" cy="245110"/>
          </a:xfrm>
          <a:prstGeom prst="rect">
            <a:avLst/>
          </a:prstGeom>
          <a:noFill/>
        </p:spPr>
        <p:txBody>
          <a:bodyPr wrap="square" rtlCol="0">
            <a:spAutoFit/>
          </a:bodyPr>
          <a:lstStyle/>
          <a:p>
            <a:r>
              <a:rPr lang="zh-CN" altLang="en-US" sz="1000">
                <a:solidFill>
                  <a:schemeClr val="tx2"/>
                </a:solidFill>
                <a:latin typeface="微软雅黑" panose="020B0503020204020204" charset="-122"/>
                <a:ea typeface="微软雅黑" panose="020B0503020204020204" charset="-122"/>
                <a:cs typeface="微软雅黑" panose="020B0503020204020204" charset="-122"/>
              </a:rPr>
              <a:t>复杂逻辑场景</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框架搭建系列</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PPT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模板</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0FC04CB4-406B-4597-B044-D3B6F9EB61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CD9AE3D-545A-4B2E-82ED-8AC91F57BFD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28" y="608412"/>
            <a:ext cx="10969709" cy="705614"/>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28" y="1490430"/>
            <a:ext cx="10969709" cy="4759297"/>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3854961C-C3E7-4008-B7AA-A672D0EA3DB0}" type="datetimeFigureOut">
              <a:rPr lang="en-US" smtClean="0"/>
            </a:fld>
            <a:endParaRPr 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8472ACB7-49E0-448E-BCC2-AC9877F63D46}"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微软雅黑" panose="020B050302020402020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3854961C-C3E7-4008-B7AA-A672D0EA3DB0}" type="datetimeFigureOut">
              <a:rPr lang="en-US" smtClean="0"/>
            </a:fld>
            <a:endParaRPr 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8472ACB7-49E0-448E-BCC2-AC9877F63D46}"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微软雅黑" panose="020B050302020402020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3.xml"/><Relationship Id="rId3" Type="http://schemas.openxmlformats.org/officeDocument/2006/relationships/image" Target="../media/image3.png"/><Relationship Id="rId2" Type="http://schemas.openxmlformats.org/officeDocument/2006/relationships/tags" Target="../tags/tag12.xml"/><Relationship Id="rId1" Type="http://schemas.openxmlformats.org/officeDocument/2006/relationships/tags" Target="../tags/tag11.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s>
</file>

<file path=ppt/slides/_rels/slide5.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image" Target="../media/image7.png"/><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1" Type="http://schemas.openxmlformats.org/officeDocument/2006/relationships/slideLayout" Target="../slideLayouts/slideLayout9.xml"/><Relationship Id="rId10" Type="http://schemas.openxmlformats.org/officeDocument/2006/relationships/image" Target="../media/image8.png"/><Relationship Id="rId1" Type="http://schemas.openxmlformats.org/officeDocument/2006/relationships/tags" Target="../tags/tag19.xml"/></Relationships>
</file>

<file path=ppt/slides/_rels/slide6.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image" Target="../media/image10.png"/><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image" Target="../media/image9.png"/><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4" Type="http://schemas.openxmlformats.org/officeDocument/2006/relationships/slideLayout" Target="../slideLayouts/slideLayout9.xml"/><Relationship Id="rId13" Type="http://schemas.openxmlformats.org/officeDocument/2006/relationships/image" Target="../media/image12.png"/><Relationship Id="rId12" Type="http://schemas.openxmlformats.org/officeDocument/2006/relationships/image" Target="../media/image11.png"/><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7.xml"/></Relationships>
</file>

<file path=ppt/slides/_rels/slide7.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image" Target="../media/image14.png"/><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image" Target="../media/image13.png"/><Relationship Id="rId2" Type="http://schemas.openxmlformats.org/officeDocument/2006/relationships/tags" Target="../tags/tag37.xml"/><Relationship Id="rId15" Type="http://schemas.openxmlformats.org/officeDocument/2006/relationships/slideLayout" Target="../slideLayouts/slideLayout9.xml"/><Relationship Id="rId14" Type="http://schemas.openxmlformats.org/officeDocument/2006/relationships/image" Target="../media/image16.png"/><Relationship Id="rId13" Type="http://schemas.openxmlformats.org/officeDocument/2006/relationships/tags" Target="../tags/tag45.xml"/><Relationship Id="rId12" Type="http://schemas.openxmlformats.org/officeDocument/2006/relationships/image" Target="../media/image15.png"/><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tags" Target="../tags/tag36.xml"/></Relationships>
</file>

<file path=ppt/slides/_rels/slide8.xml.rels><?xml version="1.0" encoding="UTF-8" standalone="yes"?>
<Relationships xmlns="http://schemas.openxmlformats.org/package/2006/relationships"><Relationship Id="rId99" Type="http://schemas.openxmlformats.org/officeDocument/2006/relationships/tags" Target="../tags/tag142.xml"/><Relationship Id="rId98" Type="http://schemas.openxmlformats.org/officeDocument/2006/relationships/tags" Target="../tags/tag141.xml"/><Relationship Id="rId97" Type="http://schemas.openxmlformats.org/officeDocument/2006/relationships/tags" Target="../tags/tag140.xml"/><Relationship Id="rId96" Type="http://schemas.openxmlformats.org/officeDocument/2006/relationships/tags" Target="../tags/tag139.xml"/><Relationship Id="rId95" Type="http://schemas.openxmlformats.org/officeDocument/2006/relationships/tags" Target="../tags/tag138.xml"/><Relationship Id="rId94" Type="http://schemas.openxmlformats.org/officeDocument/2006/relationships/tags" Target="../tags/tag137.xml"/><Relationship Id="rId93" Type="http://schemas.openxmlformats.org/officeDocument/2006/relationships/tags" Target="../tags/tag136.xml"/><Relationship Id="rId92" Type="http://schemas.openxmlformats.org/officeDocument/2006/relationships/tags" Target="../tags/tag135.xml"/><Relationship Id="rId91" Type="http://schemas.openxmlformats.org/officeDocument/2006/relationships/tags" Target="../tags/tag134.xml"/><Relationship Id="rId90" Type="http://schemas.openxmlformats.org/officeDocument/2006/relationships/tags" Target="../tags/tag133.xml"/><Relationship Id="rId9" Type="http://schemas.openxmlformats.org/officeDocument/2006/relationships/tags" Target="../tags/tag54.xml"/><Relationship Id="rId89" Type="http://schemas.openxmlformats.org/officeDocument/2006/relationships/tags" Target="../tags/tag132.xml"/><Relationship Id="rId88" Type="http://schemas.openxmlformats.org/officeDocument/2006/relationships/tags" Target="../tags/tag131.xml"/><Relationship Id="rId87" Type="http://schemas.openxmlformats.org/officeDocument/2006/relationships/tags" Target="../tags/tag130.xml"/><Relationship Id="rId86" Type="http://schemas.openxmlformats.org/officeDocument/2006/relationships/tags" Target="../tags/tag129.xml"/><Relationship Id="rId85" Type="http://schemas.openxmlformats.org/officeDocument/2006/relationships/tags" Target="../tags/tag128.xml"/><Relationship Id="rId84" Type="http://schemas.openxmlformats.org/officeDocument/2006/relationships/tags" Target="../tags/tag127.xml"/><Relationship Id="rId83" Type="http://schemas.openxmlformats.org/officeDocument/2006/relationships/tags" Target="../tags/tag126.xml"/><Relationship Id="rId82" Type="http://schemas.openxmlformats.org/officeDocument/2006/relationships/tags" Target="../tags/tag125.xml"/><Relationship Id="rId81" Type="http://schemas.openxmlformats.org/officeDocument/2006/relationships/tags" Target="../tags/tag124.xml"/><Relationship Id="rId80" Type="http://schemas.openxmlformats.org/officeDocument/2006/relationships/tags" Target="../tags/tag123.xml"/><Relationship Id="rId8" Type="http://schemas.openxmlformats.org/officeDocument/2006/relationships/tags" Target="../tags/tag53.xml"/><Relationship Id="rId79" Type="http://schemas.openxmlformats.org/officeDocument/2006/relationships/tags" Target="../tags/tag122.xml"/><Relationship Id="rId78" Type="http://schemas.openxmlformats.org/officeDocument/2006/relationships/tags" Target="../tags/tag121.xml"/><Relationship Id="rId77" Type="http://schemas.openxmlformats.org/officeDocument/2006/relationships/tags" Target="../tags/tag120.xml"/><Relationship Id="rId76" Type="http://schemas.openxmlformats.org/officeDocument/2006/relationships/tags" Target="../tags/tag119.xml"/><Relationship Id="rId75" Type="http://schemas.openxmlformats.org/officeDocument/2006/relationships/tags" Target="../tags/tag118.xml"/><Relationship Id="rId74" Type="http://schemas.openxmlformats.org/officeDocument/2006/relationships/tags" Target="../tags/tag117.xml"/><Relationship Id="rId73" Type="http://schemas.openxmlformats.org/officeDocument/2006/relationships/image" Target="../media/image18.svg"/><Relationship Id="rId72" Type="http://schemas.openxmlformats.org/officeDocument/2006/relationships/image" Target="../media/image17.png"/><Relationship Id="rId71" Type="http://schemas.openxmlformats.org/officeDocument/2006/relationships/tags" Target="../tags/tag116.xml"/><Relationship Id="rId70" Type="http://schemas.openxmlformats.org/officeDocument/2006/relationships/tags" Target="../tags/tag115.xml"/><Relationship Id="rId7" Type="http://schemas.openxmlformats.org/officeDocument/2006/relationships/tags" Target="../tags/tag52.xml"/><Relationship Id="rId69" Type="http://schemas.openxmlformats.org/officeDocument/2006/relationships/tags" Target="../tags/tag114.xml"/><Relationship Id="rId68" Type="http://schemas.openxmlformats.org/officeDocument/2006/relationships/tags" Target="../tags/tag113.xml"/><Relationship Id="rId67" Type="http://schemas.openxmlformats.org/officeDocument/2006/relationships/tags" Target="../tags/tag112.xml"/><Relationship Id="rId66" Type="http://schemas.openxmlformats.org/officeDocument/2006/relationships/tags" Target="../tags/tag111.xml"/><Relationship Id="rId65" Type="http://schemas.openxmlformats.org/officeDocument/2006/relationships/tags" Target="../tags/tag110.xml"/><Relationship Id="rId64" Type="http://schemas.openxmlformats.org/officeDocument/2006/relationships/tags" Target="../tags/tag109.xml"/><Relationship Id="rId63" Type="http://schemas.openxmlformats.org/officeDocument/2006/relationships/tags" Target="../tags/tag108.xml"/><Relationship Id="rId62" Type="http://schemas.openxmlformats.org/officeDocument/2006/relationships/tags" Target="../tags/tag107.xml"/><Relationship Id="rId61" Type="http://schemas.openxmlformats.org/officeDocument/2006/relationships/tags" Target="../tags/tag106.xml"/><Relationship Id="rId60" Type="http://schemas.openxmlformats.org/officeDocument/2006/relationships/tags" Target="../tags/tag105.xml"/><Relationship Id="rId6" Type="http://schemas.openxmlformats.org/officeDocument/2006/relationships/tags" Target="../tags/tag51.xml"/><Relationship Id="rId59" Type="http://schemas.openxmlformats.org/officeDocument/2006/relationships/tags" Target="../tags/tag104.xml"/><Relationship Id="rId58" Type="http://schemas.openxmlformats.org/officeDocument/2006/relationships/tags" Target="../tags/tag103.xml"/><Relationship Id="rId57" Type="http://schemas.openxmlformats.org/officeDocument/2006/relationships/tags" Target="../tags/tag102.xml"/><Relationship Id="rId56" Type="http://schemas.openxmlformats.org/officeDocument/2006/relationships/tags" Target="../tags/tag101.xml"/><Relationship Id="rId55" Type="http://schemas.openxmlformats.org/officeDocument/2006/relationships/tags" Target="../tags/tag100.xml"/><Relationship Id="rId54" Type="http://schemas.openxmlformats.org/officeDocument/2006/relationships/tags" Target="../tags/tag99.xml"/><Relationship Id="rId53" Type="http://schemas.openxmlformats.org/officeDocument/2006/relationships/tags" Target="../tags/tag98.xml"/><Relationship Id="rId52" Type="http://schemas.openxmlformats.org/officeDocument/2006/relationships/tags" Target="../tags/tag97.xml"/><Relationship Id="rId51" Type="http://schemas.openxmlformats.org/officeDocument/2006/relationships/tags" Target="../tags/tag96.xml"/><Relationship Id="rId50" Type="http://schemas.openxmlformats.org/officeDocument/2006/relationships/tags" Target="../tags/tag95.xml"/><Relationship Id="rId5" Type="http://schemas.openxmlformats.org/officeDocument/2006/relationships/tags" Target="../tags/tag50.xml"/><Relationship Id="rId49" Type="http://schemas.openxmlformats.org/officeDocument/2006/relationships/tags" Target="../tags/tag94.xml"/><Relationship Id="rId48" Type="http://schemas.openxmlformats.org/officeDocument/2006/relationships/tags" Target="../tags/tag93.xml"/><Relationship Id="rId47" Type="http://schemas.openxmlformats.org/officeDocument/2006/relationships/tags" Target="../tags/tag92.xml"/><Relationship Id="rId46" Type="http://schemas.openxmlformats.org/officeDocument/2006/relationships/tags" Target="../tags/tag91.xml"/><Relationship Id="rId45" Type="http://schemas.openxmlformats.org/officeDocument/2006/relationships/tags" Target="../tags/tag90.xml"/><Relationship Id="rId44" Type="http://schemas.openxmlformats.org/officeDocument/2006/relationships/tags" Target="../tags/tag89.xml"/><Relationship Id="rId43" Type="http://schemas.openxmlformats.org/officeDocument/2006/relationships/tags" Target="../tags/tag88.xml"/><Relationship Id="rId42" Type="http://schemas.openxmlformats.org/officeDocument/2006/relationships/tags" Target="../tags/tag87.xml"/><Relationship Id="rId41" Type="http://schemas.openxmlformats.org/officeDocument/2006/relationships/tags" Target="../tags/tag86.xml"/><Relationship Id="rId40" Type="http://schemas.openxmlformats.org/officeDocument/2006/relationships/tags" Target="../tags/tag85.xml"/><Relationship Id="rId4" Type="http://schemas.openxmlformats.org/officeDocument/2006/relationships/tags" Target="../tags/tag49.xml"/><Relationship Id="rId39" Type="http://schemas.openxmlformats.org/officeDocument/2006/relationships/tags" Target="../tags/tag84.xml"/><Relationship Id="rId38" Type="http://schemas.openxmlformats.org/officeDocument/2006/relationships/tags" Target="../tags/tag83.xml"/><Relationship Id="rId37" Type="http://schemas.openxmlformats.org/officeDocument/2006/relationships/tags" Target="../tags/tag82.xml"/><Relationship Id="rId36" Type="http://schemas.openxmlformats.org/officeDocument/2006/relationships/tags" Target="../tags/tag81.xml"/><Relationship Id="rId35" Type="http://schemas.openxmlformats.org/officeDocument/2006/relationships/tags" Target="../tags/tag80.xml"/><Relationship Id="rId34" Type="http://schemas.openxmlformats.org/officeDocument/2006/relationships/tags" Target="../tags/tag79.xml"/><Relationship Id="rId33" Type="http://schemas.openxmlformats.org/officeDocument/2006/relationships/tags" Target="../tags/tag78.xml"/><Relationship Id="rId32" Type="http://schemas.openxmlformats.org/officeDocument/2006/relationships/tags" Target="../tags/tag77.xml"/><Relationship Id="rId31" Type="http://schemas.openxmlformats.org/officeDocument/2006/relationships/tags" Target="../tags/tag76.xml"/><Relationship Id="rId30" Type="http://schemas.openxmlformats.org/officeDocument/2006/relationships/tags" Target="../tags/tag75.xml"/><Relationship Id="rId3" Type="http://schemas.openxmlformats.org/officeDocument/2006/relationships/tags" Target="../tags/tag48.xml"/><Relationship Id="rId29" Type="http://schemas.openxmlformats.org/officeDocument/2006/relationships/tags" Target="../tags/tag74.xml"/><Relationship Id="rId28" Type="http://schemas.openxmlformats.org/officeDocument/2006/relationships/tags" Target="../tags/tag73.xml"/><Relationship Id="rId27" Type="http://schemas.openxmlformats.org/officeDocument/2006/relationships/tags" Target="../tags/tag72.xml"/><Relationship Id="rId26" Type="http://schemas.openxmlformats.org/officeDocument/2006/relationships/tags" Target="../tags/tag71.xml"/><Relationship Id="rId25" Type="http://schemas.openxmlformats.org/officeDocument/2006/relationships/tags" Target="../tags/tag70.xml"/><Relationship Id="rId24" Type="http://schemas.openxmlformats.org/officeDocument/2006/relationships/tags" Target="../tags/tag69.xml"/><Relationship Id="rId23" Type="http://schemas.openxmlformats.org/officeDocument/2006/relationships/tags" Target="../tags/tag68.xml"/><Relationship Id="rId22" Type="http://schemas.openxmlformats.org/officeDocument/2006/relationships/tags" Target="../tags/tag67.xml"/><Relationship Id="rId21" Type="http://schemas.openxmlformats.org/officeDocument/2006/relationships/tags" Target="../tags/tag66.xml"/><Relationship Id="rId20" Type="http://schemas.openxmlformats.org/officeDocument/2006/relationships/tags" Target="../tags/tag65.xml"/><Relationship Id="rId2" Type="http://schemas.openxmlformats.org/officeDocument/2006/relationships/tags" Target="../tags/tag47.xml"/><Relationship Id="rId19" Type="http://schemas.openxmlformats.org/officeDocument/2006/relationships/tags" Target="../tags/tag64.xml"/><Relationship Id="rId18" Type="http://schemas.openxmlformats.org/officeDocument/2006/relationships/tags" Target="../tags/tag63.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8" Type="http://schemas.openxmlformats.org/officeDocument/2006/relationships/slideLayout" Target="../slideLayouts/slideLayout9.xml"/><Relationship Id="rId147" Type="http://schemas.openxmlformats.org/officeDocument/2006/relationships/tags" Target="../tags/tag190.xml"/><Relationship Id="rId146" Type="http://schemas.openxmlformats.org/officeDocument/2006/relationships/tags" Target="../tags/tag189.xml"/><Relationship Id="rId145" Type="http://schemas.openxmlformats.org/officeDocument/2006/relationships/tags" Target="../tags/tag188.xml"/><Relationship Id="rId144" Type="http://schemas.openxmlformats.org/officeDocument/2006/relationships/tags" Target="../tags/tag187.xml"/><Relationship Id="rId143" Type="http://schemas.openxmlformats.org/officeDocument/2006/relationships/tags" Target="../tags/tag186.xml"/><Relationship Id="rId142" Type="http://schemas.openxmlformats.org/officeDocument/2006/relationships/tags" Target="../tags/tag185.xml"/><Relationship Id="rId141" Type="http://schemas.openxmlformats.org/officeDocument/2006/relationships/tags" Target="../tags/tag184.xml"/><Relationship Id="rId140" Type="http://schemas.openxmlformats.org/officeDocument/2006/relationships/tags" Target="../tags/tag183.xml"/><Relationship Id="rId14" Type="http://schemas.openxmlformats.org/officeDocument/2006/relationships/tags" Target="../tags/tag59.xml"/><Relationship Id="rId139" Type="http://schemas.openxmlformats.org/officeDocument/2006/relationships/tags" Target="../tags/tag182.xml"/><Relationship Id="rId138" Type="http://schemas.openxmlformats.org/officeDocument/2006/relationships/tags" Target="../tags/tag181.xml"/><Relationship Id="rId137" Type="http://schemas.openxmlformats.org/officeDocument/2006/relationships/tags" Target="../tags/tag180.xml"/><Relationship Id="rId136" Type="http://schemas.openxmlformats.org/officeDocument/2006/relationships/tags" Target="../tags/tag179.xml"/><Relationship Id="rId135" Type="http://schemas.openxmlformats.org/officeDocument/2006/relationships/tags" Target="../tags/tag178.xml"/><Relationship Id="rId134" Type="http://schemas.openxmlformats.org/officeDocument/2006/relationships/tags" Target="../tags/tag177.xml"/><Relationship Id="rId133" Type="http://schemas.openxmlformats.org/officeDocument/2006/relationships/tags" Target="../tags/tag176.xml"/><Relationship Id="rId132" Type="http://schemas.openxmlformats.org/officeDocument/2006/relationships/tags" Target="../tags/tag175.xml"/><Relationship Id="rId131" Type="http://schemas.openxmlformats.org/officeDocument/2006/relationships/tags" Target="../tags/tag174.xml"/><Relationship Id="rId130" Type="http://schemas.openxmlformats.org/officeDocument/2006/relationships/tags" Target="../tags/tag173.xml"/><Relationship Id="rId13" Type="http://schemas.openxmlformats.org/officeDocument/2006/relationships/tags" Target="../tags/tag58.xml"/><Relationship Id="rId129" Type="http://schemas.openxmlformats.org/officeDocument/2006/relationships/tags" Target="../tags/tag172.xml"/><Relationship Id="rId128" Type="http://schemas.openxmlformats.org/officeDocument/2006/relationships/tags" Target="../tags/tag171.xml"/><Relationship Id="rId127" Type="http://schemas.openxmlformats.org/officeDocument/2006/relationships/tags" Target="../tags/tag170.xml"/><Relationship Id="rId126" Type="http://schemas.openxmlformats.org/officeDocument/2006/relationships/tags" Target="../tags/tag169.xml"/><Relationship Id="rId125" Type="http://schemas.openxmlformats.org/officeDocument/2006/relationships/tags" Target="../tags/tag168.xml"/><Relationship Id="rId124" Type="http://schemas.openxmlformats.org/officeDocument/2006/relationships/tags" Target="../tags/tag167.xml"/><Relationship Id="rId123" Type="http://schemas.openxmlformats.org/officeDocument/2006/relationships/tags" Target="../tags/tag166.xml"/><Relationship Id="rId122" Type="http://schemas.openxmlformats.org/officeDocument/2006/relationships/tags" Target="../tags/tag165.xml"/><Relationship Id="rId121" Type="http://schemas.openxmlformats.org/officeDocument/2006/relationships/tags" Target="../tags/tag164.xml"/><Relationship Id="rId120" Type="http://schemas.openxmlformats.org/officeDocument/2006/relationships/tags" Target="../tags/tag163.xml"/><Relationship Id="rId12" Type="http://schemas.openxmlformats.org/officeDocument/2006/relationships/tags" Target="../tags/tag57.xml"/><Relationship Id="rId119" Type="http://schemas.openxmlformats.org/officeDocument/2006/relationships/tags" Target="../tags/tag162.xml"/><Relationship Id="rId118" Type="http://schemas.openxmlformats.org/officeDocument/2006/relationships/tags" Target="../tags/tag161.xml"/><Relationship Id="rId117" Type="http://schemas.openxmlformats.org/officeDocument/2006/relationships/tags" Target="../tags/tag160.xml"/><Relationship Id="rId116" Type="http://schemas.openxmlformats.org/officeDocument/2006/relationships/tags" Target="../tags/tag159.xml"/><Relationship Id="rId115" Type="http://schemas.openxmlformats.org/officeDocument/2006/relationships/tags" Target="../tags/tag158.xml"/><Relationship Id="rId114" Type="http://schemas.openxmlformats.org/officeDocument/2006/relationships/tags" Target="../tags/tag157.xml"/><Relationship Id="rId113" Type="http://schemas.openxmlformats.org/officeDocument/2006/relationships/tags" Target="../tags/tag156.xml"/><Relationship Id="rId112" Type="http://schemas.openxmlformats.org/officeDocument/2006/relationships/tags" Target="../tags/tag155.xml"/><Relationship Id="rId111" Type="http://schemas.openxmlformats.org/officeDocument/2006/relationships/tags" Target="../tags/tag154.xml"/><Relationship Id="rId110" Type="http://schemas.openxmlformats.org/officeDocument/2006/relationships/tags" Target="../tags/tag153.xml"/><Relationship Id="rId11" Type="http://schemas.openxmlformats.org/officeDocument/2006/relationships/tags" Target="../tags/tag56.xml"/><Relationship Id="rId109" Type="http://schemas.openxmlformats.org/officeDocument/2006/relationships/tags" Target="../tags/tag152.xml"/><Relationship Id="rId108" Type="http://schemas.openxmlformats.org/officeDocument/2006/relationships/tags" Target="../tags/tag151.xml"/><Relationship Id="rId107" Type="http://schemas.openxmlformats.org/officeDocument/2006/relationships/tags" Target="../tags/tag150.xml"/><Relationship Id="rId106" Type="http://schemas.openxmlformats.org/officeDocument/2006/relationships/tags" Target="../tags/tag149.xml"/><Relationship Id="rId105" Type="http://schemas.openxmlformats.org/officeDocument/2006/relationships/tags" Target="../tags/tag148.xml"/><Relationship Id="rId104" Type="http://schemas.openxmlformats.org/officeDocument/2006/relationships/tags" Target="../tags/tag147.xml"/><Relationship Id="rId103" Type="http://schemas.openxmlformats.org/officeDocument/2006/relationships/tags" Target="../tags/tag146.xml"/><Relationship Id="rId102" Type="http://schemas.openxmlformats.org/officeDocument/2006/relationships/tags" Target="../tags/tag145.xml"/><Relationship Id="rId101" Type="http://schemas.openxmlformats.org/officeDocument/2006/relationships/tags" Target="../tags/tag144.xml"/><Relationship Id="rId100" Type="http://schemas.openxmlformats.org/officeDocument/2006/relationships/tags" Target="../tags/tag143.xml"/><Relationship Id="rId10" Type="http://schemas.openxmlformats.org/officeDocument/2006/relationships/tags" Target="../tags/tag55.xml"/><Relationship Id="rId1" Type="http://schemas.openxmlformats.org/officeDocument/2006/relationships/tags" Target="../tags/tag46.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9.jpeg"/></Relationships>
</file>

<file path=ppt/slides/_rels/slide10.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image" Target="../media/image27.svg"/><Relationship Id="rId7" Type="http://schemas.openxmlformats.org/officeDocument/2006/relationships/image" Target="../media/image26.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 Id="rId3" Type="http://schemas.openxmlformats.org/officeDocument/2006/relationships/image" Target="../media/image22.png"/><Relationship Id="rId27" Type="http://schemas.openxmlformats.org/officeDocument/2006/relationships/notesSlide" Target="../notesSlides/notesSlide4.xml"/><Relationship Id="rId26" Type="http://schemas.openxmlformats.org/officeDocument/2006/relationships/slideLayout" Target="../slideLayouts/slideLayout12.xml"/><Relationship Id="rId25" Type="http://schemas.openxmlformats.org/officeDocument/2006/relationships/image" Target="../media/image1.png"/><Relationship Id="rId24" Type="http://schemas.openxmlformats.org/officeDocument/2006/relationships/image" Target="../media/image43.svg"/><Relationship Id="rId23" Type="http://schemas.openxmlformats.org/officeDocument/2006/relationships/image" Target="../media/image42.png"/><Relationship Id="rId22" Type="http://schemas.openxmlformats.org/officeDocument/2006/relationships/image" Target="../media/image41.svg"/><Relationship Id="rId21" Type="http://schemas.openxmlformats.org/officeDocument/2006/relationships/image" Target="../media/image40.png"/><Relationship Id="rId20" Type="http://schemas.openxmlformats.org/officeDocument/2006/relationships/image" Target="../media/image39.svg"/><Relationship Id="rId2" Type="http://schemas.openxmlformats.org/officeDocument/2006/relationships/image" Target="../media/image21.svg"/><Relationship Id="rId19" Type="http://schemas.openxmlformats.org/officeDocument/2006/relationships/image" Target="../media/image38.png"/><Relationship Id="rId18" Type="http://schemas.openxmlformats.org/officeDocument/2006/relationships/image" Target="../media/image37.svg"/><Relationship Id="rId17" Type="http://schemas.openxmlformats.org/officeDocument/2006/relationships/image" Target="../media/image36.png"/><Relationship Id="rId16" Type="http://schemas.openxmlformats.org/officeDocument/2006/relationships/image" Target="../media/image35.svg"/><Relationship Id="rId15" Type="http://schemas.openxmlformats.org/officeDocument/2006/relationships/image" Target="../media/image34.png"/><Relationship Id="rId14" Type="http://schemas.openxmlformats.org/officeDocument/2006/relationships/image" Target="../media/image33.svg"/><Relationship Id="rId13" Type="http://schemas.openxmlformats.org/officeDocument/2006/relationships/image" Target="../media/image32.png"/><Relationship Id="rId12" Type="http://schemas.openxmlformats.org/officeDocument/2006/relationships/image" Target="../media/image31.svg"/><Relationship Id="rId11" Type="http://schemas.openxmlformats.org/officeDocument/2006/relationships/image" Target="../media/image30.png"/><Relationship Id="rId10" Type="http://schemas.openxmlformats.org/officeDocument/2006/relationships/image" Target="../media/image29.svg"/><Relationship Id="rId1" Type="http://schemas.openxmlformats.org/officeDocument/2006/relationships/image" Target="../media/image20.png"/></Relationships>
</file>

<file path=ppt/slides/_rels/slide11.xml.rels><?xml version="1.0" encoding="UTF-8" standalone="yes"?>
<Relationships xmlns="http://schemas.openxmlformats.org/package/2006/relationships"><Relationship Id="rId9" Type="http://schemas.openxmlformats.org/officeDocument/2006/relationships/image" Target="../media/image28.png"/><Relationship Id="rId8" Type="http://schemas.openxmlformats.org/officeDocument/2006/relationships/image" Target="../media/image27.svg"/><Relationship Id="rId7" Type="http://schemas.openxmlformats.org/officeDocument/2006/relationships/image" Target="../media/image46.png"/><Relationship Id="rId6" Type="http://schemas.openxmlformats.org/officeDocument/2006/relationships/image" Target="../media/image45.svg"/><Relationship Id="rId5" Type="http://schemas.openxmlformats.org/officeDocument/2006/relationships/image" Target="../media/image24.png"/><Relationship Id="rId4" Type="http://schemas.openxmlformats.org/officeDocument/2006/relationships/image" Target="../media/image23.svg"/><Relationship Id="rId3" Type="http://schemas.openxmlformats.org/officeDocument/2006/relationships/image" Target="../media/image22.png"/><Relationship Id="rId25" Type="http://schemas.openxmlformats.org/officeDocument/2006/relationships/notesSlide" Target="../notesSlides/notesSlide5.xml"/><Relationship Id="rId24" Type="http://schemas.openxmlformats.org/officeDocument/2006/relationships/slideLayout" Target="../slideLayouts/slideLayout12.xml"/><Relationship Id="rId23" Type="http://schemas.openxmlformats.org/officeDocument/2006/relationships/image" Target="../media/image1.png"/><Relationship Id="rId22" Type="http://schemas.openxmlformats.org/officeDocument/2006/relationships/image" Target="../media/image41.svg"/><Relationship Id="rId21" Type="http://schemas.openxmlformats.org/officeDocument/2006/relationships/image" Target="../media/image40.png"/><Relationship Id="rId20" Type="http://schemas.openxmlformats.org/officeDocument/2006/relationships/image" Target="../media/image39.svg"/><Relationship Id="rId2" Type="http://schemas.openxmlformats.org/officeDocument/2006/relationships/image" Target="../media/image44.svg"/><Relationship Id="rId19" Type="http://schemas.openxmlformats.org/officeDocument/2006/relationships/image" Target="../media/image38.png"/><Relationship Id="rId18" Type="http://schemas.openxmlformats.org/officeDocument/2006/relationships/image" Target="../media/image37.svg"/><Relationship Id="rId17" Type="http://schemas.openxmlformats.org/officeDocument/2006/relationships/image" Target="../media/image36.png"/><Relationship Id="rId16" Type="http://schemas.openxmlformats.org/officeDocument/2006/relationships/image" Target="../media/image35.svg"/><Relationship Id="rId15" Type="http://schemas.openxmlformats.org/officeDocument/2006/relationships/image" Target="../media/image34.png"/><Relationship Id="rId14" Type="http://schemas.openxmlformats.org/officeDocument/2006/relationships/image" Target="../media/image33.svg"/><Relationship Id="rId13" Type="http://schemas.openxmlformats.org/officeDocument/2006/relationships/image" Target="../media/image32.png"/><Relationship Id="rId12" Type="http://schemas.openxmlformats.org/officeDocument/2006/relationships/image" Target="../media/image31.svg"/><Relationship Id="rId11" Type="http://schemas.openxmlformats.org/officeDocument/2006/relationships/image" Target="../media/image30.png"/><Relationship Id="rId10" Type="http://schemas.openxmlformats.org/officeDocument/2006/relationships/image" Target="../media/image29.svg"/><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9" Type="http://schemas.openxmlformats.org/officeDocument/2006/relationships/tags" Target="../tags/tag199.xml"/><Relationship Id="rId8" Type="http://schemas.openxmlformats.org/officeDocument/2006/relationships/tags" Target="../tags/tag198.xml"/><Relationship Id="rId7" Type="http://schemas.openxmlformats.org/officeDocument/2006/relationships/tags" Target="../tags/tag197.xml"/><Relationship Id="rId6" Type="http://schemas.openxmlformats.org/officeDocument/2006/relationships/tags" Target="../tags/tag196.xml"/><Relationship Id="rId5" Type="http://schemas.openxmlformats.org/officeDocument/2006/relationships/tags" Target="../tags/tag195.xml"/><Relationship Id="rId4" Type="http://schemas.openxmlformats.org/officeDocument/2006/relationships/tags" Target="../tags/tag194.xml"/><Relationship Id="rId3" Type="http://schemas.openxmlformats.org/officeDocument/2006/relationships/tags" Target="../tags/tag193.xml"/><Relationship Id="rId27" Type="http://schemas.openxmlformats.org/officeDocument/2006/relationships/notesSlide" Target="../notesSlides/notesSlide6.xml"/><Relationship Id="rId26" Type="http://schemas.openxmlformats.org/officeDocument/2006/relationships/slideLayout" Target="../slideLayouts/slideLayout12.xml"/><Relationship Id="rId25" Type="http://schemas.openxmlformats.org/officeDocument/2006/relationships/image" Target="../media/image1.png"/><Relationship Id="rId24" Type="http://schemas.openxmlformats.org/officeDocument/2006/relationships/image" Target="../media/image57.svg"/><Relationship Id="rId23" Type="http://schemas.openxmlformats.org/officeDocument/2006/relationships/image" Target="../media/image56.png"/><Relationship Id="rId22" Type="http://schemas.openxmlformats.org/officeDocument/2006/relationships/image" Target="../media/image55.svg"/><Relationship Id="rId21" Type="http://schemas.openxmlformats.org/officeDocument/2006/relationships/image" Target="../media/image20.png"/><Relationship Id="rId20" Type="http://schemas.openxmlformats.org/officeDocument/2006/relationships/image" Target="../media/image54.png"/><Relationship Id="rId2" Type="http://schemas.openxmlformats.org/officeDocument/2006/relationships/tags" Target="../tags/tag192.xml"/><Relationship Id="rId19" Type="http://schemas.openxmlformats.org/officeDocument/2006/relationships/tags" Target="../tags/tag202.xml"/><Relationship Id="rId18" Type="http://schemas.openxmlformats.org/officeDocument/2006/relationships/image" Target="../media/image53.svg"/><Relationship Id="rId17" Type="http://schemas.openxmlformats.org/officeDocument/2006/relationships/image" Target="../media/image52.png"/><Relationship Id="rId16" Type="http://schemas.openxmlformats.org/officeDocument/2006/relationships/image" Target="../media/image51.svg"/><Relationship Id="rId15" Type="http://schemas.openxmlformats.org/officeDocument/2006/relationships/image" Target="../media/image50.png"/><Relationship Id="rId14" Type="http://schemas.openxmlformats.org/officeDocument/2006/relationships/image" Target="../media/image49.svg"/><Relationship Id="rId13" Type="http://schemas.openxmlformats.org/officeDocument/2006/relationships/image" Target="../media/image48.png"/><Relationship Id="rId12" Type="http://schemas.openxmlformats.org/officeDocument/2006/relationships/tags" Target="../tags/tag201.xml"/><Relationship Id="rId11" Type="http://schemas.openxmlformats.org/officeDocument/2006/relationships/image" Target="../media/image47.png"/><Relationship Id="rId10" Type="http://schemas.openxmlformats.org/officeDocument/2006/relationships/tags" Target="../tags/tag200.xml"/><Relationship Id="rId1" Type="http://schemas.openxmlformats.org/officeDocument/2006/relationships/tags" Target="../tags/tag191.xml"/></Relationships>
</file>

<file path=ppt/slides/_rels/slide13.xml.rels><?xml version="1.0" encoding="UTF-8" standalone="yes"?>
<Relationships xmlns="http://schemas.openxmlformats.org/package/2006/relationships"><Relationship Id="rId9" Type="http://schemas.openxmlformats.org/officeDocument/2006/relationships/tags" Target="../tags/tag209.xml"/><Relationship Id="rId8" Type="http://schemas.openxmlformats.org/officeDocument/2006/relationships/tags" Target="../tags/tag208.xml"/><Relationship Id="rId7" Type="http://schemas.openxmlformats.org/officeDocument/2006/relationships/tags" Target="../tags/tag207.xml"/><Relationship Id="rId6" Type="http://schemas.openxmlformats.org/officeDocument/2006/relationships/tags" Target="../tags/tag206.xml"/><Relationship Id="rId5" Type="http://schemas.openxmlformats.org/officeDocument/2006/relationships/tags" Target="../tags/tag205.xml"/><Relationship Id="rId4" Type="http://schemas.openxmlformats.org/officeDocument/2006/relationships/tags" Target="../tags/tag204.xml"/><Relationship Id="rId3" Type="http://schemas.openxmlformats.org/officeDocument/2006/relationships/tags" Target="../tags/tag203.xml"/><Relationship Id="rId25" Type="http://schemas.openxmlformats.org/officeDocument/2006/relationships/notesSlide" Target="../notesSlides/notesSlide7.xml"/><Relationship Id="rId24" Type="http://schemas.openxmlformats.org/officeDocument/2006/relationships/slideLayout" Target="../slideLayouts/slideLayout12.xml"/><Relationship Id="rId23" Type="http://schemas.openxmlformats.org/officeDocument/2006/relationships/image" Target="../media/image1.png"/><Relationship Id="rId22" Type="http://schemas.openxmlformats.org/officeDocument/2006/relationships/image" Target="../media/image60.svg"/><Relationship Id="rId21" Type="http://schemas.openxmlformats.org/officeDocument/2006/relationships/image" Target="../media/image52.png"/><Relationship Id="rId20" Type="http://schemas.openxmlformats.org/officeDocument/2006/relationships/image" Target="../media/image59.svg"/><Relationship Id="rId2" Type="http://schemas.openxmlformats.org/officeDocument/2006/relationships/image" Target="../media/image55.svg"/><Relationship Id="rId19" Type="http://schemas.openxmlformats.org/officeDocument/2006/relationships/image" Target="../media/image50.png"/><Relationship Id="rId18" Type="http://schemas.openxmlformats.org/officeDocument/2006/relationships/image" Target="../media/image58.svg"/><Relationship Id="rId17" Type="http://schemas.openxmlformats.org/officeDocument/2006/relationships/image" Target="../media/image48.png"/><Relationship Id="rId16" Type="http://schemas.openxmlformats.org/officeDocument/2006/relationships/image" Target="../media/image57.svg"/><Relationship Id="rId15" Type="http://schemas.openxmlformats.org/officeDocument/2006/relationships/image" Target="../media/image56.png"/><Relationship Id="rId14" Type="http://schemas.openxmlformats.org/officeDocument/2006/relationships/tags" Target="../tags/tag213.xml"/><Relationship Id="rId13" Type="http://schemas.openxmlformats.org/officeDocument/2006/relationships/image" Target="../media/image47.png"/><Relationship Id="rId12" Type="http://schemas.openxmlformats.org/officeDocument/2006/relationships/tags" Target="../tags/tag212.xml"/><Relationship Id="rId11" Type="http://schemas.openxmlformats.org/officeDocument/2006/relationships/tags" Target="../tags/tag211.xml"/><Relationship Id="rId10" Type="http://schemas.openxmlformats.org/officeDocument/2006/relationships/tags" Target="../tags/tag210.xml"/><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61.svg"/><Relationship Id="rId1" Type="http://schemas.openxmlformats.org/officeDocument/2006/relationships/image" Target="../media/image20.png"/></Relationships>
</file>

<file path=ppt/slides/_rels/slide15.xml.rels><?xml version="1.0" encoding="UTF-8" standalone="yes"?>
<Relationships xmlns="http://schemas.openxmlformats.org/package/2006/relationships"><Relationship Id="rId9" Type="http://schemas.openxmlformats.org/officeDocument/2006/relationships/tags" Target="../tags/tag219.xml"/><Relationship Id="rId8" Type="http://schemas.openxmlformats.org/officeDocument/2006/relationships/tags" Target="../tags/tag218.xml"/><Relationship Id="rId7" Type="http://schemas.openxmlformats.org/officeDocument/2006/relationships/tags" Target="../tags/tag217.xml"/><Relationship Id="rId6" Type="http://schemas.openxmlformats.org/officeDocument/2006/relationships/tags" Target="../tags/tag216.xml"/><Relationship Id="rId5" Type="http://schemas.openxmlformats.org/officeDocument/2006/relationships/tags" Target="../tags/tag215.xml"/><Relationship Id="rId4" Type="http://schemas.openxmlformats.org/officeDocument/2006/relationships/tags" Target="../tags/tag214.xml"/><Relationship Id="rId3" Type="http://schemas.openxmlformats.org/officeDocument/2006/relationships/image" Target="../media/image1.png"/><Relationship Id="rId2" Type="http://schemas.openxmlformats.org/officeDocument/2006/relationships/image" Target="../media/image62.svg"/><Relationship Id="rId11" Type="http://schemas.openxmlformats.org/officeDocument/2006/relationships/notesSlide" Target="../notesSlides/notesSlide9.xml"/><Relationship Id="rId10" Type="http://schemas.openxmlformats.org/officeDocument/2006/relationships/slideLayout" Target="../slideLayouts/slideLayout12.xml"/><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2.xml"/><Relationship Id="rId7" Type="http://schemas.openxmlformats.org/officeDocument/2006/relationships/image" Target="../media/image1.png"/><Relationship Id="rId6" Type="http://schemas.openxmlformats.org/officeDocument/2006/relationships/image" Target="../media/image63.svg"/><Relationship Id="rId5" Type="http://schemas.openxmlformats.org/officeDocument/2006/relationships/image" Target="../media/image20.png"/><Relationship Id="rId4" Type="http://schemas.openxmlformats.org/officeDocument/2006/relationships/tags" Target="../tags/tag223.xml"/><Relationship Id="rId3" Type="http://schemas.openxmlformats.org/officeDocument/2006/relationships/tags" Target="../tags/tag222.xml"/><Relationship Id="rId2" Type="http://schemas.openxmlformats.org/officeDocument/2006/relationships/tags" Target="../tags/tag221.xml"/><Relationship Id="rId1" Type="http://schemas.openxmlformats.org/officeDocument/2006/relationships/tags" Target="../tags/tag220.xml"/></Relationships>
</file>

<file path=ppt/slides/_rels/slide17.xml.rels><?xml version="1.0" encoding="UTF-8" standalone="yes"?>
<Relationships xmlns="http://schemas.openxmlformats.org/package/2006/relationships"><Relationship Id="rId9" Type="http://schemas.openxmlformats.org/officeDocument/2006/relationships/image" Target="../media/image72.png"/><Relationship Id="rId8" Type="http://schemas.openxmlformats.org/officeDocument/2006/relationships/image" Target="../media/image71.svg"/><Relationship Id="rId7" Type="http://schemas.openxmlformats.org/officeDocument/2006/relationships/image" Target="../media/image70.png"/><Relationship Id="rId6" Type="http://schemas.openxmlformats.org/officeDocument/2006/relationships/image" Target="../media/image69.svg"/><Relationship Id="rId57" Type="http://schemas.openxmlformats.org/officeDocument/2006/relationships/notesSlide" Target="../notesSlides/notesSlide11.xml"/><Relationship Id="rId56" Type="http://schemas.openxmlformats.org/officeDocument/2006/relationships/slideLayout" Target="../slideLayouts/slideLayout12.xml"/><Relationship Id="rId55" Type="http://schemas.openxmlformats.org/officeDocument/2006/relationships/image" Target="../media/image1.png"/><Relationship Id="rId54" Type="http://schemas.openxmlformats.org/officeDocument/2006/relationships/image" Target="../media/image117.svg"/><Relationship Id="rId53" Type="http://schemas.openxmlformats.org/officeDocument/2006/relationships/image" Target="../media/image116.png"/><Relationship Id="rId52" Type="http://schemas.openxmlformats.org/officeDocument/2006/relationships/image" Target="../media/image115.svg"/><Relationship Id="rId51" Type="http://schemas.openxmlformats.org/officeDocument/2006/relationships/image" Target="../media/image114.png"/><Relationship Id="rId50" Type="http://schemas.openxmlformats.org/officeDocument/2006/relationships/image" Target="../media/image113.svg"/><Relationship Id="rId5" Type="http://schemas.openxmlformats.org/officeDocument/2006/relationships/image" Target="../media/image68.png"/><Relationship Id="rId49" Type="http://schemas.openxmlformats.org/officeDocument/2006/relationships/image" Target="../media/image112.png"/><Relationship Id="rId48" Type="http://schemas.openxmlformats.org/officeDocument/2006/relationships/image" Target="../media/image111.svg"/><Relationship Id="rId47" Type="http://schemas.openxmlformats.org/officeDocument/2006/relationships/image" Target="../media/image110.png"/><Relationship Id="rId46" Type="http://schemas.openxmlformats.org/officeDocument/2006/relationships/image" Target="../media/image109.svg"/><Relationship Id="rId45" Type="http://schemas.openxmlformats.org/officeDocument/2006/relationships/image" Target="../media/image108.png"/><Relationship Id="rId44" Type="http://schemas.openxmlformats.org/officeDocument/2006/relationships/image" Target="../media/image107.svg"/><Relationship Id="rId43" Type="http://schemas.openxmlformats.org/officeDocument/2006/relationships/image" Target="../media/image106.png"/><Relationship Id="rId42" Type="http://schemas.openxmlformats.org/officeDocument/2006/relationships/image" Target="../media/image105.svg"/><Relationship Id="rId41" Type="http://schemas.openxmlformats.org/officeDocument/2006/relationships/image" Target="../media/image104.png"/><Relationship Id="rId40" Type="http://schemas.openxmlformats.org/officeDocument/2006/relationships/image" Target="../media/image103.svg"/><Relationship Id="rId4" Type="http://schemas.openxmlformats.org/officeDocument/2006/relationships/image" Target="../media/image67.svg"/><Relationship Id="rId39" Type="http://schemas.openxmlformats.org/officeDocument/2006/relationships/image" Target="../media/image102.png"/><Relationship Id="rId38" Type="http://schemas.openxmlformats.org/officeDocument/2006/relationships/image" Target="../media/image101.svg"/><Relationship Id="rId37" Type="http://schemas.openxmlformats.org/officeDocument/2006/relationships/image" Target="../media/image100.png"/><Relationship Id="rId36" Type="http://schemas.openxmlformats.org/officeDocument/2006/relationships/image" Target="../media/image99.svg"/><Relationship Id="rId35" Type="http://schemas.openxmlformats.org/officeDocument/2006/relationships/image" Target="../media/image98.png"/><Relationship Id="rId34" Type="http://schemas.openxmlformats.org/officeDocument/2006/relationships/image" Target="../media/image97.svg"/><Relationship Id="rId33" Type="http://schemas.openxmlformats.org/officeDocument/2006/relationships/image" Target="../media/image96.png"/><Relationship Id="rId32" Type="http://schemas.openxmlformats.org/officeDocument/2006/relationships/image" Target="../media/image95.svg"/><Relationship Id="rId31" Type="http://schemas.openxmlformats.org/officeDocument/2006/relationships/image" Target="../media/image94.png"/><Relationship Id="rId30" Type="http://schemas.openxmlformats.org/officeDocument/2006/relationships/image" Target="../media/image93.svg"/><Relationship Id="rId3" Type="http://schemas.openxmlformats.org/officeDocument/2006/relationships/image" Target="../media/image66.png"/><Relationship Id="rId29" Type="http://schemas.openxmlformats.org/officeDocument/2006/relationships/image" Target="../media/image92.png"/><Relationship Id="rId28" Type="http://schemas.openxmlformats.org/officeDocument/2006/relationships/image" Target="../media/image91.svg"/><Relationship Id="rId27" Type="http://schemas.openxmlformats.org/officeDocument/2006/relationships/image" Target="../media/image90.png"/><Relationship Id="rId26" Type="http://schemas.openxmlformats.org/officeDocument/2006/relationships/image" Target="../media/image89.svg"/><Relationship Id="rId25" Type="http://schemas.openxmlformats.org/officeDocument/2006/relationships/image" Target="../media/image88.png"/><Relationship Id="rId24" Type="http://schemas.openxmlformats.org/officeDocument/2006/relationships/image" Target="../media/image87.svg"/><Relationship Id="rId23" Type="http://schemas.openxmlformats.org/officeDocument/2006/relationships/image" Target="../media/image86.png"/><Relationship Id="rId22" Type="http://schemas.openxmlformats.org/officeDocument/2006/relationships/image" Target="../media/image85.svg"/><Relationship Id="rId21" Type="http://schemas.openxmlformats.org/officeDocument/2006/relationships/image" Target="../media/image84.png"/><Relationship Id="rId20" Type="http://schemas.openxmlformats.org/officeDocument/2006/relationships/image" Target="../media/image83.svg"/><Relationship Id="rId2" Type="http://schemas.openxmlformats.org/officeDocument/2006/relationships/image" Target="../media/image65.svg"/><Relationship Id="rId19" Type="http://schemas.openxmlformats.org/officeDocument/2006/relationships/image" Target="../media/image82.png"/><Relationship Id="rId18" Type="http://schemas.openxmlformats.org/officeDocument/2006/relationships/image" Target="../media/image81.svg"/><Relationship Id="rId17" Type="http://schemas.openxmlformats.org/officeDocument/2006/relationships/image" Target="../media/image80.png"/><Relationship Id="rId16" Type="http://schemas.openxmlformats.org/officeDocument/2006/relationships/image" Target="../media/image79.svg"/><Relationship Id="rId15" Type="http://schemas.openxmlformats.org/officeDocument/2006/relationships/image" Target="../media/image78.png"/><Relationship Id="rId14" Type="http://schemas.openxmlformats.org/officeDocument/2006/relationships/image" Target="../media/image77.svg"/><Relationship Id="rId13" Type="http://schemas.openxmlformats.org/officeDocument/2006/relationships/image" Target="../media/image76.png"/><Relationship Id="rId12" Type="http://schemas.openxmlformats.org/officeDocument/2006/relationships/image" Target="../media/image75.svg"/><Relationship Id="rId11" Type="http://schemas.openxmlformats.org/officeDocument/2006/relationships/image" Target="../media/image74.png"/><Relationship Id="rId10" Type="http://schemas.openxmlformats.org/officeDocument/2006/relationships/image" Target="../media/image73.svg"/><Relationship Id="rId1" Type="http://schemas.openxmlformats.org/officeDocument/2006/relationships/image" Target="../media/image64.pn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tags" Target="../tags/tag228.xml"/><Relationship Id="rId7" Type="http://schemas.openxmlformats.org/officeDocument/2006/relationships/tags" Target="../tags/tag227.xml"/><Relationship Id="rId6" Type="http://schemas.openxmlformats.org/officeDocument/2006/relationships/tags" Target="../tags/tag226.xml"/><Relationship Id="rId5" Type="http://schemas.openxmlformats.org/officeDocument/2006/relationships/tags" Target="../tags/tag225.xml"/><Relationship Id="rId4" Type="http://schemas.openxmlformats.org/officeDocument/2006/relationships/image" Target="../media/image1.png"/><Relationship Id="rId3" Type="http://schemas.openxmlformats.org/officeDocument/2006/relationships/image" Target="../media/image118.svg"/><Relationship Id="rId2" Type="http://schemas.openxmlformats.org/officeDocument/2006/relationships/image" Target="../media/image20.png"/><Relationship Id="rId10" Type="http://schemas.openxmlformats.org/officeDocument/2006/relationships/notesSlide" Target="../notesSlides/notesSlide12.xml"/><Relationship Id="rId1" Type="http://schemas.openxmlformats.org/officeDocument/2006/relationships/tags" Target="../tags/tag224.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2.xml"/><Relationship Id="rId3" Type="http://schemas.openxmlformats.org/officeDocument/2006/relationships/image" Target="../media/image118.svg"/><Relationship Id="rId2" Type="http://schemas.openxmlformats.org/officeDocument/2006/relationships/image" Target="../media/image20.pn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9" Type="http://schemas.openxmlformats.org/officeDocument/2006/relationships/tags" Target="../tags/tag234.xml"/><Relationship Id="rId8" Type="http://schemas.openxmlformats.org/officeDocument/2006/relationships/tags" Target="../tags/tag233.xml"/><Relationship Id="rId7" Type="http://schemas.openxmlformats.org/officeDocument/2006/relationships/tags" Target="../tags/tag232.xml"/><Relationship Id="rId6" Type="http://schemas.openxmlformats.org/officeDocument/2006/relationships/tags" Target="../tags/tag231.xml"/><Relationship Id="rId5" Type="http://schemas.openxmlformats.org/officeDocument/2006/relationships/tags" Target="../tags/tag230.xml"/><Relationship Id="rId45" Type="http://schemas.openxmlformats.org/officeDocument/2006/relationships/notesSlide" Target="../notesSlides/notesSlide14.xml"/><Relationship Id="rId44" Type="http://schemas.openxmlformats.org/officeDocument/2006/relationships/slideLayout" Target="../slideLayouts/slideLayout12.xml"/><Relationship Id="rId43" Type="http://schemas.openxmlformats.org/officeDocument/2006/relationships/tags" Target="../tags/tag268.xml"/><Relationship Id="rId42" Type="http://schemas.openxmlformats.org/officeDocument/2006/relationships/tags" Target="../tags/tag267.xml"/><Relationship Id="rId41" Type="http://schemas.openxmlformats.org/officeDocument/2006/relationships/tags" Target="../tags/tag266.xml"/><Relationship Id="rId40" Type="http://schemas.openxmlformats.org/officeDocument/2006/relationships/tags" Target="../tags/tag265.xml"/><Relationship Id="rId4" Type="http://schemas.openxmlformats.org/officeDocument/2006/relationships/tags" Target="../tags/tag229.xml"/><Relationship Id="rId39" Type="http://schemas.openxmlformats.org/officeDocument/2006/relationships/tags" Target="../tags/tag264.xml"/><Relationship Id="rId38" Type="http://schemas.openxmlformats.org/officeDocument/2006/relationships/tags" Target="../tags/tag263.xml"/><Relationship Id="rId37" Type="http://schemas.openxmlformats.org/officeDocument/2006/relationships/tags" Target="../tags/tag262.xml"/><Relationship Id="rId36" Type="http://schemas.openxmlformats.org/officeDocument/2006/relationships/tags" Target="../tags/tag261.xml"/><Relationship Id="rId35" Type="http://schemas.openxmlformats.org/officeDocument/2006/relationships/tags" Target="../tags/tag260.xml"/><Relationship Id="rId34" Type="http://schemas.openxmlformats.org/officeDocument/2006/relationships/tags" Target="../tags/tag259.xml"/><Relationship Id="rId33" Type="http://schemas.openxmlformats.org/officeDocument/2006/relationships/tags" Target="../tags/tag258.xml"/><Relationship Id="rId32" Type="http://schemas.openxmlformats.org/officeDocument/2006/relationships/tags" Target="../tags/tag257.xml"/><Relationship Id="rId31" Type="http://schemas.openxmlformats.org/officeDocument/2006/relationships/tags" Target="../tags/tag256.xml"/><Relationship Id="rId30" Type="http://schemas.openxmlformats.org/officeDocument/2006/relationships/tags" Target="../tags/tag255.xml"/><Relationship Id="rId3" Type="http://schemas.openxmlformats.org/officeDocument/2006/relationships/image" Target="../media/image1.png"/><Relationship Id="rId29" Type="http://schemas.openxmlformats.org/officeDocument/2006/relationships/tags" Target="../tags/tag254.xml"/><Relationship Id="rId28" Type="http://schemas.openxmlformats.org/officeDocument/2006/relationships/tags" Target="../tags/tag253.xml"/><Relationship Id="rId27" Type="http://schemas.openxmlformats.org/officeDocument/2006/relationships/tags" Target="../tags/tag252.xml"/><Relationship Id="rId26" Type="http://schemas.openxmlformats.org/officeDocument/2006/relationships/tags" Target="../tags/tag251.xml"/><Relationship Id="rId25" Type="http://schemas.openxmlformats.org/officeDocument/2006/relationships/tags" Target="../tags/tag250.xml"/><Relationship Id="rId24" Type="http://schemas.openxmlformats.org/officeDocument/2006/relationships/tags" Target="../tags/tag249.xml"/><Relationship Id="rId23" Type="http://schemas.openxmlformats.org/officeDocument/2006/relationships/tags" Target="../tags/tag248.xml"/><Relationship Id="rId22" Type="http://schemas.openxmlformats.org/officeDocument/2006/relationships/tags" Target="../tags/tag247.xml"/><Relationship Id="rId21" Type="http://schemas.openxmlformats.org/officeDocument/2006/relationships/tags" Target="../tags/tag246.xml"/><Relationship Id="rId20" Type="http://schemas.openxmlformats.org/officeDocument/2006/relationships/tags" Target="../tags/tag245.xml"/><Relationship Id="rId2" Type="http://schemas.openxmlformats.org/officeDocument/2006/relationships/image" Target="../media/image118.svg"/><Relationship Id="rId19" Type="http://schemas.openxmlformats.org/officeDocument/2006/relationships/tags" Target="../tags/tag244.xml"/><Relationship Id="rId18" Type="http://schemas.openxmlformats.org/officeDocument/2006/relationships/tags" Target="../tags/tag243.xml"/><Relationship Id="rId17" Type="http://schemas.openxmlformats.org/officeDocument/2006/relationships/tags" Target="../tags/tag242.xml"/><Relationship Id="rId16" Type="http://schemas.openxmlformats.org/officeDocument/2006/relationships/tags" Target="../tags/tag241.xml"/><Relationship Id="rId15" Type="http://schemas.openxmlformats.org/officeDocument/2006/relationships/tags" Target="../tags/tag240.xml"/><Relationship Id="rId14" Type="http://schemas.openxmlformats.org/officeDocument/2006/relationships/tags" Target="../tags/tag239.xml"/><Relationship Id="rId13" Type="http://schemas.openxmlformats.org/officeDocument/2006/relationships/tags" Target="../tags/tag238.xml"/><Relationship Id="rId12" Type="http://schemas.openxmlformats.org/officeDocument/2006/relationships/tags" Target="../tags/tag237.xml"/><Relationship Id="rId11" Type="http://schemas.openxmlformats.org/officeDocument/2006/relationships/tags" Target="../tags/tag236.xml"/><Relationship Id="rId10" Type="http://schemas.openxmlformats.org/officeDocument/2006/relationships/tags" Target="../tags/tag235.xml"/><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9" Type="http://schemas.openxmlformats.org/officeDocument/2006/relationships/tags" Target="../tags/tag277.xml"/><Relationship Id="rId87" Type="http://schemas.openxmlformats.org/officeDocument/2006/relationships/notesSlide" Target="../notesSlides/notesSlide15.xml"/><Relationship Id="rId86" Type="http://schemas.openxmlformats.org/officeDocument/2006/relationships/slideLayout" Target="../slideLayouts/slideLayout12.xml"/><Relationship Id="rId85" Type="http://schemas.openxmlformats.org/officeDocument/2006/relationships/tags" Target="../tags/tag338.xml"/><Relationship Id="rId84" Type="http://schemas.openxmlformats.org/officeDocument/2006/relationships/tags" Target="../tags/tag337.xml"/><Relationship Id="rId83" Type="http://schemas.openxmlformats.org/officeDocument/2006/relationships/tags" Target="../tags/tag336.xml"/><Relationship Id="rId82" Type="http://schemas.openxmlformats.org/officeDocument/2006/relationships/tags" Target="../tags/tag335.xml"/><Relationship Id="rId81" Type="http://schemas.openxmlformats.org/officeDocument/2006/relationships/tags" Target="../tags/tag334.xml"/><Relationship Id="rId80" Type="http://schemas.openxmlformats.org/officeDocument/2006/relationships/tags" Target="../tags/tag333.xml"/><Relationship Id="rId8" Type="http://schemas.openxmlformats.org/officeDocument/2006/relationships/tags" Target="../tags/tag276.xml"/><Relationship Id="rId79" Type="http://schemas.openxmlformats.org/officeDocument/2006/relationships/tags" Target="../tags/tag332.xml"/><Relationship Id="rId78" Type="http://schemas.openxmlformats.org/officeDocument/2006/relationships/tags" Target="../tags/tag331.xml"/><Relationship Id="rId77" Type="http://schemas.openxmlformats.org/officeDocument/2006/relationships/tags" Target="../tags/tag330.xml"/><Relationship Id="rId76" Type="http://schemas.openxmlformats.org/officeDocument/2006/relationships/tags" Target="../tags/tag329.xml"/><Relationship Id="rId75" Type="http://schemas.openxmlformats.org/officeDocument/2006/relationships/image" Target="../media/image131.png"/><Relationship Id="rId74" Type="http://schemas.openxmlformats.org/officeDocument/2006/relationships/tags" Target="../tags/tag328.xml"/><Relationship Id="rId73" Type="http://schemas.openxmlformats.org/officeDocument/2006/relationships/image" Target="../media/image130.png"/><Relationship Id="rId72" Type="http://schemas.openxmlformats.org/officeDocument/2006/relationships/tags" Target="../tags/tag327.xml"/><Relationship Id="rId71" Type="http://schemas.openxmlformats.org/officeDocument/2006/relationships/image" Target="../media/image129.png"/><Relationship Id="rId70" Type="http://schemas.openxmlformats.org/officeDocument/2006/relationships/tags" Target="../tags/tag326.xml"/><Relationship Id="rId7" Type="http://schemas.openxmlformats.org/officeDocument/2006/relationships/tags" Target="../tags/tag275.xml"/><Relationship Id="rId69" Type="http://schemas.openxmlformats.org/officeDocument/2006/relationships/image" Target="../media/image128.png"/><Relationship Id="rId68" Type="http://schemas.openxmlformats.org/officeDocument/2006/relationships/tags" Target="../tags/tag325.xml"/><Relationship Id="rId67" Type="http://schemas.openxmlformats.org/officeDocument/2006/relationships/tags" Target="../tags/tag324.xml"/><Relationship Id="rId66" Type="http://schemas.openxmlformats.org/officeDocument/2006/relationships/image" Target="../media/image127.svg"/><Relationship Id="rId65" Type="http://schemas.openxmlformats.org/officeDocument/2006/relationships/image" Target="../media/image126.png"/><Relationship Id="rId64" Type="http://schemas.openxmlformats.org/officeDocument/2006/relationships/tags" Target="../tags/tag323.xml"/><Relationship Id="rId63" Type="http://schemas.openxmlformats.org/officeDocument/2006/relationships/tags" Target="../tags/tag322.xml"/><Relationship Id="rId62" Type="http://schemas.openxmlformats.org/officeDocument/2006/relationships/image" Target="../media/image125.png"/><Relationship Id="rId61" Type="http://schemas.openxmlformats.org/officeDocument/2006/relationships/tags" Target="../tags/tag321.xml"/><Relationship Id="rId60" Type="http://schemas.openxmlformats.org/officeDocument/2006/relationships/tags" Target="../tags/tag320.xml"/><Relationship Id="rId6" Type="http://schemas.openxmlformats.org/officeDocument/2006/relationships/tags" Target="../tags/tag274.xml"/><Relationship Id="rId59" Type="http://schemas.openxmlformats.org/officeDocument/2006/relationships/image" Target="../media/image124.png"/><Relationship Id="rId58" Type="http://schemas.openxmlformats.org/officeDocument/2006/relationships/tags" Target="../tags/tag319.xml"/><Relationship Id="rId57" Type="http://schemas.openxmlformats.org/officeDocument/2006/relationships/image" Target="../media/image1.png"/><Relationship Id="rId56" Type="http://schemas.openxmlformats.org/officeDocument/2006/relationships/image" Target="../media/image123.svg"/><Relationship Id="rId55" Type="http://schemas.openxmlformats.org/officeDocument/2006/relationships/image" Target="../media/image20.png"/><Relationship Id="rId54" Type="http://schemas.openxmlformats.org/officeDocument/2006/relationships/tags" Target="../tags/tag318.xml"/><Relationship Id="rId53" Type="http://schemas.openxmlformats.org/officeDocument/2006/relationships/tags" Target="../tags/tag317.xml"/><Relationship Id="rId52" Type="http://schemas.openxmlformats.org/officeDocument/2006/relationships/image" Target="../media/image122.svg"/><Relationship Id="rId51" Type="http://schemas.openxmlformats.org/officeDocument/2006/relationships/image" Target="../media/image121.png"/><Relationship Id="rId50" Type="http://schemas.openxmlformats.org/officeDocument/2006/relationships/tags" Target="../tags/tag316.xml"/><Relationship Id="rId5" Type="http://schemas.openxmlformats.org/officeDocument/2006/relationships/tags" Target="../tags/tag273.xml"/><Relationship Id="rId49" Type="http://schemas.openxmlformats.org/officeDocument/2006/relationships/tags" Target="../tags/tag315.xml"/><Relationship Id="rId48" Type="http://schemas.openxmlformats.org/officeDocument/2006/relationships/tags" Target="../tags/tag314.xml"/><Relationship Id="rId47" Type="http://schemas.openxmlformats.org/officeDocument/2006/relationships/tags" Target="../tags/tag313.xml"/><Relationship Id="rId46" Type="http://schemas.openxmlformats.org/officeDocument/2006/relationships/tags" Target="../tags/tag312.xml"/><Relationship Id="rId45" Type="http://schemas.openxmlformats.org/officeDocument/2006/relationships/tags" Target="../tags/tag311.xml"/><Relationship Id="rId44" Type="http://schemas.openxmlformats.org/officeDocument/2006/relationships/tags" Target="../tags/tag310.xml"/><Relationship Id="rId43" Type="http://schemas.openxmlformats.org/officeDocument/2006/relationships/tags" Target="../tags/tag309.xml"/><Relationship Id="rId42" Type="http://schemas.openxmlformats.org/officeDocument/2006/relationships/tags" Target="../tags/tag308.xml"/><Relationship Id="rId41" Type="http://schemas.openxmlformats.org/officeDocument/2006/relationships/tags" Target="../tags/tag307.xml"/><Relationship Id="rId40" Type="http://schemas.openxmlformats.org/officeDocument/2006/relationships/tags" Target="../tags/tag306.xml"/><Relationship Id="rId4" Type="http://schemas.openxmlformats.org/officeDocument/2006/relationships/tags" Target="../tags/tag272.xml"/><Relationship Id="rId39" Type="http://schemas.openxmlformats.org/officeDocument/2006/relationships/tags" Target="../tags/tag305.xml"/><Relationship Id="rId38" Type="http://schemas.openxmlformats.org/officeDocument/2006/relationships/tags" Target="../tags/tag304.xml"/><Relationship Id="rId37" Type="http://schemas.openxmlformats.org/officeDocument/2006/relationships/tags" Target="../tags/tag303.xml"/><Relationship Id="rId36" Type="http://schemas.openxmlformats.org/officeDocument/2006/relationships/tags" Target="../tags/tag302.xml"/><Relationship Id="rId35" Type="http://schemas.openxmlformats.org/officeDocument/2006/relationships/tags" Target="../tags/tag301.xml"/><Relationship Id="rId34" Type="http://schemas.openxmlformats.org/officeDocument/2006/relationships/image" Target="../media/image120.png"/><Relationship Id="rId33" Type="http://schemas.openxmlformats.org/officeDocument/2006/relationships/tags" Target="../tags/tag300.xml"/><Relationship Id="rId32" Type="http://schemas.openxmlformats.org/officeDocument/2006/relationships/image" Target="../media/image119.png"/><Relationship Id="rId31" Type="http://schemas.openxmlformats.org/officeDocument/2006/relationships/tags" Target="../tags/tag299.xml"/><Relationship Id="rId30" Type="http://schemas.openxmlformats.org/officeDocument/2006/relationships/tags" Target="../tags/tag298.xml"/><Relationship Id="rId3" Type="http://schemas.openxmlformats.org/officeDocument/2006/relationships/tags" Target="../tags/tag271.xml"/><Relationship Id="rId29" Type="http://schemas.openxmlformats.org/officeDocument/2006/relationships/tags" Target="../tags/tag297.xml"/><Relationship Id="rId28" Type="http://schemas.openxmlformats.org/officeDocument/2006/relationships/tags" Target="../tags/tag296.xml"/><Relationship Id="rId27" Type="http://schemas.openxmlformats.org/officeDocument/2006/relationships/tags" Target="../tags/tag295.xml"/><Relationship Id="rId26" Type="http://schemas.openxmlformats.org/officeDocument/2006/relationships/tags" Target="../tags/tag294.xml"/><Relationship Id="rId25" Type="http://schemas.openxmlformats.org/officeDocument/2006/relationships/tags" Target="../tags/tag293.xml"/><Relationship Id="rId24" Type="http://schemas.openxmlformats.org/officeDocument/2006/relationships/tags" Target="../tags/tag292.xml"/><Relationship Id="rId23" Type="http://schemas.openxmlformats.org/officeDocument/2006/relationships/tags" Target="../tags/tag291.xml"/><Relationship Id="rId22" Type="http://schemas.openxmlformats.org/officeDocument/2006/relationships/tags" Target="../tags/tag290.xml"/><Relationship Id="rId21" Type="http://schemas.openxmlformats.org/officeDocument/2006/relationships/tags" Target="../tags/tag289.xml"/><Relationship Id="rId20" Type="http://schemas.openxmlformats.org/officeDocument/2006/relationships/tags" Target="../tags/tag288.xml"/><Relationship Id="rId2" Type="http://schemas.openxmlformats.org/officeDocument/2006/relationships/tags" Target="../tags/tag270.xml"/><Relationship Id="rId19" Type="http://schemas.openxmlformats.org/officeDocument/2006/relationships/tags" Target="../tags/tag287.xml"/><Relationship Id="rId18" Type="http://schemas.openxmlformats.org/officeDocument/2006/relationships/tags" Target="../tags/tag286.xml"/><Relationship Id="rId17" Type="http://schemas.openxmlformats.org/officeDocument/2006/relationships/tags" Target="../tags/tag285.xml"/><Relationship Id="rId16" Type="http://schemas.openxmlformats.org/officeDocument/2006/relationships/tags" Target="../tags/tag284.xml"/><Relationship Id="rId15" Type="http://schemas.openxmlformats.org/officeDocument/2006/relationships/tags" Target="../tags/tag283.xml"/><Relationship Id="rId14" Type="http://schemas.openxmlformats.org/officeDocument/2006/relationships/tags" Target="../tags/tag282.xml"/><Relationship Id="rId13" Type="http://schemas.openxmlformats.org/officeDocument/2006/relationships/tags" Target="../tags/tag281.xml"/><Relationship Id="rId12" Type="http://schemas.openxmlformats.org/officeDocument/2006/relationships/tags" Target="../tags/tag280.xml"/><Relationship Id="rId11" Type="http://schemas.openxmlformats.org/officeDocument/2006/relationships/tags" Target="../tags/tag279.xml"/><Relationship Id="rId10" Type="http://schemas.openxmlformats.org/officeDocument/2006/relationships/tags" Target="../tags/tag278.xml"/><Relationship Id="rId1" Type="http://schemas.openxmlformats.org/officeDocument/2006/relationships/tags" Target="../tags/tag269.xml"/></Relationships>
</file>

<file path=ppt/slides/_rels/slide22.xml.rels><?xml version="1.0" encoding="UTF-8" standalone="yes"?>
<Relationships xmlns="http://schemas.openxmlformats.org/package/2006/relationships"><Relationship Id="rId9" Type="http://schemas.openxmlformats.org/officeDocument/2006/relationships/tags" Target="../tags/tag347.xml"/><Relationship Id="rId8" Type="http://schemas.openxmlformats.org/officeDocument/2006/relationships/tags" Target="../tags/tag346.xml"/><Relationship Id="rId7" Type="http://schemas.openxmlformats.org/officeDocument/2006/relationships/tags" Target="../tags/tag345.xml"/><Relationship Id="rId6" Type="http://schemas.openxmlformats.org/officeDocument/2006/relationships/tags" Target="../tags/tag344.xml"/><Relationship Id="rId5" Type="http://schemas.openxmlformats.org/officeDocument/2006/relationships/tags" Target="../tags/tag343.xml"/><Relationship Id="rId4" Type="http://schemas.openxmlformats.org/officeDocument/2006/relationships/tags" Target="../tags/tag342.xml"/><Relationship Id="rId3" Type="http://schemas.openxmlformats.org/officeDocument/2006/relationships/tags" Target="../tags/tag341.xml"/><Relationship Id="rId2" Type="http://schemas.openxmlformats.org/officeDocument/2006/relationships/tags" Target="../tags/tag340.xml"/><Relationship Id="rId17" Type="http://schemas.openxmlformats.org/officeDocument/2006/relationships/notesSlide" Target="../notesSlides/notesSlide16.xml"/><Relationship Id="rId16" Type="http://schemas.openxmlformats.org/officeDocument/2006/relationships/slideLayout" Target="../slideLayouts/slideLayout12.xml"/><Relationship Id="rId15" Type="http://schemas.openxmlformats.org/officeDocument/2006/relationships/image" Target="../media/image1.png"/><Relationship Id="rId14" Type="http://schemas.openxmlformats.org/officeDocument/2006/relationships/image" Target="../media/image132.svg"/><Relationship Id="rId13" Type="http://schemas.openxmlformats.org/officeDocument/2006/relationships/image" Target="../media/image20.png"/><Relationship Id="rId12" Type="http://schemas.openxmlformats.org/officeDocument/2006/relationships/tags" Target="../tags/tag350.xml"/><Relationship Id="rId11" Type="http://schemas.openxmlformats.org/officeDocument/2006/relationships/tags" Target="../tags/tag349.xml"/><Relationship Id="rId10" Type="http://schemas.openxmlformats.org/officeDocument/2006/relationships/tags" Target="../tags/tag348.xml"/><Relationship Id="rId1" Type="http://schemas.openxmlformats.org/officeDocument/2006/relationships/tags" Target="../tags/tag339.xml"/></Relationships>
</file>

<file path=ppt/slides/_rels/slide23.xml.rels><?xml version="1.0" encoding="UTF-8" standalone="yes"?>
<Relationships xmlns="http://schemas.openxmlformats.org/package/2006/relationships"><Relationship Id="rId9" Type="http://schemas.openxmlformats.org/officeDocument/2006/relationships/image" Target="../media/image140.svg"/><Relationship Id="rId8" Type="http://schemas.openxmlformats.org/officeDocument/2006/relationships/image" Target="../media/image139.png"/><Relationship Id="rId7" Type="http://schemas.openxmlformats.org/officeDocument/2006/relationships/image" Target="../media/image138.svg"/><Relationship Id="rId6" Type="http://schemas.openxmlformats.org/officeDocument/2006/relationships/image" Target="../media/image137.png"/><Relationship Id="rId5" Type="http://schemas.openxmlformats.org/officeDocument/2006/relationships/image" Target="../media/image136.svg"/><Relationship Id="rId4" Type="http://schemas.openxmlformats.org/officeDocument/2006/relationships/image" Target="../media/image135.png"/><Relationship Id="rId3" Type="http://schemas.openxmlformats.org/officeDocument/2006/relationships/image" Target="../media/image134.svg"/><Relationship Id="rId2" Type="http://schemas.openxmlformats.org/officeDocument/2006/relationships/image" Target="../media/image133.png"/><Relationship Id="rId15" Type="http://schemas.openxmlformats.org/officeDocument/2006/relationships/notesSlide" Target="../notesSlides/notesSlide17.xml"/><Relationship Id="rId14" Type="http://schemas.openxmlformats.org/officeDocument/2006/relationships/slideLayout" Target="../slideLayouts/slideLayout12.xml"/><Relationship Id="rId13" Type="http://schemas.openxmlformats.org/officeDocument/2006/relationships/image" Target="../media/image61.svg"/><Relationship Id="rId12" Type="http://schemas.openxmlformats.org/officeDocument/2006/relationships/image" Target="../media/image20.png"/><Relationship Id="rId11" Type="http://schemas.openxmlformats.org/officeDocument/2006/relationships/image" Target="../media/image142.svg"/><Relationship Id="rId10" Type="http://schemas.openxmlformats.org/officeDocument/2006/relationships/image" Target="../media/image141.pn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9" Type="http://schemas.openxmlformats.org/officeDocument/2006/relationships/image" Target="../media/image150.svg"/><Relationship Id="rId8" Type="http://schemas.openxmlformats.org/officeDocument/2006/relationships/image" Target="../media/image149.png"/><Relationship Id="rId7" Type="http://schemas.openxmlformats.org/officeDocument/2006/relationships/image" Target="../media/image148.svg"/><Relationship Id="rId6" Type="http://schemas.openxmlformats.org/officeDocument/2006/relationships/image" Target="../media/image147.png"/><Relationship Id="rId5" Type="http://schemas.openxmlformats.org/officeDocument/2006/relationships/image" Target="../media/image146.svg"/><Relationship Id="rId4" Type="http://schemas.openxmlformats.org/officeDocument/2006/relationships/image" Target="../media/image145.png"/><Relationship Id="rId3" Type="http://schemas.openxmlformats.org/officeDocument/2006/relationships/image" Target="../media/image144.svg"/><Relationship Id="rId2" Type="http://schemas.openxmlformats.org/officeDocument/2006/relationships/image" Target="../media/image143.png"/><Relationship Id="rId13" Type="http://schemas.openxmlformats.org/officeDocument/2006/relationships/notesSlide" Target="../notesSlides/notesSlide18.xml"/><Relationship Id="rId12" Type="http://schemas.openxmlformats.org/officeDocument/2006/relationships/slideLayout" Target="../slideLayouts/slideLayout12.xml"/><Relationship Id="rId11" Type="http://schemas.openxmlformats.org/officeDocument/2006/relationships/image" Target="../media/image61.svg"/><Relationship Id="rId10" Type="http://schemas.openxmlformats.org/officeDocument/2006/relationships/image" Target="../media/image20.pn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9" Type="http://schemas.openxmlformats.org/officeDocument/2006/relationships/notesSlide" Target="../notesSlides/notesSlide19.xml"/><Relationship Id="rId8" Type="http://schemas.openxmlformats.org/officeDocument/2006/relationships/slideLayout" Target="../slideLayouts/slideLayout12.xml"/><Relationship Id="rId7" Type="http://schemas.openxmlformats.org/officeDocument/2006/relationships/image" Target="../media/image154.svg"/><Relationship Id="rId6" Type="http://schemas.openxmlformats.org/officeDocument/2006/relationships/image" Target="../media/image153.svg"/><Relationship Id="rId5" Type="http://schemas.openxmlformats.org/officeDocument/2006/relationships/image" Target="../media/image152.png"/><Relationship Id="rId4" Type="http://schemas.openxmlformats.org/officeDocument/2006/relationships/tags" Target="../tags/tag351.xml"/><Relationship Id="rId3" Type="http://schemas.openxmlformats.org/officeDocument/2006/relationships/image" Target="../media/image1.png"/><Relationship Id="rId2" Type="http://schemas.openxmlformats.org/officeDocument/2006/relationships/image" Target="../media/image151.svg"/><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2.xml"/><Relationship Id="rId3" Type="http://schemas.openxmlformats.org/officeDocument/2006/relationships/image" Target="../media/image61.svg"/><Relationship Id="rId2" Type="http://schemas.openxmlformats.org/officeDocument/2006/relationships/image" Target="../media/image20.png"/><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9" Type="http://schemas.openxmlformats.org/officeDocument/2006/relationships/image" Target="../media/image163.png"/><Relationship Id="rId8" Type="http://schemas.openxmlformats.org/officeDocument/2006/relationships/image" Target="../media/image162.svg"/><Relationship Id="rId7" Type="http://schemas.openxmlformats.org/officeDocument/2006/relationships/image" Target="../media/image161.png"/><Relationship Id="rId6" Type="http://schemas.openxmlformats.org/officeDocument/2006/relationships/image" Target="../media/image160.svg"/><Relationship Id="rId5" Type="http://schemas.openxmlformats.org/officeDocument/2006/relationships/image" Target="../media/image159.png"/><Relationship Id="rId47" Type="http://schemas.openxmlformats.org/officeDocument/2006/relationships/notesSlide" Target="../notesSlides/notesSlide21.xml"/><Relationship Id="rId46" Type="http://schemas.openxmlformats.org/officeDocument/2006/relationships/slideLayout" Target="../slideLayouts/slideLayout12.xml"/><Relationship Id="rId45" Type="http://schemas.openxmlformats.org/officeDocument/2006/relationships/image" Target="../media/image1.png"/><Relationship Id="rId44" Type="http://schemas.openxmlformats.org/officeDocument/2006/relationships/image" Target="../media/image61.svg"/><Relationship Id="rId43" Type="http://schemas.openxmlformats.org/officeDocument/2006/relationships/image" Target="../media/image20.png"/><Relationship Id="rId42" Type="http://schemas.openxmlformats.org/officeDocument/2006/relationships/image" Target="../media/image196.svg"/><Relationship Id="rId41" Type="http://schemas.openxmlformats.org/officeDocument/2006/relationships/image" Target="../media/image195.png"/><Relationship Id="rId40" Type="http://schemas.openxmlformats.org/officeDocument/2006/relationships/image" Target="../media/image194.svg"/><Relationship Id="rId4" Type="http://schemas.openxmlformats.org/officeDocument/2006/relationships/image" Target="../media/image158.svg"/><Relationship Id="rId39" Type="http://schemas.openxmlformats.org/officeDocument/2006/relationships/image" Target="../media/image193.png"/><Relationship Id="rId38" Type="http://schemas.openxmlformats.org/officeDocument/2006/relationships/image" Target="../media/image192.svg"/><Relationship Id="rId37" Type="http://schemas.openxmlformats.org/officeDocument/2006/relationships/image" Target="../media/image191.png"/><Relationship Id="rId36" Type="http://schemas.openxmlformats.org/officeDocument/2006/relationships/image" Target="../media/image190.svg"/><Relationship Id="rId35" Type="http://schemas.openxmlformats.org/officeDocument/2006/relationships/image" Target="../media/image189.png"/><Relationship Id="rId34" Type="http://schemas.openxmlformats.org/officeDocument/2006/relationships/image" Target="../media/image188.svg"/><Relationship Id="rId33" Type="http://schemas.openxmlformats.org/officeDocument/2006/relationships/image" Target="../media/image187.png"/><Relationship Id="rId32" Type="http://schemas.openxmlformats.org/officeDocument/2006/relationships/image" Target="../media/image186.svg"/><Relationship Id="rId31" Type="http://schemas.openxmlformats.org/officeDocument/2006/relationships/image" Target="../media/image185.png"/><Relationship Id="rId30" Type="http://schemas.openxmlformats.org/officeDocument/2006/relationships/image" Target="../media/image184.svg"/><Relationship Id="rId3" Type="http://schemas.openxmlformats.org/officeDocument/2006/relationships/image" Target="../media/image157.png"/><Relationship Id="rId29" Type="http://schemas.openxmlformats.org/officeDocument/2006/relationships/image" Target="../media/image183.png"/><Relationship Id="rId28" Type="http://schemas.openxmlformats.org/officeDocument/2006/relationships/image" Target="../media/image182.svg"/><Relationship Id="rId27" Type="http://schemas.openxmlformats.org/officeDocument/2006/relationships/image" Target="../media/image181.png"/><Relationship Id="rId26" Type="http://schemas.openxmlformats.org/officeDocument/2006/relationships/image" Target="../media/image180.svg"/><Relationship Id="rId25" Type="http://schemas.openxmlformats.org/officeDocument/2006/relationships/image" Target="../media/image179.png"/><Relationship Id="rId24" Type="http://schemas.openxmlformats.org/officeDocument/2006/relationships/image" Target="../media/image178.svg"/><Relationship Id="rId23" Type="http://schemas.openxmlformats.org/officeDocument/2006/relationships/image" Target="../media/image177.png"/><Relationship Id="rId22" Type="http://schemas.openxmlformats.org/officeDocument/2006/relationships/image" Target="../media/image176.svg"/><Relationship Id="rId21" Type="http://schemas.openxmlformats.org/officeDocument/2006/relationships/image" Target="../media/image175.png"/><Relationship Id="rId20" Type="http://schemas.openxmlformats.org/officeDocument/2006/relationships/image" Target="../media/image174.svg"/><Relationship Id="rId2" Type="http://schemas.openxmlformats.org/officeDocument/2006/relationships/image" Target="../media/image156.svg"/><Relationship Id="rId19" Type="http://schemas.openxmlformats.org/officeDocument/2006/relationships/image" Target="../media/image173.png"/><Relationship Id="rId18" Type="http://schemas.openxmlformats.org/officeDocument/2006/relationships/image" Target="../media/image172.svg"/><Relationship Id="rId17" Type="http://schemas.openxmlformats.org/officeDocument/2006/relationships/image" Target="../media/image171.png"/><Relationship Id="rId16" Type="http://schemas.openxmlformats.org/officeDocument/2006/relationships/image" Target="../media/image170.svg"/><Relationship Id="rId15" Type="http://schemas.openxmlformats.org/officeDocument/2006/relationships/image" Target="../media/image169.png"/><Relationship Id="rId14" Type="http://schemas.openxmlformats.org/officeDocument/2006/relationships/image" Target="../media/image168.svg"/><Relationship Id="rId13" Type="http://schemas.openxmlformats.org/officeDocument/2006/relationships/image" Target="../media/image167.png"/><Relationship Id="rId12" Type="http://schemas.openxmlformats.org/officeDocument/2006/relationships/image" Target="../media/image166.svg"/><Relationship Id="rId11" Type="http://schemas.openxmlformats.org/officeDocument/2006/relationships/image" Target="../media/image165.png"/><Relationship Id="rId10" Type="http://schemas.openxmlformats.org/officeDocument/2006/relationships/image" Target="../media/image164.svg"/><Relationship Id="rId1" Type="http://schemas.openxmlformats.org/officeDocument/2006/relationships/image" Target="../media/image155.png"/></Relationships>
</file>

<file path=ppt/slides/_rels/slide28.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204.png"/><Relationship Id="rId7" Type="http://schemas.openxmlformats.org/officeDocument/2006/relationships/image" Target="../media/image203.png"/><Relationship Id="rId6" Type="http://schemas.openxmlformats.org/officeDocument/2006/relationships/image" Target="../media/image202.png"/><Relationship Id="rId5" Type="http://schemas.openxmlformats.org/officeDocument/2006/relationships/image" Target="../media/image201.png"/><Relationship Id="rId4" Type="http://schemas.openxmlformats.org/officeDocument/2006/relationships/image" Target="../media/image200.png"/><Relationship Id="rId3" Type="http://schemas.openxmlformats.org/officeDocument/2006/relationships/image" Target="../media/image199.png"/><Relationship Id="rId2" Type="http://schemas.openxmlformats.org/officeDocument/2006/relationships/image" Target="../media/image198.png"/><Relationship Id="rId12" Type="http://schemas.openxmlformats.org/officeDocument/2006/relationships/slideLayout" Target="../slideLayouts/slideLayout12.xml"/><Relationship Id="rId11" Type="http://schemas.openxmlformats.org/officeDocument/2006/relationships/image" Target="../media/image1.png"/><Relationship Id="rId10" Type="http://schemas.openxmlformats.org/officeDocument/2006/relationships/image" Target="../media/image63.svg"/><Relationship Id="rId1" Type="http://schemas.openxmlformats.org/officeDocument/2006/relationships/image" Target="../media/image197.png"/></Relationships>
</file>

<file path=ppt/slides/_rels/slide29.xml.rels><?xml version="1.0" encoding="UTF-8" standalone="yes"?>
<Relationships xmlns="http://schemas.openxmlformats.org/package/2006/relationships"><Relationship Id="rId9" Type="http://schemas.openxmlformats.org/officeDocument/2006/relationships/image" Target="../media/image213.png"/><Relationship Id="rId8" Type="http://schemas.openxmlformats.org/officeDocument/2006/relationships/image" Target="../media/image212.svg"/><Relationship Id="rId7" Type="http://schemas.openxmlformats.org/officeDocument/2006/relationships/image" Target="../media/image211.png"/><Relationship Id="rId6" Type="http://schemas.openxmlformats.org/officeDocument/2006/relationships/image" Target="../media/image210.svg"/><Relationship Id="rId5" Type="http://schemas.openxmlformats.org/officeDocument/2006/relationships/image" Target="../media/image209.png"/><Relationship Id="rId4" Type="http://schemas.openxmlformats.org/officeDocument/2006/relationships/image" Target="../media/image208.svg"/><Relationship Id="rId3" Type="http://schemas.openxmlformats.org/officeDocument/2006/relationships/image" Target="../media/image207.png"/><Relationship Id="rId2" Type="http://schemas.openxmlformats.org/officeDocument/2006/relationships/image" Target="../media/image206.svg"/><Relationship Id="rId15" Type="http://schemas.openxmlformats.org/officeDocument/2006/relationships/notesSlide" Target="../notesSlides/notesSlide22.xml"/><Relationship Id="rId14" Type="http://schemas.openxmlformats.org/officeDocument/2006/relationships/slideLayout" Target="../slideLayouts/slideLayout12.xml"/><Relationship Id="rId13" Type="http://schemas.openxmlformats.org/officeDocument/2006/relationships/image" Target="../media/image1.png"/><Relationship Id="rId12" Type="http://schemas.openxmlformats.org/officeDocument/2006/relationships/image" Target="../media/image61.svg"/><Relationship Id="rId11" Type="http://schemas.openxmlformats.org/officeDocument/2006/relationships/image" Target="../media/image20.png"/><Relationship Id="rId10" Type="http://schemas.openxmlformats.org/officeDocument/2006/relationships/image" Target="../media/image214.svg"/><Relationship Id="rId1" Type="http://schemas.openxmlformats.org/officeDocument/2006/relationships/image" Target="../media/image205.png"/></Relationships>
</file>

<file path=ppt/slides/_rels/slide30.xml.rels><?xml version="1.0" encoding="UTF-8" standalone="yes"?>
<Relationships xmlns="http://schemas.openxmlformats.org/package/2006/relationships"><Relationship Id="rId9" Type="http://schemas.openxmlformats.org/officeDocument/2006/relationships/image" Target="../media/image220.svg"/><Relationship Id="rId8" Type="http://schemas.openxmlformats.org/officeDocument/2006/relationships/image" Target="../media/image219.svg"/><Relationship Id="rId7" Type="http://schemas.openxmlformats.org/officeDocument/2006/relationships/image" Target="../media/image218.png"/><Relationship Id="rId6" Type="http://schemas.openxmlformats.org/officeDocument/2006/relationships/image" Target="../media/image217.svg"/><Relationship Id="rId5" Type="http://schemas.openxmlformats.org/officeDocument/2006/relationships/image" Target="../media/image216.png"/><Relationship Id="rId4" Type="http://schemas.openxmlformats.org/officeDocument/2006/relationships/image" Target="../media/image1.png"/><Relationship Id="rId32" Type="http://schemas.openxmlformats.org/officeDocument/2006/relationships/notesSlide" Target="../notesSlides/notesSlide23.xml"/><Relationship Id="rId31" Type="http://schemas.openxmlformats.org/officeDocument/2006/relationships/slideLayout" Target="../slideLayouts/slideLayout12.xml"/><Relationship Id="rId30" Type="http://schemas.openxmlformats.org/officeDocument/2006/relationships/image" Target="../media/image241.svg"/><Relationship Id="rId3" Type="http://schemas.openxmlformats.org/officeDocument/2006/relationships/image" Target="../media/image215.svg"/><Relationship Id="rId29" Type="http://schemas.openxmlformats.org/officeDocument/2006/relationships/image" Target="../media/image240.svg"/><Relationship Id="rId28" Type="http://schemas.openxmlformats.org/officeDocument/2006/relationships/image" Target="../media/image239.svg"/><Relationship Id="rId27" Type="http://schemas.openxmlformats.org/officeDocument/2006/relationships/image" Target="../media/image238.svg"/><Relationship Id="rId26" Type="http://schemas.openxmlformats.org/officeDocument/2006/relationships/image" Target="../media/image237.svg"/><Relationship Id="rId25" Type="http://schemas.openxmlformats.org/officeDocument/2006/relationships/image" Target="../media/image236.svg"/><Relationship Id="rId24" Type="http://schemas.openxmlformats.org/officeDocument/2006/relationships/image" Target="../media/image235.svg"/><Relationship Id="rId23" Type="http://schemas.openxmlformats.org/officeDocument/2006/relationships/image" Target="../media/image234.svg"/><Relationship Id="rId22" Type="http://schemas.openxmlformats.org/officeDocument/2006/relationships/image" Target="../media/image233.svg"/><Relationship Id="rId21" Type="http://schemas.openxmlformats.org/officeDocument/2006/relationships/image" Target="../media/image232.svg"/><Relationship Id="rId20" Type="http://schemas.openxmlformats.org/officeDocument/2006/relationships/image" Target="../media/image231.svg"/><Relationship Id="rId2" Type="http://schemas.openxmlformats.org/officeDocument/2006/relationships/image" Target="../media/image20.png"/><Relationship Id="rId19" Type="http://schemas.openxmlformats.org/officeDocument/2006/relationships/image" Target="../media/image230.svg"/><Relationship Id="rId18" Type="http://schemas.openxmlformats.org/officeDocument/2006/relationships/image" Target="../media/image229.svg"/><Relationship Id="rId17" Type="http://schemas.openxmlformats.org/officeDocument/2006/relationships/image" Target="../media/image228.svg"/><Relationship Id="rId16" Type="http://schemas.openxmlformats.org/officeDocument/2006/relationships/image" Target="../media/image227.svg"/><Relationship Id="rId15" Type="http://schemas.openxmlformats.org/officeDocument/2006/relationships/image" Target="../media/image226.svg"/><Relationship Id="rId14" Type="http://schemas.openxmlformats.org/officeDocument/2006/relationships/image" Target="../media/image225.svg"/><Relationship Id="rId13" Type="http://schemas.openxmlformats.org/officeDocument/2006/relationships/image" Target="../media/image224.svg"/><Relationship Id="rId12" Type="http://schemas.openxmlformats.org/officeDocument/2006/relationships/image" Target="../media/image223.svg"/><Relationship Id="rId11" Type="http://schemas.openxmlformats.org/officeDocument/2006/relationships/image" Target="../media/image222.svg"/><Relationship Id="rId10" Type="http://schemas.openxmlformats.org/officeDocument/2006/relationships/image" Target="../media/image221.svg"/><Relationship Id="rId1" Type="http://schemas.openxmlformats.org/officeDocument/2006/relationships/chart" Target="../charts/chart1.xml"/></Relationships>
</file>

<file path=ppt/slides/_rels/slide31.xml.rels><?xml version="1.0" encoding="UTF-8" standalone="yes"?>
<Relationships xmlns="http://schemas.openxmlformats.org/package/2006/relationships"><Relationship Id="rId9" Type="http://schemas.openxmlformats.org/officeDocument/2006/relationships/tags" Target="../tags/tag358.xml"/><Relationship Id="rId8" Type="http://schemas.openxmlformats.org/officeDocument/2006/relationships/tags" Target="../tags/tag357.xml"/><Relationship Id="rId7" Type="http://schemas.openxmlformats.org/officeDocument/2006/relationships/tags" Target="../tags/tag356.xml"/><Relationship Id="rId69" Type="http://schemas.openxmlformats.org/officeDocument/2006/relationships/notesSlide" Target="../notesSlides/notesSlide24.xml"/><Relationship Id="rId68" Type="http://schemas.openxmlformats.org/officeDocument/2006/relationships/slideLayout" Target="../slideLayouts/slideLayout12.xml"/><Relationship Id="rId67" Type="http://schemas.openxmlformats.org/officeDocument/2006/relationships/image" Target="../media/image1.png"/><Relationship Id="rId66" Type="http://schemas.openxmlformats.org/officeDocument/2006/relationships/image" Target="../media/image254.svg"/><Relationship Id="rId65" Type="http://schemas.openxmlformats.org/officeDocument/2006/relationships/image" Target="../media/image253.png"/><Relationship Id="rId64" Type="http://schemas.openxmlformats.org/officeDocument/2006/relationships/tags" Target="../tags/tag403.xml"/><Relationship Id="rId63" Type="http://schemas.openxmlformats.org/officeDocument/2006/relationships/tags" Target="../tags/tag402.xml"/><Relationship Id="rId62" Type="http://schemas.openxmlformats.org/officeDocument/2006/relationships/tags" Target="../tags/tag401.xml"/><Relationship Id="rId61" Type="http://schemas.openxmlformats.org/officeDocument/2006/relationships/tags" Target="../tags/tag400.xml"/><Relationship Id="rId60" Type="http://schemas.openxmlformats.org/officeDocument/2006/relationships/tags" Target="../tags/tag399.xml"/><Relationship Id="rId6" Type="http://schemas.openxmlformats.org/officeDocument/2006/relationships/tags" Target="../tags/tag355.xml"/><Relationship Id="rId59" Type="http://schemas.openxmlformats.org/officeDocument/2006/relationships/tags" Target="../tags/tag398.xml"/><Relationship Id="rId58" Type="http://schemas.openxmlformats.org/officeDocument/2006/relationships/image" Target="../media/image252.svg"/><Relationship Id="rId57" Type="http://schemas.openxmlformats.org/officeDocument/2006/relationships/image" Target="../media/image251.png"/><Relationship Id="rId56" Type="http://schemas.openxmlformats.org/officeDocument/2006/relationships/tags" Target="../tags/tag397.xml"/><Relationship Id="rId55" Type="http://schemas.openxmlformats.org/officeDocument/2006/relationships/tags" Target="../tags/tag396.xml"/><Relationship Id="rId54" Type="http://schemas.openxmlformats.org/officeDocument/2006/relationships/tags" Target="../tags/tag395.xml"/><Relationship Id="rId53" Type="http://schemas.openxmlformats.org/officeDocument/2006/relationships/tags" Target="../tags/tag394.xml"/><Relationship Id="rId52" Type="http://schemas.openxmlformats.org/officeDocument/2006/relationships/tags" Target="../tags/tag393.xml"/><Relationship Id="rId51" Type="http://schemas.openxmlformats.org/officeDocument/2006/relationships/tags" Target="../tags/tag392.xml"/><Relationship Id="rId50" Type="http://schemas.openxmlformats.org/officeDocument/2006/relationships/tags" Target="../tags/tag391.xml"/><Relationship Id="rId5" Type="http://schemas.openxmlformats.org/officeDocument/2006/relationships/tags" Target="../tags/tag354.xml"/><Relationship Id="rId49" Type="http://schemas.openxmlformats.org/officeDocument/2006/relationships/tags" Target="../tags/tag390.xml"/><Relationship Id="rId48" Type="http://schemas.openxmlformats.org/officeDocument/2006/relationships/tags" Target="../tags/tag389.xml"/><Relationship Id="rId47" Type="http://schemas.openxmlformats.org/officeDocument/2006/relationships/tags" Target="../tags/tag388.xml"/><Relationship Id="rId46" Type="http://schemas.openxmlformats.org/officeDocument/2006/relationships/tags" Target="../tags/tag387.xml"/><Relationship Id="rId45" Type="http://schemas.openxmlformats.org/officeDocument/2006/relationships/tags" Target="../tags/tag386.xml"/><Relationship Id="rId44" Type="http://schemas.openxmlformats.org/officeDocument/2006/relationships/tags" Target="../tags/tag385.xml"/><Relationship Id="rId43" Type="http://schemas.openxmlformats.org/officeDocument/2006/relationships/tags" Target="../tags/tag384.xml"/><Relationship Id="rId42" Type="http://schemas.openxmlformats.org/officeDocument/2006/relationships/tags" Target="../tags/tag383.xml"/><Relationship Id="rId41" Type="http://schemas.openxmlformats.org/officeDocument/2006/relationships/tags" Target="../tags/tag382.xml"/><Relationship Id="rId40" Type="http://schemas.openxmlformats.org/officeDocument/2006/relationships/tags" Target="../tags/tag381.xml"/><Relationship Id="rId4" Type="http://schemas.openxmlformats.org/officeDocument/2006/relationships/tags" Target="../tags/tag353.xml"/><Relationship Id="rId39" Type="http://schemas.openxmlformats.org/officeDocument/2006/relationships/tags" Target="../tags/tag380.xml"/><Relationship Id="rId38" Type="http://schemas.openxmlformats.org/officeDocument/2006/relationships/tags" Target="../tags/tag379.xml"/><Relationship Id="rId37" Type="http://schemas.openxmlformats.org/officeDocument/2006/relationships/tags" Target="../tags/tag378.xml"/><Relationship Id="rId36" Type="http://schemas.openxmlformats.org/officeDocument/2006/relationships/tags" Target="../tags/tag377.xml"/><Relationship Id="rId35" Type="http://schemas.openxmlformats.org/officeDocument/2006/relationships/tags" Target="../tags/tag376.xml"/><Relationship Id="rId34" Type="http://schemas.openxmlformats.org/officeDocument/2006/relationships/tags" Target="../tags/tag375.xml"/><Relationship Id="rId33" Type="http://schemas.openxmlformats.org/officeDocument/2006/relationships/tags" Target="../tags/tag374.xml"/><Relationship Id="rId32" Type="http://schemas.openxmlformats.org/officeDocument/2006/relationships/tags" Target="../tags/tag373.xml"/><Relationship Id="rId31" Type="http://schemas.openxmlformats.org/officeDocument/2006/relationships/tags" Target="../tags/tag372.xml"/><Relationship Id="rId30" Type="http://schemas.openxmlformats.org/officeDocument/2006/relationships/image" Target="../media/image250.svg"/><Relationship Id="rId3" Type="http://schemas.openxmlformats.org/officeDocument/2006/relationships/tags" Target="../tags/tag352.xml"/><Relationship Id="rId29" Type="http://schemas.openxmlformats.org/officeDocument/2006/relationships/image" Target="../media/image249.png"/><Relationship Id="rId28" Type="http://schemas.openxmlformats.org/officeDocument/2006/relationships/image" Target="../media/image248.svg"/><Relationship Id="rId27" Type="http://schemas.openxmlformats.org/officeDocument/2006/relationships/image" Target="../media/image247.png"/><Relationship Id="rId26" Type="http://schemas.openxmlformats.org/officeDocument/2006/relationships/image" Target="../media/image246.svg"/><Relationship Id="rId25" Type="http://schemas.openxmlformats.org/officeDocument/2006/relationships/image" Target="../media/image245.png"/><Relationship Id="rId24" Type="http://schemas.openxmlformats.org/officeDocument/2006/relationships/tags" Target="../tags/tag371.xml"/><Relationship Id="rId23" Type="http://schemas.openxmlformats.org/officeDocument/2006/relationships/tags" Target="../tags/tag370.xml"/><Relationship Id="rId22" Type="http://schemas.openxmlformats.org/officeDocument/2006/relationships/tags" Target="../tags/tag369.xml"/><Relationship Id="rId21" Type="http://schemas.openxmlformats.org/officeDocument/2006/relationships/tags" Target="../tags/tag368.xml"/><Relationship Id="rId20" Type="http://schemas.openxmlformats.org/officeDocument/2006/relationships/tags" Target="../tags/tag367.xml"/><Relationship Id="rId2" Type="http://schemas.openxmlformats.org/officeDocument/2006/relationships/image" Target="../media/image242.svg"/><Relationship Id="rId19" Type="http://schemas.openxmlformats.org/officeDocument/2006/relationships/tags" Target="../tags/tag366.xml"/><Relationship Id="rId18" Type="http://schemas.openxmlformats.org/officeDocument/2006/relationships/tags" Target="../tags/tag365.xml"/><Relationship Id="rId17" Type="http://schemas.openxmlformats.org/officeDocument/2006/relationships/tags" Target="../tags/tag364.xml"/><Relationship Id="rId16" Type="http://schemas.openxmlformats.org/officeDocument/2006/relationships/tags" Target="../tags/tag363.xml"/><Relationship Id="rId15" Type="http://schemas.openxmlformats.org/officeDocument/2006/relationships/tags" Target="../tags/tag362.xml"/><Relationship Id="rId14" Type="http://schemas.openxmlformats.org/officeDocument/2006/relationships/image" Target="../media/image244.svg"/><Relationship Id="rId13" Type="http://schemas.openxmlformats.org/officeDocument/2006/relationships/image" Target="../media/image243.png"/><Relationship Id="rId12" Type="http://schemas.openxmlformats.org/officeDocument/2006/relationships/tags" Target="../tags/tag361.xml"/><Relationship Id="rId11" Type="http://schemas.openxmlformats.org/officeDocument/2006/relationships/tags" Target="../tags/tag360.xml"/><Relationship Id="rId10" Type="http://schemas.openxmlformats.org/officeDocument/2006/relationships/tags" Target="../tags/tag359.xml"/><Relationship Id="rId1" Type="http://schemas.openxmlformats.org/officeDocument/2006/relationships/image" Target="../media/image20.pn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63.svg"/><Relationship Id="rId1" Type="http://schemas.openxmlformats.org/officeDocument/2006/relationships/image" Target="../media/image20.png"/></Relationships>
</file>

<file path=ppt/slides/_rels/slide33.xml.rels><?xml version="1.0" encoding="UTF-8" standalone="yes"?>
<Relationships xmlns="http://schemas.openxmlformats.org/package/2006/relationships"><Relationship Id="rId9" Type="http://schemas.openxmlformats.org/officeDocument/2006/relationships/tags" Target="../tags/tag412.xml"/><Relationship Id="rId8" Type="http://schemas.openxmlformats.org/officeDocument/2006/relationships/tags" Target="../tags/tag411.xml"/><Relationship Id="rId7" Type="http://schemas.openxmlformats.org/officeDocument/2006/relationships/tags" Target="../tags/tag410.xml"/><Relationship Id="rId6" Type="http://schemas.openxmlformats.org/officeDocument/2006/relationships/tags" Target="../tags/tag409.xml"/><Relationship Id="rId57" Type="http://schemas.openxmlformats.org/officeDocument/2006/relationships/notesSlide" Target="../notesSlides/notesSlide26.xml"/><Relationship Id="rId56" Type="http://schemas.openxmlformats.org/officeDocument/2006/relationships/slideLayout" Target="../slideLayouts/slideLayout12.xml"/><Relationship Id="rId55" Type="http://schemas.openxmlformats.org/officeDocument/2006/relationships/image" Target="../media/image1.png"/><Relationship Id="rId54" Type="http://schemas.openxmlformats.org/officeDocument/2006/relationships/image" Target="../media/image63.svg"/><Relationship Id="rId53" Type="http://schemas.openxmlformats.org/officeDocument/2006/relationships/image" Target="../media/image20.png"/><Relationship Id="rId52" Type="http://schemas.openxmlformats.org/officeDocument/2006/relationships/image" Target="../media/image260.svg"/><Relationship Id="rId51" Type="http://schemas.openxmlformats.org/officeDocument/2006/relationships/image" Target="../media/image259.png"/><Relationship Id="rId50" Type="http://schemas.openxmlformats.org/officeDocument/2006/relationships/image" Target="../media/image258.svg"/><Relationship Id="rId5" Type="http://schemas.openxmlformats.org/officeDocument/2006/relationships/tags" Target="../tags/tag408.xml"/><Relationship Id="rId49" Type="http://schemas.openxmlformats.org/officeDocument/2006/relationships/image" Target="../media/image257.png"/><Relationship Id="rId48" Type="http://schemas.openxmlformats.org/officeDocument/2006/relationships/image" Target="../media/image256.svg"/><Relationship Id="rId47" Type="http://schemas.openxmlformats.org/officeDocument/2006/relationships/image" Target="../media/image255.png"/><Relationship Id="rId46" Type="http://schemas.openxmlformats.org/officeDocument/2006/relationships/tags" Target="../tags/tag449.xml"/><Relationship Id="rId45" Type="http://schemas.openxmlformats.org/officeDocument/2006/relationships/tags" Target="../tags/tag448.xml"/><Relationship Id="rId44" Type="http://schemas.openxmlformats.org/officeDocument/2006/relationships/tags" Target="../tags/tag447.xml"/><Relationship Id="rId43" Type="http://schemas.openxmlformats.org/officeDocument/2006/relationships/tags" Target="../tags/tag446.xml"/><Relationship Id="rId42" Type="http://schemas.openxmlformats.org/officeDocument/2006/relationships/tags" Target="../tags/tag445.xml"/><Relationship Id="rId41" Type="http://schemas.openxmlformats.org/officeDocument/2006/relationships/tags" Target="../tags/tag444.xml"/><Relationship Id="rId40" Type="http://schemas.openxmlformats.org/officeDocument/2006/relationships/tags" Target="../tags/tag443.xml"/><Relationship Id="rId4" Type="http://schemas.openxmlformats.org/officeDocument/2006/relationships/tags" Target="../tags/tag407.xml"/><Relationship Id="rId39" Type="http://schemas.openxmlformats.org/officeDocument/2006/relationships/tags" Target="../tags/tag442.xml"/><Relationship Id="rId38" Type="http://schemas.openxmlformats.org/officeDocument/2006/relationships/tags" Target="../tags/tag441.xml"/><Relationship Id="rId37" Type="http://schemas.openxmlformats.org/officeDocument/2006/relationships/tags" Target="../tags/tag440.xml"/><Relationship Id="rId36" Type="http://schemas.openxmlformats.org/officeDocument/2006/relationships/tags" Target="../tags/tag439.xml"/><Relationship Id="rId35" Type="http://schemas.openxmlformats.org/officeDocument/2006/relationships/tags" Target="../tags/tag438.xml"/><Relationship Id="rId34" Type="http://schemas.openxmlformats.org/officeDocument/2006/relationships/tags" Target="../tags/tag437.xml"/><Relationship Id="rId33" Type="http://schemas.openxmlformats.org/officeDocument/2006/relationships/tags" Target="../tags/tag436.xml"/><Relationship Id="rId32" Type="http://schemas.openxmlformats.org/officeDocument/2006/relationships/tags" Target="../tags/tag435.xml"/><Relationship Id="rId31" Type="http://schemas.openxmlformats.org/officeDocument/2006/relationships/tags" Target="../tags/tag434.xml"/><Relationship Id="rId30" Type="http://schemas.openxmlformats.org/officeDocument/2006/relationships/tags" Target="../tags/tag433.xml"/><Relationship Id="rId3" Type="http://schemas.openxmlformats.org/officeDocument/2006/relationships/tags" Target="../tags/tag406.xml"/><Relationship Id="rId29" Type="http://schemas.openxmlformats.org/officeDocument/2006/relationships/tags" Target="../tags/tag432.xml"/><Relationship Id="rId28" Type="http://schemas.openxmlformats.org/officeDocument/2006/relationships/tags" Target="../tags/tag431.xml"/><Relationship Id="rId27" Type="http://schemas.openxmlformats.org/officeDocument/2006/relationships/tags" Target="../tags/tag430.xml"/><Relationship Id="rId26" Type="http://schemas.openxmlformats.org/officeDocument/2006/relationships/tags" Target="../tags/tag429.xml"/><Relationship Id="rId25" Type="http://schemas.openxmlformats.org/officeDocument/2006/relationships/tags" Target="../tags/tag428.xml"/><Relationship Id="rId24" Type="http://schemas.openxmlformats.org/officeDocument/2006/relationships/tags" Target="../tags/tag427.xml"/><Relationship Id="rId23" Type="http://schemas.openxmlformats.org/officeDocument/2006/relationships/tags" Target="../tags/tag426.xml"/><Relationship Id="rId22" Type="http://schemas.openxmlformats.org/officeDocument/2006/relationships/tags" Target="../tags/tag425.xml"/><Relationship Id="rId21" Type="http://schemas.openxmlformats.org/officeDocument/2006/relationships/tags" Target="../tags/tag424.xml"/><Relationship Id="rId20" Type="http://schemas.openxmlformats.org/officeDocument/2006/relationships/tags" Target="../tags/tag423.xml"/><Relationship Id="rId2" Type="http://schemas.openxmlformats.org/officeDocument/2006/relationships/tags" Target="../tags/tag405.xml"/><Relationship Id="rId19" Type="http://schemas.openxmlformats.org/officeDocument/2006/relationships/tags" Target="../tags/tag422.xml"/><Relationship Id="rId18" Type="http://schemas.openxmlformats.org/officeDocument/2006/relationships/tags" Target="../tags/tag421.xml"/><Relationship Id="rId17" Type="http://schemas.openxmlformats.org/officeDocument/2006/relationships/tags" Target="../tags/tag420.xml"/><Relationship Id="rId16" Type="http://schemas.openxmlformats.org/officeDocument/2006/relationships/tags" Target="../tags/tag419.xml"/><Relationship Id="rId15" Type="http://schemas.openxmlformats.org/officeDocument/2006/relationships/tags" Target="../tags/tag418.xml"/><Relationship Id="rId14" Type="http://schemas.openxmlformats.org/officeDocument/2006/relationships/tags" Target="../tags/tag417.xml"/><Relationship Id="rId13" Type="http://schemas.openxmlformats.org/officeDocument/2006/relationships/tags" Target="../tags/tag416.xml"/><Relationship Id="rId12" Type="http://schemas.openxmlformats.org/officeDocument/2006/relationships/tags" Target="../tags/tag415.xml"/><Relationship Id="rId11" Type="http://schemas.openxmlformats.org/officeDocument/2006/relationships/tags" Target="../tags/tag414.xml"/><Relationship Id="rId10" Type="http://schemas.openxmlformats.org/officeDocument/2006/relationships/tags" Target="../tags/tag413.xml"/><Relationship Id="rId1" Type="http://schemas.openxmlformats.org/officeDocument/2006/relationships/tags" Target="../tags/tag404.xml"/></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63.svg"/><Relationship Id="rId1" Type="http://schemas.openxmlformats.org/officeDocument/2006/relationships/image" Target="../media/image20.png"/></Relationships>
</file>

<file path=ppt/slides/_rels/slide35.xml.rels><?xml version="1.0" encoding="UTF-8" standalone="yes"?>
<Relationships xmlns="http://schemas.openxmlformats.org/package/2006/relationships"><Relationship Id="rId9" Type="http://schemas.openxmlformats.org/officeDocument/2006/relationships/image" Target="../media/image269.png"/><Relationship Id="rId8" Type="http://schemas.openxmlformats.org/officeDocument/2006/relationships/image" Target="../media/image268.svg"/><Relationship Id="rId7" Type="http://schemas.openxmlformats.org/officeDocument/2006/relationships/image" Target="../media/image267.png"/><Relationship Id="rId6" Type="http://schemas.openxmlformats.org/officeDocument/2006/relationships/image" Target="../media/image266.svg"/><Relationship Id="rId5" Type="http://schemas.openxmlformats.org/officeDocument/2006/relationships/image" Target="../media/image265.png"/><Relationship Id="rId4" Type="http://schemas.openxmlformats.org/officeDocument/2006/relationships/image" Target="../media/image264.svg"/><Relationship Id="rId3" Type="http://schemas.openxmlformats.org/officeDocument/2006/relationships/image" Target="../media/image263.png"/><Relationship Id="rId2" Type="http://schemas.openxmlformats.org/officeDocument/2006/relationships/image" Target="../media/image262.svg"/><Relationship Id="rId17" Type="http://schemas.openxmlformats.org/officeDocument/2006/relationships/notesSlide" Target="../notesSlides/notesSlide28.xml"/><Relationship Id="rId16" Type="http://schemas.openxmlformats.org/officeDocument/2006/relationships/slideLayout" Target="../slideLayouts/slideLayout12.xml"/><Relationship Id="rId15" Type="http://schemas.openxmlformats.org/officeDocument/2006/relationships/image" Target="../media/image1.png"/><Relationship Id="rId14" Type="http://schemas.openxmlformats.org/officeDocument/2006/relationships/image" Target="../media/image63.svg"/><Relationship Id="rId13" Type="http://schemas.openxmlformats.org/officeDocument/2006/relationships/image" Target="../media/image20.png"/><Relationship Id="rId12" Type="http://schemas.openxmlformats.org/officeDocument/2006/relationships/image" Target="../media/image272.svg"/><Relationship Id="rId11" Type="http://schemas.openxmlformats.org/officeDocument/2006/relationships/image" Target="../media/image271.png"/><Relationship Id="rId10" Type="http://schemas.openxmlformats.org/officeDocument/2006/relationships/image" Target="../media/image270.svg"/><Relationship Id="rId1" Type="http://schemas.openxmlformats.org/officeDocument/2006/relationships/image" Target="../media/image261.png"/></Relationships>
</file>

<file path=ppt/slides/_rels/slide36.xml.rels><?xml version="1.0" encoding="UTF-8" standalone="yes"?>
<Relationships xmlns="http://schemas.openxmlformats.org/package/2006/relationships"><Relationship Id="rId9" Type="http://schemas.openxmlformats.org/officeDocument/2006/relationships/tags" Target="../tags/tag458.xml"/><Relationship Id="rId8" Type="http://schemas.openxmlformats.org/officeDocument/2006/relationships/tags" Target="../tags/tag457.xml"/><Relationship Id="rId7" Type="http://schemas.openxmlformats.org/officeDocument/2006/relationships/tags" Target="../tags/tag456.xml"/><Relationship Id="rId6" Type="http://schemas.openxmlformats.org/officeDocument/2006/relationships/tags" Target="../tags/tag455.xml"/><Relationship Id="rId5" Type="http://schemas.openxmlformats.org/officeDocument/2006/relationships/tags" Target="../tags/tag454.xml"/><Relationship Id="rId4" Type="http://schemas.openxmlformats.org/officeDocument/2006/relationships/tags" Target="../tags/tag453.xml"/><Relationship Id="rId3" Type="http://schemas.openxmlformats.org/officeDocument/2006/relationships/tags" Target="../tags/tag452.xml"/><Relationship Id="rId2" Type="http://schemas.openxmlformats.org/officeDocument/2006/relationships/tags" Target="../tags/tag451.xml"/><Relationship Id="rId16" Type="http://schemas.openxmlformats.org/officeDocument/2006/relationships/notesSlide" Target="../notesSlides/notesSlide29.xml"/><Relationship Id="rId15" Type="http://schemas.openxmlformats.org/officeDocument/2006/relationships/slideLayout" Target="../slideLayouts/slideLayout12.xml"/><Relationship Id="rId14" Type="http://schemas.openxmlformats.org/officeDocument/2006/relationships/image" Target="../media/image1.png"/><Relationship Id="rId13" Type="http://schemas.openxmlformats.org/officeDocument/2006/relationships/image" Target="../media/image273.svg"/><Relationship Id="rId12" Type="http://schemas.openxmlformats.org/officeDocument/2006/relationships/image" Target="../media/image20.png"/><Relationship Id="rId11" Type="http://schemas.openxmlformats.org/officeDocument/2006/relationships/tags" Target="../tags/tag460.xml"/><Relationship Id="rId10" Type="http://schemas.openxmlformats.org/officeDocument/2006/relationships/tags" Target="../tags/tag459.xml"/><Relationship Id="rId1" Type="http://schemas.openxmlformats.org/officeDocument/2006/relationships/tags" Target="../tags/tag450.xml"/></Relationships>
</file>

<file path=ppt/slides/_rels/slide37.xml.rels><?xml version="1.0" encoding="UTF-8" standalone="yes"?>
<Relationships xmlns="http://schemas.openxmlformats.org/package/2006/relationships"><Relationship Id="rId9" Type="http://schemas.openxmlformats.org/officeDocument/2006/relationships/tags" Target="../tags/tag465.xml"/><Relationship Id="rId8" Type="http://schemas.openxmlformats.org/officeDocument/2006/relationships/image" Target="../media/image277.svg"/><Relationship Id="rId7" Type="http://schemas.openxmlformats.org/officeDocument/2006/relationships/image" Target="../media/image276.png"/><Relationship Id="rId6" Type="http://schemas.openxmlformats.org/officeDocument/2006/relationships/image" Target="../media/image275.svg"/><Relationship Id="rId5" Type="http://schemas.openxmlformats.org/officeDocument/2006/relationships/image" Target="../media/image274.png"/><Relationship Id="rId45" Type="http://schemas.openxmlformats.org/officeDocument/2006/relationships/notesSlide" Target="../notesSlides/notesSlide30.xml"/><Relationship Id="rId44" Type="http://schemas.openxmlformats.org/officeDocument/2006/relationships/slideLayout" Target="../slideLayouts/slideLayout12.xml"/><Relationship Id="rId43" Type="http://schemas.openxmlformats.org/officeDocument/2006/relationships/tags" Target="../tags/tag492.xml"/><Relationship Id="rId42" Type="http://schemas.openxmlformats.org/officeDocument/2006/relationships/tags" Target="../tags/tag491.xml"/><Relationship Id="rId41" Type="http://schemas.openxmlformats.org/officeDocument/2006/relationships/tags" Target="../tags/tag490.xml"/><Relationship Id="rId40" Type="http://schemas.openxmlformats.org/officeDocument/2006/relationships/tags" Target="../tags/tag489.xml"/><Relationship Id="rId4" Type="http://schemas.openxmlformats.org/officeDocument/2006/relationships/tags" Target="../tags/tag464.xml"/><Relationship Id="rId39" Type="http://schemas.openxmlformats.org/officeDocument/2006/relationships/tags" Target="../tags/tag488.xml"/><Relationship Id="rId38" Type="http://schemas.openxmlformats.org/officeDocument/2006/relationships/image" Target="../media/image1.png"/><Relationship Id="rId37" Type="http://schemas.openxmlformats.org/officeDocument/2006/relationships/image" Target="../media/image61.svg"/><Relationship Id="rId36" Type="http://schemas.openxmlformats.org/officeDocument/2006/relationships/image" Target="../media/image20.png"/><Relationship Id="rId35" Type="http://schemas.openxmlformats.org/officeDocument/2006/relationships/tags" Target="../tags/tag487.xml"/><Relationship Id="rId34" Type="http://schemas.openxmlformats.org/officeDocument/2006/relationships/tags" Target="../tags/tag486.xml"/><Relationship Id="rId33" Type="http://schemas.openxmlformats.org/officeDocument/2006/relationships/tags" Target="../tags/tag485.xml"/><Relationship Id="rId32" Type="http://schemas.openxmlformats.org/officeDocument/2006/relationships/tags" Target="../tags/tag484.xml"/><Relationship Id="rId31" Type="http://schemas.openxmlformats.org/officeDocument/2006/relationships/tags" Target="../tags/tag483.xml"/><Relationship Id="rId30" Type="http://schemas.openxmlformats.org/officeDocument/2006/relationships/tags" Target="../tags/tag482.xml"/><Relationship Id="rId3" Type="http://schemas.openxmlformats.org/officeDocument/2006/relationships/tags" Target="../tags/tag463.xml"/><Relationship Id="rId29" Type="http://schemas.openxmlformats.org/officeDocument/2006/relationships/tags" Target="../tags/tag481.xml"/><Relationship Id="rId28" Type="http://schemas.openxmlformats.org/officeDocument/2006/relationships/tags" Target="../tags/tag480.xml"/><Relationship Id="rId27" Type="http://schemas.openxmlformats.org/officeDocument/2006/relationships/tags" Target="../tags/tag479.xml"/><Relationship Id="rId26" Type="http://schemas.openxmlformats.org/officeDocument/2006/relationships/tags" Target="../tags/tag478.xml"/><Relationship Id="rId25" Type="http://schemas.openxmlformats.org/officeDocument/2006/relationships/tags" Target="../tags/tag477.xml"/><Relationship Id="rId24" Type="http://schemas.openxmlformats.org/officeDocument/2006/relationships/tags" Target="../tags/tag476.xml"/><Relationship Id="rId23" Type="http://schemas.openxmlformats.org/officeDocument/2006/relationships/tags" Target="../tags/tag475.xml"/><Relationship Id="rId22" Type="http://schemas.openxmlformats.org/officeDocument/2006/relationships/tags" Target="../tags/tag474.xml"/><Relationship Id="rId21" Type="http://schemas.openxmlformats.org/officeDocument/2006/relationships/tags" Target="../tags/tag473.xml"/><Relationship Id="rId20" Type="http://schemas.openxmlformats.org/officeDocument/2006/relationships/tags" Target="../tags/tag472.xml"/><Relationship Id="rId2" Type="http://schemas.openxmlformats.org/officeDocument/2006/relationships/tags" Target="../tags/tag462.xml"/><Relationship Id="rId19" Type="http://schemas.openxmlformats.org/officeDocument/2006/relationships/tags" Target="../tags/tag471.xml"/><Relationship Id="rId18" Type="http://schemas.openxmlformats.org/officeDocument/2006/relationships/tags" Target="../tags/tag470.xml"/><Relationship Id="rId17" Type="http://schemas.openxmlformats.org/officeDocument/2006/relationships/tags" Target="../tags/tag469.xml"/><Relationship Id="rId16" Type="http://schemas.openxmlformats.org/officeDocument/2006/relationships/tags" Target="../tags/tag468.xml"/><Relationship Id="rId15" Type="http://schemas.openxmlformats.org/officeDocument/2006/relationships/tags" Target="../tags/tag467.xml"/><Relationship Id="rId14" Type="http://schemas.openxmlformats.org/officeDocument/2006/relationships/image" Target="../media/image281.svg"/><Relationship Id="rId13" Type="http://schemas.openxmlformats.org/officeDocument/2006/relationships/image" Target="../media/image280.png"/><Relationship Id="rId12" Type="http://schemas.openxmlformats.org/officeDocument/2006/relationships/tags" Target="../tags/tag466.xml"/><Relationship Id="rId11" Type="http://schemas.openxmlformats.org/officeDocument/2006/relationships/image" Target="../media/image279.svg"/><Relationship Id="rId10" Type="http://schemas.openxmlformats.org/officeDocument/2006/relationships/image" Target="../media/image278.png"/><Relationship Id="rId1" Type="http://schemas.openxmlformats.org/officeDocument/2006/relationships/tags" Target="../tags/tag461.xml"/></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282.svg"/><Relationship Id="rId1" Type="http://schemas.openxmlformats.org/officeDocument/2006/relationships/image" Target="../media/image20.png"/></Relationships>
</file>

<file path=ppt/slides/_rels/slide39.xml.rels><?xml version="1.0" encoding="UTF-8" standalone="yes"?>
<Relationships xmlns="http://schemas.openxmlformats.org/package/2006/relationships"><Relationship Id="rId9" Type="http://schemas.openxmlformats.org/officeDocument/2006/relationships/tags" Target="../tags/tag496.xml"/><Relationship Id="rId8" Type="http://schemas.openxmlformats.org/officeDocument/2006/relationships/image" Target="../media/image1.png"/><Relationship Id="rId7" Type="http://schemas.openxmlformats.org/officeDocument/2006/relationships/image" Target="../media/image61.svg"/><Relationship Id="rId6" Type="http://schemas.openxmlformats.org/officeDocument/2006/relationships/image" Target="../media/image20.png"/><Relationship Id="rId5" Type="http://schemas.openxmlformats.org/officeDocument/2006/relationships/tags" Target="../tags/tag495.xml"/><Relationship Id="rId4" Type="http://schemas.openxmlformats.org/officeDocument/2006/relationships/tags" Target="../tags/tag494.xml"/><Relationship Id="rId3" Type="http://schemas.openxmlformats.org/officeDocument/2006/relationships/tags" Target="../tags/tag493.xml"/><Relationship Id="rId2" Type="http://schemas.microsoft.com/office/2007/relationships/hdphoto" Target="../media/image284.wdp"/><Relationship Id="rId14" Type="http://schemas.openxmlformats.org/officeDocument/2006/relationships/notesSlide" Target="../notesSlides/notesSlide32.xml"/><Relationship Id="rId13" Type="http://schemas.openxmlformats.org/officeDocument/2006/relationships/slideLayout" Target="../slideLayouts/slideLayout12.xml"/><Relationship Id="rId12" Type="http://schemas.openxmlformats.org/officeDocument/2006/relationships/tags" Target="../tags/tag499.xml"/><Relationship Id="rId11" Type="http://schemas.openxmlformats.org/officeDocument/2006/relationships/tags" Target="../tags/tag498.xml"/><Relationship Id="rId10" Type="http://schemas.openxmlformats.org/officeDocument/2006/relationships/tags" Target="../tags/tag497.xml"/><Relationship Id="rId1" Type="http://schemas.openxmlformats.org/officeDocument/2006/relationships/image" Target="../media/image283.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286.svg"/><Relationship Id="rId1" Type="http://schemas.openxmlformats.org/officeDocument/2006/relationships/image" Target="../media/image285.png"/></Relationships>
</file>

<file path=ppt/slides/_rels/slide41.xml.rels><?xml version="1.0" encoding="UTF-8" standalone="yes"?>
<Relationships xmlns="http://schemas.openxmlformats.org/package/2006/relationships"><Relationship Id="rId9" Type="http://schemas.openxmlformats.org/officeDocument/2006/relationships/image" Target="../media/image293.svg"/><Relationship Id="rId8" Type="http://schemas.openxmlformats.org/officeDocument/2006/relationships/image" Target="../media/image292.png"/><Relationship Id="rId7" Type="http://schemas.openxmlformats.org/officeDocument/2006/relationships/image" Target="../media/image291.svg"/><Relationship Id="rId6" Type="http://schemas.openxmlformats.org/officeDocument/2006/relationships/image" Target="../media/image290.png"/><Relationship Id="rId5" Type="http://schemas.openxmlformats.org/officeDocument/2006/relationships/image" Target="../media/image289.svg"/><Relationship Id="rId4" Type="http://schemas.openxmlformats.org/officeDocument/2006/relationships/image" Target="../media/image288.png"/><Relationship Id="rId3" Type="http://schemas.openxmlformats.org/officeDocument/2006/relationships/image" Target="../media/image1.png"/><Relationship Id="rId2" Type="http://schemas.openxmlformats.org/officeDocument/2006/relationships/image" Target="../media/image287.svg"/><Relationship Id="rId11" Type="http://schemas.openxmlformats.org/officeDocument/2006/relationships/notesSlide" Target="../notesSlides/notesSlide33.xml"/><Relationship Id="rId10" Type="http://schemas.openxmlformats.org/officeDocument/2006/relationships/slideLayout" Target="../slideLayouts/slideLayout12.xml"/><Relationship Id="rId1" Type="http://schemas.openxmlformats.org/officeDocument/2006/relationships/image" Target="../media/image20.png"/></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294.svg"/><Relationship Id="rId1" Type="http://schemas.openxmlformats.org/officeDocument/2006/relationships/image" Target="../media/image20.png"/></Relationships>
</file>

<file path=ppt/slides/_rels/slide43.xml.rels><?xml version="1.0" encoding="UTF-8" standalone="yes"?>
<Relationships xmlns="http://schemas.openxmlformats.org/package/2006/relationships"><Relationship Id="rId9" Type="http://schemas.openxmlformats.org/officeDocument/2006/relationships/tags" Target="../tags/tag508.xml"/><Relationship Id="rId8" Type="http://schemas.openxmlformats.org/officeDocument/2006/relationships/tags" Target="../tags/tag507.xml"/><Relationship Id="rId7" Type="http://schemas.openxmlformats.org/officeDocument/2006/relationships/tags" Target="../tags/tag506.xml"/><Relationship Id="rId6" Type="http://schemas.openxmlformats.org/officeDocument/2006/relationships/tags" Target="../tags/tag505.xml"/><Relationship Id="rId5" Type="http://schemas.openxmlformats.org/officeDocument/2006/relationships/tags" Target="../tags/tag504.xml"/><Relationship Id="rId4" Type="http://schemas.openxmlformats.org/officeDocument/2006/relationships/tags" Target="../tags/tag503.xml"/><Relationship Id="rId34" Type="http://schemas.openxmlformats.org/officeDocument/2006/relationships/notesSlide" Target="../notesSlides/notesSlide35.xml"/><Relationship Id="rId33" Type="http://schemas.openxmlformats.org/officeDocument/2006/relationships/slideLayout" Target="../slideLayouts/slideLayout12.xml"/><Relationship Id="rId32" Type="http://schemas.openxmlformats.org/officeDocument/2006/relationships/image" Target="../media/image1.png"/><Relationship Id="rId31" Type="http://schemas.openxmlformats.org/officeDocument/2006/relationships/image" Target="../media/image296.svg"/><Relationship Id="rId30" Type="http://schemas.openxmlformats.org/officeDocument/2006/relationships/image" Target="../media/image295.png"/><Relationship Id="rId3" Type="http://schemas.openxmlformats.org/officeDocument/2006/relationships/tags" Target="../tags/tag502.xml"/><Relationship Id="rId29" Type="http://schemas.openxmlformats.org/officeDocument/2006/relationships/image" Target="../media/image61.svg"/><Relationship Id="rId28" Type="http://schemas.openxmlformats.org/officeDocument/2006/relationships/image" Target="../media/image20.png"/><Relationship Id="rId27" Type="http://schemas.openxmlformats.org/officeDocument/2006/relationships/tags" Target="../tags/tag526.xml"/><Relationship Id="rId26" Type="http://schemas.openxmlformats.org/officeDocument/2006/relationships/tags" Target="../tags/tag525.xml"/><Relationship Id="rId25" Type="http://schemas.openxmlformats.org/officeDocument/2006/relationships/tags" Target="../tags/tag524.xml"/><Relationship Id="rId24" Type="http://schemas.openxmlformats.org/officeDocument/2006/relationships/tags" Target="../tags/tag523.xml"/><Relationship Id="rId23" Type="http://schemas.openxmlformats.org/officeDocument/2006/relationships/tags" Target="../tags/tag522.xml"/><Relationship Id="rId22" Type="http://schemas.openxmlformats.org/officeDocument/2006/relationships/tags" Target="../tags/tag521.xml"/><Relationship Id="rId21" Type="http://schemas.openxmlformats.org/officeDocument/2006/relationships/tags" Target="../tags/tag520.xml"/><Relationship Id="rId20" Type="http://schemas.openxmlformats.org/officeDocument/2006/relationships/tags" Target="../tags/tag519.xml"/><Relationship Id="rId2" Type="http://schemas.openxmlformats.org/officeDocument/2006/relationships/tags" Target="../tags/tag501.xml"/><Relationship Id="rId19" Type="http://schemas.openxmlformats.org/officeDocument/2006/relationships/tags" Target="../tags/tag518.xml"/><Relationship Id="rId18" Type="http://schemas.openxmlformats.org/officeDocument/2006/relationships/tags" Target="../tags/tag517.xml"/><Relationship Id="rId17" Type="http://schemas.openxmlformats.org/officeDocument/2006/relationships/tags" Target="../tags/tag516.xml"/><Relationship Id="rId16" Type="http://schemas.openxmlformats.org/officeDocument/2006/relationships/tags" Target="../tags/tag515.xml"/><Relationship Id="rId15" Type="http://schemas.openxmlformats.org/officeDocument/2006/relationships/tags" Target="../tags/tag514.xml"/><Relationship Id="rId14" Type="http://schemas.openxmlformats.org/officeDocument/2006/relationships/tags" Target="../tags/tag513.xml"/><Relationship Id="rId13" Type="http://schemas.openxmlformats.org/officeDocument/2006/relationships/tags" Target="../tags/tag512.xml"/><Relationship Id="rId12" Type="http://schemas.openxmlformats.org/officeDocument/2006/relationships/tags" Target="../tags/tag511.xml"/><Relationship Id="rId11" Type="http://schemas.openxmlformats.org/officeDocument/2006/relationships/tags" Target="../tags/tag510.xml"/><Relationship Id="rId10" Type="http://schemas.openxmlformats.org/officeDocument/2006/relationships/tags" Target="../tags/tag509.xml"/><Relationship Id="rId1" Type="http://schemas.openxmlformats.org/officeDocument/2006/relationships/tags" Target="../tags/tag500.xml"/></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61.svg"/><Relationship Id="rId1" Type="http://schemas.openxmlformats.org/officeDocument/2006/relationships/image" Target="../media/image20.png"/></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61.svg"/><Relationship Id="rId1" Type="http://schemas.openxmlformats.org/officeDocument/2006/relationships/image" Target="../media/image20.png"/></Relationships>
</file>

<file path=ppt/slides/_rels/slide46.xml.rels><?xml version="1.0" encoding="UTF-8" standalone="yes"?>
<Relationships xmlns="http://schemas.openxmlformats.org/package/2006/relationships"><Relationship Id="rId9" Type="http://schemas.openxmlformats.org/officeDocument/2006/relationships/image" Target="../media/image305.png"/><Relationship Id="rId8" Type="http://schemas.openxmlformats.org/officeDocument/2006/relationships/image" Target="../media/image304.svg"/><Relationship Id="rId7" Type="http://schemas.openxmlformats.org/officeDocument/2006/relationships/image" Target="../media/image303.svg"/><Relationship Id="rId6" Type="http://schemas.openxmlformats.org/officeDocument/2006/relationships/image" Target="../media/image302.svg"/><Relationship Id="rId5" Type="http://schemas.openxmlformats.org/officeDocument/2006/relationships/image" Target="../media/image301.png"/><Relationship Id="rId4" Type="http://schemas.openxmlformats.org/officeDocument/2006/relationships/image" Target="../media/image300.svg"/><Relationship Id="rId3" Type="http://schemas.openxmlformats.org/officeDocument/2006/relationships/image" Target="../media/image299.svg"/><Relationship Id="rId27" Type="http://schemas.openxmlformats.org/officeDocument/2006/relationships/notesSlide" Target="../notesSlides/notesSlide36.xml"/><Relationship Id="rId26" Type="http://schemas.openxmlformats.org/officeDocument/2006/relationships/slideLayout" Target="../slideLayouts/slideLayout12.xml"/><Relationship Id="rId25" Type="http://schemas.openxmlformats.org/officeDocument/2006/relationships/image" Target="../media/image1.png"/><Relationship Id="rId24" Type="http://schemas.openxmlformats.org/officeDocument/2006/relationships/image" Target="../media/image61.svg"/><Relationship Id="rId23" Type="http://schemas.openxmlformats.org/officeDocument/2006/relationships/image" Target="../media/image20.png"/><Relationship Id="rId22" Type="http://schemas.openxmlformats.org/officeDocument/2006/relationships/image" Target="../media/image318.svg"/><Relationship Id="rId21" Type="http://schemas.openxmlformats.org/officeDocument/2006/relationships/image" Target="../media/image317.png"/><Relationship Id="rId20" Type="http://schemas.openxmlformats.org/officeDocument/2006/relationships/image" Target="../media/image316.svg"/><Relationship Id="rId2" Type="http://schemas.openxmlformats.org/officeDocument/2006/relationships/image" Target="../media/image298.svg"/><Relationship Id="rId19" Type="http://schemas.openxmlformats.org/officeDocument/2006/relationships/image" Target="../media/image315.png"/><Relationship Id="rId18" Type="http://schemas.openxmlformats.org/officeDocument/2006/relationships/image" Target="../media/image314.svg"/><Relationship Id="rId17" Type="http://schemas.openxmlformats.org/officeDocument/2006/relationships/image" Target="../media/image313.png"/><Relationship Id="rId16" Type="http://schemas.openxmlformats.org/officeDocument/2006/relationships/image" Target="../media/image312.svg"/><Relationship Id="rId15" Type="http://schemas.openxmlformats.org/officeDocument/2006/relationships/image" Target="../media/image311.png"/><Relationship Id="rId14" Type="http://schemas.openxmlformats.org/officeDocument/2006/relationships/image" Target="../media/image310.svg"/><Relationship Id="rId13" Type="http://schemas.openxmlformats.org/officeDocument/2006/relationships/image" Target="../media/image309.png"/><Relationship Id="rId12" Type="http://schemas.openxmlformats.org/officeDocument/2006/relationships/image" Target="../media/image308.svg"/><Relationship Id="rId11" Type="http://schemas.openxmlformats.org/officeDocument/2006/relationships/image" Target="../media/image307.png"/><Relationship Id="rId10" Type="http://schemas.openxmlformats.org/officeDocument/2006/relationships/image" Target="../media/image306.svg"/><Relationship Id="rId1" Type="http://schemas.openxmlformats.org/officeDocument/2006/relationships/image" Target="../media/image297.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图片 44" descr="&amp;pky380_sjzg_VCG41N612724130_sjzg_VCG41N612724130&amp;"/>
          <p:cNvPicPr>
            <a:picLocks noChangeAspect="1"/>
          </p:cNvPicPr>
          <p:nvPr userDrawn="1"/>
        </p:nvPicPr>
        <p:blipFill>
          <a:blip r:embed="rId1">
            <a:lum contrast="-66000"/>
          </a:blip>
          <a:stretch>
            <a:fillRect/>
          </a:stretch>
        </p:blipFill>
        <p:spPr>
          <a:xfrm>
            <a:off x="-11430" y="0"/>
            <a:ext cx="12214225" cy="6858000"/>
          </a:xfrm>
          <a:prstGeom prst="rect">
            <a:avLst/>
          </a:prstGeom>
        </p:spPr>
      </p:pic>
      <p:sp>
        <p:nvSpPr>
          <p:cNvPr id="46" name="矩形 45"/>
          <p:cNvSpPr/>
          <p:nvPr userDrawn="1"/>
        </p:nvSpPr>
        <p:spPr>
          <a:xfrm>
            <a:off x="0" y="0"/>
            <a:ext cx="12192000" cy="6858000"/>
          </a:xfrm>
          <a:prstGeom prst="rect">
            <a:avLst/>
          </a:prstGeom>
          <a:gradFill>
            <a:gsLst>
              <a:gs pos="0">
                <a:schemeClr val="accent1">
                  <a:alpha val="90000"/>
                </a:schemeClr>
              </a:gs>
              <a:gs pos="100000">
                <a:schemeClr val="accent1">
                  <a:alpha val="6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cxnSp>
        <p:nvCxnSpPr>
          <p:cNvPr id="44" name="直接连接符 43"/>
          <p:cNvCxnSpPr/>
          <p:nvPr/>
        </p:nvCxnSpPr>
        <p:spPr>
          <a:xfrm>
            <a:off x="1567721" y="8585987"/>
            <a:ext cx="572022" cy="0"/>
          </a:xfrm>
          <a:prstGeom prst="line">
            <a:avLst/>
          </a:prstGeom>
          <a:ln w="12700">
            <a:gradFill flip="none" rotWithShape="1">
              <a:gsLst>
                <a:gs pos="11000">
                  <a:schemeClr val="bg1">
                    <a:alpha val="0"/>
                  </a:schemeClr>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3870960" y="1540510"/>
            <a:ext cx="4001135" cy="706755"/>
          </a:xfrm>
          <a:prstGeom prst="rect">
            <a:avLst/>
          </a:prstGeom>
          <a:noFill/>
        </p:spPr>
        <p:txBody>
          <a:bodyPr wrap="square" rtlCol="0">
            <a:spAutoFit/>
          </a:bodyPr>
          <a:lstStyle/>
          <a:p>
            <a:pPr algn="dist"/>
            <a:r>
              <a:rPr lang="zh-CN" altLang="en-US" sz="4000" b="1" dirty="0">
                <a:solidFill>
                  <a:srgbClr val="FFC000"/>
                </a:solidFill>
                <a:latin typeface="微软雅黑" panose="020B0503020204020204" charset="-122"/>
                <a:ea typeface="微软雅黑" panose="020B0503020204020204" charset="-122"/>
                <a:cs typeface="微软雅黑" panose="020B0503020204020204" charset="-122"/>
              </a:rPr>
              <a:t>「框架搭建系列</a:t>
            </a:r>
            <a:r>
              <a:rPr lang="zh-CN" altLang="en-US" sz="4000" b="1" dirty="0">
                <a:solidFill>
                  <a:srgbClr val="FFC000"/>
                </a:solidFill>
                <a:latin typeface="微软雅黑" panose="020B0503020204020204" charset="-122"/>
                <a:ea typeface="微软雅黑" panose="020B0503020204020204" charset="-122"/>
                <a:cs typeface="微软雅黑" panose="020B0503020204020204" charset="-122"/>
                <a:sym typeface="+mn-ea"/>
              </a:rPr>
              <a:t>」</a:t>
            </a:r>
            <a:endParaRPr lang="zh-CN" altLang="en-US" sz="4000" b="1" dirty="0">
              <a:solidFill>
                <a:srgbClr val="FFC000"/>
              </a:solidFill>
              <a:latin typeface="微软雅黑" panose="020B0503020204020204" charset="-122"/>
              <a:ea typeface="微软雅黑" panose="020B0503020204020204" charset="-122"/>
              <a:cs typeface="微软雅黑" panose="020B0503020204020204" charset="-122"/>
              <a:sym typeface="+mn-ea"/>
            </a:endParaRPr>
          </a:p>
        </p:txBody>
      </p:sp>
      <p:sp>
        <p:nvSpPr>
          <p:cNvPr id="80" name="文本框 79"/>
          <p:cNvSpPr txBox="1"/>
          <p:nvPr/>
        </p:nvSpPr>
        <p:spPr>
          <a:xfrm>
            <a:off x="2024380" y="2326005"/>
            <a:ext cx="7940040" cy="1014730"/>
          </a:xfrm>
          <a:prstGeom prst="rect">
            <a:avLst/>
          </a:prstGeom>
          <a:noFill/>
        </p:spPr>
        <p:txBody>
          <a:bodyPr wrap="square" rtlCol="0">
            <a:spAutoFit/>
          </a:bodyPr>
          <a:lstStyle/>
          <a:p>
            <a:pPr algn="dist"/>
            <a:r>
              <a:rPr lang="zh-CN" sz="6000" b="1" dirty="0">
                <a:solidFill>
                  <a:schemeClr val="bg1"/>
                </a:solidFill>
                <a:latin typeface="微软雅黑" panose="020B0503020204020204" charset="-122"/>
                <a:ea typeface="微软雅黑" panose="020B0503020204020204" charset="-122"/>
                <a:cs typeface="微软雅黑" panose="020B0503020204020204" charset="-122"/>
              </a:rPr>
              <a:t>复杂逻辑场景</a:t>
            </a:r>
            <a:r>
              <a:rPr lang="en-US" altLang="zh-CN" sz="6000" b="1" dirty="0">
                <a:solidFill>
                  <a:schemeClr val="bg1"/>
                </a:solidFill>
                <a:latin typeface="微软雅黑" panose="020B0503020204020204" charset="-122"/>
                <a:ea typeface="微软雅黑" panose="020B0503020204020204" charset="-122"/>
                <a:cs typeface="微软雅黑" panose="020B0503020204020204" charset="-122"/>
              </a:rPr>
              <a:t>PPT</a:t>
            </a:r>
            <a:r>
              <a:rPr lang="zh-CN" altLang="en-US" sz="6000" b="1" dirty="0">
                <a:solidFill>
                  <a:schemeClr val="bg1"/>
                </a:solidFill>
                <a:latin typeface="微软雅黑" panose="020B0503020204020204" charset="-122"/>
                <a:ea typeface="微软雅黑" panose="020B0503020204020204" charset="-122"/>
                <a:cs typeface="微软雅黑" panose="020B0503020204020204" charset="-122"/>
              </a:rPr>
              <a:t>模板</a:t>
            </a:r>
            <a:endParaRPr lang="zh-CN" altLang="en-US" sz="60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1" name="文本框 80"/>
          <p:cNvSpPr txBox="1"/>
          <p:nvPr/>
        </p:nvSpPr>
        <p:spPr>
          <a:xfrm>
            <a:off x="5244518" y="4138060"/>
            <a:ext cx="1702965" cy="306705"/>
          </a:xfrm>
          <a:prstGeom prst="rect">
            <a:avLst/>
          </a:prstGeom>
          <a:noFill/>
          <a:ln w="3175">
            <a:noFill/>
          </a:ln>
        </p:spPr>
        <p:txBody>
          <a:bodyPr wrap="square" rtlCol="0">
            <a:spAutoFit/>
          </a:bodyPr>
          <a:lstStyle/>
          <a:p>
            <a:pPr algn="ctr"/>
            <a:r>
              <a:rPr lang="zh-CN" altLang="en-US" sz="1400" dirty="0">
                <a:solidFill>
                  <a:schemeClr val="bg1"/>
                </a:solidFill>
                <a:latin typeface="微软雅黑" panose="020B0503020204020204" charset="-122"/>
                <a:ea typeface="微软雅黑" panose="020B0503020204020204" charset="-122"/>
                <a:cs typeface="微软雅黑" panose="020B0503020204020204" charset="-122"/>
              </a:rPr>
              <a:t>汇报人：开悟思维</a:t>
            </a:r>
            <a:endParaRPr lang="zh-CN" altLang="en-US" sz="1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2" name="文本框 81"/>
          <p:cNvSpPr txBox="1"/>
          <p:nvPr/>
        </p:nvSpPr>
        <p:spPr>
          <a:xfrm>
            <a:off x="4721860" y="4411345"/>
            <a:ext cx="2490470" cy="306705"/>
          </a:xfrm>
          <a:prstGeom prst="rect">
            <a:avLst/>
          </a:prstGeom>
          <a:noFill/>
          <a:ln w="3175">
            <a:noFill/>
          </a:ln>
        </p:spPr>
        <p:txBody>
          <a:bodyPr wrap="square" rtlCol="0">
            <a:spAutoFit/>
          </a:bodyPr>
          <a:lstStyle>
            <a:defPPr>
              <a:defRPr lang="zh-CN"/>
            </a:defPPr>
            <a:lvl1pPr algn="ctr">
              <a:defRPr sz="1400">
                <a:solidFill>
                  <a:schemeClr val="bg1"/>
                </a:solidFill>
              </a:defRPr>
            </a:lvl1pPr>
          </a:lstStyle>
          <a:p>
            <a:pPr algn="ctr"/>
            <a:r>
              <a:rPr lang="zh-CN" altLang="en-US" dirty="0">
                <a:latin typeface="微软雅黑" panose="020B0503020204020204" charset="-122"/>
                <a:ea typeface="微软雅黑" panose="020B0503020204020204" charset="-122"/>
                <a:cs typeface="微软雅黑" panose="020B0503020204020204" charset="-122"/>
              </a:rPr>
              <a:t>汇报时间：</a:t>
            </a:r>
            <a:r>
              <a:rPr lang="en-US" altLang="zh-CN" dirty="0">
                <a:latin typeface="微软雅黑" panose="020B0503020204020204" charset="-122"/>
                <a:ea typeface="微软雅黑" panose="020B0503020204020204" charset="-122"/>
                <a:cs typeface="微软雅黑" panose="020B0503020204020204" charset="-122"/>
              </a:rPr>
              <a:t>20xx.xx</a:t>
            </a:r>
            <a:endParaRPr lang="zh-CN" altLang="en-US" dirty="0">
              <a:latin typeface="微软雅黑" panose="020B0503020204020204" charset="-122"/>
              <a:ea typeface="微软雅黑" panose="020B0503020204020204" charset="-122"/>
              <a:cs typeface="微软雅黑" panose="020B0503020204020204" charset="-122"/>
            </a:endParaRPr>
          </a:p>
        </p:txBody>
      </p:sp>
      <p:cxnSp>
        <p:nvCxnSpPr>
          <p:cNvPr id="83" name="直接连接符 82"/>
          <p:cNvCxnSpPr/>
          <p:nvPr/>
        </p:nvCxnSpPr>
        <p:spPr>
          <a:xfrm>
            <a:off x="2328724" y="3360147"/>
            <a:ext cx="7534552" cy="6350"/>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84" name="等腰三角形 83"/>
          <p:cNvSpPr/>
          <p:nvPr/>
        </p:nvSpPr>
        <p:spPr>
          <a:xfrm flipV="1">
            <a:off x="9715109" y="3360147"/>
            <a:ext cx="148167" cy="12773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5" name="文本框 84"/>
          <p:cNvSpPr txBox="1"/>
          <p:nvPr/>
        </p:nvSpPr>
        <p:spPr>
          <a:xfrm>
            <a:off x="2608152" y="3437112"/>
            <a:ext cx="6975697" cy="275590"/>
          </a:xfrm>
          <a:prstGeom prst="rect">
            <a:avLst/>
          </a:prstGeom>
          <a:noFill/>
        </p:spPr>
        <p:txBody>
          <a:bodyPr wrap="square" rtlCol="0">
            <a:spAutoFit/>
          </a:bodyPr>
          <a:lstStyle/>
          <a:p>
            <a:pPr algn="ctr"/>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Framework Series: Complex Logic Construction PPT Template</a:t>
            </a:r>
            <a:endParaRPr lang="en-US" altLang="zh-CN"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userDrawn="1"/>
        </p:nvSpPr>
        <p:spPr>
          <a:xfrm>
            <a:off x="9388344" y="744017"/>
            <a:ext cx="2357120" cy="92075"/>
          </a:xfrm>
          <a:prstGeom prst="rect">
            <a:avLst/>
          </a:prstGeom>
          <a:noFill/>
        </p:spPr>
        <p:txBody>
          <a:bodyPr wrap="none" lIns="0" tIns="0" rIns="0" bIns="0" rtlCol="0">
            <a:spAutoFit/>
          </a:bodyPr>
          <a:lstStyle/>
          <a:p>
            <a:pPr algn="r">
              <a:lnSpc>
                <a:spcPct val="60000"/>
              </a:lnSpc>
              <a:spcAft>
                <a:spcPts val="600"/>
              </a:spcAft>
            </a:pPr>
            <a:r>
              <a:rPr lang="zh-CN" altLang="en-US" sz="1000" spc="16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仅供学习使用，严禁商用，侵权必究</a:t>
            </a:r>
            <a:endParaRPr lang="zh-CN" altLang="en-US" sz="1000" spc="16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矩形 2"/>
          <p:cNvSpPr/>
          <p:nvPr userDrawn="1"/>
        </p:nvSpPr>
        <p:spPr>
          <a:xfrm>
            <a:off x="9200515" y="521970"/>
            <a:ext cx="2626995" cy="454660"/>
          </a:xfrm>
          <a:prstGeom prst="rect">
            <a:avLst/>
          </a:prstGeom>
          <a:noFill/>
          <a:ln>
            <a:solidFill>
              <a:schemeClr val="bg1"/>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矩形 68"/>
          <p:cNvSpPr/>
          <p:nvPr/>
        </p:nvSpPr>
        <p:spPr>
          <a:xfrm>
            <a:off x="1476693" y="914400"/>
            <a:ext cx="9086215" cy="231775"/>
          </a:xfrm>
          <a:prstGeom prst="rect">
            <a:avLst/>
          </a:prstGeom>
          <a:solidFill>
            <a:schemeClr val="accent1">
              <a:lumMod val="20000"/>
              <a:lumOff val="80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charset="-122"/>
            </a:endParaRPr>
          </a:p>
        </p:txBody>
      </p:sp>
      <p:sp>
        <p:nvSpPr>
          <p:cNvPr id="12" name="文本框 11"/>
          <p:cNvSpPr txBox="1"/>
          <p:nvPr>
            <p:custDataLst>
              <p:tags r:id="rId1"/>
            </p:custDataLst>
          </p:nvPr>
        </p:nvSpPr>
        <p:spPr>
          <a:xfrm flipH="1">
            <a:off x="3674110" y="530860"/>
            <a:ext cx="4691380" cy="491490"/>
          </a:xfrm>
          <a:prstGeom prst="rect">
            <a:avLst/>
          </a:prstGeom>
          <a:noFill/>
        </p:spPr>
        <p:txBody>
          <a:bodyPr wrap="square" rtlCol="0">
            <a:noAutofit/>
          </a:bodyPr>
          <a:lstStyle/>
          <a:p>
            <a:pPr algn="ctr"/>
            <a:r>
              <a:rPr lang="zh-CN" sz="3200" b="1">
                <a:solidFill>
                  <a:schemeClr val="accent1"/>
                </a:solidFill>
                <a:latin typeface="微软雅黑" panose="020B0503020204020204" charset="-122"/>
                <a:ea typeface="微软雅黑" panose="020B0503020204020204" charset="-122"/>
                <a:cs typeface="微软雅黑" panose="020B0503020204020204" charset="-122"/>
              </a:rPr>
              <a:t>本版配色说明</a:t>
            </a:r>
            <a:endParaRPr lang="zh-CN" sz="3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0" name="任意多边形 29"/>
          <p:cNvSpPr/>
          <p:nvPr>
            <p:custDataLst>
              <p:tags r:id="rId2"/>
            </p:custDataLst>
          </p:nvPr>
        </p:nvSpPr>
        <p:spPr>
          <a:xfrm flipH="1">
            <a:off x="9965690" y="-13970"/>
            <a:ext cx="2244725" cy="848995"/>
          </a:xfrm>
          <a:custGeom>
            <a:avLst/>
            <a:gdLst/>
            <a:ahLst/>
            <a:cxnLst>
              <a:cxn ang="3">
                <a:pos x="hc" y="t"/>
              </a:cxn>
              <a:cxn ang="cd2">
                <a:pos x="l" y="vc"/>
              </a:cxn>
              <a:cxn ang="cd4">
                <a:pos x="hc" y="b"/>
              </a:cxn>
              <a:cxn ang="0">
                <a:pos x="r" y="vc"/>
              </a:cxn>
            </a:cxnLst>
            <a:rect l="l" t="t" r="r" b="b"/>
            <a:pathLst>
              <a:path w="3549" h="1050">
                <a:moveTo>
                  <a:pt x="0" y="0"/>
                </a:moveTo>
                <a:lnTo>
                  <a:pt x="3549" y="0"/>
                </a:lnTo>
                <a:lnTo>
                  <a:pt x="1628" y="937"/>
                </a:lnTo>
                <a:cubicBezTo>
                  <a:pt x="1076" y="1207"/>
                  <a:pt x="410" y="977"/>
                  <a:pt x="141" y="425"/>
                </a:cubicBezTo>
                <a:lnTo>
                  <a:pt x="0" y="137"/>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userDrawn="1"/>
        </p:nvPicPr>
        <p:blipFill>
          <a:blip r:embed="rId3"/>
          <a:srcRect r="58023" b="-8235"/>
          <a:stretch>
            <a:fillRect/>
          </a:stretch>
        </p:blipFill>
        <p:spPr>
          <a:xfrm>
            <a:off x="10253980" y="147320"/>
            <a:ext cx="1591310" cy="350520"/>
          </a:xfrm>
          <a:prstGeom prst="rect">
            <a:avLst/>
          </a:prstGeom>
        </p:spPr>
      </p:pic>
      <p:sp>
        <p:nvSpPr>
          <p:cNvPr id="85" name="文本框 84"/>
          <p:cNvSpPr txBox="1"/>
          <p:nvPr/>
        </p:nvSpPr>
        <p:spPr>
          <a:xfrm rot="2580000">
            <a:off x="3877945" y="4537075"/>
            <a:ext cx="274320" cy="706755"/>
          </a:xfrm>
          <a:prstGeom prst="rect">
            <a:avLst/>
          </a:prstGeom>
          <a:noFill/>
        </p:spPr>
        <p:txBody>
          <a:bodyPr wrap="square" rtlCol="0">
            <a:spAutoFit/>
          </a:bodyPr>
          <a:lstStyle/>
          <a:p>
            <a:pPr algn="l"/>
            <a:r>
              <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rPr>
              <a:t>04</a:t>
            </a:r>
            <a:endPar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endParaRPr>
          </a:p>
        </p:txBody>
      </p:sp>
      <p:sp>
        <p:nvSpPr>
          <p:cNvPr id="82" name="文本框 81"/>
          <p:cNvSpPr txBox="1"/>
          <p:nvPr/>
        </p:nvSpPr>
        <p:spPr>
          <a:xfrm rot="19800000">
            <a:off x="3994150" y="3270885"/>
            <a:ext cx="274320" cy="706755"/>
          </a:xfrm>
          <a:prstGeom prst="rect">
            <a:avLst/>
          </a:prstGeom>
          <a:noFill/>
        </p:spPr>
        <p:txBody>
          <a:bodyPr wrap="square" rtlCol="0">
            <a:spAutoFit/>
          </a:bodyPr>
          <a:lstStyle/>
          <a:p>
            <a:pPr algn="l"/>
            <a:r>
              <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rPr>
              <a:t>01</a:t>
            </a:r>
            <a:endPar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endParaRPr>
          </a:p>
        </p:txBody>
      </p:sp>
      <p:sp>
        <p:nvSpPr>
          <p:cNvPr id="84" name="文本框 83"/>
          <p:cNvSpPr txBox="1"/>
          <p:nvPr/>
        </p:nvSpPr>
        <p:spPr>
          <a:xfrm rot="18960000">
            <a:off x="6292215" y="3458210"/>
            <a:ext cx="274320" cy="706755"/>
          </a:xfrm>
          <a:prstGeom prst="rect">
            <a:avLst/>
          </a:prstGeom>
          <a:noFill/>
        </p:spPr>
        <p:txBody>
          <a:bodyPr wrap="square" rtlCol="0">
            <a:spAutoFit/>
          </a:bodyPr>
          <a:lstStyle/>
          <a:p>
            <a:pPr algn="l"/>
            <a:r>
              <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rPr>
              <a:t>03</a:t>
            </a:r>
            <a:endPar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endParaRPr>
          </a:p>
        </p:txBody>
      </p:sp>
      <p:sp>
        <p:nvSpPr>
          <p:cNvPr id="83" name="文本框 82"/>
          <p:cNvSpPr txBox="1"/>
          <p:nvPr/>
        </p:nvSpPr>
        <p:spPr>
          <a:xfrm>
            <a:off x="6394450" y="4545330"/>
            <a:ext cx="274320" cy="706755"/>
          </a:xfrm>
          <a:prstGeom prst="rect">
            <a:avLst/>
          </a:prstGeom>
          <a:noFill/>
        </p:spPr>
        <p:txBody>
          <a:bodyPr wrap="square" rtlCol="0">
            <a:spAutoFit/>
          </a:bodyPr>
          <a:lstStyle/>
          <a:p>
            <a:pPr algn="l"/>
            <a:r>
              <a:rPr lang="en-US" sz="2000" b="1" spc="0" baseline="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rPr>
              <a:t>02</a:t>
            </a:r>
            <a:endParaRPr lang="en-US" sz="2000" b="1" spc="0" baseline="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endParaRPr>
          </a:p>
        </p:txBody>
      </p:sp>
      <p:sp>
        <p:nvSpPr>
          <p:cNvPr id="68" name="任意多边形: 形状 56"/>
          <p:cNvSpPr/>
          <p:nvPr/>
        </p:nvSpPr>
        <p:spPr>
          <a:xfrm>
            <a:off x="5866765" y="3973195"/>
            <a:ext cx="2520315" cy="1205230"/>
          </a:xfrm>
          <a:custGeom>
            <a:avLst/>
            <a:gdLst>
              <a:gd name="connsiteX0" fmla="*/ 323850 w 1082039"/>
              <a:gd name="connsiteY0" fmla="*/ 75248 h 1005840"/>
              <a:gd name="connsiteX1" fmla="*/ 631508 w 1082039"/>
              <a:gd name="connsiteY1" fmla="*/ 420053 h 1005840"/>
              <a:gd name="connsiteX2" fmla="*/ 1038225 w 1082039"/>
              <a:gd name="connsiteY2" fmla="*/ 681990 h 1005840"/>
              <a:gd name="connsiteX3" fmla="*/ 1082040 w 1082039"/>
              <a:gd name="connsiteY3" fmla="*/ 864870 h 1005840"/>
              <a:gd name="connsiteX4" fmla="*/ 932498 w 1082039"/>
              <a:gd name="connsiteY4" fmla="*/ 1005840 h 1005840"/>
              <a:gd name="connsiteX5" fmla="*/ 168592 w 1082039"/>
              <a:gd name="connsiteY5" fmla="*/ 423863 h 1005840"/>
              <a:gd name="connsiteX6" fmla="*/ 120967 w 1082039"/>
              <a:gd name="connsiteY6" fmla="*/ 363855 h 1005840"/>
              <a:gd name="connsiteX7" fmla="*/ 0 w 1082039"/>
              <a:gd name="connsiteY7" fmla="*/ 205740 h 1005840"/>
              <a:gd name="connsiteX8" fmla="*/ 193358 w 1082039"/>
              <a:gd name="connsiteY8" fmla="*/ 180023 h 1005840"/>
              <a:gd name="connsiteX9" fmla="*/ 267652 w 1082039"/>
              <a:gd name="connsiteY9" fmla="*/ 0 h 1005840"/>
              <a:gd name="connsiteX10" fmla="*/ 323850 w 1082039"/>
              <a:gd name="connsiteY10" fmla="*/ 75248 h 1005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07" h="2491">
                <a:moveTo>
                  <a:pt x="763" y="177"/>
                </a:moveTo>
                <a:cubicBezTo>
                  <a:pt x="1281" y="766"/>
                  <a:pt x="1555" y="1285"/>
                  <a:pt x="2589" y="1650"/>
                </a:cubicBezTo>
                <a:lnTo>
                  <a:pt x="2589" y="1649"/>
                </a:lnTo>
                <a:cubicBezTo>
                  <a:pt x="2688" y="1672"/>
                  <a:pt x="2805" y="1685"/>
                  <a:pt x="2903" y="1685"/>
                </a:cubicBezTo>
                <a:cubicBezTo>
                  <a:pt x="3697" y="1709"/>
                  <a:pt x="4354" y="1016"/>
                  <a:pt x="4399" y="319"/>
                </a:cubicBezTo>
                <a:lnTo>
                  <a:pt x="4810" y="81"/>
                </a:lnTo>
                <a:lnTo>
                  <a:pt x="5207" y="310"/>
                </a:lnTo>
                <a:cubicBezTo>
                  <a:pt x="5177" y="1541"/>
                  <a:pt x="4023" y="2520"/>
                  <a:pt x="2903" y="2490"/>
                </a:cubicBezTo>
                <a:cubicBezTo>
                  <a:pt x="2848" y="2493"/>
                  <a:pt x="2633" y="2487"/>
                  <a:pt x="2340" y="2414"/>
                </a:cubicBezTo>
                <a:lnTo>
                  <a:pt x="2341" y="2412"/>
                </a:lnTo>
                <a:lnTo>
                  <a:pt x="2197" y="2368"/>
                </a:lnTo>
                <a:lnTo>
                  <a:pt x="2196" y="2369"/>
                </a:lnTo>
                <a:cubicBezTo>
                  <a:pt x="445" y="1509"/>
                  <a:pt x="153" y="565"/>
                  <a:pt x="285" y="857"/>
                </a:cubicBezTo>
                <a:cubicBezTo>
                  <a:pt x="217" y="771"/>
                  <a:pt x="139" y="668"/>
                  <a:pt x="81" y="591"/>
                </a:cubicBezTo>
                <a:cubicBezTo>
                  <a:pt x="55" y="557"/>
                  <a:pt x="19" y="509"/>
                  <a:pt x="0" y="485"/>
                </a:cubicBezTo>
                <a:lnTo>
                  <a:pt x="455" y="424"/>
                </a:lnTo>
                <a:lnTo>
                  <a:pt x="630" y="0"/>
                </a:lnTo>
                <a:cubicBezTo>
                  <a:pt x="672" y="57"/>
                  <a:pt x="722" y="124"/>
                  <a:pt x="763" y="177"/>
                </a:cubicBezTo>
                <a:close/>
              </a:path>
            </a:pathLst>
          </a:custGeom>
          <a:solidFill>
            <a:srgbClr val="9A3123">
              <a:lumMod val="40000"/>
              <a:lumOff val="60000"/>
            </a:srgbClr>
          </a:solidFill>
          <a:ln w="9525" cap="flat">
            <a:noFill/>
            <a:prstDash val="solid"/>
            <a:miter/>
          </a:ln>
        </p:spPr>
        <p:txBody>
          <a:bodyPr wrap="square" rtlCol="0" anchor="ctr">
            <a:noAutofit/>
          </a:bodyPr>
          <a:lstStyle/>
          <a:p>
            <a:endParaRPr lang="en-US" sz="2000">
              <a:latin typeface="微软雅黑" panose="020B0503020204020204" charset="-122"/>
              <a:ea typeface="微软雅黑" panose="020B0503020204020204" charset="-122"/>
              <a:cs typeface="微软雅黑" panose="020B0503020204020204" charset="-122"/>
            </a:endParaRPr>
          </a:p>
        </p:txBody>
      </p:sp>
      <p:sp>
        <p:nvSpPr>
          <p:cNvPr id="2" name="任意多边形: 形状 57"/>
          <p:cNvSpPr/>
          <p:nvPr/>
        </p:nvSpPr>
        <p:spPr>
          <a:xfrm>
            <a:off x="5991860" y="2943860"/>
            <a:ext cx="2396490" cy="1115695"/>
          </a:xfrm>
          <a:custGeom>
            <a:avLst/>
            <a:gdLst>
              <a:gd name="connsiteX0" fmla="*/ 1286828 w 1286827"/>
              <a:gd name="connsiteY0" fmla="*/ 971550 h 972502"/>
              <a:gd name="connsiteX1" fmla="*/ 1117283 w 1286827"/>
              <a:gd name="connsiteY1" fmla="*/ 873443 h 972502"/>
              <a:gd name="connsiteX2" fmla="*/ 944880 w 1286827"/>
              <a:gd name="connsiteY2" fmla="*/ 972503 h 972502"/>
              <a:gd name="connsiteX3" fmla="*/ 307658 w 1286827"/>
              <a:gd name="connsiteY3" fmla="*/ 341948 h 972502"/>
              <a:gd name="connsiteX4" fmla="*/ 147638 w 1286827"/>
              <a:gd name="connsiteY4" fmla="*/ 366713 h 972502"/>
              <a:gd name="connsiteX5" fmla="*/ 0 w 1286827"/>
              <a:gd name="connsiteY5" fmla="*/ 226695 h 972502"/>
              <a:gd name="connsiteX6" fmla="*/ 44768 w 1286827"/>
              <a:gd name="connsiteY6" fmla="*/ 40958 h 972502"/>
              <a:gd name="connsiteX7" fmla="*/ 307658 w 1286827"/>
              <a:gd name="connsiteY7" fmla="*/ 0 h 972502"/>
              <a:gd name="connsiteX8" fmla="*/ 1286828 w 1286827"/>
              <a:gd name="connsiteY8" fmla="*/ 971550 h 972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1" h="2306">
                <a:moveTo>
                  <a:pt x="4951" y="2288"/>
                </a:moveTo>
                <a:lnTo>
                  <a:pt x="4552" y="2057"/>
                </a:lnTo>
                <a:lnTo>
                  <a:pt x="4146" y="2290"/>
                </a:lnTo>
                <a:cubicBezTo>
                  <a:pt x="4162" y="1456"/>
                  <a:pt x="3393" y="785"/>
                  <a:pt x="2645" y="805"/>
                </a:cubicBezTo>
                <a:cubicBezTo>
                  <a:pt x="2535" y="804"/>
                  <a:pt x="2401" y="826"/>
                  <a:pt x="2307" y="852"/>
                </a:cubicBezTo>
                <a:lnTo>
                  <a:pt x="2308" y="853"/>
                </a:lnTo>
                <a:lnTo>
                  <a:pt x="2128" y="915"/>
                </a:lnTo>
                <a:lnTo>
                  <a:pt x="2128" y="915"/>
                </a:lnTo>
                <a:cubicBezTo>
                  <a:pt x="1466" y="1164"/>
                  <a:pt x="798" y="1908"/>
                  <a:pt x="505" y="2305"/>
                </a:cubicBezTo>
                <a:cubicBezTo>
                  <a:pt x="483" y="2276"/>
                  <a:pt x="455" y="2240"/>
                  <a:pt x="436" y="2215"/>
                </a:cubicBezTo>
                <a:cubicBezTo>
                  <a:pt x="415" y="2186"/>
                  <a:pt x="388" y="2151"/>
                  <a:pt x="370" y="2128"/>
                </a:cubicBezTo>
                <a:cubicBezTo>
                  <a:pt x="342" y="2088"/>
                  <a:pt x="307" y="2043"/>
                  <a:pt x="278" y="2007"/>
                </a:cubicBezTo>
                <a:cubicBezTo>
                  <a:pt x="188" y="1885"/>
                  <a:pt x="85" y="1748"/>
                  <a:pt x="0" y="1639"/>
                </a:cubicBezTo>
                <a:lnTo>
                  <a:pt x="13" y="1627"/>
                </a:lnTo>
                <a:cubicBezTo>
                  <a:pt x="372" y="1159"/>
                  <a:pt x="1162" y="404"/>
                  <a:pt x="1865" y="154"/>
                </a:cubicBezTo>
                <a:lnTo>
                  <a:pt x="1865" y="152"/>
                </a:lnTo>
                <a:lnTo>
                  <a:pt x="2025" y="97"/>
                </a:lnTo>
                <a:lnTo>
                  <a:pt x="2025" y="96"/>
                </a:lnTo>
                <a:lnTo>
                  <a:pt x="2031" y="95"/>
                </a:lnTo>
                <a:lnTo>
                  <a:pt x="2045" y="90"/>
                </a:lnTo>
                <a:lnTo>
                  <a:pt x="2045" y="91"/>
                </a:lnTo>
                <a:cubicBezTo>
                  <a:pt x="2234" y="33"/>
                  <a:pt x="2458" y="-1"/>
                  <a:pt x="2645" y="0"/>
                </a:cubicBezTo>
                <a:cubicBezTo>
                  <a:pt x="3928" y="-37"/>
                  <a:pt x="4972" y="1137"/>
                  <a:pt x="4951" y="2288"/>
                </a:cubicBezTo>
                <a:close/>
              </a:path>
            </a:pathLst>
          </a:custGeom>
          <a:solidFill>
            <a:srgbClr val="9A3123"/>
          </a:solidFill>
          <a:ln w="9525" cap="flat">
            <a:noFill/>
            <a:prstDash val="solid"/>
            <a:miter/>
          </a:ln>
        </p:spPr>
        <p:txBody>
          <a:bodyPr wrap="square" rtlCol="0" anchor="ctr">
            <a:noAutofit/>
          </a:bodyPr>
          <a:lstStyle/>
          <a:p>
            <a:endParaRPr lang="en-US" sz="2000">
              <a:latin typeface="微软雅黑" panose="020B0503020204020204" charset="-122"/>
              <a:ea typeface="微软雅黑" panose="020B0503020204020204" charset="-122"/>
              <a:cs typeface="微软雅黑" panose="020B0503020204020204" charset="-122"/>
            </a:endParaRPr>
          </a:p>
        </p:txBody>
      </p:sp>
      <p:sp>
        <p:nvSpPr>
          <p:cNvPr id="70" name="任意多边形: 形状 64"/>
          <p:cNvSpPr/>
          <p:nvPr/>
        </p:nvSpPr>
        <p:spPr>
          <a:xfrm>
            <a:off x="3610610" y="2945130"/>
            <a:ext cx="2518410" cy="1204595"/>
          </a:xfrm>
          <a:custGeom>
            <a:avLst/>
            <a:gdLst>
              <a:gd name="connsiteX0" fmla="*/ 1247775 w 1292542"/>
              <a:gd name="connsiteY0" fmla="*/ 40005 h 973454"/>
              <a:gd name="connsiteX1" fmla="*/ 1292543 w 1292542"/>
              <a:gd name="connsiteY1" fmla="*/ 226695 h 973454"/>
              <a:gd name="connsiteX2" fmla="*/ 1145858 w 1292542"/>
              <a:gd name="connsiteY2" fmla="*/ 364808 h 973454"/>
              <a:gd name="connsiteX3" fmla="*/ 980123 w 1292542"/>
              <a:gd name="connsiteY3" fmla="*/ 340995 h 973454"/>
              <a:gd name="connsiteX4" fmla="*/ 342900 w 1292542"/>
              <a:gd name="connsiteY4" fmla="*/ 968693 h 973454"/>
              <a:gd name="connsiteX5" fmla="*/ 174308 w 1292542"/>
              <a:gd name="connsiteY5" fmla="*/ 872490 h 973454"/>
              <a:gd name="connsiteX6" fmla="*/ 0 w 1292542"/>
              <a:gd name="connsiteY6" fmla="*/ 973455 h 973454"/>
              <a:gd name="connsiteX7" fmla="*/ 979170 w 1292542"/>
              <a:gd name="connsiteY7" fmla="*/ 0 h 973454"/>
              <a:gd name="connsiteX8" fmla="*/ 1247775 w 1292542"/>
              <a:gd name="connsiteY8" fmla="*/ 40005 h 97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03" h="2488">
                <a:moveTo>
                  <a:pt x="2700" y="859"/>
                </a:moveTo>
                <a:lnTo>
                  <a:pt x="2699" y="860"/>
                </a:lnTo>
                <a:cubicBezTo>
                  <a:pt x="2579" y="823"/>
                  <a:pt x="2423" y="803"/>
                  <a:pt x="2314" y="804"/>
                </a:cubicBezTo>
                <a:lnTo>
                  <a:pt x="2308" y="804"/>
                </a:lnTo>
                <a:lnTo>
                  <a:pt x="2269" y="803"/>
                </a:lnTo>
                <a:cubicBezTo>
                  <a:pt x="1439" y="779"/>
                  <a:pt x="778" y="1620"/>
                  <a:pt x="808" y="2282"/>
                </a:cubicBezTo>
                <a:lnTo>
                  <a:pt x="411" y="2055"/>
                </a:lnTo>
                <a:lnTo>
                  <a:pt x="1" y="2293"/>
                </a:lnTo>
                <a:lnTo>
                  <a:pt x="0" y="2232"/>
                </a:lnTo>
                <a:cubicBezTo>
                  <a:pt x="-28" y="974"/>
                  <a:pt x="1242" y="-29"/>
                  <a:pt x="2251" y="0"/>
                </a:cubicBezTo>
                <a:lnTo>
                  <a:pt x="2306" y="1"/>
                </a:lnTo>
                <a:lnTo>
                  <a:pt x="2316" y="1"/>
                </a:lnTo>
                <a:lnTo>
                  <a:pt x="2326" y="1"/>
                </a:lnTo>
                <a:cubicBezTo>
                  <a:pt x="2526" y="-1"/>
                  <a:pt x="2770" y="45"/>
                  <a:pt x="2915" y="88"/>
                </a:cubicBezTo>
                <a:lnTo>
                  <a:pt x="2914" y="85"/>
                </a:lnTo>
                <a:lnTo>
                  <a:pt x="3087" y="141"/>
                </a:lnTo>
                <a:lnTo>
                  <a:pt x="3087" y="142"/>
                </a:lnTo>
                <a:lnTo>
                  <a:pt x="3087" y="142"/>
                </a:lnTo>
                <a:cubicBezTo>
                  <a:pt x="4534" y="854"/>
                  <a:pt x="4907" y="1681"/>
                  <a:pt x="4924" y="1635"/>
                </a:cubicBezTo>
                <a:cubicBezTo>
                  <a:pt x="5017" y="1755"/>
                  <a:pt x="5119" y="1892"/>
                  <a:pt x="5203" y="2003"/>
                </a:cubicBezTo>
                <a:lnTo>
                  <a:pt x="5028" y="2427"/>
                </a:lnTo>
                <a:lnTo>
                  <a:pt x="4572" y="2488"/>
                </a:lnTo>
                <a:cubicBezTo>
                  <a:pt x="4528" y="2432"/>
                  <a:pt x="4481" y="2370"/>
                  <a:pt x="4442" y="2319"/>
                </a:cubicBezTo>
                <a:cubicBezTo>
                  <a:pt x="4169" y="1982"/>
                  <a:pt x="3707" y="1300"/>
                  <a:pt x="2841" y="907"/>
                </a:cubicBezTo>
                <a:lnTo>
                  <a:pt x="2864" y="884"/>
                </a:lnTo>
                <a:lnTo>
                  <a:pt x="2839" y="904"/>
                </a:lnTo>
                <a:lnTo>
                  <a:pt x="2700" y="859"/>
                </a:lnTo>
                <a:close/>
              </a:path>
            </a:pathLst>
          </a:custGeom>
          <a:solidFill>
            <a:srgbClr val="1C4274"/>
          </a:solidFill>
          <a:ln w="9525" cap="flat">
            <a:noFill/>
            <a:prstDash val="solid"/>
            <a:miter/>
          </a:ln>
        </p:spPr>
        <p:txBody>
          <a:bodyPr wrap="square" rtlCol="0" anchor="ctr">
            <a:noAutofit/>
          </a:bodyPr>
          <a:lstStyle/>
          <a:p>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71" name="任意多边形: 形状 65"/>
          <p:cNvSpPr/>
          <p:nvPr/>
        </p:nvSpPr>
        <p:spPr>
          <a:xfrm>
            <a:off x="3610610" y="4011930"/>
            <a:ext cx="2395220" cy="1166495"/>
          </a:xfrm>
          <a:custGeom>
            <a:avLst/>
            <a:gdLst>
              <a:gd name="connsiteX0" fmla="*/ 1073468 w 1220152"/>
              <a:gd name="connsiteY0" fmla="*/ 849630 h 1022985"/>
              <a:gd name="connsiteX1" fmla="*/ 1220153 w 1220152"/>
              <a:gd name="connsiteY1" fmla="*/ 988695 h 1022985"/>
              <a:gd name="connsiteX2" fmla="*/ 978218 w 1220152"/>
              <a:gd name="connsiteY2" fmla="*/ 1022985 h 1022985"/>
              <a:gd name="connsiteX3" fmla="*/ 0 w 1220152"/>
              <a:gd name="connsiteY3" fmla="*/ 100013 h 1022985"/>
              <a:gd name="connsiteX4" fmla="*/ 173355 w 1220152"/>
              <a:gd name="connsiteY4" fmla="*/ 0 h 1022985"/>
              <a:gd name="connsiteX5" fmla="*/ 342900 w 1220152"/>
              <a:gd name="connsiteY5" fmla="*/ 97155 h 1022985"/>
              <a:gd name="connsiteX6" fmla="*/ 978218 w 1220152"/>
              <a:gd name="connsiteY6" fmla="*/ 680085 h 1022985"/>
              <a:gd name="connsiteX7" fmla="*/ 1117283 w 1220152"/>
              <a:gd name="connsiteY7" fmla="*/ 661035 h 1022985"/>
              <a:gd name="connsiteX8" fmla="*/ 1073468 w 1220152"/>
              <a:gd name="connsiteY8" fmla="*/ 849630 h 1022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48" h="2410">
                <a:moveTo>
                  <a:pt x="2554" y="2393"/>
                </a:moveTo>
                <a:cubicBezTo>
                  <a:pt x="2489" y="2402"/>
                  <a:pt x="2368" y="2410"/>
                  <a:pt x="2304" y="2409"/>
                </a:cubicBezTo>
                <a:cubicBezTo>
                  <a:pt x="1059" y="2447"/>
                  <a:pt x="34" y="1340"/>
                  <a:pt x="0" y="236"/>
                </a:cubicBezTo>
                <a:lnTo>
                  <a:pt x="408" y="0"/>
                </a:lnTo>
                <a:lnTo>
                  <a:pt x="808" y="229"/>
                </a:lnTo>
                <a:cubicBezTo>
                  <a:pt x="849" y="1011"/>
                  <a:pt x="1589" y="1620"/>
                  <a:pt x="2304" y="1602"/>
                </a:cubicBezTo>
                <a:cubicBezTo>
                  <a:pt x="2318" y="1602"/>
                  <a:pt x="2346" y="1601"/>
                  <a:pt x="2347" y="1601"/>
                </a:cubicBezTo>
                <a:lnTo>
                  <a:pt x="2347" y="1600"/>
                </a:lnTo>
                <a:cubicBezTo>
                  <a:pt x="2489" y="1593"/>
                  <a:pt x="2671" y="1553"/>
                  <a:pt x="2783" y="1510"/>
                </a:cubicBezTo>
                <a:lnTo>
                  <a:pt x="2783" y="1509"/>
                </a:lnTo>
                <a:cubicBezTo>
                  <a:pt x="2956" y="1442"/>
                  <a:pt x="2919" y="1447"/>
                  <a:pt x="2996" y="1409"/>
                </a:cubicBezTo>
                <a:lnTo>
                  <a:pt x="2997" y="1416"/>
                </a:lnTo>
                <a:cubicBezTo>
                  <a:pt x="3553" y="1154"/>
                  <a:pt x="4190" y="464"/>
                  <a:pt x="4446" y="109"/>
                </a:cubicBezTo>
                <a:cubicBezTo>
                  <a:pt x="4467" y="137"/>
                  <a:pt x="4493" y="171"/>
                  <a:pt x="4510" y="194"/>
                </a:cubicBezTo>
                <a:cubicBezTo>
                  <a:pt x="4531" y="221"/>
                  <a:pt x="4556" y="255"/>
                  <a:pt x="4573" y="277"/>
                </a:cubicBezTo>
                <a:cubicBezTo>
                  <a:pt x="4597" y="310"/>
                  <a:pt x="4626" y="348"/>
                  <a:pt x="4648" y="376"/>
                </a:cubicBezTo>
                <a:cubicBezTo>
                  <a:pt x="4655" y="385"/>
                  <a:pt x="4658" y="389"/>
                  <a:pt x="4668" y="402"/>
                </a:cubicBezTo>
                <a:cubicBezTo>
                  <a:pt x="4759" y="526"/>
                  <a:pt x="4862" y="661"/>
                  <a:pt x="4948" y="771"/>
                </a:cubicBezTo>
                <a:lnTo>
                  <a:pt x="4939" y="780"/>
                </a:lnTo>
                <a:cubicBezTo>
                  <a:pt x="4606" y="1213"/>
                  <a:pt x="3902" y="1899"/>
                  <a:pt x="3262" y="2179"/>
                </a:cubicBezTo>
                <a:lnTo>
                  <a:pt x="3265" y="2181"/>
                </a:lnTo>
                <a:cubicBezTo>
                  <a:pt x="2845" y="2379"/>
                  <a:pt x="2582" y="2390"/>
                  <a:pt x="2554" y="2395"/>
                </a:cubicBezTo>
                <a:lnTo>
                  <a:pt x="2554" y="2393"/>
                </a:lnTo>
                <a:close/>
              </a:path>
            </a:pathLst>
          </a:custGeom>
          <a:solidFill>
            <a:srgbClr val="1C4274">
              <a:lumMod val="60000"/>
              <a:lumOff val="40000"/>
            </a:srgbClr>
          </a:solidFill>
          <a:ln w="9525" cap="flat">
            <a:noFill/>
            <a:prstDash val="solid"/>
            <a:miter/>
          </a:ln>
        </p:spPr>
        <p:txBody>
          <a:bodyPr wrap="square" rtlCol="0" anchor="ctr">
            <a:noAutofit/>
          </a:bodyPr>
          <a:lstStyle/>
          <a:p>
            <a:endParaRPr lang="en-US" sz="2000">
              <a:latin typeface="微软雅黑" panose="020B0503020204020204" charset="-122"/>
              <a:ea typeface="微软雅黑" panose="020B0503020204020204" charset="-122"/>
              <a:cs typeface="微软雅黑" panose="020B0503020204020204" charset="-122"/>
            </a:endParaRPr>
          </a:p>
        </p:txBody>
      </p:sp>
      <p:sp>
        <p:nvSpPr>
          <p:cNvPr id="78" name="文本框 77"/>
          <p:cNvSpPr txBox="1"/>
          <p:nvPr/>
        </p:nvSpPr>
        <p:spPr>
          <a:xfrm>
            <a:off x="6209030" y="3173730"/>
            <a:ext cx="2220595" cy="2220595"/>
          </a:xfrm>
          <a:prstGeom prst="rect">
            <a:avLst/>
          </a:prstGeom>
          <a:noFill/>
        </p:spPr>
        <p:txBody>
          <a:bodyPr wrap="squar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整合：全域数据资产化与智能中台</a:t>
            </a:r>
            <a:endPar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7" name="文本框 76"/>
          <p:cNvSpPr txBox="1"/>
          <p:nvPr/>
        </p:nvSpPr>
        <p:spPr>
          <a:xfrm rot="600000">
            <a:off x="3634105" y="3187065"/>
            <a:ext cx="2220595" cy="2220595"/>
          </a:xfrm>
          <a:prstGeom prst="rect">
            <a:avLst/>
          </a:prstGeom>
          <a:noFill/>
        </p:spPr>
        <p:txBody>
          <a:bodyPr wrap="squar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启动：系统化工具基础构建</a:t>
            </a:r>
            <a:endPar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9" name="文本框 78"/>
          <p:cNvSpPr txBox="1"/>
          <p:nvPr/>
        </p:nvSpPr>
        <p:spPr>
          <a:xfrm rot="21240000">
            <a:off x="3614420" y="2780665"/>
            <a:ext cx="2159000" cy="2159000"/>
          </a:xfrm>
          <a:prstGeom prst="rect">
            <a:avLst/>
          </a:prstGeom>
          <a:noFill/>
        </p:spPr>
        <p:txBody>
          <a:bodyPr wrap="square">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升级：数据驱动的全域增长</a:t>
            </a:r>
            <a:endParaRPr kumimoji="0" lang="zh-CN"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6" name="文本框 85"/>
          <p:cNvSpPr txBox="1"/>
          <p:nvPr/>
        </p:nvSpPr>
        <p:spPr>
          <a:xfrm rot="21360000">
            <a:off x="6177280" y="2766060"/>
            <a:ext cx="2159000" cy="2159000"/>
          </a:xfrm>
          <a:prstGeom prst="rect">
            <a:avLst/>
          </a:prstGeom>
          <a:noFill/>
        </p:spPr>
        <p:txBody>
          <a:bodyPr wrap="square">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深化：全域融合与体验升级</a:t>
            </a:r>
            <a:endPar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3228340" y="1597660"/>
            <a:ext cx="5621655" cy="475615"/>
          </a:xfrm>
          <a:prstGeom prst="rect">
            <a:avLst/>
          </a:prstGeom>
          <a:noFill/>
        </p:spPr>
        <p:txBody>
          <a:bodyPr wrap="square" rtlCol="0">
            <a:spAutoFit/>
          </a:bodyPr>
          <a:lstStyle/>
          <a:p>
            <a:pPr algn="ctr"/>
            <a:r>
              <a:rPr lang="zh-CN" altLang="en-US" sz="2500" b="1">
                <a:solidFill>
                  <a:srgbClr val="C00000"/>
                </a:solidFill>
                <a:latin typeface="微软雅黑" panose="020B0503020204020204" charset="-122"/>
                <a:ea typeface="微软雅黑" panose="020B0503020204020204" charset="-122"/>
                <a:cs typeface="微软雅黑" panose="020B0503020204020204" charset="-122"/>
              </a:rPr>
              <a:t>配色⑧：</a:t>
            </a:r>
            <a:r>
              <a:rPr lang="zh-CN" sz="2500" b="1">
                <a:solidFill>
                  <a:srgbClr val="C00000"/>
                </a:solidFill>
                <a:latin typeface="微软雅黑" panose="020B0503020204020204" charset="-122"/>
                <a:ea typeface="微软雅黑" panose="020B0503020204020204" charset="-122"/>
                <a:cs typeface="微软雅黑" panose="020B0503020204020204" charset="-122"/>
              </a:rPr>
              <a:t>商务纯蓝色</a:t>
            </a:r>
            <a:endParaRPr lang="zh-CN" sz="2500"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1" name="任意多边形 10"/>
          <p:cNvSpPr/>
          <p:nvPr/>
        </p:nvSpPr>
        <p:spPr>
          <a:xfrm>
            <a:off x="2637155" y="2799080"/>
            <a:ext cx="3343910" cy="3589020"/>
          </a:xfrm>
          <a:custGeom>
            <a:avLst/>
            <a:gdLst>
              <a:gd name="adj" fmla="val 6506"/>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520" h="9467">
                <a:moveTo>
                  <a:pt x="0" y="616"/>
                </a:moveTo>
                <a:cubicBezTo>
                  <a:pt x="-11" y="270"/>
                  <a:pt x="306" y="-8"/>
                  <a:pt x="616" y="0"/>
                </a:cubicBezTo>
                <a:lnTo>
                  <a:pt x="8520" y="0"/>
                </a:lnTo>
                <a:lnTo>
                  <a:pt x="8520" y="9467"/>
                </a:lnTo>
                <a:lnTo>
                  <a:pt x="616" y="9467"/>
                </a:lnTo>
                <a:cubicBezTo>
                  <a:pt x="270" y="9478"/>
                  <a:pt x="-8" y="9161"/>
                  <a:pt x="0" y="8851"/>
                </a:cubicBezTo>
                <a:lnTo>
                  <a:pt x="0" y="616"/>
                </a:lnTo>
                <a:close/>
              </a:path>
            </a:pathLst>
          </a:custGeom>
          <a:solidFill>
            <a:schemeClr val="accent1"/>
          </a:solidFill>
          <a:ln w="762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14" name="任意多边形 13"/>
          <p:cNvSpPr/>
          <p:nvPr/>
        </p:nvSpPr>
        <p:spPr>
          <a:xfrm flipH="1">
            <a:off x="5980430" y="2799080"/>
            <a:ext cx="3370580" cy="3589020"/>
          </a:xfrm>
          <a:custGeom>
            <a:avLst/>
            <a:gdLst>
              <a:gd name="adj" fmla="val 6506"/>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520" h="9467">
                <a:moveTo>
                  <a:pt x="0" y="616"/>
                </a:moveTo>
                <a:cubicBezTo>
                  <a:pt x="-11" y="270"/>
                  <a:pt x="306" y="-8"/>
                  <a:pt x="616" y="0"/>
                </a:cubicBezTo>
                <a:lnTo>
                  <a:pt x="8520" y="0"/>
                </a:lnTo>
                <a:lnTo>
                  <a:pt x="8520" y="9467"/>
                </a:lnTo>
                <a:lnTo>
                  <a:pt x="616" y="9467"/>
                </a:lnTo>
                <a:cubicBezTo>
                  <a:pt x="270" y="9478"/>
                  <a:pt x="-8" y="9161"/>
                  <a:pt x="0" y="8851"/>
                </a:cubicBezTo>
                <a:lnTo>
                  <a:pt x="0" y="616"/>
                </a:lnTo>
                <a:close/>
              </a:path>
            </a:pathLst>
          </a:custGeom>
          <a:solidFill>
            <a:schemeClr val="accent1">
              <a:lumMod val="60000"/>
              <a:lumOff val="40000"/>
            </a:schemeClr>
          </a:solidFill>
          <a:ln w="762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15" name="十二边形 14"/>
          <p:cNvSpPr/>
          <p:nvPr/>
        </p:nvSpPr>
        <p:spPr>
          <a:xfrm>
            <a:off x="5173345" y="3685540"/>
            <a:ext cx="1684020" cy="1684020"/>
          </a:xfrm>
          <a:prstGeom prst="dodecagon">
            <a:avLst/>
          </a:prstGeom>
          <a:solidFill>
            <a:schemeClr val="accent4"/>
          </a:solidFill>
          <a:ln w="762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3227705" y="4276725"/>
            <a:ext cx="1700530" cy="706755"/>
          </a:xfrm>
          <a:prstGeom prst="rect">
            <a:avLst/>
          </a:prstGeom>
          <a:noFill/>
        </p:spPr>
        <p:txBody>
          <a:bodyPr wrap="square" rtlCol="0">
            <a:spAutoFit/>
          </a:bodyPr>
          <a:lstStyle/>
          <a:p>
            <a:pPr algn="ctr"/>
            <a:r>
              <a:rPr lang="zh-CN" altLang="en-US" sz="2000" b="1">
                <a:solidFill>
                  <a:srgbClr val="FFFFFF"/>
                </a:solidFill>
                <a:latin typeface="微软雅黑" panose="020B0503020204020204" charset="-122"/>
                <a:ea typeface="微软雅黑" panose="020B0503020204020204" charset="-122"/>
                <a:cs typeface="微软雅黑" panose="020B0503020204020204" charset="-122"/>
                <a:sym typeface="+mn-ea"/>
              </a:rPr>
              <a:t>深海蓝</a:t>
            </a:r>
            <a:r>
              <a:rPr lang="en-US" altLang="zh-CN" sz="2000">
                <a:solidFill>
                  <a:srgbClr val="FFFFFF"/>
                </a:solidFill>
                <a:latin typeface="微软雅黑" panose="020B0503020204020204" charset="-122"/>
                <a:ea typeface="微软雅黑" panose="020B0503020204020204" charset="-122"/>
                <a:cs typeface="微软雅黑" panose="020B0503020204020204" charset="-122"/>
                <a:sym typeface="+mn-ea"/>
              </a:rPr>
              <a:t>#</a:t>
            </a:r>
            <a:r>
              <a:rPr lang="en-US" altLang="zh-CN" sz="2000">
                <a:solidFill>
                  <a:schemeClr val="bg1"/>
                </a:solidFill>
                <a:latin typeface="微软雅黑" panose="020B0503020204020204" charset="-122"/>
                <a:ea typeface="微软雅黑" panose="020B0503020204020204" charset="-122"/>
                <a:cs typeface="微软雅黑" panose="020B0503020204020204" charset="-122"/>
              </a:rPr>
              <a:t>1C4274</a:t>
            </a:r>
            <a:endParaRPr lang="en-US" altLang="zh-CN" sz="2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7" name="文本框 16"/>
          <p:cNvSpPr txBox="1"/>
          <p:nvPr/>
        </p:nvSpPr>
        <p:spPr>
          <a:xfrm>
            <a:off x="7047230" y="4276725"/>
            <a:ext cx="1833245" cy="706755"/>
          </a:xfrm>
          <a:prstGeom prst="rect">
            <a:avLst/>
          </a:prstGeom>
          <a:noFill/>
        </p:spPr>
        <p:txBody>
          <a:bodyPr wrap="square" rtlCol="0">
            <a:spAutoFit/>
          </a:bodyPr>
          <a:lstStyle/>
          <a:p>
            <a:pPr lvl="0" algn="ctr">
              <a:buClrTx/>
              <a:buSzTx/>
              <a:buFontTx/>
            </a:pPr>
            <a:r>
              <a:rPr lang="zh-CN" altLang="en-US" sz="2000" b="1">
                <a:solidFill>
                  <a:srgbClr val="FFFFFF"/>
                </a:solidFill>
                <a:latin typeface="微软雅黑" panose="020B0503020204020204" charset="-122"/>
                <a:ea typeface="微软雅黑" panose="020B0503020204020204" charset="-122"/>
                <a:cs typeface="微软雅黑" panose="020B0503020204020204" charset="-122"/>
                <a:sym typeface="+mn-ea"/>
              </a:rPr>
              <a:t>亮蓝色</a:t>
            </a:r>
            <a:endParaRPr lang="zh-CN" altLang="en-US" sz="2000" b="1">
              <a:solidFill>
                <a:srgbClr val="FFFFFF"/>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2000">
                <a:solidFill>
                  <a:srgbClr val="FFFFFF"/>
                </a:solidFill>
                <a:latin typeface="微软雅黑" panose="020B0503020204020204" charset="-122"/>
                <a:ea typeface="微软雅黑" panose="020B0503020204020204" charset="-122"/>
                <a:cs typeface="微软雅黑" panose="020B0503020204020204" charset="-122"/>
                <a:sym typeface="+mn-ea"/>
              </a:rPr>
              <a:t>#</a:t>
            </a:r>
            <a:r>
              <a:rPr lang="en-US" altLang="zh-CN" sz="2000">
                <a:solidFill>
                  <a:schemeClr val="bg1"/>
                </a:solidFill>
                <a:latin typeface="微软雅黑" panose="020B0503020204020204" charset="-122"/>
                <a:ea typeface="微软雅黑" panose="020B0503020204020204" charset="-122"/>
                <a:cs typeface="微软雅黑" panose="020B0503020204020204" charset="-122"/>
                <a:sym typeface="+mn-ea"/>
              </a:rPr>
              <a:t>4E88D4</a:t>
            </a:r>
            <a:endParaRPr lang="en-US" altLang="zh-CN" sz="20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8" name="文本框 17"/>
          <p:cNvSpPr txBox="1"/>
          <p:nvPr/>
        </p:nvSpPr>
        <p:spPr>
          <a:xfrm>
            <a:off x="5258118" y="4174173"/>
            <a:ext cx="1514475" cy="706755"/>
          </a:xfrm>
          <a:prstGeom prst="rect">
            <a:avLst/>
          </a:prstGeom>
          <a:noFill/>
        </p:spPr>
        <p:txBody>
          <a:bodyPr wrap="square" rtlCol="0">
            <a:spAutoFit/>
          </a:bodyPr>
          <a:lstStyle/>
          <a:p>
            <a:pPr lvl="0" algn="ctr">
              <a:buClrTx/>
              <a:buSzTx/>
              <a:buFontTx/>
            </a:pPr>
            <a:r>
              <a:rPr lang="zh-CN" altLang="en-US" sz="2000" b="1">
                <a:solidFill>
                  <a:srgbClr val="FFFFFF"/>
                </a:solidFill>
                <a:latin typeface="微软雅黑" panose="020B0503020204020204" charset="-122"/>
                <a:ea typeface="微软雅黑" panose="020B0503020204020204" charset="-122"/>
                <a:cs typeface="微软雅黑" panose="020B0503020204020204" charset="-122"/>
                <a:sym typeface="+mn-ea"/>
              </a:rPr>
              <a:t>钢灰色</a:t>
            </a:r>
            <a:endParaRPr lang="zh-CN" altLang="en-US" sz="2000" b="1">
              <a:solidFill>
                <a:srgbClr val="FFFFFF"/>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2000">
                <a:solidFill>
                  <a:srgbClr val="FFFFFF"/>
                </a:solidFill>
                <a:latin typeface="微软雅黑" panose="020B0503020204020204" charset="-122"/>
                <a:ea typeface="微软雅黑" panose="020B0503020204020204" charset="-122"/>
                <a:cs typeface="微软雅黑" panose="020B0503020204020204" charset="-122"/>
                <a:sym typeface="+mn-ea"/>
              </a:rPr>
              <a:t>#</a:t>
            </a:r>
            <a:r>
              <a:rPr lang="en-US" altLang="zh-CN" sz="2000">
                <a:solidFill>
                  <a:schemeClr val="bg1"/>
                </a:solidFill>
                <a:latin typeface="微软雅黑" panose="020B0503020204020204" charset="-122"/>
                <a:ea typeface="微软雅黑" panose="020B0503020204020204" charset="-122"/>
                <a:cs typeface="微软雅黑" panose="020B0503020204020204" charset="-122"/>
                <a:sym typeface="+mn-ea"/>
              </a:rPr>
              <a:t>A5A5A5</a:t>
            </a:r>
            <a:endParaRPr lang="en-US" altLang="zh-CN" sz="20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88" name="文本框 287"/>
          <p:cNvSpPr txBox="1"/>
          <p:nvPr/>
        </p:nvSpPr>
        <p:spPr>
          <a:xfrm>
            <a:off x="3429953" y="2145030"/>
            <a:ext cx="5218430" cy="475615"/>
          </a:xfrm>
          <a:prstGeom prst="rect">
            <a:avLst/>
          </a:prstGeom>
          <a:noFill/>
        </p:spPr>
        <p:txBody>
          <a:bodyPr wrap="square" rtlCol="0">
            <a:spAutoFit/>
          </a:bodyPr>
          <a:lstStyle/>
          <a:p>
            <a:pPr lvl="0" algn="ctr">
              <a:buClrTx/>
              <a:buSzTx/>
              <a:buFontTx/>
            </a:pPr>
            <a:r>
              <a:rPr lang="en-US" sz="2500" spc="-150" noProof="0" dirty="0">
                <a:ln>
                  <a:noFill/>
                </a:ln>
                <a:solidFill>
                  <a:schemeClr val="accent6"/>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2500" spc="-150" noProof="0" dirty="0">
                <a:ln>
                  <a:noFill/>
                </a:ln>
                <a:solidFill>
                  <a:schemeClr val="accent6"/>
                </a:solidFill>
                <a:effectLst/>
                <a:uLnTx/>
                <a:uFillTx/>
                <a:latin typeface="微软雅黑" panose="020B0503020204020204" charset="-122"/>
                <a:ea typeface="微软雅黑" panose="020B0503020204020204" charset="-122"/>
                <a:cs typeface="微软雅黑" panose="020B0503020204020204" charset="-122"/>
                <a:sym typeface="+mn-ea"/>
              </a:rPr>
              <a:t>钛青浮幕影，钢灰溯光澜</a:t>
            </a:r>
            <a:r>
              <a:rPr lang="en-US" sz="2500" spc="-150" noProof="0" dirty="0">
                <a:ln>
                  <a:noFill/>
                </a:ln>
                <a:solidFill>
                  <a:schemeClr val="accent6"/>
                </a:solidFill>
                <a:effectLst/>
                <a:uLnTx/>
                <a:uFillTx/>
                <a:latin typeface="微软雅黑" panose="020B0503020204020204" charset="-122"/>
                <a:ea typeface="微软雅黑" panose="020B0503020204020204" charset="-122"/>
                <a:cs typeface="微软雅黑" panose="020B0503020204020204" charset="-122"/>
                <a:sym typeface="+mn-ea"/>
              </a:rPr>
              <a:t>！”</a:t>
            </a:r>
            <a:endParaRPr lang="en-US" sz="2500" spc="-150" noProof="0" dirty="0">
              <a:ln>
                <a:noFill/>
              </a:ln>
              <a:solidFill>
                <a:schemeClr val="accent6"/>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91" name="文本框 290"/>
          <p:cNvSpPr txBox="1"/>
          <p:nvPr/>
        </p:nvSpPr>
        <p:spPr>
          <a:xfrm>
            <a:off x="2945130" y="3068320"/>
            <a:ext cx="1464310" cy="398780"/>
          </a:xfrm>
          <a:prstGeom prst="rect">
            <a:avLst/>
          </a:prstGeom>
          <a:noFill/>
        </p:spPr>
        <p:txBody>
          <a:bodyPr wrap="square" rtlCol="0">
            <a:spAutoFit/>
          </a:bodyPr>
          <a:lstStyle/>
          <a:p>
            <a:pPr lvl="0" algn="ctr">
              <a:buClrTx/>
              <a:buSzTx/>
              <a:buFontTx/>
            </a:pPr>
            <a:r>
              <a:rPr lang="zh-CN" altLang="en-US" sz="2000" b="1" spc="-150" noProof="0" dirty="0">
                <a:ln w="47625">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rPr>
              <a:t>配色⑦</a:t>
            </a:r>
            <a:endParaRPr lang="en-US" altLang="zh-CN" sz="2000" b="1" spc="-150" noProof="0" dirty="0">
              <a:ln w="47625">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矩形 68"/>
          <p:cNvSpPr/>
          <p:nvPr/>
        </p:nvSpPr>
        <p:spPr>
          <a:xfrm>
            <a:off x="1476693" y="914400"/>
            <a:ext cx="9086215" cy="231775"/>
          </a:xfrm>
          <a:prstGeom prst="rect">
            <a:avLst/>
          </a:prstGeom>
          <a:solidFill>
            <a:schemeClr val="accent1">
              <a:lumMod val="20000"/>
              <a:lumOff val="80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charset="-122"/>
            </a:endParaRPr>
          </a:p>
        </p:txBody>
      </p:sp>
      <p:sp>
        <p:nvSpPr>
          <p:cNvPr id="74" name="文本框 73"/>
          <p:cNvSpPr txBox="1"/>
          <p:nvPr>
            <p:custDataLst>
              <p:tags r:id="rId1"/>
            </p:custDataLst>
          </p:nvPr>
        </p:nvSpPr>
        <p:spPr>
          <a:xfrm>
            <a:off x="1544955" y="1263015"/>
            <a:ext cx="9367520" cy="347345"/>
          </a:xfrm>
          <a:prstGeom prst="rect">
            <a:avLst/>
          </a:prstGeom>
          <a:noFill/>
        </p:spPr>
        <p:txBody>
          <a:bodyPr wrap="square" rtlCol="0">
            <a:noAutofit/>
          </a:bodyPr>
          <a:lstStyle/>
          <a:p>
            <a:pPr algn="ctr">
              <a:lnSpc>
                <a:spcPct val="100000"/>
              </a:lnSpc>
            </a:pPr>
            <a:r>
              <a:rPr lang="zh-CN" altLang="en-US">
                <a:solidFill>
                  <a:schemeClr val="tx2"/>
                </a:solidFill>
                <a:latin typeface="微软雅黑" panose="020B0503020204020204" charset="-122"/>
                <a:ea typeface="微软雅黑" panose="020B0503020204020204" charset="-122"/>
                <a:cs typeface="微软雅黑" panose="020B0503020204020204" charset="-122"/>
              </a:rPr>
              <a:t>本作品系开悟思维原创作品，已获国家版权局作品登记证书，仅供个人学习使用！</a:t>
            </a:r>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custDataLst>
              <p:tags r:id="rId2"/>
            </p:custDataLst>
          </p:nvPr>
        </p:nvSpPr>
        <p:spPr>
          <a:xfrm flipH="1">
            <a:off x="3674110" y="530860"/>
            <a:ext cx="4691380" cy="491490"/>
          </a:xfrm>
          <a:prstGeom prst="rect">
            <a:avLst/>
          </a:prstGeom>
          <a:noFill/>
        </p:spPr>
        <p:txBody>
          <a:bodyPr wrap="square" rtlCol="0">
            <a:noAutofit/>
          </a:bodyPr>
          <a:lstStyle/>
          <a:p>
            <a:pPr algn="ctr"/>
            <a:r>
              <a:rPr lang="zh-CN" altLang="en-US" sz="3200" b="1">
                <a:solidFill>
                  <a:schemeClr val="accent1"/>
                </a:solidFill>
                <a:latin typeface="微软雅黑" panose="020B0503020204020204" charset="-122"/>
                <a:ea typeface="微软雅黑" panose="020B0503020204020204" charset="-122"/>
                <a:cs typeface="微软雅黑" panose="020B0503020204020204" charset="-122"/>
              </a:rPr>
              <a:t>原创版权保护</a:t>
            </a:r>
            <a:r>
              <a:rPr lang="en-US" altLang="zh-CN" sz="3200" b="1">
                <a:solidFill>
                  <a:schemeClr val="accent1"/>
                </a:solidFill>
                <a:latin typeface="微软雅黑" panose="020B0503020204020204" charset="-122"/>
                <a:ea typeface="微软雅黑" panose="020B0503020204020204" charset="-122"/>
                <a:cs typeface="微软雅黑" panose="020B0503020204020204" charset="-122"/>
              </a:rPr>
              <a:t> </a:t>
            </a:r>
            <a:r>
              <a:rPr lang="zh-CN" altLang="en-US" sz="3200" b="1">
                <a:solidFill>
                  <a:schemeClr val="accent1"/>
                </a:solidFill>
                <a:latin typeface="微软雅黑" panose="020B0503020204020204" charset="-122"/>
                <a:ea typeface="微软雅黑" panose="020B0503020204020204" charset="-122"/>
                <a:cs typeface="微软雅黑" panose="020B0503020204020204" charset="-122"/>
              </a:rPr>
              <a:t>侵权必究</a:t>
            </a:r>
            <a:endParaRPr lang="zh-CN" altLang="en-US" sz="3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0" name="任意多边形 29"/>
          <p:cNvSpPr/>
          <p:nvPr>
            <p:custDataLst>
              <p:tags r:id="rId3"/>
            </p:custDataLst>
          </p:nvPr>
        </p:nvSpPr>
        <p:spPr>
          <a:xfrm flipH="1">
            <a:off x="9965690" y="-13970"/>
            <a:ext cx="2244725" cy="848995"/>
          </a:xfrm>
          <a:custGeom>
            <a:avLst/>
            <a:gdLst/>
            <a:ahLst/>
            <a:cxnLst>
              <a:cxn ang="3">
                <a:pos x="hc" y="t"/>
              </a:cxn>
              <a:cxn ang="cd2">
                <a:pos x="l" y="vc"/>
              </a:cxn>
              <a:cxn ang="cd4">
                <a:pos x="hc" y="b"/>
              </a:cxn>
              <a:cxn ang="0">
                <a:pos x="r" y="vc"/>
              </a:cxn>
            </a:cxnLst>
            <a:rect l="l" t="t" r="r" b="b"/>
            <a:pathLst>
              <a:path w="3549" h="1050">
                <a:moveTo>
                  <a:pt x="0" y="0"/>
                </a:moveTo>
                <a:lnTo>
                  <a:pt x="3549" y="0"/>
                </a:lnTo>
                <a:lnTo>
                  <a:pt x="1628" y="937"/>
                </a:lnTo>
                <a:cubicBezTo>
                  <a:pt x="1076" y="1207"/>
                  <a:pt x="410" y="977"/>
                  <a:pt x="141" y="425"/>
                </a:cubicBezTo>
                <a:lnTo>
                  <a:pt x="0" y="137"/>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userDrawn="1"/>
        </p:nvPicPr>
        <p:blipFill>
          <a:blip r:embed="rId4"/>
          <a:srcRect r="58023" b="-8235"/>
          <a:stretch>
            <a:fillRect/>
          </a:stretch>
        </p:blipFill>
        <p:spPr>
          <a:xfrm>
            <a:off x="10253980" y="147320"/>
            <a:ext cx="1591310" cy="350520"/>
          </a:xfrm>
          <a:prstGeom prst="rect">
            <a:avLst/>
          </a:prstGeom>
        </p:spPr>
      </p:pic>
      <p:pic>
        <p:nvPicPr>
          <p:cNvPr id="3" name="图片 2"/>
          <p:cNvPicPr>
            <a:picLocks noChangeAspect="1"/>
          </p:cNvPicPr>
          <p:nvPr/>
        </p:nvPicPr>
        <p:blipFill>
          <a:blip r:embed="rId5"/>
          <a:stretch>
            <a:fillRect/>
          </a:stretch>
        </p:blipFill>
        <p:spPr>
          <a:xfrm>
            <a:off x="2948940" y="1851025"/>
            <a:ext cx="6596380" cy="46882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矩形 68"/>
          <p:cNvSpPr/>
          <p:nvPr/>
        </p:nvSpPr>
        <p:spPr>
          <a:xfrm>
            <a:off x="1476693" y="914400"/>
            <a:ext cx="9086215" cy="231775"/>
          </a:xfrm>
          <a:prstGeom prst="rect">
            <a:avLst/>
          </a:prstGeom>
          <a:solidFill>
            <a:schemeClr val="accent1">
              <a:lumMod val="20000"/>
              <a:lumOff val="80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charset="-122"/>
            </a:endParaRPr>
          </a:p>
        </p:txBody>
      </p:sp>
      <p:sp>
        <p:nvSpPr>
          <p:cNvPr id="74" name="文本框 73"/>
          <p:cNvSpPr txBox="1"/>
          <p:nvPr>
            <p:custDataLst>
              <p:tags r:id="rId1"/>
            </p:custDataLst>
          </p:nvPr>
        </p:nvSpPr>
        <p:spPr>
          <a:xfrm>
            <a:off x="1544955" y="1263015"/>
            <a:ext cx="9367520" cy="347345"/>
          </a:xfrm>
          <a:prstGeom prst="rect">
            <a:avLst/>
          </a:prstGeom>
          <a:noFill/>
        </p:spPr>
        <p:txBody>
          <a:bodyPr wrap="square" rtlCol="0">
            <a:noAutofit/>
          </a:bodyPr>
          <a:lstStyle/>
          <a:p>
            <a:pPr algn="ctr">
              <a:lnSpc>
                <a:spcPct val="100000"/>
              </a:lnSpc>
            </a:pPr>
            <a:r>
              <a:rPr lang="en-US" altLang="en-US">
                <a:solidFill>
                  <a:schemeClr val="tx2"/>
                </a:solidFill>
                <a:latin typeface="微软雅黑" panose="020B0503020204020204" charset="-122"/>
                <a:ea typeface="微软雅黑" panose="020B0503020204020204" charset="-122"/>
                <a:cs typeface="微软雅黑" panose="020B0503020204020204" charset="-122"/>
              </a:rPr>
              <a:t>↓</a:t>
            </a:r>
            <a:r>
              <a:rPr lang="zh-CN" altLang="en-US">
                <a:solidFill>
                  <a:schemeClr val="tx2"/>
                </a:solidFill>
                <a:latin typeface="微软雅黑" panose="020B0503020204020204" charset="-122"/>
                <a:ea typeface="微软雅黑" panose="020B0503020204020204" charset="-122"/>
                <a:cs typeface="微软雅黑" panose="020B0503020204020204" charset="-122"/>
              </a:rPr>
              <a:t>欢迎关注微信号，或小红书账号</a:t>
            </a:r>
            <a:r>
              <a:rPr lang="en-US" altLang="zh-CN">
                <a:solidFill>
                  <a:schemeClr val="tx2"/>
                </a:solidFill>
                <a:latin typeface="微软雅黑" panose="020B0503020204020204" charset="-122"/>
                <a:ea typeface="微软雅黑" panose="020B0503020204020204" charset="-122"/>
                <a:cs typeface="微软雅黑" panose="020B0503020204020204" charset="-122"/>
              </a:rPr>
              <a:t>“</a:t>
            </a:r>
            <a:r>
              <a:rPr lang="zh-CN" altLang="en-US">
                <a:solidFill>
                  <a:schemeClr val="tx2"/>
                </a:solidFill>
                <a:latin typeface="微软雅黑" panose="020B0503020204020204" charset="-122"/>
                <a:ea typeface="微软雅黑" panose="020B0503020204020204" charset="-122"/>
                <a:cs typeface="微软雅黑" panose="020B0503020204020204" charset="-122"/>
              </a:rPr>
              <a:t>开悟思维锦囊</a:t>
            </a:r>
            <a:r>
              <a:rPr lang="en-US" altLang="zh-CN">
                <a:solidFill>
                  <a:schemeClr val="tx2"/>
                </a:solidFill>
                <a:latin typeface="微软雅黑" panose="020B0503020204020204" charset="-122"/>
                <a:ea typeface="微软雅黑" panose="020B0503020204020204" charset="-122"/>
                <a:cs typeface="微软雅黑" panose="020B0503020204020204" charset="-122"/>
              </a:rPr>
              <a:t>”</a:t>
            </a:r>
            <a:r>
              <a:rPr lang="en-US" altLang="en-US">
                <a:solidFill>
                  <a:schemeClr val="tx2"/>
                </a:solidFill>
                <a:latin typeface="微软雅黑" panose="020B0503020204020204" charset="-122"/>
                <a:ea typeface="微软雅黑" panose="020B0503020204020204" charset="-122"/>
                <a:cs typeface="微软雅黑" panose="020B0503020204020204" charset="-122"/>
              </a:rPr>
              <a:t>↓</a:t>
            </a:r>
            <a:endParaRPr lang="en-US"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custDataLst>
              <p:tags r:id="rId2"/>
            </p:custDataLst>
          </p:nvPr>
        </p:nvSpPr>
        <p:spPr>
          <a:xfrm flipH="1">
            <a:off x="2905125" y="530860"/>
            <a:ext cx="5909310" cy="491490"/>
          </a:xfrm>
          <a:prstGeom prst="rect">
            <a:avLst/>
          </a:prstGeom>
          <a:noFill/>
        </p:spPr>
        <p:txBody>
          <a:bodyPr wrap="square" rtlCol="0">
            <a:noAutofit/>
          </a:bodyPr>
          <a:lstStyle/>
          <a:p>
            <a:pPr algn="ctr"/>
            <a:r>
              <a:rPr lang="en-US" sz="3200" b="1">
                <a:solidFill>
                  <a:schemeClr val="accent1"/>
                </a:solidFill>
                <a:latin typeface="微软雅黑" panose="020B0503020204020204" charset="-122"/>
                <a:ea typeface="微软雅黑" panose="020B0503020204020204" charset="-122"/>
                <a:cs typeface="微软雅黑" panose="020B0503020204020204" charset="-122"/>
              </a:rPr>
              <a:t>PPT</a:t>
            </a:r>
            <a:r>
              <a:rPr lang="zh-CN" altLang="en-US" sz="3200" b="1">
                <a:solidFill>
                  <a:schemeClr val="accent1"/>
                </a:solidFill>
                <a:latin typeface="微软雅黑" panose="020B0503020204020204" charset="-122"/>
                <a:ea typeface="微软雅黑" panose="020B0503020204020204" charset="-122"/>
                <a:cs typeface="微软雅黑" panose="020B0503020204020204" charset="-122"/>
              </a:rPr>
              <a:t>模板使用过程中有任何问题</a:t>
            </a:r>
            <a:endParaRPr lang="zh-CN" altLang="en-US" sz="3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0" name="任意多边形 29"/>
          <p:cNvSpPr/>
          <p:nvPr>
            <p:custDataLst>
              <p:tags r:id="rId3"/>
            </p:custDataLst>
          </p:nvPr>
        </p:nvSpPr>
        <p:spPr>
          <a:xfrm flipH="1">
            <a:off x="9965690" y="-13970"/>
            <a:ext cx="2244725" cy="848995"/>
          </a:xfrm>
          <a:custGeom>
            <a:avLst/>
            <a:gdLst/>
            <a:ahLst/>
            <a:cxnLst>
              <a:cxn ang="3">
                <a:pos x="hc" y="t"/>
              </a:cxn>
              <a:cxn ang="cd2">
                <a:pos x="l" y="vc"/>
              </a:cxn>
              <a:cxn ang="cd4">
                <a:pos x="hc" y="b"/>
              </a:cxn>
              <a:cxn ang="0">
                <a:pos x="r" y="vc"/>
              </a:cxn>
            </a:cxnLst>
            <a:rect l="l" t="t" r="r" b="b"/>
            <a:pathLst>
              <a:path w="3549" h="1050">
                <a:moveTo>
                  <a:pt x="0" y="0"/>
                </a:moveTo>
                <a:lnTo>
                  <a:pt x="3549" y="0"/>
                </a:lnTo>
                <a:lnTo>
                  <a:pt x="1628" y="937"/>
                </a:lnTo>
                <a:cubicBezTo>
                  <a:pt x="1076" y="1207"/>
                  <a:pt x="410" y="977"/>
                  <a:pt x="141" y="425"/>
                </a:cubicBezTo>
                <a:lnTo>
                  <a:pt x="0" y="137"/>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userDrawn="1"/>
        </p:nvPicPr>
        <p:blipFill>
          <a:blip r:embed="rId4"/>
          <a:srcRect r="58023" b="-8235"/>
          <a:stretch>
            <a:fillRect/>
          </a:stretch>
        </p:blipFill>
        <p:spPr>
          <a:xfrm>
            <a:off x="10253980" y="147320"/>
            <a:ext cx="1591310" cy="350520"/>
          </a:xfrm>
          <a:prstGeom prst="rect">
            <a:avLst/>
          </a:prstGeom>
        </p:spPr>
      </p:pic>
      <p:pic>
        <p:nvPicPr>
          <p:cNvPr id="3" name="图片 2"/>
          <p:cNvPicPr>
            <a:picLocks noChangeAspect="1"/>
          </p:cNvPicPr>
          <p:nvPr/>
        </p:nvPicPr>
        <p:blipFill>
          <a:blip r:embed="rId5"/>
          <a:srcRect l="851" t="-77" r="464" b="1258"/>
          <a:stretch>
            <a:fillRect/>
          </a:stretch>
        </p:blipFill>
        <p:spPr>
          <a:xfrm>
            <a:off x="2287905" y="2447925"/>
            <a:ext cx="3238500" cy="3242945"/>
          </a:xfrm>
          <a:prstGeom prst="rect">
            <a:avLst/>
          </a:prstGeom>
        </p:spPr>
      </p:pic>
      <p:pic>
        <p:nvPicPr>
          <p:cNvPr id="4" name="图片 3"/>
          <p:cNvPicPr>
            <a:picLocks noChangeAspect="1"/>
          </p:cNvPicPr>
          <p:nvPr/>
        </p:nvPicPr>
        <p:blipFill>
          <a:blip r:embed="rId6"/>
          <a:stretch>
            <a:fillRect/>
          </a:stretch>
        </p:blipFill>
        <p:spPr>
          <a:xfrm>
            <a:off x="6543040" y="2495550"/>
            <a:ext cx="3206750" cy="31476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368935" y="306388"/>
            <a:ext cx="7585710" cy="475615"/>
          </a:xfrm>
          <a:prstGeom prst="rect">
            <a:avLst/>
          </a:prstGeom>
          <a:noFill/>
        </p:spPr>
        <p:txBody>
          <a:bodyPr wrap="square" rtlCol="0" anchor="ctr" anchorCtr="0">
            <a:spAutoFit/>
          </a:bodyPr>
          <a:lstStyle/>
          <a:p>
            <a:pPr fontAlgn="ctr">
              <a:lnSpc>
                <a:spcPct val="100000"/>
              </a:lnSpc>
            </a:pPr>
            <a:r>
              <a:rPr lang="zh-CN" altLang="en-US" sz="2500" b="1" dirty="0">
                <a:solidFill>
                  <a:schemeClr val="accent1"/>
                </a:solidFill>
                <a:latin typeface="微软雅黑" panose="020B0503020204020204" charset="-122"/>
                <a:ea typeface="微软雅黑" panose="020B0503020204020204" charset="-122"/>
                <a:cs typeface="微软雅黑" panose="020B0503020204020204" charset="-122"/>
                <a:sym typeface="+mn-ea"/>
              </a:rPr>
              <a:t>使用模板时：</a:t>
            </a:r>
            <a:r>
              <a:rPr lang="zh-CN" sz="2500" b="1" dirty="0">
                <a:solidFill>
                  <a:schemeClr val="tx2"/>
                </a:solidFill>
                <a:latin typeface="微软雅黑" panose="020B0503020204020204" charset="-122"/>
                <a:ea typeface="微软雅黑" panose="020B0503020204020204" charset="-122"/>
                <a:cs typeface="微软雅黑" panose="020B0503020204020204" charset="-122"/>
                <a:sym typeface="+mn-ea"/>
              </a:rPr>
              <a:t>复制到自己</a:t>
            </a:r>
            <a:r>
              <a:rPr lang="en-US" altLang="zh-CN" sz="2500" b="1" dirty="0">
                <a:solidFill>
                  <a:schemeClr val="tx2"/>
                </a:solidFill>
                <a:latin typeface="微软雅黑" panose="020B0503020204020204" charset="-122"/>
                <a:ea typeface="微软雅黑" panose="020B0503020204020204" charset="-122"/>
                <a:cs typeface="微软雅黑" panose="020B0503020204020204" charset="-122"/>
                <a:sym typeface="+mn-ea"/>
              </a:rPr>
              <a:t>PPT</a:t>
            </a:r>
            <a:r>
              <a:rPr lang="zh-CN" altLang="en-US" sz="2500" b="1" dirty="0">
                <a:solidFill>
                  <a:schemeClr val="tx2"/>
                </a:solidFill>
                <a:latin typeface="微软雅黑" panose="020B0503020204020204" charset="-122"/>
                <a:ea typeface="微软雅黑" panose="020B0503020204020204" charset="-122"/>
                <a:cs typeface="微软雅黑" panose="020B0503020204020204" charset="-122"/>
                <a:sym typeface="+mn-ea"/>
              </a:rPr>
              <a:t>颜色变了怎么办？</a:t>
            </a:r>
            <a:endParaRPr lang="zh-CN" altLang="en-US" sz="25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cxnSp>
        <p:nvCxnSpPr>
          <p:cNvPr id="21"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圆角矩形 31"/>
          <p:cNvSpPr/>
          <p:nvPr>
            <p:custDataLst>
              <p:tags r:id="rId1"/>
            </p:custDataLst>
          </p:nvPr>
        </p:nvSpPr>
        <p:spPr>
          <a:xfrm>
            <a:off x="36893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34" name="文本框 33"/>
          <p:cNvSpPr txBox="1"/>
          <p:nvPr>
            <p:custDataLst>
              <p:tags r:id="rId2"/>
            </p:custDataLst>
          </p:nvPr>
        </p:nvSpPr>
        <p:spPr>
          <a:xfrm>
            <a:off x="520065" y="1809750"/>
            <a:ext cx="5454650" cy="583565"/>
          </a:xfrm>
          <a:prstGeom prst="rect">
            <a:avLst/>
          </a:prstGeom>
          <a:noFill/>
        </p:spPr>
        <p:txBody>
          <a:bodyPr wrap="square" rtlCol="0" anchor="ctr" anchorCtr="0">
            <a:spAutoFit/>
          </a:bodyPr>
          <a:lstStyle/>
          <a:p>
            <a:pPr fontAlgn="ctr">
              <a:lnSpc>
                <a:spcPct val="100000"/>
              </a:lnSpc>
            </a:pP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复制</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PPT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模板页面（也可多选页面）</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，选择</a:t>
            </a:r>
            <a:r>
              <a:rPr 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自己的</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PPT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报告页面，右键点击选择</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带格式粘贴</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38" name="圆角矩形 37"/>
          <p:cNvSpPr/>
          <p:nvPr>
            <p:custDataLst>
              <p:tags r:id="rId3"/>
            </p:custDataLst>
          </p:nvPr>
        </p:nvSpPr>
        <p:spPr>
          <a:xfrm>
            <a:off x="636968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 name="文本框 3"/>
          <p:cNvSpPr txBox="1"/>
          <p:nvPr>
            <p:custDataLst>
              <p:tags r:id="rId4"/>
            </p:custDataLst>
          </p:nvPr>
        </p:nvSpPr>
        <p:spPr>
          <a:xfrm>
            <a:off x="2306320" y="1234758"/>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WPS</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custDataLst>
              <p:tags r:id="rId5"/>
            </p:custDataLst>
          </p:nvPr>
        </p:nvSpPr>
        <p:spPr>
          <a:xfrm>
            <a:off x="8225155" y="1234758"/>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office</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custDataLst>
              <p:tags r:id="rId6"/>
            </p:custDataLst>
          </p:nvPr>
        </p:nvPicPr>
        <p:blipFill>
          <a:blip r:embed="rId7"/>
          <a:stretch>
            <a:fillRect/>
          </a:stretch>
        </p:blipFill>
        <p:spPr>
          <a:xfrm>
            <a:off x="786765" y="2526030"/>
            <a:ext cx="4668520" cy="3519170"/>
          </a:xfrm>
          <a:prstGeom prst="rect">
            <a:avLst/>
          </a:prstGeom>
        </p:spPr>
      </p:pic>
      <p:sp>
        <p:nvSpPr>
          <p:cNvPr id="10" name="文本框 9"/>
          <p:cNvSpPr txBox="1"/>
          <p:nvPr>
            <p:custDataLst>
              <p:tags r:id="rId8"/>
            </p:custDataLst>
          </p:nvPr>
        </p:nvSpPr>
        <p:spPr>
          <a:xfrm>
            <a:off x="6600190" y="1858645"/>
            <a:ext cx="5454650" cy="583565"/>
          </a:xfrm>
          <a:prstGeom prst="rect">
            <a:avLst/>
          </a:prstGeom>
          <a:noFill/>
        </p:spPr>
        <p:txBody>
          <a:bodyPr wrap="square" rtlCol="0" anchor="ctr" anchorCtr="0">
            <a:spAutoFit/>
          </a:bodyPr>
          <a:lstStyle/>
          <a:p>
            <a:pPr fontAlgn="ctr">
              <a:lnSpc>
                <a:spcPct val="100000"/>
              </a:lnSpc>
            </a:pP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复制</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PPT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模板页面（也可多选页面）</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，选择</a:t>
            </a:r>
            <a:r>
              <a:rPr 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自己的</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PPT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报告页面，右键点击选择</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保留原格式</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pic>
        <p:nvPicPr>
          <p:cNvPr id="11" name="图片 10"/>
          <p:cNvPicPr>
            <a:picLocks noChangeAspect="1"/>
          </p:cNvPicPr>
          <p:nvPr>
            <p:custDataLst>
              <p:tags r:id="rId9"/>
            </p:custDataLst>
          </p:nvPr>
        </p:nvPicPr>
        <p:blipFill>
          <a:blip r:embed="rId10"/>
          <a:stretch>
            <a:fillRect/>
          </a:stretch>
        </p:blipFill>
        <p:spPr>
          <a:xfrm>
            <a:off x="7367270" y="2748915"/>
            <a:ext cx="3867150" cy="31343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368935" y="306388"/>
            <a:ext cx="7585710" cy="475615"/>
          </a:xfrm>
          <a:prstGeom prst="rect">
            <a:avLst/>
          </a:prstGeom>
          <a:noFill/>
        </p:spPr>
        <p:txBody>
          <a:bodyPr wrap="square" rtlCol="0" anchor="ctr" anchorCtr="0">
            <a:spAutoFit/>
          </a:bodyPr>
          <a:lstStyle/>
          <a:p>
            <a:pPr fontAlgn="ctr">
              <a:lnSpc>
                <a:spcPct val="100000"/>
              </a:lnSpc>
            </a:pPr>
            <a:r>
              <a:rPr lang="zh-CN" altLang="en-US" sz="2500" b="1">
                <a:solidFill>
                  <a:schemeClr val="accent1"/>
                </a:solidFill>
                <a:latin typeface="微软雅黑" panose="020B0503020204020204" charset="-122"/>
                <a:ea typeface="微软雅黑" panose="020B0503020204020204" charset="-122"/>
                <a:cs typeface="微软雅黑" panose="020B0503020204020204" charset="-122"/>
                <a:sym typeface="+mn-ea"/>
              </a:rPr>
              <a:t>使用模板时：</a:t>
            </a:r>
            <a:r>
              <a:rPr lang="zh-CN" altLang="en-US" sz="2500" b="1">
                <a:solidFill>
                  <a:schemeClr val="tx2"/>
                </a:solidFill>
                <a:latin typeface="微软雅黑" panose="020B0503020204020204" charset="-122"/>
                <a:ea typeface="微软雅黑" panose="020B0503020204020204" charset="-122"/>
                <a:cs typeface="微软雅黑" panose="020B0503020204020204" charset="-122"/>
                <a:sym typeface="+mn-ea"/>
              </a:rPr>
              <a:t>如何一键修改整套</a:t>
            </a:r>
            <a:r>
              <a:rPr lang="en-US" altLang="zh-CN" sz="2500" b="1">
                <a:solidFill>
                  <a:schemeClr val="tx2"/>
                </a:solidFill>
                <a:latin typeface="微软雅黑" panose="020B0503020204020204" charset="-122"/>
                <a:ea typeface="微软雅黑" panose="020B0503020204020204" charset="-122"/>
                <a:cs typeface="微软雅黑" panose="020B0503020204020204" charset="-122"/>
                <a:sym typeface="+mn-ea"/>
              </a:rPr>
              <a:t>PPT</a:t>
            </a:r>
            <a:r>
              <a:rPr lang="zh-CN" altLang="en-US" sz="2500" b="1">
                <a:solidFill>
                  <a:schemeClr val="tx2"/>
                </a:solidFill>
                <a:latin typeface="微软雅黑" panose="020B0503020204020204" charset="-122"/>
                <a:ea typeface="微软雅黑" panose="020B0503020204020204" charset="-122"/>
                <a:cs typeface="微软雅黑" panose="020B0503020204020204" charset="-122"/>
                <a:sym typeface="+mn-ea"/>
              </a:rPr>
              <a:t>的颜色？</a:t>
            </a:r>
            <a:endParaRPr lang="zh-CN" altLang="en-US" sz="2500" b="1">
              <a:solidFill>
                <a:schemeClr val="tx2"/>
              </a:solidFill>
              <a:latin typeface="微软雅黑" panose="020B0503020204020204" charset="-122"/>
              <a:ea typeface="微软雅黑" panose="020B0503020204020204" charset="-122"/>
              <a:cs typeface="微软雅黑" panose="020B0503020204020204" charset="-122"/>
              <a:sym typeface="+mn-ea"/>
            </a:endParaRPr>
          </a:p>
        </p:txBody>
      </p:sp>
      <p:cxnSp>
        <p:nvCxnSpPr>
          <p:cNvPr id="21"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圆角矩形 31"/>
          <p:cNvSpPr/>
          <p:nvPr>
            <p:custDataLst>
              <p:tags r:id="rId1"/>
            </p:custDataLst>
          </p:nvPr>
        </p:nvSpPr>
        <p:spPr>
          <a:xfrm>
            <a:off x="36893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34" name="文本框 33"/>
          <p:cNvSpPr txBox="1"/>
          <p:nvPr>
            <p:custDataLst>
              <p:tags r:id="rId2"/>
            </p:custDataLst>
          </p:nvPr>
        </p:nvSpPr>
        <p:spPr>
          <a:xfrm>
            <a:off x="520065" y="1563370"/>
            <a:ext cx="5454650" cy="1076325"/>
          </a:xfrm>
          <a:prstGeom prst="rect">
            <a:avLst/>
          </a:prstGeom>
          <a:noFill/>
        </p:spPr>
        <p:txBody>
          <a:bodyPr wrap="square" rtlCol="0" anchor="ctr" anchorCtr="0">
            <a:spAutoFit/>
          </a:bodyPr>
          <a:lstStyle/>
          <a:p>
            <a:pPr fontAlgn="ctr">
              <a:lnSpc>
                <a:spcPct val="100000"/>
              </a:lnSpc>
            </a:pP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①</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点击</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设计</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选项卡，选择</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配色方案</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选项，选择【更多配色方案】，</a:t>
            </a:r>
            <a:r>
              <a:rPr lang="zh-CN" sz="1600">
                <a:solidFill>
                  <a:schemeClr val="tx2"/>
                </a:solidFill>
                <a:latin typeface="微软雅黑" panose="020B0503020204020204" charset="-122"/>
                <a:ea typeface="微软雅黑" panose="020B0503020204020204" charset="-122"/>
                <a:cs typeface="微软雅黑" panose="020B0503020204020204" charset="-122"/>
                <a:sym typeface="+mn-ea"/>
              </a:rPr>
              <a:t>里面有本模板已经设定好的多种配色</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点击【使用】即可一键全部替换。选择【自定义】也可配置自己的常用色。</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38" name="圆角矩形 37"/>
          <p:cNvSpPr/>
          <p:nvPr>
            <p:custDataLst>
              <p:tags r:id="rId3"/>
            </p:custDataLst>
          </p:nvPr>
        </p:nvSpPr>
        <p:spPr>
          <a:xfrm>
            <a:off x="636968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pic>
        <p:nvPicPr>
          <p:cNvPr id="2" name="图片 1"/>
          <p:cNvPicPr>
            <a:picLocks noChangeAspect="1"/>
          </p:cNvPicPr>
          <p:nvPr>
            <p:custDataLst>
              <p:tags r:id="rId4"/>
            </p:custDataLst>
          </p:nvPr>
        </p:nvPicPr>
        <p:blipFill>
          <a:blip r:embed="rId5"/>
          <a:srcRect r="1191" b="22551"/>
          <a:stretch>
            <a:fillRect/>
          </a:stretch>
        </p:blipFill>
        <p:spPr>
          <a:xfrm>
            <a:off x="431800" y="2770505"/>
            <a:ext cx="5319395" cy="2425065"/>
          </a:xfrm>
          <a:prstGeom prst="rect">
            <a:avLst/>
          </a:prstGeom>
        </p:spPr>
      </p:pic>
      <p:sp>
        <p:nvSpPr>
          <p:cNvPr id="4" name="文本框 3"/>
          <p:cNvSpPr txBox="1"/>
          <p:nvPr>
            <p:custDataLst>
              <p:tags r:id="rId6"/>
            </p:custDataLst>
          </p:nvPr>
        </p:nvSpPr>
        <p:spPr>
          <a:xfrm>
            <a:off x="2306320" y="1234758"/>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WPS</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7"/>
            </p:custDataLst>
          </p:nvPr>
        </p:nvPicPr>
        <p:blipFill>
          <a:blip r:embed="rId8"/>
          <a:stretch>
            <a:fillRect/>
          </a:stretch>
        </p:blipFill>
        <p:spPr>
          <a:xfrm>
            <a:off x="1367790" y="3487420"/>
            <a:ext cx="2376170" cy="2754630"/>
          </a:xfrm>
          <a:prstGeom prst="rect">
            <a:avLst/>
          </a:prstGeom>
        </p:spPr>
      </p:pic>
      <p:sp>
        <p:nvSpPr>
          <p:cNvPr id="6" name="文本框 5"/>
          <p:cNvSpPr txBox="1"/>
          <p:nvPr>
            <p:custDataLst>
              <p:tags r:id="rId9"/>
            </p:custDataLst>
          </p:nvPr>
        </p:nvSpPr>
        <p:spPr>
          <a:xfrm>
            <a:off x="6438900" y="1686560"/>
            <a:ext cx="5454650" cy="829945"/>
          </a:xfrm>
          <a:prstGeom prst="rect">
            <a:avLst/>
          </a:prstGeom>
          <a:noFill/>
        </p:spPr>
        <p:txBody>
          <a:bodyPr wrap="square" rtlCol="0" anchor="ctr" anchorCtr="0">
            <a:spAutoFit/>
          </a:bodyPr>
          <a:lstStyle/>
          <a:p>
            <a:pPr fontAlgn="ctr">
              <a:lnSpc>
                <a:spcPct val="100000"/>
              </a:lnSpc>
            </a:pP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①</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点击</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设计</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选项卡，找到【变体】选择</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颜色</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a:t>
            </a:r>
            <a:r>
              <a:rPr lang="zh-CN" sz="1600">
                <a:solidFill>
                  <a:schemeClr val="tx2"/>
                </a:solidFill>
                <a:latin typeface="微软雅黑" panose="020B0503020204020204" charset="-122"/>
                <a:ea typeface="微软雅黑" panose="020B0503020204020204" charset="-122"/>
                <a:cs typeface="微软雅黑" panose="020B0503020204020204" charset="-122"/>
                <a:sym typeface="+mn-ea"/>
              </a:rPr>
              <a:t>里面有本模板已经设定好的多种配色</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点击其中一种颜色即可一键全部替换。选择【自定义】也可配置自己的颜色。</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custDataLst>
              <p:tags r:id="rId10"/>
            </p:custDataLst>
          </p:nvPr>
        </p:nvSpPr>
        <p:spPr>
          <a:xfrm>
            <a:off x="8225155" y="1234758"/>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office</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pic>
        <p:nvPicPr>
          <p:cNvPr id="8" name="图片 7"/>
          <p:cNvPicPr>
            <a:picLocks noChangeAspect="1"/>
          </p:cNvPicPr>
          <p:nvPr>
            <p:custDataLst>
              <p:tags r:id="rId11"/>
            </p:custDataLst>
          </p:nvPr>
        </p:nvPicPr>
        <p:blipFill>
          <a:blip r:embed="rId12"/>
          <a:stretch>
            <a:fillRect/>
          </a:stretch>
        </p:blipFill>
        <p:spPr>
          <a:xfrm>
            <a:off x="6579870" y="2639695"/>
            <a:ext cx="5171440" cy="2321560"/>
          </a:xfrm>
          <a:prstGeom prst="rect">
            <a:avLst/>
          </a:prstGeom>
        </p:spPr>
      </p:pic>
      <p:pic>
        <p:nvPicPr>
          <p:cNvPr id="9" name="图片 8"/>
          <p:cNvPicPr>
            <a:picLocks noChangeAspect="1"/>
          </p:cNvPicPr>
          <p:nvPr/>
        </p:nvPicPr>
        <p:blipFill>
          <a:blip r:embed="rId13"/>
          <a:stretch>
            <a:fillRect/>
          </a:stretch>
        </p:blipFill>
        <p:spPr>
          <a:xfrm>
            <a:off x="8391525" y="3858895"/>
            <a:ext cx="2294890" cy="24422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368935" y="306388"/>
            <a:ext cx="7585710" cy="475615"/>
          </a:xfrm>
          <a:prstGeom prst="rect">
            <a:avLst/>
          </a:prstGeom>
          <a:noFill/>
        </p:spPr>
        <p:txBody>
          <a:bodyPr wrap="square" rtlCol="0" anchor="ctr" anchorCtr="0">
            <a:spAutoFit/>
          </a:bodyPr>
          <a:lstStyle/>
          <a:p>
            <a:pPr fontAlgn="ctr">
              <a:lnSpc>
                <a:spcPct val="100000"/>
              </a:lnSpc>
            </a:pPr>
            <a:r>
              <a:rPr lang="zh-CN" altLang="en-US" sz="2500" b="1">
                <a:solidFill>
                  <a:schemeClr val="accent1"/>
                </a:solidFill>
                <a:latin typeface="微软雅黑" panose="020B0503020204020204" charset="-122"/>
                <a:ea typeface="微软雅黑" panose="020B0503020204020204" charset="-122"/>
                <a:cs typeface="微软雅黑" panose="020B0503020204020204" charset="-122"/>
                <a:sym typeface="+mn-ea"/>
              </a:rPr>
              <a:t>使用模板时：</a:t>
            </a:r>
            <a:r>
              <a:rPr lang="zh-CN" altLang="en-US" sz="2500" b="1">
                <a:solidFill>
                  <a:schemeClr val="tx2"/>
                </a:solidFill>
                <a:latin typeface="微软雅黑" panose="020B0503020204020204" charset="-122"/>
                <a:ea typeface="微软雅黑" panose="020B0503020204020204" charset="-122"/>
                <a:cs typeface="微软雅黑" panose="020B0503020204020204" charset="-122"/>
                <a:sym typeface="+mn-ea"/>
              </a:rPr>
              <a:t>如何一键去除右上角的logo？</a:t>
            </a:r>
            <a:endParaRPr lang="zh-CN" altLang="en-US" sz="2500" b="1">
              <a:solidFill>
                <a:schemeClr val="tx2"/>
              </a:solidFill>
              <a:latin typeface="微软雅黑" panose="020B0503020204020204" charset="-122"/>
              <a:ea typeface="微软雅黑" panose="020B0503020204020204" charset="-122"/>
              <a:cs typeface="微软雅黑" panose="020B0503020204020204" charset="-122"/>
              <a:sym typeface="+mn-ea"/>
            </a:endParaRPr>
          </a:p>
        </p:txBody>
      </p:sp>
      <p:cxnSp>
        <p:nvCxnSpPr>
          <p:cNvPr id="21"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圆角矩形 31"/>
          <p:cNvSpPr/>
          <p:nvPr>
            <p:custDataLst>
              <p:tags r:id="rId1"/>
            </p:custDataLst>
          </p:nvPr>
        </p:nvSpPr>
        <p:spPr>
          <a:xfrm>
            <a:off x="36893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pic>
        <p:nvPicPr>
          <p:cNvPr id="33" name="图片 32"/>
          <p:cNvPicPr>
            <a:picLocks noChangeAspect="1"/>
          </p:cNvPicPr>
          <p:nvPr>
            <p:custDataLst>
              <p:tags r:id="rId2"/>
            </p:custDataLst>
          </p:nvPr>
        </p:nvPicPr>
        <p:blipFill>
          <a:blip r:embed="rId3"/>
          <a:srcRect r="1364" b="46622"/>
          <a:stretch>
            <a:fillRect/>
          </a:stretch>
        </p:blipFill>
        <p:spPr>
          <a:xfrm>
            <a:off x="641985" y="2576830"/>
            <a:ext cx="5029835" cy="1704340"/>
          </a:xfrm>
          <a:prstGeom prst="rect">
            <a:avLst/>
          </a:prstGeom>
        </p:spPr>
      </p:pic>
      <p:sp>
        <p:nvSpPr>
          <p:cNvPr id="34" name="文本框 33"/>
          <p:cNvSpPr txBox="1"/>
          <p:nvPr>
            <p:custDataLst>
              <p:tags r:id="rId4"/>
            </p:custDataLst>
          </p:nvPr>
        </p:nvSpPr>
        <p:spPr>
          <a:xfrm>
            <a:off x="641985" y="1610360"/>
            <a:ext cx="5116195" cy="829945"/>
          </a:xfrm>
          <a:prstGeom prst="rect">
            <a:avLst/>
          </a:prstGeom>
          <a:noFill/>
        </p:spPr>
        <p:txBody>
          <a:bodyPr wrap="square" rtlCol="0" anchor="ctr" anchorCtr="0">
            <a:spAutoFit/>
          </a:bodyPr>
          <a:lstStyle/>
          <a:p>
            <a:pPr fontAlgn="ctr">
              <a:lnSpc>
                <a:spcPct val="100000"/>
              </a:lnSpc>
            </a:pP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①</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点击</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设计</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选项卡，选择</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母版</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选项，进入母版视图。</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②</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进入母版视图后，右击logo选择删除，点击</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关闭</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幻灯片母版视图即可</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38" name="圆角矩形 37"/>
          <p:cNvSpPr/>
          <p:nvPr>
            <p:custDataLst>
              <p:tags r:id="rId5"/>
            </p:custDataLst>
          </p:nvPr>
        </p:nvSpPr>
        <p:spPr>
          <a:xfrm>
            <a:off x="636968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pic>
        <p:nvPicPr>
          <p:cNvPr id="39" name="图片 38"/>
          <p:cNvPicPr>
            <a:picLocks noChangeAspect="1"/>
          </p:cNvPicPr>
          <p:nvPr>
            <p:custDataLst>
              <p:tags r:id="rId6"/>
            </p:custDataLst>
          </p:nvPr>
        </p:nvPicPr>
        <p:blipFill>
          <a:blip r:embed="rId7"/>
          <a:srcRect l="2160" t="-2686" r="934" b="33542"/>
          <a:stretch>
            <a:fillRect/>
          </a:stretch>
        </p:blipFill>
        <p:spPr>
          <a:xfrm>
            <a:off x="641985" y="4417695"/>
            <a:ext cx="4970145" cy="1762760"/>
          </a:xfrm>
          <a:prstGeom prst="rect">
            <a:avLst/>
          </a:prstGeom>
        </p:spPr>
      </p:pic>
      <p:sp>
        <p:nvSpPr>
          <p:cNvPr id="2" name="文本框 1"/>
          <p:cNvSpPr txBox="1"/>
          <p:nvPr>
            <p:custDataLst>
              <p:tags r:id="rId8"/>
            </p:custDataLst>
          </p:nvPr>
        </p:nvSpPr>
        <p:spPr>
          <a:xfrm>
            <a:off x="2306320" y="1234758"/>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WPS</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custDataLst>
              <p:tags r:id="rId9"/>
            </p:custDataLst>
          </p:nvPr>
        </p:nvSpPr>
        <p:spPr>
          <a:xfrm>
            <a:off x="6771640" y="1572895"/>
            <a:ext cx="5116195" cy="829945"/>
          </a:xfrm>
          <a:prstGeom prst="rect">
            <a:avLst/>
          </a:prstGeom>
          <a:noFill/>
        </p:spPr>
        <p:txBody>
          <a:bodyPr wrap="square" rtlCol="0" anchor="ctr" anchorCtr="0">
            <a:spAutoFit/>
          </a:bodyPr>
          <a:lstStyle/>
          <a:p>
            <a:pPr fontAlgn="ctr">
              <a:lnSpc>
                <a:spcPct val="100000"/>
              </a:lnSpc>
            </a:pPr>
            <a:r>
              <a:rPr lang="en-US"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①</a:t>
            </a:r>
            <a:r>
              <a:rPr lang="en-US" altLang="zh-CN" sz="1600" dirty="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点击【试图】选项卡，选择【幻灯片母版】选项，进入母版视图。</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②</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进入母版视图后，右击logo选择删除，点击</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关闭</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幻灯片母版视图即可。</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4" name="文本框 3"/>
          <p:cNvSpPr txBox="1"/>
          <p:nvPr>
            <p:custDataLst>
              <p:tags r:id="rId10"/>
            </p:custDataLst>
          </p:nvPr>
        </p:nvSpPr>
        <p:spPr>
          <a:xfrm>
            <a:off x="8435975" y="1197293"/>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office</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11"/>
            </p:custDataLst>
          </p:nvPr>
        </p:nvPicPr>
        <p:blipFill>
          <a:blip r:embed="rId12"/>
          <a:srcRect t="1212" b="49421"/>
          <a:stretch>
            <a:fillRect/>
          </a:stretch>
        </p:blipFill>
        <p:spPr>
          <a:xfrm>
            <a:off x="6507480" y="2618740"/>
            <a:ext cx="5321300" cy="1706880"/>
          </a:xfrm>
          <a:prstGeom prst="rect">
            <a:avLst/>
          </a:prstGeom>
        </p:spPr>
      </p:pic>
      <p:pic>
        <p:nvPicPr>
          <p:cNvPr id="6" name="图片 5"/>
          <p:cNvPicPr>
            <a:picLocks noChangeAspect="1"/>
          </p:cNvPicPr>
          <p:nvPr>
            <p:custDataLst>
              <p:tags r:id="rId13"/>
            </p:custDataLst>
          </p:nvPr>
        </p:nvPicPr>
        <p:blipFill>
          <a:blip r:embed="rId14"/>
          <a:srcRect t="401" r="6963" b="47355"/>
          <a:stretch>
            <a:fillRect/>
          </a:stretch>
        </p:blipFill>
        <p:spPr>
          <a:xfrm>
            <a:off x="6507480" y="4490085"/>
            <a:ext cx="5332730" cy="16179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1619885" y="447358"/>
            <a:ext cx="6458585" cy="553085"/>
          </a:xfrm>
          <a:prstGeom prst="rect">
            <a:avLst/>
          </a:prstGeom>
          <a:noFill/>
        </p:spPr>
        <p:txBody>
          <a:bodyPr wrap="square" rtlCol="0" anchor="ctr" anchorCtr="0">
            <a:spAutoFit/>
          </a:bodyPr>
          <a:lstStyle/>
          <a:p>
            <a:pPr fontAlgn="ctr">
              <a:lnSpc>
                <a:spcPct val="100000"/>
              </a:lnSpc>
            </a:pPr>
            <a:r>
              <a:rPr lang="en-US" altLang="zh-CN" sz="3000" b="1">
                <a:solidFill>
                  <a:schemeClr val="tx2">
                    <a:lumMod val="60000"/>
                    <a:lumOff val="40000"/>
                  </a:schemeClr>
                </a:solidFill>
                <a:latin typeface="+mj-lt"/>
                <a:ea typeface="微软雅黑" panose="020B0503020204020204" charset="-122"/>
                <a:cs typeface="+mj-lt"/>
                <a:sym typeface="+mn-ea"/>
              </a:rPr>
              <a:t>CONTENTS</a:t>
            </a:r>
            <a:endParaRPr lang="en-US" altLang="zh-CN" sz="3000" b="1">
              <a:solidFill>
                <a:schemeClr val="tx2">
                  <a:lumMod val="60000"/>
                  <a:lumOff val="40000"/>
                </a:schemeClr>
              </a:solidFill>
              <a:latin typeface="+mj-lt"/>
              <a:ea typeface="微软雅黑" panose="020B0503020204020204" charset="-122"/>
              <a:cs typeface="+mj-lt"/>
              <a:sym typeface="+mn-ea"/>
            </a:endParaRPr>
          </a:p>
        </p:txBody>
      </p:sp>
      <p:sp>
        <p:nvSpPr>
          <p:cNvPr id="26" name="文本框 25"/>
          <p:cNvSpPr txBox="1"/>
          <p:nvPr/>
        </p:nvSpPr>
        <p:spPr>
          <a:xfrm>
            <a:off x="415925" y="370840"/>
            <a:ext cx="1203960" cy="706755"/>
          </a:xfrm>
          <a:prstGeom prst="rect">
            <a:avLst/>
          </a:prstGeom>
          <a:noFill/>
        </p:spPr>
        <p:txBody>
          <a:bodyPr wrap="square" rtlCol="0" anchor="ctr" anchorCtr="0">
            <a:spAutoFit/>
          </a:bodyPr>
          <a:lstStyle/>
          <a:p>
            <a:pPr fontAlgn="ctr">
              <a:lnSpc>
                <a:spcPct val="100000"/>
              </a:lnSpc>
            </a:pPr>
            <a:r>
              <a:rPr lang="zh-CN" altLang="en-US" sz="4000" b="1">
                <a:solidFill>
                  <a:schemeClr val="accent1"/>
                </a:solidFill>
                <a:latin typeface="微软雅黑" panose="020B0503020204020204" charset="-122"/>
                <a:ea typeface="微软雅黑" panose="020B0503020204020204" charset="-122"/>
                <a:cs typeface="微软雅黑" panose="020B0503020204020204" charset="-122"/>
                <a:sym typeface="+mn-ea"/>
              </a:rPr>
              <a:t>目录</a:t>
            </a:r>
            <a:endParaRPr lang="zh-CN" altLang="en-US" sz="4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2" name="矩形 1"/>
          <p:cNvSpPr/>
          <p:nvPr>
            <p:custDataLst>
              <p:tags r:id="rId1"/>
            </p:custDataLst>
          </p:nvPr>
        </p:nvSpPr>
        <p:spPr>
          <a:xfrm>
            <a:off x="707390" y="1388745"/>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41" name="文本框 40"/>
          <p:cNvSpPr txBox="1"/>
          <p:nvPr>
            <p:custDataLst>
              <p:tags r:id="rId2"/>
            </p:custDataLst>
          </p:nvPr>
        </p:nvSpPr>
        <p:spPr>
          <a:xfrm>
            <a:off x="707390" y="1995170"/>
            <a:ext cx="3366135" cy="398780"/>
          </a:xfrm>
          <a:prstGeom prst="rect">
            <a:avLst/>
          </a:prstGeom>
          <a:noFill/>
        </p:spPr>
        <p:txBody>
          <a:bodyPr wrap="square" rtlCol="0" anchor="ctr" anchorCtr="0">
            <a:spAutoFit/>
          </a:bodyPr>
          <a:lstStyle/>
          <a:p>
            <a:pPr algn="ctr" fontAlgn="ctr">
              <a:lnSpc>
                <a:spcPct val="100000"/>
              </a:lnSpc>
            </a:pP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屋顶</a:t>
            </a:r>
            <a:r>
              <a:rPr lang="en-US" alt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战略屋架构</a:t>
            </a:r>
            <a:endPar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42" name="文本框 41"/>
          <p:cNvSpPr txBox="1"/>
          <p:nvPr>
            <p:custDataLst>
              <p:tags r:id="rId3"/>
            </p:custDataLst>
          </p:nvPr>
        </p:nvSpPr>
        <p:spPr>
          <a:xfrm>
            <a:off x="1867535" y="1479550"/>
            <a:ext cx="1046480" cy="553085"/>
          </a:xfrm>
          <a:prstGeom prst="rect">
            <a:avLst/>
          </a:prstGeom>
          <a:noFill/>
        </p:spPr>
        <p:txBody>
          <a:bodyPr wrap="square" rtlCol="0" anchor="ctr" anchorCtr="0">
            <a:spAutoFit/>
          </a:bodyPr>
          <a:lstStyle/>
          <a:p>
            <a:pPr lvl="0" algn="ctr" fontAlgn="ctr">
              <a:buClrTx/>
              <a:buSzTx/>
              <a:buFontTx/>
            </a:pPr>
            <a:r>
              <a:rPr lang="en-US" altLang="zh-CN"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①</a:t>
            </a:r>
            <a:endParaRPr lang="en-US" altLang="zh-CN"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67" name="矩形 66"/>
          <p:cNvSpPr/>
          <p:nvPr>
            <p:custDataLst>
              <p:tags r:id="rId4"/>
            </p:custDataLst>
          </p:nvPr>
        </p:nvSpPr>
        <p:spPr>
          <a:xfrm>
            <a:off x="4485640" y="1388745"/>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6" name="文本框 75"/>
          <p:cNvSpPr txBox="1"/>
          <p:nvPr>
            <p:custDataLst>
              <p:tags r:id="rId5"/>
            </p:custDataLst>
          </p:nvPr>
        </p:nvSpPr>
        <p:spPr>
          <a:xfrm>
            <a:off x="4485640" y="1995170"/>
            <a:ext cx="3366135" cy="398780"/>
          </a:xfrm>
          <a:prstGeom prst="rect">
            <a:avLst/>
          </a:prstGeom>
          <a:noFill/>
        </p:spPr>
        <p:txBody>
          <a:bodyPr wrap="square" rtlCol="0" anchor="ctr" anchorCtr="0">
            <a:spAutoFit/>
          </a:bodyPr>
          <a:lstStyle/>
          <a:p>
            <a:pPr algn="ctr" fontAlgn="ctr">
              <a:lnSpc>
                <a:spcPct val="100000"/>
              </a:lnSpc>
            </a:pPr>
            <a:r>
              <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多层平台架构</a:t>
            </a:r>
            <a:endPar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77" name="文本框 76"/>
          <p:cNvSpPr txBox="1"/>
          <p:nvPr>
            <p:custDataLst>
              <p:tags r:id="rId6"/>
            </p:custDataLst>
          </p:nvPr>
        </p:nvSpPr>
        <p:spPr>
          <a:xfrm>
            <a:off x="5645785" y="1479550"/>
            <a:ext cx="1046480" cy="553085"/>
          </a:xfrm>
          <a:prstGeom prst="rect">
            <a:avLst/>
          </a:prstGeom>
          <a:noFill/>
        </p:spPr>
        <p:txBody>
          <a:bodyPr wrap="square" rtlCol="0" anchor="ctr" anchorCtr="0">
            <a:spAutoFit/>
          </a:bodyPr>
          <a:lstStyle/>
          <a:p>
            <a:pPr lvl="0" algn="ctr" fontAlgn="ctr">
              <a:buClrTx/>
              <a:buSzTx/>
              <a:buFontTx/>
            </a:pPr>
            <a:r>
              <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②</a:t>
            </a:r>
            <a:endPar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79" name="矩形 78"/>
          <p:cNvSpPr/>
          <p:nvPr>
            <p:custDataLst>
              <p:tags r:id="rId7"/>
            </p:custDataLst>
          </p:nvPr>
        </p:nvSpPr>
        <p:spPr>
          <a:xfrm>
            <a:off x="8268970" y="1389380"/>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88" name="文本框 87"/>
          <p:cNvSpPr txBox="1"/>
          <p:nvPr>
            <p:custDataLst>
              <p:tags r:id="rId8"/>
            </p:custDataLst>
          </p:nvPr>
        </p:nvSpPr>
        <p:spPr>
          <a:xfrm>
            <a:off x="8268970" y="1995805"/>
            <a:ext cx="3366135" cy="398780"/>
          </a:xfrm>
          <a:prstGeom prst="rect">
            <a:avLst/>
          </a:prstGeom>
          <a:noFill/>
        </p:spPr>
        <p:txBody>
          <a:bodyPr wrap="square" rtlCol="0" anchor="ctr" anchorCtr="0">
            <a:spAutoFit/>
          </a:bodyPr>
          <a:lstStyle/>
          <a:p>
            <a:pPr algn="ctr" fontAlgn="ctr">
              <a:lnSpc>
                <a:spcPct val="100000"/>
              </a:lnSpc>
            </a:pPr>
            <a:r>
              <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中心发散</a:t>
            </a: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架构</a:t>
            </a:r>
            <a:endPar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89" name="文本框 88"/>
          <p:cNvSpPr txBox="1"/>
          <p:nvPr>
            <p:custDataLst>
              <p:tags r:id="rId9"/>
            </p:custDataLst>
          </p:nvPr>
        </p:nvSpPr>
        <p:spPr>
          <a:xfrm>
            <a:off x="9429115" y="1480185"/>
            <a:ext cx="1046480" cy="553085"/>
          </a:xfrm>
          <a:prstGeom prst="rect">
            <a:avLst/>
          </a:prstGeom>
          <a:noFill/>
        </p:spPr>
        <p:txBody>
          <a:bodyPr wrap="square" rtlCol="0" anchor="ctr" anchorCtr="0">
            <a:spAutoFit/>
          </a:bodyPr>
          <a:lstStyle/>
          <a:p>
            <a:pPr lvl="0" algn="ctr" fontAlgn="ctr">
              <a:buClrTx/>
              <a:buSzTx/>
              <a:buFontTx/>
            </a:pPr>
            <a:r>
              <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③</a:t>
            </a:r>
            <a:endPar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1" name="矩形 90"/>
          <p:cNvSpPr/>
          <p:nvPr>
            <p:custDataLst>
              <p:tags r:id="rId10"/>
            </p:custDataLst>
          </p:nvPr>
        </p:nvSpPr>
        <p:spPr>
          <a:xfrm>
            <a:off x="707390" y="4131945"/>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00" name="文本框 99"/>
          <p:cNvSpPr txBox="1"/>
          <p:nvPr>
            <p:custDataLst>
              <p:tags r:id="rId11"/>
            </p:custDataLst>
          </p:nvPr>
        </p:nvSpPr>
        <p:spPr>
          <a:xfrm>
            <a:off x="707390" y="4738370"/>
            <a:ext cx="3366135" cy="398780"/>
          </a:xfrm>
          <a:prstGeom prst="rect">
            <a:avLst/>
          </a:prstGeom>
          <a:noFill/>
        </p:spPr>
        <p:txBody>
          <a:bodyPr wrap="square" rtlCol="0" anchor="ctr" anchorCtr="0">
            <a:spAutoFit/>
          </a:bodyPr>
          <a:lstStyle/>
          <a:p>
            <a:pPr algn="ctr" fontAlgn="ctr">
              <a:lnSpc>
                <a:spcPct val="100000"/>
              </a:lnSpc>
            </a:pPr>
            <a:r>
              <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循环逻辑</a:t>
            </a: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架构</a:t>
            </a:r>
            <a:endPar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01" name="文本框 100"/>
          <p:cNvSpPr txBox="1"/>
          <p:nvPr>
            <p:custDataLst>
              <p:tags r:id="rId12"/>
            </p:custDataLst>
          </p:nvPr>
        </p:nvSpPr>
        <p:spPr>
          <a:xfrm>
            <a:off x="1867535" y="4222750"/>
            <a:ext cx="1046480" cy="553085"/>
          </a:xfrm>
          <a:prstGeom prst="rect">
            <a:avLst/>
          </a:prstGeom>
          <a:noFill/>
        </p:spPr>
        <p:txBody>
          <a:bodyPr wrap="square" rtlCol="0" anchor="ctr" anchorCtr="0">
            <a:spAutoFit/>
          </a:bodyPr>
          <a:lstStyle/>
          <a:p>
            <a:pPr lvl="0" algn="ctr" fontAlgn="ctr">
              <a:buClrTx/>
              <a:buSzTx/>
              <a:buFontTx/>
            </a:pPr>
            <a:r>
              <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④</a:t>
            </a:r>
            <a:endPar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03" name="矩形 102"/>
          <p:cNvSpPr/>
          <p:nvPr>
            <p:custDataLst>
              <p:tags r:id="rId13"/>
            </p:custDataLst>
          </p:nvPr>
        </p:nvSpPr>
        <p:spPr>
          <a:xfrm>
            <a:off x="4485640" y="4131945"/>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12" name="文本框 111"/>
          <p:cNvSpPr txBox="1"/>
          <p:nvPr>
            <p:custDataLst>
              <p:tags r:id="rId14"/>
            </p:custDataLst>
          </p:nvPr>
        </p:nvSpPr>
        <p:spPr>
          <a:xfrm>
            <a:off x="4485640" y="4738370"/>
            <a:ext cx="3366135" cy="398780"/>
          </a:xfrm>
          <a:prstGeom prst="rect">
            <a:avLst/>
          </a:prstGeom>
          <a:noFill/>
        </p:spPr>
        <p:txBody>
          <a:bodyPr wrap="square" rtlCol="0" anchor="ctr" anchorCtr="0">
            <a:spAutoFit/>
          </a:bodyPr>
          <a:lstStyle/>
          <a:p>
            <a:pPr algn="ctr" fontAlgn="ctr">
              <a:lnSpc>
                <a:spcPct val="100000"/>
              </a:lnSpc>
            </a:pPr>
            <a:r>
              <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业务流程</a:t>
            </a: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架构</a:t>
            </a:r>
            <a:endPar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13" name="文本框 112"/>
          <p:cNvSpPr txBox="1"/>
          <p:nvPr>
            <p:custDataLst>
              <p:tags r:id="rId15"/>
            </p:custDataLst>
          </p:nvPr>
        </p:nvSpPr>
        <p:spPr>
          <a:xfrm>
            <a:off x="5645785" y="4222750"/>
            <a:ext cx="1046480" cy="553085"/>
          </a:xfrm>
          <a:prstGeom prst="rect">
            <a:avLst/>
          </a:prstGeom>
          <a:noFill/>
        </p:spPr>
        <p:txBody>
          <a:bodyPr wrap="square" rtlCol="0" anchor="ctr" anchorCtr="0">
            <a:spAutoFit/>
          </a:bodyPr>
          <a:lstStyle/>
          <a:p>
            <a:pPr lvl="0" algn="ctr" fontAlgn="ctr">
              <a:buClrTx/>
              <a:buSzTx/>
              <a:buFontTx/>
            </a:pPr>
            <a:r>
              <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⑤</a:t>
            </a:r>
            <a:endPar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15" name="矩形 114"/>
          <p:cNvSpPr/>
          <p:nvPr>
            <p:custDataLst>
              <p:tags r:id="rId16"/>
            </p:custDataLst>
          </p:nvPr>
        </p:nvSpPr>
        <p:spPr>
          <a:xfrm>
            <a:off x="8268970" y="4132580"/>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24" name="文本框 123"/>
          <p:cNvSpPr txBox="1"/>
          <p:nvPr>
            <p:custDataLst>
              <p:tags r:id="rId17"/>
            </p:custDataLst>
          </p:nvPr>
        </p:nvSpPr>
        <p:spPr>
          <a:xfrm>
            <a:off x="8268970" y="4739005"/>
            <a:ext cx="3366135" cy="398780"/>
          </a:xfrm>
          <a:prstGeom prst="rect">
            <a:avLst/>
          </a:prstGeom>
          <a:noFill/>
        </p:spPr>
        <p:txBody>
          <a:bodyPr wrap="square" rtlCol="0" anchor="ctr" anchorCtr="0">
            <a:spAutoFit/>
          </a:bodyPr>
          <a:lstStyle/>
          <a:p>
            <a:pPr algn="ctr" fontAlgn="ctr">
              <a:lnSpc>
                <a:spcPct val="100000"/>
              </a:lnSpc>
            </a:pPr>
            <a:r>
              <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时间流程</a:t>
            </a: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架构</a:t>
            </a:r>
            <a:endPar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25" name="文本框 124"/>
          <p:cNvSpPr txBox="1"/>
          <p:nvPr>
            <p:custDataLst>
              <p:tags r:id="rId18"/>
            </p:custDataLst>
          </p:nvPr>
        </p:nvSpPr>
        <p:spPr>
          <a:xfrm>
            <a:off x="9429115" y="4223385"/>
            <a:ext cx="1046480" cy="553085"/>
          </a:xfrm>
          <a:prstGeom prst="rect">
            <a:avLst/>
          </a:prstGeom>
          <a:noFill/>
        </p:spPr>
        <p:txBody>
          <a:bodyPr wrap="square" rtlCol="0" anchor="ctr" anchorCtr="0">
            <a:spAutoFit/>
          </a:bodyPr>
          <a:lstStyle/>
          <a:p>
            <a:pPr lvl="0" algn="ctr" fontAlgn="ctr">
              <a:buClrTx/>
              <a:buSzTx/>
              <a:buFontTx/>
            </a:pPr>
            <a:r>
              <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⑥</a:t>
            </a:r>
            <a:endPar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27" name="梯形 126"/>
          <p:cNvSpPr/>
          <p:nvPr>
            <p:custDataLst>
              <p:tags r:id="rId19"/>
            </p:custDataLst>
          </p:nvPr>
        </p:nvSpPr>
        <p:spPr>
          <a:xfrm>
            <a:off x="5431155" y="3411855"/>
            <a:ext cx="1583055" cy="71755"/>
          </a:xfrm>
          <a:prstGeom prst="trapezoid">
            <a:avLst>
              <a:gd name="adj" fmla="val 187465"/>
            </a:avLst>
          </a:prstGeom>
          <a:gradFill>
            <a:gsLst>
              <a:gs pos="0">
                <a:schemeClr val="accent1">
                  <a:lumMod val="60000"/>
                  <a:lumOff val="40000"/>
                  <a:alpha val="0"/>
                </a:schemeClr>
              </a:gs>
              <a:gs pos="100000">
                <a:schemeClr val="accent1">
                  <a:lumMod val="60000"/>
                  <a:lumOff val="40000"/>
                </a:schemeClr>
              </a:gs>
            </a:gsLst>
            <a:lin ang="5400000" scaled="1"/>
          </a:gra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28" name="梯形 127"/>
          <p:cNvSpPr/>
          <p:nvPr>
            <p:custDataLst>
              <p:tags r:id="rId20"/>
            </p:custDataLst>
          </p:nvPr>
        </p:nvSpPr>
        <p:spPr>
          <a:xfrm>
            <a:off x="5431155" y="3058795"/>
            <a:ext cx="1583055" cy="71755"/>
          </a:xfrm>
          <a:prstGeom prst="trapezoid">
            <a:avLst>
              <a:gd name="adj" fmla="val 187465"/>
            </a:avLst>
          </a:prstGeom>
          <a:gradFill>
            <a:gsLst>
              <a:gs pos="0">
                <a:schemeClr val="accent1">
                  <a:lumMod val="60000"/>
                  <a:lumOff val="40000"/>
                  <a:alpha val="0"/>
                </a:schemeClr>
              </a:gs>
              <a:gs pos="100000">
                <a:schemeClr val="accent1">
                  <a:lumMod val="60000"/>
                  <a:lumOff val="40000"/>
                </a:schemeClr>
              </a:gs>
            </a:gsLst>
            <a:lin ang="5400000" scaled="1"/>
          </a:gra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29" name="梯形 128"/>
          <p:cNvSpPr/>
          <p:nvPr>
            <p:custDataLst>
              <p:tags r:id="rId21"/>
            </p:custDataLst>
          </p:nvPr>
        </p:nvSpPr>
        <p:spPr>
          <a:xfrm>
            <a:off x="5431155" y="2705100"/>
            <a:ext cx="1583055" cy="71755"/>
          </a:xfrm>
          <a:prstGeom prst="trapezoid">
            <a:avLst>
              <a:gd name="adj" fmla="val 187465"/>
            </a:avLst>
          </a:prstGeom>
          <a:gradFill>
            <a:gsLst>
              <a:gs pos="0">
                <a:schemeClr val="accent1">
                  <a:lumMod val="60000"/>
                  <a:lumOff val="40000"/>
                  <a:alpha val="0"/>
                </a:schemeClr>
              </a:gs>
              <a:gs pos="100000">
                <a:schemeClr val="accent1">
                  <a:lumMod val="60000"/>
                  <a:lumOff val="40000"/>
                </a:schemeClr>
              </a:gs>
            </a:gsLst>
            <a:lin ang="5400000" scaled="1"/>
          </a:gra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30" name="Freeform 1482"/>
          <p:cNvSpPr/>
          <p:nvPr>
            <p:custDataLst>
              <p:tags r:id="rId22"/>
            </p:custDataLst>
          </p:nvPr>
        </p:nvSpPr>
        <p:spPr>
          <a:xfrm>
            <a:off x="5433695" y="3482340"/>
            <a:ext cx="1580515" cy="71755"/>
          </a:xfrm>
          <a:custGeom>
            <a:avLst/>
            <a:gdLst/>
            <a:ahLst/>
            <a:cxnLst/>
            <a:rect l="0" t="0" r="0" b="0"/>
            <a:pathLst>
              <a:path w="10750295" h="362712">
                <a:moveTo>
                  <a:pt x="0" y="362712"/>
                </a:moveTo>
                <a:lnTo>
                  <a:pt x="10750295" y="362712"/>
                </a:lnTo>
                <a:lnTo>
                  <a:pt x="10750295" y="0"/>
                </a:lnTo>
                <a:lnTo>
                  <a:pt x="0" y="0"/>
                </a:lnTo>
                <a:lnTo>
                  <a:pt x="0" y="362712"/>
                </a:lnTo>
                <a:close/>
              </a:path>
            </a:pathLst>
          </a:custGeom>
          <a:solidFill>
            <a:schemeClr val="accent1">
              <a:lumMod val="60000"/>
              <a:lumOff val="40000"/>
            </a:schemeClr>
          </a:solidFill>
          <a:ln w="3175" cap="flat" cmpd="sng" algn="ctr">
            <a:solidFill>
              <a:schemeClr val="bg1"/>
            </a:solid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31" name="Freeform 1484"/>
          <p:cNvSpPr/>
          <p:nvPr>
            <p:custDataLst>
              <p:tags r:id="rId23"/>
            </p:custDataLst>
          </p:nvPr>
        </p:nvSpPr>
        <p:spPr>
          <a:xfrm>
            <a:off x="5433695" y="3129280"/>
            <a:ext cx="1580515" cy="71755"/>
          </a:xfrm>
          <a:custGeom>
            <a:avLst/>
            <a:gdLst/>
            <a:ahLst/>
            <a:cxnLst/>
            <a:rect l="0" t="0" r="0" b="0"/>
            <a:pathLst>
              <a:path w="10750295" h="362712">
                <a:moveTo>
                  <a:pt x="0" y="362712"/>
                </a:moveTo>
                <a:lnTo>
                  <a:pt x="10750295" y="362712"/>
                </a:lnTo>
                <a:lnTo>
                  <a:pt x="10750295" y="0"/>
                </a:lnTo>
                <a:lnTo>
                  <a:pt x="0" y="0"/>
                </a:lnTo>
                <a:lnTo>
                  <a:pt x="0" y="362712"/>
                </a:lnTo>
                <a:close/>
              </a:path>
            </a:pathLst>
          </a:custGeom>
          <a:solidFill>
            <a:schemeClr val="accent1">
              <a:lumMod val="60000"/>
              <a:lumOff val="40000"/>
            </a:schemeClr>
          </a:solidFill>
          <a:ln w="3175" cap="flat" cmpd="sng" algn="ctr">
            <a:solidFill>
              <a:schemeClr val="bg1"/>
            </a:solid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32" name="Freeform 1486"/>
          <p:cNvSpPr/>
          <p:nvPr>
            <p:custDataLst>
              <p:tags r:id="rId24"/>
            </p:custDataLst>
          </p:nvPr>
        </p:nvSpPr>
        <p:spPr>
          <a:xfrm>
            <a:off x="5433695" y="2776855"/>
            <a:ext cx="1580515" cy="71755"/>
          </a:xfrm>
          <a:custGeom>
            <a:avLst/>
            <a:gdLst/>
            <a:ahLst/>
            <a:cxnLst/>
            <a:rect l="0" t="0" r="0" b="0"/>
            <a:pathLst>
              <a:path w="10750295" h="362712">
                <a:moveTo>
                  <a:pt x="0" y="362712"/>
                </a:moveTo>
                <a:lnTo>
                  <a:pt x="10750295" y="362712"/>
                </a:lnTo>
                <a:lnTo>
                  <a:pt x="10750295" y="0"/>
                </a:lnTo>
                <a:lnTo>
                  <a:pt x="0" y="0"/>
                </a:lnTo>
                <a:lnTo>
                  <a:pt x="0" y="362712"/>
                </a:lnTo>
                <a:close/>
              </a:path>
            </a:pathLst>
          </a:custGeom>
          <a:solidFill>
            <a:schemeClr val="accent1">
              <a:lumMod val="60000"/>
              <a:lumOff val="40000"/>
            </a:schemeClr>
          </a:solidFill>
          <a:ln w="3175" cap="flat" cmpd="sng" algn="ctr">
            <a:solidFill>
              <a:schemeClr val="bg1"/>
            </a:solid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33" name="矩形: 圆角 43"/>
          <p:cNvSpPr/>
          <p:nvPr>
            <p:custDataLst>
              <p:tags r:id="rId25"/>
            </p:custDataLst>
          </p:nvPr>
        </p:nvSpPr>
        <p:spPr>
          <a:xfrm>
            <a:off x="5581650" y="2873375"/>
            <a:ext cx="370205" cy="17526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34" name="Freeform 1529"/>
          <p:cNvSpPr/>
          <p:nvPr>
            <p:custDataLst>
              <p:tags r:id="rId26"/>
            </p:custDataLst>
          </p:nvPr>
        </p:nvSpPr>
        <p:spPr>
          <a:xfrm>
            <a:off x="5603240" y="2893695"/>
            <a:ext cx="323215" cy="47625"/>
          </a:xfrm>
          <a:custGeom>
            <a:avLst/>
            <a:gdLst/>
            <a:ahLst/>
            <a:cxnLst/>
            <a:rect l="0" t="0" r="0" b="0"/>
            <a:pathLst>
              <a:path w="2674620" h="242317">
                <a:moveTo>
                  <a:pt x="0" y="23623"/>
                </a:moveTo>
                <a:cubicBezTo>
                  <a:pt x="0" y="10542"/>
                  <a:pt x="10541" y="0"/>
                  <a:pt x="23622" y="0"/>
                </a:cubicBezTo>
                <a:lnTo>
                  <a:pt x="2650999" y="0"/>
                </a:lnTo>
                <a:cubicBezTo>
                  <a:pt x="2664080" y="0"/>
                  <a:pt x="2674620" y="10542"/>
                  <a:pt x="2674620" y="23623"/>
                </a:cubicBezTo>
                <a:lnTo>
                  <a:pt x="2674620" y="218694"/>
                </a:lnTo>
                <a:cubicBezTo>
                  <a:pt x="2674620" y="231775"/>
                  <a:pt x="2664080" y="242317"/>
                  <a:pt x="2650999" y="242317"/>
                </a:cubicBezTo>
                <a:lnTo>
                  <a:pt x="23622" y="242317"/>
                </a:lnTo>
                <a:cubicBezTo>
                  <a:pt x="10541" y="242317"/>
                  <a:pt x="0" y="231775"/>
                  <a:pt x="0" y="218694"/>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35" name="矩形: 圆角 8"/>
          <p:cNvSpPr/>
          <p:nvPr>
            <p:custDataLst>
              <p:tags r:id="rId27"/>
            </p:custDataLst>
          </p:nvPr>
        </p:nvSpPr>
        <p:spPr>
          <a:xfrm>
            <a:off x="5624195" y="2513330"/>
            <a:ext cx="269875" cy="17145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36" name="Freeform 1493"/>
          <p:cNvSpPr/>
          <p:nvPr>
            <p:custDataLst>
              <p:tags r:id="rId28"/>
            </p:custDataLst>
          </p:nvPr>
        </p:nvSpPr>
        <p:spPr>
          <a:xfrm>
            <a:off x="5644515" y="2524125"/>
            <a:ext cx="226695" cy="4889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37" name="矩形: 圆角 8"/>
          <p:cNvSpPr/>
          <p:nvPr>
            <p:custDataLst>
              <p:tags r:id="rId29"/>
            </p:custDataLst>
          </p:nvPr>
        </p:nvSpPr>
        <p:spPr>
          <a:xfrm>
            <a:off x="5943600" y="2513330"/>
            <a:ext cx="269875" cy="17145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38" name="Freeform 1493"/>
          <p:cNvSpPr/>
          <p:nvPr>
            <p:custDataLst>
              <p:tags r:id="rId30"/>
            </p:custDataLst>
          </p:nvPr>
        </p:nvSpPr>
        <p:spPr>
          <a:xfrm>
            <a:off x="5963920" y="2524125"/>
            <a:ext cx="226695" cy="4889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39" name="矩形: 圆角 8"/>
          <p:cNvSpPr/>
          <p:nvPr>
            <p:custDataLst>
              <p:tags r:id="rId31"/>
            </p:custDataLst>
          </p:nvPr>
        </p:nvSpPr>
        <p:spPr>
          <a:xfrm>
            <a:off x="6263005" y="2513330"/>
            <a:ext cx="269875" cy="17145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40" name="Freeform 1493"/>
          <p:cNvSpPr/>
          <p:nvPr>
            <p:custDataLst>
              <p:tags r:id="rId32"/>
            </p:custDataLst>
          </p:nvPr>
        </p:nvSpPr>
        <p:spPr>
          <a:xfrm>
            <a:off x="6283325" y="2524125"/>
            <a:ext cx="226695" cy="4889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41" name="矩形: 圆角 8"/>
          <p:cNvSpPr/>
          <p:nvPr>
            <p:custDataLst>
              <p:tags r:id="rId33"/>
            </p:custDataLst>
          </p:nvPr>
        </p:nvSpPr>
        <p:spPr>
          <a:xfrm>
            <a:off x="6581775" y="2513330"/>
            <a:ext cx="269875" cy="17145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42" name="Freeform 1493"/>
          <p:cNvSpPr/>
          <p:nvPr>
            <p:custDataLst>
              <p:tags r:id="rId34"/>
            </p:custDataLst>
          </p:nvPr>
        </p:nvSpPr>
        <p:spPr>
          <a:xfrm>
            <a:off x="6602730" y="2524125"/>
            <a:ext cx="226695" cy="4889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43" name="矩形: 圆角 43"/>
          <p:cNvSpPr/>
          <p:nvPr>
            <p:custDataLst>
              <p:tags r:id="rId35"/>
            </p:custDataLst>
          </p:nvPr>
        </p:nvSpPr>
        <p:spPr>
          <a:xfrm>
            <a:off x="6023610" y="2873375"/>
            <a:ext cx="370205" cy="17526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44" name="Freeform 1529"/>
          <p:cNvSpPr/>
          <p:nvPr>
            <p:custDataLst>
              <p:tags r:id="rId36"/>
            </p:custDataLst>
          </p:nvPr>
        </p:nvSpPr>
        <p:spPr>
          <a:xfrm>
            <a:off x="6044565" y="2893695"/>
            <a:ext cx="323215" cy="47625"/>
          </a:xfrm>
          <a:custGeom>
            <a:avLst/>
            <a:gdLst/>
            <a:ahLst/>
            <a:cxnLst/>
            <a:rect l="0" t="0" r="0" b="0"/>
            <a:pathLst>
              <a:path w="2674620" h="242317">
                <a:moveTo>
                  <a:pt x="0" y="23623"/>
                </a:moveTo>
                <a:cubicBezTo>
                  <a:pt x="0" y="10542"/>
                  <a:pt x="10541" y="0"/>
                  <a:pt x="23622" y="0"/>
                </a:cubicBezTo>
                <a:lnTo>
                  <a:pt x="2650999" y="0"/>
                </a:lnTo>
                <a:cubicBezTo>
                  <a:pt x="2664080" y="0"/>
                  <a:pt x="2674620" y="10542"/>
                  <a:pt x="2674620" y="23623"/>
                </a:cubicBezTo>
                <a:lnTo>
                  <a:pt x="2674620" y="218694"/>
                </a:lnTo>
                <a:cubicBezTo>
                  <a:pt x="2674620" y="231775"/>
                  <a:pt x="2664080" y="242317"/>
                  <a:pt x="2650999" y="242317"/>
                </a:cubicBezTo>
                <a:lnTo>
                  <a:pt x="23622" y="242317"/>
                </a:lnTo>
                <a:cubicBezTo>
                  <a:pt x="10541" y="242317"/>
                  <a:pt x="0" y="231775"/>
                  <a:pt x="0" y="218694"/>
                </a:cubicBezTo>
                <a:close/>
              </a:path>
            </a:pathLst>
          </a:custGeom>
          <a:solidFill>
            <a:srgbClr val="58729A">
              <a:lumMod val="20000"/>
              <a:lumOff val="80000"/>
              <a:alpha val="50195"/>
            </a:srgb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45" name="矩形: 圆角 43"/>
          <p:cNvSpPr/>
          <p:nvPr>
            <p:custDataLst>
              <p:tags r:id="rId37"/>
            </p:custDataLst>
          </p:nvPr>
        </p:nvSpPr>
        <p:spPr>
          <a:xfrm>
            <a:off x="6466205" y="2873375"/>
            <a:ext cx="370205" cy="17526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46" name="Freeform 1529"/>
          <p:cNvSpPr/>
          <p:nvPr>
            <p:custDataLst>
              <p:tags r:id="rId38"/>
            </p:custDataLst>
          </p:nvPr>
        </p:nvSpPr>
        <p:spPr>
          <a:xfrm>
            <a:off x="6486525" y="2893695"/>
            <a:ext cx="323215" cy="47625"/>
          </a:xfrm>
          <a:custGeom>
            <a:avLst/>
            <a:gdLst/>
            <a:ahLst/>
            <a:cxnLst/>
            <a:rect l="0" t="0" r="0" b="0"/>
            <a:pathLst>
              <a:path w="2674620" h="242317">
                <a:moveTo>
                  <a:pt x="0" y="23623"/>
                </a:moveTo>
                <a:cubicBezTo>
                  <a:pt x="0" y="10542"/>
                  <a:pt x="10541" y="0"/>
                  <a:pt x="23622" y="0"/>
                </a:cubicBezTo>
                <a:lnTo>
                  <a:pt x="2650999" y="0"/>
                </a:lnTo>
                <a:cubicBezTo>
                  <a:pt x="2664080" y="0"/>
                  <a:pt x="2674620" y="10542"/>
                  <a:pt x="2674620" y="23623"/>
                </a:cubicBezTo>
                <a:lnTo>
                  <a:pt x="2674620" y="218694"/>
                </a:lnTo>
                <a:cubicBezTo>
                  <a:pt x="2674620" y="231775"/>
                  <a:pt x="2664080" y="242317"/>
                  <a:pt x="2650999" y="242317"/>
                </a:cubicBezTo>
                <a:lnTo>
                  <a:pt x="23622" y="242317"/>
                </a:lnTo>
                <a:cubicBezTo>
                  <a:pt x="10541" y="242317"/>
                  <a:pt x="0" y="231775"/>
                  <a:pt x="0" y="218694"/>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47" name="Rectangle 1555"/>
          <p:cNvSpPr/>
          <p:nvPr>
            <p:custDataLst>
              <p:tags r:id="rId39"/>
            </p:custDataLst>
          </p:nvPr>
        </p:nvSpPr>
        <p:spPr>
          <a:xfrm>
            <a:off x="6044565" y="2891790"/>
            <a:ext cx="323215" cy="51435"/>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48" name="矩形: 圆角 48"/>
          <p:cNvSpPr/>
          <p:nvPr>
            <p:custDataLst>
              <p:tags r:id="rId40"/>
            </p:custDataLst>
          </p:nvPr>
        </p:nvSpPr>
        <p:spPr>
          <a:xfrm>
            <a:off x="5599430" y="3232785"/>
            <a:ext cx="586105" cy="163195"/>
          </a:xfrm>
          <a:prstGeom prst="roundRect">
            <a:avLst>
              <a:gd name="adj" fmla="val 1871"/>
            </a:avLst>
          </a:prstGeom>
          <a:solidFill>
            <a:srgbClr val="000000">
              <a:alpha val="0"/>
            </a:srgbClr>
          </a:solidFill>
          <a:ln w="11430" cap="flat" cmpd="sng" algn="ctr">
            <a:solidFill>
              <a:schemeClr val="accent1">
                <a:lumMod val="40000"/>
                <a:lumOff val="60000"/>
              </a:schemeClr>
            </a:solidFill>
            <a:prstDash val="dash"/>
            <a:miter lim="800000"/>
          </a:ln>
          <a:effec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b="1" dirty="0">
              <a:solidFill>
                <a:srgbClr val="24396B"/>
              </a:solidFill>
              <a:latin typeface="微软雅黑" panose="020B0503020204020204" charset="-122"/>
              <a:ea typeface="微软雅黑" panose="020B0503020204020204" charset="-122"/>
              <a:cs typeface="微软雅黑" panose="020B0503020204020204" charset="-122"/>
            </a:endParaRPr>
          </a:p>
        </p:txBody>
      </p:sp>
      <p:sp>
        <p:nvSpPr>
          <p:cNvPr id="150" name="Freeform 1536"/>
          <p:cNvSpPr/>
          <p:nvPr>
            <p:custDataLst>
              <p:tags r:id="rId41"/>
            </p:custDataLst>
          </p:nvPr>
        </p:nvSpPr>
        <p:spPr>
          <a:xfrm>
            <a:off x="5619115" y="3313430"/>
            <a:ext cx="274320" cy="66675"/>
          </a:xfrm>
          <a:custGeom>
            <a:avLst/>
            <a:gdLst/>
            <a:ahLst/>
            <a:cxnLst/>
            <a:rect l="0" t="0" r="0" b="0"/>
            <a:pathLst>
              <a:path w="1716024" h="338328">
                <a:moveTo>
                  <a:pt x="0" y="338328"/>
                </a:moveTo>
                <a:lnTo>
                  <a:pt x="1716024" y="338328"/>
                </a:lnTo>
                <a:lnTo>
                  <a:pt x="1716024" y="0"/>
                </a:lnTo>
                <a:lnTo>
                  <a:pt x="0" y="0"/>
                </a:lnTo>
                <a:lnTo>
                  <a:pt x="0" y="338328"/>
                </a:lnTo>
                <a:close/>
              </a:path>
            </a:pathLst>
          </a:custGeom>
          <a:noFill/>
          <a:ln w="12191" cap="flat" cmpd="sng" algn="ctr">
            <a:solidFill>
              <a:schemeClr val="accent1">
                <a:lumMod val="40000"/>
                <a:lumOff val="60000"/>
                <a:alpha val="50000"/>
              </a:schemeClr>
            </a:solidFill>
            <a:prstDash val="solid"/>
            <a:miter lim="127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51" name="Freeform 1537"/>
          <p:cNvSpPr/>
          <p:nvPr>
            <p:custDataLst>
              <p:tags r:id="rId42"/>
            </p:custDataLst>
          </p:nvPr>
        </p:nvSpPr>
        <p:spPr>
          <a:xfrm>
            <a:off x="5906770" y="3313430"/>
            <a:ext cx="262255" cy="66675"/>
          </a:xfrm>
          <a:custGeom>
            <a:avLst/>
            <a:gdLst/>
            <a:ahLst/>
            <a:cxnLst/>
            <a:rect l="0" t="0" r="0" b="0"/>
            <a:pathLst>
              <a:path w="2241804" h="338328">
                <a:moveTo>
                  <a:pt x="0" y="338328"/>
                </a:moveTo>
                <a:lnTo>
                  <a:pt x="2241804" y="338328"/>
                </a:lnTo>
                <a:lnTo>
                  <a:pt x="2241804" y="0"/>
                </a:lnTo>
                <a:lnTo>
                  <a:pt x="0" y="0"/>
                </a:lnTo>
                <a:lnTo>
                  <a:pt x="0" y="338328"/>
                </a:lnTo>
                <a:close/>
              </a:path>
            </a:pathLst>
          </a:custGeom>
          <a:noFill/>
          <a:ln w="12191" cap="flat" cmpd="sng" algn="ctr">
            <a:solidFill>
              <a:schemeClr val="accent1">
                <a:lumMod val="40000"/>
                <a:lumOff val="60000"/>
                <a:alpha val="50000"/>
              </a:schemeClr>
            </a:solidFill>
            <a:prstDash val="solid"/>
            <a:miter lim="127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52" name="Rectangle 1570"/>
          <p:cNvSpPr/>
          <p:nvPr>
            <p:custDataLst>
              <p:tags r:id="rId43"/>
            </p:custDataLst>
          </p:nvPr>
        </p:nvSpPr>
        <p:spPr>
          <a:xfrm>
            <a:off x="5617210" y="3251200"/>
            <a:ext cx="551815" cy="44450"/>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54" name="Freeform 1536"/>
          <p:cNvSpPr/>
          <p:nvPr>
            <p:custDataLst>
              <p:tags r:id="rId44"/>
            </p:custDataLst>
          </p:nvPr>
        </p:nvSpPr>
        <p:spPr>
          <a:xfrm>
            <a:off x="6257925" y="3313430"/>
            <a:ext cx="274320" cy="66675"/>
          </a:xfrm>
          <a:custGeom>
            <a:avLst/>
            <a:gdLst/>
            <a:ahLst/>
            <a:cxnLst/>
            <a:rect l="0" t="0" r="0" b="0"/>
            <a:pathLst>
              <a:path w="1716024" h="338328">
                <a:moveTo>
                  <a:pt x="0" y="338328"/>
                </a:moveTo>
                <a:lnTo>
                  <a:pt x="1716024" y="338328"/>
                </a:lnTo>
                <a:lnTo>
                  <a:pt x="1716024" y="0"/>
                </a:lnTo>
                <a:lnTo>
                  <a:pt x="0" y="0"/>
                </a:lnTo>
                <a:lnTo>
                  <a:pt x="0" y="338328"/>
                </a:lnTo>
                <a:close/>
              </a:path>
            </a:pathLst>
          </a:custGeom>
          <a:noFill/>
          <a:ln w="12191" cap="flat" cmpd="sng" algn="ctr">
            <a:solidFill>
              <a:schemeClr val="accent1">
                <a:lumMod val="40000"/>
                <a:lumOff val="60000"/>
                <a:alpha val="50000"/>
              </a:schemeClr>
            </a:solidFill>
            <a:prstDash val="solid"/>
            <a:miter lim="127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55" name="Freeform 1537"/>
          <p:cNvSpPr/>
          <p:nvPr>
            <p:custDataLst>
              <p:tags r:id="rId45"/>
            </p:custDataLst>
          </p:nvPr>
        </p:nvSpPr>
        <p:spPr>
          <a:xfrm>
            <a:off x="6546215" y="3313430"/>
            <a:ext cx="262255" cy="66675"/>
          </a:xfrm>
          <a:custGeom>
            <a:avLst/>
            <a:gdLst/>
            <a:ahLst/>
            <a:cxnLst/>
            <a:rect l="0" t="0" r="0" b="0"/>
            <a:pathLst>
              <a:path w="2241804" h="338328">
                <a:moveTo>
                  <a:pt x="0" y="338328"/>
                </a:moveTo>
                <a:lnTo>
                  <a:pt x="2241804" y="338328"/>
                </a:lnTo>
                <a:lnTo>
                  <a:pt x="2241804" y="0"/>
                </a:lnTo>
                <a:lnTo>
                  <a:pt x="0" y="0"/>
                </a:lnTo>
                <a:lnTo>
                  <a:pt x="0" y="338328"/>
                </a:lnTo>
                <a:close/>
              </a:path>
            </a:pathLst>
          </a:custGeom>
          <a:noFill/>
          <a:ln w="12191" cap="flat" cmpd="sng" algn="ctr">
            <a:solidFill>
              <a:schemeClr val="accent1">
                <a:lumMod val="40000"/>
                <a:lumOff val="60000"/>
                <a:alpha val="50000"/>
              </a:schemeClr>
            </a:solidFill>
            <a:prstDash val="solid"/>
            <a:miter lim="127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56" name="Rectangle 1570"/>
          <p:cNvSpPr/>
          <p:nvPr>
            <p:custDataLst>
              <p:tags r:id="rId46"/>
            </p:custDataLst>
          </p:nvPr>
        </p:nvSpPr>
        <p:spPr>
          <a:xfrm>
            <a:off x="6256020" y="3248660"/>
            <a:ext cx="551815" cy="44450"/>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57" name="矩形: 圆角 48"/>
          <p:cNvSpPr/>
          <p:nvPr>
            <p:custDataLst>
              <p:tags r:id="rId47"/>
            </p:custDataLst>
          </p:nvPr>
        </p:nvSpPr>
        <p:spPr>
          <a:xfrm>
            <a:off x="6238875" y="3232785"/>
            <a:ext cx="586105" cy="163195"/>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b="1" dirty="0">
              <a:solidFill>
                <a:srgbClr val="24396B"/>
              </a:solidFill>
              <a:latin typeface="微软雅黑" panose="020B0503020204020204" charset="-122"/>
              <a:ea typeface="微软雅黑" panose="020B0503020204020204" charset="-122"/>
              <a:cs typeface="微软雅黑" panose="020B0503020204020204" charset="-122"/>
            </a:endParaRPr>
          </a:p>
        </p:txBody>
      </p:sp>
      <p:grpSp>
        <p:nvGrpSpPr>
          <p:cNvPr id="158" name="组合 157"/>
          <p:cNvGrpSpPr/>
          <p:nvPr>
            <p:custDataLst>
              <p:tags r:id="rId48"/>
            </p:custDataLst>
          </p:nvPr>
        </p:nvGrpSpPr>
        <p:grpSpPr>
          <a:xfrm>
            <a:off x="8874760" y="2491740"/>
            <a:ext cx="2159000" cy="965200"/>
            <a:chOff x="1978" y="9485"/>
            <a:chExt cx="4539" cy="2029"/>
          </a:xfrm>
        </p:grpSpPr>
        <p:sp>
          <p:nvSpPr>
            <p:cNvPr id="216" name="Shape"/>
            <p:cNvSpPr/>
            <p:nvPr>
              <p:custDataLst>
                <p:tags r:id="rId49"/>
              </p:custDataLst>
            </p:nvPr>
          </p:nvSpPr>
          <p:spPr>
            <a:xfrm>
              <a:off x="3454" y="10131"/>
              <a:ext cx="699" cy="737"/>
            </a:xfrm>
            <a:custGeom>
              <a:avLst/>
              <a:gdLst/>
              <a:ahLst/>
              <a:cxnLst>
                <a:cxn ang="0">
                  <a:pos x="wd2" y="hd2"/>
                </a:cxn>
                <a:cxn ang="5400000">
                  <a:pos x="wd2" y="hd2"/>
                </a:cxn>
                <a:cxn ang="10800000">
                  <a:pos x="wd2" y="hd2"/>
                </a:cxn>
                <a:cxn ang="16200000">
                  <a:pos x="wd2" y="hd2"/>
                </a:cxn>
              </a:cxnLst>
              <a:rect l="0" t="0" r="r" b="b"/>
              <a:pathLst>
                <a:path w="21600" h="21600" extrusionOk="0">
                  <a:moveTo>
                    <a:pt x="11375" y="0"/>
                  </a:moveTo>
                  <a:cubicBezTo>
                    <a:pt x="8463" y="0"/>
                    <a:pt x="5552" y="1056"/>
                    <a:pt x="3331" y="3165"/>
                  </a:cubicBezTo>
                  <a:cubicBezTo>
                    <a:pt x="1110" y="5274"/>
                    <a:pt x="0" y="8038"/>
                    <a:pt x="0" y="10801"/>
                  </a:cubicBezTo>
                  <a:cubicBezTo>
                    <a:pt x="0" y="13565"/>
                    <a:pt x="1110" y="16329"/>
                    <a:pt x="3331" y="18438"/>
                  </a:cubicBezTo>
                  <a:cubicBezTo>
                    <a:pt x="5552" y="20546"/>
                    <a:pt x="8463" y="21600"/>
                    <a:pt x="11375" y="21600"/>
                  </a:cubicBezTo>
                  <a:cubicBezTo>
                    <a:pt x="14286" y="21600"/>
                    <a:pt x="17197" y="20546"/>
                    <a:pt x="19418" y="18438"/>
                  </a:cubicBezTo>
                  <a:cubicBezTo>
                    <a:pt x="20341" y="17562"/>
                    <a:pt x="21061" y="16569"/>
                    <a:pt x="21600" y="15513"/>
                  </a:cubicBezTo>
                  <a:cubicBezTo>
                    <a:pt x="21198" y="15286"/>
                    <a:pt x="20815" y="15014"/>
                    <a:pt x="20469" y="14686"/>
                  </a:cubicBezTo>
                  <a:cubicBezTo>
                    <a:pt x="18210" y="12541"/>
                    <a:pt x="18210" y="9061"/>
                    <a:pt x="20469" y="6917"/>
                  </a:cubicBezTo>
                  <a:cubicBezTo>
                    <a:pt x="20815" y="6588"/>
                    <a:pt x="21198" y="6317"/>
                    <a:pt x="21600" y="6089"/>
                  </a:cubicBezTo>
                  <a:cubicBezTo>
                    <a:pt x="21061" y="5034"/>
                    <a:pt x="20341" y="4041"/>
                    <a:pt x="19418" y="3165"/>
                  </a:cubicBezTo>
                  <a:cubicBezTo>
                    <a:pt x="17197" y="1056"/>
                    <a:pt x="14286" y="0"/>
                    <a:pt x="11375" y="0"/>
                  </a:cubicBezTo>
                  <a:close/>
                </a:path>
              </a:pathLst>
            </a:custGeom>
            <a:solidFill>
              <a:schemeClr val="accent1">
                <a:lumMod val="60000"/>
                <a:lumOff val="40000"/>
              </a:schemeClr>
            </a:solidFill>
            <a:ln w="12700">
              <a:miter lim="400000"/>
            </a:ln>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17" name="Shape"/>
            <p:cNvSpPr/>
            <p:nvPr>
              <p:custDataLst>
                <p:tags r:id="rId50"/>
              </p:custDataLst>
            </p:nvPr>
          </p:nvSpPr>
          <p:spPr>
            <a:xfrm>
              <a:off x="4345" y="10131"/>
              <a:ext cx="700" cy="737"/>
            </a:xfrm>
            <a:custGeom>
              <a:avLst/>
              <a:gdLst/>
              <a:ahLst/>
              <a:cxnLst>
                <a:cxn ang="0">
                  <a:pos x="wd2" y="hd2"/>
                </a:cxn>
                <a:cxn ang="5400000">
                  <a:pos x="wd2" y="hd2"/>
                </a:cxn>
                <a:cxn ang="10800000">
                  <a:pos x="wd2" y="hd2"/>
                </a:cxn>
                <a:cxn ang="16200000">
                  <a:pos x="wd2" y="hd2"/>
                </a:cxn>
              </a:cxnLst>
              <a:rect l="0" t="0" r="r" b="b"/>
              <a:pathLst>
                <a:path w="21600" h="21600" extrusionOk="0">
                  <a:moveTo>
                    <a:pt x="10224" y="0"/>
                  </a:moveTo>
                  <a:cubicBezTo>
                    <a:pt x="7313" y="0"/>
                    <a:pt x="4403" y="1056"/>
                    <a:pt x="2182" y="3165"/>
                  </a:cubicBezTo>
                  <a:cubicBezTo>
                    <a:pt x="1259" y="4041"/>
                    <a:pt x="539" y="5034"/>
                    <a:pt x="0" y="6089"/>
                  </a:cubicBezTo>
                  <a:cubicBezTo>
                    <a:pt x="402" y="6317"/>
                    <a:pt x="784" y="6588"/>
                    <a:pt x="1130" y="6917"/>
                  </a:cubicBezTo>
                  <a:cubicBezTo>
                    <a:pt x="3389" y="9061"/>
                    <a:pt x="3389" y="12541"/>
                    <a:pt x="1130" y="14686"/>
                  </a:cubicBezTo>
                  <a:cubicBezTo>
                    <a:pt x="784" y="15014"/>
                    <a:pt x="402" y="15286"/>
                    <a:pt x="0" y="15513"/>
                  </a:cubicBezTo>
                  <a:cubicBezTo>
                    <a:pt x="539" y="16569"/>
                    <a:pt x="1259" y="17562"/>
                    <a:pt x="2182" y="18438"/>
                  </a:cubicBezTo>
                  <a:cubicBezTo>
                    <a:pt x="4403" y="20546"/>
                    <a:pt x="7313" y="21600"/>
                    <a:pt x="10224" y="21600"/>
                  </a:cubicBezTo>
                  <a:cubicBezTo>
                    <a:pt x="13135" y="21600"/>
                    <a:pt x="16046" y="20546"/>
                    <a:pt x="18267" y="18438"/>
                  </a:cubicBezTo>
                  <a:cubicBezTo>
                    <a:pt x="20488" y="16329"/>
                    <a:pt x="21600" y="13565"/>
                    <a:pt x="21600" y="10801"/>
                  </a:cubicBezTo>
                  <a:cubicBezTo>
                    <a:pt x="21600" y="8038"/>
                    <a:pt x="20488" y="5274"/>
                    <a:pt x="18267" y="3165"/>
                  </a:cubicBezTo>
                  <a:cubicBezTo>
                    <a:pt x="16046" y="1056"/>
                    <a:pt x="13135" y="0"/>
                    <a:pt x="10224" y="0"/>
                  </a:cubicBezTo>
                  <a:close/>
                </a:path>
              </a:pathLst>
            </a:custGeom>
            <a:solidFill>
              <a:schemeClr val="accent1">
                <a:lumMod val="60000"/>
                <a:lumOff val="40000"/>
              </a:schemeClr>
            </a:solidFill>
            <a:ln w="12700">
              <a:miter lim="400000"/>
            </a:ln>
          </p:spPr>
          <p:txBody>
            <a:bodyPr lIns="0" tIns="0" rIns="0" bIns="0" anchor="ctr">
              <a:noAutofit/>
            </a:bodyPr>
            <a:lstStyle/>
            <a:p>
              <a:pPr lvl="0" algn="ctr">
                <a:spcBef>
                  <a:spcPts val="0"/>
                </a:spcBef>
                <a:spcAft>
                  <a:spcPts val="0"/>
                </a:spcAft>
                <a:buClrTx/>
                <a:buSzTx/>
                <a:buFontTx/>
                <a:defRPr/>
              </a:pPr>
              <a:endParaRPr sz="90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18" name="Circle"/>
            <p:cNvSpPr/>
            <p:nvPr>
              <p:custDataLst>
                <p:tags r:id="rId51"/>
              </p:custDataLst>
            </p:nvPr>
          </p:nvSpPr>
          <p:spPr>
            <a:xfrm>
              <a:off x="4093" y="10343"/>
              <a:ext cx="312" cy="312"/>
            </a:xfrm>
            <a:prstGeom prst="ellipse">
              <a:avLst/>
            </a:prstGeom>
            <a:solidFill>
              <a:schemeClr val="accent1">
                <a:lumMod val="60000"/>
                <a:lumOff val="4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23" name="Circle"/>
            <p:cNvSpPr/>
            <p:nvPr>
              <p:custDataLst>
                <p:tags r:id="rId52"/>
              </p:custDataLst>
            </p:nvPr>
          </p:nvSpPr>
          <p:spPr>
            <a:xfrm>
              <a:off x="6037" y="9485"/>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29" name="Circle"/>
            <p:cNvSpPr/>
            <p:nvPr>
              <p:custDataLst>
                <p:tags r:id="rId53"/>
              </p:custDataLst>
            </p:nvPr>
          </p:nvSpPr>
          <p:spPr>
            <a:xfrm>
              <a:off x="6037" y="10002"/>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0" name="Circle"/>
            <p:cNvSpPr/>
            <p:nvPr>
              <p:custDataLst>
                <p:tags r:id="rId54"/>
              </p:custDataLst>
            </p:nvPr>
          </p:nvSpPr>
          <p:spPr>
            <a:xfrm>
              <a:off x="6037" y="10518"/>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1" name="Circle"/>
            <p:cNvSpPr/>
            <p:nvPr>
              <p:custDataLst>
                <p:tags r:id="rId55"/>
              </p:custDataLst>
            </p:nvPr>
          </p:nvSpPr>
          <p:spPr>
            <a:xfrm>
              <a:off x="6037" y="11034"/>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2" name="Circle"/>
            <p:cNvSpPr/>
            <p:nvPr>
              <p:custDataLst>
                <p:tags r:id="rId56"/>
              </p:custDataLst>
            </p:nvPr>
          </p:nvSpPr>
          <p:spPr>
            <a:xfrm>
              <a:off x="1978" y="9485"/>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3" name="Circle"/>
            <p:cNvSpPr/>
            <p:nvPr>
              <p:custDataLst>
                <p:tags r:id="rId57"/>
              </p:custDataLst>
            </p:nvPr>
          </p:nvSpPr>
          <p:spPr>
            <a:xfrm>
              <a:off x="1978" y="10002"/>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4" name="Circle"/>
            <p:cNvSpPr/>
            <p:nvPr>
              <p:custDataLst>
                <p:tags r:id="rId58"/>
              </p:custDataLst>
            </p:nvPr>
          </p:nvSpPr>
          <p:spPr>
            <a:xfrm>
              <a:off x="1978" y="10518"/>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5" name="Circle"/>
            <p:cNvSpPr/>
            <p:nvPr>
              <p:custDataLst>
                <p:tags r:id="rId59"/>
              </p:custDataLst>
            </p:nvPr>
          </p:nvSpPr>
          <p:spPr>
            <a:xfrm>
              <a:off x="1978" y="11034"/>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6" name="Line"/>
            <p:cNvSpPr/>
            <p:nvPr>
              <p:custDataLst>
                <p:tags r:id="rId60"/>
              </p:custDataLst>
            </p:nvPr>
          </p:nvSpPr>
          <p:spPr>
            <a:xfrm flipH="1" flipV="1">
              <a:off x="2479" y="9810"/>
              <a:ext cx="971" cy="383"/>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37" name="Line"/>
            <p:cNvSpPr/>
            <p:nvPr>
              <p:custDataLst>
                <p:tags r:id="rId61"/>
              </p:custDataLst>
            </p:nvPr>
          </p:nvSpPr>
          <p:spPr>
            <a:xfrm flipH="1" flipV="1">
              <a:off x="2491" y="10286"/>
              <a:ext cx="858" cy="107"/>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38" name="Line"/>
            <p:cNvSpPr/>
            <p:nvPr>
              <p:custDataLst>
                <p:tags r:id="rId62"/>
              </p:custDataLst>
            </p:nvPr>
          </p:nvSpPr>
          <p:spPr>
            <a:xfrm flipH="1">
              <a:off x="2488" y="10621"/>
              <a:ext cx="865" cy="106"/>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39" name="Line"/>
            <p:cNvSpPr/>
            <p:nvPr>
              <p:custDataLst>
                <p:tags r:id="rId63"/>
              </p:custDataLst>
            </p:nvPr>
          </p:nvSpPr>
          <p:spPr>
            <a:xfrm flipH="1">
              <a:off x="2478" y="10805"/>
              <a:ext cx="977" cy="370"/>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40" name="Line"/>
            <p:cNvSpPr/>
            <p:nvPr>
              <p:custDataLst>
                <p:tags r:id="rId64"/>
              </p:custDataLst>
            </p:nvPr>
          </p:nvSpPr>
          <p:spPr>
            <a:xfrm>
              <a:off x="5029" y="10802"/>
              <a:ext cx="986" cy="376"/>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noAutofit/>
            </a:bodyPr>
            <a:lstStyle/>
            <a:p>
              <a:pPr lvl="0" algn="ctr">
                <a:spcBef>
                  <a:spcPts val="0"/>
                </a:spcBef>
                <a:spcAft>
                  <a:spcPts val="0"/>
                </a:spcAft>
                <a:buClrTx/>
                <a:buSzTx/>
                <a:buFontTx/>
                <a:defRPr/>
              </a:pPr>
              <a:endParaRPr sz="900" noProof="0">
                <a:ln>
                  <a:noFill/>
                </a:ln>
                <a:solidFill>
                  <a:prstClr val="black"/>
                </a:solidFill>
                <a:effectLst/>
                <a:uLnTx/>
                <a:uFillTx/>
                <a:latin typeface="微软雅黑" panose="020B0503020204020204" charset="-122"/>
                <a:cs typeface="微软雅黑" panose="020B0503020204020204" charset="-122"/>
                <a:sym typeface="+mn-ea"/>
              </a:endParaRPr>
            </a:p>
          </p:txBody>
        </p:sp>
        <p:sp>
          <p:nvSpPr>
            <p:cNvPr id="241" name="Line"/>
            <p:cNvSpPr/>
            <p:nvPr>
              <p:custDataLst>
                <p:tags r:id="rId65"/>
              </p:custDataLst>
            </p:nvPr>
          </p:nvSpPr>
          <p:spPr>
            <a:xfrm>
              <a:off x="5127" y="10611"/>
              <a:ext cx="875" cy="111"/>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42" name="Line"/>
            <p:cNvSpPr/>
            <p:nvPr>
              <p:custDataLst>
                <p:tags r:id="rId66"/>
              </p:custDataLst>
            </p:nvPr>
          </p:nvSpPr>
          <p:spPr>
            <a:xfrm flipV="1">
              <a:off x="5128" y="10281"/>
              <a:ext cx="877" cy="114"/>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45" name="Line"/>
            <p:cNvSpPr/>
            <p:nvPr>
              <p:custDataLst>
                <p:tags r:id="rId67"/>
              </p:custDataLst>
            </p:nvPr>
          </p:nvSpPr>
          <p:spPr>
            <a:xfrm flipV="1">
              <a:off x="5030" y="9821"/>
              <a:ext cx="984" cy="378"/>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46" name="Line"/>
            <p:cNvSpPr/>
            <p:nvPr>
              <p:custDataLst>
                <p:tags r:id="rId68"/>
              </p:custDataLst>
            </p:nvPr>
          </p:nvSpPr>
          <p:spPr>
            <a:xfrm>
              <a:off x="3337" y="10034"/>
              <a:ext cx="467" cy="932"/>
            </a:xfrm>
            <a:custGeom>
              <a:avLst/>
              <a:gdLst/>
              <a:ahLst/>
              <a:cxnLst>
                <a:cxn ang="0">
                  <a:pos x="wd2" y="hd2"/>
                </a:cxn>
                <a:cxn ang="5400000">
                  <a:pos x="wd2" y="hd2"/>
                </a:cxn>
                <a:cxn ang="10800000">
                  <a:pos x="wd2" y="hd2"/>
                </a:cxn>
                <a:cxn ang="16200000">
                  <a:pos x="wd2" y="hd2"/>
                </a:cxn>
              </a:cxnLst>
              <a:rect l="0" t="0" r="r" b="b"/>
              <a:pathLst>
                <a:path w="21592" h="21592" extrusionOk="0">
                  <a:moveTo>
                    <a:pt x="21483" y="0"/>
                  </a:moveTo>
                  <a:cubicBezTo>
                    <a:pt x="9601" y="20"/>
                    <a:pt x="-8" y="4851"/>
                    <a:pt x="0" y="10801"/>
                  </a:cubicBezTo>
                  <a:cubicBezTo>
                    <a:pt x="9" y="16768"/>
                    <a:pt x="9678" y="21600"/>
                    <a:pt x="21592" y="21592"/>
                  </a:cubicBezTo>
                </a:path>
              </a:pathLst>
            </a:custGeom>
            <a:ln w="38100">
              <a:solidFill>
                <a:schemeClr val="accent1">
                  <a:lumMod val="60000"/>
                  <a:lumOff val="40000"/>
                </a:schemeClr>
              </a:solidFill>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7" name="Line"/>
            <p:cNvSpPr/>
            <p:nvPr>
              <p:custDataLst>
                <p:tags r:id="rId69"/>
              </p:custDataLst>
            </p:nvPr>
          </p:nvSpPr>
          <p:spPr>
            <a:xfrm>
              <a:off x="4694" y="10033"/>
              <a:ext cx="448" cy="933"/>
            </a:xfrm>
            <a:custGeom>
              <a:avLst/>
              <a:gdLst/>
              <a:ahLst/>
              <a:cxnLst>
                <a:cxn ang="0">
                  <a:pos x="wd2" y="hd2"/>
                </a:cxn>
                <a:cxn ang="5400000">
                  <a:pos x="wd2" y="hd2"/>
                </a:cxn>
                <a:cxn ang="10800000">
                  <a:pos x="wd2" y="hd2"/>
                </a:cxn>
                <a:cxn ang="16200000">
                  <a:pos x="wd2" y="hd2"/>
                </a:cxn>
              </a:cxnLst>
              <a:rect l="0" t="0" r="r" b="b"/>
              <a:pathLst>
                <a:path w="20753" h="21600" extrusionOk="0">
                  <a:moveTo>
                    <a:pt x="0" y="0"/>
                  </a:moveTo>
                  <a:cubicBezTo>
                    <a:pt x="12246" y="292"/>
                    <a:pt x="21600" y="5577"/>
                    <a:pt x="20692" y="11690"/>
                  </a:cubicBezTo>
                  <a:cubicBezTo>
                    <a:pt x="19881" y="17155"/>
                    <a:pt x="10952" y="21431"/>
                    <a:pt x="0" y="21600"/>
                  </a:cubicBezTo>
                </a:path>
              </a:pathLst>
            </a:custGeom>
            <a:ln w="38100">
              <a:solidFill>
                <a:schemeClr val="accent1">
                  <a:lumMod val="60000"/>
                  <a:lumOff val="40000"/>
                </a:schemeClr>
              </a:solidFill>
            </a:ln>
          </p:spPr>
          <p:txBody>
            <a:bodyPr lIns="22859" tIns="22859" rIns="22859" bIns="22859">
              <a:noAutofit/>
            </a:bodyPr>
            <a:lstStyle/>
            <a:p>
              <a:pPr lvl="0" algn="ctr">
                <a:spcBef>
                  <a:spcPts val="0"/>
                </a:spcBef>
                <a:spcAft>
                  <a:spcPts val="0"/>
                </a:spcAft>
                <a:buClrTx/>
                <a:buSzTx/>
                <a:buFontTx/>
                <a:defRPr/>
              </a:pPr>
              <a:endParaRPr sz="90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grpSp>
        <p:nvGrpSpPr>
          <p:cNvPr id="159" name="组合 158"/>
          <p:cNvGrpSpPr/>
          <p:nvPr>
            <p:custDataLst>
              <p:tags r:id="rId70"/>
            </p:custDataLst>
          </p:nvPr>
        </p:nvGrpSpPr>
        <p:grpSpPr>
          <a:xfrm>
            <a:off x="1816100" y="5186680"/>
            <a:ext cx="1156335" cy="1155401"/>
            <a:chOff x="2917" y="9383"/>
            <a:chExt cx="2530" cy="2529"/>
          </a:xfrm>
        </p:grpSpPr>
        <p:pic>
          <p:nvPicPr>
            <p:cNvPr id="249" name="图片 248" descr="左右箭头-2"/>
            <p:cNvPicPr>
              <a:picLocks noChangeAspect="1"/>
            </p:cNvPicPr>
            <p:nvPr>
              <p:custDataLst>
                <p:tags r:id="rId71"/>
              </p:custDataLst>
            </p:nvPr>
          </p:nvPicPr>
          <p:blipFill>
            <a:blip r:embed="rId72">
              <a:extLst>
                <a:ext uri="{96DAC541-7B7A-43D3-8B79-37D633B846F1}">
                  <asvg:svgBlip xmlns:asvg="http://schemas.microsoft.com/office/drawing/2016/SVG/main" r:embed="rId73"/>
                </a:ext>
              </a:extLst>
            </a:blip>
            <a:stretch>
              <a:fillRect/>
            </a:stretch>
          </p:blipFill>
          <p:spPr>
            <a:xfrm>
              <a:off x="4171" y="10609"/>
              <a:ext cx="79" cy="79"/>
            </a:xfrm>
            <a:prstGeom prst="rect">
              <a:avLst/>
            </a:prstGeom>
          </p:spPr>
        </p:pic>
        <p:sp>
          <p:nvSpPr>
            <p:cNvPr id="250" name="紫荆的职场Point8"/>
            <p:cNvSpPr/>
            <p:nvPr>
              <p:custDataLst>
                <p:tags r:id="rId74"/>
              </p:custDataLst>
            </p:nvPr>
          </p:nvSpPr>
          <p:spPr bwMode="auto">
            <a:xfrm>
              <a:off x="4470" y="10061"/>
              <a:ext cx="479" cy="498"/>
            </a:xfrm>
            <a:custGeom>
              <a:avLst/>
              <a:gdLst>
                <a:gd name="connsiteX0" fmla="*/ 619628 w 1306515"/>
                <a:gd name="connsiteY0" fmla="*/ 0 h 1357311"/>
                <a:gd name="connsiteX1" fmla="*/ 1306515 w 1306515"/>
                <a:gd name="connsiteY1" fmla="*/ 1189815 h 1357311"/>
                <a:gd name="connsiteX2" fmla="*/ 357258 w 1306515"/>
                <a:gd name="connsiteY2" fmla="*/ 1357311 h 1357311"/>
                <a:gd name="connsiteX3" fmla="*/ 0 w 1306515"/>
                <a:gd name="connsiteY3" fmla="*/ 738585 h 1357311"/>
              </a:gdLst>
              <a:ahLst/>
              <a:cxnLst>
                <a:cxn ang="0">
                  <a:pos x="connsiteX0" y="connsiteY0"/>
                </a:cxn>
                <a:cxn ang="0">
                  <a:pos x="connsiteX1" y="connsiteY1"/>
                </a:cxn>
                <a:cxn ang="0">
                  <a:pos x="connsiteX2" y="connsiteY2"/>
                </a:cxn>
                <a:cxn ang="0">
                  <a:pos x="connsiteX3" y="connsiteY3"/>
                </a:cxn>
              </a:cxnLst>
              <a:rect l="l" t="t" r="r" b="b"/>
              <a:pathLst>
                <a:path w="1306515" h="1357311">
                  <a:moveTo>
                    <a:pt x="619628" y="0"/>
                  </a:moveTo>
                  <a:cubicBezTo>
                    <a:pt x="981268" y="303552"/>
                    <a:pt x="1224584" y="724865"/>
                    <a:pt x="1306515" y="1189815"/>
                  </a:cubicBezTo>
                  <a:lnTo>
                    <a:pt x="357258" y="1357311"/>
                  </a:lnTo>
                  <a:cubicBezTo>
                    <a:pt x="314577" y="1115499"/>
                    <a:pt x="188060" y="896363"/>
                    <a:pt x="0" y="738585"/>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1" name="紫荆的职场Point9"/>
            <p:cNvSpPr/>
            <p:nvPr>
              <p:custDataLst>
                <p:tags r:id="rId75"/>
              </p:custDataLst>
            </p:nvPr>
          </p:nvSpPr>
          <p:spPr bwMode="auto">
            <a:xfrm>
              <a:off x="4560" y="10531"/>
              <a:ext cx="405" cy="497"/>
            </a:xfrm>
            <a:custGeom>
              <a:avLst/>
              <a:gdLst>
                <a:gd name="connsiteX0" fmla="*/ 1072263 w 1102722"/>
                <a:gd name="connsiteY0" fmla="*/ 0 h 1352548"/>
                <a:gd name="connsiteX1" fmla="*/ 833940 w 1102722"/>
                <a:gd name="connsiteY1" fmla="*/ 1352548 h 1352548"/>
                <a:gd name="connsiteX2" fmla="*/ 0 w 1102722"/>
                <a:gd name="connsiteY2" fmla="*/ 870774 h 1352548"/>
                <a:gd name="connsiteX3" fmla="*/ 123920 w 1102722"/>
                <a:gd name="connsiteY3" fmla="*/ 167449 h 1352548"/>
              </a:gdLst>
              <a:ahLst/>
              <a:cxnLst>
                <a:cxn ang="0">
                  <a:pos x="connsiteX0" y="connsiteY0"/>
                </a:cxn>
                <a:cxn ang="0">
                  <a:pos x="connsiteX1" y="connsiteY1"/>
                </a:cxn>
                <a:cxn ang="0">
                  <a:pos x="connsiteX2" y="connsiteY2"/>
                </a:cxn>
                <a:cxn ang="0">
                  <a:pos x="connsiteX3" y="connsiteY3"/>
                </a:cxn>
              </a:cxnLst>
              <a:rect l="l" t="t" r="r" b="b"/>
              <a:pathLst>
                <a:path w="1102722" h="1352548">
                  <a:moveTo>
                    <a:pt x="1072263" y="0"/>
                  </a:moveTo>
                  <a:cubicBezTo>
                    <a:pt x="1154115" y="465010"/>
                    <a:pt x="1069788" y="943736"/>
                    <a:pt x="833940" y="1352548"/>
                  </a:cubicBezTo>
                  <a:lnTo>
                    <a:pt x="0" y="870774"/>
                  </a:lnTo>
                  <a:cubicBezTo>
                    <a:pt x="122588" y="658177"/>
                    <a:pt x="166560" y="409194"/>
                    <a:pt x="123920" y="167449"/>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2" name="紫荆的职场Point10"/>
            <p:cNvSpPr/>
            <p:nvPr>
              <p:custDataLst>
                <p:tags r:id="rId76"/>
              </p:custDataLst>
            </p:nvPr>
          </p:nvSpPr>
          <p:spPr bwMode="auto">
            <a:xfrm>
              <a:off x="4344" y="10874"/>
              <a:ext cx="507" cy="502"/>
            </a:xfrm>
            <a:custGeom>
              <a:avLst/>
              <a:gdLst>
                <a:gd name="connsiteX0" fmla="*/ 547519 w 1382715"/>
                <a:gd name="connsiteY0" fmla="*/ 0 h 1365248"/>
                <a:gd name="connsiteX1" fmla="*/ 1382715 w 1382715"/>
                <a:gd name="connsiteY1" fmla="*/ 482144 h 1365248"/>
                <a:gd name="connsiteX2" fmla="*/ 329808 w 1382715"/>
                <a:gd name="connsiteY2" fmla="*/ 1365248 h 1365248"/>
                <a:gd name="connsiteX3" fmla="*/ 0 w 1382715"/>
                <a:gd name="connsiteY3" fmla="*/ 459275 h 1365248"/>
                <a:gd name="connsiteX4" fmla="*/ 547519 w 1382715"/>
                <a:gd name="connsiteY4" fmla="*/ 0 h 136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2715" h="1365248">
                  <a:moveTo>
                    <a:pt x="547519" y="0"/>
                  </a:moveTo>
                  <a:lnTo>
                    <a:pt x="1382715" y="482144"/>
                  </a:lnTo>
                  <a:cubicBezTo>
                    <a:pt x="1146512" y="891108"/>
                    <a:pt x="773810" y="1203835"/>
                    <a:pt x="329808" y="1365248"/>
                  </a:cubicBezTo>
                  <a:lnTo>
                    <a:pt x="0" y="459275"/>
                  </a:lnTo>
                  <a:cubicBezTo>
                    <a:pt x="230866" y="375424"/>
                    <a:pt x="424556" y="212677"/>
                    <a:pt x="547519" y="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3" name="紫荆的职场Point11"/>
            <p:cNvSpPr/>
            <p:nvPr>
              <p:custDataLst>
                <p:tags r:id="rId77"/>
              </p:custDataLst>
            </p:nvPr>
          </p:nvSpPr>
          <p:spPr bwMode="auto">
            <a:xfrm>
              <a:off x="3932" y="11053"/>
              <a:ext cx="504" cy="377"/>
            </a:xfrm>
            <a:custGeom>
              <a:avLst/>
              <a:gdLst>
                <a:gd name="connsiteX0" fmla="*/ 329870 w 1374777"/>
                <a:gd name="connsiteY0" fmla="*/ 0 h 1026426"/>
                <a:gd name="connsiteX1" fmla="*/ 1044716 w 1374777"/>
                <a:gd name="connsiteY1" fmla="*/ 0 h 1026426"/>
                <a:gd name="connsiteX2" fmla="*/ 1374777 w 1374777"/>
                <a:gd name="connsiteY2" fmla="*/ 905312 h 1026426"/>
                <a:gd name="connsiteX3" fmla="*/ 0 w 1374777"/>
                <a:gd name="connsiteY3" fmla="*/ 905312 h 1026426"/>
              </a:gdLst>
              <a:ahLst/>
              <a:cxnLst>
                <a:cxn ang="0">
                  <a:pos x="connsiteX0" y="connsiteY0"/>
                </a:cxn>
                <a:cxn ang="0">
                  <a:pos x="connsiteX1" y="connsiteY1"/>
                </a:cxn>
                <a:cxn ang="0">
                  <a:pos x="connsiteX2" y="connsiteY2"/>
                </a:cxn>
                <a:cxn ang="0">
                  <a:pos x="connsiteX3" y="connsiteY3"/>
                </a:cxn>
              </a:cxnLst>
              <a:rect l="l" t="t" r="r" b="b"/>
              <a:pathLst>
                <a:path w="1374777" h="1026426">
                  <a:moveTo>
                    <a:pt x="329870" y="0"/>
                  </a:moveTo>
                  <a:cubicBezTo>
                    <a:pt x="560779" y="83981"/>
                    <a:pt x="813807" y="83981"/>
                    <a:pt x="1044716" y="0"/>
                  </a:cubicBezTo>
                  <a:lnTo>
                    <a:pt x="1374777" y="905312"/>
                  </a:lnTo>
                  <a:cubicBezTo>
                    <a:pt x="930692" y="1066798"/>
                    <a:pt x="443895" y="1066798"/>
                    <a:pt x="0" y="905312"/>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4" name="紫荆的职场Point12"/>
            <p:cNvSpPr/>
            <p:nvPr>
              <p:custDataLst>
                <p:tags r:id="rId78"/>
              </p:custDataLst>
            </p:nvPr>
          </p:nvSpPr>
          <p:spPr bwMode="auto">
            <a:xfrm>
              <a:off x="3518" y="10874"/>
              <a:ext cx="507" cy="502"/>
            </a:xfrm>
            <a:custGeom>
              <a:avLst/>
              <a:gdLst>
                <a:gd name="connsiteX0" fmla="*/ 834237 w 1381127"/>
                <a:gd name="connsiteY0" fmla="*/ 0 h 1365248"/>
                <a:gd name="connsiteX1" fmla="*/ 1381127 w 1381127"/>
                <a:gd name="connsiteY1" fmla="*/ 459275 h 1365248"/>
                <a:gd name="connsiteX2" fmla="*/ 1051508 w 1381127"/>
                <a:gd name="connsiteY2" fmla="*/ 1365248 h 1365248"/>
                <a:gd name="connsiteX3" fmla="*/ 0 w 1381127"/>
                <a:gd name="connsiteY3" fmla="*/ 482144 h 1365248"/>
              </a:gdLst>
              <a:ahLst/>
              <a:cxnLst>
                <a:cxn ang="0">
                  <a:pos x="connsiteX0" y="connsiteY0"/>
                </a:cxn>
                <a:cxn ang="0">
                  <a:pos x="connsiteX1" y="connsiteY1"/>
                </a:cxn>
                <a:cxn ang="0">
                  <a:pos x="connsiteX2" y="connsiteY2"/>
                </a:cxn>
                <a:cxn ang="0">
                  <a:pos x="connsiteX3" y="connsiteY3"/>
                </a:cxn>
              </a:cxnLst>
              <a:rect l="l" t="t" r="r" b="b"/>
              <a:pathLst>
                <a:path w="1381127" h="1365248">
                  <a:moveTo>
                    <a:pt x="834237" y="0"/>
                  </a:moveTo>
                  <a:cubicBezTo>
                    <a:pt x="956868" y="212677"/>
                    <a:pt x="1150527" y="375424"/>
                    <a:pt x="1381127" y="459275"/>
                  </a:cubicBezTo>
                  <a:lnTo>
                    <a:pt x="1051508" y="1365248"/>
                  </a:lnTo>
                  <a:cubicBezTo>
                    <a:pt x="608206" y="1203835"/>
                    <a:pt x="235742" y="891108"/>
                    <a:pt x="0" y="482144"/>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5" name="紫荆的职场Point13"/>
            <p:cNvSpPr/>
            <p:nvPr>
              <p:custDataLst>
                <p:tags r:id="rId79"/>
              </p:custDataLst>
            </p:nvPr>
          </p:nvSpPr>
          <p:spPr bwMode="auto">
            <a:xfrm>
              <a:off x="3404" y="10527"/>
              <a:ext cx="405" cy="497"/>
            </a:xfrm>
            <a:custGeom>
              <a:avLst/>
              <a:gdLst>
                <a:gd name="connsiteX0" fmla="*/ 30497 w 1104248"/>
                <a:gd name="connsiteY0" fmla="*/ 0 h 1352548"/>
                <a:gd name="connsiteX1" fmla="*/ 980178 w 1104248"/>
                <a:gd name="connsiteY1" fmla="*/ 167449 h 1352548"/>
                <a:gd name="connsiteX2" fmla="*/ 1104248 w 1104248"/>
                <a:gd name="connsiteY2" fmla="*/ 870774 h 1352548"/>
                <a:gd name="connsiteX3" fmla="*/ 269109 w 1104248"/>
                <a:gd name="connsiteY3" fmla="*/ 1352548 h 1352548"/>
                <a:gd name="connsiteX4" fmla="*/ 30497 w 1104248"/>
                <a:gd name="connsiteY4" fmla="*/ 0 h 1352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4248" h="1352548">
                  <a:moveTo>
                    <a:pt x="30497" y="0"/>
                  </a:moveTo>
                  <a:lnTo>
                    <a:pt x="980178" y="167449"/>
                  </a:lnTo>
                  <a:cubicBezTo>
                    <a:pt x="937487" y="409194"/>
                    <a:pt x="981321" y="658177"/>
                    <a:pt x="1104248" y="870774"/>
                  </a:cubicBezTo>
                  <a:lnTo>
                    <a:pt x="269109" y="1352548"/>
                  </a:lnTo>
                  <a:cubicBezTo>
                    <a:pt x="32975" y="943736"/>
                    <a:pt x="-51454" y="465010"/>
                    <a:pt x="30497" y="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6" name="紫荆的职场Point14"/>
            <p:cNvSpPr/>
            <p:nvPr>
              <p:custDataLst>
                <p:tags r:id="rId80"/>
              </p:custDataLst>
            </p:nvPr>
          </p:nvSpPr>
          <p:spPr bwMode="auto">
            <a:xfrm>
              <a:off x="3421" y="10061"/>
              <a:ext cx="479" cy="498"/>
            </a:xfrm>
            <a:custGeom>
              <a:avLst/>
              <a:gdLst>
                <a:gd name="connsiteX0" fmla="*/ 686888 w 1306515"/>
                <a:gd name="connsiteY0" fmla="*/ 0 h 1357311"/>
                <a:gd name="connsiteX1" fmla="*/ 1306515 w 1306515"/>
                <a:gd name="connsiteY1" fmla="*/ 738593 h 1357311"/>
                <a:gd name="connsiteX2" fmla="*/ 949353 w 1306515"/>
                <a:gd name="connsiteY2" fmla="*/ 1357311 h 1357311"/>
                <a:gd name="connsiteX3" fmla="*/ 0 w 1306515"/>
                <a:gd name="connsiteY3" fmla="*/ 1189887 h 1357311"/>
                <a:gd name="connsiteX4" fmla="*/ 686888 w 1306515"/>
                <a:gd name="connsiteY4" fmla="*/ 0 h 13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6515" h="1357311">
                  <a:moveTo>
                    <a:pt x="686888" y="0"/>
                  </a:moveTo>
                  <a:lnTo>
                    <a:pt x="1306515" y="738593"/>
                  </a:lnTo>
                  <a:cubicBezTo>
                    <a:pt x="1118455" y="896393"/>
                    <a:pt x="991938" y="1115465"/>
                    <a:pt x="949353" y="1357311"/>
                  </a:cubicBezTo>
                  <a:lnTo>
                    <a:pt x="0" y="1189887"/>
                  </a:lnTo>
                  <a:cubicBezTo>
                    <a:pt x="82027" y="724776"/>
                    <a:pt x="325248" y="303499"/>
                    <a:pt x="686888" y="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7" name="紫荆的职场Point15"/>
            <p:cNvSpPr/>
            <p:nvPr>
              <p:custDataLst>
                <p:tags r:id="rId81"/>
              </p:custDataLst>
            </p:nvPr>
          </p:nvSpPr>
          <p:spPr bwMode="auto">
            <a:xfrm>
              <a:off x="3696" y="9869"/>
              <a:ext cx="474" cy="443"/>
            </a:xfrm>
            <a:custGeom>
              <a:avLst/>
              <a:gdLst>
                <a:gd name="connsiteX0" fmla="*/ 1290640 w 1290640"/>
                <a:gd name="connsiteY0" fmla="*/ 0 h 1208086"/>
                <a:gd name="connsiteX1" fmla="*/ 1290640 w 1290640"/>
                <a:gd name="connsiteY1" fmla="*/ 963840 h 1208086"/>
                <a:gd name="connsiteX2" fmla="*/ 619599 w 1290640"/>
                <a:gd name="connsiteY2" fmla="*/ 1208086 h 1208086"/>
                <a:gd name="connsiteX3" fmla="*/ 0 w 1290640"/>
                <a:gd name="connsiteY3" fmla="*/ 469631 h 1208086"/>
                <a:gd name="connsiteX4" fmla="*/ 1290640 w 1290640"/>
                <a:gd name="connsiteY4" fmla="*/ 0 h 1208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0640" h="1208086">
                  <a:moveTo>
                    <a:pt x="1290640" y="0"/>
                  </a:moveTo>
                  <a:lnTo>
                    <a:pt x="1290640" y="963840"/>
                  </a:lnTo>
                  <a:cubicBezTo>
                    <a:pt x="1045239" y="963840"/>
                    <a:pt x="807650" y="1050336"/>
                    <a:pt x="619599" y="1208086"/>
                  </a:cubicBezTo>
                  <a:lnTo>
                    <a:pt x="0" y="469631"/>
                  </a:lnTo>
                  <a:cubicBezTo>
                    <a:pt x="361623" y="166324"/>
                    <a:pt x="818701" y="0"/>
                    <a:pt x="1290640" y="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8" name="紫荆的职场Point16"/>
            <p:cNvSpPr/>
            <p:nvPr>
              <p:custDataLst>
                <p:tags r:id="rId82"/>
              </p:custDataLst>
            </p:nvPr>
          </p:nvSpPr>
          <p:spPr bwMode="auto">
            <a:xfrm>
              <a:off x="4200" y="9869"/>
              <a:ext cx="474" cy="443"/>
            </a:xfrm>
            <a:custGeom>
              <a:avLst/>
              <a:gdLst>
                <a:gd name="connsiteX0" fmla="*/ 0 w 1290640"/>
                <a:gd name="connsiteY0" fmla="*/ 0 h 1208086"/>
                <a:gd name="connsiteX1" fmla="*/ 1290640 w 1290640"/>
                <a:gd name="connsiteY1" fmla="*/ 469631 h 1208086"/>
                <a:gd name="connsiteX2" fmla="*/ 671133 w 1290640"/>
                <a:gd name="connsiteY2" fmla="*/ 1208086 h 1208086"/>
                <a:gd name="connsiteX3" fmla="*/ 0 w 1290640"/>
                <a:gd name="connsiteY3" fmla="*/ 963840 h 1208086"/>
              </a:gdLst>
              <a:ahLst/>
              <a:cxnLst>
                <a:cxn ang="0">
                  <a:pos x="connsiteX0" y="connsiteY0"/>
                </a:cxn>
                <a:cxn ang="0">
                  <a:pos x="connsiteX1" y="connsiteY1"/>
                </a:cxn>
                <a:cxn ang="0">
                  <a:pos x="connsiteX2" y="connsiteY2"/>
                </a:cxn>
                <a:cxn ang="0">
                  <a:pos x="connsiteX3" y="connsiteY3"/>
                </a:cxn>
              </a:cxnLst>
              <a:rect l="l" t="t" r="r" b="b"/>
              <a:pathLst>
                <a:path w="1290640" h="1208086">
                  <a:moveTo>
                    <a:pt x="0" y="0"/>
                  </a:moveTo>
                  <a:cubicBezTo>
                    <a:pt x="472060" y="0"/>
                    <a:pt x="929070" y="166324"/>
                    <a:pt x="1290640" y="469631"/>
                  </a:cubicBezTo>
                  <a:lnTo>
                    <a:pt x="671133" y="1208086"/>
                  </a:lnTo>
                  <a:cubicBezTo>
                    <a:pt x="483109" y="1050336"/>
                    <a:pt x="245555" y="963840"/>
                    <a:pt x="0" y="96384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9" name="紫荆的职场Point17"/>
            <p:cNvSpPr/>
            <p:nvPr>
              <p:custDataLst>
                <p:tags r:id="rId83"/>
              </p:custDataLst>
            </p:nvPr>
          </p:nvSpPr>
          <p:spPr>
            <a:xfrm>
              <a:off x="3820" y="10294"/>
              <a:ext cx="706" cy="706"/>
            </a:xfrm>
            <a:prstGeom prst="ellipse">
              <a:avLst/>
            </a:prstGeom>
            <a:solidFill>
              <a:schemeClr val="accent1">
                <a:lumMod val="60000"/>
                <a:lumOff val="40000"/>
              </a:schemeClr>
            </a:solidFill>
            <a:ln w="25617" cap="flat" cmpd="sng" algn="ctr">
              <a:solidFill>
                <a:schemeClr val="accent1">
                  <a:lumMod val="60000"/>
                  <a:lumOff val="40000"/>
                </a:schemeClr>
              </a:solid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lIns="122959" tIns="61480" rIns="122959" bIns="61480" rtlCol="0" anchor="ctr"/>
            <a:lstStyle/>
            <a:p>
              <a:pPr algn="ctr">
                <a:spcBef>
                  <a:spcPct val="0"/>
                </a:spcBef>
                <a:spcAft>
                  <a:spcPct val="0"/>
                </a:spcAft>
              </a:pPr>
              <a:endParaRPr 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62" name="任意多边形: 形状 54"/>
            <p:cNvSpPr/>
            <p:nvPr>
              <p:custDataLst>
                <p:tags r:id="rId84"/>
              </p:custDataLst>
            </p:nvPr>
          </p:nvSpPr>
          <p:spPr>
            <a:xfrm>
              <a:off x="3005" y="9466"/>
              <a:ext cx="1184" cy="1176"/>
            </a:xfrm>
            <a:custGeom>
              <a:avLst/>
              <a:gdLst>
                <a:gd name="connsiteX0" fmla="*/ 720258 w 2418588"/>
                <a:gd name="connsiteY0" fmla="*/ 2400151 h 2400300"/>
                <a:gd name="connsiteX1" fmla="*/ 2414280 w 2418588"/>
                <a:gd name="connsiteY1" fmla="*/ 718417 h 2400300"/>
                <a:gd name="connsiteX2" fmla="*/ 2419805 w 2418588"/>
                <a:gd name="connsiteY2" fmla="*/ 718417 h 2400300"/>
                <a:gd name="connsiteX3" fmla="*/ 2419805 w 2418588"/>
                <a:gd name="connsiteY3" fmla="*/ -54 h 2400300"/>
                <a:gd name="connsiteX4" fmla="*/ 2413899 w 2418588"/>
                <a:gd name="connsiteY4" fmla="*/ -54 h 2400300"/>
                <a:gd name="connsiteX5" fmla="*/ 1216 w 2418588"/>
                <a:gd name="connsiteY5" fmla="*/ 2400247 h 240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8588" h="2400300">
                  <a:moveTo>
                    <a:pt x="720258" y="2400151"/>
                  </a:moveTo>
                  <a:cubicBezTo>
                    <a:pt x="727117" y="1470225"/>
                    <a:pt x="1482830" y="718417"/>
                    <a:pt x="2414280" y="718417"/>
                  </a:cubicBezTo>
                  <a:lnTo>
                    <a:pt x="2419805" y="718417"/>
                  </a:lnTo>
                  <a:lnTo>
                    <a:pt x="2419805" y="-54"/>
                  </a:lnTo>
                  <a:lnTo>
                    <a:pt x="2413899" y="-54"/>
                  </a:lnTo>
                  <a:cubicBezTo>
                    <a:pt x="1085543" y="-54"/>
                    <a:pt x="7980" y="1073509"/>
                    <a:pt x="1216" y="2400247"/>
                  </a:cubicBezTo>
                  <a:close/>
                </a:path>
              </a:pathLst>
            </a:custGeom>
            <a:solidFill>
              <a:schemeClr val="accent1">
                <a:lumMod val="60000"/>
                <a:lumOff val="4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63" name="任意多边形: 形状 55"/>
            <p:cNvSpPr/>
            <p:nvPr>
              <p:custDataLst>
                <p:tags r:id="rId85"/>
              </p:custDataLst>
            </p:nvPr>
          </p:nvSpPr>
          <p:spPr>
            <a:xfrm>
              <a:off x="2917" y="10298"/>
              <a:ext cx="1271" cy="1532"/>
            </a:xfrm>
            <a:custGeom>
              <a:avLst/>
              <a:gdLst>
                <a:gd name="connsiteX0" fmla="*/ 2592778 w 2596610"/>
                <a:gd name="connsiteY0" fmla="*/ 2409581 h 3128200"/>
                <a:gd name="connsiteX1" fmla="*/ 898471 w 2596610"/>
                <a:gd name="connsiteY1" fmla="*/ 715274 h 3128200"/>
                <a:gd name="connsiteX2" fmla="*/ 898471 w 2596610"/>
                <a:gd name="connsiteY2" fmla="*/ 715179 h 3128200"/>
                <a:gd name="connsiteX3" fmla="*/ 898471 w 2596610"/>
                <a:gd name="connsiteY3" fmla="*/ 707749 h 3128200"/>
                <a:gd name="connsiteX4" fmla="*/ 1069921 w 2596610"/>
                <a:gd name="connsiteY4" fmla="*/ 707749 h 3128200"/>
                <a:gd name="connsiteX5" fmla="*/ 535568 w 2596610"/>
                <a:gd name="connsiteY5" fmla="*/ -54 h 3128200"/>
                <a:gd name="connsiteX6" fmla="*/ 1216 w 2596610"/>
                <a:gd name="connsiteY6" fmla="*/ 707749 h 3128200"/>
                <a:gd name="connsiteX7" fmla="*/ 179428 w 2596610"/>
                <a:gd name="connsiteY7" fmla="*/ 707749 h 3128200"/>
                <a:gd name="connsiteX8" fmla="*/ 179428 w 2596610"/>
                <a:gd name="connsiteY8" fmla="*/ 715179 h 3128200"/>
                <a:gd name="connsiteX9" fmla="*/ 2592302 w 2596610"/>
                <a:gd name="connsiteY9" fmla="*/ 3128147 h 3128200"/>
                <a:gd name="connsiteX10" fmla="*/ 2597826 w 2596610"/>
                <a:gd name="connsiteY10" fmla="*/ 3128147 h 3128200"/>
                <a:gd name="connsiteX11" fmla="*/ 2597826 w 2596610"/>
                <a:gd name="connsiteY11" fmla="*/ 2409391 h 312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96610" h="3128200">
                  <a:moveTo>
                    <a:pt x="2592778" y="2409581"/>
                  </a:moveTo>
                  <a:cubicBezTo>
                    <a:pt x="1657042" y="2409581"/>
                    <a:pt x="898471" y="1651010"/>
                    <a:pt x="898471" y="715274"/>
                  </a:cubicBezTo>
                  <a:cubicBezTo>
                    <a:pt x="898471" y="715245"/>
                    <a:pt x="898471" y="715207"/>
                    <a:pt x="898471" y="715179"/>
                  </a:cubicBezTo>
                  <a:cubicBezTo>
                    <a:pt x="898471" y="712702"/>
                    <a:pt x="898471" y="710226"/>
                    <a:pt x="898471" y="707749"/>
                  </a:cubicBezTo>
                  <a:lnTo>
                    <a:pt x="1069921" y="707749"/>
                  </a:lnTo>
                  <a:lnTo>
                    <a:pt x="535568" y="-54"/>
                  </a:lnTo>
                  <a:lnTo>
                    <a:pt x="1216" y="707749"/>
                  </a:lnTo>
                  <a:lnTo>
                    <a:pt x="179428" y="707749"/>
                  </a:lnTo>
                  <a:cubicBezTo>
                    <a:pt x="179428" y="710226"/>
                    <a:pt x="179428" y="712702"/>
                    <a:pt x="179428" y="715179"/>
                  </a:cubicBezTo>
                  <a:cubicBezTo>
                    <a:pt x="179428" y="2047822"/>
                    <a:pt x="1259754" y="3128147"/>
                    <a:pt x="2592302" y="3128147"/>
                  </a:cubicBezTo>
                  <a:lnTo>
                    <a:pt x="2597826" y="3128147"/>
                  </a:lnTo>
                  <a:lnTo>
                    <a:pt x="2597826" y="2409391"/>
                  </a:lnTo>
                  <a:close/>
                </a:path>
              </a:pathLst>
            </a:custGeom>
            <a:solidFill>
              <a:schemeClr val="accent1">
                <a:lumMod val="40000"/>
                <a:lumOff val="6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64" name="任意多边形: 形状 56"/>
            <p:cNvSpPr/>
            <p:nvPr>
              <p:custDataLst>
                <p:tags r:id="rId86"/>
              </p:custDataLst>
            </p:nvPr>
          </p:nvSpPr>
          <p:spPr>
            <a:xfrm>
              <a:off x="3848" y="10642"/>
              <a:ext cx="1519" cy="1270"/>
            </a:xfrm>
            <a:custGeom>
              <a:avLst/>
              <a:gdLst>
                <a:gd name="connsiteX0" fmla="*/ 3104937 w 3103721"/>
                <a:gd name="connsiteY0" fmla="*/ 12520 h 2592038"/>
                <a:gd name="connsiteX1" fmla="*/ 3104937 w 3103721"/>
                <a:gd name="connsiteY1" fmla="*/ -54 h 2592038"/>
                <a:gd name="connsiteX2" fmla="*/ 2386180 w 3103721"/>
                <a:gd name="connsiteY2" fmla="*/ -54 h 2592038"/>
                <a:gd name="connsiteX3" fmla="*/ 2386180 w 3103721"/>
                <a:gd name="connsiteY3" fmla="*/ 12520 h 2592038"/>
                <a:gd name="connsiteX4" fmla="*/ 708923 w 3103721"/>
                <a:gd name="connsiteY4" fmla="*/ 1706541 h 2592038"/>
                <a:gd name="connsiteX5" fmla="*/ 708923 w 3103721"/>
                <a:gd name="connsiteY5" fmla="*/ 1523280 h 2592038"/>
                <a:gd name="connsiteX6" fmla="*/ 1216 w 3103721"/>
                <a:gd name="connsiteY6" fmla="*/ 2057632 h 2592038"/>
                <a:gd name="connsiteX7" fmla="*/ 708923 w 3103721"/>
                <a:gd name="connsiteY7" fmla="*/ 2591985 h 2592038"/>
                <a:gd name="connsiteX8" fmla="*/ 708923 w 3103721"/>
                <a:gd name="connsiteY8" fmla="*/ 2425297 h 2592038"/>
                <a:gd name="connsiteX9" fmla="*/ 3104937 w 3103721"/>
                <a:gd name="connsiteY9" fmla="*/ 12520 h 259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3721" h="2592038">
                  <a:moveTo>
                    <a:pt x="3104937" y="12520"/>
                  </a:moveTo>
                  <a:cubicBezTo>
                    <a:pt x="3104937" y="8329"/>
                    <a:pt x="3104937" y="4137"/>
                    <a:pt x="3104937" y="-54"/>
                  </a:cubicBezTo>
                  <a:lnTo>
                    <a:pt x="2386180" y="-54"/>
                  </a:lnTo>
                  <a:cubicBezTo>
                    <a:pt x="2386180" y="4137"/>
                    <a:pt x="2386180" y="8329"/>
                    <a:pt x="2386180" y="12520"/>
                  </a:cubicBezTo>
                  <a:cubicBezTo>
                    <a:pt x="2386123" y="941550"/>
                    <a:pt x="1637906" y="1697244"/>
                    <a:pt x="708923" y="1706541"/>
                  </a:cubicBezTo>
                  <a:lnTo>
                    <a:pt x="708923" y="1523280"/>
                  </a:lnTo>
                  <a:lnTo>
                    <a:pt x="1216" y="2057632"/>
                  </a:lnTo>
                  <a:lnTo>
                    <a:pt x="708923" y="2591985"/>
                  </a:lnTo>
                  <a:lnTo>
                    <a:pt x="708923" y="2425297"/>
                  </a:lnTo>
                  <a:cubicBezTo>
                    <a:pt x="2033755" y="2416153"/>
                    <a:pt x="3104937" y="1339542"/>
                    <a:pt x="3104937" y="12520"/>
                  </a:cubicBezTo>
                  <a:close/>
                </a:path>
              </a:pathLst>
            </a:custGeom>
            <a:solidFill>
              <a:schemeClr val="accent1">
                <a:lumMod val="60000"/>
                <a:lumOff val="4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65" name="任意多边形: 形状 57"/>
            <p:cNvSpPr/>
            <p:nvPr>
              <p:custDataLst>
                <p:tags r:id="rId87"/>
              </p:custDataLst>
            </p:nvPr>
          </p:nvSpPr>
          <p:spPr>
            <a:xfrm>
              <a:off x="4188" y="9466"/>
              <a:ext cx="1259" cy="1517"/>
            </a:xfrm>
            <a:custGeom>
              <a:avLst/>
              <a:gdLst>
                <a:gd name="connsiteX0" fmla="*/ 2408279 w 2570511"/>
                <a:gd name="connsiteY0" fmla="*/ 2389864 h 3097625"/>
                <a:gd name="connsiteX1" fmla="*/ 1216 w 2570511"/>
                <a:gd name="connsiteY1" fmla="*/ -54 h 3097625"/>
                <a:gd name="connsiteX2" fmla="*/ 1216 w 2570511"/>
                <a:gd name="connsiteY2" fmla="*/ 718608 h 3097625"/>
                <a:gd name="connsiteX3" fmla="*/ 1689522 w 2570511"/>
                <a:gd name="connsiteY3" fmla="*/ 2389864 h 3097625"/>
                <a:gd name="connsiteX4" fmla="*/ 1503023 w 2570511"/>
                <a:gd name="connsiteY4" fmla="*/ 2389864 h 3097625"/>
                <a:gd name="connsiteX5" fmla="*/ 2037375 w 2570511"/>
                <a:gd name="connsiteY5" fmla="*/ 3097572 h 3097625"/>
                <a:gd name="connsiteX6" fmla="*/ 2571728 w 2570511"/>
                <a:gd name="connsiteY6" fmla="*/ 2389864 h 309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0511" h="3097625">
                  <a:moveTo>
                    <a:pt x="2408279" y="2389864"/>
                  </a:moveTo>
                  <a:cubicBezTo>
                    <a:pt x="2395611" y="1069604"/>
                    <a:pt x="1323667" y="2899"/>
                    <a:pt x="1216" y="-54"/>
                  </a:cubicBezTo>
                  <a:lnTo>
                    <a:pt x="1216" y="718608"/>
                  </a:lnTo>
                  <a:cubicBezTo>
                    <a:pt x="926760" y="721465"/>
                    <a:pt x="1677616" y="1466511"/>
                    <a:pt x="1689522" y="2389864"/>
                  </a:cubicBezTo>
                  <a:lnTo>
                    <a:pt x="1503023" y="2389864"/>
                  </a:lnTo>
                  <a:lnTo>
                    <a:pt x="2037375" y="3097572"/>
                  </a:lnTo>
                  <a:lnTo>
                    <a:pt x="2571728" y="2389864"/>
                  </a:lnTo>
                  <a:close/>
                </a:path>
              </a:pathLst>
            </a:custGeom>
            <a:solidFill>
              <a:schemeClr val="accent1">
                <a:lumMod val="40000"/>
                <a:lumOff val="6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66" name="任意多边形: 形状 59"/>
            <p:cNvSpPr/>
            <p:nvPr>
              <p:custDataLst>
                <p:tags r:id="rId88"/>
              </p:custDataLst>
            </p:nvPr>
          </p:nvSpPr>
          <p:spPr>
            <a:xfrm>
              <a:off x="4150" y="9383"/>
              <a:ext cx="352" cy="524"/>
            </a:xfrm>
            <a:custGeom>
              <a:avLst/>
              <a:gdLst>
                <a:gd name="connsiteX0" fmla="*/ 0 w 718946"/>
                <a:gd name="connsiteY0" fmla="*/ 0 h 1068704"/>
                <a:gd name="connsiteX1" fmla="*/ 718947 w 718946"/>
                <a:gd name="connsiteY1" fmla="*/ 534353 h 1068704"/>
                <a:gd name="connsiteX2" fmla="*/ 0 w 718946"/>
                <a:gd name="connsiteY2" fmla="*/ 1068705 h 1068704"/>
                <a:gd name="connsiteX3" fmla="*/ 0 w 718946"/>
                <a:gd name="connsiteY3" fmla="*/ 0 h 1068704"/>
              </a:gdLst>
              <a:ahLst/>
              <a:cxnLst>
                <a:cxn ang="0">
                  <a:pos x="connsiteX0" y="connsiteY0"/>
                </a:cxn>
                <a:cxn ang="0">
                  <a:pos x="connsiteX1" y="connsiteY1"/>
                </a:cxn>
                <a:cxn ang="0">
                  <a:pos x="connsiteX2" y="connsiteY2"/>
                </a:cxn>
                <a:cxn ang="0">
                  <a:pos x="connsiteX3" y="connsiteY3"/>
                </a:cxn>
              </a:cxnLst>
              <a:rect l="l" t="t" r="r" b="b"/>
              <a:pathLst>
                <a:path w="718946" h="1068704">
                  <a:moveTo>
                    <a:pt x="0" y="0"/>
                  </a:moveTo>
                  <a:lnTo>
                    <a:pt x="718947" y="534353"/>
                  </a:lnTo>
                  <a:lnTo>
                    <a:pt x="0" y="1068705"/>
                  </a:lnTo>
                  <a:lnTo>
                    <a:pt x="0" y="0"/>
                  </a:lnTo>
                  <a:close/>
                </a:path>
              </a:pathLst>
            </a:custGeom>
            <a:solidFill>
              <a:schemeClr val="accent1">
                <a:lumMod val="60000"/>
                <a:lumOff val="4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grpSp>
      <p:grpSp>
        <p:nvGrpSpPr>
          <p:cNvPr id="161" name="组合 160"/>
          <p:cNvGrpSpPr/>
          <p:nvPr>
            <p:custDataLst>
              <p:tags r:id="rId89"/>
            </p:custDataLst>
          </p:nvPr>
        </p:nvGrpSpPr>
        <p:grpSpPr>
          <a:xfrm>
            <a:off x="9033510" y="5218430"/>
            <a:ext cx="1974850" cy="974725"/>
            <a:chOff x="759" y="11416"/>
            <a:chExt cx="6502" cy="3209"/>
          </a:xfrm>
        </p:grpSpPr>
        <p:grpSp>
          <p:nvGrpSpPr>
            <p:cNvPr id="280" name="天蝎PPT原创©1"/>
            <p:cNvGrpSpPr/>
            <p:nvPr>
              <p:custDataLst>
                <p:tags r:id="rId90"/>
              </p:custDataLst>
            </p:nvPr>
          </p:nvGrpSpPr>
          <p:grpSpPr>
            <a:xfrm>
              <a:off x="760" y="11850"/>
              <a:ext cx="6496" cy="2138"/>
              <a:chOff x="371833" y="1813205"/>
              <a:chExt cx="11650653" cy="1175604"/>
            </a:xfrm>
            <a:solidFill>
              <a:srgbClr val="B2C5D4"/>
            </a:solidFill>
          </p:grpSpPr>
          <p:sp>
            <p:nvSpPr>
              <p:cNvPr id="281" name="天蝎PPT原创©1-1"/>
              <p:cNvSpPr/>
              <p:nvPr>
                <p:custDataLst>
                  <p:tags r:id="rId91"/>
                </p:custDataLst>
              </p:nvPr>
            </p:nvSpPr>
            <p:spPr>
              <a:xfrm>
                <a:off x="371833" y="1813205"/>
                <a:ext cx="2828387" cy="1175604"/>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82" name="天蝎PPT原创©1-2"/>
              <p:cNvSpPr/>
              <p:nvPr>
                <p:custDataLst>
                  <p:tags r:id="rId92"/>
                </p:custDataLst>
              </p:nvPr>
            </p:nvSpPr>
            <p:spPr>
              <a:xfrm>
                <a:off x="3318233" y="1813205"/>
                <a:ext cx="2828387" cy="1175604"/>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87" name="天蝎PPT原创©1-3"/>
              <p:cNvSpPr/>
              <p:nvPr>
                <p:custDataLst>
                  <p:tags r:id="rId93"/>
                </p:custDataLst>
              </p:nvPr>
            </p:nvSpPr>
            <p:spPr>
              <a:xfrm>
                <a:off x="6247699" y="1813205"/>
                <a:ext cx="2828387" cy="1175604"/>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88" name="天蝎PPT原创©1-4"/>
              <p:cNvSpPr/>
              <p:nvPr>
                <p:custDataLst>
                  <p:tags r:id="rId94"/>
                </p:custDataLst>
              </p:nvPr>
            </p:nvSpPr>
            <p:spPr>
              <a:xfrm>
                <a:off x="9194099" y="1813205"/>
                <a:ext cx="2828387" cy="1175604"/>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sp>
          <p:nvSpPr>
            <p:cNvPr id="289" name="天蝎PPT原创©2-1"/>
            <p:cNvSpPr/>
            <p:nvPr>
              <p:custDataLst>
                <p:tags r:id="rId95"/>
              </p:custDataLst>
            </p:nvPr>
          </p:nvSpPr>
          <p:spPr>
            <a:xfrm>
              <a:off x="765" y="11850"/>
              <a:ext cx="1577" cy="551"/>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0" name="天蝎PPT原创©2-2"/>
            <p:cNvSpPr/>
            <p:nvPr>
              <p:custDataLst>
                <p:tags r:id="rId96"/>
              </p:custDataLst>
            </p:nvPr>
          </p:nvSpPr>
          <p:spPr>
            <a:xfrm>
              <a:off x="2408" y="11850"/>
              <a:ext cx="1577" cy="551"/>
            </a:xfrm>
            <a:prstGeom prst="rect">
              <a:avLst/>
            </a:prstGeom>
            <a:solidFill>
              <a:schemeClr val="accent1">
                <a:lumMod val="60000"/>
                <a:lumOff val="40000"/>
              </a:schemeClr>
            </a:solidFill>
            <a:ln>
              <a:noFill/>
            </a:ln>
          </p:spPr>
          <p:txBody>
            <a:bodyPr spcFirstLastPara="1" wrap="square" lIns="0" tIns="0" rIns="0" bIns="0" rtlCol="0" anchor="ctr" anchorCtr="0">
              <a:noAutofit/>
            </a:bodyPr>
            <a:lstStyle/>
            <a:p>
              <a:pPr lvl="0" algn="ctr">
                <a:buClr>
                  <a:srgbClr val="525455"/>
                </a:buClr>
                <a:buSzPts val="1100"/>
                <a:buFontTx/>
              </a:pPr>
              <a:endParaRPr sz="1465">
                <a:solidFill>
                  <a:srgbClr val="525455"/>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6" name="天蝎PPT原创©2-3"/>
            <p:cNvSpPr/>
            <p:nvPr>
              <p:custDataLst>
                <p:tags r:id="rId97"/>
              </p:custDataLst>
            </p:nvPr>
          </p:nvSpPr>
          <p:spPr>
            <a:xfrm>
              <a:off x="4042" y="11850"/>
              <a:ext cx="1577" cy="551"/>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7" name="天蝎PPT原创©2-4"/>
            <p:cNvSpPr/>
            <p:nvPr>
              <p:custDataLst>
                <p:tags r:id="rId98"/>
              </p:custDataLst>
            </p:nvPr>
          </p:nvSpPr>
          <p:spPr>
            <a:xfrm>
              <a:off x="5684" y="11850"/>
              <a:ext cx="1577" cy="551"/>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8" name="天蝎PPT原创©7"/>
            <p:cNvSpPr/>
            <p:nvPr>
              <p:custDataLst>
                <p:tags r:id="rId99"/>
              </p:custDataLst>
            </p:nvPr>
          </p:nvSpPr>
          <p:spPr>
            <a:xfrm>
              <a:off x="765" y="14069"/>
              <a:ext cx="1040" cy="556"/>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solidFill>
                  <a:srgbClr val="FFFFFF"/>
                </a:solidFill>
                <a:latin typeface="微软雅黑" panose="020B0503020204020204" charset="-122"/>
                <a:ea typeface="微软雅黑" panose="020B0503020204020204" charset="-122"/>
                <a:cs typeface="+mn-ea"/>
                <a:sym typeface="Arial" panose="020B0604020202020204" pitchFamily="34" charset="0"/>
              </a:endParaRPr>
            </a:p>
          </p:txBody>
        </p:sp>
        <p:sp>
          <p:nvSpPr>
            <p:cNvPr id="299" name="天蝎PPT原创©8"/>
            <p:cNvSpPr/>
            <p:nvPr>
              <p:custDataLst>
                <p:tags r:id="rId100"/>
              </p:custDataLst>
            </p:nvPr>
          </p:nvSpPr>
          <p:spPr>
            <a:xfrm>
              <a:off x="1848" y="14069"/>
              <a:ext cx="5413" cy="556"/>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algn="ctr"/>
              <a:endParaRPr kumimoji="1"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300" name="天蝎PPT原创©18"/>
            <p:cNvSpPr/>
            <p:nvPr>
              <p:custDataLst>
                <p:tags r:id="rId101"/>
              </p:custDataLst>
            </p:nvPr>
          </p:nvSpPr>
          <p:spPr>
            <a:xfrm rot="5400000">
              <a:off x="3849" y="8442"/>
              <a:ext cx="438" cy="6386"/>
            </a:xfrm>
            <a:custGeom>
              <a:avLst/>
              <a:gdLst>
                <a:gd name="connsiteX0" fmla="*/ 0 w 298898"/>
                <a:gd name="connsiteY0" fmla="*/ 257670 h 10698196"/>
                <a:gd name="connsiteX1" fmla="*/ 149449 w 298898"/>
                <a:gd name="connsiteY1" fmla="*/ 0 h 10698196"/>
                <a:gd name="connsiteX2" fmla="*/ 298898 w 298898"/>
                <a:gd name="connsiteY2" fmla="*/ 257670 h 10698196"/>
                <a:gd name="connsiteX3" fmla="*/ 213612 w 298898"/>
                <a:gd name="connsiteY3" fmla="*/ 257670 h 10698196"/>
                <a:gd name="connsiteX4" fmla="*/ 213612 w 298898"/>
                <a:gd name="connsiteY4" fmla="*/ 10698196 h 10698196"/>
                <a:gd name="connsiteX5" fmla="*/ 87002 w 298898"/>
                <a:gd name="connsiteY5" fmla="*/ 10698196 h 10698196"/>
                <a:gd name="connsiteX6" fmla="*/ 87002 w 298898"/>
                <a:gd name="connsiteY6" fmla="*/ 257670 h 10698196"/>
                <a:gd name="connsiteX0-1" fmla="*/ 0 w 270261"/>
                <a:gd name="connsiteY0-2" fmla="*/ 271117 h 10698196"/>
                <a:gd name="connsiteX1-3" fmla="*/ 120812 w 270261"/>
                <a:gd name="connsiteY1-4" fmla="*/ 0 h 10698196"/>
                <a:gd name="connsiteX2-5" fmla="*/ 270261 w 270261"/>
                <a:gd name="connsiteY2-6" fmla="*/ 257670 h 10698196"/>
                <a:gd name="connsiteX3-7" fmla="*/ 184975 w 270261"/>
                <a:gd name="connsiteY3-8" fmla="*/ 257670 h 10698196"/>
                <a:gd name="connsiteX4-9" fmla="*/ 184975 w 270261"/>
                <a:gd name="connsiteY4-10" fmla="*/ 10698196 h 10698196"/>
                <a:gd name="connsiteX5-11" fmla="*/ 58365 w 270261"/>
                <a:gd name="connsiteY5-12" fmla="*/ 10698196 h 10698196"/>
                <a:gd name="connsiteX6-13" fmla="*/ 58365 w 270261"/>
                <a:gd name="connsiteY6-14" fmla="*/ 257670 h 10698196"/>
                <a:gd name="connsiteX7" fmla="*/ 0 w 270261"/>
                <a:gd name="connsiteY7" fmla="*/ 271117 h 10698196"/>
                <a:gd name="connsiteX0-15" fmla="*/ 0 w 270261"/>
                <a:gd name="connsiteY0-16" fmla="*/ 432483 h 10859562"/>
                <a:gd name="connsiteX1-17" fmla="*/ 120813 w 270261"/>
                <a:gd name="connsiteY1-18" fmla="*/ 0 h 10859562"/>
                <a:gd name="connsiteX2-19" fmla="*/ 270261 w 270261"/>
                <a:gd name="connsiteY2-20" fmla="*/ 419036 h 10859562"/>
                <a:gd name="connsiteX3-21" fmla="*/ 184975 w 270261"/>
                <a:gd name="connsiteY3-22" fmla="*/ 419036 h 10859562"/>
                <a:gd name="connsiteX4-23" fmla="*/ 184975 w 270261"/>
                <a:gd name="connsiteY4-24" fmla="*/ 10859562 h 10859562"/>
                <a:gd name="connsiteX5-25" fmla="*/ 58365 w 270261"/>
                <a:gd name="connsiteY5-26" fmla="*/ 10859562 h 10859562"/>
                <a:gd name="connsiteX6-27" fmla="*/ 58365 w 270261"/>
                <a:gd name="connsiteY6-28" fmla="*/ 419036 h 10859562"/>
                <a:gd name="connsiteX7-29" fmla="*/ 0 w 270261"/>
                <a:gd name="connsiteY7-30" fmla="*/ 432483 h 10859562"/>
                <a:gd name="connsiteX0-31" fmla="*/ 0 w 237533"/>
                <a:gd name="connsiteY0-32" fmla="*/ 432483 h 10859562"/>
                <a:gd name="connsiteX1-33" fmla="*/ 120813 w 237533"/>
                <a:gd name="connsiteY1-34" fmla="*/ 0 h 10859562"/>
                <a:gd name="connsiteX2-35" fmla="*/ 237533 w 237533"/>
                <a:gd name="connsiteY2-36" fmla="*/ 405589 h 10859562"/>
                <a:gd name="connsiteX3-37" fmla="*/ 184975 w 237533"/>
                <a:gd name="connsiteY3-38" fmla="*/ 419036 h 10859562"/>
                <a:gd name="connsiteX4-39" fmla="*/ 184975 w 237533"/>
                <a:gd name="connsiteY4-40" fmla="*/ 10859562 h 10859562"/>
                <a:gd name="connsiteX5-41" fmla="*/ 58365 w 237533"/>
                <a:gd name="connsiteY5-42" fmla="*/ 10859562 h 10859562"/>
                <a:gd name="connsiteX6-43" fmla="*/ 58365 w 237533"/>
                <a:gd name="connsiteY6-44" fmla="*/ 419036 h 10859562"/>
                <a:gd name="connsiteX7-45" fmla="*/ 0 w 237533"/>
                <a:gd name="connsiteY7-46" fmla="*/ 432483 h 108595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29" y="connsiteY7-30"/>
                </a:cxn>
              </a:cxnLst>
              <a:rect l="l" t="t" r="r" b="b"/>
              <a:pathLst>
                <a:path w="237533" h="10859562">
                  <a:moveTo>
                    <a:pt x="0" y="432483"/>
                  </a:moveTo>
                  <a:lnTo>
                    <a:pt x="120813" y="0"/>
                  </a:lnTo>
                  <a:lnTo>
                    <a:pt x="237533" y="405589"/>
                  </a:lnTo>
                  <a:lnTo>
                    <a:pt x="184975" y="419036"/>
                  </a:lnTo>
                  <a:lnTo>
                    <a:pt x="184975" y="10859562"/>
                  </a:lnTo>
                  <a:lnTo>
                    <a:pt x="58365" y="10859562"/>
                  </a:lnTo>
                  <a:lnTo>
                    <a:pt x="58365" y="419036"/>
                  </a:lnTo>
                  <a:cubicBezTo>
                    <a:pt x="29364" y="419036"/>
                    <a:pt x="29001" y="432483"/>
                    <a:pt x="0" y="432483"/>
                  </a:cubicBezTo>
                  <a:close/>
                </a:path>
              </a:pathLst>
            </a:cu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wrap="square" rtlCol="0" anchor="ctr">
              <a:noAutofit/>
            </a:bodyPr>
            <a:lstStyle/>
            <a:p>
              <a:pPr algn="ct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1" name="天蝎PPT原创©25"/>
            <p:cNvSpPr/>
            <p:nvPr>
              <p:custDataLst>
                <p:tags r:id="rId102"/>
              </p:custDataLst>
            </p:nvPr>
          </p:nvSpPr>
          <p:spPr>
            <a:xfrm>
              <a:off x="2396" y="11521"/>
              <a:ext cx="236" cy="236"/>
            </a:xfrm>
            <a:prstGeom prst="ellipse">
              <a:avLst/>
            </a:prstGeom>
            <a:solidFill>
              <a:schemeClr val="accent1">
                <a:lumMod val="60000"/>
                <a:lumOff val="40000"/>
              </a:schemeClr>
            </a:solidFill>
            <a:ln w="12700" cap="flat" cmpd="sng" algn="ctr">
              <a:noFill/>
              <a:prstDash val="solid"/>
              <a:miter lim="800000"/>
            </a:ln>
            <a:effectLst>
              <a:outerShdw blurRad="381000" dist="190500" dir="5400000" sx="90000" sy="90000" algn="ctr" rotWithShape="0">
                <a:srgbClr val="24396B">
                  <a:alpha val="30000"/>
                </a:srgbClr>
              </a:outerShdw>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6" name="天蝎PPT原创©27"/>
            <p:cNvSpPr/>
            <p:nvPr>
              <p:custDataLst>
                <p:tags r:id="rId103"/>
              </p:custDataLst>
            </p:nvPr>
          </p:nvSpPr>
          <p:spPr>
            <a:xfrm>
              <a:off x="4019" y="11521"/>
              <a:ext cx="236" cy="236"/>
            </a:xfrm>
            <a:prstGeom prst="ellipse">
              <a:avLst/>
            </a:prstGeom>
            <a:solidFill>
              <a:schemeClr val="accent1">
                <a:lumMod val="60000"/>
                <a:lumOff val="40000"/>
              </a:schemeClr>
            </a:solidFill>
            <a:ln w="12700" cap="flat" cmpd="sng" algn="ctr">
              <a:noFill/>
              <a:prstDash val="solid"/>
              <a:miter lim="800000"/>
            </a:ln>
            <a:effectLst>
              <a:outerShdw blurRad="381000" dist="190500" dir="5400000" sx="90000" sy="90000" algn="ctr" rotWithShape="0">
                <a:srgbClr val="24396B">
                  <a:alpha val="30000"/>
                </a:srgbClr>
              </a:outerShdw>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7" name="天蝎PPT原创©29"/>
            <p:cNvSpPr/>
            <p:nvPr>
              <p:custDataLst>
                <p:tags r:id="rId104"/>
              </p:custDataLst>
            </p:nvPr>
          </p:nvSpPr>
          <p:spPr>
            <a:xfrm>
              <a:off x="5624" y="11521"/>
              <a:ext cx="236" cy="236"/>
            </a:xfrm>
            <a:prstGeom prst="ellipse">
              <a:avLst/>
            </a:prstGeom>
            <a:solidFill>
              <a:schemeClr val="accent1">
                <a:lumMod val="60000"/>
                <a:lumOff val="40000"/>
              </a:schemeClr>
            </a:solidFill>
            <a:ln w="12700" cap="flat" cmpd="sng" algn="ctr">
              <a:noFill/>
              <a:prstDash val="solid"/>
              <a:miter lim="800000"/>
            </a:ln>
            <a:effectLst>
              <a:outerShdw blurRad="381000" dist="190500" dir="5400000" sx="90000" sy="90000" algn="ctr" rotWithShape="0">
                <a:srgbClr val="24396B">
                  <a:alpha val="30000"/>
                </a:srgbClr>
              </a:outerShdw>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8" name="天蝎PPT原创©17"/>
            <p:cNvSpPr/>
            <p:nvPr>
              <p:custDataLst>
                <p:tags r:id="rId105"/>
              </p:custDataLst>
            </p:nvPr>
          </p:nvSpPr>
          <p:spPr>
            <a:xfrm>
              <a:off x="759" y="11521"/>
              <a:ext cx="236" cy="236"/>
            </a:xfrm>
            <a:prstGeom prst="ellipse">
              <a:avLst/>
            </a:prstGeom>
            <a:solidFill>
              <a:schemeClr val="accent1">
                <a:lumMod val="60000"/>
                <a:lumOff val="40000"/>
              </a:schemeClr>
            </a:solidFill>
            <a:ln w="12700" cap="flat" cmpd="sng" algn="ctr">
              <a:noFill/>
              <a:prstDash val="solid"/>
              <a:miter lim="800000"/>
            </a:ln>
            <a:effectLst>
              <a:outerShdw blurRad="381000" dist="190500" dir="5400000" sx="90000" sy="90000" algn="ctr" rotWithShape="0">
                <a:srgbClr val="24396B">
                  <a:alpha val="30000"/>
                </a:srgbClr>
              </a:outerShdw>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sp>
        <p:nvSpPr>
          <p:cNvPr id="4" name="圆角矩形 8"/>
          <p:cNvSpPr/>
          <p:nvPr>
            <p:custDataLst>
              <p:tags r:id="rId106"/>
            </p:custDataLst>
          </p:nvPr>
        </p:nvSpPr>
        <p:spPr>
          <a:xfrm>
            <a:off x="5149850" y="5986780"/>
            <a:ext cx="599440" cy="135890"/>
          </a:xfrm>
          <a:prstGeom prst="roundRect">
            <a:avLst>
              <a:gd name="adj" fmla="val 2689"/>
            </a:avLst>
          </a:pr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5" name="圆角矩形 8"/>
          <p:cNvSpPr/>
          <p:nvPr>
            <p:custDataLst>
              <p:tags r:id="rId107"/>
            </p:custDataLst>
          </p:nvPr>
        </p:nvSpPr>
        <p:spPr>
          <a:xfrm>
            <a:off x="5944870" y="5986780"/>
            <a:ext cx="599440" cy="135890"/>
          </a:xfrm>
          <a:prstGeom prst="roundRect">
            <a:avLst>
              <a:gd name="adj" fmla="val 2689"/>
            </a:avLst>
          </a:pr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6" name="圆角矩形 8"/>
          <p:cNvSpPr/>
          <p:nvPr>
            <p:custDataLst>
              <p:tags r:id="rId108"/>
            </p:custDataLst>
          </p:nvPr>
        </p:nvSpPr>
        <p:spPr>
          <a:xfrm>
            <a:off x="6739255" y="5986780"/>
            <a:ext cx="599440" cy="135890"/>
          </a:xfrm>
          <a:prstGeom prst="roundRect">
            <a:avLst>
              <a:gd name="adj" fmla="val 2689"/>
            </a:avLst>
          </a:pr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 name="圆角矩形 59"/>
          <p:cNvSpPr/>
          <p:nvPr>
            <p:custDataLst>
              <p:tags r:id="rId109"/>
            </p:custDataLst>
          </p:nvPr>
        </p:nvSpPr>
        <p:spPr>
          <a:xfrm>
            <a:off x="5095875" y="5417820"/>
            <a:ext cx="415290" cy="49530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8" name="Freeform 2384"/>
          <p:cNvSpPr/>
          <p:nvPr>
            <p:custDataLst>
              <p:tags r:id="rId110"/>
            </p:custDataLst>
          </p:nvPr>
        </p:nvSpPr>
        <p:spPr>
          <a:xfrm>
            <a:off x="6981190" y="5207635"/>
            <a:ext cx="361950" cy="116205"/>
          </a:xfrm>
          <a:custGeom>
            <a:avLst/>
            <a:gdLst/>
            <a:ahLst/>
            <a:cxnLst/>
            <a:rect l="0" t="0" r="0" b="0"/>
            <a:pathLst>
              <a:path w="1648967" h="527305">
                <a:moveTo>
                  <a:pt x="0" y="108967"/>
                </a:moveTo>
                <a:lnTo>
                  <a:pt x="108965"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6095" cap="flat" cmpd="sng" algn="ctr">
            <a:solidFill>
              <a:schemeClr val="accent1">
                <a:lumMod val="40000"/>
                <a:lumOff val="60000"/>
              </a:schemeClr>
            </a:solidFill>
            <a:prstDash val="solid"/>
            <a:miter lim="1270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9" name="Freeform 2385"/>
          <p:cNvSpPr/>
          <p:nvPr>
            <p:custDataLst>
              <p:tags r:id="rId111"/>
            </p:custDataLst>
          </p:nvPr>
        </p:nvSpPr>
        <p:spPr>
          <a:xfrm>
            <a:off x="6981190" y="5231130"/>
            <a:ext cx="339090" cy="93345"/>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0" name="Freeform 2389"/>
          <p:cNvSpPr/>
          <p:nvPr>
            <p:custDataLst>
              <p:tags r:id="rId112"/>
            </p:custDataLst>
          </p:nvPr>
        </p:nvSpPr>
        <p:spPr>
          <a:xfrm>
            <a:off x="5101590" y="5209540"/>
            <a:ext cx="361950" cy="116205"/>
          </a:xfrm>
          <a:custGeom>
            <a:avLst/>
            <a:gdLst/>
            <a:ahLst/>
            <a:cxnLst/>
            <a:rect l="0" t="0" r="0" b="0"/>
            <a:pathLst>
              <a:path w="1648967" h="527305">
                <a:moveTo>
                  <a:pt x="0" y="108967"/>
                </a:moveTo>
                <a:lnTo>
                  <a:pt x="108953"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1" name="Freeform 2390"/>
          <p:cNvSpPr/>
          <p:nvPr>
            <p:custDataLst>
              <p:tags r:id="rId113"/>
            </p:custDataLst>
          </p:nvPr>
        </p:nvSpPr>
        <p:spPr>
          <a:xfrm>
            <a:off x="5100955" y="5231130"/>
            <a:ext cx="339090" cy="93345"/>
          </a:xfrm>
          <a:custGeom>
            <a:avLst/>
            <a:gdLst/>
            <a:ahLst/>
            <a:cxnLst/>
            <a:rect l="0" t="0" r="0" b="0"/>
            <a:pathLst>
              <a:path w="1545336" h="425195">
                <a:moveTo>
                  <a:pt x="0" y="425195"/>
                </a:moveTo>
                <a:lnTo>
                  <a:pt x="1545336" y="425195"/>
                </a:lnTo>
                <a:lnTo>
                  <a:pt x="1545336" y="0"/>
                </a:lnTo>
                <a:lnTo>
                  <a:pt x="0" y="0"/>
                </a:lnTo>
                <a:lnTo>
                  <a:pt x="0" y="425195"/>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2" name="Freeform 2409"/>
          <p:cNvSpPr/>
          <p:nvPr>
            <p:custDataLst>
              <p:tags r:id="rId114"/>
            </p:custDataLst>
          </p:nvPr>
        </p:nvSpPr>
        <p:spPr>
          <a:xfrm>
            <a:off x="5076190" y="6168390"/>
            <a:ext cx="2302510" cy="116205"/>
          </a:xfrm>
          <a:custGeom>
            <a:avLst/>
            <a:gdLst/>
            <a:ahLst/>
            <a:cxnLst/>
            <a:rect l="0" t="0" r="0" b="0"/>
            <a:pathLst>
              <a:path w="10489693" h="527303">
                <a:moveTo>
                  <a:pt x="0" y="108953"/>
                </a:moveTo>
                <a:lnTo>
                  <a:pt x="108954" y="0"/>
                </a:lnTo>
                <a:lnTo>
                  <a:pt x="10489693" y="0"/>
                </a:lnTo>
                <a:lnTo>
                  <a:pt x="10489693" y="418338"/>
                </a:lnTo>
                <a:lnTo>
                  <a:pt x="10380727" y="527303"/>
                </a:lnTo>
                <a:lnTo>
                  <a:pt x="0" y="527303"/>
                </a:lnTo>
                <a:close/>
                <a:moveTo>
                  <a:pt x="0" y="108953"/>
                </a:moveTo>
                <a:lnTo>
                  <a:pt x="10380727" y="108953"/>
                </a:lnTo>
                <a:lnTo>
                  <a:pt x="10489693" y="0"/>
                </a:lnTo>
                <a:moveTo>
                  <a:pt x="10380727" y="108953"/>
                </a:moveTo>
                <a:lnTo>
                  <a:pt x="10380727" y="527303"/>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3" name="Freeform 2410"/>
          <p:cNvSpPr/>
          <p:nvPr>
            <p:custDataLst>
              <p:tags r:id="rId115"/>
            </p:custDataLst>
          </p:nvPr>
        </p:nvSpPr>
        <p:spPr>
          <a:xfrm>
            <a:off x="5075555" y="6191250"/>
            <a:ext cx="2281555" cy="93345"/>
          </a:xfrm>
          <a:custGeom>
            <a:avLst/>
            <a:gdLst/>
            <a:ahLst/>
            <a:cxnLst/>
            <a:rect l="0" t="0" r="0" b="0"/>
            <a:pathLst>
              <a:path w="10395204" h="425196">
                <a:moveTo>
                  <a:pt x="0" y="425196"/>
                </a:moveTo>
                <a:lnTo>
                  <a:pt x="10395204" y="425196"/>
                </a:lnTo>
                <a:lnTo>
                  <a:pt x="10395204"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4" name="Freeform 2447"/>
          <p:cNvSpPr/>
          <p:nvPr>
            <p:custDataLst>
              <p:tags r:id="rId116"/>
            </p:custDataLst>
          </p:nvPr>
        </p:nvSpPr>
        <p:spPr>
          <a:xfrm>
            <a:off x="6503670" y="5207635"/>
            <a:ext cx="361950" cy="116205"/>
          </a:xfrm>
          <a:custGeom>
            <a:avLst/>
            <a:gdLst/>
            <a:ahLst/>
            <a:cxnLst/>
            <a:rect l="0" t="0" r="0" b="0"/>
            <a:pathLst>
              <a:path w="1648969" h="527305">
                <a:moveTo>
                  <a:pt x="0" y="108967"/>
                </a:moveTo>
                <a:lnTo>
                  <a:pt x="108966" y="0"/>
                </a:lnTo>
                <a:lnTo>
                  <a:pt x="1648969" y="0"/>
                </a:lnTo>
                <a:lnTo>
                  <a:pt x="1648969" y="418338"/>
                </a:lnTo>
                <a:lnTo>
                  <a:pt x="1540002" y="527305"/>
                </a:lnTo>
                <a:lnTo>
                  <a:pt x="0" y="527305"/>
                </a:lnTo>
                <a:close/>
                <a:moveTo>
                  <a:pt x="0" y="108967"/>
                </a:moveTo>
                <a:lnTo>
                  <a:pt x="1540002" y="108967"/>
                </a:lnTo>
                <a:lnTo>
                  <a:pt x="1648969" y="0"/>
                </a:lnTo>
                <a:moveTo>
                  <a:pt x="1540002" y="108967"/>
                </a:moveTo>
                <a:lnTo>
                  <a:pt x="1540002" y="527305"/>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5" name="Freeform 2448"/>
          <p:cNvSpPr/>
          <p:nvPr>
            <p:custDataLst>
              <p:tags r:id="rId117"/>
            </p:custDataLst>
          </p:nvPr>
        </p:nvSpPr>
        <p:spPr>
          <a:xfrm>
            <a:off x="6503670" y="5231130"/>
            <a:ext cx="339090" cy="93345"/>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 name="Freeform 2482"/>
          <p:cNvSpPr/>
          <p:nvPr>
            <p:custDataLst>
              <p:tags r:id="rId118"/>
            </p:custDataLst>
          </p:nvPr>
        </p:nvSpPr>
        <p:spPr>
          <a:xfrm>
            <a:off x="6054090" y="5207635"/>
            <a:ext cx="361950" cy="116205"/>
          </a:xfrm>
          <a:custGeom>
            <a:avLst/>
            <a:gdLst/>
            <a:ahLst/>
            <a:cxnLst/>
            <a:rect l="0" t="0" r="0" b="0"/>
            <a:pathLst>
              <a:path w="1648968" h="527305">
                <a:moveTo>
                  <a:pt x="0" y="108967"/>
                </a:moveTo>
                <a:lnTo>
                  <a:pt x="108967" y="0"/>
                </a:lnTo>
                <a:lnTo>
                  <a:pt x="1648968" y="0"/>
                </a:lnTo>
                <a:lnTo>
                  <a:pt x="1648968" y="418338"/>
                </a:lnTo>
                <a:lnTo>
                  <a:pt x="1540003" y="527305"/>
                </a:lnTo>
                <a:lnTo>
                  <a:pt x="0" y="527305"/>
                </a:lnTo>
                <a:close/>
                <a:moveTo>
                  <a:pt x="0" y="108967"/>
                </a:moveTo>
                <a:lnTo>
                  <a:pt x="1540003" y="108967"/>
                </a:lnTo>
                <a:lnTo>
                  <a:pt x="1648968" y="0"/>
                </a:lnTo>
                <a:moveTo>
                  <a:pt x="1540003" y="108967"/>
                </a:moveTo>
                <a:lnTo>
                  <a:pt x="1540003" y="527305"/>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7" name="Freeform 2483"/>
          <p:cNvSpPr/>
          <p:nvPr>
            <p:custDataLst>
              <p:tags r:id="rId119"/>
            </p:custDataLst>
          </p:nvPr>
        </p:nvSpPr>
        <p:spPr>
          <a:xfrm>
            <a:off x="6053455" y="5231130"/>
            <a:ext cx="339090" cy="93345"/>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cxnSp>
        <p:nvCxnSpPr>
          <p:cNvPr id="22" name="直接连接符 21"/>
          <p:cNvCxnSpPr/>
          <p:nvPr>
            <p:custDataLst>
              <p:tags r:id="rId120"/>
            </p:custDataLst>
          </p:nvPr>
        </p:nvCxnSpPr>
        <p:spPr>
          <a:xfrm rot="10800000">
            <a:off x="5005705" y="6238240"/>
            <a:ext cx="67310" cy="0"/>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sp>
        <p:nvSpPr>
          <p:cNvPr id="23" name="Freeform 2470"/>
          <p:cNvSpPr/>
          <p:nvPr>
            <p:custDataLst>
              <p:tags r:id="rId121"/>
            </p:custDataLst>
          </p:nvPr>
        </p:nvSpPr>
        <p:spPr>
          <a:xfrm>
            <a:off x="5582285" y="5207635"/>
            <a:ext cx="361950" cy="116205"/>
          </a:xfrm>
          <a:custGeom>
            <a:avLst/>
            <a:gdLst/>
            <a:ahLst/>
            <a:cxnLst/>
            <a:rect l="0" t="0" r="0" b="0"/>
            <a:pathLst>
              <a:path w="1648968" h="527305">
                <a:moveTo>
                  <a:pt x="0" y="108967"/>
                </a:moveTo>
                <a:lnTo>
                  <a:pt x="108965" y="0"/>
                </a:lnTo>
                <a:lnTo>
                  <a:pt x="1648968" y="0"/>
                </a:lnTo>
                <a:lnTo>
                  <a:pt x="1648968" y="418338"/>
                </a:lnTo>
                <a:lnTo>
                  <a:pt x="1540002" y="527305"/>
                </a:lnTo>
                <a:lnTo>
                  <a:pt x="0" y="527305"/>
                </a:lnTo>
                <a:close/>
                <a:moveTo>
                  <a:pt x="0" y="108967"/>
                </a:moveTo>
                <a:lnTo>
                  <a:pt x="1540002" y="108967"/>
                </a:lnTo>
                <a:lnTo>
                  <a:pt x="1648968" y="0"/>
                </a:lnTo>
                <a:moveTo>
                  <a:pt x="1540002" y="108967"/>
                </a:moveTo>
                <a:lnTo>
                  <a:pt x="1540002" y="527305"/>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24" name="Freeform 2471"/>
          <p:cNvSpPr/>
          <p:nvPr>
            <p:custDataLst>
              <p:tags r:id="rId122"/>
            </p:custDataLst>
          </p:nvPr>
        </p:nvSpPr>
        <p:spPr>
          <a:xfrm>
            <a:off x="5581650" y="5231130"/>
            <a:ext cx="339090" cy="93345"/>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5" name="圆角矩形 59"/>
          <p:cNvSpPr/>
          <p:nvPr>
            <p:custDataLst>
              <p:tags r:id="rId123"/>
            </p:custDataLst>
          </p:nvPr>
        </p:nvSpPr>
        <p:spPr>
          <a:xfrm>
            <a:off x="6015990" y="5417820"/>
            <a:ext cx="415290" cy="49530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27" name="圆角矩形 59"/>
          <p:cNvSpPr/>
          <p:nvPr>
            <p:custDataLst>
              <p:tags r:id="rId124"/>
            </p:custDataLst>
          </p:nvPr>
        </p:nvSpPr>
        <p:spPr>
          <a:xfrm>
            <a:off x="6475730" y="5417820"/>
            <a:ext cx="415290" cy="49530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30" name="圆角矩形 59"/>
          <p:cNvSpPr/>
          <p:nvPr>
            <p:custDataLst>
              <p:tags r:id="rId125"/>
            </p:custDataLst>
          </p:nvPr>
        </p:nvSpPr>
        <p:spPr>
          <a:xfrm>
            <a:off x="5556250" y="5417820"/>
            <a:ext cx="415290" cy="49530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31" name="圆角矩形 59"/>
          <p:cNvSpPr/>
          <p:nvPr>
            <p:custDataLst>
              <p:tags r:id="rId126"/>
            </p:custDataLst>
          </p:nvPr>
        </p:nvSpPr>
        <p:spPr>
          <a:xfrm>
            <a:off x="6935470" y="5417820"/>
            <a:ext cx="415290" cy="49530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35" name="等腰三角形 34"/>
          <p:cNvSpPr/>
          <p:nvPr>
            <p:custDataLst>
              <p:tags r:id="rId127"/>
            </p:custDataLst>
          </p:nvPr>
        </p:nvSpPr>
        <p:spPr>
          <a:xfrm rot="5400000">
            <a:off x="6891020" y="5224780"/>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36" name="等腰三角形 35"/>
          <p:cNvSpPr/>
          <p:nvPr>
            <p:custDataLst>
              <p:tags r:id="rId128"/>
            </p:custDataLst>
          </p:nvPr>
        </p:nvSpPr>
        <p:spPr>
          <a:xfrm rot="5400000">
            <a:off x="5491480" y="5224780"/>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3" name="等腰三角形 42"/>
          <p:cNvSpPr/>
          <p:nvPr>
            <p:custDataLst>
              <p:tags r:id="rId129"/>
            </p:custDataLst>
          </p:nvPr>
        </p:nvSpPr>
        <p:spPr>
          <a:xfrm rot="5400000">
            <a:off x="5966460" y="5224780"/>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4" name="等腰三角形 43"/>
          <p:cNvSpPr/>
          <p:nvPr>
            <p:custDataLst>
              <p:tags r:id="rId130"/>
            </p:custDataLst>
          </p:nvPr>
        </p:nvSpPr>
        <p:spPr>
          <a:xfrm rot="5400000">
            <a:off x="6431280" y="5224780"/>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5" name="等腰三角形 44"/>
          <p:cNvSpPr/>
          <p:nvPr>
            <p:custDataLst>
              <p:tags r:id="rId131"/>
            </p:custDataLst>
          </p:nvPr>
        </p:nvSpPr>
        <p:spPr>
          <a:xfrm rot="16200000" flipH="1">
            <a:off x="6606540" y="6015355"/>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6" name="等腰三角形 45"/>
          <p:cNvSpPr/>
          <p:nvPr>
            <p:custDataLst>
              <p:tags r:id="rId132"/>
            </p:custDataLst>
          </p:nvPr>
        </p:nvSpPr>
        <p:spPr>
          <a:xfrm rot="16200000" flipH="1">
            <a:off x="5814695" y="6015355"/>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cxnSp>
        <p:nvCxnSpPr>
          <p:cNvPr id="49" name="直接连接符 48"/>
          <p:cNvCxnSpPr/>
          <p:nvPr>
            <p:custDataLst>
              <p:tags r:id="rId133"/>
            </p:custDataLst>
          </p:nvPr>
        </p:nvCxnSpPr>
        <p:spPr>
          <a:xfrm flipH="1">
            <a:off x="4997450" y="5270500"/>
            <a:ext cx="98425" cy="0"/>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cxnSp>
        <p:nvCxnSpPr>
          <p:cNvPr id="50" name="直接连接符 49"/>
          <p:cNvCxnSpPr/>
          <p:nvPr>
            <p:custDataLst>
              <p:tags r:id="rId134"/>
            </p:custDataLst>
          </p:nvPr>
        </p:nvCxnSpPr>
        <p:spPr>
          <a:xfrm flipV="1">
            <a:off x="5005070" y="5269865"/>
            <a:ext cx="0" cy="977265"/>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sp>
        <p:nvSpPr>
          <p:cNvPr id="51" name="等腰三角形 50"/>
          <p:cNvSpPr/>
          <p:nvPr>
            <p:custDataLst>
              <p:tags r:id="rId135"/>
            </p:custDataLst>
          </p:nvPr>
        </p:nvSpPr>
        <p:spPr>
          <a:xfrm flipH="1">
            <a:off x="4964430" y="5671185"/>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grpSp>
        <p:nvGrpSpPr>
          <p:cNvPr id="56" name="组合 55"/>
          <p:cNvGrpSpPr/>
          <p:nvPr>
            <p:custDataLst>
              <p:tags r:id="rId136"/>
            </p:custDataLst>
          </p:nvPr>
        </p:nvGrpSpPr>
        <p:grpSpPr>
          <a:xfrm flipH="1">
            <a:off x="7336790" y="5250180"/>
            <a:ext cx="130810" cy="976630"/>
            <a:chOff x="8018" y="8499"/>
            <a:chExt cx="206" cy="1538"/>
          </a:xfrm>
        </p:grpSpPr>
        <p:cxnSp>
          <p:nvCxnSpPr>
            <p:cNvPr id="52" name="直接连接符 51"/>
            <p:cNvCxnSpPr/>
            <p:nvPr>
              <p:custDataLst>
                <p:tags r:id="rId137"/>
              </p:custDataLst>
            </p:nvPr>
          </p:nvCxnSpPr>
          <p:spPr>
            <a:xfrm rot="10800000">
              <a:off x="8083" y="10024"/>
              <a:ext cx="106" cy="0"/>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cxnSp>
          <p:nvCxnSpPr>
            <p:cNvPr id="53" name="直接连接符 52"/>
            <p:cNvCxnSpPr/>
            <p:nvPr>
              <p:custDataLst>
                <p:tags r:id="rId138"/>
              </p:custDataLst>
            </p:nvPr>
          </p:nvCxnSpPr>
          <p:spPr>
            <a:xfrm flipH="1">
              <a:off x="8070" y="8500"/>
              <a:ext cx="155" cy="0"/>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cxnSp>
          <p:nvCxnSpPr>
            <p:cNvPr id="54" name="直接连接符 53"/>
            <p:cNvCxnSpPr/>
            <p:nvPr>
              <p:custDataLst>
                <p:tags r:id="rId139"/>
              </p:custDataLst>
            </p:nvPr>
          </p:nvCxnSpPr>
          <p:spPr>
            <a:xfrm flipV="1">
              <a:off x="8082" y="8499"/>
              <a:ext cx="0" cy="1539"/>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sp>
          <p:nvSpPr>
            <p:cNvPr id="55" name="等腰三角形 54"/>
            <p:cNvSpPr/>
            <p:nvPr>
              <p:custDataLst>
                <p:tags r:id="rId140"/>
              </p:custDataLst>
            </p:nvPr>
          </p:nvSpPr>
          <p:spPr>
            <a:xfrm flipH="1" flipV="1">
              <a:off x="8018" y="9131"/>
              <a:ext cx="119" cy="119"/>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grpSp>
      <p:sp>
        <p:nvSpPr>
          <p:cNvPr id="3" name="Google Shape;464;p24"/>
          <p:cNvSpPr/>
          <p:nvPr>
            <p:custDataLst>
              <p:tags r:id="rId141"/>
            </p:custDataLst>
          </p:nvPr>
        </p:nvSpPr>
        <p:spPr>
          <a:xfrm>
            <a:off x="2690495" y="2694305"/>
            <a:ext cx="639445" cy="761365"/>
          </a:xfrm>
          <a:prstGeom prst="roundRect">
            <a:avLst>
              <a:gd name="adj" fmla="val 2676"/>
            </a:avLst>
          </a:prstGeom>
          <a:solidFill>
            <a:schemeClr val="accent1">
              <a:lumMod val="40000"/>
              <a:lumOff val="60000"/>
            </a:schemeClr>
          </a:solidFill>
          <a:ln w="12700" cap="flat" cmpd="sng" algn="ctr">
            <a:noFill/>
            <a:prstDash val="solid"/>
            <a:miter lim="800000"/>
          </a:ln>
          <a:effectLst/>
        </p:spPr>
        <p:txBody>
          <a:bodyPr spcFirstLastPara="0" vert="horz" wrap="square" lIns="91444" tIns="45722" rIns="91444" bIns="45722" rtlCol="0" anchor="ctr" anchorCtr="0">
            <a:noAutofit/>
          </a:bodyPr>
          <a:lstStyle/>
          <a:p>
            <a:pPr lvl="0" algn="ctr">
              <a:buClrTx/>
              <a:buSzTx/>
              <a:buFontTx/>
            </a:pPr>
            <a:endParaRPr lang="zh-CN" altLang="en-US" sz="12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 name="Google Shape;450;p24"/>
          <p:cNvSpPr/>
          <p:nvPr>
            <p:custDataLst>
              <p:tags r:id="rId142"/>
            </p:custDataLst>
          </p:nvPr>
        </p:nvSpPr>
        <p:spPr>
          <a:xfrm>
            <a:off x="1382395" y="2464435"/>
            <a:ext cx="1948180" cy="217170"/>
          </a:xfrm>
          <a:custGeom>
            <a:avLst/>
            <a:gdLst/>
            <a:ahLst/>
            <a:cxnLst/>
            <a:rect l="l" t="t" r="r" b="b"/>
            <a:pathLst>
              <a:path w="21588" h="21575" extrusionOk="0">
                <a:moveTo>
                  <a:pt x="109" y="19963"/>
                </a:moveTo>
                <a:cubicBezTo>
                  <a:pt x="41" y="20039"/>
                  <a:pt x="-6" y="20418"/>
                  <a:pt x="0" y="20836"/>
                </a:cubicBezTo>
                <a:cubicBezTo>
                  <a:pt x="7" y="21266"/>
                  <a:pt x="68" y="21590"/>
                  <a:pt x="139" y="21574"/>
                </a:cubicBezTo>
                <a:lnTo>
                  <a:pt x="21476" y="21515"/>
                </a:lnTo>
                <a:cubicBezTo>
                  <a:pt x="21535" y="21473"/>
                  <a:pt x="21581" y="21191"/>
                  <a:pt x="21587" y="20835"/>
                </a:cubicBezTo>
                <a:cubicBezTo>
                  <a:pt x="21594" y="20443"/>
                  <a:pt x="21552" y="20082"/>
                  <a:pt x="21489" y="19993"/>
                </a:cubicBezTo>
                <a:lnTo>
                  <a:pt x="10898" y="125"/>
                </a:lnTo>
                <a:cubicBezTo>
                  <a:pt x="10866" y="51"/>
                  <a:pt x="10833" y="10"/>
                  <a:pt x="10798" y="2"/>
                </a:cubicBezTo>
                <a:cubicBezTo>
                  <a:pt x="10748" y="-10"/>
                  <a:pt x="10699" y="50"/>
                  <a:pt x="10653" y="176"/>
                </a:cubicBezTo>
                <a:lnTo>
                  <a:pt x="109" y="19963"/>
                </a:lnTo>
                <a:close/>
              </a:path>
            </a:pathLst>
          </a:custGeom>
          <a:solidFill>
            <a:schemeClr val="accent1">
              <a:lumMod val="60000"/>
              <a:lumOff val="40000"/>
            </a:schemeClr>
          </a:solidFill>
          <a:ln>
            <a:noFill/>
          </a:ln>
        </p:spPr>
        <p:txBody>
          <a:bodyPr spcFirstLastPara="1" wrap="square" lIns="22868" tIns="22868" rIns="22868" bIns="22868" anchor="t" anchorCtr="0">
            <a:noAutofit/>
          </a:bodyPr>
          <a:lstStyle/>
          <a:p>
            <a:pPr algn="ctr">
              <a:buClr>
                <a:srgbClr val="525455"/>
              </a:buClr>
              <a:buSzPts val="1100"/>
            </a:pPr>
            <a:endParaRPr sz="1465">
              <a:solidFill>
                <a:srgbClr val="5254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 name="Google Shape;452;p24"/>
          <p:cNvSpPr/>
          <p:nvPr>
            <p:custDataLst>
              <p:tags r:id="rId143"/>
            </p:custDataLst>
          </p:nvPr>
        </p:nvSpPr>
        <p:spPr>
          <a:xfrm>
            <a:off x="1386205" y="2694305"/>
            <a:ext cx="639445" cy="762635"/>
          </a:xfrm>
          <a:prstGeom prst="roundRect">
            <a:avLst>
              <a:gd name="adj" fmla="val 2676"/>
            </a:avLst>
          </a:prstGeom>
          <a:solidFill>
            <a:schemeClr val="accent1">
              <a:lumMod val="40000"/>
              <a:lumOff val="60000"/>
            </a:schemeClr>
          </a:solidFill>
          <a:ln w="12700" cap="flat" cmpd="sng" algn="ctr">
            <a:noFill/>
            <a:prstDash val="solid"/>
            <a:miter lim="800000"/>
          </a:ln>
          <a:effectLst/>
        </p:spPr>
        <p:txBody>
          <a:bodyPr spcFirstLastPara="0" vert="horz" wrap="square" lIns="91444" tIns="45722" rIns="91444" bIns="45722" rtlCol="0" anchor="ctr" anchorCtr="0">
            <a:noAutofit/>
          </a:bodyPr>
          <a:lstStyle/>
          <a:p>
            <a:pPr lvl="0" algn="ctr">
              <a:buClrTx/>
              <a:buSzTx/>
              <a:buFontTx/>
            </a:pPr>
            <a:endParaRPr lang="zh-CN" altLang="en-US" sz="12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0" name="Google Shape;453;p24"/>
          <p:cNvSpPr/>
          <p:nvPr>
            <p:custDataLst>
              <p:tags r:id="rId144"/>
            </p:custDataLst>
          </p:nvPr>
        </p:nvSpPr>
        <p:spPr>
          <a:xfrm>
            <a:off x="1386205" y="2694305"/>
            <a:ext cx="639445" cy="99060"/>
          </a:xfrm>
          <a:custGeom>
            <a:avLst/>
            <a:gdLst/>
            <a:ahLst/>
            <a:cxnLst/>
            <a:rect l="l" t="t" r="r" b="b"/>
            <a:pathLst>
              <a:path w="21599" h="21600" extrusionOk="0">
                <a:moveTo>
                  <a:pt x="688" y="0"/>
                </a:moveTo>
                <a:cubicBezTo>
                  <a:pt x="486" y="0"/>
                  <a:pt x="365" y="5"/>
                  <a:pt x="284" y="209"/>
                </a:cubicBezTo>
                <a:cubicBezTo>
                  <a:pt x="167" y="466"/>
                  <a:pt x="75" y="1022"/>
                  <a:pt x="33" y="1728"/>
                </a:cubicBezTo>
                <a:cubicBezTo>
                  <a:pt x="-1" y="2217"/>
                  <a:pt x="0" y="2947"/>
                  <a:pt x="0" y="4171"/>
                </a:cubicBezTo>
                <a:lnTo>
                  <a:pt x="0" y="21600"/>
                </a:lnTo>
                <a:lnTo>
                  <a:pt x="21599" y="21600"/>
                </a:lnTo>
                <a:lnTo>
                  <a:pt x="21599" y="4171"/>
                </a:lnTo>
                <a:cubicBezTo>
                  <a:pt x="21599" y="2947"/>
                  <a:pt x="21598" y="2217"/>
                  <a:pt x="21564" y="1728"/>
                </a:cubicBezTo>
                <a:cubicBezTo>
                  <a:pt x="21522" y="1022"/>
                  <a:pt x="21430" y="466"/>
                  <a:pt x="21313" y="209"/>
                </a:cubicBezTo>
                <a:cubicBezTo>
                  <a:pt x="21232" y="5"/>
                  <a:pt x="21111" y="0"/>
                  <a:pt x="20909" y="0"/>
                </a:cubicBezTo>
                <a:lnTo>
                  <a:pt x="688" y="0"/>
                </a:lnTo>
                <a:close/>
              </a:path>
            </a:pathLst>
          </a:custGeom>
          <a:solidFill>
            <a:schemeClr val="accent1">
              <a:lumMod val="60000"/>
              <a:lumOff val="40000"/>
            </a:schemeClr>
          </a:solidFill>
          <a:ln>
            <a:noFill/>
          </a:ln>
        </p:spPr>
        <p:txBody>
          <a:bodyPr spcFirstLastPara="1" wrap="square" lIns="0" tIns="0" rIns="0" bIns="0" anchor="ctr" anchorCtr="0">
            <a:noAutofit/>
          </a:bodyPr>
          <a:lstStyle/>
          <a:p>
            <a:pPr algn="ctr">
              <a:buClr>
                <a:srgbClr val="525455"/>
              </a:buClr>
              <a:buSzPts val="1100"/>
            </a:pPr>
            <a:endParaRPr sz="1465">
              <a:solidFill>
                <a:srgbClr val="5254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7" name="Google Shape;458;p24"/>
          <p:cNvSpPr/>
          <p:nvPr>
            <p:custDataLst>
              <p:tags r:id="rId145"/>
            </p:custDataLst>
          </p:nvPr>
        </p:nvSpPr>
        <p:spPr>
          <a:xfrm>
            <a:off x="2038985" y="2694305"/>
            <a:ext cx="639445" cy="762635"/>
          </a:xfrm>
          <a:prstGeom prst="roundRect">
            <a:avLst>
              <a:gd name="adj" fmla="val 2676"/>
            </a:avLst>
          </a:prstGeom>
          <a:solidFill>
            <a:schemeClr val="accent1">
              <a:lumMod val="40000"/>
              <a:lumOff val="60000"/>
            </a:schemeClr>
          </a:solidFill>
          <a:ln w="12700" cap="flat" cmpd="sng" algn="ctr">
            <a:noFill/>
            <a:prstDash val="solid"/>
            <a:miter lim="800000"/>
          </a:ln>
          <a:effectLst/>
        </p:spPr>
        <p:txBody>
          <a:bodyPr spcFirstLastPara="0" vert="horz" wrap="square" lIns="91444" tIns="45722" rIns="91444" bIns="45722" rtlCol="0" anchor="ctr" anchorCtr="0">
            <a:noAutofit/>
          </a:bodyPr>
          <a:lstStyle/>
          <a:p>
            <a:pPr lvl="0" algn="ctr">
              <a:buClrTx/>
              <a:buSzTx/>
              <a:buFontTx/>
            </a:pPr>
            <a:endParaRPr lang="zh-CN" altLang="en-US" sz="12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8" name="Google Shape;459;p24"/>
          <p:cNvSpPr/>
          <p:nvPr>
            <p:custDataLst>
              <p:tags r:id="rId146"/>
            </p:custDataLst>
          </p:nvPr>
        </p:nvSpPr>
        <p:spPr>
          <a:xfrm>
            <a:off x="2038985" y="2694305"/>
            <a:ext cx="639445" cy="99060"/>
          </a:xfrm>
          <a:custGeom>
            <a:avLst/>
            <a:gdLst/>
            <a:ahLst/>
            <a:cxnLst/>
            <a:rect l="l" t="t" r="r" b="b"/>
            <a:pathLst>
              <a:path w="21599" h="21600" extrusionOk="0">
                <a:moveTo>
                  <a:pt x="688" y="0"/>
                </a:moveTo>
                <a:cubicBezTo>
                  <a:pt x="486" y="0"/>
                  <a:pt x="365" y="5"/>
                  <a:pt x="284" y="209"/>
                </a:cubicBezTo>
                <a:cubicBezTo>
                  <a:pt x="167" y="466"/>
                  <a:pt x="75" y="1022"/>
                  <a:pt x="33" y="1728"/>
                </a:cubicBezTo>
                <a:cubicBezTo>
                  <a:pt x="-1" y="2217"/>
                  <a:pt x="0" y="2947"/>
                  <a:pt x="0" y="4171"/>
                </a:cubicBezTo>
                <a:lnTo>
                  <a:pt x="0" y="21600"/>
                </a:lnTo>
                <a:lnTo>
                  <a:pt x="21599" y="21600"/>
                </a:lnTo>
                <a:lnTo>
                  <a:pt x="21599" y="4171"/>
                </a:lnTo>
                <a:cubicBezTo>
                  <a:pt x="21599" y="2947"/>
                  <a:pt x="21598" y="2217"/>
                  <a:pt x="21564" y="1728"/>
                </a:cubicBezTo>
                <a:cubicBezTo>
                  <a:pt x="21522" y="1022"/>
                  <a:pt x="21430" y="466"/>
                  <a:pt x="21313" y="209"/>
                </a:cubicBezTo>
                <a:cubicBezTo>
                  <a:pt x="21232" y="5"/>
                  <a:pt x="21111" y="0"/>
                  <a:pt x="20909" y="0"/>
                </a:cubicBezTo>
                <a:lnTo>
                  <a:pt x="688" y="0"/>
                </a:lnTo>
                <a:close/>
              </a:path>
            </a:pathLst>
          </a:custGeom>
          <a:solidFill>
            <a:schemeClr val="accent1">
              <a:lumMod val="60000"/>
              <a:lumOff val="40000"/>
            </a:schemeClr>
          </a:solidFill>
          <a:ln>
            <a:noFill/>
          </a:ln>
        </p:spPr>
        <p:txBody>
          <a:bodyPr spcFirstLastPara="1" wrap="square" lIns="0" tIns="0" rIns="0" bIns="0" anchor="ctr" anchorCtr="0">
            <a:noAutofit/>
          </a:bodyPr>
          <a:lstStyle/>
          <a:p>
            <a:pPr algn="ctr">
              <a:buClr>
                <a:srgbClr val="525455"/>
              </a:buClr>
              <a:buSzPts val="1100"/>
            </a:pPr>
            <a:endParaRPr sz="1465">
              <a:solidFill>
                <a:srgbClr val="5254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7" name="Google Shape;465;p24"/>
          <p:cNvSpPr/>
          <p:nvPr>
            <p:custDataLst>
              <p:tags r:id="rId147"/>
            </p:custDataLst>
          </p:nvPr>
        </p:nvSpPr>
        <p:spPr>
          <a:xfrm>
            <a:off x="2690495" y="2694305"/>
            <a:ext cx="639445" cy="99060"/>
          </a:xfrm>
          <a:custGeom>
            <a:avLst/>
            <a:gdLst/>
            <a:ahLst/>
            <a:cxnLst/>
            <a:rect l="l" t="t" r="r" b="b"/>
            <a:pathLst>
              <a:path w="21599" h="21600" extrusionOk="0">
                <a:moveTo>
                  <a:pt x="688" y="0"/>
                </a:moveTo>
                <a:cubicBezTo>
                  <a:pt x="486" y="0"/>
                  <a:pt x="365" y="5"/>
                  <a:pt x="284" y="209"/>
                </a:cubicBezTo>
                <a:cubicBezTo>
                  <a:pt x="167" y="466"/>
                  <a:pt x="75" y="1022"/>
                  <a:pt x="33" y="1728"/>
                </a:cubicBezTo>
                <a:cubicBezTo>
                  <a:pt x="-1" y="2217"/>
                  <a:pt x="0" y="2947"/>
                  <a:pt x="0" y="4171"/>
                </a:cubicBezTo>
                <a:lnTo>
                  <a:pt x="0" y="21600"/>
                </a:lnTo>
                <a:lnTo>
                  <a:pt x="21599" y="21600"/>
                </a:lnTo>
                <a:lnTo>
                  <a:pt x="21599" y="4171"/>
                </a:lnTo>
                <a:cubicBezTo>
                  <a:pt x="21599" y="2947"/>
                  <a:pt x="21598" y="2217"/>
                  <a:pt x="21564" y="1728"/>
                </a:cubicBezTo>
                <a:cubicBezTo>
                  <a:pt x="21522" y="1022"/>
                  <a:pt x="21430" y="466"/>
                  <a:pt x="21313" y="209"/>
                </a:cubicBezTo>
                <a:cubicBezTo>
                  <a:pt x="21232" y="5"/>
                  <a:pt x="21111" y="0"/>
                  <a:pt x="20909" y="0"/>
                </a:cubicBezTo>
                <a:lnTo>
                  <a:pt x="688" y="0"/>
                </a:lnTo>
                <a:close/>
              </a:path>
            </a:pathLst>
          </a:custGeom>
          <a:solidFill>
            <a:schemeClr val="accent1">
              <a:lumMod val="60000"/>
              <a:lumOff val="40000"/>
            </a:schemeClr>
          </a:solidFill>
          <a:ln>
            <a:noFill/>
          </a:ln>
        </p:spPr>
        <p:txBody>
          <a:bodyPr spcFirstLastPara="1" wrap="square" lIns="0" tIns="0" rIns="0" bIns="0" anchor="ctr" anchorCtr="0">
            <a:noAutofit/>
          </a:bodyPr>
          <a:lstStyle/>
          <a:p>
            <a:pPr algn="ctr">
              <a:buClr>
                <a:srgbClr val="525455"/>
              </a:buClr>
              <a:buSzPts val="1100"/>
            </a:pPr>
            <a:endParaRPr sz="1465">
              <a:solidFill>
                <a:srgbClr val="5254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天蝎PPT1"/>
          <p:cNvPicPr>
            <a:picLocks noChangeAspect="1"/>
          </p:cNvPicPr>
          <p:nvPr/>
        </p:nvPicPr>
        <p:blipFill rotWithShape="1">
          <a:blip r:embed="rId1" cstate="email"/>
          <a:srcRect/>
          <a:stretch>
            <a:fillRect/>
          </a:stretch>
        </p:blipFill>
        <p:spPr>
          <a:xfrm flipH="1">
            <a:off x="4431665" y="1270"/>
            <a:ext cx="7755825" cy="6858000"/>
          </a:xfrm>
          <a:prstGeom prst="rect">
            <a:avLst/>
          </a:prstGeom>
        </p:spPr>
      </p:pic>
      <p:sp>
        <p:nvSpPr>
          <p:cNvPr id="36" name="矩形 35"/>
          <p:cNvSpPr/>
          <p:nvPr/>
        </p:nvSpPr>
        <p:spPr>
          <a:xfrm>
            <a:off x="0" y="-5080"/>
            <a:ext cx="12268200" cy="6858000"/>
          </a:xfrm>
          <a:prstGeom prst="rect">
            <a:avLst/>
          </a:prstGeom>
          <a:gradFill>
            <a:gsLst>
              <a:gs pos="0">
                <a:srgbClr val="EDEEF2">
                  <a:lumMod val="0"/>
                  <a:lumOff val="100000"/>
                </a:srgbClr>
              </a:gs>
              <a:gs pos="100000">
                <a:srgbClr val="DBDBDD">
                  <a:alpha val="50000"/>
                </a:srgbClr>
              </a:gs>
            </a:gsLst>
            <a:lin ang="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3" name="矩形 2"/>
          <p:cNvSpPr/>
          <p:nvPr/>
        </p:nvSpPr>
        <p:spPr>
          <a:xfrm>
            <a:off x="0" y="-5080"/>
            <a:ext cx="5048250" cy="6858000"/>
          </a:xfrm>
          <a:prstGeom prst="rect">
            <a:avLst/>
          </a:prstGeom>
          <a:gradFill>
            <a:gsLst>
              <a:gs pos="0">
                <a:schemeClr val="accent1">
                  <a:lumMod val="10000"/>
                  <a:lumOff val="90000"/>
                </a:schemeClr>
              </a:gs>
              <a:gs pos="100000">
                <a:schemeClr val="accent1">
                  <a:lumMod val="10000"/>
                  <a:lumOff val="90000"/>
                </a:schemeClr>
              </a:gs>
            </a:gsLst>
            <a:lin ang="5400000" scaled="0"/>
          </a:gradFill>
          <a:ln>
            <a:no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a:off x="585470" y="1805940"/>
            <a:ext cx="3877310" cy="583565"/>
          </a:xfrm>
          <a:prstGeom prst="rect">
            <a:avLst/>
          </a:prstGeom>
          <a:noFill/>
        </p:spPr>
        <p:txBody>
          <a:bodyPr wrap="square" rtlCol="0" anchor="ctr" anchorCtr="0">
            <a:spAutoFit/>
          </a:bodyPr>
          <a:lstStyle/>
          <a:p>
            <a:pPr lvl="0" algn="ctr" fontAlgn="ctr">
              <a:buClrTx/>
              <a:buSzTx/>
              <a:buFontTx/>
            </a:pPr>
            <a:r>
              <a:rPr lang="zh-CN" altLang="en-US" sz="32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多层平台架构</a:t>
            </a:r>
            <a:endParaRPr lang="zh-CN" altLang="en-US" sz="32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9" name="文本框 8"/>
          <p:cNvSpPr txBox="1"/>
          <p:nvPr/>
        </p:nvSpPr>
        <p:spPr>
          <a:xfrm>
            <a:off x="819150" y="2650490"/>
            <a:ext cx="3409950" cy="337185"/>
          </a:xfrm>
          <a:prstGeom prst="rect">
            <a:avLst/>
          </a:prstGeom>
          <a:noFill/>
        </p:spPr>
        <p:txBody>
          <a:bodyPr wrap="square" rtlCol="0" anchor="ctr" anchorCtr="0">
            <a:spAutoFit/>
          </a:bodyPr>
          <a:lstStyle/>
          <a:p>
            <a:pPr lvl="0" algn="ctr" fontAlgn="ctr">
              <a:buClrTx/>
              <a:buSzTx/>
              <a:buFontTx/>
            </a:pPr>
            <a:r>
              <a:rPr lang="en-US" altLang="zh-CN" sz="1600">
                <a:solidFill>
                  <a:schemeClr val="accent6">
                    <a:alpha val="50000"/>
                  </a:schemeClr>
                </a:solidFill>
                <a:latin typeface="微软雅黑" panose="020B0503020204020204" charset="-122"/>
                <a:ea typeface="微软雅黑" panose="020B0503020204020204" charset="-122"/>
                <a:cs typeface="微软雅黑" panose="020B0503020204020204" charset="-122"/>
                <a:sym typeface="+mn-ea"/>
              </a:rPr>
              <a:t>Multi-layer Platform  Framework</a:t>
            </a:r>
            <a:endParaRPr lang="en-US" altLang="zh-CN" sz="1600">
              <a:solidFill>
                <a:schemeClr val="accent6">
                  <a:alpha val="5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2" name="矩形 11"/>
          <p:cNvSpPr/>
          <p:nvPr/>
        </p:nvSpPr>
        <p:spPr>
          <a:xfrm>
            <a:off x="1339215" y="2403475"/>
            <a:ext cx="396240" cy="36195"/>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0" name="文本框 29"/>
          <p:cNvSpPr txBox="1"/>
          <p:nvPr/>
        </p:nvSpPr>
        <p:spPr>
          <a:xfrm>
            <a:off x="2000885" y="833755"/>
            <a:ext cx="1046480" cy="860425"/>
          </a:xfrm>
          <a:prstGeom prst="rect">
            <a:avLst/>
          </a:prstGeom>
          <a:noFill/>
        </p:spPr>
        <p:txBody>
          <a:bodyPr wrap="square" rtlCol="0" anchor="ctr" anchorCtr="0">
            <a:noAutofit/>
          </a:bodyPr>
          <a:lstStyle/>
          <a:p>
            <a:pPr lvl="0" algn="ctr" fontAlgn="ctr">
              <a:buClrTx/>
              <a:buSzTx/>
              <a:buFontTx/>
            </a:pPr>
            <a:r>
              <a:rPr lang="en-US" altLang="zh-CN" sz="5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②</a:t>
            </a:r>
            <a:endParaRPr lang="en-US" altLang="zh-CN" sz="5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5" name="梯形 4"/>
          <p:cNvSpPr/>
          <p:nvPr/>
        </p:nvSpPr>
        <p:spPr>
          <a:xfrm>
            <a:off x="1040765" y="5481320"/>
            <a:ext cx="2967355" cy="130810"/>
          </a:xfrm>
          <a:prstGeom prst="trapezoid">
            <a:avLst>
              <a:gd name="adj" fmla="val 187465"/>
            </a:avLst>
          </a:prstGeom>
          <a:gradFill>
            <a:gsLst>
              <a:gs pos="0">
                <a:schemeClr val="accent1">
                  <a:lumMod val="60000"/>
                  <a:lumOff val="40000"/>
                  <a:alpha val="0"/>
                </a:schemeClr>
              </a:gs>
              <a:gs pos="100000">
                <a:schemeClr val="accent1">
                  <a:lumMod val="60000"/>
                  <a:lumOff val="40000"/>
                </a:schemeClr>
              </a:gs>
            </a:gsLst>
            <a:lin ang="5400000" scaled="1"/>
          </a:gra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 name="梯形 6"/>
          <p:cNvSpPr/>
          <p:nvPr/>
        </p:nvSpPr>
        <p:spPr>
          <a:xfrm>
            <a:off x="1040765" y="4834890"/>
            <a:ext cx="2967355" cy="130810"/>
          </a:xfrm>
          <a:prstGeom prst="trapezoid">
            <a:avLst>
              <a:gd name="adj" fmla="val 187465"/>
            </a:avLst>
          </a:prstGeom>
          <a:gradFill>
            <a:gsLst>
              <a:gs pos="0">
                <a:schemeClr val="accent1">
                  <a:lumMod val="60000"/>
                  <a:lumOff val="40000"/>
                  <a:alpha val="0"/>
                </a:schemeClr>
              </a:gs>
              <a:gs pos="100000">
                <a:schemeClr val="accent1">
                  <a:lumMod val="60000"/>
                  <a:lumOff val="40000"/>
                </a:schemeClr>
              </a:gs>
            </a:gsLst>
            <a:lin ang="5400000" scaled="1"/>
          </a:gra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8" name="梯形 7"/>
          <p:cNvSpPr/>
          <p:nvPr/>
        </p:nvSpPr>
        <p:spPr>
          <a:xfrm>
            <a:off x="1040765" y="4187190"/>
            <a:ext cx="2967355" cy="130810"/>
          </a:xfrm>
          <a:prstGeom prst="trapezoid">
            <a:avLst>
              <a:gd name="adj" fmla="val 187465"/>
            </a:avLst>
          </a:prstGeom>
          <a:gradFill>
            <a:gsLst>
              <a:gs pos="0">
                <a:schemeClr val="accent1">
                  <a:lumMod val="60000"/>
                  <a:lumOff val="40000"/>
                  <a:alpha val="0"/>
                </a:schemeClr>
              </a:gs>
              <a:gs pos="100000">
                <a:schemeClr val="accent1">
                  <a:lumMod val="60000"/>
                  <a:lumOff val="40000"/>
                </a:schemeClr>
              </a:gs>
            </a:gsLst>
            <a:lin ang="5400000" scaled="1"/>
          </a:gra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8" name="Freeform 1482"/>
          <p:cNvSpPr/>
          <p:nvPr/>
        </p:nvSpPr>
        <p:spPr>
          <a:xfrm>
            <a:off x="1045845" y="5614670"/>
            <a:ext cx="2962910" cy="130810"/>
          </a:xfrm>
          <a:custGeom>
            <a:avLst/>
            <a:gdLst/>
            <a:ahLst/>
            <a:cxnLst/>
            <a:rect l="0" t="0" r="0" b="0"/>
            <a:pathLst>
              <a:path w="10750295" h="362712">
                <a:moveTo>
                  <a:pt x="0" y="362712"/>
                </a:moveTo>
                <a:lnTo>
                  <a:pt x="10750295" y="362712"/>
                </a:lnTo>
                <a:lnTo>
                  <a:pt x="10750295" y="0"/>
                </a:lnTo>
                <a:lnTo>
                  <a:pt x="0" y="0"/>
                </a:lnTo>
                <a:lnTo>
                  <a:pt x="0" y="362712"/>
                </a:lnTo>
                <a:close/>
              </a:path>
            </a:pathLst>
          </a:custGeom>
          <a:solidFill>
            <a:schemeClr val="accent1">
              <a:lumMod val="60000"/>
              <a:lumOff val="40000"/>
            </a:schemeClr>
          </a:solidFill>
          <a:ln>
            <a:noFill/>
          </a:ln>
        </p:spPr>
        <p:txBody>
          <a:bodyPr spcFirstLastPara="1" vert="horz" wrap="square" lIns="22868" tIns="22868" rIns="22868" bIns="22868" numCol="1" spcCol="0" rtlCol="0" fromWordArt="0" anchor="t" anchorCtr="0" forceAA="0" compatLnSpc="0">
            <a:noAutofit/>
          </a:bodyPr>
          <a:lstStyle/>
          <a:p>
            <a:pPr lvl="0" algn="ctr">
              <a:buClr>
                <a:srgbClr val="525455"/>
              </a:buClr>
              <a:buSzPts val="1100"/>
              <a:buFontTx/>
            </a:pPr>
            <a:endParaRPr sz="1465">
              <a:solidFill>
                <a:srgbClr val="525455"/>
              </a:solidFill>
              <a:latin typeface="微软雅黑" panose="020B0503020204020204" charset="-122"/>
              <a:ea typeface="微软雅黑" panose="020B0503020204020204" charset="-122"/>
              <a:cs typeface="微软雅黑" panose="020B0503020204020204" charset="-122"/>
              <a:sym typeface="+mn-ea"/>
            </a:endParaRPr>
          </a:p>
        </p:txBody>
      </p:sp>
      <p:sp>
        <p:nvSpPr>
          <p:cNvPr id="20" name="Freeform 1484"/>
          <p:cNvSpPr/>
          <p:nvPr/>
        </p:nvSpPr>
        <p:spPr>
          <a:xfrm>
            <a:off x="1045845" y="4968240"/>
            <a:ext cx="2962275" cy="130810"/>
          </a:xfrm>
          <a:custGeom>
            <a:avLst/>
            <a:gdLst/>
            <a:ahLst/>
            <a:cxnLst/>
            <a:rect l="0" t="0" r="0" b="0"/>
            <a:pathLst>
              <a:path w="10750295" h="362712">
                <a:moveTo>
                  <a:pt x="0" y="362712"/>
                </a:moveTo>
                <a:lnTo>
                  <a:pt x="10750295" y="362712"/>
                </a:lnTo>
                <a:lnTo>
                  <a:pt x="10750295" y="0"/>
                </a:lnTo>
                <a:lnTo>
                  <a:pt x="0" y="0"/>
                </a:lnTo>
                <a:lnTo>
                  <a:pt x="0" y="362712"/>
                </a:lnTo>
                <a:close/>
              </a:path>
            </a:pathLst>
          </a:custGeom>
          <a:solidFill>
            <a:schemeClr val="accent1">
              <a:lumMod val="60000"/>
              <a:lumOff val="40000"/>
            </a:schemeClr>
          </a:solidFill>
          <a:ln>
            <a:noFill/>
          </a:ln>
        </p:spPr>
        <p:txBody>
          <a:bodyPr spcFirstLastPara="1" vert="horz" wrap="square" lIns="22868" tIns="22868" rIns="22868" bIns="22868" numCol="1" spcCol="0" rtlCol="0" fromWordArt="0" anchor="t" anchorCtr="0" forceAA="0" compatLnSpc="0">
            <a:noAutofit/>
          </a:bodyPr>
          <a:lstStyle/>
          <a:p>
            <a:pPr lvl="0" algn="ctr">
              <a:buClr>
                <a:srgbClr val="525455"/>
              </a:buClr>
              <a:buSzPts val="1100"/>
              <a:buFontTx/>
            </a:pPr>
            <a:endParaRPr sz="1465">
              <a:solidFill>
                <a:srgbClr val="525455"/>
              </a:solidFill>
              <a:latin typeface="微软雅黑" panose="020B0503020204020204" charset="-122"/>
              <a:ea typeface="微软雅黑" panose="020B0503020204020204" charset="-122"/>
              <a:cs typeface="微软雅黑" panose="020B0503020204020204" charset="-122"/>
              <a:sym typeface="+mn-ea"/>
            </a:endParaRPr>
          </a:p>
        </p:txBody>
      </p:sp>
      <p:sp>
        <p:nvSpPr>
          <p:cNvPr id="22" name="Freeform 1486"/>
          <p:cNvSpPr/>
          <p:nvPr/>
        </p:nvSpPr>
        <p:spPr>
          <a:xfrm>
            <a:off x="1045845" y="4322445"/>
            <a:ext cx="2962910" cy="130810"/>
          </a:xfrm>
          <a:custGeom>
            <a:avLst/>
            <a:gdLst/>
            <a:ahLst/>
            <a:cxnLst/>
            <a:rect l="0" t="0" r="0" b="0"/>
            <a:pathLst>
              <a:path w="10750295" h="362712">
                <a:moveTo>
                  <a:pt x="0" y="362712"/>
                </a:moveTo>
                <a:lnTo>
                  <a:pt x="10750295" y="362712"/>
                </a:lnTo>
                <a:lnTo>
                  <a:pt x="10750295" y="0"/>
                </a:lnTo>
                <a:lnTo>
                  <a:pt x="0" y="0"/>
                </a:lnTo>
                <a:lnTo>
                  <a:pt x="0" y="362712"/>
                </a:lnTo>
                <a:close/>
              </a:path>
            </a:pathLst>
          </a:custGeom>
          <a:solidFill>
            <a:schemeClr val="accent1">
              <a:lumMod val="60000"/>
              <a:lumOff val="40000"/>
            </a:schemeClr>
          </a:solidFill>
          <a:ln>
            <a:noFill/>
          </a:ln>
        </p:spPr>
        <p:txBody>
          <a:bodyPr spcFirstLastPara="1" wrap="square" lIns="22868" tIns="22868" rIns="22868" bIns="22868" anchor="t" anchorCtr="0">
            <a:noAutofit/>
          </a:bodyPr>
          <a:lstStyle/>
          <a:p>
            <a:pPr lvl="0" algn="ctr">
              <a:buClr>
                <a:srgbClr val="525455"/>
              </a:buClr>
              <a:buSzPts val="1100"/>
              <a:buFontTx/>
            </a:pPr>
            <a:endParaRPr sz="1465">
              <a:solidFill>
                <a:srgbClr val="525455"/>
              </a:solidFill>
              <a:latin typeface="微软雅黑" panose="020B0503020204020204" charset="-122"/>
              <a:ea typeface="微软雅黑" panose="020B0503020204020204" charset="-122"/>
              <a:cs typeface="微软雅黑" panose="020B0503020204020204" charset="-122"/>
              <a:sym typeface="+mn-ea"/>
            </a:endParaRPr>
          </a:p>
        </p:txBody>
      </p:sp>
      <p:sp>
        <p:nvSpPr>
          <p:cNvPr id="23" name="矩形: 圆角 43"/>
          <p:cNvSpPr/>
          <p:nvPr/>
        </p:nvSpPr>
        <p:spPr>
          <a:xfrm>
            <a:off x="1322705" y="4499610"/>
            <a:ext cx="694055" cy="320675"/>
          </a:xfrm>
          <a:prstGeom prst="roundRect">
            <a:avLst>
              <a:gd name="adj" fmla="val 1871"/>
            </a:avLst>
          </a:prstGeom>
          <a:noFill/>
          <a:ln w="11430" cap="flat" cmpd="sng" algn="ctr">
            <a:solidFill>
              <a:schemeClr val="accent1">
                <a:lumMod val="60000"/>
                <a:lumOff val="4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24" name="Freeform 1529"/>
          <p:cNvSpPr/>
          <p:nvPr/>
        </p:nvSpPr>
        <p:spPr>
          <a:xfrm>
            <a:off x="1362710" y="4535805"/>
            <a:ext cx="605790" cy="87630"/>
          </a:xfrm>
          <a:custGeom>
            <a:avLst/>
            <a:gdLst/>
            <a:ahLst/>
            <a:cxnLst/>
            <a:rect l="0" t="0" r="0" b="0"/>
            <a:pathLst>
              <a:path w="2674620" h="242317">
                <a:moveTo>
                  <a:pt x="0" y="23623"/>
                </a:moveTo>
                <a:cubicBezTo>
                  <a:pt x="0" y="10542"/>
                  <a:pt x="10541" y="0"/>
                  <a:pt x="23622" y="0"/>
                </a:cubicBezTo>
                <a:lnTo>
                  <a:pt x="2650999" y="0"/>
                </a:lnTo>
                <a:cubicBezTo>
                  <a:pt x="2664080" y="0"/>
                  <a:pt x="2674620" y="10542"/>
                  <a:pt x="2674620" y="23623"/>
                </a:cubicBezTo>
                <a:lnTo>
                  <a:pt x="2674620" y="218694"/>
                </a:lnTo>
                <a:cubicBezTo>
                  <a:pt x="2674620" y="231775"/>
                  <a:pt x="2664080" y="242317"/>
                  <a:pt x="2650999" y="242317"/>
                </a:cubicBezTo>
                <a:lnTo>
                  <a:pt x="23622" y="242317"/>
                </a:lnTo>
                <a:cubicBezTo>
                  <a:pt x="10541" y="242317"/>
                  <a:pt x="0" y="231775"/>
                  <a:pt x="0" y="218694"/>
                </a:cubicBezTo>
                <a:close/>
              </a:path>
            </a:pathLst>
          </a:custGeom>
          <a:solidFill>
            <a:schemeClr val="accent1">
              <a:lumMod val="60000"/>
              <a:lumOff val="40000"/>
            </a:schemeClr>
          </a:solidFill>
          <a:ln>
            <a:noFill/>
          </a:ln>
        </p:spPr>
        <p:txBody>
          <a:bodyPr spcFirstLastPara="1" vert="horz" wrap="square" lIns="0" tIns="0" rIns="0" bIns="0" numCol="1" spcCol="0" rtlCol="0" fromWordArt="0" anchor="ctr" anchorCtr="0" forceAA="0" compatLnSpc="0">
            <a:noAutofit/>
          </a:bodyPr>
          <a:lstStyle/>
          <a:p>
            <a:pPr lvl="0" algn="ctr">
              <a:buClr>
                <a:srgbClr val="525455"/>
              </a:buClr>
              <a:buSzPts val="1100"/>
              <a:buFontTx/>
            </a:pPr>
            <a:endParaRPr sz="1465">
              <a:solidFill>
                <a:srgbClr val="525455"/>
              </a:solidFill>
              <a:latin typeface="微软雅黑" panose="020B0503020204020204" charset="-122"/>
              <a:ea typeface="微软雅黑" panose="020B0503020204020204" charset="-122"/>
              <a:cs typeface="微软雅黑" panose="020B0503020204020204" charset="-122"/>
              <a:sym typeface="+mn-ea"/>
            </a:endParaRPr>
          </a:p>
        </p:txBody>
      </p:sp>
      <p:sp>
        <p:nvSpPr>
          <p:cNvPr id="25" name="矩形: 圆角 8"/>
          <p:cNvSpPr/>
          <p:nvPr/>
        </p:nvSpPr>
        <p:spPr>
          <a:xfrm>
            <a:off x="1402080" y="3839845"/>
            <a:ext cx="506095" cy="313690"/>
          </a:xfrm>
          <a:prstGeom prst="roundRect">
            <a:avLst>
              <a:gd name="adj" fmla="val 1871"/>
            </a:avLst>
          </a:prstGeom>
          <a:noFill/>
          <a:ln w="11430" cap="flat" cmpd="sng" algn="ctr">
            <a:solidFill>
              <a:schemeClr val="accent1">
                <a:lumMod val="60000"/>
                <a:lumOff val="4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26" name="Freeform 1493"/>
          <p:cNvSpPr/>
          <p:nvPr/>
        </p:nvSpPr>
        <p:spPr>
          <a:xfrm>
            <a:off x="1440180" y="3859530"/>
            <a:ext cx="424180" cy="8953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solidFill>
            <a:schemeClr val="accent1">
              <a:lumMod val="60000"/>
              <a:lumOff val="40000"/>
            </a:schemeClr>
          </a:solidFill>
          <a:ln>
            <a:noFill/>
          </a:ln>
        </p:spPr>
        <p:txBody>
          <a:bodyPr spcFirstLastPara="1" wrap="square" lIns="0" tIns="0" rIns="0" bIns="0" anchor="ctr" anchorCtr="0">
            <a:noAutofit/>
          </a:bodyPr>
          <a:lstStyle/>
          <a:p>
            <a:pPr lvl="0" algn="ctr">
              <a:buClr>
                <a:srgbClr val="525455"/>
              </a:buClr>
              <a:buSzPts val="1100"/>
              <a:buFontTx/>
            </a:pPr>
            <a:endParaRPr sz="1465">
              <a:solidFill>
                <a:srgbClr val="525455"/>
              </a:solidFill>
              <a:latin typeface="微软雅黑" panose="020B0503020204020204" charset="-122"/>
              <a:ea typeface="微软雅黑" panose="020B0503020204020204" charset="-122"/>
              <a:cs typeface="微软雅黑" panose="020B0503020204020204" charset="-122"/>
              <a:sym typeface="+mn-ea"/>
            </a:endParaRPr>
          </a:p>
        </p:txBody>
      </p:sp>
      <p:sp>
        <p:nvSpPr>
          <p:cNvPr id="27" name="矩形: 圆角 8"/>
          <p:cNvSpPr/>
          <p:nvPr/>
        </p:nvSpPr>
        <p:spPr>
          <a:xfrm>
            <a:off x="2000250" y="3839845"/>
            <a:ext cx="506095" cy="313690"/>
          </a:xfrm>
          <a:prstGeom prst="roundRect">
            <a:avLst>
              <a:gd name="adj" fmla="val 1871"/>
            </a:avLst>
          </a:prstGeom>
          <a:noFill/>
          <a:ln w="11430" cap="flat" cmpd="sng" algn="ctr">
            <a:solidFill>
              <a:schemeClr val="accent1">
                <a:lumMod val="60000"/>
                <a:lumOff val="4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28" name="Freeform 1493"/>
          <p:cNvSpPr/>
          <p:nvPr/>
        </p:nvSpPr>
        <p:spPr>
          <a:xfrm>
            <a:off x="2038985" y="3859530"/>
            <a:ext cx="424180" cy="8953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solidFill>
            <a:schemeClr val="accent1">
              <a:lumMod val="60000"/>
              <a:lumOff val="40000"/>
            </a:schemeClr>
          </a:solidFill>
          <a:ln>
            <a:noFill/>
          </a:ln>
        </p:spPr>
        <p:txBody>
          <a:bodyPr spcFirstLastPara="1" wrap="square" lIns="0" tIns="0" rIns="0" bIns="0" anchor="ctr" anchorCtr="0">
            <a:noAutofit/>
          </a:bodyPr>
          <a:lstStyle/>
          <a:p>
            <a:pPr lvl="0" algn="ctr">
              <a:buClr>
                <a:srgbClr val="525455"/>
              </a:buClr>
              <a:buSzPts val="1100"/>
              <a:buFontTx/>
            </a:pPr>
            <a:endParaRPr sz="1465">
              <a:solidFill>
                <a:srgbClr val="525455"/>
              </a:solidFill>
              <a:latin typeface="微软雅黑" panose="020B0503020204020204" charset="-122"/>
              <a:ea typeface="微软雅黑" panose="020B0503020204020204" charset="-122"/>
              <a:cs typeface="微软雅黑" panose="020B0503020204020204" charset="-122"/>
              <a:sym typeface="+mn-ea"/>
            </a:endParaRPr>
          </a:p>
        </p:txBody>
      </p:sp>
      <p:sp>
        <p:nvSpPr>
          <p:cNvPr id="29" name="矩形: 圆角 8"/>
          <p:cNvSpPr/>
          <p:nvPr/>
        </p:nvSpPr>
        <p:spPr>
          <a:xfrm>
            <a:off x="2599055" y="3839845"/>
            <a:ext cx="506095" cy="313690"/>
          </a:xfrm>
          <a:prstGeom prst="roundRect">
            <a:avLst>
              <a:gd name="adj" fmla="val 1871"/>
            </a:avLst>
          </a:prstGeom>
          <a:noFill/>
          <a:ln w="11430" cap="flat" cmpd="sng" algn="ctr">
            <a:solidFill>
              <a:schemeClr val="accent1">
                <a:lumMod val="60000"/>
                <a:lumOff val="4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32" name="Freeform 1493"/>
          <p:cNvSpPr/>
          <p:nvPr/>
        </p:nvSpPr>
        <p:spPr>
          <a:xfrm>
            <a:off x="2637790" y="3859530"/>
            <a:ext cx="424180" cy="8953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solidFill>
            <a:schemeClr val="accent1">
              <a:lumMod val="60000"/>
              <a:lumOff val="40000"/>
            </a:schemeClr>
          </a:solidFill>
          <a:ln>
            <a:noFill/>
          </a:ln>
        </p:spPr>
        <p:txBody>
          <a:bodyPr spcFirstLastPara="1" wrap="square" lIns="0" tIns="0" rIns="0" bIns="0" anchor="ctr" anchorCtr="0">
            <a:noAutofit/>
          </a:bodyPr>
          <a:lstStyle/>
          <a:p>
            <a:pPr lvl="0" algn="ctr">
              <a:buClr>
                <a:srgbClr val="525455"/>
              </a:buClr>
              <a:buSzPts val="1100"/>
              <a:buFontTx/>
            </a:pPr>
            <a:endParaRPr sz="1465">
              <a:solidFill>
                <a:srgbClr val="525455"/>
              </a:solidFill>
              <a:latin typeface="微软雅黑" panose="020B0503020204020204" charset="-122"/>
              <a:ea typeface="微软雅黑" panose="020B0503020204020204" charset="-122"/>
              <a:cs typeface="微软雅黑" panose="020B0503020204020204" charset="-122"/>
              <a:sym typeface="+mn-ea"/>
            </a:endParaRPr>
          </a:p>
        </p:txBody>
      </p:sp>
      <p:sp>
        <p:nvSpPr>
          <p:cNvPr id="33" name="矩形: 圆角 8"/>
          <p:cNvSpPr/>
          <p:nvPr/>
        </p:nvSpPr>
        <p:spPr>
          <a:xfrm>
            <a:off x="3197860" y="3839845"/>
            <a:ext cx="506095" cy="313690"/>
          </a:xfrm>
          <a:prstGeom prst="roundRect">
            <a:avLst>
              <a:gd name="adj" fmla="val 1871"/>
            </a:avLst>
          </a:prstGeom>
          <a:noFill/>
          <a:ln w="11430" cap="flat" cmpd="sng" algn="ctr">
            <a:solidFill>
              <a:schemeClr val="accent1">
                <a:lumMod val="60000"/>
                <a:lumOff val="4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34" name="Freeform 1493"/>
          <p:cNvSpPr/>
          <p:nvPr/>
        </p:nvSpPr>
        <p:spPr>
          <a:xfrm>
            <a:off x="3235960" y="3859530"/>
            <a:ext cx="424815" cy="8953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solidFill>
            <a:schemeClr val="accent1">
              <a:lumMod val="60000"/>
              <a:lumOff val="40000"/>
            </a:schemeClr>
          </a:solidFill>
          <a:ln>
            <a:noFill/>
          </a:ln>
        </p:spPr>
        <p:txBody>
          <a:bodyPr spcFirstLastPara="1" wrap="square" lIns="0" tIns="0" rIns="0" bIns="0" anchor="ctr" anchorCtr="0">
            <a:noAutofit/>
          </a:bodyPr>
          <a:lstStyle/>
          <a:p>
            <a:pPr lvl="0" algn="ctr">
              <a:buClr>
                <a:srgbClr val="525455"/>
              </a:buClr>
              <a:buSzPts val="1100"/>
              <a:buFontTx/>
            </a:pPr>
            <a:endParaRPr sz="1465">
              <a:solidFill>
                <a:srgbClr val="525455"/>
              </a:solidFill>
              <a:latin typeface="微软雅黑" panose="020B0503020204020204" charset="-122"/>
              <a:ea typeface="微软雅黑" panose="020B0503020204020204" charset="-122"/>
              <a:cs typeface="微软雅黑" panose="020B0503020204020204" charset="-122"/>
              <a:sym typeface="+mn-ea"/>
            </a:endParaRPr>
          </a:p>
        </p:txBody>
      </p:sp>
      <p:sp>
        <p:nvSpPr>
          <p:cNvPr id="37" name="矩形: 圆角 43"/>
          <p:cNvSpPr/>
          <p:nvPr/>
        </p:nvSpPr>
        <p:spPr>
          <a:xfrm>
            <a:off x="2151380" y="4499610"/>
            <a:ext cx="694055" cy="320675"/>
          </a:xfrm>
          <a:prstGeom prst="roundRect">
            <a:avLst>
              <a:gd name="adj" fmla="val 1871"/>
            </a:avLst>
          </a:prstGeom>
          <a:noFill/>
          <a:ln w="11430" cap="flat" cmpd="sng" algn="ctr">
            <a:solidFill>
              <a:schemeClr val="accent1">
                <a:lumMod val="60000"/>
                <a:lumOff val="4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38" name="Freeform 1529"/>
          <p:cNvSpPr/>
          <p:nvPr/>
        </p:nvSpPr>
        <p:spPr>
          <a:xfrm>
            <a:off x="2190750" y="4535805"/>
            <a:ext cx="605790" cy="87630"/>
          </a:xfrm>
          <a:custGeom>
            <a:avLst/>
            <a:gdLst/>
            <a:ahLst/>
            <a:cxnLst/>
            <a:rect l="0" t="0" r="0" b="0"/>
            <a:pathLst>
              <a:path w="2674620" h="242317">
                <a:moveTo>
                  <a:pt x="0" y="23623"/>
                </a:moveTo>
                <a:cubicBezTo>
                  <a:pt x="0" y="10542"/>
                  <a:pt x="10541" y="0"/>
                  <a:pt x="23622" y="0"/>
                </a:cubicBezTo>
                <a:lnTo>
                  <a:pt x="2650999" y="0"/>
                </a:lnTo>
                <a:cubicBezTo>
                  <a:pt x="2664080" y="0"/>
                  <a:pt x="2674620" y="10542"/>
                  <a:pt x="2674620" y="23623"/>
                </a:cubicBezTo>
                <a:lnTo>
                  <a:pt x="2674620" y="218694"/>
                </a:lnTo>
                <a:cubicBezTo>
                  <a:pt x="2674620" y="231775"/>
                  <a:pt x="2664080" y="242317"/>
                  <a:pt x="2650999" y="242317"/>
                </a:cubicBezTo>
                <a:lnTo>
                  <a:pt x="23622" y="242317"/>
                </a:lnTo>
                <a:cubicBezTo>
                  <a:pt x="10541" y="242317"/>
                  <a:pt x="0" y="231775"/>
                  <a:pt x="0" y="218694"/>
                </a:cubicBezTo>
                <a:close/>
              </a:path>
            </a:pathLst>
          </a:custGeom>
          <a:solidFill>
            <a:srgbClr val="58729A">
              <a:lumMod val="20000"/>
              <a:lumOff val="80000"/>
              <a:alpha val="50195"/>
            </a:srgb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39" name="矩形: 圆角 43"/>
          <p:cNvSpPr/>
          <p:nvPr/>
        </p:nvSpPr>
        <p:spPr>
          <a:xfrm>
            <a:off x="2980055" y="4499610"/>
            <a:ext cx="694055" cy="320675"/>
          </a:xfrm>
          <a:prstGeom prst="roundRect">
            <a:avLst>
              <a:gd name="adj" fmla="val 1871"/>
            </a:avLst>
          </a:prstGeom>
          <a:noFill/>
          <a:ln w="11430" cap="flat" cmpd="sng" algn="ctr">
            <a:solidFill>
              <a:schemeClr val="accent1">
                <a:lumMod val="60000"/>
                <a:lumOff val="4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40" name="Freeform 1529"/>
          <p:cNvSpPr/>
          <p:nvPr/>
        </p:nvSpPr>
        <p:spPr>
          <a:xfrm>
            <a:off x="3019425" y="4535805"/>
            <a:ext cx="605790" cy="87630"/>
          </a:xfrm>
          <a:custGeom>
            <a:avLst/>
            <a:gdLst/>
            <a:ahLst/>
            <a:cxnLst/>
            <a:rect l="0" t="0" r="0" b="0"/>
            <a:pathLst>
              <a:path w="2674620" h="242317">
                <a:moveTo>
                  <a:pt x="0" y="23623"/>
                </a:moveTo>
                <a:cubicBezTo>
                  <a:pt x="0" y="10542"/>
                  <a:pt x="10541" y="0"/>
                  <a:pt x="23622" y="0"/>
                </a:cubicBezTo>
                <a:lnTo>
                  <a:pt x="2650999" y="0"/>
                </a:lnTo>
                <a:cubicBezTo>
                  <a:pt x="2664080" y="0"/>
                  <a:pt x="2674620" y="10542"/>
                  <a:pt x="2674620" y="23623"/>
                </a:cubicBezTo>
                <a:lnTo>
                  <a:pt x="2674620" y="218694"/>
                </a:lnTo>
                <a:cubicBezTo>
                  <a:pt x="2674620" y="231775"/>
                  <a:pt x="2664080" y="242317"/>
                  <a:pt x="2650999" y="242317"/>
                </a:cubicBezTo>
                <a:lnTo>
                  <a:pt x="23622" y="242317"/>
                </a:lnTo>
                <a:cubicBezTo>
                  <a:pt x="10541" y="242317"/>
                  <a:pt x="0" y="231775"/>
                  <a:pt x="0" y="218694"/>
                </a:cubicBezTo>
                <a:close/>
              </a:path>
            </a:pathLst>
          </a:custGeom>
          <a:solidFill>
            <a:schemeClr val="accent1">
              <a:lumMod val="60000"/>
              <a:lumOff val="40000"/>
            </a:schemeClr>
          </a:solidFill>
          <a:ln>
            <a:noFill/>
          </a:ln>
        </p:spPr>
        <p:txBody>
          <a:bodyPr spcFirstLastPara="1" vert="horz" wrap="square" lIns="0" tIns="0" rIns="0" bIns="0" numCol="1" spcCol="0" rtlCol="0" fromWordArt="0" anchor="ctr" anchorCtr="0" forceAA="0" compatLnSpc="0">
            <a:noAutofit/>
          </a:bodyPr>
          <a:lstStyle/>
          <a:p>
            <a:pPr lvl="0" algn="ctr">
              <a:buClr>
                <a:srgbClr val="525455"/>
              </a:buClr>
              <a:buSzPts val="1100"/>
              <a:buFontTx/>
            </a:pPr>
            <a:endParaRPr sz="1465">
              <a:solidFill>
                <a:srgbClr val="525455"/>
              </a:solidFill>
              <a:latin typeface="微软雅黑" panose="020B0503020204020204" charset="-122"/>
              <a:ea typeface="微软雅黑" panose="020B0503020204020204" charset="-122"/>
              <a:cs typeface="微软雅黑" panose="020B0503020204020204" charset="-122"/>
              <a:sym typeface="+mn-ea"/>
            </a:endParaRPr>
          </a:p>
        </p:txBody>
      </p:sp>
      <p:sp>
        <p:nvSpPr>
          <p:cNvPr id="41" name="Rectangle 1555"/>
          <p:cNvSpPr/>
          <p:nvPr/>
        </p:nvSpPr>
        <p:spPr>
          <a:xfrm>
            <a:off x="2190750" y="4533265"/>
            <a:ext cx="605790" cy="94615"/>
          </a:xfrm>
          <a:prstGeom prst="rect">
            <a:avLst/>
          </a:prstGeom>
          <a:solidFill>
            <a:schemeClr val="accent1">
              <a:lumMod val="60000"/>
              <a:lumOff val="40000"/>
            </a:schemeClr>
          </a:solidFill>
          <a:ln>
            <a:noFill/>
          </a:ln>
        </p:spPr>
        <p:txBody>
          <a:bodyPr spcFirstLastPara="1" vert="horz" wrap="square" lIns="0" tIns="0" rIns="0" bIns="0" numCol="1" spcCol="0" rtlCol="0" fromWordArt="0" anchor="ctr" anchorCtr="0" forceAA="0" compatLnSpc="0">
            <a:noAutofit/>
          </a:bodyPr>
          <a:lstStyle/>
          <a:p>
            <a:pPr lvl="0" algn="ctr">
              <a:buClr>
                <a:srgbClr val="525455"/>
              </a:buClr>
              <a:buSzPts val="1100"/>
              <a:buFontTx/>
            </a:pPr>
            <a:endParaRPr sz="1465">
              <a:solidFill>
                <a:srgbClr val="525455"/>
              </a:solidFill>
              <a:latin typeface="微软雅黑" panose="020B0503020204020204" charset="-122"/>
              <a:ea typeface="微软雅黑" panose="020B0503020204020204" charset="-122"/>
              <a:cs typeface="微软雅黑" panose="020B0503020204020204" charset="-122"/>
              <a:sym typeface="+mn-ea"/>
            </a:endParaRPr>
          </a:p>
        </p:txBody>
      </p:sp>
      <p:sp>
        <p:nvSpPr>
          <p:cNvPr id="42" name="矩形: 圆角 48"/>
          <p:cNvSpPr/>
          <p:nvPr/>
        </p:nvSpPr>
        <p:spPr>
          <a:xfrm>
            <a:off x="1355725" y="5158105"/>
            <a:ext cx="1098550" cy="298450"/>
          </a:xfrm>
          <a:prstGeom prst="roundRect">
            <a:avLst>
              <a:gd name="adj" fmla="val 1871"/>
            </a:avLst>
          </a:prstGeom>
          <a:noFill/>
          <a:ln w="11430" cap="flat" cmpd="sng" algn="ctr">
            <a:solidFill>
              <a:schemeClr val="accent1">
                <a:lumMod val="60000"/>
                <a:lumOff val="4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44" name="Freeform 1536"/>
          <p:cNvSpPr/>
          <p:nvPr/>
        </p:nvSpPr>
        <p:spPr>
          <a:xfrm>
            <a:off x="1391920" y="5306060"/>
            <a:ext cx="513715" cy="121920"/>
          </a:xfrm>
          <a:custGeom>
            <a:avLst/>
            <a:gdLst/>
            <a:ahLst/>
            <a:cxnLst/>
            <a:rect l="0" t="0" r="0" b="0"/>
            <a:pathLst>
              <a:path w="1716024" h="338328">
                <a:moveTo>
                  <a:pt x="0" y="338328"/>
                </a:moveTo>
                <a:lnTo>
                  <a:pt x="1716024" y="338328"/>
                </a:lnTo>
                <a:lnTo>
                  <a:pt x="1716024" y="0"/>
                </a:lnTo>
                <a:lnTo>
                  <a:pt x="0" y="0"/>
                </a:lnTo>
                <a:lnTo>
                  <a:pt x="0" y="338328"/>
                </a:lnTo>
                <a:close/>
              </a:path>
            </a:pathLst>
          </a:custGeom>
          <a:noFill/>
          <a:ln w="12191" cap="flat" cmpd="sng" algn="ctr">
            <a:solidFill>
              <a:schemeClr val="accent1">
                <a:lumMod val="60000"/>
                <a:lumOff val="40000"/>
                <a:alpha val="50000"/>
              </a:schemeClr>
            </a:solidFill>
            <a:prstDash val="solid"/>
            <a:miter lim="127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45" name="Freeform 1537"/>
          <p:cNvSpPr/>
          <p:nvPr/>
        </p:nvSpPr>
        <p:spPr>
          <a:xfrm>
            <a:off x="1931670" y="5306060"/>
            <a:ext cx="490855" cy="121920"/>
          </a:xfrm>
          <a:custGeom>
            <a:avLst/>
            <a:gdLst/>
            <a:ahLst/>
            <a:cxnLst/>
            <a:rect l="0" t="0" r="0" b="0"/>
            <a:pathLst>
              <a:path w="2241804" h="338328">
                <a:moveTo>
                  <a:pt x="0" y="338328"/>
                </a:moveTo>
                <a:lnTo>
                  <a:pt x="2241804" y="338328"/>
                </a:lnTo>
                <a:lnTo>
                  <a:pt x="2241804" y="0"/>
                </a:lnTo>
                <a:lnTo>
                  <a:pt x="0" y="0"/>
                </a:lnTo>
                <a:lnTo>
                  <a:pt x="0" y="338328"/>
                </a:lnTo>
                <a:close/>
              </a:path>
            </a:pathLst>
          </a:custGeom>
          <a:noFill/>
          <a:ln w="12191" cap="flat" cmpd="sng" algn="ctr">
            <a:solidFill>
              <a:schemeClr val="accent1">
                <a:lumMod val="60000"/>
                <a:lumOff val="40000"/>
                <a:alpha val="50000"/>
              </a:schemeClr>
            </a:solidFill>
            <a:prstDash val="solid"/>
            <a:miter lim="127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46" name="Rectangle 1570"/>
          <p:cNvSpPr/>
          <p:nvPr/>
        </p:nvSpPr>
        <p:spPr>
          <a:xfrm>
            <a:off x="1402080" y="5193030"/>
            <a:ext cx="1035050" cy="81280"/>
          </a:xfrm>
          <a:prstGeom prst="rect">
            <a:avLst/>
          </a:prstGeom>
          <a:solidFill>
            <a:schemeClr val="accent1">
              <a:lumMod val="60000"/>
              <a:lumOff val="40000"/>
            </a:schemeClr>
          </a:solidFill>
          <a:ln>
            <a:noFill/>
          </a:ln>
        </p:spPr>
        <p:txBody>
          <a:bodyPr spcFirstLastPara="1" vert="horz" wrap="square" lIns="0" tIns="0" rIns="0" bIns="0" numCol="1" spcCol="0" rtlCol="0" fromWordArt="0" anchor="ctr" anchorCtr="0" forceAA="0" compatLnSpc="0">
            <a:noAutofit/>
          </a:bodyPr>
          <a:lstStyle/>
          <a:p>
            <a:pPr lvl="0" algn="ctr">
              <a:buClr>
                <a:srgbClr val="525455"/>
              </a:buClr>
              <a:buSzPts val="1100"/>
              <a:buFontTx/>
            </a:pPr>
            <a:endParaRPr sz="1465">
              <a:solidFill>
                <a:srgbClr val="525455"/>
              </a:solidFill>
              <a:latin typeface="微软雅黑" panose="020B0503020204020204" charset="-122"/>
              <a:ea typeface="微软雅黑" panose="020B0503020204020204" charset="-122"/>
              <a:cs typeface="微软雅黑" panose="020B0503020204020204" charset="-122"/>
              <a:sym typeface="+mn-ea"/>
            </a:endParaRPr>
          </a:p>
        </p:txBody>
      </p:sp>
      <p:sp>
        <p:nvSpPr>
          <p:cNvPr id="48" name="Freeform 1536"/>
          <p:cNvSpPr/>
          <p:nvPr/>
        </p:nvSpPr>
        <p:spPr>
          <a:xfrm>
            <a:off x="2590800" y="5306060"/>
            <a:ext cx="513715" cy="121920"/>
          </a:xfrm>
          <a:custGeom>
            <a:avLst/>
            <a:gdLst/>
            <a:ahLst/>
            <a:cxnLst/>
            <a:rect l="0" t="0" r="0" b="0"/>
            <a:pathLst>
              <a:path w="1716024" h="338328">
                <a:moveTo>
                  <a:pt x="0" y="338328"/>
                </a:moveTo>
                <a:lnTo>
                  <a:pt x="1716024" y="338328"/>
                </a:lnTo>
                <a:lnTo>
                  <a:pt x="1716024" y="0"/>
                </a:lnTo>
                <a:lnTo>
                  <a:pt x="0" y="0"/>
                </a:lnTo>
                <a:lnTo>
                  <a:pt x="0" y="338328"/>
                </a:lnTo>
                <a:close/>
              </a:path>
            </a:pathLst>
          </a:custGeom>
          <a:noFill/>
          <a:ln w="12191" cap="flat" cmpd="sng" algn="ctr">
            <a:solidFill>
              <a:schemeClr val="accent1">
                <a:lumMod val="60000"/>
                <a:lumOff val="40000"/>
                <a:alpha val="50000"/>
              </a:schemeClr>
            </a:solidFill>
            <a:prstDash val="solid"/>
            <a:miter lim="127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49" name="Freeform 1537"/>
          <p:cNvSpPr/>
          <p:nvPr/>
        </p:nvSpPr>
        <p:spPr>
          <a:xfrm>
            <a:off x="3129915" y="5306060"/>
            <a:ext cx="490855" cy="121920"/>
          </a:xfrm>
          <a:custGeom>
            <a:avLst/>
            <a:gdLst/>
            <a:ahLst/>
            <a:cxnLst/>
            <a:rect l="0" t="0" r="0" b="0"/>
            <a:pathLst>
              <a:path w="2241804" h="338328">
                <a:moveTo>
                  <a:pt x="0" y="338328"/>
                </a:moveTo>
                <a:lnTo>
                  <a:pt x="2241804" y="338328"/>
                </a:lnTo>
                <a:lnTo>
                  <a:pt x="2241804" y="0"/>
                </a:lnTo>
                <a:lnTo>
                  <a:pt x="0" y="0"/>
                </a:lnTo>
                <a:lnTo>
                  <a:pt x="0" y="338328"/>
                </a:lnTo>
                <a:close/>
              </a:path>
            </a:pathLst>
          </a:custGeom>
          <a:noFill/>
          <a:ln w="12191" cap="flat" cmpd="sng" algn="ctr">
            <a:solidFill>
              <a:schemeClr val="accent1">
                <a:lumMod val="60000"/>
                <a:lumOff val="40000"/>
                <a:alpha val="50000"/>
              </a:schemeClr>
            </a:solidFill>
            <a:prstDash val="solid"/>
            <a:miter lim="127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50" name="Rectangle 1570"/>
          <p:cNvSpPr/>
          <p:nvPr/>
        </p:nvSpPr>
        <p:spPr>
          <a:xfrm>
            <a:off x="2600960" y="5193030"/>
            <a:ext cx="1035050" cy="81280"/>
          </a:xfrm>
          <a:prstGeom prst="rect">
            <a:avLst/>
          </a:prstGeom>
          <a:solidFill>
            <a:schemeClr val="accent1">
              <a:lumMod val="60000"/>
              <a:lumOff val="40000"/>
            </a:schemeClr>
          </a:solidFill>
          <a:ln>
            <a:noFill/>
          </a:ln>
        </p:spPr>
        <p:txBody>
          <a:bodyPr spcFirstLastPara="1" vert="horz" wrap="square" lIns="0" tIns="0" rIns="0" bIns="0" numCol="1" spcCol="0" rtlCol="0" fromWordArt="0" anchor="ctr" anchorCtr="0" forceAA="0" compatLnSpc="0">
            <a:noAutofit/>
          </a:bodyPr>
          <a:lstStyle/>
          <a:p>
            <a:pPr lvl="0" algn="ctr">
              <a:buClr>
                <a:srgbClr val="525455"/>
              </a:buClr>
              <a:buSzPts val="1100"/>
              <a:buFontTx/>
            </a:pPr>
            <a:endParaRPr sz="1465">
              <a:solidFill>
                <a:srgbClr val="525455"/>
              </a:solidFill>
              <a:latin typeface="微软雅黑" panose="020B0503020204020204" charset="-122"/>
              <a:ea typeface="微软雅黑" panose="020B0503020204020204" charset="-122"/>
              <a:cs typeface="微软雅黑" panose="020B0503020204020204" charset="-122"/>
              <a:sym typeface="+mn-ea"/>
            </a:endParaRPr>
          </a:p>
        </p:txBody>
      </p:sp>
      <p:sp>
        <p:nvSpPr>
          <p:cNvPr id="51" name="矩形: 圆角 48"/>
          <p:cNvSpPr/>
          <p:nvPr/>
        </p:nvSpPr>
        <p:spPr>
          <a:xfrm>
            <a:off x="2553970" y="5158105"/>
            <a:ext cx="1098550" cy="298450"/>
          </a:xfrm>
          <a:prstGeom prst="roundRect">
            <a:avLst>
              <a:gd name="adj" fmla="val 1871"/>
            </a:avLst>
          </a:prstGeom>
          <a:noFill/>
          <a:ln w="11430" cap="flat" cmpd="sng" algn="ctr">
            <a:solidFill>
              <a:schemeClr val="accent1">
                <a:lumMod val="60000"/>
                <a:lumOff val="4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52" name="文本框 51"/>
          <p:cNvSpPr txBox="1"/>
          <p:nvPr/>
        </p:nvSpPr>
        <p:spPr>
          <a:xfrm>
            <a:off x="5697220" y="2173605"/>
            <a:ext cx="5712460" cy="1706880"/>
          </a:xfrm>
          <a:prstGeom prst="rect">
            <a:avLst/>
          </a:prstGeom>
          <a:noFill/>
        </p:spPr>
        <p:txBody>
          <a:bodyPr wrap="square" rtlCol="0">
            <a:spAutoFit/>
          </a:bodyPr>
          <a:lstStyle/>
          <a:p>
            <a:pPr indent="0" fontAlgn="auto">
              <a:lnSpc>
                <a:spcPct val="150000"/>
              </a:lnSpc>
            </a:pPr>
            <a:r>
              <a:rPr lang="zh-CN" altLang="en-US" sz="1400" b="1">
                <a:solidFill>
                  <a:schemeClr val="tx2">
                    <a:lumMod val="75000"/>
                  </a:schemeClr>
                </a:solidFill>
                <a:latin typeface="微软雅黑" panose="020B0503020204020204" charset="-122"/>
                <a:ea typeface="微软雅黑" panose="020B0503020204020204" charset="-122"/>
                <a:cs typeface="微软雅黑" panose="020B0503020204020204" charset="-122"/>
              </a:rPr>
              <a:t>设计元素：</a:t>
            </a:r>
            <a:r>
              <a:rPr lang="zh-CN" altLang="en-US" sz="1400">
                <a:solidFill>
                  <a:schemeClr val="tx2">
                    <a:lumMod val="75000"/>
                  </a:schemeClr>
                </a:solidFill>
                <a:latin typeface="微软雅黑" panose="020B0503020204020204" charset="-122"/>
                <a:ea typeface="微软雅黑" panose="020B0503020204020204" charset="-122"/>
                <a:cs typeface="微软雅黑" panose="020B0503020204020204" charset="-122"/>
              </a:rPr>
              <a:t>主要由基础层、中间层、应用层组成，采用阶梯式或堆叠式视觉设计，每层标注关键组件，用连接线显示层间交互关系。</a:t>
            </a:r>
            <a:endParaRPr lang="zh-CN" altLang="en-US" sz="1400">
              <a:solidFill>
                <a:schemeClr val="tx2">
                  <a:lumMod val="75000"/>
                </a:scheme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1400" b="1">
                <a:solidFill>
                  <a:schemeClr val="tx2">
                    <a:lumMod val="75000"/>
                  </a:schemeClr>
                </a:solidFill>
                <a:latin typeface="微软雅黑" panose="020B0503020204020204" charset="-122"/>
                <a:ea typeface="微软雅黑" panose="020B0503020204020204" charset="-122"/>
                <a:cs typeface="微软雅黑" panose="020B0503020204020204" charset="-122"/>
              </a:rPr>
              <a:t>应用场景：</a:t>
            </a:r>
            <a:r>
              <a:rPr lang="zh-CN" altLang="en-US" sz="1400">
                <a:solidFill>
                  <a:schemeClr val="tx2">
                    <a:lumMod val="75000"/>
                  </a:schemeClr>
                </a:solidFill>
                <a:latin typeface="微软雅黑" panose="020B0503020204020204" charset="-122"/>
                <a:ea typeface="微软雅黑" panose="020B0503020204020204" charset="-122"/>
                <a:cs typeface="微软雅黑" panose="020B0503020204020204" charset="-122"/>
              </a:rPr>
              <a:t>主要应用在数字化转型架构、生态系统建设、组织能力模型、系统结构图等场景中，兼顾</a:t>
            </a:r>
            <a:r>
              <a:rPr lang="en-US" altLang="zh-CN" sz="1400">
                <a:solidFill>
                  <a:schemeClr val="tx2">
                    <a:lumMod val="75000"/>
                  </a:schemeClr>
                </a:solidFill>
                <a:latin typeface="微软雅黑" panose="020B0503020204020204" charset="-122"/>
                <a:ea typeface="微软雅黑" panose="020B0503020204020204" charset="-122"/>
                <a:cs typeface="微软雅黑" panose="020B0503020204020204" charset="-122"/>
              </a:rPr>
              <a:t>​​</a:t>
            </a:r>
            <a:r>
              <a:rPr lang="zh-CN" altLang="en-US" sz="1400">
                <a:solidFill>
                  <a:schemeClr val="tx2">
                    <a:lumMod val="75000"/>
                  </a:schemeClr>
                </a:solidFill>
                <a:latin typeface="微软雅黑" panose="020B0503020204020204" charset="-122"/>
                <a:ea typeface="微软雅黑" panose="020B0503020204020204" charset="-122"/>
                <a:cs typeface="微软雅黑" panose="020B0503020204020204" charset="-122"/>
              </a:rPr>
              <a:t>技术深度</a:t>
            </a:r>
            <a:r>
              <a:rPr lang="en-US" altLang="zh-CN" sz="1400">
                <a:solidFill>
                  <a:schemeClr val="tx2">
                    <a:lumMod val="75000"/>
                  </a:schemeClr>
                </a:solidFill>
                <a:latin typeface="微软雅黑" panose="020B0503020204020204" charset="-122"/>
                <a:ea typeface="微软雅黑" panose="020B0503020204020204" charset="-122"/>
                <a:cs typeface="微软雅黑" panose="020B0503020204020204" charset="-122"/>
              </a:rPr>
              <a:t>​​</a:t>
            </a:r>
            <a:r>
              <a:rPr lang="zh-CN" altLang="en-US" sz="1400">
                <a:solidFill>
                  <a:schemeClr val="tx2">
                    <a:lumMod val="75000"/>
                  </a:schemeClr>
                </a:solidFill>
                <a:latin typeface="微软雅黑" panose="020B0503020204020204" charset="-122"/>
                <a:ea typeface="微软雅黑" panose="020B0503020204020204" charset="-122"/>
                <a:cs typeface="微软雅黑" panose="020B0503020204020204" charset="-122"/>
              </a:rPr>
              <a:t>与</a:t>
            </a:r>
            <a:r>
              <a:rPr lang="en-US" altLang="zh-CN" sz="1400">
                <a:solidFill>
                  <a:schemeClr val="tx2">
                    <a:lumMod val="75000"/>
                  </a:schemeClr>
                </a:solidFill>
                <a:latin typeface="微软雅黑" panose="020B0503020204020204" charset="-122"/>
                <a:ea typeface="微软雅黑" panose="020B0503020204020204" charset="-122"/>
                <a:cs typeface="微软雅黑" panose="020B0503020204020204" charset="-122"/>
              </a:rPr>
              <a:t>​​</a:t>
            </a:r>
            <a:r>
              <a:rPr lang="zh-CN" altLang="en-US" sz="1400">
                <a:solidFill>
                  <a:schemeClr val="tx2">
                    <a:lumMod val="75000"/>
                  </a:schemeClr>
                </a:solidFill>
                <a:latin typeface="微软雅黑" panose="020B0503020204020204" charset="-122"/>
                <a:ea typeface="微软雅黑" panose="020B0503020204020204" charset="-122"/>
                <a:cs typeface="微软雅黑" panose="020B0503020204020204" charset="-122"/>
              </a:rPr>
              <a:t>视觉表达</a:t>
            </a:r>
            <a:r>
              <a:rPr lang="en-US" altLang="zh-CN" sz="1400">
                <a:solidFill>
                  <a:schemeClr val="tx2">
                    <a:lumMod val="75000"/>
                  </a:schemeClr>
                </a:solidFill>
                <a:latin typeface="微软雅黑" panose="020B0503020204020204" charset="-122"/>
                <a:ea typeface="微软雅黑" panose="020B0503020204020204" charset="-122"/>
                <a:cs typeface="微软雅黑" panose="020B0503020204020204" charset="-122"/>
              </a:rPr>
              <a:t>​​</a:t>
            </a:r>
            <a:r>
              <a:rPr lang="zh-CN" altLang="en-US" sz="1400">
                <a:solidFill>
                  <a:schemeClr val="tx2">
                    <a:lumMod val="75000"/>
                  </a:schemeClr>
                </a:solidFill>
                <a:latin typeface="微软雅黑" panose="020B0503020204020204" charset="-122"/>
                <a:ea typeface="微软雅黑" panose="020B0503020204020204" charset="-122"/>
                <a:cs typeface="微软雅黑" panose="020B0503020204020204" charset="-122"/>
              </a:rPr>
              <a:t>。</a:t>
            </a:r>
            <a:endParaRPr lang="zh-CN" altLang="en-US" sz="1400">
              <a:solidFill>
                <a:schemeClr val="tx2">
                  <a:lumMod val="75000"/>
                </a:schemeClr>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1400" b="1">
                <a:solidFill>
                  <a:schemeClr val="accent5"/>
                </a:solidFill>
                <a:latin typeface="微软雅黑" panose="020B0503020204020204" charset="-122"/>
                <a:ea typeface="微软雅黑" panose="020B0503020204020204" charset="-122"/>
                <a:cs typeface="微软雅黑" panose="020B0503020204020204" charset="-122"/>
              </a:rPr>
              <a:t>核心关键词：</a:t>
            </a:r>
            <a:r>
              <a:rPr lang="zh-CN" altLang="en-US" sz="1400">
                <a:solidFill>
                  <a:schemeClr val="tx2">
                    <a:lumMod val="75000"/>
                  </a:schemeClr>
                </a:solidFill>
                <a:latin typeface="微软雅黑" panose="020B0503020204020204" charset="-122"/>
                <a:ea typeface="微软雅黑" panose="020B0503020204020204" charset="-122"/>
                <a:cs typeface="微软雅黑" panose="020B0503020204020204" charset="-122"/>
              </a:rPr>
              <a:t>「结构分层呈现、模块化解耦、模块间的交互逻辑」。</a:t>
            </a:r>
            <a:endParaRPr lang="zh-CN" altLang="en-US" sz="1400">
              <a:solidFill>
                <a:schemeClr val="tx2">
                  <a:lumMod val="75000"/>
                </a:scheme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任意多边形 35"/>
          <p:cNvSpPr/>
          <p:nvPr/>
        </p:nvSpPr>
        <p:spPr>
          <a:xfrm flipV="1">
            <a:off x="1809115" y="1988820"/>
            <a:ext cx="8434705" cy="1982470"/>
          </a:xfrm>
          <a:custGeom>
            <a:avLst/>
            <a:gdLst>
              <a:gd name="adj" fmla="val 47127"/>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1977" h="2815">
                <a:moveTo>
                  <a:pt x="0" y="2815"/>
                </a:moveTo>
                <a:lnTo>
                  <a:pt x="1192" y="285"/>
                </a:lnTo>
                <a:lnTo>
                  <a:pt x="1195" y="285"/>
                </a:lnTo>
                <a:lnTo>
                  <a:pt x="1197" y="281"/>
                </a:lnTo>
                <a:cubicBezTo>
                  <a:pt x="1248" y="122"/>
                  <a:pt x="3678" y="-4"/>
                  <a:pt x="6027" y="0"/>
                </a:cubicBezTo>
                <a:cubicBezTo>
                  <a:pt x="8608" y="-5"/>
                  <a:pt x="10735" y="134"/>
                  <a:pt x="10848" y="273"/>
                </a:cubicBezTo>
                <a:lnTo>
                  <a:pt x="10856" y="281"/>
                </a:lnTo>
                <a:lnTo>
                  <a:pt x="10861" y="288"/>
                </a:lnTo>
                <a:lnTo>
                  <a:pt x="10863" y="296"/>
                </a:lnTo>
                <a:lnTo>
                  <a:pt x="10861" y="304"/>
                </a:lnTo>
                <a:lnTo>
                  <a:pt x="10856" y="311"/>
                </a:lnTo>
                <a:lnTo>
                  <a:pt x="10848" y="319"/>
                </a:lnTo>
                <a:lnTo>
                  <a:pt x="10837" y="327"/>
                </a:lnTo>
                <a:lnTo>
                  <a:pt x="10823" y="334"/>
                </a:lnTo>
                <a:lnTo>
                  <a:pt x="10810" y="340"/>
                </a:lnTo>
                <a:lnTo>
                  <a:pt x="11977" y="2815"/>
                </a:lnTo>
                <a:lnTo>
                  <a:pt x="11975" y="2813"/>
                </a:lnTo>
                <a:lnTo>
                  <a:pt x="11965" y="2805"/>
                </a:lnTo>
                <a:lnTo>
                  <a:pt x="11960" y="2797"/>
                </a:lnTo>
                <a:cubicBezTo>
                  <a:pt x="11890" y="2646"/>
                  <a:pt x="8468" y="2528"/>
                  <a:pt x="6246" y="2532"/>
                </a:cubicBezTo>
                <a:lnTo>
                  <a:pt x="6125" y="2532"/>
                </a:lnTo>
                <a:lnTo>
                  <a:pt x="5988" y="2532"/>
                </a:lnTo>
                <a:lnTo>
                  <a:pt x="5836" y="2532"/>
                </a:lnTo>
                <a:lnTo>
                  <a:pt x="5688" y="2532"/>
                </a:lnTo>
                <a:cubicBezTo>
                  <a:pt x="2636" y="2528"/>
                  <a:pt x="127" y="2687"/>
                  <a:pt x="28" y="2792"/>
                </a:cubicBezTo>
                <a:lnTo>
                  <a:pt x="20" y="2798"/>
                </a:lnTo>
                <a:lnTo>
                  <a:pt x="12" y="2805"/>
                </a:lnTo>
                <a:lnTo>
                  <a:pt x="2" y="2813"/>
                </a:lnTo>
                <a:lnTo>
                  <a:pt x="0" y="2815"/>
                </a:lnTo>
                <a:close/>
              </a:path>
            </a:pathLst>
          </a:custGeom>
          <a:gradFill>
            <a:gsLst>
              <a:gs pos="100000">
                <a:schemeClr val="accent1">
                  <a:lumMod val="20000"/>
                  <a:lumOff val="80000"/>
                  <a:alpha val="60000"/>
                </a:schemeClr>
              </a:gs>
              <a:gs pos="0">
                <a:schemeClr val="accent1">
                  <a:lumMod val="20000"/>
                  <a:lumOff val="80000"/>
                  <a:alpha val="62000"/>
                </a:schemeClr>
              </a:gs>
            </a:gsLst>
            <a:lin ang="5400000" scaled="0"/>
          </a:gradFill>
          <a:ln>
            <a:gradFill>
              <a:gsLst>
                <a:gs pos="77000">
                  <a:schemeClr val="accent1">
                    <a:lumMod val="40000"/>
                    <a:lumOff val="60000"/>
                    <a:alpha val="49000"/>
                  </a:schemeClr>
                </a:gs>
                <a:gs pos="20000">
                  <a:schemeClr val="accent1">
                    <a:lumMod val="40000"/>
                    <a:lumOff val="60000"/>
                    <a:alpha val="49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81" name="显眼包PPT3"/>
          <p:cNvSpPr/>
          <p:nvPr/>
        </p:nvSpPr>
        <p:spPr>
          <a:xfrm rot="16200000" flipH="1">
            <a:off x="8255635" y="2431415"/>
            <a:ext cx="3296920" cy="5426075"/>
          </a:xfrm>
          <a:custGeom>
            <a:avLst/>
            <a:gdLst>
              <a:gd name="connsiteX0" fmla="*/ 0 w 3515232"/>
              <a:gd name="connsiteY0" fmla="*/ 4417977 h 4417977"/>
              <a:gd name="connsiteX1" fmla="*/ 3515232 w 3515232"/>
              <a:gd name="connsiteY1" fmla="*/ 4417977 h 4417977"/>
              <a:gd name="connsiteX2" fmla="*/ 3481313 w 3515232"/>
              <a:gd name="connsiteY2" fmla="*/ 4321859 h 4417977"/>
              <a:gd name="connsiteX3" fmla="*/ 3167594 w 3515232"/>
              <a:gd name="connsiteY3" fmla="*/ 3264867 h 4417977"/>
              <a:gd name="connsiteX4" fmla="*/ 2774364 w 3515232"/>
              <a:gd name="connsiteY4" fmla="*/ 193088 h 4417977"/>
              <a:gd name="connsiteX5" fmla="*/ 2797515 w 3515232"/>
              <a:gd name="connsiteY5" fmla="*/ 0 h 4417977"/>
              <a:gd name="connsiteX6" fmla="*/ 717716 w 3515232"/>
              <a:gd name="connsiteY6" fmla="*/ 0 h 4417977"/>
              <a:gd name="connsiteX7" fmla="*/ 740867 w 3515232"/>
              <a:gd name="connsiteY7" fmla="*/ 193090 h 4417977"/>
              <a:gd name="connsiteX8" fmla="*/ 347637 w 3515232"/>
              <a:gd name="connsiteY8" fmla="*/ 3264868 h 4417977"/>
              <a:gd name="connsiteX9" fmla="*/ 33918 w 3515232"/>
              <a:gd name="connsiteY9" fmla="*/ 4321860 h 4417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5232" h="4417977">
                <a:moveTo>
                  <a:pt x="0" y="4417977"/>
                </a:moveTo>
                <a:lnTo>
                  <a:pt x="3515232" y="4417977"/>
                </a:lnTo>
                <a:lnTo>
                  <a:pt x="3481313" y="4321859"/>
                </a:lnTo>
                <a:cubicBezTo>
                  <a:pt x="3369439" y="3991253"/>
                  <a:pt x="3263527" y="3636383"/>
                  <a:pt x="3167594" y="3264867"/>
                </a:cubicBezTo>
                <a:cubicBezTo>
                  <a:pt x="2847820" y="2026481"/>
                  <a:pt x="2714622" y="896235"/>
                  <a:pt x="2774364" y="193088"/>
                </a:cubicBezTo>
                <a:lnTo>
                  <a:pt x="2797515" y="0"/>
                </a:lnTo>
                <a:lnTo>
                  <a:pt x="717716" y="0"/>
                </a:lnTo>
                <a:lnTo>
                  <a:pt x="740867" y="193090"/>
                </a:lnTo>
                <a:cubicBezTo>
                  <a:pt x="800609" y="896236"/>
                  <a:pt x="667412" y="2026482"/>
                  <a:pt x="347637" y="3264868"/>
                </a:cubicBezTo>
                <a:cubicBezTo>
                  <a:pt x="251705" y="3636384"/>
                  <a:pt x="145792" y="3991254"/>
                  <a:pt x="33918" y="4321860"/>
                </a:cubicBezTo>
                <a:close/>
              </a:path>
            </a:pathLst>
          </a:custGeom>
          <a:gradFill>
            <a:gsLst>
              <a:gs pos="0">
                <a:schemeClr val="accent5">
                  <a:lumMod val="60000"/>
                  <a:lumOff val="40000"/>
                  <a:alpha val="0"/>
                </a:schemeClr>
              </a:gs>
              <a:gs pos="100000">
                <a:schemeClr val="accent5">
                  <a:lumMod val="60000"/>
                  <a:lumOff val="40000"/>
                  <a:alpha val="0"/>
                </a:schemeClr>
              </a:gs>
              <a:gs pos="73000">
                <a:schemeClr val="accent5">
                  <a:lumMod val="60000"/>
                  <a:lumOff val="40000"/>
                  <a:alpha val="24000"/>
                </a:schemeClr>
              </a:gs>
            </a:gsLst>
            <a:lin ang="5400000" scaled="1"/>
          </a:gradFill>
          <a:ln>
            <a:gradFill>
              <a:gsLst>
                <a:gs pos="55600">
                  <a:schemeClr val="accent5">
                    <a:lumMod val="60000"/>
                    <a:lumOff val="40000"/>
                  </a:schemeClr>
                </a:gs>
                <a:gs pos="23000">
                  <a:schemeClr val="accent5">
                    <a:lumMod val="60000"/>
                    <a:lumOff val="40000"/>
                    <a:alpha val="0"/>
                  </a:schemeClr>
                </a:gs>
                <a:gs pos="100000">
                  <a:schemeClr val="accent5">
                    <a:lumMod val="60000"/>
                    <a:lumOff val="4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67" name="显眼包PPT3"/>
          <p:cNvSpPr/>
          <p:nvPr/>
        </p:nvSpPr>
        <p:spPr>
          <a:xfrm rot="5400000">
            <a:off x="1063625" y="2431415"/>
            <a:ext cx="3296920" cy="5426075"/>
          </a:xfrm>
          <a:custGeom>
            <a:avLst/>
            <a:gdLst>
              <a:gd name="connsiteX0" fmla="*/ 0 w 3515232"/>
              <a:gd name="connsiteY0" fmla="*/ 4417977 h 4417977"/>
              <a:gd name="connsiteX1" fmla="*/ 3515232 w 3515232"/>
              <a:gd name="connsiteY1" fmla="*/ 4417977 h 4417977"/>
              <a:gd name="connsiteX2" fmla="*/ 3481313 w 3515232"/>
              <a:gd name="connsiteY2" fmla="*/ 4321859 h 4417977"/>
              <a:gd name="connsiteX3" fmla="*/ 3167594 w 3515232"/>
              <a:gd name="connsiteY3" fmla="*/ 3264867 h 4417977"/>
              <a:gd name="connsiteX4" fmla="*/ 2774364 w 3515232"/>
              <a:gd name="connsiteY4" fmla="*/ 193088 h 4417977"/>
              <a:gd name="connsiteX5" fmla="*/ 2797515 w 3515232"/>
              <a:gd name="connsiteY5" fmla="*/ 0 h 4417977"/>
              <a:gd name="connsiteX6" fmla="*/ 717716 w 3515232"/>
              <a:gd name="connsiteY6" fmla="*/ 0 h 4417977"/>
              <a:gd name="connsiteX7" fmla="*/ 740867 w 3515232"/>
              <a:gd name="connsiteY7" fmla="*/ 193090 h 4417977"/>
              <a:gd name="connsiteX8" fmla="*/ 347637 w 3515232"/>
              <a:gd name="connsiteY8" fmla="*/ 3264868 h 4417977"/>
              <a:gd name="connsiteX9" fmla="*/ 33918 w 3515232"/>
              <a:gd name="connsiteY9" fmla="*/ 4321860 h 4417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5232" h="4417977">
                <a:moveTo>
                  <a:pt x="0" y="4417977"/>
                </a:moveTo>
                <a:lnTo>
                  <a:pt x="3515232" y="4417977"/>
                </a:lnTo>
                <a:lnTo>
                  <a:pt x="3481313" y="4321859"/>
                </a:lnTo>
                <a:cubicBezTo>
                  <a:pt x="3369439" y="3991253"/>
                  <a:pt x="3263527" y="3636383"/>
                  <a:pt x="3167594" y="3264867"/>
                </a:cubicBezTo>
                <a:cubicBezTo>
                  <a:pt x="2847820" y="2026481"/>
                  <a:pt x="2714622" y="896235"/>
                  <a:pt x="2774364" y="193088"/>
                </a:cubicBezTo>
                <a:lnTo>
                  <a:pt x="2797515" y="0"/>
                </a:lnTo>
                <a:lnTo>
                  <a:pt x="717716" y="0"/>
                </a:lnTo>
                <a:lnTo>
                  <a:pt x="740867" y="193090"/>
                </a:lnTo>
                <a:cubicBezTo>
                  <a:pt x="800609" y="896236"/>
                  <a:pt x="667412" y="2026482"/>
                  <a:pt x="347637" y="3264868"/>
                </a:cubicBezTo>
                <a:cubicBezTo>
                  <a:pt x="251705" y="3636384"/>
                  <a:pt x="145792" y="3991254"/>
                  <a:pt x="33918" y="4321860"/>
                </a:cubicBezTo>
                <a:close/>
              </a:path>
            </a:pathLst>
          </a:custGeom>
          <a:gradFill>
            <a:gsLst>
              <a:gs pos="0">
                <a:schemeClr val="accent5">
                  <a:lumMod val="60000"/>
                  <a:lumOff val="40000"/>
                  <a:alpha val="0"/>
                </a:schemeClr>
              </a:gs>
              <a:gs pos="100000">
                <a:schemeClr val="accent5">
                  <a:lumMod val="60000"/>
                  <a:lumOff val="40000"/>
                  <a:alpha val="0"/>
                </a:schemeClr>
              </a:gs>
              <a:gs pos="73000">
                <a:schemeClr val="accent5">
                  <a:lumMod val="60000"/>
                  <a:lumOff val="40000"/>
                  <a:alpha val="24000"/>
                </a:schemeClr>
              </a:gs>
            </a:gsLst>
            <a:lin ang="5400000" scaled="1"/>
          </a:gradFill>
          <a:ln>
            <a:gradFill>
              <a:gsLst>
                <a:gs pos="55600">
                  <a:schemeClr val="accent5">
                    <a:lumMod val="60000"/>
                    <a:lumOff val="40000"/>
                  </a:schemeClr>
                </a:gs>
                <a:gs pos="23000">
                  <a:schemeClr val="accent5">
                    <a:lumMod val="60000"/>
                    <a:lumOff val="40000"/>
                    <a:alpha val="0"/>
                  </a:schemeClr>
                </a:gs>
                <a:gs pos="100000">
                  <a:schemeClr val="accent5">
                    <a:lumMod val="60000"/>
                    <a:lumOff val="4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20" name="显眼包PPT10"/>
          <p:cNvSpPr/>
          <p:nvPr/>
        </p:nvSpPr>
        <p:spPr>
          <a:xfrm>
            <a:off x="1211580" y="5866765"/>
            <a:ext cx="9596120" cy="926464"/>
          </a:xfrm>
          <a:custGeom>
            <a:avLst/>
            <a:gdLst>
              <a:gd name="connsiteX0" fmla="*/ 553814 w 10737672"/>
              <a:gd name="connsiteY0" fmla="*/ 0 h 759065"/>
              <a:gd name="connsiteX1" fmla="*/ 579806 w 10737672"/>
              <a:gd name="connsiteY1" fmla="*/ 0 h 759065"/>
              <a:gd name="connsiteX2" fmla="*/ 660566 w 10737672"/>
              <a:gd name="connsiteY2" fmla="*/ 30978 h 759065"/>
              <a:gd name="connsiteX3" fmla="*/ 5368925 w 10737672"/>
              <a:gd name="connsiteY3" fmla="*/ 179364 h 759065"/>
              <a:gd name="connsiteX4" fmla="*/ 10077284 w 10737672"/>
              <a:gd name="connsiteY4" fmla="*/ 30978 h 759065"/>
              <a:gd name="connsiteX5" fmla="*/ 10158045 w 10737672"/>
              <a:gd name="connsiteY5" fmla="*/ 0 h 759065"/>
              <a:gd name="connsiteX6" fmla="*/ 10183858 w 10737672"/>
              <a:gd name="connsiteY6" fmla="*/ 0 h 759065"/>
              <a:gd name="connsiteX7" fmla="*/ 10732255 w 10737672"/>
              <a:gd name="connsiteY7" fmla="*/ 450011 h 759065"/>
              <a:gd name="connsiteX8" fmla="*/ 10715254 w 10737672"/>
              <a:gd name="connsiteY8" fmla="*/ 450011 h 759065"/>
              <a:gd name="connsiteX9" fmla="*/ 10737672 w 10737672"/>
              <a:gd name="connsiteY9" fmla="*/ 462303 h 759065"/>
              <a:gd name="connsiteX10" fmla="*/ 5368836 w 10737672"/>
              <a:gd name="connsiteY10" fmla="*/ 759065 h 759065"/>
              <a:gd name="connsiteX11" fmla="*/ 0 w 10737672"/>
              <a:gd name="connsiteY11" fmla="*/ 462303 h 759065"/>
              <a:gd name="connsiteX12" fmla="*/ 22418 w 10737672"/>
              <a:gd name="connsiteY12" fmla="*/ 450011 h 759065"/>
              <a:gd name="connsiteX13" fmla="*/ 5417 w 10737672"/>
              <a:gd name="connsiteY13" fmla="*/ 450011 h 75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12" h="1459">
                <a:moveTo>
                  <a:pt x="779" y="0"/>
                </a:moveTo>
                <a:lnTo>
                  <a:pt x="816" y="0"/>
                </a:lnTo>
                <a:cubicBezTo>
                  <a:pt x="975" y="94"/>
                  <a:pt x="1213" y="122"/>
                  <a:pt x="1356" y="133"/>
                </a:cubicBezTo>
                <a:cubicBezTo>
                  <a:pt x="2293" y="302"/>
                  <a:pt x="5144" y="422"/>
                  <a:pt x="7610" y="417"/>
                </a:cubicBezTo>
                <a:cubicBezTo>
                  <a:pt x="11107" y="430"/>
                  <a:pt x="14079" y="205"/>
                  <a:pt x="14346" y="15"/>
                </a:cubicBezTo>
                <a:lnTo>
                  <a:pt x="15104" y="865"/>
                </a:lnTo>
                <a:lnTo>
                  <a:pt x="15080" y="865"/>
                </a:lnTo>
                <a:lnTo>
                  <a:pt x="15112" y="888"/>
                </a:lnTo>
                <a:lnTo>
                  <a:pt x="15109" y="903"/>
                </a:lnTo>
                <a:lnTo>
                  <a:pt x="15102" y="918"/>
                </a:lnTo>
                <a:lnTo>
                  <a:pt x="15095" y="933"/>
                </a:lnTo>
                <a:cubicBezTo>
                  <a:pt x="15017" y="1232"/>
                  <a:pt x="10938" y="1466"/>
                  <a:pt x="7731" y="1459"/>
                </a:cubicBezTo>
                <a:lnTo>
                  <a:pt x="7556" y="1459"/>
                </a:lnTo>
                <a:lnTo>
                  <a:pt x="7365" y="1459"/>
                </a:lnTo>
                <a:cubicBezTo>
                  <a:pt x="3426" y="1468"/>
                  <a:pt x="182" y="1179"/>
                  <a:pt x="33" y="946"/>
                </a:cubicBezTo>
                <a:lnTo>
                  <a:pt x="23" y="933"/>
                </a:lnTo>
                <a:lnTo>
                  <a:pt x="10" y="918"/>
                </a:lnTo>
                <a:lnTo>
                  <a:pt x="3" y="903"/>
                </a:lnTo>
                <a:lnTo>
                  <a:pt x="0" y="888"/>
                </a:lnTo>
                <a:lnTo>
                  <a:pt x="32" y="865"/>
                </a:lnTo>
                <a:lnTo>
                  <a:pt x="8" y="865"/>
                </a:lnTo>
                <a:lnTo>
                  <a:pt x="779" y="0"/>
                </a:lnTo>
                <a:close/>
              </a:path>
            </a:pathLst>
          </a:custGeom>
          <a:gradFill flip="none" rotWithShape="1">
            <a:gsLst>
              <a:gs pos="0">
                <a:schemeClr val="accent1">
                  <a:lumMod val="60000"/>
                  <a:lumOff val="40000"/>
                </a:schemeClr>
              </a:gs>
              <a:gs pos="85000">
                <a:schemeClr val="accent1"/>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6" name="椭圆 25"/>
          <p:cNvSpPr/>
          <p:nvPr/>
        </p:nvSpPr>
        <p:spPr>
          <a:xfrm>
            <a:off x="1804670" y="5507990"/>
            <a:ext cx="8443595" cy="537845"/>
          </a:xfrm>
          <a:prstGeom prst="ellipse">
            <a:avLst/>
          </a:prstGeom>
          <a:solidFill>
            <a:schemeClr val="bg1"/>
          </a:solidFill>
          <a:ln w="19050">
            <a:gradFill>
              <a:gsLst>
                <a:gs pos="0">
                  <a:schemeClr val="accent1">
                    <a:lumMod val="60000"/>
                    <a:lumOff val="40000"/>
                    <a:alpha val="0"/>
                  </a:schemeClr>
                </a:gs>
                <a:gs pos="100000">
                  <a:schemeClr val="accent1">
                    <a:lumMod val="60000"/>
                    <a:lumOff val="40000"/>
                  </a:schemeClr>
                </a:gs>
              </a:gsLst>
              <a:lin ang="5400000" scaled="1"/>
            </a:gradFill>
          </a:ln>
          <a:scene3d>
            <a:camera prst="orthographicFront"/>
            <a:lightRig rig="threePt" dir="t"/>
          </a:scene3d>
          <a:sp3d extrusionH="5715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28" name="椭圆 127"/>
          <p:cNvSpPr/>
          <p:nvPr/>
        </p:nvSpPr>
        <p:spPr>
          <a:xfrm>
            <a:off x="1816100" y="5507990"/>
            <a:ext cx="8443595" cy="537845"/>
          </a:xfrm>
          <a:prstGeom prst="ellipse">
            <a:avLst/>
          </a:prstGeom>
          <a:gradFill>
            <a:gsLst>
              <a:gs pos="100000">
                <a:schemeClr val="accent1">
                  <a:lumMod val="20000"/>
                  <a:lumOff val="80000"/>
                </a:schemeClr>
              </a:gs>
              <a:gs pos="0">
                <a:schemeClr val="accent1">
                  <a:lumMod val="60000"/>
                  <a:lumOff val="40000"/>
                  <a:alpha val="0"/>
                </a:schemeClr>
              </a:gs>
            </a:gsLst>
            <a:lin ang="5400000" scaled="1"/>
          </a:gradFill>
          <a:ln w="47625">
            <a:gradFill>
              <a:gsLst>
                <a:gs pos="12000">
                  <a:schemeClr val="accent1">
                    <a:lumMod val="60000"/>
                    <a:lumOff val="40000"/>
                    <a:alpha val="0"/>
                  </a:schemeClr>
                </a:gs>
                <a:gs pos="52000">
                  <a:schemeClr val="accent1">
                    <a:lumMod val="60000"/>
                    <a:lumOff val="4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 name="标题 2"/>
          <p:cNvSpPr>
            <a:spLocks noGrp="1"/>
          </p:cNvSpPr>
          <p:nvPr/>
        </p:nvSpPr>
        <p:spPr>
          <a:xfrm>
            <a:off x="1105535" y="348298"/>
            <a:ext cx="7352665"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多层平台架构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智能办公数字化应用架构</a:t>
            </a:r>
            <a:endPar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4" name="图片 103"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3" name="椭圆 12"/>
          <p:cNvSpPr/>
          <p:nvPr/>
        </p:nvSpPr>
        <p:spPr>
          <a:xfrm>
            <a:off x="2755265" y="4824095"/>
            <a:ext cx="6542405" cy="417195"/>
          </a:xfrm>
          <a:prstGeom prst="ellipse">
            <a:avLst/>
          </a:prstGeom>
          <a:gradFill>
            <a:gsLst>
              <a:gs pos="100000">
                <a:schemeClr val="accent5">
                  <a:lumMod val="60000"/>
                  <a:lumOff val="40000"/>
                  <a:alpha val="64000"/>
                </a:schemeClr>
              </a:gs>
              <a:gs pos="20000">
                <a:schemeClr val="accent5">
                  <a:lumMod val="60000"/>
                  <a:lumOff val="40000"/>
                  <a:alpha val="0"/>
                </a:schemeClr>
              </a:gs>
            </a:gsLst>
            <a:lin ang="5400000" scaled="1"/>
          </a:gradFill>
          <a:ln w="31750">
            <a:gradFill>
              <a:gsLst>
                <a:gs pos="19000">
                  <a:schemeClr val="accent5">
                    <a:lumMod val="60000"/>
                    <a:lumOff val="40000"/>
                    <a:alpha val="0"/>
                  </a:schemeClr>
                </a:gs>
                <a:gs pos="100000">
                  <a:schemeClr val="accent5">
                    <a:lumMod val="60000"/>
                    <a:lumOff val="4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78" name="任意多边形 177"/>
          <p:cNvSpPr/>
          <p:nvPr/>
        </p:nvSpPr>
        <p:spPr>
          <a:xfrm>
            <a:off x="2756535" y="5016500"/>
            <a:ext cx="6542405" cy="847090"/>
          </a:xfrm>
          <a:custGeom>
            <a:avLst/>
            <a:gdLst/>
            <a:ahLst/>
            <a:cxnLst>
              <a:cxn ang="3">
                <a:pos x="hc" y="t"/>
              </a:cxn>
              <a:cxn ang="cd2">
                <a:pos x="l" y="vc"/>
              </a:cxn>
              <a:cxn ang="cd4">
                <a:pos x="hc" y="b"/>
              </a:cxn>
              <a:cxn ang="0">
                <a:pos x="r" y="vc"/>
              </a:cxn>
            </a:cxnLst>
            <a:rect l="l" t="t" r="r" b="b"/>
            <a:pathLst>
              <a:path w="10303" h="1334">
                <a:moveTo>
                  <a:pt x="0" y="0"/>
                </a:moveTo>
                <a:lnTo>
                  <a:pt x="5" y="0"/>
                </a:lnTo>
                <a:lnTo>
                  <a:pt x="0" y="7"/>
                </a:lnTo>
                <a:lnTo>
                  <a:pt x="0" y="0"/>
                </a:lnTo>
                <a:close/>
                <a:moveTo>
                  <a:pt x="10294" y="0"/>
                </a:moveTo>
                <a:lnTo>
                  <a:pt x="10301" y="0"/>
                </a:lnTo>
                <a:lnTo>
                  <a:pt x="10301" y="17"/>
                </a:lnTo>
                <a:lnTo>
                  <a:pt x="10299" y="8"/>
                </a:lnTo>
                <a:lnTo>
                  <a:pt x="10294" y="0"/>
                </a:lnTo>
                <a:close/>
                <a:moveTo>
                  <a:pt x="10301" y="17"/>
                </a:moveTo>
                <a:lnTo>
                  <a:pt x="10301" y="996"/>
                </a:lnTo>
                <a:lnTo>
                  <a:pt x="10301" y="997"/>
                </a:lnTo>
                <a:lnTo>
                  <a:pt x="10303" y="1006"/>
                </a:lnTo>
                <a:lnTo>
                  <a:pt x="10301" y="1014"/>
                </a:lnTo>
                <a:lnTo>
                  <a:pt x="10301" y="1015"/>
                </a:lnTo>
                <a:lnTo>
                  <a:pt x="10301" y="1032"/>
                </a:lnTo>
                <a:lnTo>
                  <a:pt x="10286" y="1032"/>
                </a:lnTo>
                <a:cubicBezTo>
                  <a:pt x="10169" y="1202"/>
                  <a:pt x="7607" y="1339"/>
                  <a:pt x="5152" y="1334"/>
                </a:cubicBezTo>
                <a:cubicBezTo>
                  <a:pt x="2403" y="1340"/>
                  <a:pt x="134" y="1184"/>
                  <a:pt x="17" y="1032"/>
                </a:cubicBezTo>
                <a:lnTo>
                  <a:pt x="0" y="1032"/>
                </a:lnTo>
                <a:lnTo>
                  <a:pt x="0" y="26"/>
                </a:lnTo>
                <a:lnTo>
                  <a:pt x="5" y="34"/>
                </a:lnTo>
                <a:lnTo>
                  <a:pt x="13" y="42"/>
                </a:lnTo>
                <a:lnTo>
                  <a:pt x="18" y="50"/>
                </a:lnTo>
                <a:cubicBezTo>
                  <a:pt x="78" y="219"/>
                  <a:pt x="3019" y="349"/>
                  <a:pt x="4928" y="345"/>
                </a:cubicBezTo>
                <a:lnTo>
                  <a:pt x="5032" y="345"/>
                </a:lnTo>
                <a:lnTo>
                  <a:pt x="5150" y="345"/>
                </a:lnTo>
                <a:lnTo>
                  <a:pt x="5280" y="345"/>
                </a:lnTo>
                <a:lnTo>
                  <a:pt x="5408" y="345"/>
                </a:lnTo>
                <a:cubicBezTo>
                  <a:pt x="8031" y="349"/>
                  <a:pt x="10187" y="173"/>
                  <a:pt x="10272" y="56"/>
                </a:cubicBezTo>
                <a:lnTo>
                  <a:pt x="10278" y="49"/>
                </a:lnTo>
                <a:lnTo>
                  <a:pt x="10286" y="42"/>
                </a:lnTo>
                <a:lnTo>
                  <a:pt x="10294" y="34"/>
                </a:lnTo>
                <a:lnTo>
                  <a:pt x="10299" y="25"/>
                </a:lnTo>
                <a:lnTo>
                  <a:pt x="10301" y="17"/>
                </a:lnTo>
                <a:close/>
              </a:path>
            </a:pathLst>
          </a:custGeom>
          <a:gradFill>
            <a:gsLst>
              <a:gs pos="100000">
                <a:schemeClr val="accent5">
                  <a:lumMod val="60000"/>
                  <a:lumOff val="40000"/>
                </a:schemeClr>
              </a:gs>
              <a:gs pos="0">
                <a:schemeClr val="accent5">
                  <a:lumMod val="60000"/>
                  <a:lumOff val="40000"/>
                  <a:alpha val="0"/>
                </a:schemeClr>
              </a:gs>
            </a:gsLst>
            <a:lin ang="5400000" scaled="1"/>
          </a:gradFill>
          <a:ln w="31750">
            <a:gradFill>
              <a:gsLst>
                <a:gs pos="42000">
                  <a:schemeClr val="accent5">
                    <a:lumMod val="60000"/>
                    <a:lumOff val="40000"/>
                    <a:alpha val="0"/>
                  </a:schemeClr>
                </a:gs>
                <a:gs pos="100000">
                  <a:schemeClr val="accent5">
                    <a:lumMod val="60000"/>
                    <a:lumOff val="4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83" name="圆角矩形 182"/>
          <p:cNvSpPr/>
          <p:nvPr/>
        </p:nvSpPr>
        <p:spPr>
          <a:xfrm>
            <a:off x="4688840" y="5339715"/>
            <a:ext cx="2395855" cy="405130"/>
          </a:xfrm>
          <a:prstGeom prst="roundRect">
            <a:avLst>
              <a:gd name="adj" fmla="val 50000"/>
            </a:avLst>
          </a:prstGeom>
          <a:gradFill>
            <a:gsLst>
              <a:gs pos="0">
                <a:schemeClr val="accent5"/>
              </a:gs>
              <a:gs pos="100000">
                <a:schemeClr val="accent5">
                  <a:lumMod val="60000"/>
                  <a:lumOff val="40000"/>
                </a:schemeClr>
              </a:gs>
            </a:gsLst>
            <a:lin ang="54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a:latin typeface="微软雅黑" panose="020B0503020204020204" charset="-122"/>
                <a:ea typeface="微软雅黑" panose="020B0503020204020204" charset="-122"/>
                <a:cs typeface="微软雅黑" panose="020B0503020204020204" charset="-122"/>
              </a:rPr>
              <a:t>AI</a:t>
            </a:r>
            <a:r>
              <a:rPr lang="zh-CN" altLang="en-US" b="1">
                <a:latin typeface="微软雅黑" panose="020B0503020204020204" charset="-122"/>
                <a:ea typeface="微软雅黑" panose="020B0503020204020204" charset="-122"/>
                <a:cs typeface="微软雅黑" panose="020B0503020204020204" charset="-122"/>
              </a:rPr>
              <a:t>基础大模型</a:t>
            </a:r>
            <a:endParaRPr lang="zh-CN" altLang="en-US" b="1">
              <a:latin typeface="微软雅黑" panose="020B0503020204020204" charset="-122"/>
              <a:ea typeface="微软雅黑" panose="020B0503020204020204" charset="-122"/>
              <a:cs typeface="微软雅黑" panose="020B0503020204020204" charset="-122"/>
            </a:endParaRPr>
          </a:p>
        </p:txBody>
      </p:sp>
      <p:sp>
        <p:nvSpPr>
          <p:cNvPr id="199" name="椭圆 198"/>
          <p:cNvSpPr/>
          <p:nvPr/>
        </p:nvSpPr>
        <p:spPr>
          <a:xfrm>
            <a:off x="5012055" y="5974715"/>
            <a:ext cx="146685" cy="146685"/>
          </a:xfrm>
          <a:prstGeom prst="ellipse">
            <a:avLst/>
          </a:pr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0" name="矩形 199"/>
          <p:cNvSpPr/>
          <p:nvPr/>
        </p:nvSpPr>
        <p:spPr>
          <a:xfrm>
            <a:off x="4550410" y="6209030"/>
            <a:ext cx="1053465" cy="259715"/>
          </a:xfrm>
          <a:prstGeom prst="rect">
            <a:avLst/>
          </a:prstGeom>
        </p:spPr>
        <p:txBody>
          <a:bodyPr wrap="square">
            <a:noAutofit/>
          </a:bodyPr>
          <a:lstStyle/>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跨平台融合</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01" name="矩形 200"/>
          <p:cNvSpPr/>
          <p:nvPr/>
        </p:nvSpPr>
        <p:spPr>
          <a:xfrm>
            <a:off x="4061460" y="6424930"/>
            <a:ext cx="2040890" cy="282575"/>
          </a:xfrm>
          <a:prstGeom prst="rect">
            <a:avLst/>
          </a:prstGeom>
        </p:spPr>
        <p:txBody>
          <a:bodyPr wrap="square">
            <a:no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无缝连接各类办公系统</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02" name="椭圆 201"/>
          <p:cNvSpPr/>
          <p:nvPr/>
        </p:nvSpPr>
        <p:spPr>
          <a:xfrm>
            <a:off x="6995160" y="5974715"/>
            <a:ext cx="146685" cy="146685"/>
          </a:xfrm>
          <a:prstGeom prst="ellipse">
            <a:avLst/>
          </a:pr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3" name="矩形 202"/>
          <p:cNvSpPr/>
          <p:nvPr/>
        </p:nvSpPr>
        <p:spPr>
          <a:xfrm>
            <a:off x="6735445" y="6186170"/>
            <a:ext cx="826770" cy="259715"/>
          </a:xfrm>
          <a:prstGeom prst="rect">
            <a:avLst/>
          </a:prstGeom>
        </p:spPr>
        <p:txBody>
          <a:bodyPr wrap="square">
            <a:noAutofit/>
          </a:bodyPr>
          <a:lstStyle/>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算力保障</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04" name="矩形 203"/>
          <p:cNvSpPr/>
          <p:nvPr/>
        </p:nvSpPr>
        <p:spPr>
          <a:xfrm>
            <a:off x="6128385" y="6402070"/>
            <a:ext cx="2040890" cy="282575"/>
          </a:xfrm>
          <a:prstGeom prst="rect">
            <a:avLst/>
          </a:prstGeom>
        </p:spPr>
        <p:txBody>
          <a:bodyPr wrap="square">
            <a:no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高性能</a:t>
            </a:r>
            <a:r>
              <a:rPr lang="en-US" altLang="zh-CN" sz="1000" dirty="0">
                <a:solidFill>
                  <a:schemeClr val="bg1"/>
                </a:solidFill>
                <a:latin typeface="微软雅黑" panose="020B0503020204020204" charset="-122"/>
                <a:ea typeface="微软雅黑" panose="020B0503020204020204" charset="-122"/>
                <a:cs typeface="微软雅黑" panose="020B0503020204020204" charset="-122"/>
              </a:rPr>
              <a:t>GPU</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算力一体机</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05" name="椭圆 204"/>
          <p:cNvSpPr/>
          <p:nvPr/>
        </p:nvSpPr>
        <p:spPr>
          <a:xfrm>
            <a:off x="2609850" y="5899150"/>
            <a:ext cx="146685" cy="146685"/>
          </a:xfrm>
          <a:prstGeom prst="ellipse">
            <a:avLst/>
          </a:pr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6" name="矩形 205"/>
          <p:cNvSpPr/>
          <p:nvPr/>
        </p:nvSpPr>
        <p:spPr>
          <a:xfrm rot="360000">
            <a:off x="2104390" y="6116955"/>
            <a:ext cx="1082675" cy="259715"/>
          </a:xfrm>
          <a:prstGeom prst="rect">
            <a:avLst/>
          </a:prstGeom>
        </p:spPr>
        <p:txBody>
          <a:bodyPr wrap="square">
            <a:noAutofit/>
          </a:bodyPr>
          <a:lstStyle/>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自动化流程</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07" name="矩形 206"/>
          <p:cNvSpPr/>
          <p:nvPr/>
        </p:nvSpPr>
        <p:spPr>
          <a:xfrm rot="300000">
            <a:off x="1598295" y="6337300"/>
            <a:ext cx="2040890" cy="282575"/>
          </a:xfrm>
          <a:prstGeom prst="rect">
            <a:avLst/>
          </a:prstGeom>
        </p:spPr>
        <p:txBody>
          <a:bodyPr wrap="square">
            <a:no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实现任务端到端智能流转</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08" name="矩形 207"/>
          <p:cNvSpPr/>
          <p:nvPr/>
        </p:nvSpPr>
        <p:spPr>
          <a:xfrm rot="21240000">
            <a:off x="9187815" y="6032500"/>
            <a:ext cx="826770" cy="259715"/>
          </a:xfrm>
          <a:prstGeom prst="rect">
            <a:avLst/>
          </a:prstGeom>
        </p:spPr>
        <p:txBody>
          <a:bodyPr wrap="square">
            <a:noAutofit/>
          </a:bodyPr>
          <a:lstStyle/>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数据安全</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09" name="矩形 208"/>
          <p:cNvSpPr/>
          <p:nvPr/>
        </p:nvSpPr>
        <p:spPr>
          <a:xfrm rot="21300000">
            <a:off x="8670925" y="6271260"/>
            <a:ext cx="1964055" cy="282575"/>
          </a:xfrm>
          <a:prstGeom prst="rect">
            <a:avLst/>
          </a:prstGeom>
        </p:spPr>
        <p:txBody>
          <a:bodyPr wrap="square">
            <a:no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全链路加密与权限分级管控</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10" name="椭圆 209"/>
          <p:cNvSpPr/>
          <p:nvPr/>
        </p:nvSpPr>
        <p:spPr>
          <a:xfrm>
            <a:off x="9528175" y="5840730"/>
            <a:ext cx="146685" cy="146685"/>
          </a:xfrm>
          <a:prstGeom prst="ellipse">
            <a:avLst/>
          </a:pr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85" name="文本框 284"/>
          <p:cNvSpPr txBox="1"/>
          <p:nvPr/>
        </p:nvSpPr>
        <p:spPr>
          <a:xfrm>
            <a:off x="1009040" y="4247543"/>
            <a:ext cx="685800" cy="276860"/>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gradFill>
                  <a:gsLst>
                    <a:gs pos="0">
                      <a:schemeClr val="accent5">
                        <a:lumMod val="60000"/>
                        <a:lumOff val="40000"/>
                      </a:schemeClr>
                    </a:gs>
                    <a:gs pos="100000">
                      <a:schemeClr val="accent5"/>
                    </a:gs>
                  </a:gsLst>
                  <a:lin ang="5400000" scaled="0"/>
                </a:gradFill>
                <a:effectLst/>
                <a:uLnTx/>
                <a:uFillTx/>
                <a:latin typeface="微软雅黑" panose="020B0503020204020204" charset="-122"/>
                <a:ea typeface="微软雅黑" panose="020B0503020204020204" charset="-122"/>
                <a:cs typeface="微软雅黑" panose="020B0503020204020204" charset="-122"/>
              </a:rPr>
              <a:t>知识力</a:t>
            </a:r>
            <a:endParaRPr kumimoji="0" lang="zh-CN" altLang="en-US" sz="1800" b="1" i="0" u="none" strike="noStrike" kern="1200" cap="none" spc="0" normalizeH="0" baseline="0" noProof="0" dirty="0">
              <a:ln>
                <a:noFill/>
              </a:ln>
              <a:gradFill>
                <a:gsLst>
                  <a:gs pos="0">
                    <a:schemeClr val="accent5">
                      <a:lumMod val="60000"/>
                      <a:lumOff val="40000"/>
                    </a:schemeClr>
                  </a:gs>
                  <a:gs pos="100000">
                    <a:schemeClr val="accent5"/>
                  </a:gs>
                </a:gsLst>
                <a:lin ang="5400000" scaled="0"/>
              </a:gradFill>
              <a:effectLst/>
              <a:uLnTx/>
              <a:uFillTx/>
              <a:latin typeface="微软雅黑" panose="020B0503020204020204" charset="-122"/>
              <a:ea typeface="微软雅黑" panose="020B0503020204020204" charset="-122"/>
              <a:cs typeface="微软雅黑" panose="020B0503020204020204" charset="-122"/>
            </a:endParaRPr>
          </a:p>
        </p:txBody>
      </p:sp>
      <p:sp>
        <p:nvSpPr>
          <p:cNvPr id="287" name="文本框 286"/>
          <p:cNvSpPr txBox="1"/>
          <p:nvPr/>
        </p:nvSpPr>
        <p:spPr>
          <a:xfrm>
            <a:off x="244475" y="4736465"/>
            <a:ext cx="2295525" cy="717550"/>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30000"/>
              </a:lnSpc>
              <a:spcBef>
                <a:spcPts val="0"/>
              </a:spcBef>
              <a:spcAft>
                <a:spcPts val="0"/>
              </a:spcAft>
              <a:buClrTx/>
              <a:buSzTx/>
              <a:buFont typeface="Wingdings" panose="05000000000000000000" charset="0"/>
              <a:buChar char="Ø"/>
              <a:defRPr/>
            </a:pP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构建基于企业的专属文档库，</a:t>
            </a:r>
            <a:endPar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30000"/>
              </a:lnSpc>
              <a:spcBef>
                <a:spcPts val="0"/>
              </a:spcBef>
              <a:spcAft>
                <a:spcPts val="0"/>
              </a:spcAft>
              <a:buClrTx/>
              <a:buSzTx/>
              <a:buFont typeface="Wingdings" panose="05000000000000000000" charset="0"/>
              <a:buChar char="Ø"/>
              <a:defRPr/>
            </a:pP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行业知识库与公共信息的</a:t>
            </a:r>
            <a:r>
              <a:rPr kumimoji="0" lang="en-US" altLang="zh-CN"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办公大脑</a:t>
            </a:r>
            <a:r>
              <a:rPr kumimoji="0" lang="en-US" altLang="zh-CN"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endPar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30000"/>
              </a:lnSpc>
              <a:spcBef>
                <a:spcPts val="0"/>
              </a:spcBef>
              <a:spcAft>
                <a:spcPts val="0"/>
              </a:spcAft>
              <a:buClrTx/>
              <a:buSzTx/>
              <a:buFont typeface="Wingdings" panose="05000000000000000000" charset="0"/>
              <a:buChar char="Ø"/>
              <a:defRPr/>
            </a:pP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实现从海量数据到结构化知识的精准检索，</a:t>
            </a:r>
            <a:endPar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30000"/>
              </a:lnSpc>
              <a:spcBef>
                <a:spcPts val="0"/>
              </a:spcBef>
              <a:spcAft>
                <a:spcPts val="0"/>
              </a:spcAft>
              <a:buClrTx/>
              <a:buSzTx/>
              <a:buFont typeface="Wingdings" panose="05000000000000000000" charset="0"/>
              <a:buChar char="Ø"/>
              <a:defRPr/>
            </a:pP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为决策与协作提供统一、可信的信息源。</a:t>
            </a:r>
            <a:endPar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332" name="图片 331" descr="知识库"/>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200" y="4142740"/>
            <a:ext cx="448310" cy="448310"/>
          </a:xfrm>
          <a:prstGeom prst="rect">
            <a:avLst/>
          </a:prstGeom>
        </p:spPr>
      </p:pic>
      <p:sp>
        <p:nvSpPr>
          <p:cNvPr id="333" name="文本框 332"/>
          <p:cNvSpPr txBox="1"/>
          <p:nvPr/>
        </p:nvSpPr>
        <p:spPr>
          <a:xfrm>
            <a:off x="10530865" y="4301518"/>
            <a:ext cx="685800" cy="276860"/>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gradFill>
                  <a:gsLst>
                    <a:gs pos="0">
                      <a:schemeClr val="accent5">
                        <a:lumMod val="60000"/>
                        <a:lumOff val="40000"/>
                      </a:schemeClr>
                    </a:gs>
                    <a:gs pos="100000">
                      <a:schemeClr val="accent5"/>
                    </a:gs>
                  </a:gsLst>
                  <a:lin ang="5400000" scaled="0"/>
                </a:gradFill>
                <a:effectLst/>
                <a:uLnTx/>
                <a:uFillTx/>
                <a:latin typeface="微软雅黑" panose="020B0503020204020204" charset="-122"/>
                <a:ea typeface="微软雅黑" panose="020B0503020204020204" charset="-122"/>
                <a:cs typeface="微软雅黑" panose="020B0503020204020204" charset="-122"/>
              </a:rPr>
              <a:t>专业力</a:t>
            </a:r>
            <a:endParaRPr kumimoji="0" lang="zh-CN" altLang="en-US" sz="1800" b="1" i="0" u="none" strike="noStrike" kern="1200" cap="none" spc="0" normalizeH="0" baseline="0" noProof="0" dirty="0">
              <a:ln>
                <a:noFill/>
              </a:ln>
              <a:gradFill>
                <a:gsLst>
                  <a:gs pos="0">
                    <a:schemeClr val="accent5">
                      <a:lumMod val="60000"/>
                      <a:lumOff val="40000"/>
                    </a:schemeClr>
                  </a:gs>
                  <a:gs pos="100000">
                    <a:schemeClr val="accent5"/>
                  </a:gs>
                </a:gsLst>
                <a:lin ang="5400000" scaled="0"/>
              </a:gradFill>
              <a:effectLst/>
              <a:uLnTx/>
              <a:uFillTx/>
              <a:latin typeface="微软雅黑" panose="020B0503020204020204" charset="-122"/>
              <a:ea typeface="微软雅黑" panose="020B0503020204020204" charset="-122"/>
              <a:cs typeface="微软雅黑" panose="020B0503020204020204" charset="-122"/>
            </a:endParaRPr>
          </a:p>
        </p:txBody>
      </p:sp>
      <p:sp>
        <p:nvSpPr>
          <p:cNvPr id="334" name="文本框 333"/>
          <p:cNvSpPr txBox="1"/>
          <p:nvPr/>
        </p:nvSpPr>
        <p:spPr>
          <a:xfrm>
            <a:off x="9796780" y="4736465"/>
            <a:ext cx="2295525" cy="717550"/>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30000"/>
              </a:lnSpc>
              <a:spcBef>
                <a:spcPts val="0"/>
              </a:spcBef>
              <a:spcAft>
                <a:spcPts val="0"/>
              </a:spcAft>
              <a:buClrTx/>
              <a:buSzTx/>
              <a:buFont typeface="Wingdings" panose="05000000000000000000" charset="0"/>
              <a:buChar char="Ø"/>
              <a:defRPr/>
            </a:pP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将专业能力模块化，</a:t>
            </a:r>
            <a:endPar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30000"/>
              </a:lnSpc>
              <a:spcBef>
                <a:spcPts val="0"/>
              </a:spcBef>
              <a:spcAft>
                <a:spcPts val="0"/>
              </a:spcAft>
              <a:buClrTx/>
              <a:buSzTx/>
              <a:buFont typeface="Wingdings" panose="05000000000000000000" charset="0"/>
              <a:buChar char="Ø"/>
              <a:defRPr/>
            </a:pP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深度嵌入具体办公流程，</a:t>
            </a:r>
            <a:endPar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30000"/>
              </a:lnSpc>
              <a:spcBef>
                <a:spcPts val="0"/>
              </a:spcBef>
              <a:spcAft>
                <a:spcPts val="0"/>
              </a:spcAft>
              <a:buClrTx/>
              <a:buSzTx/>
              <a:buFont typeface="Wingdings" panose="05000000000000000000" charset="0"/>
              <a:buChar char="Ø"/>
              <a:defRPr/>
            </a:pP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提供从分析、建议到自动执行的闭环服务，</a:t>
            </a:r>
            <a:endPar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30000"/>
              </a:lnSpc>
              <a:spcBef>
                <a:spcPts val="0"/>
              </a:spcBef>
              <a:spcAft>
                <a:spcPts val="0"/>
              </a:spcAft>
              <a:buClrTx/>
              <a:buSzTx/>
              <a:buFont typeface="Wingdings" panose="05000000000000000000" charset="0"/>
              <a:buChar char="Ø"/>
              <a:defRPr/>
            </a:pP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成为各岗位的</a:t>
            </a:r>
            <a:r>
              <a:rPr kumimoji="0" lang="en-US" altLang="zh-CN"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专家级</a:t>
            </a:r>
            <a:r>
              <a:rPr kumimoji="0" lang="en-US" altLang="zh-CN"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智能同事。</a:t>
            </a:r>
            <a:endPar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336" name="图片 335" descr="专业服务"/>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26980" y="4234815"/>
            <a:ext cx="343535" cy="343535"/>
          </a:xfrm>
          <a:prstGeom prst="rect">
            <a:avLst/>
          </a:prstGeom>
        </p:spPr>
      </p:pic>
      <p:sp>
        <p:nvSpPr>
          <p:cNvPr id="33" name="椭圆 32"/>
          <p:cNvSpPr/>
          <p:nvPr/>
        </p:nvSpPr>
        <p:spPr>
          <a:xfrm>
            <a:off x="1804670" y="1690370"/>
            <a:ext cx="8443595" cy="417195"/>
          </a:xfrm>
          <a:prstGeom prst="ellipse">
            <a:avLst/>
          </a:prstGeom>
          <a:gradFill>
            <a:gsLst>
              <a:gs pos="100000">
                <a:schemeClr val="accent1">
                  <a:lumMod val="60000"/>
                  <a:lumOff val="40000"/>
                  <a:alpha val="34000"/>
                </a:schemeClr>
              </a:gs>
              <a:gs pos="0">
                <a:schemeClr val="accent1">
                  <a:lumMod val="60000"/>
                  <a:lumOff val="40000"/>
                  <a:alpha val="0"/>
                </a:schemeClr>
              </a:gs>
            </a:gsLst>
            <a:lin ang="5400000" scaled="1"/>
          </a:gradFill>
          <a:ln w="47625">
            <a:gradFill>
              <a:gsLst>
                <a:gs pos="42000">
                  <a:schemeClr val="accent1">
                    <a:lumMod val="60000"/>
                    <a:lumOff val="40000"/>
                    <a:alpha val="0"/>
                  </a:schemeClr>
                </a:gs>
                <a:gs pos="100000">
                  <a:schemeClr val="accent1">
                    <a:lumMod val="60000"/>
                    <a:lumOff val="4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nvGrpSpPr>
          <p:cNvPr id="82" name="组合 81"/>
          <p:cNvGrpSpPr/>
          <p:nvPr/>
        </p:nvGrpSpPr>
        <p:grpSpPr>
          <a:xfrm rot="0">
            <a:off x="2858135" y="2286000"/>
            <a:ext cx="1476375" cy="1476375"/>
            <a:chOff x="4882" y="4152"/>
            <a:chExt cx="2096" cy="2096"/>
          </a:xfrm>
        </p:grpSpPr>
        <p:sp>
          <p:nvSpPr>
            <p:cNvPr id="74" name="椭圆 73"/>
            <p:cNvSpPr/>
            <p:nvPr/>
          </p:nvSpPr>
          <p:spPr>
            <a:xfrm>
              <a:off x="4882" y="4152"/>
              <a:ext cx="2097" cy="2097"/>
            </a:xfrm>
            <a:prstGeom prst="ellipse">
              <a:avLst/>
            </a:prstGeom>
            <a:solidFill>
              <a:schemeClr val="bg1">
                <a:alpha val="34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75" name="椭圆 74"/>
            <p:cNvSpPr/>
            <p:nvPr/>
          </p:nvSpPr>
          <p:spPr>
            <a:xfrm>
              <a:off x="5062" y="4332"/>
              <a:ext cx="1737" cy="1737"/>
            </a:xfrm>
            <a:prstGeom prst="ellipse">
              <a:avLst/>
            </a:prstGeom>
            <a:gradFill>
              <a:gsLst>
                <a:gs pos="0">
                  <a:schemeClr val="accent1"/>
                </a:gs>
                <a:gs pos="100000">
                  <a:schemeClr val="accent1">
                    <a:lumMod val="60000"/>
                    <a:lumOff val="40000"/>
                  </a:schemeClr>
                </a:gs>
              </a:gsLst>
              <a:lin ang="81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83" name="组合 82"/>
          <p:cNvGrpSpPr/>
          <p:nvPr/>
        </p:nvGrpSpPr>
        <p:grpSpPr>
          <a:xfrm rot="0">
            <a:off x="7743190" y="2325370"/>
            <a:ext cx="1476375" cy="1476375"/>
            <a:chOff x="4882" y="4152"/>
            <a:chExt cx="2096" cy="2096"/>
          </a:xfrm>
        </p:grpSpPr>
        <p:sp>
          <p:nvSpPr>
            <p:cNvPr id="91" name="椭圆 90"/>
            <p:cNvSpPr/>
            <p:nvPr/>
          </p:nvSpPr>
          <p:spPr>
            <a:xfrm>
              <a:off x="4882" y="4152"/>
              <a:ext cx="2097" cy="2097"/>
            </a:xfrm>
            <a:prstGeom prst="ellipse">
              <a:avLst/>
            </a:prstGeom>
            <a:solidFill>
              <a:schemeClr val="bg1">
                <a:alpha val="34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92" name="椭圆 91"/>
            <p:cNvSpPr/>
            <p:nvPr/>
          </p:nvSpPr>
          <p:spPr>
            <a:xfrm>
              <a:off x="5062" y="4332"/>
              <a:ext cx="1737" cy="1737"/>
            </a:xfrm>
            <a:prstGeom prst="ellipse">
              <a:avLst/>
            </a:prstGeom>
            <a:gradFill>
              <a:gsLst>
                <a:gs pos="0">
                  <a:schemeClr val="accent1"/>
                </a:gs>
                <a:gs pos="100000">
                  <a:schemeClr val="accent1">
                    <a:lumMod val="60000"/>
                    <a:lumOff val="40000"/>
                  </a:schemeClr>
                </a:gs>
              </a:gsLst>
              <a:lin ang="81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sp>
        <p:nvSpPr>
          <p:cNvPr id="113" name="圆角矩形 112"/>
          <p:cNvSpPr/>
          <p:nvPr/>
        </p:nvSpPr>
        <p:spPr>
          <a:xfrm>
            <a:off x="279400" y="2172970"/>
            <a:ext cx="1237615" cy="281305"/>
          </a:xfrm>
          <a:prstGeom prst="roundRect">
            <a:avLst>
              <a:gd name="adj" fmla="val 50000"/>
            </a:avLst>
          </a:prstGeom>
          <a:gradFill>
            <a:gsLst>
              <a:gs pos="100000">
                <a:schemeClr val="accent1"/>
              </a:gs>
              <a:gs pos="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panose="020B0503020204020204" charset="-122"/>
                <a:ea typeface="微软雅黑" panose="020B0503020204020204" charset="-122"/>
                <a:cs typeface="微软雅黑" panose="020B0503020204020204" charset="-122"/>
              </a:rPr>
              <a:t>智能问答</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114" name="圆角矩形 113"/>
          <p:cNvSpPr/>
          <p:nvPr/>
        </p:nvSpPr>
        <p:spPr>
          <a:xfrm>
            <a:off x="540385" y="2720340"/>
            <a:ext cx="1237615" cy="281305"/>
          </a:xfrm>
          <a:prstGeom prst="roundRect">
            <a:avLst>
              <a:gd name="adj" fmla="val 50000"/>
            </a:avLst>
          </a:prstGeom>
          <a:gradFill>
            <a:gsLst>
              <a:gs pos="100000">
                <a:schemeClr val="accent1"/>
              </a:gs>
              <a:gs pos="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latin typeface="微软雅黑" panose="020B0503020204020204" charset="-122"/>
                <a:ea typeface="微软雅黑" panose="020B0503020204020204" charset="-122"/>
                <a:cs typeface="微软雅黑" panose="020B0503020204020204" charset="-122"/>
                <a:sym typeface="+mn-ea"/>
              </a:rPr>
              <a:t>辅助分析</a:t>
            </a: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sp>
        <p:nvSpPr>
          <p:cNvPr id="115" name="圆角矩形 114"/>
          <p:cNvSpPr/>
          <p:nvPr/>
        </p:nvSpPr>
        <p:spPr>
          <a:xfrm>
            <a:off x="800100" y="3244215"/>
            <a:ext cx="1237615" cy="281305"/>
          </a:xfrm>
          <a:prstGeom prst="roundRect">
            <a:avLst>
              <a:gd name="adj" fmla="val 50000"/>
            </a:avLst>
          </a:prstGeom>
          <a:gradFill>
            <a:gsLst>
              <a:gs pos="100000">
                <a:schemeClr val="accent1"/>
              </a:gs>
              <a:gs pos="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latin typeface="微软雅黑" panose="020B0503020204020204" charset="-122"/>
                <a:ea typeface="微软雅黑" panose="020B0503020204020204" charset="-122"/>
                <a:cs typeface="微软雅黑" panose="020B0503020204020204" charset="-122"/>
                <a:sym typeface="+mn-ea"/>
              </a:rPr>
              <a:t>风险预警</a:t>
            </a: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sp>
        <p:nvSpPr>
          <p:cNvPr id="116" name="圆角矩形 115"/>
          <p:cNvSpPr/>
          <p:nvPr/>
        </p:nvSpPr>
        <p:spPr>
          <a:xfrm>
            <a:off x="10511155" y="2183130"/>
            <a:ext cx="1237615" cy="281305"/>
          </a:xfrm>
          <a:prstGeom prst="roundRect">
            <a:avLst>
              <a:gd name="adj" fmla="val 50000"/>
            </a:avLst>
          </a:prstGeom>
          <a:gradFill>
            <a:gsLst>
              <a:gs pos="100000">
                <a:schemeClr val="accent1"/>
              </a:gs>
              <a:gs pos="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latin typeface="微软雅黑" panose="020B0503020204020204" charset="-122"/>
                <a:ea typeface="微软雅黑" panose="020B0503020204020204" charset="-122"/>
                <a:cs typeface="微软雅黑" panose="020B0503020204020204" charset="-122"/>
                <a:sym typeface="+mn-ea"/>
              </a:rPr>
              <a:t>情绪感知</a:t>
            </a: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sp>
        <p:nvSpPr>
          <p:cNvPr id="117" name="圆角矩形 116"/>
          <p:cNvSpPr/>
          <p:nvPr/>
        </p:nvSpPr>
        <p:spPr>
          <a:xfrm>
            <a:off x="10284460" y="2726690"/>
            <a:ext cx="1237615" cy="281305"/>
          </a:xfrm>
          <a:prstGeom prst="roundRect">
            <a:avLst>
              <a:gd name="adj" fmla="val 50000"/>
            </a:avLst>
          </a:prstGeom>
          <a:gradFill>
            <a:gsLst>
              <a:gs pos="100000">
                <a:schemeClr val="accent1"/>
              </a:gs>
              <a:gs pos="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latin typeface="微软雅黑" panose="020B0503020204020204" charset="-122"/>
                <a:ea typeface="微软雅黑" panose="020B0503020204020204" charset="-122"/>
                <a:cs typeface="微软雅黑" panose="020B0503020204020204" charset="-122"/>
                <a:sym typeface="+mn-ea"/>
              </a:rPr>
              <a:t>意图理解</a:t>
            </a: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sp>
        <p:nvSpPr>
          <p:cNvPr id="119" name="圆角矩形 118"/>
          <p:cNvSpPr/>
          <p:nvPr/>
        </p:nvSpPr>
        <p:spPr>
          <a:xfrm>
            <a:off x="9987280" y="3279775"/>
            <a:ext cx="1237615" cy="281305"/>
          </a:xfrm>
          <a:prstGeom prst="roundRect">
            <a:avLst>
              <a:gd name="adj" fmla="val 50000"/>
            </a:avLst>
          </a:prstGeom>
          <a:gradFill>
            <a:gsLst>
              <a:gs pos="100000">
                <a:schemeClr val="accent1"/>
              </a:gs>
              <a:gs pos="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latin typeface="微软雅黑" panose="020B0503020204020204" charset="-122"/>
                <a:ea typeface="微软雅黑" panose="020B0503020204020204" charset="-122"/>
                <a:cs typeface="微软雅黑" panose="020B0503020204020204" charset="-122"/>
                <a:sym typeface="+mn-ea"/>
              </a:rPr>
              <a:t>行为预测</a:t>
            </a: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cxnSp>
        <p:nvCxnSpPr>
          <p:cNvPr id="171" name="直接连接符 170"/>
          <p:cNvCxnSpPr/>
          <p:nvPr/>
        </p:nvCxnSpPr>
        <p:spPr>
          <a:xfrm>
            <a:off x="1514475" y="2313940"/>
            <a:ext cx="453390" cy="0"/>
          </a:xfrm>
          <a:prstGeom prst="line">
            <a:avLst/>
          </a:prstGeom>
          <a:ln>
            <a:solidFill>
              <a:schemeClr val="tx2">
                <a:lumMod val="60000"/>
                <a:lumOff val="40000"/>
              </a:schemeClr>
            </a:solidFill>
          </a:ln>
        </p:spPr>
        <p:style>
          <a:lnRef idx="2">
            <a:schemeClr val="accent1"/>
          </a:lnRef>
          <a:fillRef idx="0">
            <a:srgbClr val="FFFFFF"/>
          </a:fillRef>
          <a:effectRef idx="0">
            <a:srgbClr val="FFFFFF"/>
          </a:effectRef>
          <a:fontRef idx="minor">
            <a:schemeClr val="tx1"/>
          </a:fontRef>
        </p:style>
      </p:cxnSp>
      <p:cxnSp>
        <p:nvCxnSpPr>
          <p:cNvPr id="172" name="直接连接符 171"/>
          <p:cNvCxnSpPr/>
          <p:nvPr/>
        </p:nvCxnSpPr>
        <p:spPr>
          <a:xfrm>
            <a:off x="1771650" y="2860675"/>
            <a:ext cx="464820" cy="0"/>
          </a:xfrm>
          <a:prstGeom prst="line">
            <a:avLst/>
          </a:prstGeom>
          <a:ln>
            <a:solidFill>
              <a:schemeClr val="tx2">
                <a:lumMod val="60000"/>
                <a:lumOff val="40000"/>
              </a:schemeClr>
            </a:solidFill>
          </a:ln>
        </p:spPr>
        <p:style>
          <a:lnRef idx="2">
            <a:schemeClr val="accent1"/>
          </a:lnRef>
          <a:fillRef idx="0">
            <a:srgbClr val="FFFFFF"/>
          </a:fillRef>
          <a:effectRef idx="0">
            <a:srgbClr val="FFFFFF"/>
          </a:effectRef>
          <a:fontRef idx="minor">
            <a:schemeClr val="tx1"/>
          </a:fontRef>
        </p:style>
      </p:cxnSp>
      <p:cxnSp>
        <p:nvCxnSpPr>
          <p:cNvPr id="173" name="直接连接符 172"/>
          <p:cNvCxnSpPr/>
          <p:nvPr/>
        </p:nvCxnSpPr>
        <p:spPr>
          <a:xfrm>
            <a:off x="2040255" y="3359785"/>
            <a:ext cx="419100" cy="0"/>
          </a:xfrm>
          <a:prstGeom prst="line">
            <a:avLst/>
          </a:prstGeom>
          <a:ln>
            <a:solidFill>
              <a:schemeClr val="tx2">
                <a:lumMod val="60000"/>
                <a:lumOff val="40000"/>
              </a:schemeClr>
            </a:solidFill>
          </a:ln>
        </p:spPr>
        <p:style>
          <a:lnRef idx="2">
            <a:schemeClr val="accent1"/>
          </a:lnRef>
          <a:fillRef idx="0">
            <a:srgbClr val="FFFFFF"/>
          </a:fillRef>
          <a:effectRef idx="0">
            <a:srgbClr val="FFFFFF"/>
          </a:effectRef>
          <a:fontRef idx="minor">
            <a:schemeClr val="tx1"/>
          </a:fontRef>
        </p:style>
      </p:cxnSp>
      <p:cxnSp>
        <p:nvCxnSpPr>
          <p:cNvPr id="174" name="直接连接符 173"/>
          <p:cNvCxnSpPr/>
          <p:nvPr/>
        </p:nvCxnSpPr>
        <p:spPr>
          <a:xfrm>
            <a:off x="10078720" y="2313940"/>
            <a:ext cx="453390" cy="0"/>
          </a:xfrm>
          <a:prstGeom prst="line">
            <a:avLst/>
          </a:prstGeom>
          <a:ln>
            <a:solidFill>
              <a:schemeClr val="tx2">
                <a:lumMod val="60000"/>
                <a:lumOff val="40000"/>
              </a:schemeClr>
            </a:solidFill>
          </a:ln>
        </p:spPr>
        <p:style>
          <a:lnRef idx="2">
            <a:schemeClr val="accent1"/>
          </a:lnRef>
          <a:fillRef idx="0">
            <a:srgbClr val="FFFFFF"/>
          </a:fillRef>
          <a:effectRef idx="0">
            <a:srgbClr val="FFFFFF"/>
          </a:effectRef>
          <a:fontRef idx="minor">
            <a:schemeClr val="tx1"/>
          </a:fontRef>
        </p:style>
      </p:cxnSp>
      <p:cxnSp>
        <p:nvCxnSpPr>
          <p:cNvPr id="175" name="直接连接符 174"/>
          <p:cNvCxnSpPr/>
          <p:nvPr/>
        </p:nvCxnSpPr>
        <p:spPr>
          <a:xfrm>
            <a:off x="9819640" y="2860675"/>
            <a:ext cx="464820" cy="0"/>
          </a:xfrm>
          <a:prstGeom prst="line">
            <a:avLst/>
          </a:prstGeom>
          <a:ln>
            <a:solidFill>
              <a:schemeClr val="tx2">
                <a:lumMod val="60000"/>
                <a:lumOff val="40000"/>
              </a:schemeClr>
            </a:solidFill>
          </a:ln>
        </p:spPr>
        <p:style>
          <a:lnRef idx="2">
            <a:schemeClr val="accent1"/>
          </a:lnRef>
          <a:fillRef idx="0">
            <a:srgbClr val="FFFFFF"/>
          </a:fillRef>
          <a:effectRef idx="0">
            <a:srgbClr val="FFFFFF"/>
          </a:effectRef>
          <a:fontRef idx="minor">
            <a:schemeClr val="tx1"/>
          </a:fontRef>
        </p:style>
      </p:cxnSp>
      <p:cxnSp>
        <p:nvCxnSpPr>
          <p:cNvPr id="176" name="直接连接符 175"/>
          <p:cNvCxnSpPr/>
          <p:nvPr/>
        </p:nvCxnSpPr>
        <p:spPr>
          <a:xfrm>
            <a:off x="9568180" y="3420745"/>
            <a:ext cx="419100" cy="0"/>
          </a:xfrm>
          <a:prstGeom prst="line">
            <a:avLst/>
          </a:prstGeom>
          <a:ln>
            <a:solidFill>
              <a:schemeClr val="tx2">
                <a:lumMod val="60000"/>
                <a:lumOff val="40000"/>
              </a:schemeClr>
            </a:solidFill>
          </a:ln>
        </p:spPr>
        <p:style>
          <a:lnRef idx="2">
            <a:schemeClr val="accent1"/>
          </a:lnRef>
          <a:fillRef idx="0">
            <a:srgbClr val="FFFFFF"/>
          </a:fillRef>
          <a:effectRef idx="0">
            <a:srgbClr val="FFFFFF"/>
          </a:effectRef>
          <a:fontRef idx="minor">
            <a:schemeClr val="tx1"/>
          </a:fontRef>
        </p:style>
      </p:cxnSp>
      <p:sp>
        <p:nvSpPr>
          <p:cNvPr id="220" name="矩形 219"/>
          <p:cNvSpPr/>
          <p:nvPr/>
        </p:nvSpPr>
        <p:spPr>
          <a:xfrm>
            <a:off x="3098165" y="2933700"/>
            <a:ext cx="998220" cy="496570"/>
          </a:xfrm>
          <a:prstGeom prst="rect">
            <a:avLst/>
          </a:prstGeom>
        </p:spPr>
        <p:txBody>
          <a:bodyPr wrap="square">
            <a:noAutofit/>
          </a:bodyPr>
          <a:lstStyle/>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公司员工</a:t>
            </a:r>
            <a:endParaRPr lang="en-US" altLang="zh-CN" sz="1200" b="1" dirty="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知识工作者</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21" name="矩形 220"/>
          <p:cNvSpPr/>
          <p:nvPr/>
        </p:nvSpPr>
        <p:spPr>
          <a:xfrm>
            <a:off x="7870825" y="2979420"/>
            <a:ext cx="1223010" cy="488315"/>
          </a:xfrm>
          <a:prstGeom prst="rect">
            <a:avLst/>
          </a:prstGeom>
        </p:spPr>
        <p:txBody>
          <a:bodyPr wrap="square">
            <a:noAutofit/>
          </a:bodyPr>
          <a:lstStyle/>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业务部门</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内外部客户</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234" name="组合 233"/>
          <p:cNvGrpSpPr/>
          <p:nvPr/>
        </p:nvGrpSpPr>
        <p:grpSpPr>
          <a:xfrm rot="0" flipH="1">
            <a:off x="4520565" y="3002915"/>
            <a:ext cx="251460" cy="96520"/>
            <a:chOff x="7651" y="4318"/>
            <a:chExt cx="396" cy="152"/>
          </a:xfrm>
        </p:grpSpPr>
        <p:sp>
          <p:nvSpPr>
            <p:cNvPr id="235" name="燕尾形 234"/>
            <p:cNvSpPr/>
            <p:nvPr/>
          </p:nvSpPr>
          <p:spPr>
            <a:xfrm>
              <a:off x="7895" y="4318"/>
              <a:ext cx="152" cy="152"/>
            </a:xfrm>
            <a:prstGeom prst="chevron">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36" name="燕尾形 235"/>
            <p:cNvSpPr/>
            <p:nvPr/>
          </p:nvSpPr>
          <p:spPr>
            <a:xfrm>
              <a:off x="7773" y="4318"/>
              <a:ext cx="152" cy="152"/>
            </a:xfrm>
            <a:prstGeom prst="chevron">
              <a:avLst/>
            </a:prstGeom>
            <a:solidFill>
              <a:schemeClr val="accent1">
                <a:lumMod val="60000"/>
                <a:lumOff val="4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37" name="燕尾形 236"/>
            <p:cNvSpPr/>
            <p:nvPr/>
          </p:nvSpPr>
          <p:spPr>
            <a:xfrm>
              <a:off x="7651" y="4318"/>
              <a:ext cx="152" cy="152"/>
            </a:xfrm>
            <a:prstGeom prst="chevron">
              <a:avLst/>
            </a:prstGeom>
            <a:solidFill>
              <a:schemeClr val="accent1">
                <a:lumMod val="60000"/>
                <a:lumOff val="40000"/>
                <a:alpha val="2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238" name="组合 237"/>
          <p:cNvGrpSpPr/>
          <p:nvPr/>
        </p:nvGrpSpPr>
        <p:grpSpPr>
          <a:xfrm rot="0" flipH="1">
            <a:off x="4857115" y="3002915"/>
            <a:ext cx="251460" cy="96520"/>
            <a:chOff x="7651" y="4318"/>
            <a:chExt cx="396" cy="152"/>
          </a:xfrm>
        </p:grpSpPr>
        <p:sp>
          <p:nvSpPr>
            <p:cNvPr id="239" name="燕尾形 238"/>
            <p:cNvSpPr/>
            <p:nvPr/>
          </p:nvSpPr>
          <p:spPr>
            <a:xfrm>
              <a:off x="7895" y="4318"/>
              <a:ext cx="152" cy="152"/>
            </a:xfrm>
            <a:prstGeom prst="chevron">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40" name="燕尾形 239"/>
            <p:cNvSpPr/>
            <p:nvPr/>
          </p:nvSpPr>
          <p:spPr>
            <a:xfrm>
              <a:off x="7773" y="4318"/>
              <a:ext cx="152" cy="152"/>
            </a:xfrm>
            <a:prstGeom prst="chevron">
              <a:avLst/>
            </a:prstGeom>
            <a:solidFill>
              <a:schemeClr val="accent1">
                <a:lumMod val="60000"/>
                <a:lumOff val="4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45" name="燕尾形 244"/>
            <p:cNvSpPr/>
            <p:nvPr/>
          </p:nvSpPr>
          <p:spPr>
            <a:xfrm>
              <a:off x="7651" y="4318"/>
              <a:ext cx="152" cy="152"/>
            </a:xfrm>
            <a:prstGeom prst="chevron">
              <a:avLst/>
            </a:prstGeom>
            <a:solidFill>
              <a:schemeClr val="accent1">
                <a:lumMod val="60000"/>
                <a:lumOff val="40000"/>
                <a:alpha val="2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258" name="组合 257"/>
          <p:cNvGrpSpPr/>
          <p:nvPr/>
        </p:nvGrpSpPr>
        <p:grpSpPr>
          <a:xfrm rot="0" flipH="1">
            <a:off x="7276465" y="3002915"/>
            <a:ext cx="251460" cy="96520"/>
            <a:chOff x="7651" y="4318"/>
            <a:chExt cx="396" cy="152"/>
          </a:xfrm>
        </p:grpSpPr>
        <p:sp>
          <p:nvSpPr>
            <p:cNvPr id="259" name="燕尾形 258"/>
            <p:cNvSpPr/>
            <p:nvPr/>
          </p:nvSpPr>
          <p:spPr>
            <a:xfrm>
              <a:off x="7895" y="4318"/>
              <a:ext cx="152" cy="152"/>
            </a:xfrm>
            <a:prstGeom prst="chevron">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61" name="燕尾形 260"/>
            <p:cNvSpPr/>
            <p:nvPr/>
          </p:nvSpPr>
          <p:spPr>
            <a:xfrm>
              <a:off x="7773" y="4318"/>
              <a:ext cx="152" cy="152"/>
            </a:xfrm>
            <a:prstGeom prst="chevron">
              <a:avLst/>
            </a:prstGeom>
            <a:solidFill>
              <a:schemeClr val="accent1">
                <a:lumMod val="60000"/>
                <a:lumOff val="4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62" name="燕尾形 261"/>
            <p:cNvSpPr/>
            <p:nvPr/>
          </p:nvSpPr>
          <p:spPr>
            <a:xfrm>
              <a:off x="7651" y="4318"/>
              <a:ext cx="152" cy="152"/>
            </a:xfrm>
            <a:prstGeom prst="chevron">
              <a:avLst/>
            </a:prstGeom>
            <a:solidFill>
              <a:schemeClr val="accent1">
                <a:lumMod val="60000"/>
                <a:lumOff val="40000"/>
                <a:alpha val="2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sp>
        <p:nvSpPr>
          <p:cNvPr id="263" name="显眼包PPT-3"/>
          <p:cNvSpPr txBox="1"/>
          <p:nvPr/>
        </p:nvSpPr>
        <p:spPr>
          <a:xfrm>
            <a:off x="4482465" y="2517140"/>
            <a:ext cx="715010" cy="168910"/>
          </a:xfrm>
          <a:prstGeom prst="rect">
            <a:avLst/>
          </a:prstGeom>
          <a:noFill/>
        </p:spPr>
        <p:txBody>
          <a:bodyPr wrap="square" lIns="0" tIns="0" rIns="0" bIns="0" rtlCol="0">
            <a:sp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以人训智</a:t>
            </a:r>
            <a:endParaRPr kumimoji="0" lang="zh-CN"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64" name="显眼包PPT-3"/>
          <p:cNvSpPr txBox="1"/>
          <p:nvPr/>
        </p:nvSpPr>
        <p:spPr>
          <a:xfrm>
            <a:off x="4482465" y="3207385"/>
            <a:ext cx="715010" cy="168910"/>
          </a:xfrm>
          <a:prstGeom prst="rect">
            <a:avLst/>
          </a:prstGeom>
          <a:noFill/>
        </p:spPr>
        <p:txBody>
          <a:bodyPr wrap="square" lIns="0" tIns="0" rIns="0" bIns="0" rtlCol="0">
            <a:sp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实时智辅</a:t>
            </a:r>
            <a:endParaRPr kumimoji="0" lang="zh-CN"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65" name="显眼包PPT-3"/>
          <p:cNvSpPr txBox="1"/>
          <p:nvPr/>
        </p:nvSpPr>
        <p:spPr>
          <a:xfrm>
            <a:off x="6892290" y="2517140"/>
            <a:ext cx="715010" cy="168910"/>
          </a:xfrm>
          <a:prstGeom prst="rect">
            <a:avLst/>
          </a:prstGeom>
          <a:noFill/>
        </p:spPr>
        <p:txBody>
          <a:bodyPr wrap="square" lIns="0" tIns="0" rIns="0" bIns="0" rtlCol="0">
            <a:sp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主动服务</a:t>
            </a:r>
            <a:endParaRPr kumimoji="0" lang="zh-CN"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66" name="显眼包PPT-3"/>
          <p:cNvSpPr txBox="1"/>
          <p:nvPr/>
        </p:nvSpPr>
        <p:spPr>
          <a:xfrm>
            <a:off x="6892290" y="3207385"/>
            <a:ext cx="715010" cy="168910"/>
          </a:xfrm>
          <a:prstGeom prst="rect">
            <a:avLst/>
          </a:prstGeom>
          <a:noFill/>
        </p:spPr>
        <p:txBody>
          <a:bodyPr wrap="square" lIns="0" tIns="0" rIns="0" bIns="0" rtlCol="0">
            <a:sp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实时感知</a:t>
            </a:r>
            <a:endParaRPr kumimoji="0" lang="zh-CN"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37" name="显眼包PPT-1"/>
          <p:cNvSpPr/>
          <p:nvPr/>
        </p:nvSpPr>
        <p:spPr>
          <a:xfrm>
            <a:off x="2673350" y="3514725"/>
            <a:ext cx="6742430" cy="511175"/>
          </a:xfrm>
          <a:prstGeom prst="ellipse">
            <a:avLst/>
          </a:prstGeom>
          <a:noFill/>
          <a:ln w="76200">
            <a:gradFill>
              <a:gsLst>
                <a:gs pos="34000">
                  <a:schemeClr val="accent1">
                    <a:lumMod val="60000"/>
                    <a:lumOff val="40000"/>
                    <a:alpha val="0"/>
                  </a:schemeClr>
                </a:gs>
                <a:gs pos="100000">
                  <a:schemeClr val="accent1">
                    <a:lumMod val="60000"/>
                    <a:lumOff val="4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349" name="组合 348"/>
          <p:cNvGrpSpPr/>
          <p:nvPr/>
        </p:nvGrpSpPr>
        <p:grpSpPr>
          <a:xfrm rot="0">
            <a:off x="4858385" y="2810510"/>
            <a:ext cx="251460" cy="96520"/>
            <a:chOff x="7651" y="4318"/>
            <a:chExt cx="396" cy="152"/>
          </a:xfrm>
        </p:grpSpPr>
        <p:sp>
          <p:nvSpPr>
            <p:cNvPr id="350" name="燕尾形 349"/>
            <p:cNvSpPr/>
            <p:nvPr/>
          </p:nvSpPr>
          <p:spPr>
            <a:xfrm>
              <a:off x="7895" y="4318"/>
              <a:ext cx="152" cy="152"/>
            </a:xfrm>
            <a:prstGeom prst="chevron">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51" name="燕尾形 350"/>
            <p:cNvSpPr/>
            <p:nvPr/>
          </p:nvSpPr>
          <p:spPr>
            <a:xfrm>
              <a:off x="7773" y="4318"/>
              <a:ext cx="152" cy="152"/>
            </a:xfrm>
            <a:prstGeom prst="chevron">
              <a:avLst/>
            </a:prstGeom>
            <a:solidFill>
              <a:schemeClr val="accent1">
                <a:lumMod val="60000"/>
                <a:lumOff val="4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52" name="燕尾形 351"/>
            <p:cNvSpPr/>
            <p:nvPr/>
          </p:nvSpPr>
          <p:spPr>
            <a:xfrm>
              <a:off x="7651" y="4318"/>
              <a:ext cx="152" cy="152"/>
            </a:xfrm>
            <a:prstGeom prst="chevron">
              <a:avLst/>
            </a:prstGeom>
            <a:solidFill>
              <a:schemeClr val="accent1">
                <a:lumMod val="60000"/>
                <a:lumOff val="40000"/>
                <a:alpha val="2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353" name="组合 352"/>
          <p:cNvGrpSpPr/>
          <p:nvPr/>
        </p:nvGrpSpPr>
        <p:grpSpPr>
          <a:xfrm rot="0">
            <a:off x="4519930" y="2810510"/>
            <a:ext cx="251460" cy="96520"/>
            <a:chOff x="7651" y="4318"/>
            <a:chExt cx="396" cy="152"/>
          </a:xfrm>
        </p:grpSpPr>
        <p:sp>
          <p:nvSpPr>
            <p:cNvPr id="354" name="燕尾形 353"/>
            <p:cNvSpPr/>
            <p:nvPr/>
          </p:nvSpPr>
          <p:spPr>
            <a:xfrm>
              <a:off x="7895" y="4318"/>
              <a:ext cx="152" cy="152"/>
            </a:xfrm>
            <a:prstGeom prst="chevron">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55" name="燕尾形 354"/>
            <p:cNvSpPr/>
            <p:nvPr/>
          </p:nvSpPr>
          <p:spPr>
            <a:xfrm>
              <a:off x="7773" y="4318"/>
              <a:ext cx="152" cy="152"/>
            </a:xfrm>
            <a:prstGeom prst="chevron">
              <a:avLst/>
            </a:prstGeom>
            <a:solidFill>
              <a:schemeClr val="accent1">
                <a:lumMod val="60000"/>
                <a:lumOff val="4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56" name="燕尾形 355"/>
            <p:cNvSpPr/>
            <p:nvPr/>
          </p:nvSpPr>
          <p:spPr>
            <a:xfrm>
              <a:off x="7651" y="4318"/>
              <a:ext cx="152" cy="152"/>
            </a:xfrm>
            <a:prstGeom prst="chevron">
              <a:avLst/>
            </a:prstGeom>
            <a:solidFill>
              <a:schemeClr val="accent1">
                <a:lumMod val="60000"/>
                <a:lumOff val="40000"/>
                <a:alpha val="2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367" name="组合 366"/>
          <p:cNvGrpSpPr/>
          <p:nvPr/>
        </p:nvGrpSpPr>
        <p:grpSpPr>
          <a:xfrm rot="0">
            <a:off x="7280910" y="2810510"/>
            <a:ext cx="251460" cy="96520"/>
            <a:chOff x="7651" y="4318"/>
            <a:chExt cx="396" cy="152"/>
          </a:xfrm>
        </p:grpSpPr>
        <p:sp>
          <p:nvSpPr>
            <p:cNvPr id="368" name="燕尾形 367"/>
            <p:cNvSpPr/>
            <p:nvPr/>
          </p:nvSpPr>
          <p:spPr>
            <a:xfrm>
              <a:off x="7895" y="4318"/>
              <a:ext cx="152" cy="152"/>
            </a:xfrm>
            <a:prstGeom prst="chevron">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69" name="燕尾形 368"/>
            <p:cNvSpPr/>
            <p:nvPr/>
          </p:nvSpPr>
          <p:spPr>
            <a:xfrm>
              <a:off x="7773" y="4318"/>
              <a:ext cx="152" cy="152"/>
            </a:xfrm>
            <a:prstGeom prst="chevron">
              <a:avLst/>
            </a:prstGeom>
            <a:solidFill>
              <a:schemeClr val="accent1">
                <a:lumMod val="60000"/>
                <a:lumOff val="4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70" name="燕尾形 369"/>
            <p:cNvSpPr/>
            <p:nvPr/>
          </p:nvSpPr>
          <p:spPr>
            <a:xfrm>
              <a:off x="7651" y="4318"/>
              <a:ext cx="152" cy="152"/>
            </a:xfrm>
            <a:prstGeom prst="chevron">
              <a:avLst/>
            </a:prstGeom>
            <a:solidFill>
              <a:schemeClr val="accent1">
                <a:lumMod val="60000"/>
                <a:lumOff val="40000"/>
                <a:alpha val="2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pic>
        <p:nvPicPr>
          <p:cNvPr id="407" name="图片 406" descr="员工转正"/>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18840" y="2595245"/>
            <a:ext cx="354965" cy="311785"/>
          </a:xfrm>
          <a:prstGeom prst="rect">
            <a:avLst/>
          </a:prstGeom>
        </p:spPr>
      </p:pic>
      <p:pic>
        <p:nvPicPr>
          <p:cNvPr id="408" name="图片 407" descr="36合作、关系"/>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281035" y="2560955"/>
            <a:ext cx="402590" cy="402590"/>
          </a:xfrm>
          <a:prstGeom prst="rect">
            <a:avLst/>
          </a:prstGeom>
        </p:spPr>
      </p:pic>
      <p:sp>
        <p:nvSpPr>
          <p:cNvPr id="552" name="任意多边形: 形状 6"/>
          <p:cNvSpPr/>
          <p:nvPr/>
        </p:nvSpPr>
        <p:spPr>
          <a:xfrm>
            <a:off x="4580890" y="3670300"/>
            <a:ext cx="3145790" cy="1464945"/>
          </a:xfrm>
          <a:custGeom>
            <a:avLst/>
            <a:gdLst>
              <a:gd name="connsiteX0" fmla="*/ 1703020 w 5020532"/>
              <a:gd name="connsiteY0" fmla="*/ 976632 h 4676677"/>
              <a:gd name="connsiteX1" fmla="*/ 3017217 w 5020532"/>
              <a:gd name="connsiteY1" fmla="*/ 976632 h 4676677"/>
              <a:gd name="connsiteX2" fmla="*/ 5020139 w 5020532"/>
              <a:gd name="connsiteY2" fmla="*/ 4676356 h 4676677"/>
              <a:gd name="connsiteX3" fmla="*/ 5020532 w 5020532"/>
              <a:gd name="connsiteY3" fmla="*/ 4676677 h 4676677"/>
              <a:gd name="connsiteX4" fmla="*/ 0 w 5020532"/>
              <a:gd name="connsiteY4" fmla="*/ 4676677 h 4676677"/>
              <a:gd name="connsiteX5" fmla="*/ 109543 w 5020532"/>
              <a:gd name="connsiteY5" fmla="*/ 4575924 h 4676677"/>
              <a:gd name="connsiteX6" fmla="*/ 1703020 w 5020532"/>
              <a:gd name="connsiteY6" fmla="*/ 976632 h 4676677"/>
              <a:gd name="connsiteX7" fmla="*/ 2353326 w 5020532"/>
              <a:gd name="connsiteY7" fmla="*/ 0 h 4676677"/>
              <a:gd name="connsiteX8" fmla="*/ 3601329 w 5020532"/>
              <a:gd name="connsiteY8" fmla="*/ 976630 h 4676677"/>
              <a:gd name="connsiteX9" fmla="*/ 1105322 w 5020532"/>
              <a:gd name="connsiteY9" fmla="*/ 976630 h 4676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20532" h="4676677">
                <a:moveTo>
                  <a:pt x="1703020" y="976632"/>
                </a:moveTo>
                <a:lnTo>
                  <a:pt x="3017217" y="976632"/>
                </a:lnTo>
                <a:cubicBezTo>
                  <a:pt x="3062689" y="2256319"/>
                  <a:pt x="3699821" y="3536004"/>
                  <a:pt x="5020139" y="4676356"/>
                </a:cubicBezTo>
                <a:lnTo>
                  <a:pt x="5020532" y="4676677"/>
                </a:lnTo>
                <a:lnTo>
                  <a:pt x="0" y="4676677"/>
                </a:lnTo>
                <a:lnTo>
                  <a:pt x="109543" y="4575924"/>
                </a:lnTo>
                <a:cubicBezTo>
                  <a:pt x="1247186" y="3481956"/>
                  <a:pt x="1495319" y="2221599"/>
                  <a:pt x="1703020" y="976632"/>
                </a:cubicBezTo>
                <a:close/>
                <a:moveTo>
                  <a:pt x="2353326" y="0"/>
                </a:moveTo>
                <a:lnTo>
                  <a:pt x="3601329" y="976630"/>
                </a:lnTo>
                <a:lnTo>
                  <a:pt x="1105322" y="976630"/>
                </a:lnTo>
                <a:close/>
              </a:path>
            </a:pathLst>
          </a:custGeom>
          <a:gradFill>
            <a:gsLst>
              <a:gs pos="100000">
                <a:schemeClr val="accent5">
                  <a:lumMod val="20000"/>
                  <a:lumOff val="80000"/>
                  <a:alpha val="50000"/>
                </a:schemeClr>
              </a:gs>
              <a:gs pos="0">
                <a:schemeClr val="accent5">
                  <a:lumMod val="20000"/>
                  <a:lumOff val="80000"/>
                </a:schemeClr>
              </a:gs>
            </a:gsLst>
            <a:lin ang="5400000" scaled="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554" name="椭圆 553"/>
          <p:cNvSpPr/>
          <p:nvPr/>
        </p:nvSpPr>
        <p:spPr>
          <a:xfrm>
            <a:off x="4144328" y="4352925"/>
            <a:ext cx="730885" cy="730885"/>
          </a:xfrm>
          <a:prstGeom prst="ellipse">
            <a:avLst/>
          </a:prstGeom>
          <a:solidFill>
            <a:schemeClr val="bg1"/>
          </a:solidFill>
          <a:ln w="25400">
            <a:gradFill>
              <a:gsLst>
                <a:gs pos="0">
                  <a:schemeClr val="accent5">
                    <a:lumMod val="60000"/>
                    <a:lumOff val="40000"/>
                  </a:schemeClr>
                </a:gs>
                <a:gs pos="100000">
                  <a:schemeClr val="accent5"/>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55" name="矩形 554"/>
          <p:cNvSpPr/>
          <p:nvPr/>
        </p:nvSpPr>
        <p:spPr>
          <a:xfrm>
            <a:off x="4096385" y="4704715"/>
            <a:ext cx="826770" cy="259715"/>
          </a:xfrm>
          <a:prstGeom prst="rect">
            <a:avLst/>
          </a:prstGeom>
        </p:spPr>
        <p:txBody>
          <a:bodyPr wrap="square">
            <a:noAutofit/>
          </a:bodyPr>
          <a:lstStyle/>
          <a:p>
            <a:pPr algn="ctr"/>
            <a:r>
              <a:rPr lang="zh-CN" altLang="en-US" sz="1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多模态</a:t>
            </a:r>
            <a:endParaRPr lang="zh-CN" altLang="en-US" sz="1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56" name="椭圆 555"/>
          <p:cNvSpPr/>
          <p:nvPr/>
        </p:nvSpPr>
        <p:spPr>
          <a:xfrm>
            <a:off x="7152958" y="4353560"/>
            <a:ext cx="730885" cy="730885"/>
          </a:xfrm>
          <a:prstGeom prst="ellipse">
            <a:avLst/>
          </a:prstGeom>
          <a:solidFill>
            <a:schemeClr val="bg1"/>
          </a:solidFill>
          <a:ln w="25400">
            <a:gradFill>
              <a:gsLst>
                <a:gs pos="0">
                  <a:schemeClr val="accent5">
                    <a:lumMod val="60000"/>
                    <a:lumOff val="40000"/>
                  </a:schemeClr>
                </a:gs>
                <a:gs pos="100000">
                  <a:schemeClr val="accent5"/>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57" name="椭圆 556"/>
          <p:cNvSpPr/>
          <p:nvPr/>
        </p:nvSpPr>
        <p:spPr>
          <a:xfrm>
            <a:off x="6199188" y="4353560"/>
            <a:ext cx="730885" cy="730885"/>
          </a:xfrm>
          <a:prstGeom prst="ellipse">
            <a:avLst/>
          </a:prstGeom>
          <a:solidFill>
            <a:schemeClr val="bg1"/>
          </a:solidFill>
          <a:ln w="25400">
            <a:gradFill>
              <a:gsLst>
                <a:gs pos="0">
                  <a:schemeClr val="accent5">
                    <a:lumMod val="60000"/>
                    <a:lumOff val="40000"/>
                  </a:schemeClr>
                </a:gs>
                <a:gs pos="100000">
                  <a:schemeClr val="accent5"/>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58" name="椭圆 557"/>
          <p:cNvSpPr/>
          <p:nvPr/>
        </p:nvSpPr>
        <p:spPr>
          <a:xfrm>
            <a:off x="5159058" y="4352925"/>
            <a:ext cx="730885" cy="730885"/>
          </a:xfrm>
          <a:prstGeom prst="ellipse">
            <a:avLst/>
          </a:prstGeom>
          <a:solidFill>
            <a:schemeClr val="bg1"/>
          </a:solidFill>
          <a:ln w="25400">
            <a:gradFill>
              <a:gsLst>
                <a:gs pos="0">
                  <a:schemeClr val="accent5">
                    <a:lumMod val="60000"/>
                    <a:lumOff val="40000"/>
                  </a:schemeClr>
                </a:gs>
                <a:gs pos="100000">
                  <a:schemeClr val="accent5"/>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60" name="矩形 559"/>
          <p:cNvSpPr/>
          <p:nvPr/>
        </p:nvSpPr>
        <p:spPr>
          <a:xfrm>
            <a:off x="5111115" y="4704715"/>
            <a:ext cx="826770" cy="259715"/>
          </a:xfrm>
          <a:prstGeom prst="rect">
            <a:avLst/>
          </a:prstGeom>
        </p:spPr>
        <p:txBody>
          <a:bodyPr wrap="square">
            <a:noAutofit/>
          </a:bodyPr>
          <a:lstStyle/>
          <a:p>
            <a:pPr algn="ctr"/>
            <a:r>
              <a:rPr lang="zh-CN" altLang="en-US" sz="1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专业性</a:t>
            </a:r>
            <a:endParaRPr lang="zh-CN" altLang="en-US" sz="1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62" name="矩形 561"/>
          <p:cNvSpPr/>
          <p:nvPr/>
        </p:nvSpPr>
        <p:spPr>
          <a:xfrm>
            <a:off x="6151245" y="4704715"/>
            <a:ext cx="826770" cy="259715"/>
          </a:xfrm>
          <a:prstGeom prst="rect">
            <a:avLst/>
          </a:prstGeom>
        </p:spPr>
        <p:txBody>
          <a:bodyPr wrap="square">
            <a:noAutofit/>
          </a:bodyPr>
          <a:lstStyle/>
          <a:p>
            <a:pPr algn="ctr"/>
            <a:r>
              <a:rPr lang="zh-CN" altLang="en-US" sz="1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易用性</a:t>
            </a:r>
            <a:endParaRPr lang="zh-CN" altLang="en-US" sz="1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63" name="矩形 562"/>
          <p:cNvSpPr/>
          <p:nvPr/>
        </p:nvSpPr>
        <p:spPr>
          <a:xfrm>
            <a:off x="7105015" y="4704715"/>
            <a:ext cx="826770" cy="259715"/>
          </a:xfrm>
          <a:prstGeom prst="rect">
            <a:avLst/>
          </a:prstGeom>
        </p:spPr>
        <p:txBody>
          <a:bodyPr wrap="square">
            <a:noAutofit/>
          </a:bodyPr>
          <a:lstStyle/>
          <a:p>
            <a:pPr algn="ctr"/>
            <a:r>
              <a:rPr lang="zh-CN" altLang="en-US" sz="1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安全性</a:t>
            </a:r>
            <a:endParaRPr lang="zh-CN" altLang="en-US" sz="1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64" name="Freeform 52"/>
          <p:cNvSpPr>
            <a:spLocks noEditPoints="1"/>
          </p:cNvSpPr>
          <p:nvPr/>
        </p:nvSpPr>
        <p:spPr bwMode="auto">
          <a:xfrm>
            <a:off x="5398135" y="4450715"/>
            <a:ext cx="252730" cy="262255"/>
          </a:xfrm>
          <a:custGeom>
            <a:avLst/>
            <a:gdLst>
              <a:gd name="T0" fmla="*/ 79 w 88"/>
              <a:gd name="T1" fmla="*/ 76 h 88"/>
              <a:gd name="T2" fmla="*/ 78 w 88"/>
              <a:gd name="T3" fmla="*/ 76 h 88"/>
              <a:gd name="T4" fmla="*/ 77 w 88"/>
              <a:gd name="T5" fmla="*/ 76 h 88"/>
              <a:gd name="T6" fmla="*/ 74 w 88"/>
              <a:gd name="T7" fmla="*/ 76 h 88"/>
              <a:gd name="T8" fmla="*/ 56 w 88"/>
              <a:gd name="T9" fmla="*/ 60 h 88"/>
              <a:gd name="T10" fmla="*/ 72 w 88"/>
              <a:gd name="T11" fmla="*/ 60 h 88"/>
              <a:gd name="T12" fmla="*/ 72 w 88"/>
              <a:gd name="T13" fmla="*/ 52 h 88"/>
              <a:gd name="T14" fmla="*/ 56 w 88"/>
              <a:gd name="T15" fmla="*/ 52 h 88"/>
              <a:gd name="T16" fmla="*/ 56 w 88"/>
              <a:gd name="T17" fmla="*/ 44 h 88"/>
              <a:gd name="T18" fmla="*/ 69 w 88"/>
              <a:gd name="T19" fmla="*/ 44 h 88"/>
              <a:gd name="T20" fmla="*/ 88 w 88"/>
              <a:gd name="T21" fmla="*/ 27 h 88"/>
              <a:gd name="T22" fmla="*/ 69 w 88"/>
              <a:gd name="T23" fmla="*/ 8 h 88"/>
              <a:gd name="T24" fmla="*/ 60 w 88"/>
              <a:gd name="T25" fmla="*/ 10 h 88"/>
              <a:gd name="T26" fmla="*/ 44 w 88"/>
              <a:gd name="T27" fmla="*/ 0 h 88"/>
              <a:gd name="T28" fmla="*/ 28 w 88"/>
              <a:gd name="T29" fmla="*/ 10 h 88"/>
              <a:gd name="T30" fmla="*/ 19 w 88"/>
              <a:gd name="T31" fmla="*/ 8 h 88"/>
              <a:gd name="T32" fmla="*/ 0 w 88"/>
              <a:gd name="T33" fmla="*/ 27 h 88"/>
              <a:gd name="T34" fmla="*/ 19 w 88"/>
              <a:gd name="T35" fmla="*/ 44 h 88"/>
              <a:gd name="T36" fmla="*/ 32 w 88"/>
              <a:gd name="T37" fmla="*/ 44 h 88"/>
              <a:gd name="T38" fmla="*/ 32 w 88"/>
              <a:gd name="T39" fmla="*/ 52 h 88"/>
              <a:gd name="T40" fmla="*/ 16 w 88"/>
              <a:gd name="T41" fmla="*/ 52 h 88"/>
              <a:gd name="T42" fmla="*/ 16 w 88"/>
              <a:gd name="T43" fmla="*/ 60 h 88"/>
              <a:gd name="T44" fmla="*/ 32 w 88"/>
              <a:gd name="T45" fmla="*/ 60 h 88"/>
              <a:gd name="T46" fmla="*/ 14 w 88"/>
              <a:gd name="T47" fmla="*/ 76 h 88"/>
              <a:gd name="T48" fmla="*/ 11 w 88"/>
              <a:gd name="T49" fmla="*/ 76 h 88"/>
              <a:gd name="T50" fmla="*/ 10 w 88"/>
              <a:gd name="T51" fmla="*/ 76 h 88"/>
              <a:gd name="T52" fmla="*/ 9 w 88"/>
              <a:gd name="T53" fmla="*/ 76 h 88"/>
              <a:gd name="T54" fmla="*/ 4 w 88"/>
              <a:gd name="T55" fmla="*/ 83 h 88"/>
              <a:gd name="T56" fmla="*/ 10 w 88"/>
              <a:gd name="T57" fmla="*/ 88 h 88"/>
              <a:gd name="T58" fmla="*/ 78 w 88"/>
              <a:gd name="T59" fmla="*/ 88 h 88"/>
              <a:gd name="T60" fmla="*/ 84 w 88"/>
              <a:gd name="T61" fmla="*/ 82 h 88"/>
              <a:gd name="T62" fmla="*/ 79 w 88"/>
              <a:gd name="T63" fmla="*/ 76 h 88"/>
              <a:gd name="T64" fmla="*/ 36 w 88"/>
              <a:gd name="T65" fmla="*/ 36 h 88"/>
              <a:gd name="T66" fmla="*/ 19 w 88"/>
              <a:gd name="T67" fmla="*/ 36 h 88"/>
              <a:gd name="T68" fmla="*/ 8 w 88"/>
              <a:gd name="T69" fmla="*/ 27 h 88"/>
              <a:gd name="T70" fmla="*/ 19 w 88"/>
              <a:gd name="T71" fmla="*/ 16 h 88"/>
              <a:gd name="T72" fmla="*/ 27 w 88"/>
              <a:gd name="T73" fmla="*/ 19 h 88"/>
              <a:gd name="T74" fmla="*/ 31 w 88"/>
              <a:gd name="T75" fmla="*/ 20 h 88"/>
              <a:gd name="T76" fmla="*/ 34 w 88"/>
              <a:gd name="T77" fmla="*/ 17 h 88"/>
              <a:gd name="T78" fmla="*/ 44 w 88"/>
              <a:gd name="T79" fmla="*/ 8 h 88"/>
              <a:gd name="T80" fmla="*/ 54 w 88"/>
              <a:gd name="T81" fmla="*/ 17 h 88"/>
              <a:gd name="T82" fmla="*/ 57 w 88"/>
              <a:gd name="T83" fmla="*/ 20 h 88"/>
              <a:gd name="T84" fmla="*/ 61 w 88"/>
              <a:gd name="T85" fmla="*/ 19 h 88"/>
              <a:gd name="T86" fmla="*/ 69 w 88"/>
              <a:gd name="T87" fmla="*/ 16 h 88"/>
              <a:gd name="T88" fmla="*/ 80 w 88"/>
              <a:gd name="T89" fmla="*/ 27 h 88"/>
              <a:gd name="T90" fmla="*/ 69 w 88"/>
              <a:gd name="T91" fmla="*/ 36 h 88"/>
              <a:gd name="T92" fmla="*/ 52 w 88"/>
              <a:gd name="T93" fmla="*/ 36 h 88"/>
              <a:gd name="T94" fmla="*/ 48 w 88"/>
              <a:gd name="T95" fmla="*/ 40 h 88"/>
              <a:gd name="T96" fmla="*/ 48 w 88"/>
              <a:gd name="T97" fmla="*/ 52 h 88"/>
              <a:gd name="T98" fmla="*/ 40 w 88"/>
              <a:gd name="T99" fmla="*/ 52 h 88"/>
              <a:gd name="T100" fmla="*/ 40 w 88"/>
              <a:gd name="T101" fmla="*/ 40 h 88"/>
              <a:gd name="T102" fmla="*/ 36 w 88"/>
              <a:gd name="T103" fmla="*/ 36 h 88"/>
              <a:gd name="T104" fmla="*/ 29 w 88"/>
              <a:gd name="T105" fmla="*/ 80 h 88"/>
              <a:gd name="T106" fmla="*/ 40 w 88"/>
              <a:gd name="T107" fmla="*/ 60 h 88"/>
              <a:gd name="T108" fmla="*/ 48 w 88"/>
              <a:gd name="T109" fmla="*/ 60 h 88"/>
              <a:gd name="T110" fmla="*/ 58 w 88"/>
              <a:gd name="T111" fmla="*/ 79 h 88"/>
              <a:gd name="T112" fmla="*/ 59 w 88"/>
              <a:gd name="T113" fmla="*/ 80 h 88"/>
              <a:gd name="T114" fmla="*/ 29 w 88"/>
              <a:gd name="T115" fmla="*/ 8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8" h="88">
                <a:moveTo>
                  <a:pt x="79" y="76"/>
                </a:moveTo>
                <a:cubicBezTo>
                  <a:pt x="78" y="76"/>
                  <a:pt x="78" y="76"/>
                  <a:pt x="78" y="76"/>
                </a:cubicBezTo>
                <a:cubicBezTo>
                  <a:pt x="78" y="76"/>
                  <a:pt x="78" y="76"/>
                  <a:pt x="77" y="76"/>
                </a:cubicBezTo>
                <a:cubicBezTo>
                  <a:pt x="76" y="76"/>
                  <a:pt x="75" y="76"/>
                  <a:pt x="74" y="76"/>
                </a:cubicBezTo>
                <a:cubicBezTo>
                  <a:pt x="63" y="76"/>
                  <a:pt x="57" y="71"/>
                  <a:pt x="56" y="60"/>
                </a:cubicBezTo>
                <a:cubicBezTo>
                  <a:pt x="72" y="60"/>
                  <a:pt x="72" y="60"/>
                  <a:pt x="72" y="60"/>
                </a:cubicBezTo>
                <a:cubicBezTo>
                  <a:pt x="72" y="52"/>
                  <a:pt x="72" y="52"/>
                  <a:pt x="72" y="52"/>
                </a:cubicBezTo>
                <a:cubicBezTo>
                  <a:pt x="56" y="52"/>
                  <a:pt x="56" y="52"/>
                  <a:pt x="56" y="52"/>
                </a:cubicBezTo>
                <a:cubicBezTo>
                  <a:pt x="56" y="44"/>
                  <a:pt x="56" y="44"/>
                  <a:pt x="56" y="44"/>
                </a:cubicBezTo>
                <a:cubicBezTo>
                  <a:pt x="69" y="44"/>
                  <a:pt x="69" y="44"/>
                  <a:pt x="69" y="44"/>
                </a:cubicBezTo>
                <a:cubicBezTo>
                  <a:pt x="80" y="44"/>
                  <a:pt x="88" y="36"/>
                  <a:pt x="88" y="27"/>
                </a:cubicBezTo>
                <a:cubicBezTo>
                  <a:pt x="88" y="16"/>
                  <a:pt x="80" y="8"/>
                  <a:pt x="69" y="8"/>
                </a:cubicBezTo>
                <a:cubicBezTo>
                  <a:pt x="66" y="8"/>
                  <a:pt x="63" y="9"/>
                  <a:pt x="60" y="10"/>
                </a:cubicBezTo>
                <a:cubicBezTo>
                  <a:pt x="57" y="4"/>
                  <a:pt x="51" y="0"/>
                  <a:pt x="44" y="0"/>
                </a:cubicBezTo>
                <a:cubicBezTo>
                  <a:pt x="37" y="0"/>
                  <a:pt x="31" y="4"/>
                  <a:pt x="28" y="10"/>
                </a:cubicBezTo>
                <a:cubicBezTo>
                  <a:pt x="25" y="9"/>
                  <a:pt x="22" y="8"/>
                  <a:pt x="19" y="8"/>
                </a:cubicBezTo>
                <a:cubicBezTo>
                  <a:pt x="8" y="8"/>
                  <a:pt x="0" y="16"/>
                  <a:pt x="0" y="27"/>
                </a:cubicBezTo>
                <a:cubicBezTo>
                  <a:pt x="0" y="36"/>
                  <a:pt x="8" y="44"/>
                  <a:pt x="19" y="44"/>
                </a:cubicBezTo>
                <a:cubicBezTo>
                  <a:pt x="32" y="44"/>
                  <a:pt x="32" y="44"/>
                  <a:pt x="32" y="44"/>
                </a:cubicBezTo>
                <a:cubicBezTo>
                  <a:pt x="32" y="52"/>
                  <a:pt x="32" y="52"/>
                  <a:pt x="32" y="52"/>
                </a:cubicBezTo>
                <a:cubicBezTo>
                  <a:pt x="16" y="52"/>
                  <a:pt x="16" y="52"/>
                  <a:pt x="16" y="52"/>
                </a:cubicBezTo>
                <a:cubicBezTo>
                  <a:pt x="16" y="60"/>
                  <a:pt x="16" y="60"/>
                  <a:pt x="16" y="60"/>
                </a:cubicBezTo>
                <a:cubicBezTo>
                  <a:pt x="32" y="60"/>
                  <a:pt x="32" y="60"/>
                  <a:pt x="32" y="60"/>
                </a:cubicBezTo>
                <a:cubicBezTo>
                  <a:pt x="31" y="71"/>
                  <a:pt x="25" y="76"/>
                  <a:pt x="14" y="76"/>
                </a:cubicBezTo>
                <a:cubicBezTo>
                  <a:pt x="13" y="76"/>
                  <a:pt x="12" y="76"/>
                  <a:pt x="11" y="76"/>
                </a:cubicBezTo>
                <a:cubicBezTo>
                  <a:pt x="10" y="76"/>
                  <a:pt x="10" y="76"/>
                  <a:pt x="10" y="76"/>
                </a:cubicBezTo>
                <a:cubicBezTo>
                  <a:pt x="9" y="76"/>
                  <a:pt x="9" y="76"/>
                  <a:pt x="9" y="76"/>
                </a:cubicBezTo>
                <a:cubicBezTo>
                  <a:pt x="6" y="77"/>
                  <a:pt x="4" y="79"/>
                  <a:pt x="4" y="83"/>
                </a:cubicBezTo>
                <a:cubicBezTo>
                  <a:pt x="4" y="86"/>
                  <a:pt x="7" y="88"/>
                  <a:pt x="10" y="88"/>
                </a:cubicBezTo>
                <a:cubicBezTo>
                  <a:pt x="78" y="88"/>
                  <a:pt x="78" y="88"/>
                  <a:pt x="78" y="88"/>
                </a:cubicBezTo>
                <a:cubicBezTo>
                  <a:pt x="81" y="88"/>
                  <a:pt x="84" y="86"/>
                  <a:pt x="84" y="82"/>
                </a:cubicBezTo>
                <a:cubicBezTo>
                  <a:pt x="84" y="79"/>
                  <a:pt x="82" y="77"/>
                  <a:pt x="79" y="76"/>
                </a:cubicBezTo>
                <a:close/>
                <a:moveTo>
                  <a:pt x="36" y="36"/>
                </a:moveTo>
                <a:cubicBezTo>
                  <a:pt x="19" y="36"/>
                  <a:pt x="19" y="36"/>
                  <a:pt x="19" y="36"/>
                </a:cubicBezTo>
                <a:cubicBezTo>
                  <a:pt x="13" y="36"/>
                  <a:pt x="8" y="33"/>
                  <a:pt x="8" y="27"/>
                </a:cubicBezTo>
                <a:cubicBezTo>
                  <a:pt x="8" y="21"/>
                  <a:pt x="13" y="16"/>
                  <a:pt x="19" y="16"/>
                </a:cubicBezTo>
                <a:cubicBezTo>
                  <a:pt x="22" y="16"/>
                  <a:pt x="25" y="17"/>
                  <a:pt x="27" y="19"/>
                </a:cubicBezTo>
                <a:cubicBezTo>
                  <a:pt x="28" y="20"/>
                  <a:pt x="29" y="21"/>
                  <a:pt x="31" y="20"/>
                </a:cubicBezTo>
                <a:cubicBezTo>
                  <a:pt x="32" y="20"/>
                  <a:pt x="33" y="19"/>
                  <a:pt x="34" y="17"/>
                </a:cubicBezTo>
                <a:cubicBezTo>
                  <a:pt x="34" y="12"/>
                  <a:pt x="39" y="8"/>
                  <a:pt x="44" y="8"/>
                </a:cubicBezTo>
                <a:cubicBezTo>
                  <a:pt x="49" y="8"/>
                  <a:pt x="54" y="12"/>
                  <a:pt x="54" y="17"/>
                </a:cubicBezTo>
                <a:cubicBezTo>
                  <a:pt x="55" y="19"/>
                  <a:pt x="56" y="20"/>
                  <a:pt x="57" y="20"/>
                </a:cubicBezTo>
                <a:cubicBezTo>
                  <a:pt x="59" y="21"/>
                  <a:pt x="60" y="20"/>
                  <a:pt x="61" y="19"/>
                </a:cubicBezTo>
                <a:cubicBezTo>
                  <a:pt x="63" y="17"/>
                  <a:pt x="66" y="16"/>
                  <a:pt x="69" y="16"/>
                </a:cubicBezTo>
                <a:cubicBezTo>
                  <a:pt x="75" y="16"/>
                  <a:pt x="80" y="21"/>
                  <a:pt x="80" y="27"/>
                </a:cubicBezTo>
                <a:cubicBezTo>
                  <a:pt x="80" y="33"/>
                  <a:pt x="75" y="36"/>
                  <a:pt x="69" y="36"/>
                </a:cubicBezTo>
                <a:cubicBezTo>
                  <a:pt x="52" y="36"/>
                  <a:pt x="52" y="36"/>
                  <a:pt x="52" y="36"/>
                </a:cubicBezTo>
                <a:cubicBezTo>
                  <a:pt x="50" y="36"/>
                  <a:pt x="48" y="38"/>
                  <a:pt x="48" y="40"/>
                </a:cubicBezTo>
                <a:cubicBezTo>
                  <a:pt x="48" y="52"/>
                  <a:pt x="48" y="52"/>
                  <a:pt x="48" y="52"/>
                </a:cubicBezTo>
                <a:cubicBezTo>
                  <a:pt x="40" y="52"/>
                  <a:pt x="40" y="52"/>
                  <a:pt x="40" y="52"/>
                </a:cubicBezTo>
                <a:cubicBezTo>
                  <a:pt x="40" y="40"/>
                  <a:pt x="40" y="40"/>
                  <a:pt x="40" y="40"/>
                </a:cubicBezTo>
                <a:cubicBezTo>
                  <a:pt x="40" y="38"/>
                  <a:pt x="38" y="36"/>
                  <a:pt x="36" y="36"/>
                </a:cubicBezTo>
                <a:close/>
                <a:moveTo>
                  <a:pt x="29" y="80"/>
                </a:moveTo>
                <a:cubicBezTo>
                  <a:pt x="35" y="76"/>
                  <a:pt x="39" y="69"/>
                  <a:pt x="40" y="60"/>
                </a:cubicBezTo>
                <a:cubicBezTo>
                  <a:pt x="48" y="60"/>
                  <a:pt x="48" y="60"/>
                  <a:pt x="48" y="60"/>
                </a:cubicBezTo>
                <a:cubicBezTo>
                  <a:pt x="49" y="69"/>
                  <a:pt x="52" y="75"/>
                  <a:pt x="58" y="79"/>
                </a:cubicBezTo>
                <a:cubicBezTo>
                  <a:pt x="58" y="80"/>
                  <a:pt x="58" y="80"/>
                  <a:pt x="59" y="80"/>
                </a:cubicBezTo>
                <a:lnTo>
                  <a:pt x="29" y="80"/>
                </a:lnTo>
                <a:close/>
              </a:path>
            </a:pathLst>
          </a:custGeom>
          <a:gradFill>
            <a:gsLst>
              <a:gs pos="0">
                <a:schemeClr val="accent5"/>
              </a:gs>
              <a:gs pos="100000">
                <a:schemeClr val="accent5">
                  <a:lumMod val="60000"/>
                  <a:lumOff val="40000"/>
                </a:schemeClr>
              </a:gs>
            </a:gsLst>
            <a:lin ang="5400000"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565" name="组合 564"/>
          <p:cNvGrpSpPr/>
          <p:nvPr/>
        </p:nvGrpSpPr>
        <p:grpSpPr>
          <a:xfrm rot="0">
            <a:off x="7423785" y="4470400"/>
            <a:ext cx="189230" cy="214630"/>
            <a:chOff x="8709026" y="3606801"/>
            <a:chExt cx="252413" cy="252413"/>
          </a:xfrm>
          <a:gradFill>
            <a:gsLst>
              <a:gs pos="0">
                <a:schemeClr val="accent5"/>
              </a:gs>
              <a:gs pos="100000">
                <a:schemeClr val="accent5">
                  <a:lumMod val="60000"/>
                  <a:lumOff val="40000"/>
                </a:schemeClr>
              </a:gs>
            </a:gsLst>
            <a:lin ang="5400000" scaled="0"/>
          </a:gradFill>
        </p:grpSpPr>
        <p:sp>
          <p:nvSpPr>
            <p:cNvPr id="569" name="Freeform 109"/>
            <p:cNvSpPr>
              <a:spLocks noEditPoints="1"/>
            </p:cNvSpPr>
            <p:nvPr/>
          </p:nvSpPr>
          <p:spPr bwMode="auto">
            <a:xfrm>
              <a:off x="8709026" y="3606801"/>
              <a:ext cx="252413" cy="252413"/>
            </a:xfrm>
            <a:custGeom>
              <a:avLst/>
              <a:gdLst>
                <a:gd name="T0" fmla="*/ 72 w 80"/>
                <a:gd name="T1" fmla="*/ 0 h 80"/>
                <a:gd name="T2" fmla="*/ 8 w 80"/>
                <a:gd name="T3" fmla="*/ 0 h 80"/>
                <a:gd name="T4" fmla="*/ 0 w 80"/>
                <a:gd name="T5" fmla="*/ 8 h 80"/>
                <a:gd name="T6" fmla="*/ 0 w 80"/>
                <a:gd name="T7" fmla="*/ 48 h 80"/>
                <a:gd name="T8" fmla="*/ 8 w 80"/>
                <a:gd name="T9" fmla="*/ 56 h 80"/>
                <a:gd name="T10" fmla="*/ 36 w 80"/>
                <a:gd name="T11" fmla="*/ 56 h 80"/>
                <a:gd name="T12" fmla="*/ 36 w 80"/>
                <a:gd name="T13" fmla="*/ 72 h 80"/>
                <a:gd name="T14" fmla="*/ 16 w 80"/>
                <a:gd name="T15" fmla="*/ 72 h 80"/>
                <a:gd name="T16" fmla="*/ 16 w 80"/>
                <a:gd name="T17" fmla="*/ 80 h 80"/>
                <a:gd name="T18" fmla="*/ 64 w 80"/>
                <a:gd name="T19" fmla="*/ 80 h 80"/>
                <a:gd name="T20" fmla="*/ 64 w 80"/>
                <a:gd name="T21" fmla="*/ 72 h 80"/>
                <a:gd name="T22" fmla="*/ 44 w 80"/>
                <a:gd name="T23" fmla="*/ 72 h 80"/>
                <a:gd name="T24" fmla="*/ 44 w 80"/>
                <a:gd name="T25" fmla="*/ 56 h 80"/>
                <a:gd name="T26" fmla="*/ 72 w 80"/>
                <a:gd name="T27" fmla="*/ 56 h 80"/>
                <a:gd name="T28" fmla="*/ 80 w 80"/>
                <a:gd name="T29" fmla="*/ 48 h 80"/>
                <a:gd name="T30" fmla="*/ 80 w 80"/>
                <a:gd name="T31" fmla="*/ 8 h 80"/>
                <a:gd name="T32" fmla="*/ 72 w 80"/>
                <a:gd name="T33" fmla="*/ 0 h 80"/>
                <a:gd name="T34" fmla="*/ 72 w 80"/>
                <a:gd name="T35" fmla="*/ 8 h 80"/>
                <a:gd name="T36" fmla="*/ 72 w 80"/>
                <a:gd name="T37" fmla="*/ 24 h 80"/>
                <a:gd name="T38" fmla="*/ 8 w 80"/>
                <a:gd name="T39" fmla="*/ 24 h 80"/>
                <a:gd name="T40" fmla="*/ 8 w 80"/>
                <a:gd name="T41" fmla="*/ 8 h 80"/>
                <a:gd name="T42" fmla="*/ 72 w 80"/>
                <a:gd name="T43" fmla="*/ 8 h 80"/>
                <a:gd name="T44" fmla="*/ 8 w 80"/>
                <a:gd name="T45" fmla="*/ 48 h 80"/>
                <a:gd name="T46" fmla="*/ 8 w 80"/>
                <a:gd name="T47" fmla="*/ 32 h 80"/>
                <a:gd name="T48" fmla="*/ 72 w 80"/>
                <a:gd name="T49" fmla="*/ 32 h 80"/>
                <a:gd name="T50" fmla="*/ 72 w 80"/>
                <a:gd name="T51" fmla="*/ 48 h 80"/>
                <a:gd name="T52" fmla="*/ 8 w 80"/>
                <a:gd name="T53" fmla="*/ 4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0" h="80">
                  <a:moveTo>
                    <a:pt x="72" y="0"/>
                  </a:moveTo>
                  <a:cubicBezTo>
                    <a:pt x="8" y="0"/>
                    <a:pt x="8" y="0"/>
                    <a:pt x="8" y="0"/>
                  </a:cubicBezTo>
                  <a:cubicBezTo>
                    <a:pt x="4" y="0"/>
                    <a:pt x="0" y="4"/>
                    <a:pt x="0" y="8"/>
                  </a:cubicBezTo>
                  <a:cubicBezTo>
                    <a:pt x="0" y="48"/>
                    <a:pt x="0" y="48"/>
                    <a:pt x="0" y="48"/>
                  </a:cubicBezTo>
                  <a:cubicBezTo>
                    <a:pt x="0" y="52"/>
                    <a:pt x="4" y="56"/>
                    <a:pt x="8" y="56"/>
                  </a:cubicBezTo>
                  <a:cubicBezTo>
                    <a:pt x="36" y="56"/>
                    <a:pt x="36" y="56"/>
                    <a:pt x="36" y="56"/>
                  </a:cubicBezTo>
                  <a:cubicBezTo>
                    <a:pt x="36" y="72"/>
                    <a:pt x="36" y="72"/>
                    <a:pt x="36" y="72"/>
                  </a:cubicBezTo>
                  <a:cubicBezTo>
                    <a:pt x="16" y="72"/>
                    <a:pt x="16" y="72"/>
                    <a:pt x="16" y="72"/>
                  </a:cubicBezTo>
                  <a:cubicBezTo>
                    <a:pt x="16" y="80"/>
                    <a:pt x="16" y="80"/>
                    <a:pt x="16" y="80"/>
                  </a:cubicBezTo>
                  <a:cubicBezTo>
                    <a:pt x="64" y="80"/>
                    <a:pt x="64" y="80"/>
                    <a:pt x="64" y="80"/>
                  </a:cubicBezTo>
                  <a:cubicBezTo>
                    <a:pt x="64" y="72"/>
                    <a:pt x="64" y="72"/>
                    <a:pt x="64" y="72"/>
                  </a:cubicBezTo>
                  <a:cubicBezTo>
                    <a:pt x="44" y="72"/>
                    <a:pt x="44" y="72"/>
                    <a:pt x="44" y="72"/>
                  </a:cubicBezTo>
                  <a:cubicBezTo>
                    <a:pt x="44" y="56"/>
                    <a:pt x="44" y="56"/>
                    <a:pt x="44" y="56"/>
                  </a:cubicBezTo>
                  <a:cubicBezTo>
                    <a:pt x="72" y="56"/>
                    <a:pt x="72" y="56"/>
                    <a:pt x="72" y="56"/>
                  </a:cubicBezTo>
                  <a:cubicBezTo>
                    <a:pt x="76" y="56"/>
                    <a:pt x="80" y="52"/>
                    <a:pt x="80" y="48"/>
                  </a:cubicBezTo>
                  <a:cubicBezTo>
                    <a:pt x="80" y="8"/>
                    <a:pt x="80" y="8"/>
                    <a:pt x="80" y="8"/>
                  </a:cubicBezTo>
                  <a:cubicBezTo>
                    <a:pt x="80" y="4"/>
                    <a:pt x="76" y="0"/>
                    <a:pt x="72" y="0"/>
                  </a:cubicBezTo>
                  <a:close/>
                  <a:moveTo>
                    <a:pt x="72" y="8"/>
                  </a:moveTo>
                  <a:cubicBezTo>
                    <a:pt x="72" y="24"/>
                    <a:pt x="72" y="24"/>
                    <a:pt x="72" y="24"/>
                  </a:cubicBezTo>
                  <a:cubicBezTo>
                    <a:pt x="8" y="24"/>
                    <a:pt x="8" y="24"/>
                    <a:pt x="8" y="24"/>
                  </a:cubicBezTo>
                  <a:cubicBezTo>
                    <a:pt x="8" y="8"/>
                    <a:pt x="8" y="8"/>
                    <a:pt x="8" y="8"/>
                  </a:cubicBezTo>
                  <a:lnTo>
                    <a:pt x="72" y="8"/>
                  </a:lnTo>
                  <a:close/>
                  <a:moveTo>
                    <a:pt x="8" y="48"/>
                  </a:moveTo>
                  <a:cubicBezTo>
                    <a:pt x="8" y="32"/>
                    <a:pt x="8" y="32"/>
                    <a:pt x="8" y="32"/>
                  </a:cubicBezTo>
                  <a:cubicBezTo>
                    <a:pt x="72" y="32"/>
                    <a:pt x="72" y="32"/>
                    <a:pt x="72" y="32"/>
                  </a:cubicBezTo>
                  <a:cubicBezTo>
                    <a:pt x="72" y="48"/>
                    <a:pt x="72" y="48"/>
                    <a:pt x="72" y="48"/>
                  </a:cubicBezTo>
                  <a:lnTo>
                    <a:pt x="8" y="4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70" name="Rectangle 110"/>
            <p:cNvSpPr>
              <a:spLocks noChangeArrowheads="1"/>
            </p:cNvSpPr>
            <p:nvPr/>
          </p:nvSpPr>
          <p:spPr bwMode="auto">
            <a:xfrm>
              <a:off x="8747126" y="3644901"/>
              <a:ext cx="63500" cy="254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71" name="Rectangle 111"/>
            <p:cNvSpPr>
              <a:spLocks noChangeArrowheads="1"/>
            </p:cNvSpPr>
            <p:nvPr/>
          </p:nvSpPr>
          <p:spPr bwMode="auto">
            <a:xfrm>
              <a:off x="8747126" y="3721101"/>
              <a:ext cx="63500" cy="238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72" name="Oval 112"/>
            <p:cNvSpPr>
              <a:spLocks noChangeArrowheads="1"/>
            </p:cNvSpPr>
            <p:nvPr/>
          </p:nvSpPr>
          <p:spPr bwMode="auto">
            <a:xfrm>
              <a:off x="8923338" y="3833813"/>
              <a:ext cx="25400" cy="254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73" name="Oval 113"/>
            <p:cNvSpPr>
              <a:spLocks noChangeArrowheads="1"/>
            </p:cNvSpPr>
            <p:nvPr/>
          </p:nvSpPr>
          <p:spPr bwMode="auto">
            <a:xfrm>
              <a:off x="8721726" y="3833813"/>
              <a:ext cx="25400" cy="254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74" name="Oval 114"/>
            <p:cNvSpPr>
              <a:spLocks noChangeArrowheads="1"/>
            </p:cNvSpPr>
            <p:nvPr/>
          </p:nvSpPr>
          <p:spPr bwMode="auto">
            <a:xfrm>
              <a:off x="8859838" y="3644901"/>
              <a:ext cx="25400" cy="254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75" name="Oval 115"/>
            <p:cNvSpPr>
              <a:spLocks noChangeArrowheads="1"/>
            </p:cNvSpPr>
            <p:nvPr/>
          </p:nvSpPr>
          <p:spPr bwMode="auto">
            <a:xfrm>
              <a:off x="8897938" y="3644901"/>
              <a:ext cx="25400" cy="254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76" name="Oval 116"/>
            <p:cNvSpPr>
              <a:spLocks noChangeArrowheads="1"/>
            </p:cNvSpPr>
            <p:nvPr/>
          </p:nvSpPr>
          <p:spPr bwMode="auto">
            <a:xfrm>
              <a:off x="8859838" y="3721101"/>
              <a:ext cx="25400" cy="2381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77" name="Oval 117"/>
            <p:cNvSpPr>
              <a:spLocks noChangeArrowheads="1"/>
            </p:cNvSpPr>
            <p:nvPr/>
          </p:nvSpPr>
          <p:spPr bwMode="auto">
            <a:xfrm>
              <a:off x="8897938" y="3721101"/>
              <a:ext cx="25400" cy="2381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578" name="组合 577"/>
          <p:cNvGrpSpPr/>
          <p:nvPr/>
        </p:nvGrpSpPr>
        <p:grpSpPr>
          <a:xfrm rot="0">
            <a:off x="6482080" y="4484370"/>
            <a:ext cx="194310" cy="220345"/>
            <a:chOff x="4462463" y="1782763"/>
            <a:chExt cx="252413" cy="254000"/>
          </a:xfrm>
          <a:gradFill>
            <a:gsLst>
              <a:gs pos="0">
                <a:schemeClr val="accent5"/>
              </a:gs>
              <a:gs pos="100000">
                <a:schemeClr val="accent5">
                  <a:lumMod val="60000"/>
                  <a:lumOff val="40000"/>
                </a:schemeClr>
              </a:gs>
            </a:gsLst>
            <a:lin ang="5400000" scaled="0"/>
          </a:gradFill>
        </p:grpSpPr>
        <p:sp>
          <p:nvSpPr>
            <p:cNvPr id="579" name="Freeform 50"/>
            <p:cNvSpPr>
              <a:spLocks noEditPoints="1"/>
            </p:cNvSpPr>
            <p:nvPr/>
          </p:nvSpPr>
          <p:spPr bwMode="auto">
            <a:xfrm>
              <a:off x="4462463" y="1782763"/>
              <a:ext cx="203200" cy="254000"/>
            </a:xfrm>
            <a:custGeom>
              <a:avLst/>
              <a:gdLst>
                <a:gd name="T0" fmla="*/ 40 w 64"/>
                <a:gd name="T1" fmla="*/ 72 h 80"/>
                <a:gd name="T2" fmla="*/ 8 w 64"/>
                <a:gd name="T3" fmla="*/ 72 h 80"/>
                <a:gd name="T4" fmla="*/ 8 w 64"/>
                <a:gd name="T5" fmla="*/ 68 h 80"/>
                <a:gd name="T6" fmla="*/ 40 w 64"/>
                <a:gd name="T7" fmla="*/ 68 h 80"/>
                <a:gd name="T8" fmla="*/ 40 w 64"/>
                <a:gd name="T9" fmla="*/ 60 h 80"/>
                <a:gd name="T10" fmla="*/ 8 w 64"/>
                <a:gd name="T11" fmla="*/ 60 h 80"/>
                <a:gd name="T12" fmla="*/ 8 w 64"/>
                <a:gd name="T13" fmla="*/ 20 h 80"/>
                <a:gd name="T14" fmla="*/ 56 w 64"/>
                <a:gd name="T15" fmla="*/ 20 h 80"/>
                <a:gd name="T16" fmla="*/ 56 w 64"/>
                <a:gd name="T17" fmla="*/ 24 h 80"/>
                <a:gd name="T18" fmla="*/ 64 w 64"/>
                <a:gd name="T19" fmla="*/ 24 h 80"/>
                <a:gd name="T20" fmla="*/ 64 w 64"/>
                <a:gd name="T21" fmla="*/ 8 h 80"/>
                <a:gd name="T22" fmla="*/ 56 w 64"/>
                <a:gd name="T23" fmla="*/ 0 h 80"/>
                <a:gd name="T24" fmla="*/ 8 w 64"/>
                <a:gd name="T25" fmla="*/ 0 h 80"/>
                <a:gd name="T26" fmla="*/ 0 w 64"/>
                <a:gd name="T27" fmla="*/ 8 h 80"/>
                <a:gd name="T28" fmla="*/ 0 w 64"/>
                <a:gd name="T29" fmla="*/ 72 h 80"/>
                <a:gd name="T30" fmla="*/ 8 w 64"/>
                <a:gd name="T31" fmla="*/ 80 h 80"/>
                <a:gd name="T32" fmla="*/ 40 w 64"/>
                <a:gd name="T33" fmla="*/ 80 h 80"/>
                <a:gd name="T34" fmla="*/ 40 w 64"/>
                <a:gd name="T35" fmla="*/ 72 h 80"/>
                <a:gd name="T36" fmla="*/ 8 w 64"/>
                <a:gd name="T37" fmla="*/ 8 h 80"/>
                <a:gd name="T38" fmla="*/ 56 w 64"/>
                <a:gd name="T39" fmla="*/ 8 h 80"/>
                <a:gd name="T40" fmla="*/ 56 w 64"/>
                <a:gd name="T41" fmla="*/ 12 h 80"/>
                <a:gd name="T42" fmla="*/ 8 w 64"/>
                <a:gd name="T43" fmla="*/ 12 h 80"/>
                <a:gd name="T44" fmla="*/ 8 w 64"/>
                <a:gd name="T45" fmla="*/ 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 h="80">
                  <a:moveTo>
                    <a:pt x="40" y="72"/>
                  </a:moveTo>
                  <a:cubicBezTo>
                    <a:pt x="8" y="72"/>
                    <a:pt x="8" y="72"/>
                    <a:pt x="8" y="72"/>
                  </a:cubicBezTo>
                  <a:cubicBezTo>
                    <a:pt x="8" y="68"/>
                    <a:pt x="8" y="68"/>
                    <a:pt x="8" y="68"/>
                  </a:cubicBezTo>
                  <a:cubicBezTo>
                    <a:pt x="40" y="68"/>
                    <a:pt x="40" y="68"/>
                    <a:pt x="40" y="68"/>
                  </a:cubicBezTo>
                  <a:cubicBezTo>
                    <a:pt x="40" y="60"/>
                    <a:pt x="40" y="60"/>
                    <a:pt x="40" y="60"/>
                  </a:cubicBezTo>
                  <a:cubicBezTo>
                    <a:pt x="8" y="60"/>
                    <a:pt x="8" y="60"/>
                    <a:pt x="8" y="60"/>
                  </a:cubicBezTo>
                  <a:cubicBezTo>
                    <a:pt x="8" y="20"/>
                    <a:pt x="8" y="20"/>
                    <a:pt x="8" y="20"/>
                  </a:cubicBezTo>
                  <a:cubicBezTo>
                    <a:pt x="56" y="20"/>
                    <a:pt x="56" y="20"/>
                    <a:pt x="56" y="20"/>
                  </a:cubicBezTo>
                  <a:cubicBezTo>
                    <a:pt x="56" y="24"/>
                    <a:pt x="56" y="24"/>
                    <a:pt x="56" y="24"/>
                  </a:cubicBezTo>
                  <a:cubicBezTo>
                    <a:pt x="64" y="24"/>
                    <a:pt x="64" y="24"/>
                    <a:pt x="64" y="24"/>
                  </a:cubicBezTo>
                  <a:cubicBezTo>
                    <a:pt x="64" y="8"/>
                    <a:pt x="64" y="8"/>
                    <a:pt x="64" y="8"/>
                  </a:cubicBezTo>
                  <a:cubicBezTo>
                    <a:pt x="64" y="4"/>
                    <a:pt x="60" y="0"/>
                    <a:pt x="56" y="0"/>
                  </a:cubicBezTo>
                  <a:cubicBezTo>
                    <a:pt x="8" y="0"/>
                    <a:pt x="8" y="0"/>
                    <a:pt x="8" y="0"/>
                  </a:cubicBezTo>
                  <a:cubicBezTo>
                    <a:pt x="4" y="0"/>
                    <a:pt x="0" y="4"/>
                    <a:pt x="0" y="8"/>
                  </a:cubicBezTo>
                  <a:cubicBezTo>
                    <a:pt x="0" y="72"/>
                    <a:pt x="0" y="72"/>
                    <a:pt x="0" y="72"/>
                  </a:cubicBezTo>
                  <a:cubicBezTo>
                    <a:pt x="0" y="76"/>
                    <a:pt x="4" y="80"/>
                    <a:pt x="8" y="80"/>
                  </a:cubicBezTo>
                  <a:cubicBezTo>
                    <a:pt x="40" y="80"/>
                    <a:pt x="40" y="80"/>
                    <a:pt x="40" y="80"/>
                  </a:cubicBezTo>
                  <a:lnTo>
                    <a:pt x="40" y="72"/>
                  </a:lnTo>
                  <a:close/>
                  <a:moveTo>
                    <a:pt x="8" y="8"/>
                  </a:moveTo>
                  <a:cubicBezTo>
                    <a:pt x="56" y="8"/>
                    <a:pt x="56" y="8"/>
                    <a:pt x="56" y="8"/>
                  </a:cubicBezTo>
                  <a:cubicBezTo>
                    <a:pt x="56" y="12"/>
                    <a:pt x="56" y="12"/>
                    <a:pt x="56" y="12"/>
                  </a:cubicBezTo>
                  <a:cubicBezTo>
                    <a:pt x="8" y="12"/>
                    <a:pt x="8" y="12"/>
                    <a:pt x="8" y="12"/>
                  </a:cubicBezTo>
                  <a:lnTo>
                    <a:pt x="8"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80" name="Freeform 51"/>
            <p:cNvSpPr>
              <a:spLocks noEditPoints="1"/>
            </p:cNvSpPr>
            <p:nvPr/>
          </p:nvSpPr>
          <p:spPr bwMode="auto">
            <a:xfrm>
              <a:off x="4614863" y="1884363"/>
              <a:ext cx="100013" cy="152400"/>
            </a:xfrm>
            <a:custGeom>
              <a:avLst/>
              <a:gdLst>
                <a:gd name="T0" fmla="*/ 24 w 32"/>
                <a:gd name="T1" fmla="*/ 0 h 48"/>
                <a:gd name="T2" fmla="*/ 8 w 32"/>
                <a:gd name="T3" fmla="*/ 0 h 48"/>
                <a:gd name="T4" fmla="*/ 0 w 32"/>
                <a:gd name="T5" fmla="*/ 8 h 48"/>
                <a:gd name="T6" fmla="*/ 0 w 32"/>
                <a:gd name="T7" fmla="*/ 40 h 48"/>
                <a:gd name="T8" fmla="*/ 8 w 32"/>
                <a:gd name="T9" fmla="*/ 48 h 48"/>
                <a:gd name="T10" fmla="*/ 24 w 32"/>
                <a:gd name="T11" fmla="*/ 48 h 48"/>
                <a:gd name="T12" fmla="*/ 32 w 32"/>
                <a:gd name="T13" fmla="*/ 40 h 48"/>
                <a:gd name="T14" fmla="*/ 32 w 32"/>
                <a:gd name="T15" fmla="*/ 8 h 48"/>
                <a:gd name="T16" fmla="*/ 24 w 32"/>
                <a:gd name="T17" fmla="*/ 0 h 48"/>
                <a:gd name="T18" fmla="*/ 24 w 32"/>
                <a:gd name="T19" fmla="*/ 8 h 48"/>
                <a:gd name="T20" fmla="*/ 24 w 32"/>
                <a:gd name="T21" fmla="*/ 28 h 48"/>
                <a:gd name="T22" fmla="*/ 8 w 32"/>
                <a:gd name="T23" fmla="*/ 28 h 48"/>
                <a:gd name="T24" fmla="*/ 8 w 32"/>
                <a:gd name="T25" fmla="*/ 8 h 48"/>
                <a:gd name="T26" fmla="*/ 24 w 32"/>
                <a:gd name="T27" fmla="*/ 8 h 48"/>
                <a:gd name="T28" fmla="*/ 8 w 32"/>
                <a:gd name="T29" fmla="*/ 40 h 48"/>
                <a:gd name="T30" fmla="*/ 8 w 32"/>
                <a:gd name="T31" fmla="*/ 36 h 48"/>
                <a:gd name="T32" fmla="*/ 24 w 32"/>
                <a:gd name="T33" fmla="*/ 36 h 48"/>
                <a:gd name="T34" fmla="*/ 24 w 32"/>
                <a:gd name="T35" fmla="*/ 40 h 48"/>
                <a:gd name="T36" fmla="*/ 8 w 32"/>
                <a:gd name="T37" fmla="*/ 4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 h="48">
                  <a:moveTo>
                    <a:pt x="24" y="0"/>
                  </a:moveTo>
                  <a:cubicBezTo>
                    <a:pt x="8" y="0"/>
                    <a:pt x="8" y="0"/>
                    <a:pt x="8" y="0"/>
                  </a:cubicBezTo>
                  <a:cubicBezTo>
                    <a:pt x="4" y="0"/>
                    <a:pt x="0" y="4"/>
                    <a:pt x="0" y="8"/>
                  </a:cubicBezTo>
                  <a:cubicBezTo>
                    <a:pt x="0" y="40"/>
                    <a:pt x="0" y="40"/>
                    <a:pt x="0" y="40"/>
                  </a:cubicBezTo>
                  <a:cubicBezTo>
                    <a:pt x="0" y="44"/>
                    <a:pt x="4" y="48"/>
                    <a:pt x="8" y="48"/>
                  </a:cubicBezTo>
                  <a:cubicBezTo>
                    <a:pt x="24" y="48"/>
                    <a:pt x="24" y="48"/>
                    <a:pt x="24" y="48"/>
                  </a:cubicBezTo>
                  <a:cubicBezTo>
                    <a:pt x="28" y="48"/>
                    <a:pt x="32" y="44"/>
                    <a:pt x="32" y="40"/>
                  </a:cubicBezTo>
                  <a:cubicBezTo>
                    <a:pt x="32" y="8"/>
                    <a:pt x="32" y="8"/>
                    <a:pt x="32" y="8"/>
                  </a:cubicBezTo>
                  <a:cubicBezTo>
                    <a:pt x="32" y="4"/>
                    <a:pt x="28" y="0"/>
                    <a:pt x="24" y="0"/>
                  </a:cubicBezTo>
                  <a:close/>
                  <a:moveTo>
                    <a:pt x="24" y="8"/>
                  </a:moveTo>
                  <a:cubicBezTo>
                    <a:pt x="24" y="28"/>
                    <a:pt x="24" y="28"/>
                    <a:pt x="24" y="28"/>
                  </a:cubicBezTo>
                  <a:cubicBezTo>
                    <a:pt x="8" y="28"/>
                    <a:pt x="8" y="28"/>
                    <a:pt x="8" y="28"/>
                  </a:cubicBezTo>
                  <a:cubicBezTo>
                    <a:pt x="8" y="8"/>
                    <a:pt x="8" y="8"/>
                    <a:pt x="8" y="8"/>
                  </a:cubicBezTo>
                  <a:lnTo>
                    <a:pt x="24" y="8"/>
                  </a:lnTo>
                  <a:close/>
                  <a:moveTo>
                    <a:pt x="8" y="40"/>
                  </a:moveTo>
                  <a:cubicBezTo>
                    <a:pt x="8" y="36"/>
                    <a:pt x="8" y="36"/>
                    <a:pt x="8" y="36"/>
                  </a:cubicBezTo>
                  <a:cubicBezTo>
                    <a:pt x="24" y="36"/>
                    <a:pt x="24" y="36"/>
                    <a:pt x="24" y="36"/>
                  </a:cubicBezTo>
                  <a:cubicBezTo>
                    <a:pt x="24" y="40"/>
                    <a:pt x="24" y="40"/>
                    <a:pt x="24" y="40"/>
                  </a:cubicBezTo>
                  <a:lnTo>
                    <a:pt x="8" y="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581" name="组合 580"/>
          <p:cNvGrpSpPr/>
          <p:nvPr/>
        </p:nvGrpSpPr>
        <p:grpSpPr>
          <a:xfrm rot="0">
            <a:off x="4400868" y="4470400"/>
            <a:ext cx="217805" cy="222885"/>
            <a:chOff x="5046663" y="3884613"/>
            <a:chExt cx="279400" cy="304800"/>
          </a:xfrm>
          <a:gradFill>
            <a:gsLst>
              <a:gs pos="0">
                <a:schemeClr val="accent5"/>
              </a:gs>
              <a:gs pos="100000">
                <a:schemeClr val="accent5">
                  <a:lumMod val="60000"/>
                  <a:lumOff val="40000"/>
                </a:schemeClr>
              </a:gs>
            </a:gsLst>
            <a:lin ang="5400000" scaled="0"/>
          </a:gradFill>
        </p:grpSpPr>
        <p:sp>
          <p:nvSpPr>
            <p:cNvPr id="583" name="Freeform 18"/>
            <p:cNvSpPr>
              <a:spLocks noEditPoints="1"/>
            </p:cNvSpPr>
            <p:nvPr/>
          </p:nvSpPr>
          <p:spPr bwMode="auto">
            <a:xfrm>
              <a:off x="5046663" y="3884613"/>
              <a:ext cx="127000" cy="139700"/>
            </a:xfrm>
            <a:custGeom>
              <a:avLst/>
              <a:gdLst>
                <a:gd name="T0" fmla="*/ 32 w 40"/>
                <a:gd name="T1" fmla="*/ 0 h 44"/>
                <a:gd name="T2" fmla="*/ 8 w 40"/>
                <a:gd name="T3" fmla="*/ 0 h 44"/>
                <a:gd name="T4" fmla="*/ 0 w 40"/>
                <a:gd name="T5" fmla="*/ 8 h 44"/>
                <a:gd name="T6" fmla="*/ 0 w 40"/>
                <a:gd name="T7" fmla="*/ 36 h 44"/>
                <a:gd name="T8" fmla="*/ 8 w 40"/>
                <a:gd name="T9" fmla="*/ 44 h 44"/>
                <a:gd name="T10" fmla="*/ 32 w 40"/>
                <a:gd name="T11" fmla="*/ 44 h 44"/>
                <a:gd name="T12" fmla="*/ 40 w 40"/>
                <a:gd name="T13" fmla="*/ 36 h 44"/>
                <a:gd name="T14" fmla="*/ 40 w 40"/>
                <a:gd name="T15" fmla="*/ 8 h 44"/>
                <a:gd name="T16" fmla="*/ 32 w 40"/>
                <a:gd name="T17" fmla="*/ 0 h 44"/>
                <a:gd name="T18" fmla="*/ 8 w 40"/>
                <a:gd name="T19" fmla="*/ 36 h 44"/>
                <a:gd name="T20" fmla="*/ 8 w 40"/>
                <a:gd name="T21" fmla="*/ 8 h 44"/>
                <a:gd name="T22" fmla="*/ 24 w 40"/>
                <a:gd name="T23" fmla="*/ 8 h 44"/>
                <a:gd name="T24" fmla="*/ 24 w 40"/>
                <a:gd name="T25" fmla="*/ 16 h 44"/>
                <a:gd name="T26" fmla="*/ 32 w 40"/>
                <a:gd name="T27" fmla="*/ 16 h 44"/>
                <a:gd name="T28" fmla="*/ 32 w 40"/>
                <a:gd name="T29" fmla="*/ 36 h 44"/>
                <a:gd name="T30" fmla="*/ 8 w 40"/>
                <a:gd name="T31" fmla="*/ 36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 h="44">
                  <a:moveTo>
                    <a:pt x="32" y="0"/>
                  </a:moveTo>
                  <a:cubicBezTo>
                    <a:pt x="8" y="0"/>
                    <a:pt x="8" y="0"/>
                    <a:pt x="8" y="0"/>
                  </a:cubicBezTo>
                  <a:cubicBezTo>
                    <a:pt x="4" y="0"/>
                    <a:pt x="0" y="4"/>
                    <a:pt x="0" y="8"/>
                  </a:cubicBezTo>
                  <a:cubicBezTo>
                    <a:pt x="0" y="36"/>
                    <a:pt x="0" y="36"/>
                    <a:pt x="0" y="36"/>
                  </a:cubicBezTo>
                  <a:cubicBezTo>
                    <a:pt x="0" y="40"/>
                    <a:pt x="4" y="44"/>
                    <a:pt x="8" y="44"/>
                  </a:cubicBezTo>
                  <a:cubicBezTo>
                    <a:pt x="32" y="44"/>
                    <a:pt x="32" y="44"/>
                    <a:pt x="32" y="44"/>
                  </a:cubicBezTo>
                  <a:cubicBezTo>
                    <a:pt x="36" y="44"/>
                    <a:pt x="40" y="40"/>
                    <a:pt x="40" y="36"/>
                  </a:cubicBezTo>
                  <a:cubicBezTo>
                    <a:pt x="40" y="8"/>
                    <a:pt x="40" y="8"/>
                    <a:pt x="40" y="8"/>
                  </a:cubicBezTo>
                  <a:cubicBezTo>
                    <a:pt x="40" y="4"/>
                    <a:pt x="36" y="0"/>
                    <a:pt x="32" y="0"/>
                  </a:cubicBezTo>
                  <a:close/>
                  <a:moveTo>
                    <a:pt x="8" y="36"/>
                  </a:moveTo>
                  <a:cubicBezTo>
                    <a:pt x="8" y="8"/>
                    <a:pt x="8" y="8"/>
                    <a:pt x="8" y="8"/>
                  </a:cubicBezTo>
                  <a:cubicBezTo>
                    <a:pt x="24" y="8"/>
                    <a:pt x="24" y="8"/>
                    <a:pt x="24" y="8"/>
                  </a:cubicBezTo>
                  <a:cubicBezTo>
                    <a:pt x="24" y="16"/>
                    <a:pt x="24" y="16"/>
                    <a:pt x="24" y="16"/>
                  </a:cubicBezTo>
                  <a:cubicBezTo>
                    <a:pt x="32" y="16"/>
                    <a:pt x="32" y="16"/>
                    <a:pt x="32" y="16"/>
                  </a:cubicBezTo>
                  <a:cubicBezTo>
                    <a:pt x="32" y="36"/>
                    <a:pt x="32" y="36"/>
                    <a:pt x="32" y="36"/>
                  </a:cubicBezTo>
                  <a:lnTo>
                    <a:pt x="8"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84" name="Freeform 19"/>
            <p:cNvSpPr>
              <a:spLocks noEditPoints="1"/>
            </p:cNvSpPr>
            <p:nvPr/>
          </p:nvSpPr>
          <p:spPr bwMode="auto">
            <a:xfrm>
              <a:off x="5199063" y="3884613"/>
              <a:ext cx="127000" cy="139700"/>
            </a:xfrm>
            <a:custGeom>
              <a:avLst/>
              <a:gdLst>
                <a:gd name="T0" fmla="*/ 32 w 40"/>
                <a:gd name="T1" fmla="*/ 0 h 44"/>
                <a:gd name="T2" fmla="*/ 8 w 40"/>
                <a:gd name="T3" fmla="*/ 0 h 44"/>
                <a:gd name="T4" fmla="*/ 0 w 40"/>
                <a:gd name="T5" fmla="*/ 8 h 44"/>
                <a:gd name="T6" fmla="*/ 0 w 40"/>
                <a:gd name="T7" fmla="*/ 36 h 44"/>
                <a:gd name="T8" fmla="*/ 8 w 40"/>
                <a:gd name="T9" fmla="*/ 44 h 44"/>
                <a:gd name="T10" fmla="*/ 32 w 40"/>
                <a:gd name="T11" fmla="*/ 44 h 44"/>
                <a:gd name="T12" fmla="*/ 40 w 40"/>
                <a:gd name="T13" fmla="*/ 36 h 44"/>
                <a:gd name="T14" fmla="*/ 40 w 40"/>
                <a:gd name="T15" fmla="*/ 8 h 44"/>
                <a:gd name="T16" fmla="*/ 32 w 40"/>
                <a:gd name="T17" fmla="*/ 0 h 44"/>
                <a:gd name="T18" fmla="*/ 8 w 40"/>
                <a:gd name="T19" fmla="*/ 36 h 44"/>
                <a:gd name="T20" fmla="*/ 8 w 40"/>
                <a:gd name="T21" fmla="*/ 8 h 44"/>
                <a:gd name="T22" fmla="*/ 24 w 40"/>
                <a:gd name="T23" fmla="*/ 8 h 44"/>
                <a:gd name="T24" fmla="*/ 24 w 40"/>
                <a:gd name="T25" fmla="*/ 16 h 44"/>
                <a:gd name="T26" fmla="*/ 32 w 40"/>
                <a:gd name="T27" fmla="*/ 16 h 44"/>
                <a:gd name="T28" fmla="*/ 32 w 40"/>
                <a:gd name="T29" fmla="*/ 36 h 44"/>
                <a:gd name="T30" fmla="*/ 8 w 40"/>
                <a:gd name="T31" fmla="*/ 36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 h="44">
                  <a:moveTo>
                    <a:pt x="32" y="0"/>
                  </a:moveTo>
                  <a:cubicBezTo>
                    <a:pt x="8" y="0"/>
                    <a:pt x="8" y="0"/>
                    <a:pt x="8" y="0"/>
                  </a:cubicBezTo>
                  <a:cubicBezTo>
                    <a:pt x="4" y="0"/>
                    <a:pt x="0" y="4"/>
                    <a:pt x="0" y="8"/>
                  </a:cubicBezTo>
                  <a:cubicBezTo>
                    <a:pt x="0" y="36"/>
                    <a:pt x="0" y="36"/>
                    <a:pt x="0" y="36"/>
                  </a:cubicBezTo>
                  <a:cubicBezTo>
                    <a:pt x="0" y="40"/>
                    <a:pt x="4" y="44"/>
                    <a:pt x="8" y="44"/>
                  </a:cubicBezTo>
                  <a:cubicBezTo>
                    <a:pt x="32" y="44"/>
                    <a:pt x="32" y="44"/>
                    <a:pt x="32" y="44"/>
                  </a:cubicBezTo>
                  <a:cubicBezTo>
                    <a:pt x="36" y="44"/>
                    <a:pt x="40" y="40"/>
                    <a:pt x="40" y="36"/>
                  </a:cubicBezTo>
                  <a:cubicBezTo>
                    <a:pt x="40" y="8"/>
                    <a:pt x="40" y="8"/>
                    <a:pt x="40" y="8"/>
                  </a:cubicBezTo>
                  <a:cubicBezTo>
                    <a:pt x="40" y="4"/>
                    <a:pt x="36" y="0"/>
                    <a:pt x="32" y="0"/>
                  </a:cubicBezTo>
                  <a:close/>
                  <a:moveTo>
                    <a:pt x="8" y="36"/>
                  </a:moveTo>
                  <a:cubicBezTo>
                    <a:pt x="8" y="8"/>
                    <a:pt x="8" y="8"/>
                    <a:pt x="8" y="8"/>
                  </a:cubicBezTo>
                  <a:cubicBezTo>
                    <a:pt x="24" y="8"/>
                    <a:pt x="24" y="8"/>
                    <a:pt x="24" y="8"/>
                  </a:cubicBezTo>
                  <a:cubicBezTo>
                    <a:pt x="24" y="16"/>
                    <a:pt x="24" y="16"/>
                    <a:pt x="24" y="16"/>
                  </a:cubicBezTo>
                  <a:cubicBezTo>
                    <a:pt x="32" y="16"/>
                    <a:pt x="32" y="16"/>
                    <a:pt x="32" y="16"/>
                  </a:cubicBezTo>
                  <a:cubicBezTo>
                    <a:pt x="32" y="36"/>
                    <a:pt x="32" y="36"/>
                    <a:pt x="32" y="36"/>
                  </a:cubicBezTo>
                  <a:lnTo>
                    <a:pt x="8"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85" name="Freeform 20"/>
            <p:cNvSpPr>
              <a:spLocks noEditPoints="1"/>
            </p:cNvSpPr>
            <p:nvPr/>
          </p:nvSpPr>
          <p:spPr bwMode="auto">
            <a:xfrm>
              <a:off x="5046663" y="4049713"/>
              <a:ext cx="127000" cy="139700"/>
            </a:xfrm>
            <a:custGeom>
              <a:avLst/>
              <a:gdLst>
                <a:gd name="T0" fmla="*/ 32 w 40"/>
                <a:gd name="T1" fmla="*/ 0 h 44"/>
                <a:gd name="T2" fmla="*/ 8 w 40"/>
                <a:gd name="T3" fmla="*/ 0 h 44"/>
                <a:gd name="T4" fmla="*/ 0 w 40"/>
                <a:gd name="T5" fmla="*/ 8 h 44"/>
                <a:gd name="T6" fmla="*/ 0 w 40"/>
                <a:gd name="T7" fmla="*/ 36 h 44"/>
                <a:gd name="T8" fmla="*/ 8 w 40"/>
                <a:gd name="T9" fmla="*/ 44 h 44"/>
                <a:gd name="T10" fmla="*/ 32 w 40"/>
                <a:gd name="T11" fmla="*/ 44 h 44"/>
                <a:gd name="T12" fmla="*/ 40 w 40"/>
                <a:gd name="T13" fmla="*/ 36 h 44"/>
                <a:gd name="T14" fmla="*/ 40 w 40"/>
                <a:gd name="T15" fmla="*/ 8 h 44"/>
                <a:gd name="T16" fmla="*/ 32 w 40"/>
                <a:gd name="T17" fmla="*/ 0 h 44"/>
                <a:gd name="T18" fmla="*/ 8 w 40"/>
                <a:gd name="T19" fmla="*/ 36 h 44"/>
                <a:gd name="T20" fmla="*/ 8 w 40"/>
                <a:gd name="T21" fmla="*/ 8 h 44"/>
                <a:gd name="T22" fmla="*/ 24 w 40"/>
                <a:gd name="T23" fmla="*/ 8 h 44"/>
                <a:gd name="T24" fmla="*/ 24 w 40"/>
                <a:gd name="T25" fmla="*/ 16 h 44"/>
                <a:gd name="T26" fmla="*/ 32 w 40"/>
                <a:gd name="T27" fmla="*/ 16 h 44"/>
                <a:gd name="T28" fmla="*/ 32 w 40"/>
                <a:gd name="T29" fmla="*/ 36 h 44"/>
                <a:gd name="T30" fmla="*/ 8 w 40"/>
                <a:gd name="T31" fmla="*/ 36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 h="44">
                  <a:moveTo>
                    <a:pt x="32" y="0"/>
                  </a:moveTo>
                  <a:cubicBezTo>
                    <a:pt x="8" y="0"/>
                    <a:pt x="8" y="0"/>
                    <a:pt x="8" y="0"/>
                  </a:cubicBezTo>
                  <a:cubicBezTo>
                    <a:pt x="4" y="0"/>
                    <a:pt x="0" y="4"/>
                    <a:pt x="0" y="8"/>
                  </a:cubicBezTo>
                  <a:cubicBezTo>
                    <a:pt x="0" y="36"/>
                    <a:pt x="0" y="36"/>
                    <a:pt x="0" y="36"/>
                  </a:cubicBezTo>
                  <a:cubicBezTo>
                    <a:pt x="0" y="40"/>
                    <a:pt x="4" y="44"/>
                    <a:pt x="8" y="44"/>
                  </a:cubicBezTo>
                  <a:cubicBezTo>
                    <a:pt x="32" y="44"/>
                    <a:pt x="32" y="44"/>
                    <a:pt x="32" y="44"/>
                  </a:cubicBezTo>
                  <a:cubicBezTo>
                    <a:pt x="36" y="44"/>
                    <a:pt x="40" y="40"/>
                    <a:pt x="40" y="36"/>
                  </a:cubicBezTo>
                  <a:cubicBezTo>
                    <a:pt x="40" y="8"/>
                    <a:pt x="40" y="8"/>
                    <a:pt x="40" y="8"/>
                  </a:cubicBezTo>
                  <a:cubicBezTo>
                    <a:pt x="40" y="4"/>
                    <a:pt x="36" y="0"/>
                    <a:pt x="32" y="0"/>
                  </a:cubicBezTo>
                  <a:close/>
                  <a:moveTo>
                    <a:pt x="8" y="36"/>
                  </a:moveTo>
                  <a:cubicBezTo>
                    <a:pt x="8" y="8"/>
                    <a:pt x="8" y="8"/>
                    <a:pt x="8" y="8"/>
                  </a:cubicBezTo>
                  <a:cubicBezTo>
                    <a:pt x="24" y="8"/>
                    <a:pt x="24" y="8"/>
                    <a:pt x="24" y="8"/>
                  </a:cubicBezTo>
                  <a:cubicBezTo>
                    <a:pt x="24" y="16"/>
                    <a:pt x="24" y="16"/>
                    <a:pt x="24" y="16"/>
                  </a:cubicBezTo>
                  <a:cubicBezTo>
                    <a:pt x="32" y="16"/>
                    <a:pt x="32" y="16"/>
                    <a:pt x="32" y="16"/>
                  </a:cubicBezTo>
                  <a:cubicBezTo>
                    <a:pt x="32" y="36"/>
                    <a:pt x="32" y="36"/>
                    <a:pt x="32" y="36"/>
                  </a:cubicBezTo>
                  <a:lnTo>
                    <a:pt x="8"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86" name="Freeform 21"/>
            <p:cNvSpPr>
              <a:spLocks noEditPoints="1"/>
            </p:cNvSpPr>
            <p:nvPr/>
          </p:nvSpPr>
          <p:spPr bwMode="auto">
            <a:xfrm>
              <a:off x="5199063" y="4049713"/>
              <a:ext cx="127000" cy="139700"/>
            </a:xfrm>
            <a:custGeom>
              <a:avLst/>
              <a:gdLst>
                <a:gd name="T0" fmla="*/ 32 w 40"/>
                <a:gd name="T1" fmla="*/ 0 h 44"/>
                <a:gd name="T2" fmla="*/ 8 w 40"/>
                <a:gd name="T3" fmla="*/ 0 h 44"/>
                <a:gd name="T4" fmla="*/ 0 w 40"/>
                <a:gd name="T5" fmla="*/ 8 h 44"/>
                <a:gd name="T6" fmla="*/ 0 w 40"/>
                <a:gd name="T7" fmla="*/ 36 h 44"/>
                <a:gd name="T8" fmla="*/ 8 w 40"/>
                <a:gd name="T9" fmla="*/ 44 h 44"/>
                <a:gd name="T10" fmla="*/ 32 w 40"/>
                <a:gd name="T11" fmla="*/ 44 h 44"/>
                <a:gd name="T12" fmla="*/ 40 w 40"/>
                <a:gd name="T13" fmla="*/ 36 h 44"/>
                <a:gd name="T14" fmla="*/ 40 w 40"/>
                <a:gd name="T15" fmla="*/ 8 h 44"/>
                <a:gd name="T16" fmla="*/ 32 w 40"/>
                <a:gd name="T17" fmla="*/ 0 h 44"/>
                <a:gd name="T18" fmla="*/ 8 w 40"/>
                <a:gd name="T19" fmla="*/ 36 h 44"/>
                <a:gd name="T20" fmla="*/ 8 w 40"/>
                <a:gd name="T21" fmla="*/ 8 h 44"/>
                <a:gd name="T22" fmla="*/ 24 w 40"/>
                <a:gd name="T23" fmla="*/ 8 h 44"/>
                <a:gd name="T24" fmla="*/ 24 w 40"/>
                <a:gd name="T25" fmla="*/ 16 h 44"/>
                <a:gd name="T26" fmla="*/ 32 w 40"/>
                <a:gd name="T27" fmla="*/ 16 h 44"/>
                <a:gd name="T28" fmla="*/ 32 w 40"/>
                <a:gd name="T29" fmla="*/ 36 h 44"/>
                <a:gd name="T30" fmla="*/ 8 w 40"/>
                <a:gd name="T31" fmla="*/ 36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 h="44">
                  <a:moveTo>
                    <a:pt x="32" y="0"/>
                  </a:moveTo>
                  <a:cubicBezTo>
                    <a:pt x="8" y="0"/>
                    <a:pt x="8" y="0"/>
                    <a:pt x="8" y="0"/>
                  </a:cubicBezTo>
                  <a:cubicBezTo>
                    <a:pt x="4" y="0"/>
                    <a:pt x="0" y="4"/>
                    <a:pt x="0" y="8"/>
                  </a:cubicBezTo>
                  <a:cubicBezTo>
                    <a:pt x="0" y="36"/>
                    <a:pt x="0" y="36"/>
                    <a:pt x="0" y="36"/>
                  </a:cubicBezTo>
                  <a:cubicBezTo>
                    <a:pt x="0" y="40"/>
                    <a:pt x="4" y="44"/>
                    <a:pt x="8" y="44"/>
                  </a:cubicBezTo>
                  <a:cubicBezTo>
                    <a:pt x="32" y="44"/>
                    <a:pt x="32" y="44"/>
                    <a:pt x="32" y="44"/>
                  </a:cubicBezTo>
                  <a:cubicBezTo>
                    <a:pt x="36" y="44"/>
                    <a:pt x="40" y="40"/>
                    <a:pt x="40" y="36"/>
                  </a:cubicBezTo>
                  <a:cubicBezTo>
                    <a:pt x="40" y="8"/>
                    <a:pt x="40" y="8"/>
                    <a:pt x="40" y="8"/>
                  </a:cubicBezTo>
                  <a:cubicBezTo>
                    <a:pt x="40" y="4"/>
                    <a:pt x="36" y="0"/>
                    <a:pt x="32" y="0"/>
                  </a:cubicBezTo>
                  <a:close/>
                  <a:moveTo>
                    <a:pt x="8" y="36"/>
                  </a:moveTo>
                  <a:cubicBezTo>
                    <a:pt x="8" y="8"/>
                    <a:pt x="8" y="8"/>
                    <a:pt x="8" y="8"/>
                  </a:cubicBezTo>
                  <a:cubicBezTo>
                    <a:pt x="24" y="8"/>
                    <a:pt x="24" y="8"/>
                    <a:pt x="24" y="8"/>
                  </a:cubicBezTo>
                  <a:cubicBezTo>
                    <a:pt x="24" y="16"/>
                    <a:pt x="24" y="16"/>
                    <a:pt x="24" y="16"/>
                  </a:cubicBezTo>
                  <a:cubicBezTo>
                    <a:pt x="32" y="16"/>
                    <a:pt x="32" y="16"/>
                    <a:pt x="32" y="16"/>
                  </a:cubicBezTo>
                  <a:cubicBezTo>
                    <a:pt x="32" y="36"/>
                    <a:pt x="32" y="36"/>
                    <a:pt x="32" y="36"/>
                  </a:cubicBezTo>
                  <a:lnTo>
                    <a:pt x="8"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grpSp>
      <p:sp>
        <p:nvSpPr>
          <p:cNvPr id="588" name="任意多边形: 形状 35"/>
          <p:cNvSpPr>
            <a:spLocks noEditPoints="1"/>
          </p:cNvSpPr>
          <p:nvPr/>
        </p:nvSpPr>
        <p:spPr bwMode="auto">
          <a:xfrm flipH="1">
            <a:off x="5423535" y="2370455"/>
            <a:ext cx="1280160" cy="1278890"/>
          </a:xfrm>
          <a:custGeom>
            <a:avLst/>
            <a:gdLst>
              <a:gd name="T0" fmla="*/ 5154 w 11157"/>
              <a:gd name="T1" fmla="*/ 11094 h 11157"/>
              <a:gd name="T2" fmla="*/ 6017 w 11157"/>
              <a:gd name="T3" fmla="*/ 11093 h 11157"/>
              <a:gd name="T4" fmla="*/ 6299 w 11157"/>
              <a:gd name="T5" fmla="*/ 11064 h 11157"/>
              <a:gd name="T6" fmla="*/ 4454 w 11157"/>
              <a:gd name="T7" fmla="*/ 10948 h 11157"/>
              <a:gd name="T8" fmla="*/ 4087 w 11157"/>
              <a:gd name="T9" fmla="*/ 10953 h 11157"/>
              <a:gd name="T10" fmla="*/ 7084 w 11157"/>
              <a:gd name="T11" fmla="*/ 10855 h 11157"/>
              <a:gd name="T12" fmla="*/ 7443 w 11157"/>
              <a:gd name="T13" fmla="*/ 10834 h 11157"/>
              <a:gd name="T14" fmla="*/ 7793 w 11157"/>
              <a:gd name="T15" fmla="*/ 10600 h 11157"/>
              <a:gd name="T16" fmla="*/ 3077 w 11157"/>
              <a:gd name="T17" fmla="*/ 10511 h 11157"/>
              <a:gd name="T18" fmla="*/ 2665 w 11157"/>
              <a:gd name="T19" fmla="*/ 10279 h 11157"/>
              <a:gd name="T20" fmla="*/ 8502 w 11157"/>
              <a:gd name="T21" fmla="*/ 10273 h 11157"/>
              <a:gd name="T22" fmla="*/ 8738 w 11157"/>
              <a:gd name="T23" fmla="*/ 10117 h 11157"/>
              <a:gd name="T24" fmla="*/ 2089 w 11157"/>
              <a:gd name="T25" fmla="*/ 9820 h 11157"/>
              <a:gd name="T26" fmla="*/ 1773 w 11157"/>
              <a:gd name="T27" fmla="*/ 9654 h 11157"/>
              <a:gd name="T28" fmla="*/ 9360 w 11157"/>
              <a:gd name="T29" fmla="*/ 9565 h 11157"/>
              <a:gd name="T30" fmla="*/ 9627 w 11157"/>
              <a:gd name="T31" fmla="*/ 9392 h 11157"/>
              <a:gd name="T32" fmla="*/ 1290 w 11157"/>
              <a:gd name="T33" fmla="*/ 9021 h 11157"/>
              <a:gd name="T34" fmla="*/ 1062 w 11157"/>
              <a:gd name="T35" fmla="*/ 8815 h 11157"/>
              <a:gd name="T36" fmla="*/ 854 w 11157"/>
              <a:gd name="T37" fmla="*/ 8405 h 11157"/>
              <a:gd name="T38" fmla="*/ 10350 w 11157"/>
              <a:gd name="T39" fmla="*/ 8467 h 11157"/>
              <a:gd name="T40" fmla="*/ 10452 w 11157"/>
              <a:gd name="T41" fmla="*/ 8091 h 11157"/>
              <a:gd name="T42" fmla="*/ 549 w 11157"/>
              <a:gd name="T43" fmla="*/ 7765 h 11157"/>
              <a:gd name="T44" fmla="*/ 323 w 11157"/>
              <a:gd name="T45" fmla="*/ 7449 h 11157"/>
              <a:gd name="T46" fmla="*/ 10795 w 11157"/>
              <a:gd name="T47" fmla="*/ 7373 h 11157"/>
              <a:gd name="T48" fmla="*/ 10909 w 11157"/>
              <a:gd name="T49" fmla="*/ 7107 h 11157"/>
              <a:gd name="T50" fmla="*/ 10997 w 11157"/>
              <a:gd name="T51" fmla="*/ 6646 h 11157"/>
              <a:gd name="T52" fmla="*/ 105 w 11157"/>
              <a:gd name="T53" fmla="*/ 6381 h 11157"/>
              <a:gd name="T54" fmla="*/ 57 w 11157"/>
              <a:gd name="T55" fmla="*/ 5912 h 11157"/>
              <a:gd name="T56" fmla="*/ 11101 w 11157"/>
              <a:gd name="T57" fmla="*/ 5898 h 11157"/>
              <a:gd name="T58" fmla="*/ 11157 w 11157"/>
              <a:gd name="T59" fmla="*/ 5568 h 11157"/>
              <a:gd name="T60" fmla="*/ 11049 w 11157"/>
              <a:gd name="T61" fmla="*/ 5194 h 11157"/>
              <a:gd name="T62" fmla="*/ 104 w 11157"/>
              <a:gd name="T63" fmla="*/ 4782 h 11157"/>
              <a:gd name="T64" fmla="*/ 152 w 11157"/>
              <a:gd name="T65" fmla="*/ 4503 h 11157"/>
              <a:gd name="T66" fmla="*/ 10993 w 11157"/>
              <a:gd name="T67" fmla="*/ 4396 h 11157"/>
              <a:gd name="T68" fmla="*/ 10858 w 11157"/>
              <a:gd name="T69" fmla="*/ 4090 h 11157"/>
              <a:gd name="T70" fmla="*/ 365 w 11157"/>
              <a:gd name="T71" fmla="*/ 3683 h 11157"/>
              <a:gd name="T72" fmla="*/ 503 w 11157"/>
              <a:gd name="T73" fmla="*/ 3426 h 11157"/>
              <a:gd name="T74" fmla="*/ 666 w 11157"/>
              <a:gd name="T75" fmla="*/ 2991 h 11157"/>
              <a:gd name="T76" fmla="*/ 10508 w 11157"/>
              <a:gd name="T77" fmla="*/ 3069 h 11157"/>
              <a:gd name="T78" fmla="*/ 10275 w 11157"/>
              <a:gd name="T79" fmla="*/ 2658 h 11157"/>
              <a:gd name="T80" fmla="*/ 1086 w 11157"/>
              <a:gd name="T81" fmla="*/ 2354 h 11157"/>
              <a:gd name="T82" fmla="*/ 1257 w 11157"/>
              <a:gd name="T83" fmla="*/ 2129 h 11157"/>
              <a:gd name="T84" fmla="*/ 9863 w 11157"/>
              <a:gd name="T85" fmla="*/ 2036 h 11157"/>
              <a:gd name="T86" fmla="*/ 9615 w 11157"/>
              <a:gd name="T87" fmla="*/ 1847 h 11157"/>
              <a:gd name="T88" fmla="*/ 9347 w 11157"/>
              <a:gd name="T89" fmla="*/ 1486 h 11157"/>
              <a:gd name="T90" fmla="*/ 2086 w 11157"/>
              <a:gd name="T91" fmla="*/ 1339 h 11157"/>
              <a:gd name="T92" fmla="*/ 2387 w 11157"/>
              <a:gd name="T93" fmla="*/ 1016 h 11157"/>
              <a:gd name="T94" fmla="*/ 8800 w 11157"/>
              <a:gd name="T95" fmla="*/ 1084 h 11157"/>
              <a:gd name="T96" fmla="*/ 8405 w 11157"/>
              <a:gd name="T97" fmla="*/ 825 h 11157"/>
              <a:gd name="T98" fmla="*/ 3052 w 11157"/>
              <a:gd name="T99" fmla="*/ 712 h 11157"/>
              <a:gd name="T100" fmla="*/ 3370 w 11157"/>
              <a:gd name="T101" fmla="*/ 460 h 11157"/>
              <a:gd name="T102" fmla="*/ 7819 w 11157"/>
              <a:gd name="T103" fmla="*/ 521 h 11157"/>
              <a:gd name="T104" fmla="*/ 7379 w 11157"/>
              <a:gd name="T105" fmla="*/ 348 h 11157"/>
              <a:gd name="T106" fmla="*/ 4093 w 11157"/>
              <a:gd name="T107" fmla="*/ 299 h 11157"/>
              <a:gd name="T108" fmla="*/ 4437 w 11157"/>
              <a:gd name="T109" fmla="*/ 117 h 11157"/>
              <a:gd name="T110" fmla="*/ 6706 w 11157"/>
              <a:gd name="T111" fmla="*/ 114 h 11157"/>
              <a:gd name="T112" fmla="*/ 6318 w 11157"/>
              <a:gd name="T113" fmla="*/ 144 h 11157"/>
              <a:gd name="T114" fmla="*/ 5195 w 11157"/>
              <a:gd name="T115" fmla="*/ 13 h 11157"/>
              <a:gd name="T116" fmla="*/ 5619 w 11157"/>
              <a:gd name="T117" fmla="*/ 47 h 11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157" h="11157">
                <a:moveTo>
                  <a:pt x="5592" y="11063"/>
                </a:moveTo>
                <a:cubicBezTo>
                  <a:pt x="5590" y="11063"/>
                  <a:pt x="5588" y="11063"/>
                  <a:pt x="5585" y="11063"/>
                </a:cubicBezTo>
                <a:cubicBezTo>
                  <a:pt x="5583" y="11063"/>
                  <a:pt x="5581" y="11063"/>
                  <a:pt x="5579" y="11063"/>
                </a:cubicBezTo>
                <a:cubicBezTo>
                  <a:pt x="5553" y="11063"/>
                  <a:pt x="5532" y="11084"/>
                  <a:pt x="5532" y="11110"/>
                </a:cubicBezTo>
                <a:cubicBezTo>
                  <a:pt x="5532" y="11136"/>
                  <a:pt x="5553" y="11157"/>
                  <a:pt x="5579" y="11157"/>
                </a:cubicBezTo>
                <a:cubicBezTo>
                  <a:pt x="5581" y="11157"/>
                  <a:pt x="5583" y="11157"/>
                  <a:pt x="5586" y="11157"/>
                </a:cubicBezTo>
                <a:cubicBezTo>
                  <a:pt x="5588" y="11157"/>
                  <a:pt x="5590" y="11157"/>
                  <a:pt x="5593" y="11157"/>
                </a:cubicBezTo>
                <a:cubicBezTo>
                  <a:pt x="5619" y="11157"/>
                  <a:pt x="5640" y="11136"/>
                  <a:pt x="5640" y="11110"/>
                </a:cubicBezTo>
                <a:cubicBezTo>
                  <a:pt x="5640" y="11084"/>
                  <a:pt x="5618" y="11063"/>
                  <a:pt x="5592" y="11063"/>
                </a:cubicBezTo>
                <a:moveTo>
                  <a:pt x="5201" y="11050"/>
                </a:moveTo>
                <a:cubicBezTo>
                  <a:pt x="5177" y="11050"/>
                  <a:pt x="5156" y="11069"/>
                  <a:pt x="5154" y="11094"/>
                </a:cubicBezTo>
                <a:cubicBezTo>
                  <a:pt x="5152" y="11120"/>
                  <a:pt x="5172" y="11143"/>
                  <a:pt x="5198" y="11144"/>
                </a:cubicBezTo>
                <a:cubicBezTo>
                  <a:pt x="5199" y="11144"/>
                  <a:pt x="5201" y="11144"/>
                  <a:pt x="5202" y="11144"/>
                </a:cubicBezTo>
                <a:cubicBezTo>
                  <a:pt x="5226" y="11144"/>
                  <a:pt x="5247" y="11125"/>
                  <a:pt x="5248" y="11101"/>
                </a:cubicBezTo>
                <a:cubicBezTo>
                  <a:pt x="5250" y="11074"/>
                  <a:pt x="5231" y="11052"/>
                  <a:pt x="5205" y="11050"/>
                </a:cubicBezTo>
                <a:cubicBezTo>
                  <a:pt x="5204" y="11050"/>
                  <a:pt x="5202" y="11050"/>
                  <a:pt x="5201" y="11050"/>
                </a:cubicBezTo>
                <a:moveTo>
                  <a:pt x="5970" y="11049"/>
                </a:moveTo>
                <a:cubicBezTo>
                  <a:pt x="5969" y="11049"/>
                  <a:pt x="5968" y="11049"/>
                  <a:pt x="5966" y="11049"/>
                </a:cubicBezTo>
                <a:cubicBezTo>
                  <a:pt x="5941" y="11051"/>
                  <a:pt x="5921" y="11073"/>
                  <a:pt x="5923" y="11100"/>
                </a:cubicBezTo>
                <a:cubicBezTo>
                  <a:pt x="5924" y="11124"/>
                  <a:pt x="5945" y="11143"/>
                  <a:pt x="5970" y="11144"/>
                </a:cubicBezTo>
                <a:cubicBezTo>
                  <a:pt x="5971" y="11144"/>
                  <a:pt x="5972" y="11143"/>
                  <a:pt x="5973" y="11143"/>
                </a:cubicBezTo>
                <a:cubicBezTo>
                  <a:pt x="5999" y="11141"/>
                  <a:pt x="6019" y="11119"/>
                  <a:pt x="6017" y="11093"/>
                </a:cubicBezTo>
                <a:cubicBezTo>
                  <a:pt x="6015" y="11068"/>
                  <a:pt x="5994" y="11049"/>
                  <a:pt x="5970" y="11049"/>
                </a:cubicBezTo>
                <a:moveTo>
                  <a:pt x="4826" y="11012"/>
                </a:moveTo>
                <a:cubicBezTo>
                  <a:pt x="4803" y="11012"/>
                  <a:pt x="4782" y="11029"/>
                  <a:pt x="4779" y="11052"/>
                </a:cubicBezTo>
                <a:cubicBezTo>
                  <a:pt x="4776" y="11079"/>
                  <a:pt x="4794" y="11102"/>
                  <a:pt x="4820" y="11106"/>
                </a:cubicBezTo>
                <a:cubicBezTo>
                  <a:pt x="4822" y="11106"/>
                  <a:pt x="4824" y="11106"/>
                  <a:pt x="4826" y="11106"/>
                </a:cubicBezTo>
                <a:cubicBezTo>
                  <a:pt x="4849" y="11106"/>
                  <a:pt x="4869" y="11089"/>
                  <a:pt x="4873" y="11065"/>
                </a:cubicBezTo>
                <a:cubicBezTo>
                  <a:pt x="4876" y="11039"/>
                  <a:pt x="4858" y="11016"/>
                  <a:pt x="4832" y="11012"/>
                </a:cubicBezTo>
                <a:cubicBezTo>
                  <a:pt x="4830" y="11012"/>
                  <a:pt x="4828" y="11012"/>
                  <a:pt x="4826" y="11012"/>
                </a:cubicBezTo>
                <a:moveTo>
                  <a:pt x="6345" y="11010"/>
                </a:moveTo>
                <a:cubicBezTo>
                  <a:pt x="6343" y="11010"/>
                  <a:pt x="6341" y="11010"/>
                  <a:pt x="6339" y="11010"/>
                </a:cubicBezTo>
                <a:cubicBezTo>
                  <a:pt x="6313" y="11014"/>
                  <a:pt x="6295" y="11038"/>
                  <a:pt x="6299" y="11064"/>
                </a:cubicBezTo>
                <a:cubicBezTo>
                  <a:pt x="6302" y="11087"/>
                  <a:pt x="6322" y="11104"/>
                  <a:pt x="6345" y="11104"/>
                </a:cubicBezTo>
                <a:cubicBezTo>
                  <a:pt x="6347" y="11104"/>
                  <a:pt x="6350" y="11104"/>
                  <a:pt x="6352" y="11104"/>
                </a:cubicBezTo>
                <a:cubicBezTo>
                  <a:pt x="6378" y="11100"/>
                  <a:pt x="6395" y="11076"/>
                  <a:pt x="6392" y="11050"/>
                </a:cubicBezTo>
                <a:cubicBezTo>
                  <a:pt x="6389" y="11027"/>
                  <a:pt x="6368" y="11010"/>
                  <a:pt x="6345" y="11010"/>
                </a:cubicBezTo>
                <a:moveTo>
                  <a:pt x="4454" y="10948"/>
                </a:moveTo>
                <a:cubicBezTo>
                  <a:pt x="4432" y="10948"/>
                  <a:pt x="4412" y="10963"/>
                  <a:pt x="4408" y="10985"/>
                </a:cubicBezTo>
                <a:cubicBezTo>
                  <a:pt x="4402" y="11011"/>
                  <a:pt x="4419" y="11036"/>
                  <a:pt x="4444" y="11041"/>
                </a:cubicBezTo>
                <a:cubicBezTo>
                  <a:pt x="4447" y="11042"/>
                  <a:pt x="4451" y="11042"/>
                  <a:pt x="4454" y="11042"/>
                </a:cubicBezTo>
                <a:cubicBezTo>
                  <a:pt x="4476" y="11042"/>
                  <a:pt x="4496" y="11027"/>
                  <a:pt x="4500" y="11004"/>
                </a:cubicBezTo>
                <a:cubicBezTo>
                  <a:pt x="4505" y="10979"/>
                  <a:pt x="4489" y="10954"/>
                  <a:pt x="4464" y="10949"/>
                </a:cubicBezTo>
                <a:cubicBezTo>
                  <a:pt x="4460" y="10948"/>
                  <a:pt x="4457" y="10948"/>
                  <a:pt x="4454" y="10948"/>
                </a:cubicBezTo>
                <a:moveTo>
                  <a:pt x="6717" y="10945"/>
                </a:moveTo>
                <a:cubicBezTo>
                  <a:pt x="6714" y="10945"/>
                  <a:pt x="6711" y="10945"/>
                  <a:pt x="6707" y="10946"/>
                </a:cubicBezTo>
                <a:cubicBezTo>
                  <a:pt x="6682" y="10951"/>
                  <a:pt x="6665" y="10976"/>
                  <a:pt x="6671" y="11002"/>
                </a:cubicBezTo>
                <a:cubicBezTo>
                  <a:pt x="6675" y="11024"/>
                  <a:pt x="6695" y="11039"/>
                  <a:pt x="6717" y="11039"/>
                </a:cubicBezTo>
                <a:cubicBezTo>
                  <a:pt x="6720" y="11039"/>
                  <a:pt x="6724" y="11039"/>
                  <a:pt x="6727" y="11039"/>
                </a:cubicBezTo>
                <a:cubicBezTo>
                  <a:pt x="6752" y="11033"/>
                  <a:pt x="6769" y="11008"/>
                  <a:pt x="6763" y="10982"/>
                </a:cubicBezTo>
                <a:cubicBezTo>
                  <a:pt x="6759" y="10960"/>
                  <a:pt x="6739" y="10945"/>
                  <a:pt x="6717" y="10945"/>
                </a:cubicBezTo>
                <a:moveTo>
                  <a:pt x="4087" y="10858"/>
                </a:moveTo>
                <a:cubicBezTo>
                  <a:pt x="4066" y="10858"/>
                  <a:pt x="4047" y="10872"/>
                  <a:pt x="4042" y="10893"/>
                </a:cubicBezTo>
                <a:cubicBezTo>
                  <a:pt x="4035" y="10918"/>
                  <a:pt x="4049" y="10944"/>
                  <a:pt x="4074" y="10951"/>
                </a:cubicBezTo>
                <a:cubicBezTo>
                  <a:pt x="4078" y="10952"/>
                  <a:pt x="4083" y="10953"/>
                  <a:pt x="4087" y="10953"/>
                </a:cubicBezTo>
                <a:cubicBezTo>
                  <a:pt x="4108" y="10953"/>
                  <a:pt x="4127" y="10939"/>
                  <a:pt x="4133" y="10919"/>
                </a:cubicBezTo>
                <a:cubicBezTo>
                  <a:pt x="4140" y="10893"/>
                  <a:pt x="4125" y="10867"/>
                  <a:pt x="4100" y="10860"/>
                </a:cubicBezTo>
                <a:cubicBezTo>
                  <a:pt x="4096" y="10859"/>
                  <a:pt x="4091" y="10858"/>
                  <a:pt x="4087" y="10858"/>
                </a:cubicBezTo>
                <a:moveTo>
                  <a:pt x="7084" y="10855"/>
                </a:moveTo>
                <a:cubicBezTo>
                  <a:pt x="7079" y="10855"/>
                  <a:pt x="7075" y="10855"/>
                  <a:pt x="7071" y="10857"/>
                </a:cubicBezTo>
                <a:cubicBezTo>
                  <a:pt x="7071" y="10857"/>
                  <a:pt x="7071" y="10857"/>
                  <a:pt x="7071" y="10857"/>
                </a:cubicBezTo>
                <a:cubicBezTo>
                  <a:pt x="7046" y="10863"/>
                  <a:pt x="7031" y="10890"/>
                  <a:pt x="7038" y="10915"/>
                </a:cubicBezTo>
                <a:cubicBezTo>
                  <a:pt x="7044" y="10936"/>
                  <a:pt x="7063" y="10949"/>
                  <a:pt x="7083" y="10949"/>
                </a:cubicBezTo>
                <a:cubicBezTo>
                  <a:pt x="7088" y="10949"/>
                  <a:pt x="7092" y="10948"/>
                  <a:pt x="7096" y="10947"/>
                </a:cubicBezTo>
                <a:cubicBezTo>
                  <a:pt x="7122" y="10940"/>
                  <a:pt x="7136" y="10914"/>
                  <a:pt x="7129" y="10889"/>
                </a:cubicBezTo>
                <a:cubicBezTo>
                  <a:pt x="7123" y="10868"/>
                  <a:pt x="7104" y="10855"/>
                  <a:pt x="7084" y="10855"/>
                </a:cubicBezTo>
                <a:moveTo>
                  <a:pt x="3727" y="10744"/>
                </a:moveTo>
                <a:cubicBezTo>
                  <a:pt x="3708" y="10744"/>
                  <a:pt x="3690" y="10756"/>
                  <a:pt x="3683" y="10776"/>
                </a:cubicBezTo>
                <a:cubicBezTo>
                  <a:pt x="3674" y="10800"/>
                  <a:pt x="3687" y="10827"/>
                  <a:pt x="3711" y="10836"/>
                </a:cubicBezTo>
                <a:cubicBezTo>
                  <a:pt x="3717" y="10838"/>
                  <a:pt x="3722" y="10839"/>
                  <a:pt x="3727" y="10839"/>
                </a:cubicBezTo>
                <a:cubicBezTo>
                  <a:pt x="3747" y="10839"/>
                  <a:pt x="3765" y="10827"/>
                  <a:pt x="3772" y="10807"/>
                </a:cubicBezTo>
                <a:cubicBezTo>
                  <a:pt x="3781" y="10783"/>
                  <a:pt x="3768" y="10755"/>
                  <a:pt x="3743" y="10747"/>
                </a:cubicBezTo>
                <a:cubicBezTo>
                  <a:pt x="3738" y="10745"/>
                  <a:pt x="3732" y="10744"/>
                  <a:pt x="3727" y="10744"/>
                </a:cubicBezTo>
                <a:moveTo>
                  <a:pt x="7443" y="10739"/>
                </a:moveTo>
                <a:cubicBezTo>
                  <a:pt x="7438" y="10739"/>
                  <a:pt x="7432" y="10740"/>
                  <a:pt x="7427" y="10742"/>
                </a:cubicBezTo>
                <a:cubicBezTo>
                  <a:pt x="7402" y="10751"/>
                  <a:pt x="7390" y="10778"/>
                  <a:pt x="7399" y="10803"/>
                </a:cubicBezTo>
                <a:cubicBezTo>
                  <a:pt x="7406" y="10822"/>
                  <a:pt x="7424" y="10834"/>
                  <a:pt x="7443" y="10834"/>
                </a:cubicBezTo>
                <a:cubicBezTo>
                  <a:pt x="7448" y="10834"/>
                  <a:pt x="7454" y="10833"/>
                  <a:pt x="7459" y="10831"/>
                </a:cubicBezTo>
                <a:cubicBezTo>
                  <a:pt x="7484" y="10822"/>
                  <a:pt x="7496" y="10795"/>
                  <a:pt x="7487" y="10771"/>
                </a:cubicBezTo>
                <a:cubicBezTo>
                  <a:pt x="7481" y="10751"/>
                  <a:pt x="7462" y="10739"/>
                  <a:pt x="7443" y="10739"/>
                </a:cubicBezTo>
                <a:moveTo>
                  <a:pt x="3376" y="10605"/>
                </a:moveTo>
                <a:cubicBezTo>
                  <a:pt x="3358" y="10605"/>
                  <a:pt x="3340" y="10616"/>
                  <a:pt x="3333" y="10633"/>
                </a:cubicBezTo>
                <a:cubicBezTo>
                  <a:pt x="3322" y="10657"/>
                  <a:pt x="3333" y="10685"/>
                  <a:pt x="3357" y="10696"/>
                </a:cubicBezTo>
                <a:cubicBezTo>
                  <a:pt x="3363" y="10698"/>
                  <a:pt x="3369" y="10699"/>
                  <a:pt x="3376" y="10699"/>
                </a:cubicBezTo>
                <a:cubicBezTo>
                  <a:pt x="3394" y="10699"/>
                  <a:pt x="3411" y="10689"/>
                  <a:pt x="3419" y="10671"/>
                </a:cubicBezTo>
                <a:cubicBezTo>
                  <a:pt x="3430" y="10647"/>
                  <a:pt x="3419" y="10619"/>
                  <a:pt x="3395" y="10609"/>
                </a:cubicBezTo>
                <a:cubicBezTo>
                  <a:pt x="3389" y="10606"/>
                  <a:pt x="3382" y="10605"/>
                  <a:pt x="3376" y="10605"/>
                </a:cubicBezTo>
                <a:moveTo>
                  <a:pt x="7793" y="10600"/>
                </a:moveTo>
                <a:cubicBezTo>
                  <a:pt x="7787" y="10600"/>
                  <a:pt x="7780" y="10601"/>
                  <a:pt x="7774" y="10604"/>
                </a:cubicBezTo>
                <a:cubicBezTo>
                  <a:pt x="7750" y="10614"/>
                  <a:pt x="7740" y="10642"/>
                  <a:pt x="7750" y="10666"/>
                </a:cubicBezTo>
                <a:cubicBezTo>
                  <a:pt x="7758" y="10684"/>
                  <a:pt x="7775" y="10694"/>
                  <a:pt x="7793" y="10694"/>
                </a:cubicBezTo>
                <a:cubicBezTo>
                  <a:pt x="7800" y="10694"/>
                  <a:pt x="7806" y="10693"/>
                  <a:pt x="7812" y="10690"/>
                </a:cubicBezTo>
                <a:cubicBezTo>
                  <a:pt x="7836" y="10680"/>
                  <a:pt x="7847" y="10652"/>
                  <a:pt x="7837" y="10628"/>
                </a:cubicBezTo>
                <a:cubicBezTo>
                  <a:pt x="7829" y="10611"/>
                  <a:pt x="7811" y="10600"/>
                  <a:pt x="7793" y="10600"/>
                </a:cubicBezTo>
                <a:moveTo>
                  <a:pt x="3035" y="10442"/>
                </a:moveTo>
                <a:cubicBezTo>
                  <a:pt x="3018" y="10442"/>
                  <a:pt x="3001" y="10452"/>
                  <a:pt x="2993" y="10468"/>
                </a:cubicBezTo>
                <a:cubicBezTo>
                  <a:pt x="2981" y="10491"/>
                  <a:pt x="2990" y="10519"/>
                  <a:pt x="3013" y="10532"/>
                </a:cubicBezTo>
                <a:cubicBezTo>
                  <a:pt x="3020" y="10535"/>
                  <a:pt x="3028" y="10537"/>
                  <a:pt x="3035" y="10537"/>
                </a:cubicBezTo>
                <a:cubicBezTo>
                  <a:pt x="3052" y="10537"/>
                  <a:pt x="3068" y="10528"/>
                  <a:pt x="3077" y="10511"/>
                </a:cubicBezTo>
                <a:cubicBezTo>
                  <a:pt x="3089" y="10488"/>
                  <a:pt x="3080" y="10460"/>
                  <a:pt x="3056" y="10448"/>
                </a:cubicBezTo>
                <a:cubicBezTo>
                  <a:pt x="3050" y="10444"/>
                  <a:pt x="3042" y="10442"/>
                  <a:pt x="3035" y="10442"/>
                </a:cubicBezTo>
                <a:moveTo>
                  <a:pt x="8133" y="10437"/>
                </a:moveTo>
                <a:cubicBezTo>
                  <a:pt x="8126" y="10437"/>
                  <a:pt x="8118" y="10438"/>
                  <a:pt x="8111" y="10442"/>
                </a:cubicBezTo>
                <a:cubicBezTo>
                  <a:pt x="8088" y="10454"/>
                  <a:pt x="8079" y="10483"/>
                  <a:pt x="8091" y="10506"/>
                </a:cubicBezTo>
                <a:cubicBezTo>
                  <a:pt x="8100" y="10522"/>
                  <a:pt x="8116" y="10531"/>
                  <a:pt x="8133" y="10531"/>
                </a:cubicBezTo>
                <a:cubicBezTo>
                  <a:pt x="8141" y="10531"/>
                  <a:pt x="8148" y="10529"/>
                  <a:pt x="8155" y="10526"/>
                </a:cubicBezTo>
                <a:cubicBezTo>
                  <a:pt x="8178" y="10514"/>
                  <a:pt x="8187" y="10485"/>
                  <a:pt x="8175" y="10462"/>
                </a:cubicBezTo>
                <a:cubicBezTo>
                  <a:pt x="8167" y="10446"/>
                  <a:pt x="8150" y="10437"/>
                  <a:pt x="8133" y="10437"/>
                </a:cubicBezTo>
                <a:moveTo>
                  <a:pt x="2706" y="10257"/>
                </a:moveTo>
                <a:cubicBezTo>
                  <a:pt x="2690" y="10257"/>
                  <a:pt x="2674" y="10265"/>
                  <a:pt x="2665" y="10279"/>
                </a:cubicBezTo>
                <a:cubicBezTo>
                  <a:pt x="2652" y="10301"/>
                  <a:pt x="2659" y="10331"/>
                  <a:pt x="2681" y="10344"/>
                </a:cubicBezTo>
                <a:cubicBezTo>
                  <a:pt x="2689" y="10349"/>
                  <a:pt x="2697" y="10351"/>
                  <a:pt x="2706" y="10351"/>
                </a:cubicBezTo>
                <a:cubicBezTo>
                  <a:pt x="2722" y="10351"/>
                  <a:pt x="2737" y="10343"/>
                  <a:pt x="2746" y="10329"/>
                </a:cubicBezTo>
                <a:cubicBezTo>
                  <a:pt x="2760" y="10306"/>
                  <a:pt x="2753" y="10277"/>
                  <a:pt x="2730" y="10264"/>
                </a:cubicBezTo>
                <a:cubicBezTo>
                  <a:pt x="2723" y="10259"/>
                  <a:pt x="2714" y="10257"/>
                  <a:pt x="2706" y="10257"/>
                </a:cubicBezTo>
                <a:moveTo>
                  <a:pt x="8461" y="10251"/>
                </a:moveTo>
                <a:cubicBezTo>
                  <a:pt x="8453" y="10251"/>
                  <a:pt x="8444" y="10253"/>
                  <a:pt x="8437" y="10258"/>
                </a:cubicBezTo>
                <a:cubicBezTo>
                  <a:pt x="8414" y="10271"/>
                  <a:pt x="8407" y="10300"/>
                  <a:pt x="8421" y="10323"/>
                </a:cubicBezTo>
                <a:cubicBezTo>
                  <a:pt x="8430" y="10337"/>
                  <a:pt x="8446" y="10345"/>
                  <a:pt x="8462" y="10345"/>
                </a:cubicBezTo>
                <a:cubicBezTo>
                  <a:pt x="8470" y="10345"/>
                  <a:pt x="8478" y="10343"/>
                  <a:pt x="8486" y="10338"/>
                </a:cubicBezTo>
                <a:cubicBezTo>
                  <a:pt x="8508" y="10324"/>
                  <a:pt x="8515" y="10295"/>
                  <a:pt x="8502" y="10273"/>
                </a:cubicBezTo>
                <a:cubicBezTo>
                  <a:pt x="8493" y="10259"/>
                  <a:pt x="8477" y="10251"/>
                  <a:pt x="8461" y="10251"/>
                </a:cubicBezTo>
                <a:moveTo>
                  <a:pt x="2390" y="10049"/>
                </a:moveTo>
                <a:cubicBezTo>
                  <a:pt x="2375" y="10049"/>
                  <a:pt x="2361" y="10056"/>
                  <a:pt x="2352" y="10069"/>
                </a:cubicBezTo>
                <a:cubicBezTo>
                  <a:pt x="2337" y="10090"/>
                  <a:pt x="2342" y="10120"/>
                  <a:pt x="2363" y="10135"/>
                </a:cubicBezTo>
                <a:cubicBezTo>
                  <a:pt x="2371" y="10141"/>
                  <a:pt x="2381" y="10143"/>
                  <a:pt x="2390" y="10143"/>
                </a:cubicBezTo>
                <a:cubicBezTo>
                  <a:pt x="2405" y="10143"/>
                  <a:pt x="2420" y="10136"/>
                  <a:pt x="2429" y="10124"/>
                </a:cubicBezTo>
                <a:cubicBezTo>
                  <a:pt x="2444" y="10102"/>
                  <a:pt x="2439" y="10073"/>
                  <a:pt x="2418" y="10058"/>
                </a:cubicBezTo>
                <a:cubicBezTo>
                  <a:pt x="2409" y="10052"/>
                  <a:pt x="2400" y="10049"/>
                  <a:pt x="2390" y="10049"/>
                </a:cubicBezTo>
                <a:moveTo>
                  <a:pt x="8776" y="10043"/>
                </a:moveTo>
                <a:cubicBezTo>
                  <a:pt x="8767" y="10043"/>
                  <a:pt x="8757" y="10045"/>
                  <a:pt x="8749" y="10051"/>
                </a:cubicBezTo>
                <a:cubicBezTo>
                  <a:pt x="8728" y="10066"/>
                  <a:pt x="8723" y="10096"/>
                  <a:pt x="8738" y="10117"/>
                </a:cubicBezTo>
                <a:cubicBezTo>
                  <a:pt x="8747" y="10130"/>
                  <a:pt x="8761" y="10137"/>
                  <a:pt x="8776" y="10137"/>
                </a:cubicBezTo>
                <a:cubicBezTo>
                  <a:pt x="8786" y="10137"/>
                  <a:pt x="8795" y="10134"/>
                  <a:pt x="8804" y="10128"/>
                </a:cubicBezTo>
                <a:cubicBezTo>
                  <a:pt x="8825" y="10113"/>
                  <a:pt x="8830" y="10084"/>
                  <a:pt x="8815" y="10062"/>
                </a:cubicBezTo>
                <a:cubicBezTo>
                  <a:pt x="8806" y="10049"/>
                  <a:pt x="8791" y="10043"/>
                  <a:pt x="8776" y="10043"/>
                </a:cubicBezTo>
                <a:moveTo>
                  <a:pt x="2089" y="9820"/>
                </a:moveTo>
                <a:cubicBezTo>
                  <a:pt x="2076" y="9820"/>
                  <a:pt x="2062" y="9826"/>
                  <a:pt x="2053" y="9838"/>
                </a:cubicBezTo>
                <a:cubicBezTo>
                  <a:pt x="2036" y="9858"/>
                  <a:pt x="2039" y="9888"/>
                  <a:pt x="2060" y="9904"/>
                </a:cubicBezTo>
                <a:cubicBezTo>
                  <a:pt x="2068" y="9911"/>
                  <a:pt x="2079" y="9915"/>
                  <a:pt x="2090" y="9915"/>
                </a:cubicBezTo>
                <a:cubicBezTo>
                  <a:pt x="2103" y="9915"/>
                  <a:pt x="2117" y="9909"/>
                  <a:pt x="2126" y="9897"/>
                </a:cubicBezTo>
                <a:cubicBezTo>
                  <a:pt x="2142" y="9877"/>
                  <a:pt x="2140" y="9848"/>
                  <a:pt x="2119" y="9831"/>
                </a:cubicBezTo>
                <a:cubicBezTo>
                  <a:pt x="2111" y="9824"/>
                  <a:pt x="2100" y="9820"/>
                  <a:pt x="2089" y="9820"/>
                </a:cubicBezTo>
                <a:moveTo>
                  <a:pt x="9076" y="9813"/>
                </a:moveTo>
                <a:cubicBezTo>
                  <a:pt x="9066" y="9813"/>
                  <a:pt x="9055" y="9817"/>
                  <a:pt x="9046" y="9824"/>
                </a:cubicBezTo>
                <a:cubicBezTo>
                  <a:pt x="9026" y="9841"/>
                  <a:pt x="9023" y="9870"/>
                  <a:pt x="9040" y="9891"/>
                </a:cubicBezTo>
                <a:cubicBezTo>
                  <a:pt x="9049" y="9902"/>
                  <a:pt x="9063" y="9908"/>
                  <a:pt x="9076" y="9908"/>
                </a:cubicBezTo>
                <a:cubicBezTo>
                  <a:pt x="9077" y="9908"/>
                  <a:pt x="9077" y="9908"/>
                  <a:pt x="9077" y="9908"/>
                </a:cubicBezTo>
                <a:cubicBezTo>
                  <a:pt x="9088" y="9908"/>
                  <a:pt x="9098" y="9904"/>
                  <a:pt x="9106" y="9897"/>
                </a:cubicBezTo>
                <a:cubicBezTo>
                  <a:pt x="9126" y="9881"/>
                  <a:pt x="9129" y="9851"/>
                  <a:pt x="9113" y="9831"/>
                </a:cubicBezTo>
                <a:cubicBezTo>
                  <a:pt x="9103" y="9819"/>
                  <a:pt x="9090" y="9813"/>
                  <a:pt x="9076" y="9813"/>
                </a:cubicBezTo>
                <a:moveTo>
                  <a:pt x="1805" y="9572"/>
                </a:moveTo>
                <a:cubicBezTo>
                  <a:pt x="1792" y="9572"/>
                  <a:pt x="1780" y="9577"/>
                  <a:pt x="1771" y="9587"/>
                </a:cubicBezTo>
                <a:cubicBezTo>
                  <a:pt x="1753" y="9606"/>
                  <a:pt x="1754" y="9636"/>
                  <a:pt x="1773" y="9654"/>
                </a:cubicBezTo>
                <a:cubicBezTo>
                  <a:pt x="1782" y="9662"/>
                  <a:pt x="1794" y="9667"/>
                  <a:pt x="1805" y="9667"/>
                </a:cubicBezTo>
                <a:cubicBezTo>
                  <a:pt x="1818" y="9667"/>
                  <a:pt x="1830" y="9662"/>
                  <a:pt x="1840" y="9652"/>
                </a:cubicBezTo>
                <a:cubicBezTo>
                  <a:pt x="1858" y="9633"/>
                  <a:pt x="1856" y="9603"/>
                  <a:pt x="1837" y="9585"/>
                </a:cubicBezTo>
                <a:cubicBezTo>
                  <a:pt x="1828" y="9576"/>
                  <a:pt x="1817" y="9572"/>
                  <a:pt x="1805" y="9572"/>
                </a:cubicBezTo>
                <a:moveTo>
                  <a:pt x="9360" y="9565"/>
                </a:moveTo>
                <a:cubicBezTo>
                  <a:pt x="9349" y="9565"/>
                  <a:pt x="9337" y="9569"/>
                  <a:pt x="9328" y="9578"/>
                </a:cubicBezTo>
                <a:cubicBezTo>
                  <a:pt x="9309" y="9596"/>
                  <a:pt x="9308" y="9625"/>
                  <a:pt x="9326" y="9644"/>
                </a:cubicBezTo>
                <a:cubicBezTo>
                  <a:pt x="9335" y="9654"/>
                  <a:pt x="9348" y="9659"/>
                  <a:pt x="9360" y="9659"/>
                </a:cubicBezTo>
                <a:cubicBezTo>
                  <a:pt x="9372" y="9659"/>
                  <a:pt x="9383" y="9655"/>
                  <a:pt x="9392" y="9647"/>
                </a:cubicBezTo>
                <a:cubicBezTo>
                  <a:pt x="9411" y="9629"/>
                  <a:pt x="9412" y="9599"/>
                  <a:pt x="9394" y="9580"/>
                </a:cubicBezTo>
                <a:cubicBezTo>
                  <a:pt x="9385" y="9570"/>
                  <a:pt x="9373" y="9565"/>
                  <a:pt x="9360" y="9565"/>
                </a:cubicBezTo>
                <a:moveTo>
                  <a:pt x="1538" y="9305"/>
                </a:moveTo>
                <a:cubicBezTo>
                  <a:pt x="1527" y="9305"/>
                  <a:pt x="1515" y="9309"/>
                  <a:pt x="1506" y="9318"/>
                </a:cubicBezTo>
                <a:cubicBezTo>
                  <a:pt x="1487" y="9335"/>
                  <a:pt x="1486" y="9365"/>
                  <a:pt x="1504" y="9385"/>
                </a:cubicBezTo>
                <a:cubicBezTo>
                  <a:pt x="1513" y="9395"/>
                  <a:pt x="1526" y="9400"/>
                  <a:pt x="1538" y="9400"/>
                </a:cubicBezTo>
                <a:cubicBezTo>
                  <a:pt x="1550" y="9400"/>
                  <a:pt x="1561" y="9395"/>
                  <a:pt x="1570" y="9387"/>
                </a:cubicBezTo>
                <a:cubicBezTo>
                  <a:pt x="1589" y="9369"/>
                  <a:pt x="1591" y="9339"/>
                  <a:pt x="1573" y="9320"/>
                </a:cubicBezTo>
                <a:cubicBezTo>
                  <a:pt x="1563" y="9310"/>
                  <a:pt x="1551" y="9305"/>
                  <a:pt x="1538" y="9305"/>
                </a:cubicBezTo>
                <a:moveTo>
                  <a:pt x="9627" y="9297"/>
                </a:moveTo>
                <a:cubicBezTo>
                  <a:pt x="9614" y="9297"/>
                  <a:pt x="9601" y="9302"/>
                  <a:pt x="9592" y="9312"/>
                </a:cubicBezTo>
                <a:cubicBezTo>
                  <a:pt x="9574" y="9331"/>
                  <a:pt x="9575" y="9361"/>
                  <a:pt x="9594" y="9379"/>
                </a:cubicBezTo>
                <a:cubicBezTo>
                  <a:pt x="9604" y="9388"/>
                  <a:pt x="9615" y="9392"/>
                  <a:pt x="9627" y="9392"/>
                </a:cubicBezTo>
                <a:cubicBezTo>
                  <a:pt x="9639" y="9392"/>
                  <a:pt x="9652" y="9387"/>
                  <a:pt x="9661" y="9377"/>
                </a:cubicBezTo>
                <a:cubicBezTo>
                  <a:pt x="9679" y="9358"/>
                  <a:pt x="9678" y="9328"/>
                  <a:pt x="9659" y="9310"/>
                </a:cubicBezTo>
                <a:cubicBezTo>
                  <a:pt x="9650" y="9302"/>
                  <a:pt x="9638" y="9297"/>
                  <a:pt x="9627" y="9297"/>
                </a:cubicBezTo>
                <a:moveTo>
                  <a:pt x="1290" y="9021"/>
                </a:moveTo>
                <a:cubicBezTo>
                  <a:pt x="1279" y="9021"/>
                  <a:pt x="1269" y="9024"/>
                  <a:pt x="1260" y="9031"/>
                </a:cubicBezTo>
                <a:cubicBezTo>
                  <a:pt x="1240" y="9048"/>
                  <a:pt x="1237" y="9078"/>
                  <a:pt x="1253" y="9098"/>
                </a:cubicBezTo>
                <a:cubicBezTo>
                  <a:pt x="1253" y="9098"/>
                  <a:pt x="1253" y="9098"/>
                  <a:pt x="1253" y="9098"/>
                </a:cubicBezTo>
                <a:cubicBezTo>
                  <a:pt x="1262" y="9109"/>
                  <a:pt x="1276" y="9115"/>
                  <a:pt x="1290" y="9115"/>
                </a:cubicBezTo>
                <a:cubicBezTo>
                  <a:pt x="1300" y="9115"/>
                  <a:pt x="1311" y="9112"/>
                  <a:pt x="1320" y="9105"/>
                </a:cubicBezTo>
                <a:cubicBezTo>
                  <a:pt x="1340" y="9088"/>
                  <a:pt x="1343" y="9058"/>
                  <a:pt x="1326" y="9038"/>
                </a:cubicBezTo>
                <a:cubicBezTo>
                  <a:pt x="1317" y="9027"/>
                  <a:pt x="1303" y="9021"/>
                  <a:pt x="1290" y="9021"/>
                </a:cubicBezTo>
                <a:moveTo>
                  <a:pt x="9875" y="9012"/>
                </a:moveTo>
                <a:cubicBezTo>
                  <a:pt x="9861" y="9012"/>
                  <a:pt x="9847" y="9018"/>
                  <a:pt x="9838" y="9030"/>
                </a:cubicBezTo>
                <a:cubicBezTo>
                  <a:pt x="9821" y="9050"/>
                  <a:pt x="9824" y="9080"/>
                  <a:pt x="9845" y="9096"/>
                </a:cubicBezTo>
                <a:cubicBezTo>
                  <a:pt x="9854" y="9103"/>
                  <a:pt x="9864" y="9107"/>
                  <a:pt x="9874" y="9107"/>
                </a:cubicBezTo>
                <a:cubicBezTo>
                  <a:pt x="9888" y="9107"/>
                  <a:pt x="9902" y="9101"/>
                  <a:pt x="9911" y="9089"/>
                </a:cubicBezTo>
                <a:cubicBezTo>
                  <a:pt x="9928" y="9069"/>
                  <a:pt x="9924" y="9039"/>
                  <a:pt x="9904" y="9023"/>
                </a:cubicBezTo>
                <a:cubicBezTo>
                  <a:pt x="9896" y="9016"/>
                  <a:pt x="9885" y="9012"/>
                  <a:pt x="9875" y="9012"/>
                </a:cubicBezTo>
                <a:moveTo>
                  <a:pt x="1061" y="8720"/>
                </a:moveTo>
                <a:cubicBezTo>
                  <a:pt x="1052" y="8720"/>
                  <a:pt x="1042" y="8723"/>
                  <a:pt x="1034" y="8729"/>
                </a:cubicBezTo>
                <a:cubicBezTo>
                  <a:pt x="1013" y="8744"/>
                  <a:pt x="1008" y="8773"/>
                  <a:pt x="1023" y="8795"/>
                </a:cubicBezTo>
                <a:cubicBezTo>
                  <a:pt x="1032" y="8808"/>
                  <a:pt x="1047" y="8815"/>
                  <a:pt x="1062" y="8815"/>
                </a:cubicBezTo>
                <a:cubicBezTo>
                  <a:pt x="1071" y="8815"/>
                  <a:pt x="1080" y="8812"/>
                  <a:pt x="1089" y="8806"/>
                </a:cubicBezTo>
                <a:cubicBezTo>
                  <a:pt x="1110" y="8791"/>
                  <a:pt x="1115" y="8761"/>
                  <a:pt x="1100" y="8740"/>
                </a:cubicBezTo>
                <a:cubicBezTo>
                  <a:pt x="1091" y="8727"/>
                  <a:pt x="1076" y="8720"/>
                  <a:pt x="1061" y="8720"/>
                </a:cubicBezTo>
                <a:moveTo>
                  <a:pt x="10102" y="8711"/>
                </a:moveTo>
                <a:cubicBezTo>
                  <a:pt x="10088" y="8711"/>
                  <a:pt x="10073" y="8718"/>
                  <a:pt x="10064" y="8731"/>
                </a:cubicBezTo>
                <a:cubicBezTo>
                  <a:pt x="10049" y="8753"/>
                  <a:pt x="10054" y="8782"/>
                  <a:pt x="10075" y="8797"/>
                </a:cubicBezTo>
                <a:cubicBezTo>
                  <a:pt x="10083" y="8803"/>
                  <a:pt x="10093" y="8806"/>
                  <a:pt x="10102" y="8806"/>
                </a:cubicBezTo>
                <a:cubicBezTo>
                  <a:pt x="10117" y="8806"/>
                  <a:pt x="10132" y="8799"/>
                  <a:pt x="10141" y="8786"/>
                </a:cubicBezTo>
                <a:cubicBezTo>
                  <a:pt x="10156" y="8764"/>
                  <a:pt x="10151" y="8735"/>
                  <a:pt x="10130" y="8720"/>
                </a:cubicBezTo>
                <a:cubicBezTo>
                  <a:pt x="10121" y="8714"/>
                  <a:pt x="10112" y="8711"/>
                  <a:pt x="10102" y="8711"/>
                </a:cubicBezTo>
                <a:moveTo>
                  <a:pt x="854" y="8405"/>
                </a:moveTo>
                <a:cubicBezTo>
                  <a:pt x="845" y="8405"/>
                  <a:pt x="837" y="8407"/>
                  <a:pt x="829" y="8412"/>
                </a:cubicBezTo>
                <a:cubicBezTo>
                  <a:pt x="807" y="8426"/>
                  <a:pt x="800" y="8455"/>
                  <a:pt x="814" y="8477"/>
                </a:cubicBezTo>
                <a:cubicBezTo>
                  <a:pt x="823" y="8492"/>
                  <a:pt x="838" y="8500"/>
                  <a:pt x="854" y="8500"/>
                </a:cubicBezTo>
                <a:cubicBezTo>
                  <a:pt x="862" y="8500"/>
                  <a:pt x="871" y="8497"/>
                  <a:pt x="879" y="8493"/>
                </a:cubicBezTo>
                <a:cubicBezTo>
                  <a:pt x="901" y="8479"/>
                  <a:pt x="908" y="8450"/>
                  <a:pt x="894" y="8428"/>
                </a:cubicBezTo>
                <a:cubicBezTo>
                  <a:pt x="885" y="8413"/>
                  <a:pt x="870" y="8405"/>
                  <a:pt x="854" y="8405"/>
                </a:cubicBezTo>
                <a:moveTo>
                  <a:pt x="10309" y="8395"/>
                </a:moveTo>
                <a:cubicBezTo>
                  <a:pt x="10293" y="8395"/>
                  <a:pt x="10278" y="8403"/>
                  <a:pt x="10269" y="8418"/>
                </a:cubicBezTo>
                <a:cubicBezTo>
                  <a:pt x="10256" y="8440"/>
                  <a:pt x="10263" y="8469"/>
                  <a:pt x="10285" y="8483"/>
                </a:cubicBezTo>
                <a:cubicBezTo>
                  <a:pt x="10292" y="8488"/>
                  <a:pt x="10301" y="8490"/>
                  <a:pt x="10309" y="8490"/>
                </a:cubicBezTo>
                <a:cubicBezTo>
                  <a:pt x="10325" y="8490"/>
                  <a:pt x="10341" y="8482"/>
                  <a:pt x="10350" y="8467"/>
                </a:cubicBezTo>
                <a:cubicBezTo>
                  <a:pt x="10363" y="8445"/>
                  <a:pt x="10356" y="8416"/>
                  <a:pt x="10334" y="8402"/>
                </a:cubicBezTo>
                <a:cubicBezTo>
                  <a:pt x="10326" y="8398"/>
                  <a:pt x="10318" y="8395"/>
                  <a:pt x="10309" y="8395"/>
                </a:cubicBezTo>
                <a:moveTo>
                  <a:pt x="668" y="8077"/>
                </a:moveTo>
                <a:cubicBezTo>
                  <a:pt x="661" y="8077"/>
                  <a:pt x="654" y="8078"/>
                  <a:pt x="647" y="8082"/>
                </a:cubicBezTo>
                <a:cubicBezTo>
                  <a:pt x="624" y="8094"/>
                  <a:pt x="614" y="8123"/>
                  <a:pt x="626" y="8146"/>
                </a:cubicBezTo>
                <a:cubicBezTo>
                  <a:pt x="635" y="8162"/>
                  <a:pt x="651" y="8171"/>
                  <a:pt x="669" y="8171"/>
                </a:cubicBezTo>
                <a:cubicBezTo>
                  <a:pt x="676" y="8171"/>
                  <a:pt x="683" y="8170"/>
                  <a:pt x="690" y="8166"/>
                </a:cubicBezTo>
                <a:cubicBezTo>
                  <a:pt x="713" y="8154"/>
                  <a:pt x="722" y="8125"/>
                  <a:pt x="710" y="8102"/>
                </a:cubicBezTo>
                <a:cubicBezTo>
                  <a:pt x="702" y="8086"/>
                  <a:pt x="685" y="8077"/>
                  <a:pt x="668" y="8077"/>
                </a:cubicBezTo>
                <a:moveTo>
                  <a:pt x="10494" y="8066"/>
                </a:moveTo>
                <a:cubicBezTo>
                  <a:pt x="10477" y="8066"/>
                  <a:pt x="10461" y="8075"/>
                  <a:pt x="10452" y="8091"/>
                </a:cubicBezTo>
                <a:cubicBezTo>
                  <a:pt x="10440" y="8114"/>
                  <a:pt x="10450" y="8143"/>
                  <a:pt x="10473" y="8155"/>
                </a:cubicBezTo>
                <a:cubicBezTo>
                  <a:pt x="10480" y="8159"/>
                  <a:pt x="10487" y="8160"/>
                  <a:pt x="10494" y="8160"/>
                </a:cubicBezTo>
                <a:cubicBezTo>
                  <a:pt x="10512" y="8160"/>
                  <a:pt x="10528" y="8151"/>
                  <a:pt x="10536" y="8135"/>
                </a:cubicBezTo>
                <a:cubicBezTo>
                  <a:pt x="10548" y="8112"/>
                  <a:pt x="10539" y="8083"/>
                  <a:pt x="10516" y="8071"/>
                </a:cubicBezTo>
                <a:cubicBezTo>
                  <a:pt x="10509" y="8068"/>
                  <a:pt x="10502" y="8066"/>
                  <a:pt x="10494" y="8066"/>
                </a:cubicBezTo>
                <a:moveTo>
                  <a:pt x="506" y="7736"/>
                </a:moveTo>
                <a:cubicBezTo>
                  <a:pt x="500" y="7736"/>
                  <a:pt x="493" y="7738"/>
                  <a:pt x="487" y="7740"/>
                </a:cubicBezTo>
                <a:cubicBezTo>
                  <a:pt x="463" y="7751"/>
                  <a:pt x="452" y="7779"/>
                  <a:pt x="463" y="7802"/>
                </a:cubicBezTo>
                <a:cubicBezTo>
                  <a:pt x="470" y="7820"/>
                  <a:pt x="488" y="7831"/>
                  <a:pt x="506" y="7831"/>
                </a:cubicBezTo>
                <a:cubicBezTo>
                  <a:pt x="512" y="7831"/>
                  <a:pt x="519" y="7830"/>
                  <a:pt x="525" y="7827"/>
                </a:cubicBezTo>
                <a:cubicBezTo>
                  <a:pt x="549" y="7817"/>
                  <a:pt x="560" y="7789"/>
                  <a:pt x="549" y="7765"/>
                </a:cubicBezTo>
                <a:cubicBezTo>
                  <a:pt x="541" y="7747"/>
                  <a:pt x="524" y="7736"/>
                  <a:pt x="506" y="7736"/>
                </a:cubicBezTo>
                <a:moveTo>
                  <a:pt x="10657" y="7725"/>
                </a:moveTo>
                <a:cubicBezTo>
                  <a:pt x="10638" y="7725"/>
                  <a:pt x="10621" y="7735"/>
                  <a:pt x="10613" y="7753"/>
                </a:cubicBezTo>
                <a:cubicBezTo>
                  <a:pt x="10603" y="7777"/>
                  <a:pt x="10614" y="7805"/>
                  <a:pt x="10638" y="7815"/>
                </a:cubicBezTo>
                <a:cubicBezTo>
                  <a:pt x="10644" y="7818"/>
                  <a:pt x="10650" y="7819"/>
                  <a:pt x="10657" y="7819"/>
                </a:cubicBezTo>
                <a:cubicBezTo>
                  <a:pt x="10675" y="7819"/>
                  <a:pt x="10692" y="7808"/>
                  <a:pt x="10700" y="7790"/>
                </a:cubicBezTo>
                <a:cubicBezTo>
                  <a:pt x="10710" y="7767"/>
                  <a:pt x="10699" y="7739"/>
                  <a:pt x="10675" y="7728"/>
                </a:cubicBezTo>
                <a:cubicBezTo>
                  <a:pt x="10669" y="7726"/>
                  <a:pt x="10663" y="7725"/>
                  <a:pt x="10657" y="7725"/>
                </a:cubicBezTo>
                <a:moveTo>
                  <a:pt x="367" y="7386"/>
                </a:moveTo>
                <a:cubicBezTo>
                  <a:pt x="362" y="7386"/>
                  <a:pt x="356" y="7387"/>
                  <a:pt x="351" y="7389"/>
                </a:cubicBezTo>
                <a:cubicBezTo>
                  <a:pt x="327" y="7397"/>
                  <a:pt x="314" y="7424"/>
                  <a:pt x="323" y="7449"/>
                </a:cubicBezTo>
                <a:cubicBezTo>
                  <a:pt x="330" y="7468"/>
                  <a:pt x="348" y="7480"/>
                  <a:pt x="367" y="7480"/>
                </a:cubicBezTo>
                <a:cubicBezTo>
                  <a:pt x="372" y="7480"/>
                  <a:pt x="378" y="7479"/>
                  <a:pt x="383" y="7478"/>
                </a:cubicBezTo>
                <a:cubicBezTo>
                  <a:pt x="407" y="7469"/>
                  <a:pt x="420" y="7442"/>
                  <a:pt x="411" y="7417"/>
                </a:cubicBezTo>
                <a:cubicBezTo>
                  <a:pt x="405" y="7398"/>
                  <a:pt x="387" y="7386"/>
                  <a:pt x="367" y="7386"/>
                </a:cubicBezTo>
                <a:moveTo>
                  <a:pt x="10795" y="7373"/>
                </a:moveTo>
                <a:cubicBezTo>
                  <a:pt x="10775" y="7373"/>
                  <a:pt x="10757" y="7385"/>
                  <a:pt x="10751" y="7404"/>
                </a:cubicBezTo>
                <a:cubicBezTo>
                  <a:pt x="10742" y="7429"/>
                  <a:pt x="10755" y="7456"/>
                  <a:pt x="10779" y="7465"/>
                </a:cubicBezTo>
                <a:cubicBezTo>
                  <a:pt x="10784" y="7466"/>
                  <a:pt x="10790" y="7467"/>
                  <a:pt x="10795" y="7467"/>
                </a:cubicBezTo>
                <a:cubicBezTo>
                  <a:pt x="10814" y="7467"/>
                  <a:pt x="10833" y="7455"/>
                  <a:pt x="10839" y="7436"/>
                </a:cubicBezTo>
                <a:cubicBezTo>
                  <a:pt x="10848" y="7411"/>
                  <a:pt x="10835" y="7384"/>
                  <a:pt x="10811" y="7375"/>
                </a:cubicBezTo>
                <a:cubicBezTo>
                  <a:pt x="10805" y="7374"/>
                  <a:pt x="10800" y="7373"/>
                  <a:pt x="10795" y="7373"/>
                </a:cubicBezTo>
                <a:moveTo>
                  <a:pt x="252" y="7026"/>
                </a:moveTo>
                <a:cubicBezTo>
                  <a:pt x="248" y="7026"/>
                  <a:pt x="244" y="7027"/>
                  <a:pt x="240" y="7028"/>
                </a:cubicBezTo>
                <a:cubicBezTo>
                  <a:pt x="215" y="7035"/>
                  <a:pt x="200" y="7061"/>
                  <a:pt x="207" y="7086"/>
                </a:cubicBezTo>
                <a:cubicBezTo>
                  <a:pt x="213" y="7107"/>
                  <a:pt x="232" y="7121"/>
                  <a:pt x="252" y="7121"/>
                </a:cubicBezTo>
                <a:cubicBezTo>
                  <a:pt x="257" y="7121"/>
                  <a:pt x="261" y="7120"/>
                  <a:pt x="265" y="7119"/>
                </a:cubicBezTo>
                <a:cubicBezTo>
                  <a:pt x="290" y="7112"/>
                  <a:pt x="305" y="7086"/>
                  <a:pt x="298" y="7061"/>
                </a:cubicBezTo>
                <a:cubicBezTo>
                  <a:pt x="292" y="7040"/>
                  <a:pt x="273" y="7026"/>
                  <a:pt x="252" y="7026"/>
                </a:cubicBezTo>
                <a:moveTo>
                  <a:pt x="10908" y="7013"/>
                </a:moveTo>
                <a:cubicBezTo>
                  <a:pt x="10888" y="7013"/>
                  <a:pt x="10869" y="7027"/>
                  <a:pt x="10863" y="7047"/>
                </a:cubicBezTo>
                <a:cubicBezTo>
                  <a:pt x="10856" y="7073"/>
                  <a:pt x="10871" y="7098"/>
                  <a:pt x="10896" y="7106"/>
                </a:cubicBezTo>
                <a:cubicBezTo>
                  <a:pt x="10900" y="7107"/>
                  <a:pt x="10905" y="7107"/>
                  <a:pt x="10909" y="7107"/>
                </a:cubicBezTo>
                <a:cubicBezTo>
                  <a:pt x="10929" y="7107"/>
                  <a:pt x="10948" y="7094"/>
                  <a:pt x="10954" y="7073"/>
                </a:cubicBezTo>
                <a:cubicBezTo>
                  <a:pt x="10961" y="7048"/>
                  <a:pt x="10946" y="7022"/>
                  <a:pt x="10921" y="7015"/>
                </a:cubicBezTo>
                <a:cubicBezTo>
                  <a:pt x="10917" y="7013"/>
                  <a:pt x="10913" y="7013"/>
                  <a:pt x="10908" y="7013"/>
                </a:cubicBezTo>
                <a:moveTo>
                  <a:pt x="163" y="6659"/>
                </a:moveTo>
                <a:cubicBezTo>
                  <a:pt x="160" y="6659"/>
                  <a:pt x="156" y="6660"/>
                  <a:pt x="153" y="6660"/>
                </a:cubicBezTo>
                <a:cubicBezTo>
                  <a:pt x="128" y="6666"/>
                  <a:pt x="111" y="6691"/>
                  <a:pt x="117" y="6717"/>
                </a:cubicBezTo>
                <a:cubicBezTo>
                  <a:pt x="121" y="6739"/>
                  <a:pt x="141" y="6754"/>
                  <a:pt x="163" y="6754"/>
                </a:cubicBezTo>
                <a:cubicBezTo>
                  <a:pt x="166" y="6754"/>
                  <a:pt x="169" y="6754"/>
                  <a:pt x="172" y="6753"/>
                </a:cubicBezTo>
                <a:cubicBezTo>
                  <a:pt x="198" y="6748"/>
                  <a:pt x="214" y="6722"/>
                  <a:pt x="209" y="6697"/>
                </a:cubicBezTo>
                <a:cubicBezTo>
                  <a:pt x="205" y="6675"/>
                  <a:pt x="185" y="6659"/>
                  <a:pt x="163" y="6659"/>
                </a:cubicBezTo>
                <a:moveTo>
                  <a:pt x="10997" y="6646"/>
                </a:moveTo>
                <a:cubicBezTo>
                  <a:pt x="10975" y="6646"/>
                  <a:pt x="10956" y="6661"/>
                  <a:pt x="10951" y="6684"/>
                </a:cubicBezTo>
                <a:cubicBezTo>
                  <a:pt x="10946" y="6709"/>
                  <a:pt x="10962" y="6734"/>
                  <a:pt x="10988" y="6739"/>
                </a:cubicBezTo>
                <a:cubicBezTo>
                  <a:pt x="10991" y="6740"/>
                  <a:pt x="10994" y="6740"/>
                  <a:pt x="10997" y="6740"/>
                </a:cubicBezTo>
                <a:cubicBezTo>
                  <a:pt x="11019" y="6740"/>
                  <a:pt x="11039" y="6725"/>
                  <a:pt x="11044" y="6703"/>
                </a:cubicBezTo>
                <a:cubicBezTo>
                  <a:pt x="11049" y="6677"/>
                  <a:pt x="11032" y="6652"/>
                  <a:pt x="11007" y="6647"/>
                </a:cubicBezTo>
                <a:cubicBezTo>
                  <a:pt x="11004" y="6646"/>
                  <a:pt x="11000" y="6646"/>
                  <a:pt x="10997" y="6646"/>
                </a:cubicBezTo>
                <a:moveTo>
                  <a:pt x="99" y="6288"/>
                </a:moveTo>
                <a:cubicBezTo>
                  <a:pt x="96" y="6288"/>
                  <a:pt x="94" y="6288"/>
                  <a:pt x="92" y="6288"/>
                </a:cubicBezTo>
                <a:cubicBezTo>
                  <a:pt x="66" y="6291"/>
                  <a:pt x="48" y="6315"/>
                  <a:pt x="52" y="6341"/>
                </a:cubicBezTo>
                <a:cubicBezTo>
                  <a:pt x="55" y="6365"/>
                  <a:pt x="75" y="6382"/>
                  <a:pt x="99" y="6382"/>
                </a:cubicBezTo>
                <a:cubicBezTo>
                  <a:pt x="101" y="6382"/>
                  <a:pt x="103" y="6382"/>
                  <a:pt x="105" y="6381"/>
                </a:cubicBezTo>
                <a:cubicBezTo>
                  <a:pt x="131" y="6378"/>
                  <a:pt x="149" y="6354"/>
                  <a:pt x="146" y="6328"/>
                </a:cubicBezTo>
                <a:cubicBezTo>
                  <a:pt x="142" y="6305"/>
                  <a:pt x="122" y="6288"/>
                  <a:pt x="99" y="6288"/>
                </a:cubicBezTo>
                <a:moveTo>
                  <a:pt x="11060" y="6274"/>
                </a:moveTo>
                <a:cubicBezTo>
                  <a:pt x="11037" y="6274"/>
                  <a:pt x="11017" y="6291"/>
                  <a:pt x="11014" y="6315"/>
                </a:cubicBezTo>
                <a:cubicBezTo>
                  <a:pt x="11010" y="6341"/>
                  <a:pt x="11028" y="6364"/>
                  <a:pt x="11054" y="6368"/>
                </a:cubicBezTo>
                <a:cubicBezTo>
                  <a:pt x="11056" y="6368"/>
                  <a:pt x="11059" y="6368"/>
                  <a:pt x="11061" y="6368"/>
                </a:cubicBezTo>
                <a:cubicBezTo>
                  <a:pt x="11084" y="6368"/>
                  <a:pt x="11104" y="6351"/>
                  <a:pt x="11107" y="6327"/>
                </a:cubicBezTo>
                <a:cubicBezTo>
                  <a:pt x="11111" y="6302"/>
                  <a:pt x="11093" y="6278"/>
                  <a:pt x="11067" y="6274"/>
                </a:cubicBezTo>
                <a:cubicBezTo>
                  <a:pt x="11065" y="6274"/>
                  <a:pt x="11062" y="6274"/>
                  <a:pt x="11060" y="6274"/>
                </a:cubicBezTo>
                <a:moveTo>
                  <a:pt x="60" y="5912"/>
                </a:moveTo>
                <a:cubicBezTo>
                  <a:pt x="59" y="5912"/>
                  <a:pt x="58" y="5912"/>
                  <a:pt x="57" y="5912"/>
                </a:cubicBezTo>
                <a:cubicBezTo>
                  <a:pt x="31" y="5914"/>
                  <a:pt x="11" y="5936"/>
                  <a:pt x="13" y="5962"/>
                </a:cubicBezTo>
                <a:cubicBezTo>
                  <a:pt x="15" y="5987"/>
                  <a:pt x="35" y="6006"/>
                  <a:pt x="60" y="6006"/>
                </a:cubicBezTo>
                <a:cubicBezTo>
                  <a:pt x="61" y="6006"/>
                  <a:pt x="62" y="6006"/>
                  <a:pt x="63" y="6006"/>
                </a:cubicBezTo>
                <a:cubicBezTo>
                  <a:pt x="89" y="6005"/>
                  <a:pt x="109" y="5982"/>
                  <a:pt x="107" y="5956"/>
                </a:cubicBezTo>
                <a:cubicBezTo>
                  <a:pt x="106" y="5931"/>
                  <a:pt x="85" y="5912"/>
                  <a:pt x="60" y="5912"/>
                </a:cubicBezTo>
                <a:moveTo>
                  <a:pt x="11098" y="5898"/>
                </a:moveTo>
                <a:cubicBezTo>
                  <a:pt x="11074" y="5898"/>
                  <a:pt x="11052" y="5917"/>
                  <a:pt x="11051" y="5942"/>
                </a:cubicBezTo>
                <a:cubicBezTo>
                  <a:pt x="11049" y="5968"/>
                  <a:pt x="11069" y="5991"/>
                  <a:pt x="11095" y="5993"/>
                </a:cubicBezTo>
                <a:cubicBezTo>
                  <a:pt x="11096" y="5993"/>
                  <a:pt x="11097" y="5993"/>
                  <a:pt x="11098" y="5993"/>
                </a:cubicBezTo>
                <a:cubicBezTo>
                  <a:pt x="11123" y="5993"/>
                  <a:pt x="11143" y="5973"/>
                  <a:pt x="11145" y="5949"/>
                </a:cubicBezTo>
                <a:cubicBezTo>
                  <a:pt x="11147" y="5922"/>
                  <a:pt x="11127" y="5900"/>
                  <a:pt x="11101" y="5898"/>
                </a:cubicBezTo>
                <a:cubicBezTo>
                  <a:pt x="11100" y="5898"/>
                  <a:pt x="11099" y="5898"/>
                  <a:pt x="11098" y="5898"/>
                </a:cubicBezTo>
                <a:moveTo>
                  <a:pt x="47" y="5535"/>
                </a:moveTo>
                <a:cubicBezTo>
                  <a:pt x="21" y="5535"/>
                  <a:pt x="0" y="5556"/>
                  <a:pt x="0" y="5582"/>
                </a:cubicBezTo>
                <a:cubicBezTo>
                  <a:pt x="0" y="5608"/>
                  <a:pt x="21" y="5629"/>
                  <a:pt x="47" y="5629"/>
                </a:cubicBezTo>
                <a:cubicBezTo>
                  <a:pt x="73" y="5629"/>
                  <a:pt x="95" y="5608"/>
                  <a:pt x="95" y="5582"/>
                </a:cubicBezTo>
                <a:cubicBezTo>
                  <a:pt x="94" y="5556"/>
                  <a:pt x="73" y="5535"/>
                  <a:pt x="47" y="5535"/>
                </a:cubicBezTo>
                <a:moveTo>
                  <a:pt x="11111" y="5521"/>
                </a:moveTo>
                <a:cubicBezTo>
                  <a:pt x="11111" y="5521"/>
                  <a:pt x="11110" y="5521"/>
                  <a:pt x="11110" y="5521"/>
                </a:cubicBezTo>
                <a:cubicBezTo>
                  <a:pt x="11084" y="5521"/>
                  <a:pt x="11063" y="5542"/>
                  <a:pt x="11063" y="5568"/>
                </a:cubicBezTo>
                <a:cubicBezTo>
                  <a:pt x="11063" y="5594"/>
                  <a:pt x="11084" y="5615"/>
                  <a:pt x="11110" y="5615"/>
                </a:cubicBezTo>
                <a:cubicBezTo>
                  <a:pt x="11136" y="5615"/>
                  <a:pt x="11157" y="5594"/>
                  <a:pt x="11157" y="5568"/>
                </a:cubicBezTo>
                <a:cubicBezTo>
                  <a:pt x="11157" y="5542"/>
                  <a:pt x="11137" y="5521"/>
                  <a:pt x="11111" y="5521"/>
                </a:cubicBezTo>
                <a:moveTo>
                  <a:pt x="59" y="5158"/>
                </a:moveTo>
                <a:cubicBezTo>
                  <a:pt x="35" y="5158"/>
                  <a:pt x="14" y="5177"/>
                  <a:pt x="12" y="5201"/>
                </a:cubicBezTo>
                <a:cubicBezTo>
                  <a:pt x="11" y="5228"/>
                  <a:pt x="30" y="5250"/>
                  <a:pt x="57" y="5252"/>
                </a:cubicBezTo>
                <a:cubicBezTo>
                  <a:pt x="57" y="5252"/>
                  <a:pt x="59" y="5252"/>
                  <a:pt x="60" y="5252"/>
                </a:cubicBezTo>
                <a:cubicBezTo>
                  <a:pt x="84" y="5252"/>
                  <a:pt x="105" y="5233"/>
                  <a:pt x="107" y="5208"/>
                </a:cubicBezTo>
                <a:cubicBezTo>
                  <a:pt x="108" y="5182"/>
                  <a:pt x="89" y="5159"/>
                  <a:pt x="63" y="5158"/>
                </a:cubicBezTo>
                <a:cubicBezTo>
                  <a:pt x="62" y="5158"/>
                  <a:pt x="61" y="5158"/>
                  <a:pt x="59" y="5158"/>
                </a:cubicBezTo>
                <a:moveTo>
                  <a:pt x="11097" y="5144"/>
                </a:moveTo>
                <a:cubicBezTo>
                  <a:pt x="11096" y="5144"/>
                  <a:pt x="11095" y="5144"/>
                  <a:pt x="11093" y="5144"/>
                </a:cubicBezTo>
                <a:cubicBezTo>
                  <a:pt x="11067" y="5145"/>
                  <a:pt x="11048" y="5168"/>
                  <a:pt x="11049" y="5194"/>
                </a:cubicBezTo>
                <a:cubicBezTo>
                  <a:pt x="11050" y="5194"/>
                  <a:pt x="11050" y="5194"/>
                  <a:pt x="11050" y="5194"/>
                </a:cubicBezTo>
                <a:cubicBezTo>
                  <a:pt x="11051" y="5219"/>
                  <a:pt x="11072" y="5238"/>
                  <a:pt x="11097" y="5238"/>
                </a:cubicBezTo>
                <a:cubicBezTo>
                  <a:pt x="11098" y="5238"/>
                  <a:pt x="11099" y="5238"/>
                  <a:pt x="11100" y="5238"/>
                </a:cubicBezTo>
                <a:cubicBezTo>
                  <a:pt x="11126" y="5236"/>
                  <a:pt x="11146" y="5213"/>
                  <a:pt x="11144" y="5188"/>
                </a:cubicBezTo>
                <a:cubicBezTo>
                  <a:pt x="11142" y="5163"/>
                  <a:pt x="11122" y="5144"/>
                  <a:pt x="11097" y="5144"/>
                </a:cubicBezTo>
                <a:moveTo>
                  <a:pt x="98" y="4782"/>
                </a:moveTo>
                <a:cubicBezTo>
                  <a:pt x="74" y="4782"/>
                  <a:pt x="54" y="4799"/>
                  <a:pt x="51" y="4823"/>
                </a:cubicBezTo>
                <a:cubicBezTo>
                  <a:pt x="47" y="4849"/>
                  <a:pt x="66" y="4872"/>
                  <a:pt x="91" y="4876"/>
                </a:cubicBezTo>
                <a:cubicBezTo>
                  <a:pt x="94" y="4876"/>
                  <a:pt x="96" y="4876"/>
                  <a:pt x="98" y="4876"/>
                </a:cubicBezTo>
                <a:cubicBezTo>
                  <a:pt x="121" y="4876"/>
                  <a:pt x="141" y="4859"/>
                  <a:pt x="144" y="4836"/>
                </a:cubicBezTo>
                <a:cubicBezTo>
                  <a:pt x="148" y="4810"/>
                  <a:pt x="130" y="4786"/>
                  <a:pt x="104" y="4782"/>
                </a:cubicBezTo>
                <a:cubicBezTo>
                  <a:pt x="102" y="4782"/>
                  <a:pt x="100" y="4782"/>
                  <a:pt x="98" y="4782"/>
                </a:cubicBezTo>
                <a:moveTo>
                  <a:pt x="11058" y="4768"/>
                </a:moveTo>
                <a:cubicBezTo>
                  <a:pt x="11056" y="4768"/>
                  <a:pt x="11053" y="4768"/>
                  <a:pt x="11051" y="4769"/>
                </a:cubicBezTo>
                <a:cubicBezTo>
                  <a:pt x="11025" y="4772"/>
                  <a:pt x="11007" y="4796"/>
                  <a:pt x="11011" y="4822"/>
                </a:cubicBezTo>
                <a:cubicBezTo>
                  <a:pt x="11014" y="4846"/>
                  <a:pt x="11035" y="4863"/>
                  <a:pt x="11058" y="4863"/>
                </a:cubicBezTo>
                <a:cubicBezTo>
                  <a:pt x="11060" y="4863"/>
                  <a:pt x="11062" y="4862"/>
                  <a:pt x="11064" y="4862"/>
                </a:cubicBezTo>
                <a:cubicBezTo>
                  <a:pt x="11090" y="4859"/>
                  <a:pt x="11108" y="4835"/>
                  <a:pt x="11104" y="4809"/>
                </a:cubicBezTo>
                <a:cubicBezTo>
                  <a:pt x="11101" y="4785"/>
                  <a:pt x="11081" y="4768"/>
                  <a:pt x="11058" y="4768"/>
                </a:cubicBezTo>
                <a:moveTo>
                  <a:pt x="161" y="4410"/>
                </a:moveTo>
                <a:cubicBezTo>
                  <a:pt x="139" y="4410"/>
                  <a:pt x="120" y="4425"/>
                  <a:pt x="115" y="4448"/>
                </a:cubicBezTo>
                <a:cubicBezTo>
                  <a:pt x="110" y="4473"/>
                  <a:pt x="126" y="4498"/>
                  <a:pt x="152" y="4503"/>
                </a:cubicBezTo>
                <a:cubicBezTo>
                  <a:pt x="155" y="4504"/>
                  <a:pt x="158" y="4504"/>
                  <a:pt x="161" y="4504"/>
                </a:cubicBezTo>
                <a:cubicBezTo>
                  <a:pt x="183" y="4504"/>
                  <a:pt x="203" y="4489"/>
                  <a:pt x="208" y="4467"/>
                </a:cubicBezTo>
                <a:cubicBezTo>
                  <a:pt x="213" y="4441"/>
                  <a:pt x="197" y="4416"/>
                  <a:pt x="171" y="4411"/>
                </a:cubicBezTo>
                <a:cubicBezTo>
                  <a:pt x="168" y="4410"/>
                  <a:pt x="164" y="4410"/>
                  <a:pt x="161" y="4410"/>
                </a:cubicBezTo>
                <a:moveTo>
                  <a:pt x="10993" y="4396"/>
                </a:moveTo>
                <a:cubicBezTo>
                  <a:pt x="10990" y="4396"/>
                  <a:pt x="10987" y="4397"/>
                  <a:pt x="10983" y="4397"/>
                </a:cubicBezTo>
                <a:cubicBezTo>
                  <a:pt x="10958" y="4403"/>
                  <a:pt x="10941" y="4428"/>
                  <a:pt x="10947" y="4453"/>
                </a:cubicBezTo>
                <a:cubicBezTo>
                  <a:pt x="10951" y="4475"/>
                  <a:pt x="10971" y="4491"/>
                  <a:pt x="10993" y="4491"/>
                </a:cubicBezTo>
                <a:cubicBezTo>
                  <a:pt x="10996" y="4491"/>
                  <a:pt x="10999" y="4490"/>
                  <a:pt x="11003" y="4490"/>
                </a:cubicBezTo>
                <a:cubicBezTo>
                  <a:pt x="11028" y="4484"/>
                  <a:pt x="11045" y="4459"/>
                  <a:pt x="11039" y="4434"/>
                </a:cubicBezTo>
                <a:cubicBezTo>
                  <a:pt x="11035" y="4412"/>
                  <a:pt x="11015" y="4396"/>
                  <a:pt x="10993" y="4396"/>
                </a:cubicBezTo>
                <a:moveTo>
                  <a:pt x="250" y="4043"/>
                </a:moveTo>
                <a:cubicBezTo>
                  <a:pt x="230" y="4043"/>
                  <a:pt x="211" y="4057"/>
                  <a:pt x="205" y="4077"/>
                </a:cubicBezTo>
                <a:cubicBezTo>
                  <a:pt x="205" y="4078"/>
                  <a:pt x="205" y="4078"/>
                  <a:pt x="205" y="4078"/>
                </a:cubicBezTo>
                <a:cubicBezTo>
                  <a:pt x="198" y="4103"/>
                  <a:pt x="213" y="4129"/>
                  <a:pt x="238" y="4136"/>
                </a:cubicBezTo>
                <a:cubicBezTo>
                  <a:pt x="242" y="4137"/>
                  <a:pt x="246" y="4138"/>
                  <a:pt x="250" y="4138"/>
                </a:cubicBezTo>
                <a:cubicBezTo>
                  <a:pt x="271" y="4138"/>
                  <a:pt x="290" y="4124"/>
                  <a:pt x="296" y="4103"/>
                </a:cubicBezTo>
                <a:cubicBezTo>
                  <a:pt x="303" y="4078"/>
                  <a:pt x="288" y="4052"/>
                  <a:pt x="263" y="4045"/>
                </a:cubicBezTo>
                <a:cubicBezTo>
                  <a:pt x="259" y="4044"/>
                  <a:pt x="255" y="4043"/>
                  <a:pt x="250" y="4043"/>
                </a:cubicBezTo>
                <a:moveTo>
                  <a:pt x="10903" y="4030"/>
                </a:moveTo>
                <a:cubicBezTo>
                  <a:pt x="10899" y="4030"/>
                  <a:pt x="10894" y="4030"/>
                  <a:pt x="10890" y="4031"/>
                </a:cubicBezTo>
                <a:cubicBezTo>
                  <a:pt x="10865" y="4039"/>
                  <a:pt x="10851" y="4064"/>
                  <a:pt x="10858" y="4090"/>
                </a:cubicBezTo>
                <a:cubicBezTo>
                  <a:pt x="10864" y="4110"/>
                  <a:pt x="10882" y="4124"/>
                  <a:pt x="10903" y="4124"/>
                </a:cubicBezTo>
                <a:cubicBezTo>
                  <a:pt x="10907" y="4124"/>
                  <a:pt x="10912" y="4124"/>
                  <a:pt x="10916" y="4122"/>
                </a:cubicBezTo>
                <a:cubicBezTo>
                  <a:pt x="10941" y="4115"/>
                  <a:pt x="10956" y="4089"/>
                  <a:pt x="10949" y="4064"/>
                </a:cubicBezTo>
                <a:cubicBezTo>
                  <a:pt x="10943" y="4043"/>
                  <a:pt x="10924" y="4030"/>
                  <a:pt x="10903" y="4030"/>
                </a:cubicBezTo>
                <a:moveTo>
                  <a:pt x="365" y="3683"/>
                </a:moveTo>
                <a:cubicBezTo>
                  <a:pt x="345" y="3683"/>
                  <a:pt x="327" y="3695"/>
                  <a:pt x="320" y="3715"/>
                </a:cubicBezTo>
                <a:cubicBezTo>
                  <a:pt x="311" y="3739"/>
                  <a:pt x="324" y="3766"/>
                  <a:pt x="349" y="3775"/>
                </a:cubicBezTo>
                <a:cubicBezTo>
                  <a:pt x="354" y="3777"/>
                  <a:pt x="359" y="3778"/>
                  <a:pt x="365" y="3778"/>
                </a:cubicBezTo>
                <a:cubicBezTo>
                  <a:pt x="384" y="3778"/>
                  <a:pt x="402" y="3766"/>
                  <a:pt x="409" y="3746"/>
                </a:cubicBezTo>
                <a:cubicBezTo>
                  <a:pt x="418" y="3722"/>
                  <a:pt x="405" y="3695"/>
                  <a:pt x="381" y="3686"/>
                </a:cubicBezTo>
                <a:cubicBezTo>
                  <a:pt x="375" y="3684"/>
                  <a:pt x="370" y="3683"/>
                  <a:pt x="365" y="3683"/>
                </a:cubicBezTo>
                <a:moveTo>
                  <a:pt x="10788" y="3670"/>
                </a:moveTo>
                <a:cubicBezTo>
                  <a:pt x="10783" y="3670"/>
                  <a:pt x="10777" y="3671"/>
                  <a:pt x="10772" y="3673"/>
                </a:cubicBezTo>
                <a:cubicBezTo>
                  <a:pt x="10747" y="3682"/>
                  <a:pt x="10735" y="3709"/>
                  <a:pt x="10744" y="3733"/>
                </a:cubicBezTo>
                <a:cubicBezTo>
                  <a:pt x="10751" y="3752"/>
                  <a:pt x="10769" y="3764"/>
                  <a:pt x="10788" y="3764"/>
                </a:cubicBezTo>
                <a:cubicBezTo>
                  <a:pt x="10793" y="3764"/>
                  <a:pt x="10799" y="3764"/>
                  <a:pt x="10804" y="3762"/>
                </a:cubicBezTo>
                <a:cubicBezTo>
                  <a:pt x="10829" y="3753"/>
                  <a:pt x="10841" y="3726"/>
                  <a:pt x="10832" y="3701"/>
                </a:cubicBezTo>
                <a:cubicBezTo>
                  <a:pt x="10826" y="3682"/>
                  <a:pt x="10807" y="3670"/>
                  <a:pt x="10788" y="3670"/>
                </a:cubicBezTo>
                <a:moveTo>
                  <a:pt x="503" y="3332"/>
                </a:moveTo>
                <a:cubicBezTo>
                  <a:pt x="485" y="3332"/>
                  <a:pt x="468" y="3342"/>
                  <a:pt x="460" y="3360"/>
                </a:cubicBezTo>
                <a:cubicBezTo>
                  <a:pt x="450" y="3384"/>
                  <a:pt x="461" y="3412"/>
                  <a:pt x="484" y="3422"/>
                </a:cubicBezTo>
                <a:cubicBezTo>
                  <a:pt x="491" y="3425"/>
                  <a:pt x="497" y="3426"/>
                  <a:pt x="503" y="3426"/>
                </a:cubicBezTo>
                <a:cubicBezTo>
                  <a:pt x="522" y="3426"/>
                  <a:pt x="539" y="3416"/>
                  <a:pt x="547" y="3398"/>
                </a:cubicBezTo>
                <a:cubicBezTo>
                  <a:pt x="557" y="3374"/>
                  <a:pt x="546" y="3346"/>
                  <a:pt x="522" y="3336"/>
                </a:cubicBezTo>
                <a:cubicBezTo>
                  <a:pt x="516" y="3333"/>
                  <a:pt x="510" y="3332"/>
                  <a:pt x="503" y="3332"/>
                </a:cubicBezTo>
                <a:moveTo>
                  <a:pt x="10648" y="3320"/>
                </a:moveTo>
                <a:cubicBezTo>
                  <a:pt x="10642" y="3320"/>
                  <a:pt x="10636" y="3321"/>
                  <a:pt x="10630" y="3324"/>
                </a:cubicBezTo>
                <a:cubicBezTo>
                  <a:pt x="10606" y="3334"/>
                  <a:pt x="10595" y="3362"/>
                  <a:pt x="10605" y="3386"/>
                </a:cubicBezTo>
                <a:cubicBezTo>
                  <a:pt x="10613" y="3404"/>
                  <a:pt x="10631" y="3414"/>
                  <a:pt x="10649" y="3414"/>
                </a:cubicBezTo>
                <a:cubicBezTo>
                  <a:pt x="10655" y="3414"/>
                  <a:pt x="10661" y="3413"/>
                  <a:pt x="10668" y="3410"/>
                </a:cubicBezTo>
                <a:cubicBezTo>
                  <a:pt x="10692" y="3400"/>
                  <a:pt x="10702" y="3372"/>
                  <a:pt x="10692" y="3348"/>
                </a:cubicBezTo>
                <a:cubicBezTo>
                  <a:pt x="10684" y="3330"/>
                  <a:pt x="10667" y="3320"/>
                  <a:pt x="10648" y="3320"/>
                </a:cubicBezTo>
                <a:moveTo>
                  <a:pt x="666" y="2991"/>
                </a:moveTo>
                <a:cubicBezTo>
                  <a:pt x="649" y="2991"/>
                  <a:pt x="633" y="3000"/>
                  <a:pt x="624" y="3016"/>
                </a:cubicBezTo>
                <a:cubicBezTo>
                  <a:pt x="612" y="3039"/>
                  <a:pt x="621" y="3068"/>
                  <a:pt x="644" y="3080"/>
                </a:cubicBezTo>
                <a:cubicBezTo>
                  <a:pt x="651" y="3083"/>
                  <a:pt x="659" y="3085"/>
                  <a:pt x="666" y="3085"/>
                </a:cubicBezTo>
                <a:cubicBezTo>
                  <a:pt x="683" y="3085"/>
                  <a:pt x="699" y="3076"/>
                  <a:pt x="708" y="3059"/>
                </a:cubicBezTo>
                <a:cubicBezTo>
                  <a:pt x="720" y="3036"/>
                  <a:pt x="711" y="3008"/>
                  <a:pt x="688" y="2996"/>
                </a:cubicBezTo>
                <a:cubicBezTo>
                  <a:pt x="681" y="2992"/>
                  <a:pt x="673" y="2991"/>
                  <a:pt x="666" y="2991"/>
                </a:cubicBezTo>
                <a:moveTo>
                  <a:pt x="10486" y="2980"/>
                </a:moveTo>
                <a:cubicBezTo>
                  <a:pt x="10478" y="2980"/>
                  <a:pt x="10471" y="2981"/>
                  <a:pt x="10464" y="2985"/>
                </a:cubicBezTo>
                <a:cubicBezTo>
                  <a:pt x="10441" y="2997"/>
                  <a:pt x="10432" y="3026"/>
                  <a:pt x="10444" y="3049"/>
                </a:cubicBezTo>
                <a:cubicBezTo>
                  <a:pt x="10452" y="3065"/>
                  <a:pt x="10469" y="3074"/>
                  <a:pt x="10486" y="3074"/>
                </a:cubicBezTo>
                <a:cubicBezTo>
                  <a:pt x="10493" y="3074"/>
                  <a:pt x="10501" y="3072"/>
                  <a:pt x="10508" y="3069"/>
                </a:cubicBezTo>
                <a:cubicBezTo>
                  <a:pt x="10531" y="3057"/>
                  <a:pt x="10540" y="3028"/>
                  <a:pt x="10528" y="3005"/>
                </a:cubicBezTo>
                <a:cubicBezTo>
                  <a:pt x="10519" y="2989"/>
                  <a:pt x="10503" y="2980"/>
                  <a:pt x="10486" y="2980"/>
                </a:cubicBezTo>
                <a:moveTo>
                  <a:pt x="852" y="2661"/>
                </a:moveTo>
                <a:cubicBezTo>
                  <a:pt x="836" y="2661"/>
                  <a:pt x="820" y="2669"/>
                  <a:pt x="811" y="2684"/>
                </a:cubicBezTo>
                <a:cubicBezTo>
                  <a:pt x="798" y="2706"/>
                  <a:pt x="805" y="2735"/>
                  <a:pt x="827" y="2749"/>
                </a:cubicBezTo>
                <a:cubicBezTo>
                  <a:pt x="835" y="2753"/>
                  <a:pt x="843" y="2756"/>
                  <a:pt x="852" y="2756"/>
                </a:cubicBezTo>
                <a:cubicBezTo>
                  <a:pt x="867" y="2756"/>
                  <a:pt x="883" y="2748"/>
                  <a:pt x="892" y="2733"/>
                </a:cubicBezTo>
                <a:cubicBezTo>
                  <a:pt x="905" y="2711"/>
                  <a:pt x="898" y="2682"/>
                  <a:pt x="876" y="2668"/>
                </a:cubicBezTo>
                <a:cubicBezTo>
                  <a:pt x="868" y="2663"/>
                  <a:pt x="860" y="2661"/>
                  <a:pt x="852" y="2661"/>
                </a:cubicBezTo>
                <a:moveTo>
                  <a:pt x="10300" y="2651"/>
                </a:moveTo>
                <a:cubicBezTo>
                  <a:pt x="10291" y="2651"/>
                  <a:pt x="10283" y="2654"/>
                  <a:pt x="10275" y="2658"/>
                </a:cubicBezTo>
                <a:cubicBezTo>
                  <a:pt x="10253" y="2672"/>
                  <a:pt x="10246" y="2701"/>
                  <a:pt x="10260" y="2723"/>
                </a:cubicBezTo>
                <a:cubicBezTo>
                  <a:pt x="10269" y="2738"/>
                  <a:pt x="10284" y="2746"/>
                  <a:pt x="10300" y="2746"/>
                </a:cubicBezTo>
                <a:cubicBezTo>
                  <a:pt x="10308" y="2746"/>
                  <a:pt x="10317" y="2744"/>
                  <a:pt x="10325" y="2739"/>
                </a:cubicBezTo>
                <a:cubicBezTo>
                  <a:pt x="10347" y="2725"/>
                  <a:pt x="10354" y="2696"/>
                  <a:pt x="10340" y="2674"/>
                </a:cubicBezTo>
                <a:cubicBezTo>
                  <a:pt x="10331" y="2659"/>
                  <a:pt x="10316" y="2651"/>
                  <a:pt x="10300" y="2651"/>
                </a:cubicBezTo>
                <a:moveTo>
                  <a:pt x="1059" y="2346"/>
                </a:moveTo>
                <a:cubicBezTo>
                  <a:pt x="1044" y="2346"/>
                  <a:pt x="1030" y="2353"/>
                  <a:pt x="1020" y="2366"/>
                </a:cubicBezTo>
                <a:cubicBezTo>
                  <a:pt x="1005" y="2387"/>
                  <a:pt x="1010" y="2416"/>
                  <a:pt x="1032" y="2431"/>
                </a:cubicBezTo>
                <a:cubicBezTo>
                  <a:pt x="1040" y="2437"/>
                  <a:pt x="1050" y="2440"/>
                  <a:pt x="1059" y="2440"/>
                </a:cubicBezTo>
                <a:cubicBezTo>
                  <a:pt x="1074" y="2440"/>
                  <a:pt x="1088" y="2433"/>
                  <a:pt x="1097" y="2420"/>
                </a:cubicBezTo>
                <a:cubicBezTo>
                  <a:pt x="1113" y="2399"/>
                  <a:pt x="1108" y="2369"/>
                  <a:pt x="1086" y="2354"/>
                </a:cubicBezTo>
                <a:cubicBezTo>
                  <a:pt x="1078" y="2348"/>
                  <a:pt x="1069" y="2346"/>
                  <a:pt x="1059" y="2346"/>
                </a:cubicBezTo>
                <a:moveTo>
                  <a:pt x="10092" y="2337"/>
                </a:moveTo>
                <a:cubicBezTo>
                  <a:pt x="10083" y="2337"/>
                  <a:pt x="10073" y="2339"/>
                  <a:pt x="10065" y="2345"/>
                </a:cubicBezTo>
                <a:cubicBezTo>
                  <a:pt x="10043" y="2360"/>
                  <a:pt x="10038" y="2390"/>
                  <a:pt x="10053" y="2411"/>
                </a:cubicBezTo>
                <a:cubicBezTo>
                  <a:pt x="10063" y="2424"/>
                  <a:pt x="10077" y="2431"/>
                  <a:pt x="10092" y="2431"/>
                </a:cubicBezTo>
                <a:cubicBezTo>
                  <a:pt x="10101" y="2431"/>
                  <a:pt x="10111" y="2428"/>
                  <a:pt x="10119" y="2422"/>
                </a:cubicBezTo>
                <a:cubicBezTo>
                  <a:pt x="10141" y="2407"/>
                  <a:pt x="10145" y="2378"/>
                  <a:pt x="10131" y="2356"/>
                </a:cubicBezTo>
                <a:cubicBezTo>
                  <a:pt x="10121" y="2343"/>
                  <a:pt x="10107" y="2337"/>
                  <a:pt x="10092" y="2337"/>
                </a:cubicBezTo>
                <a:moveTo>
                  <a:pt x="1287" y="2045"/>
                </a:moveTo>
                <a:cubicBezTo>
                  <a:pt x="1274" y="2045"/>
                  <a:pt x="1260" y="2051"/>
                  <a:pt x="1251" y="2062"/>
                </a:cubicBezTo>
                <a:cubicBezTo>
                  <a:pt x="1234" y="2082"/>
                  <a:pt x="1237" y="2112"/>
                  <a:pt x="1257" y="2129"/>
                </a:cubicBezTo>
                <a:cubicBezTo>
                  <a:pt x="1266" y="2136"/>
                  <a:pt x="1277" y="2139"/>
                  <a:pt x="1287" y="2139"/>
                </a:cubicBezTo>
                <a:cubicBezTo>
                  <a:pt x="1301" y="2139"/>
                  <a:pt x="1315" y="2133"/>
                  <a:pt x="1324" y="2122"/>
                </a:cubicBezTo>
                <a:cubicBezTo>
                  <a:pt x="1340" y="2102"/>
                  <a:pt x="1337" y="2072"/>
                  <a:pt x="1317" y="2055"/>
                </a:cubicBezTo>
                <a:cubicBezTo>
                  <a:pt x="1308" y="2048"/>
                  <a:pt x="1298" y="2045"/>
                  <a:pt x="1287" y="2045"/>
                </a:cubicBezTo>
                <a:moveTo>
                  <a:pt x="9863" y="2036"/>
                </a:moveTo>
                <a:cubicBezTo>
                  <a:pt x="9853" y="2036"/>
                  <a:pt x="9842" y="2040"/>
                  <a:pt x="9833" y="2047"/>
                </a:cubicBezTo>
                <a:cubicBezTo>
                  <a:pt x="9813" y="2064"/>
                  <a:pt x="9810" y="2093"/>
                  <a:pt x="9826" y="2113"/>
                </a:cubicBezTo>
                <a:cubicBezTo>
                  <a:pt x="9836" y="2125"/>
                  <a:pt x="9849" y="2131"/>
                  <a:pt x="9863" y="2131"/>
                </a:cubicBezTo>
                <a:cubicBezTo>
                  <a:pt x="9874" y="2131"/>
                  <a:pt x="9884" y="2127"/>
                  <a:pt x="9893" y="2120"/>
                </a:cubicBezTo>
                <a:cubicBezTo>
                  <a:pt x="9913" y="2104"/>
                  <a:pt x="9916" y="2074"/>
                  <a:pt x="9900" y="2054"/>
                </a:cubicBezTo>
                <a:cubicBezTo>
                  <a:pt x="9890" y="2042"/>
                  <a:pt x="9877" y="2036"/>
                  <a:pt x="9863" y="2036"/>
                </a:cubicBezTo>
                <a:moveTo>
                  <a:pt x="1535" y="1760"/>
                </a:moveTo>
                <a:cubicBezTo>
                  <a:pt x="1523" y="1760"/>
                  <a:pt x="1510" y="1765"/>
                  <a:pt x="1501" y="1775"/>
                </a:cubicBezTo>
                <a:cubicBezTo>
                  <a:pt x="1483" y="1794"/>
                  <a:pt x="1484" y="1824"/>
                  <a:pt x="1503" y="1842"/>
                </a:cubicBezTo>
                <a:cubicBezTo>
                  <a:pt x="1512" y="1850"/>
                  <a:pt x="1524" y="1855"/>
                  <a:pt x="1535" y="1855"/>
                </a:cubicBezTo>
                <a:cubicBezTo>
                  <a:pt x="1548" y="1855"/>
                  <a:pt x="1561" y="1849"/>
                  <a:pt x="1570" y="1840"/>
                </a:cubicBezTo>
                <a:cubicBezTo>
                  <a:pt x="1588" y="1821"/>
                  <a:pt x="1587" y="1791"/>
                  <a:pt x="1568" y="1773"/>
                </a:cubicBezTo>
                <a:cubicBezTo>
                  <a:pt x="1558" y="1764"/>
                  <a:pt x="1547" y="1760"/>
                  <a:pt x="1535" y="1760"/>
                </a:cubicBezTo>
                <a:moveTo>
                  <a:pt x="9615" y="1752"/>
                </a:moveTo>
                <a:cubicBezTo>
                  <a:pt x="9603" y="1752"/>
                  <a:pt x="9591" y="1757"/>
                  <a:pt x="9582" y="1765"/>
                </a:cubicBezTo>
                <a:cubicBezTo>
                  <a:pt x="9563" y="1783"/>
                  <a:pt x="9562" y="1813"/>
                  <a:pt x="9580" y="1832"/>
                </a:cubicBezTo>
                <a:cubicBezTo>
                  <a:pt x="9589" y="1842"/>
                  <a:pt x="9602" y="1847"/>
                  <a:pt x="9615" y="1847"/>
                </a:cubicBezTo>
                <a:cubicBezTo>
                  <a:pt x="9626" y="1847"/>
                  <a:pt x="9638" y="1843"/>
                  <a:pt x="9647" y="1834"/>
                </a:cubicBezTo>
                <a:cubicBezTo>
                  <a:pt x="9666" y="1816"/>
                  <a:pt x="9667" y="1786"/>
                  <a:pt x="9649" y="1767"/>
                </a:cubicBezTo>
                <a:cubicBezTo>
                  <a:pt x="9640" y="1757"/>
                  <a:pt x="9627" y="1752"/>
                  <a:pt x="9615" y="1752"/>
                </a:cubicBezTo>
                <a:moveTo>
                  <a:pt x="1802" y="1493"/>
                </a:moveTo>
                <a:cubicBezTo>
                  <a:pt x="1791" y="1493"/>
                  <a:pt x="1779" y="1497"/>
                  <a:pt x="1770" y="1506"/>
                </a:cubicBezTo>
                <a:cubicBezTo>
                  <a:pt x="1751" y="1524"/>
                  <a:pt x="1750" y="1554"/>
                  <a:pt x="1768" y="1572"/>
                </a:cubicBezTo>
                <a:cubicBezTo>
                  <a:pt x="1777" y="1582"/>
                  <a:pt x="1789" y="1588"/>
                  <a:pt x="1802" y="1588"/>
                </a:cubicBezTo>
                <a:cubicBezTo>
                  <a:pt x="1814" y="1588"/>
                  <a:pt x="1825" y="1583"/>
                  <a:pt x="1835" y="1575"/>
                </a:cubicBezTo>
                <a:cubicBezTo>
                  <a:pt x="1853" y="1557"/>
                  <a:pt x="1855" y="1527"/>
                  <a:pt x="1837" y="1508"/>
                </a:cubicBezTo>
                <a:cubicBezTo>
                  <a:pt x="1827" y="1498"/>
                  <a:pt x="1815" y="1493"/>
                  <a:pt x="1802" y="1493"/>
                </a:cubicBezTo>
                <a:moveTo>
                  <a:pt x="9347" y="1486"/>
                </a:moveTo>
                <a:cubicBezTo>
                  <a:pt x="9335" y="1486"/>
                  <a:pt x="9322" y="1491"/>
                  <a:pt x="9313" y="1501"/>
                </a:cubicBezTo>
                <a:cubicBezTo>
                  <a:pt x="9295" y="1520"/>
                  <a:pt x="9296" y="1550"/>
                  <a:pt x="9315" y="1567"/>
                </a:cubicBezTo>
                <a:cubicBezTo>
                  <a:pt x="9324" y="1576"/>
                  <a:pt x="9336" y="1580"/>
                  <a:pt x="9347" y="1580"/>
                </a:cubicBezTo>
                <a:cubicBezTo>
                  <a:pt x="9360" y="1580"/>
                  <a:pt x="9372" y="1575"/>
                  <a:pt x="9382" y="1565"/>
                </a:cubicBezTo>
                <a:cubicBezTo>
                  <a:pt x="9400" y="1546"/>
                  <a:pt x="9399" y="1516"/>
                  <a:pt x="9379" y="1498"/>
                </a:cubicBezTo>
                <a:cubicBezTo>
                  <a:pt x="9370" y="1490"/>
                  <a:pt x="9359" y="1486"/>
                  <a:pt x="9347" y="1486"/>
                </a:cubicBezTo>
                <a:moveTo>
                  <a:pt x="2086" y="1245"/>
                </a:moveTo>
                <a:cubicBezTo>
                  <a:pt x="2076" y="1245"/>
                  <a:pt x="2065" y="1248"/>
                  <a:pt x="2056" y="1255"/>
                </a:cubicBezTo>
                <a:cubicBezTo>
                  <a:pt x="2056" y="1255"/>
                  <a:pt x="2056" y="1255"/>
                  <a:pt x="2056" y="1255"/>
                </a:cubicBezTo>
                <a:cubicBezTo>
                  <a:pt x="2036" y="1272"/>
                  <a:pt x="2034" y="1301"/>
                  <a:pt x="2050" y="1321"/>
                </a:cubicBezTo>
                <a:cubicBezTo>
                  <a:pt x="2059" y="1333"/>
                  <a:pt x="2073" y="1339"/>
                  <a:pt x="2086" y="1339"/>
                </a:cubicBezTo>
                <a:cubicBezTo>
                  <a:pt x="2097" y="1339"/>
                  <a:pt x="2108" y="1336"/>
                  <a:pt x="2116" y="1328"/>
                </a:cubicBezTo>
                <a:cubicBezTo>
                  <a:pt x="2136" y="1312"/>
                  <a:pt x="2140" y="1282"/>
                  <a:pt x="2123" y="1262"/>
                </a:cubicBezTo>
                <a:cubicBezTo>
                  <a:pt x="2114" y="1251"/>
                  <a:pt x="2100" y="1245"/>
                  <a:pt x="2086" y="1245"/>
                </a:cubicBezTo>
                <a:moveTo>
                  <a:pt x="9063" y="1238"/>
                </a:moveTo>
                <a:cubicBezTo>
                  <a:pt x="9049" y="1238"/>
                  <a:pt x="9035" y="1244"/>
                  <a:pt x="9026" y="1255"/>
                </a:cubicBezTo>
                <a:cubicBezTo>
                  <a:pt x="9009" y="1275"/>
                  <a:pt x="9012" y="1305"/>
                  <a:pt x="9033" y="1321"/>
                </a:cubicBezTo>
                <a:cubicBezTo>
                  <a:pt x="9042" y="1329"/>
                  <a:pt x="9052" y="1332"/>
                  <a:pt x="9062" y="1332"/>
                </a:cubicBezTo>
                <a:cubicBezTo>
                  <a:pt x="9076" y="1332"/>
                  <a:pt x="9090" y="1326"/>
                  <a:pt x="9099" y="1315"/>
                </a:cubicBezTo>
                <a:cubicBezTo>
                  <a:pt x="9116" y="1294"/>
                  <a:pt x="9112" y="1265"/>
                  <a:pt x="9092" y="1248"/>
                </a:cubicBezTo>
                <a:cubicBezTo>
                  <a:pt x="9084" y="1241"/>
                  <a:pt x="9073" y="1238"/>
                  <a:pt x="9063" y="1238"/>
                </a:cubicBezTo>
                <a:moveTo>
                  <a:pt x="2387" y="1016"/>
                </a:moveTo>
                <a:cubicBezTo>
                  <a:pt x="2377" y="1016"/>
                  <a:pt x="2368" y="1019"/>
                  <a:pt x="2359" y="1025"/>
                </a:cubicBezTo>
                <a:cubicBezTo>
                  <a:pt x="2338" y="1040"/>
                  <a:pt x="2333" y="1069"/>
                  <a:pt x="2348" y="1090"/>
                </a:cubicBezTo>
                <a:cubicBezTo>
                  <a:pt x="2357" y="1104"/>
                  <a:pt x="2372" y="1111"/>
                  <a:pt x="2387" y="1111"/>
                </a:cubicBezTo>
                <a:cubicBezTo>
                  <a:pt x="2396" y="1111"/>
                  <a:pt x="2406" y="1108"/>
                  <a:pt x="2414" y="1102"/>
                </a:cubicBezTo>
                <a:cubicBezTo>
                  <a:pt x="2435" y="1087"/>
                  <a:pt x="2440" y="1057"/>
                  <a:pt x="2425" y="1036"/>
                </a:cubicBezTo>
                <a:cubicBezTo>
                  <a:pt x="2416" y="1023"/>
                  <a:pt x="2401" y="1016"/>
                  <a:pt x="2387" y="1016"/>
                </a:cubicBezTo>
                <a:moveTo>
                  <a:pt x="8762" y="1010"/>
                </a:moveTo>
                <a:cubicBezTo>
                  <a:pt x="8747" y="1010"/>
                  <a:pt x="8732" y="1017"/>
                  <a:pt x="8723" y="1030"/>
                </a:cubicBezTo>
                <a:cubicBezTo>
                  <a:pt x="8708" y="1051"/>
                  <a:pt x="8713" y="1080"/>
                  <a:pt x="8734" y="1095"/>
                </a:cubicBezTo>
                <a:cubicBezTo>
                  <a:pt x="8742" y="1101"/>
                  <a:pt x="8752" y="1104"/>
                  <a:pt x="8762" y="1104"/>
                </a:cubicBezTo>
                <a:cubicBezTo>
                  <a:pt x="8776" y="1104"/>
                  <a:pt x="8791" y="1097"/>
                  <a:pt x="8800" y="1084"/>
                </a:cubicBezTo>
                <a:cubicBezTo>
                  <a:pt x="8815" y="1063"/>
                  <a:pt x="8810" y="1033"/>
                  <a:pt x="8789" y="1018"/>
                </a:cubicBezTo>
                <a:cubicBezTo>
                  <a:pt x="8780" y="1012"/>
                  <a:pt x="8771" y="1010"/>
                  <a:pt x="8762" y="1010"/>
                </a:cubicBezTo>
                <a:moveTo>
                  <a:pt x="2702" y="808"/>
                </a:moveTo>
                <a:cubicBezTo>
                  <a:pt x="2693" y="808"/>
                  <a:pt x="2685" y="811"/>
                  <a:pt x="2677" y="815"/>
                </a:cubicBezTo>
                <a:cubicBezTo>
                  <a:pt x="2655" y="829"/>
                  <a:pt x="2648" y="858"/>
                  <a:pt x="2662" y="880"/>
                </a:cubicBezTo>
                <a:cubicBezTo>
                  <a:pt x="2670" y="895"/>
                  <a:pt x="2686" y="903"/>
                  <a:pt x="2702" y="903"/>
                </a:cubicBezTo>
                <a:cubicBezTo>
                  <a:pt x="2710" y="903"/>
                  <a:pt x="2719" y="901"/>
                  <a:pt x="2727" y="896"/>
                </a:cubicBezTo>
                <a:cubicBezTo>
                  <a:pt x="2749" y="882"/>
                  <a:pt x="2756" y="853"/>
                  <a:pt x="2742" y="831"/>
                </a:cubicBezTo>
                <a:cubicBezTo>
                  <a:pt x="2733" y="816"/>
                  <a:pt x="2718" y="808"/>
                  <a:pt x="2702" y="808"/>
                </a:cubicBezTo>
                <a:moveTo>
                  <a:pt x="8446" y="802"/>
                </a:moveTo>
                <a:cubicBezTo>
                  <a:pt x="8430" y="802"/>
                  <a:pt x="8414" y="810"/>
                  <a:pt x="8405" y="825"/>
                </a:cubicBezTo>
                <a:cubicBezTo>
                  <a:pt x="8392" y="847"/>
                  <a:pt x="8399" y="876"/>
                  <a:pt x="8421" y="890"/>
                </a:cubicBezTo>
                <a:cubicBezTo>
                  <a:pt x="8429" y="895"/>
                  <a:pt x="8437" y="897"/>
                  <a:pt x="8446" y="897"/>
                </a:cubicBezTo>
                <a:cubicBezTo>
                  <a:pt x="8462" y="897"/>
                  <a:pt x="8477" y="889"/>
                  <a:pt x="8486" y="874"/>
                </a:cubicBezTo>
                <a:cubicBezTo>
                  <a:pt x="8500" y="852"/>
                  <a:pt x="8492" y="823"/>
                  <a:pt x="8470" y="809"/>
                </a:cubicBezTo>
                <a:cubicBezTo>
                  <a:pt x="8463" y="805"/>
                  <a:pt x="8454" y="802"/>
                  <a:pt x="8446" y="802"/>
                </a:cubicBezTo>
                <a:moveTo>
                  <a:pt x="3030" y="623"/>
                </a:moveTo>
                <a:cubicBezTo>
                  <a:pt x="3023" y="623"/>
                  <a:pt x="3015" y="624"/>
                  <a:pt x="3008" y="628"/>
                </a:cubicBezTo>
                <a:cubicBezTo>
                  <a:pt x="2985" y="640"/>
                  <a:pt x="2976" y="668"/>
                  <a:pt x="2988" y="692"/>
                </a:cubicBezTo>
                <a:cubicBezTo>
                  <a:pt x="2997" y="708"/>
                  <a:pt x="3013" y="717"/>
                  <a:pt x="3030" y="717"/>
                </a:cubicBezTo>
                <a:cubicBezTo>
                  <a:pt x="3038" y="717"/>
                  <a:pt x="3045" y="715"/>
                  <a:pt x="3052" y="712"/>
                </a:cubicBezTo>
                <a:cubicBezTo>
                  <a:pt x="3052" y="712"/>
                  <a:pt x="3052" y="712"/>
                  <a:pt x="3052" y="712"/>
                </a:cubicBezTo>
                <a:cubicBezTo>
                  <a:pt x="3075" y="700"/>
                  <a:pt x="3084" y="671"/>
                  <a:pt x="3072" y="648"/>
                </a:cubicBezTo>
                <a:cubicBezTo>
                  <a:pt x="3064" y="632"/>
                  <a:pt x="3047" y="623"/>
                  <a:pt x="3030" y="623"/>
                </a:cubicBezTo>
                <a:moveTo>
                  <a:pt x="8117" y="617"/>
                </a:moveTo>
                <a:cubicBezTo>
                  <a:pt x="8099" y="617"/>
                  <a:pt x="8083" y="626"/>
                  <a:pt x="8074" y="642"/>
                </a:cubicBezTo>
                <a:cubicBezTo>
                  <a:pt x="8062" y="666"/>
                  <a:pt x="8071" y="694"/>
                  <a:pt x="8094" y="706"/>
                </a:cubicBezTo>
                <a:cubicBezTo>
                  <a:pt x="8095" y="706"/>
                  <a:pt x="8095" y="706"/>
                  <a:pt x="8095" y="706"/>
                </a:cubicBezTo>
                <a:cubicBezTo>
                  <a:pt x="8102" y="710"/>
                  <a:pt x="8109" y="712"/>
                  <a:pt x="8116" y="712"/>
                </a:cubicBezTo>
                <a:cubicBezTo>
                  <a:pt x="8133" y="712"/>
                  <a:pt x="8150" y="702"/>
                  <a:pt x="8158" y="686"/>
                </a:cubicBezTo>
                <a:cubicBezTo>
                  <a:pt x="8170" y="663"/>
                  <a:pt x="8161" y="634"/>
                  <a:pt x="8138" y="622"/>
                </a:cubicBezTo>
                <a:cubicBezTo>
                  <a:pt x="8131" y="619"/>
                  <a:pt x="8124" y="617"/>
                  <a:pt x="8117" y="617"/>
                </a:cubicBezTo>
                <a:moveTo>
                  <a:pt x="3370" y="460"/>
                </a:moveTo>
                <a:cubicBezTo>
                  <a:pt x="3364" y="460"/>
                  <a:pt x="3358" y="461"/>
                  <a:pt x="3351" y="464"/>
                </a:cubicBezTo>
                <a:cubicBezTo>
                  <a:pt x="3328" y="474"/>
                  <a:pt x="3317" y="502"/>
                  <a:pt x="3327" y="526"/>
                </a:cubicBezTo>
                <a:cubicBezTo>
                  <a:pt x="3335" y="544"/>
                  <a:pt x="3352" y="554"/>
                  <a:pt x="3370" y="554"/>
                </a:cubicBezTo>
                <a:cubicBezTo>
                  <a:pt x="3377" y="554"/>
                  <a:pt x="3383" y="553"/>
                  <a:pt x="3389" y="550"/>
                </a:cubicBezTo>
                <a:cubicBezTo>
                  <a:pt x="3413" y="540"/>
                  <a:pt x="3424" y="512"/>
                  <a:pt x="3414" y="488"/>
                </a:cubicBezTo>
                <a:cubicBezTo>
                  <a:pt x="3406" y="470"/>
                  <a:pt x="3389" y="460"/>
                  <a:pt x="3370" y="460"/>
                </a:cubicBezTo>
                <a:moveTo>
                  <a:pt x="7775" y="455"/>
                </a:moveTo>
                <a:cubicBezTo>
                  <a:pt x="7757" y="455"/>
                  <a:pt x="7739" y="465"/>
                  <a:pt x="7732" y="483"/>
                </a:cubicBezTo>
                <a:cubicBezTo>
                  <a:pt x="7721" y="507"/>
                  <a:pt x="7732" y="535"/>
                  <a:pt x="7756" y="545"/>
                </a:cubicBezTo>
                <a:cubicBezTo>
                  <a:pt x="7763" y="548"/>
                  <a:pt x="7769" y="549"/>
                  <a:pt x="7775" y="549"/>
                </a:cubicBezTo>
                <a:cubicBezTo>
                  <a:pt x="7793" y="549"/>
                  <a:pt x="7811" y="538"/>
                  <a:pt x="7819" y="521"/>
                </a:cubicBezTo>
                <a:cubicBezTo>
                  <a:pt x="7829" y="497"/>
                  <a:pt x="7818" y="469"/>
                  <a:pt x="7794" y="458"/>
                </a:cubicBezTo>
                <a:cubicBezTo>
                  <a:pt x="7788" y="456"/>
                  <a:pt x="7782" y="455"/>
                  <a:pt x="7775" y="455"/>
                </a:cubicBezTo>
                <a:moveTo>
                  <a:pt x="3721" y="321"/>
                </a:moveTo>
                <a:cubicBezTo>
                  <a:pt x="3716" y="321"/>
                  <a:pt x="3710" y="321"/>
                  <a:pt x="3705" y="323"/>
                </a:cubicBezTo>
                <a:cubicBezTo>
                  <a:pt x="3680" y="332"/>
                  <a:pt x="3668" y="359"/>
                  <a:pt x="3676" y="384"/>
                </a:cubicBezTo>
                <a:cubicBezTo>
                  <a:pt x="3683" y="403"/>
                  <a:pt x="3701" y="415"/>
                  <a:pt x="3721" y="415"/>
                </a:cubicBezTo>
                <a:cubicBezTo>
                  <a:pt x="3726" y="415"/>
                  <a:pt x="3732" y="414"/>
                  <a:pt x="3737" y="412"/>
                </a:cubicBezTo>
                <a:cubicBezTo>
                  <a:pt x="3761" y="404"/>
                  <a:pt x="3774" y="377"/>
                  <a:pt x="3765" y="352"/>
                </a:cubicBezTo>
                <a:cubicBezTo>
                  <a:pt x="3758" y="333"/>
                  <a:pt x="3740" y="321"/>
                  <a:pt x="3721" y="321"/>
                </a:cubicBezTo>
                <a:moveTo>
                  <a:pt x="7424" y="316"/>
                </a:moveTo>
                <a:cubicBezTo>
                  <a:pt x="7404" y="316"/>
                  <a:pt x="7386" y="328"/>
                  <a:pt x="7379" y="348"/>
                </a:cubicBezTo>
                <a:cubicBezTo>
                  <a:pt x="7370" y="372"/>
                  <a:pt x="7383" y="399"/>
                  <a:pt x="7408" y="408"/>
                </a:cubicBezTo>
                <a:cubicBezTo>
                  <a:pt x="7413" y="410"/>
                  <a:pt x="7418" y="411"/>
                  <a:pt x="7424" y="411"/>
                </a:cubicBezTo>
                <a:cubicBezTo>
                  <a:pt x="7443" y="411"/>
                  <a:pt x="7461" y="399"/>
                  <a:pt x="7468" y="379"/>
                </a:cubicBezTo>
                <a:cubicBezTo>
                  <a:pt x="7477" y="355"/>
                  <a:pt x="7464" y="327"/>
                  <a:pt x="7439" y="319"/>
                </a:cubicBezTo>
                <a:cubicBezTo>
                  <a:pt x="7434" y="317"/>
                  <a:pt x="7429" y="316"/>
                  <a:pt x="7424" y="316"/>
                </a:cubicBezTo>
                <a:moveTo>
                  <a:pt x="4081" y="206"/>
                </a:moveTo>
                <a:cubicBezTo>
                  <a:pt x="4076" y="206"/>
                  <a:pt x="4072" y="207"/>
                  <a:pt x="4068" y="208"/>
                </a:cubicBezTo>
                <a:cubicBezTo>
                  <a:pt x="4067" y="208"/>
                  <a:pt x="4067" y="208"/>
                  <a:pt x="4067" y="208"/>
                </a:cubicBezTo>
                <a:cubicBezTo>
                  <a:pt x="4043" y="215"/>
                  <a:pt x="4028" y="241"/>
                  <a:pt x="4035" y="266"/>
                </a:cubicBezTo>
                <a:cubicBezTo>
                  <a:pt x="4041" y="287"/>
                  <a:pt x="4060" y="300"/>
                  <a:pt x="4080" y="300"/>
                </a:cubicBezTo>
                <a:cubicBezTo>
                  <a:pt x="4084" y="300"/>
                  <a:pt x="4089" y="300"/>
                  <a:pt x="4093" y="299"/>
                </a:cubicBezTo>
                <a:cubicBezTo>
                  <a:pt x="4118" y="292"/>
                  <a:pt x="4133" y="265"/>
                  <a:pt x="4126" y="240"/>
                </a:cubicBezTo>
                <a:cubicBezTo>
                  <a:pt x="4120" y="220"/>
                  <a:pt x="4101" y="206"/>
                  <a:pt x="4081" y="206"/>
                </a:cubicBezTo>
                <a:moveTo>
                  <a:pt x="7064" y="202"/>
                </a:moveTo>
                <a:cubicBezTo>
                  <a:pt x="7043" y="202"/>
                  <a:pt x="7024" y="216"/>
                  <a:pt x="7018" y="237"/>
                </a:cubicBezTo>
                <a:cubicBezTo>
                  <a:pt x="7011" y="262"/>
                  <a:pt x="7026" y="288"/>
                  <a:pt x="7051" y="295"/>
                </a:cubicBezTo>
                <a:cubicBezTo>
                  <a:pt x="7055" y="296"/>
                  <a:pt x="7059" y="297"/>
                  <a:pt x="7064" y="297"/>
                </a:cubicBezTo>
                <a:cubicBezTo>
                  <a:pt x="7084" y="297"/>
                  <a:pt x="7103" y="283"/>
                  <a:pt x="7109" y="262"/>
                </a:cubicBezTo>
                <a:cubicBezTo>
                  <a:pt x="7116" y="237"/>
                  <a:pt x="7101" y="211"/>
                  <a:pt x="7076" y="204"/>
                </a:cubicBezTo>
                <a:cubicBezTo>
                  <a:pt x="7072" y="203"/>
                  <a:pt x="7068" y="202"/>
                  <a:pt x="7064" y="202"/>
                </a:cubicBezTo>
                <a:moveTo>
                  <a:pt x="4447" y="116"/>
                </a:moveTo>
                <a:cubicBezTo>
                  <a:pt x="4444" y="116"/>
                  <a:pt x="4441" y="116"/>
                  <a:pt x="4437" y="117"/>
                </a:cubicBezTo>
                <a:cubicBezTo>
                  <a:pt x="4412" y="123"/>
                  <a:pt x="4396" y="147"/>
                  <a:pt x="4401" y="173"/>
                </a:cubicBezTo>
                <a:cubicBezTo>
                  <a:pt x="4405" y="195"/>
                  <a:pt x="4425" y="211"/>
                  <a:pt x="4447" y="211"/>
                </a:cubicBezTo>
                <a:cubicBezTo>
                  <a:pt x="4450" y="211"/>
                  <a:pt x="4453" y="210"/>
                  <a:pt x="4457" y="210"/>
                </a:cubicBezTo>
                <a:cubicBezTo>
                  <a:pt x="4482" y="204"/>
                  <a:pt x="4498" y="179"/>
                  <a:pt x="4493" y="154"/>
                </a:cubicBezTo>
                <a:cubicBezTo>
                  <a:pt x="4489" y="131"/>
                  <a:pt x="4469" y="116"/>
                  <a:pt x="4447" y="116"/>
                </a:cubicBezTo>
                <a:moveTo>
                  <a:pt x="6697" y="113"/>
                </a:moveTo>
                <a:cubicBezTo>
                  <a:pt x="6675" y="113"/>
                  <a:pt x="6655" y="129"/>
                  <a:pt x="6651" y="151"/>
                </a:cubicBezTo>
                <a:cubicBezTo>
                  <a:pt x="6645" y="177"/>
                  <a:pt x="6662" y="202"/>
                  <a:pt x="6687" y="207"/>
                </a:cubicBezTo>
                <a:cubicBezTo>
                  <a:pt x="6691" y="208"/>
                  <a:pt x="6694" y="208"/>
                  <a:pt x="6697" y="208"/>
                </a:cubicBezTo>
                <a:cubicBezTo>
                  <a:pt x="6719" y="208"/>
                  <a:pt x="6738" y="192"/>
                  <a:pt x="6743" y="170"/>
                </a:cubicBezTo>
                <a:cubicBezTo>
                  <a:pt x="6748" y="145"/>
                  <a:pt x="6732" y="119"/>
                  <a:pt x="6706" y="114"/>
                </a:cubicBezTo>
                <a:cubicBezTo>
                  <a:pt x="6703" y="114"/>
                  <a:pt x="6700" y="113"/>
                  <a:pt x="6697" y="113"/>
                </a:cubicBezTo>
                <a:moveTo>
                  <a:pt x="4819" y="52"/>
                </a:moveTo>
                <a:cubicBezTo>
                  <a:pt x="4817" y="52"/>
                  <a:pt x="4815" y="52"/>
                  <a:pt x="4812" y="52"/>
                </a:cubicBezTo>
                <a:cubicBezTo>
                  <a:pt x="4787" y="56"/>
                  <a:pt x="4769" y="80"/>
                  <a:pt x="4772" y="106"/>
                </a:cubicBezTo>
                <a:cubicBezTo>
                  <a:pt x="4776" y="129"/>
                  <a:pt x="4796" y="146"/>
                  <a:pt x="4819" y="146"/>
                </a:cubicBezTo>
                <a:cubicBezTo>
                  <a:pt x="4821" y="146"/>
                  <a:pt x="4823" y="146"/>
                  <a:pt x="4825" y="146"/>
                </a:cubicBezTo>
                <a:cubicBezTo>
                  <a:pt x="4851" y="142"/>
                  <a:pt x="4869" y="118"/>
                  <a:pt x="4866" y="93"/>
                </a:cubicBezTo>
                <a:cubicBezTo>
                  <a:pt x="4862" y="69"/>
                  <a:pt x="4842" y="52"/>
                  <a:pt x="4819" y="52"/>
                </a:cubicBezTo>
                <a:moveTo>
                  <a:pt x="6325" y="50"/>
                </a:moveTo>
                <a:cubicBezTo>
                  <a:pt x="6301" y="50"/>
                  <a:pt x="6281" y="67"/>
                  <a:pt x="6278" y="91"/>
                </a:cubicBezTo>
                <a:cubicBezTo>
                  <a:pt x="6274" y="117"/>
                  <a:pt x="6292" y="140"/>
                  <a:pt x="6318" y="144"/>
                </a:cubicBezTo>
                <a:cubicBezTo>
                  <a:pt x="6320" y="144"/>
                  <a:pt x="6322" y="144"/>
                  <a:pt x="6325" y="144"/>
                </a:cubicBezTo>
                <a:cubicBezTo>
                  <a:pt x="6348" y="144"/>
                  <a:pt x="6368" y="127"/>
                  <a:pt x="6371" y="104"/>
                </a:cubicBezTo>
                <a:cubicBezTo>
                  <a:pt x="6375" y="77"/>
                  <a:pt x="6357" y="54"/>
                  <a:pt x="6331" y="50"/>
                </a:cubicBezTo>
                <a:cubicBezTo>
                  <a:pt x="6329" y="50"/>
                  <a:pt x="6327" y="50"/>
                  <a:pt x="6325" y="50"/>
                </a:cubicBezTo>
                <a:moveTo>
                  <a:pt x="5195" y="13"/>
                </a:moveTo>
                <a:cubicBezTo>
                  <a:pt x="5194" y="13"/>
                  <a:pt x="5192" y="13"/>
                  <a:pt x="5191" y="13"/>
                </a:cubicBezTo>
                <a:cubicBezTo>
                  <a:pt x="5165" y="15"/>
                  <a:pt x="5146" y="37"/>
                  <a:pt x="5147" y="63"/>
                </a:cubicBezTo>
                <a:cubicBezTo>
                  <a:pt x="5149" y="89"/>
                  <a:pt x="5170" y="107"/>
                  <a:pt x="5194" y="107"/>
                </a:cubicBezTo>
                <a:cubicBezTo>
                  <a:pt x="5196" y="107"/>
                  <a:pt x="5197" y="107"/>
                  <a:pt x="5198" y="107"/>
                </a:cubicBezTo>
                <a:cubicBezTo>
                  <a:pt x="5224" y="106"/>
                  <a:pt x="5243" y="83"/>
                  <a:pt x="5242" y="57"/>
                </a:cubicBezTo>
                <a:cubicBezTo>
                  <a:pt x="5240" y="32"/>
                  <a:pt x="5219" y="13"/>
                  <a:pt x="5195" y="13"/>
                </a:cubicBezTo>
                <a:moveTo>
                  <a:pt x="5949" y="12"/>
                </a:moveTo>
                <a:cubicBezTo>
                  <a:pt x="5924" y="12"/>
                  <a:pt x="5904" y="31"/>
                  <a:pt x="5902" y="56"/>
                </a:cubicBezTo>
                <a:cubicBezTo>
                  <a:pt x="5900" y="82"/>
                  <a:pt x="5920" y="105"/>
                  <a:pt x="5946" y="106"/>
                </a:cubicBezTo>
                <a:cubicBezTo>
                  <a:pt x="5947" y="106"/>
                  <a:pt x="5948" y="106"/>
                  <a:pt x="5949" y="106"/>
                </a:cubicBezTo>
                <a:cubicBezTo>
                  <a:pt x="5974" y="106"/>
                  <a:pt x="5994" y="87"/>
                  <a:pt x="5996" y="62"/>
                </a:cubicBezTo>
                <a:cubicBezTo>
                  <a:pt x="5998" y="37"/>
                  <a:pt x="5978" y="14"/>
                  <a:pt x="5952" y="12"/>
                </a:cubicBezTo>
                <a:cubicBezTo>
                  <a:pt x="5951" y="12"/>
                  <a:pt x="5950" y="12"/>
                  <a:pt x="5949" y="12"/>
                </a:cubicBezTo>
                <a:moveTo>
                  <a:pt x="5572" y="0"/>
                </a:moveTo>
                <a:cubicBezTo>
                  <a:pt x="5546" y="0"/>
                  <a:pt x="5525" y="21"/>
                  <a:pt x="5525" y="47"/>
                </a:cubicBezTo>
                <a:cubicBezTo>
                  <a:pt x="5525" y="73"/>
                  <a:pt x="5546" y="94"/>
                  <a:pt x="5572" y="94"/>
                </a:cubicBezTo>
                <a:cubicBezTo>
                  <a:pt x="5598" y="94"/>
                  <a:pt x="5619" y="73"/>
                  <a:pt x="5619" y="47"/>
                </a:cubicBezTo>
                <a:cubicBezTo>
                  <a:pt x="5619" y="21"/>
                  <a:pt x="5598" y="0"/>
                  <a:pt x="5572" y="0"/>
                </a:cubicBezTo>
              </a:path>
            </a:pathLst>
          </a:custGeom>
          <a:solidFill>
            <a:schemeClr val="accent5"/>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89" name="任意多边形: 形状 35"/>
          <p:cNvSpPr>
            <a:spLocks noChangeArrowheads="1"/>
          </p:cNvSpPr>
          <p:nvPr/>
        </p:nvSpPr>
        <p:spPr bwMode="auto">
          <a:xfrm flipH="1">
            <a:off x="5453380" y="2396490"/>
            <a:ext cx="1220470" cy="1226185"/>
          </a:xfrm>
          <a:custGeom>
            <a:avLst/>
            <a:gdLst>
              <a:gd name="connsiteX0" fmla="*/ 2348887 w 4694357"/>
              <a:gd name="connsiteY0" fmla="*/ 4677273 h 4717133"/>
              <a:gd name="connsiteX1" fmla="*/ 2368817 w 4694357"/>
              <a:gd name="connsiteY1" fmla="*/ 4697203 h 4717133"/>
              <a:gd name="connsiteX2" fmla="*/ 2348887 w 4694357"/>
              <a:gd name="connsiteY2" fmla="*/ 4717133 h 4717133"/>
              <a:gd name="connsiteX3" fmla="*/ 2328957 w 4694357"/>
              <a:gd name="connsiteY3" fmla="*/ 4697203 h 4717133"/>
              <a:gd name="connsiteX4" fmla="*/ 2348887 w 4694357"/>
              <a:gd name="connsiteY4" fmla="*/ 4677273 h 4717133"/>
              <a:gd name="connsiteX5" fmla="*/ 2182045 w 4694357"/>
              <a:gd name="connsiteY5" fmla="*/ 4672717 h 4717133"/>
              <a:gd name="connsiteX6" fmla="*/ 2201406 w 4694357"/>
              <a:gd name="connsiteY6" fmla="*/ 4691509 h 4717133"/>
              <a:gd name="connsiteX7" fmla="*/ 2182045 w 4694357"/>
              <a:gd name="connsiteY7" fmla="*/ 4710301 h 4717133"/>
              <a:gd name="connsiteX8" fmla="*/ 2162684 w 4694357"/>
              <a:gd name="connsiteY8" fmla="*/ 4691509 h 4717133"/>
              <a:gd name="connsiteX9" fmla="*/ 2182045 w 4694357"/>
              <a:gd name="connsiteY9" fmla="*/ 4672717 h 4717133"/>
              <a:gd name="connsiteX10" fmla="*/ 2517438 w 4694357"/>
              <a:gd name="connsiteY10" fmla="*/ 4671578 h 4717133"/>
              <a:gd name="connsiteX11" fmla="*/ 2536230 w 4694357"/>
              <a:gd name="connsiteY11" fmla="*/ 4690939 h 4717133"/>
              <a:gd name="connsiteX12" fmla="*/ 2517438 w 4694357"/>
              <a:gd name="connsiteY12" fmla="*/ 4710300 h 4717133"/>
              <a:gd name="connsiteX13" fmla="*/ 2498646 w 4694357"/>
              <a:gd name="connsiteY13" fmla="*/ 4690939 h 4717133"/>
              <a:gd name="connsiteX14" fmla="*/ 2517438 w 4694357"/>
              <a:gd name="connsiteY14" fmla="*/ 4671578 h 4717133"/>
              <a:gd name="connsiteX15" fmla="*/ 2015772 w 4694357"/>
              <a:gd name="connsiteY15" fmla="*/ 4655634 h 4717133"/>
              <a:gd name="connsiteX16" fmla="*/ 2033994 w 4694357"/>
              <a:gd name="connsiteY16" fmla="*/ 4673856 h 4717133"/>
              <a:gd name="connsiteX17" fmla="*/ 2015772 w 4694357"/>
              <a:gd name="connsiteY17" fmla="*/ 4692078 h 4717133"/>
              <a:gd name="connsiteX18" fmla="*/ 1997550 w 4694357"/>
              <a:gd name="connsiteY18" fmla="*/ 4673856 h 4717133"/>
              <a:gd name="connsiteX19" fmla="*/ 2015772 w 4694357"/>
              <a:gd name="connsiteY19" fmla="*/ 4655634 h 4717133"/>
              <a:gd name="connsiteX20" fmla="*/ 2683710 w 4694357"/>
              <a:gd name="connsiteY20" fmla="*/ 4654496 h 4717133"/>
              <a:gd name="connsiteX21" fmla="*/ 2702502 w 4694357"/>
              <a:gd name="connsiteY21" fmla="*/ 4673288 h 4717133"/>
              <a:gd name="connsiteX22" fmla="*/ 2683710 w 4694357"/>
              <a:gd name="connsiteY22" fmla="*/ 4692080 h 4717133"/>
              <a:gd name="connsiteX23" fmla="*/ 2664918 w 4694357"/>
              <a:gd name="connsiteY23" fmla="*/ 4673288 h 4717133"/>
              <a:gd name="connsiteX24" fmla="*/ 2683710 w 4694357"/>
              <a:gd name="connsiteY24" fmla="*/ 4654496 h 4717133"/>
              <a:gd name="connsiteX25" fmla="*/ 1851777 w 4694357"/>
              <a:gd name="connsiteY25" fmla="*/ 4627163 h 4717133"/>
              <a:gd name="connsiteX26" fmla="*/ 1868860 w 4694357"/>
              <a:gd name="connsiteY26" fmla="*/ 4644246 h 4717133"/>
              <a:gd name="connsiteX27" fmla="*/ 1851777 w 4694357"/>
              <a:gd name="connsiteY27" fmla="*/ 4661329 h 4717133"/>
              <a:gd name="connsiteX28" fmla="*/ 1834694 w 4694357"/>
              <a:gd name="connsiteY28" fmla="*/ 4644246 h 4717133"/>
              <a:gd name="connsiteX29" fmla="*/ 1851777 w 4694357"/>
              <a:gd name="connsiteY29" fmla="*/ 4627163 h 4717133"/>
              <a:gd name="connsiteX30" fmla="*/ 2847705 w 4694357"/>
              <a:gd name="connsiteY30" fmla="*/ 4624885 h 4717133"/>
              <a:gd name="connsiteX31" fmla="*/ 2866497 w 4694357"/>
              <a:gd name="connsiteY31" fmla="*/ 4643677 h 4717133"/>
              <a:gd name="connsiteX32" fmla="*/ 2847705 w 4694357"/>
              <a:gd name="connsiteY32" fmla="*/ 4662469 h 4717133"/>
              <a:gd name="connsiteX33" fmla="*/ 2828913 w 4694357"/>
              <a:gd name="connsiteY33" fmla="*/ 4643677 h 4717133"/>
              <a:gd name="connsiteX34" fmla="*/ 2847705 w 4694357"/>
              <a:gd name="connsiteY34" fmla="*/ 4624885 h 4717133"/>
              <a:gd name="connsiteX35" fmla="*/ 1689491 w 4694357"/>
              <a:gd name="connsiteY35" fmla="*/ 4587303 h 4717133"/>
              <a:gd name="connsiteX36" fmla="*/ 1704866 w 4694357"/>
              <a:gd name="connsiteY36" fmla="*/ 4602678 h 4717133"/>
              <a:gd name="connsiteX37" fmla="*/ 1689491 w 4694357"/>
              <a:gd name="connsiteY37" fmla="*/ 4618053 h 4717133"/>
              <a:gd name="connsiteX38" fmla="*/ 1674116 w 4694357"/>
              <a:gd name="connsiteY38" fmla="*/ 4602678 h 4717133"/>
              <a:gd name="connsiteX39" fmla="*/ 1689491 w 4694357"/>
              <a:gd name="connsiteY39" fmla="*/ 4587303 h 4717133"/>
              <a:gd name="connsiteX40" fmla="*/ 3009992 w 4694357"/>
              <a:gd name="connsiteY40" fmla="*/ 4583887 h 4717133"/>
              <a:gd name="connsiteX41" fmla="*/ 3028214 w 4694357"/>
              <a:gd name="connsiteY41" fmla="*/ 4602109 h 4717133"/>
              <a:gd name="connsiteX42" fmla="*/ 3009992 w 4694357"/>
              <a:gd name="connsiteY42" fmla="*/ 4620331 h 4717133"/>
              <a:gd name="connsiteX43" fmla="*/ 2991770 w 4694357"/>
              <a:gd name="connsiteY43" fmla="*/ 4602109 h 4717133"/>
              <a:gd name="connsiteX44" fmla="*/ 3009992 w 4694357"/>
              <a:gd name="connsiteY44" fmla="*/ 4583887 h 4717133"/>
              <a:gd name="connsiteX45" fmla="*/ 2348886 w 4694357"/>
              <a:gd name="connsiteY45" fmla="*/ 4555415 h 4717133"/>
              <a:gd name="connsiteX46" fmla="*/ 2383621 w 4694357"/>
              <a:gd name="connsiteY46" fmla="*/ 4590720 h 4717133"/>
              <a:gd name="connsiteX47" fmla="*/ 2348886 w 4694357"/>
              <a:gd name="connsiteY47" fmla="*/ 4626025 h 4717133"/>
              <a:gd name="connsiteX48" fmla="*/ 2314151 w 4694357"/>
              <a:gd name="connsiteY48" fmla="*/ 4590720 h 4717133"/>
              <a:gd name="connsiteX49" fmla="*/ 2348886 w 4694357"/>
              <a:gd name="connsiteY49" fmla="*/ 4555415 h 4717133"/>
              <a:gd name="connsiteX50" fmla="*/ 2182045 w 4694357"/>
              <a:gd name="connsiteY50" fmla="*/ 4550860 h 4717133"/>
              <a:gd name="connsiteX51" fmla="*/ 2216211 w 4694357"/>
              <a:gd name="connsiteY51" fmla="*/ 4585026 h 4717133"/>
              <a:gd name="connsiteX52" fmla="*/ 2182045 w 4694357"/>
              <a:gd name="connsiteY52" fmla="*/ 4619192 h 4717133"/>
              <a:gd name="connsiteX53" fmla="*/ 2147879 w 4694357"/>
              <a:gd name="connsiteY53" fmla="*/ 4585026 h 4717133"/>
              <a:gd name="connsiteX54" fmla="*/ 2182045 w 4694357"/>
              <a:gd name="connsiteY54" fmla="*/ 4550860 h 4717133"/>
              <a:gd name="connsiteX55" fmla="*/ 2517437 w 4694357"/>
              <a:gd name="connsiteY55" fmla="*/ 4549721 h 4717133"/>
              <a:gd name="connsiteX56" fmla="*/ 2552172 w 4694357"/>
              <a:gd name="connsiteY56" fmla="*/ 4584456 h 4717133"/>
              <a:gd name="connsiteX57" fmla="*/ 2517437 w 4694357"/>
              <a:gd name="connsiteY57" fmla="*/ 4619191 h 4717133"/>
              <a:gd name="connsiteX58" fmla="*/ 2482702 w 4694357"/>
              <a:gd name="connsiteY58" fmla="*/ 4584456 h 4717133"/>
              <a:gd name="connsiteX59" fmla="*/ 2517437 w 4694357"/>
              <a:gd name="connsiteY59" fmla="*/ 4549721 h 4717133"/>
              <a:gd name="connsiteX60" fmla="*/ 1531190 w 4694357"/>
              <a:gd name="connsiteY60" fmla="*/ 4536055 h 4717133"/>
              <a:gd name="connsiteX61" fmla="*/ 1544287 w 4694357"/>
              <a:gd name="connsiteY61" fmla="*/ 4549721 h 4717133"/>
              <a:gd name="connsiteX62" fmla="*/ 1531190 w 4694357"/>
              <a:gd name="connsiteY62" fmla="*/ 4563387 h 4717133"/>
              <a:gd name="connsiteX63" fmla="*/ 1518093 w 4694357"/>
              <a:gd name="connsiteY63" fmla="*/ 4549721 h 4717133"/>
              <a:gd name="connsiteX64" fmla="*/ 1531190 w 4694357"/>
              <a:gd name="connsiteY64" fmla="*/ 4536055 h 4717133"/>
              <a:gd name="connsiteX65" fmla="*/ 2015772 w 4694357"/>
              <a:gd name="connsiteY65" fmla="*/ 4533777 h 4717133"/>
              <a:gd name="connsiteX66" fmla="*/ 2047660 w 4694357"/>
              <a:gd name="connsiteY66" fmla="*/ 4566235 h 4717133"/>
              <a:gd name="connsiteX67" fmla="*/ 2015772 w 4694357"/>
              <a:gd name="connsiteY67" fmla="*/ 4598693 h 4717133"/>
              <a:gd name="connsiteX68" fmla="*/ 1983884 w 4694357"/>
              <a:gd name="connsiteY68" fmla="*/ 4566235 h 4717133"/>
              <a:gd name="connsiteX69" fmla="*/ 2015772 w 4694357"/>
              <a:gd name="connsiteY69" fmla="*/ 4533777 h 4717133"/>
              <a:gd name="connsiteX70" fmla="*/ 3167723 w 4694357"/>
              <a:gd name="connsiteY70" fmla="*/ 4531499 h 4717133"/>
              <a:gd name="connsiteX71" fmla="*/ 3185376 w 4694357"/>
              <a:gd name="connsiteY71" fmla="*/ 4549152 h 4717133"/>
              <a:gd name="connsiteX72" fmla="*/ 3167723 w 4694357"/>
              <a:gd name="connsiteY72" fmla="*/ 4566805 h 4717133"/>
              <a:gd name="connsiteX73" fmla="*/ 3150070 w 4694357"/>
              <a:gd name="connsiteY73" fmla="*/ 4549152 h 4717133"/>
              <a:gd name="connsiteX74" fmla="*/ 3167723 w 4694357"/>
              <a:gd name="connsiteY74" fmla="*/ 4531499 h 4717133"/>
              <a:gd name="connsiteX75" fmla="*/ 2682571 w 4694357"/>
              <a:gd name="connsiteY75" fmla="*/ 4531499 h 4717133"/>
              <a:gd name="connsiteX76" fmla="*/ 2717306 w 4694357"/>
              <a:gd name="connsiteY76" fmla="*/ 4566234 h 4717133"/>
              <a:gd name="connsiteX77" fmla="*/ 2682571 w 4694357"/>
              <a:gd name="connsiteY77" fmla="*/ 4600969 h 4717133"/>
              <a:gd name="connsiteX78" fmla="*/ 2647836 w 4694357"/>
              <a:gd name="connsiteY78" fmla="*/ 4566234 h 4717133"/>
              <a:gd name="connsiteX79" fmla="*/ 2682571 w 4694357"/>
              <a:gd name="connsiteY79" fmla="*/ 4531499 h 4717133"/>
              <a:gd name="connsiteX80" fmla="*/ 1851777 w 4694357"/>
              <a:gd name="connsiteY80" fmla="*/ 4505305 h 4717133"/>
              <a:gd name="connsiteX81" fmla="*/ 1881387 w 4694357"/>
              <a:gd name="connsiteY81" fmla="*/ 4534915 h 4717133"/>
              <a:gd name="connsiteX82" fmla="*/ 1851777 w 4694357"/>
              <a:gd name="connsiteY82" fmla="*/ 4564525 h 4717133"/>
              <a:gd name="connsiteX83" fmla="*/ 1822167 w 4694357"/>
              <a:gd name="connsiteY83" fmla="*/ 4534915 h 4717133"/>
              <a:gd name="connsiteX84" fmla="*/ 1851777 w 4694357"/>
              <a:gd name="connsiteY84" fmla="*/ 4505305 h 4717133"/>
              <a:gd name="connsiteX85" fmla="*/ 2847135 w 4694357"/>
              <a:gd name="connsiteY85" fmla="*/ 4500750 h 4717133"/>
              <a:gd name="connsiteX86" fmla="*/ 2881301 w 4694357"/>
              <a:gd name="connsiteY86" fmla="*/ 4534916 h 4717133"/>
              <a:gd name="connsiteX87" fmla="*/ 2847135 w 4694357"/>
              <a:gd name="connsiteY87" fmla="*/ 4569082 h 4717133"/>
              <a:gd name="connsiteX88" fmla="*/ 2812969 w 4694357"/>
              <a:gd name="connsiteY88" fmla="*/ 4534916 h 4717133"/>
              <a:gd name="connsiteX89" fmla="*/ 2847135 w 4694357"/>
              <a:gd name="connsiteY89" fmla="*/ 4500750 h 4717133"/>
              <a:gd name="connsiteX90" fmla="*/ 2348318 w 4694357"/>
              <a:gd name="connsiteY90" fmla="*/ 4475695 h 4717133"/>
              <a:gd name="connsiteX91" fmla="*/ 2352875 w 4694357"/>
              <a:gd name="connsiteY91" fmla="*/ 4480251 h 4717133"/>
              <a:gd name="connsiteX92" fmla="*/ 2348318 w 4694357"/>
              <a:gd name="connsiteY92" fmla="*/ 4484808 h 4717133"/>
              <a:gd name="connsiteX93" fmla="*/ 2343762 w 4694357"/>
              <a:gd name="connsiteY93" fmla="*/ 4480251 h 4717133"/>
              <a:gd name="connsiteX94" fmla="*/ 2348318 w 4694357"/>
              <a:gd name="connsiteY94" fmla="*/ 4475695 h 4717133"/>
              <a:gd name="connsiteX95" fmla="*/ 1376875 w 4694357"/>
              <a:gd name="connsiteY95" fmla="*/ 4474557 h 4717133"/>
              <a:gd name="connsiteX96" fmla="*/ 1388264 w 4694357"/>
              <a:gd name="connsiteY96" fmla="*/ 4485946 h 4717133"/>
              <a:gd name="connsiteX97" fmla="*/ 1376875 w 4694357"/>
              <a:gd name="connsiteY97" fmla="*/ 4497335 h 4717133"/>
              <a:gd name="connsiteX98" fmla="*/ 1365486 w 4694357"/>
              <a:gd name="connsiteY98" fmla="*/ 4485946 h 4717133"/>
              <a:gd name="connsiteX99" fmla="*/ 1376875 w 4694357"/>
              <a:gd name="connsiteY99" fmla="*/ 4474557 h 4717133"/>
              <a:gd name="connsiteX100" fmla="*/ 2516298 w 4694357"/>
              <a:gd name="connsiteY100" fmla="*/ 4468862 h 4717133"/>
              <a:gd name="connsiteX101" fmla="*/ 2520284 w 4694357"/>
              <a:gd name="connsiteY101" fmla="*/ 4473418 h 4717133"/>
              <a:gd name="connsiteX102" fmla="*/ 2516298 w 4694357"/>
              <a:gd name="connsiteY102" fmla="*/ 4477975 h 4717133"/>
              <a:gd name="connsiteX103" fmla="*/ 2512312 w 4694357"/>
              <a:gd name="connsiteY103" fmla="*/ 4473418 h 4717133"/>
              <a:gd name="connsiteX104" fmla="*/ 2516298 w 4694357"/>
              <a:gd name="connsiteY104" fmla="*/ 4468862 h 4717133"/>
              <a:gd name="connsiteX105" fmla="*/ 3322037 w 4694357"/>
              <a:gd name="connsiteY105" fmla="*/ 4467724 h 4717133"/>
              <a:gd name="connsiteX106" fmla="*/ 3339120 w 4694357"/>
              <a:gd name="connsiteY106" fmla="*/ 4485377 h 4717133"/>
              <a:gd name="connsiteX107" fmla="*/ 3322037 w 4694357"/>
              <a:gd name="connsiteY107" fmla="*/ 4503030 h 4717133"/>
              <a:gd name="connsiteX108" fmla="*/ 3304954 w 4694357"/>
              <a:gd name="connsiteY108" fmla="*/ 4485377 h 4717133"/>
              <a:gd name="connsiteX109" fmla="*/ 3322037 w 4694357"/>
              <a:gd name="connsiteY109" fmla="*/ 4467724 h 4717133"/>
              <a:gd name="connsiteX110" fmla="*/ 2182045 w 4694357"/>
              <a:gd name="connsiteY110" fmla="*/ 4467724 h 4717133"/>
              <a:gd name="connsiteX111" fmla="*/ 2187740 w 4694357"/>
              <a:gd name="connsiteY111" fmla="*/ 4473419 h 4717133"/>
              <a:gd name="connsiteX112" fmla="*/ 2182045 w 4694357"/>
              <a:gd name="connsiteY112" fmla="*/ 4479114 h 4717133"/>
              <a:gd name="connsiteX113" fmla="*/ 2176350 w 4694357"/>
              <a:gd name="connsiteY113" fmla="*/ 4473419 h 4717133"/>
              <a:gd name="connsiteX114" fmla="*/ 2182045 w 4694357"/>
              <a:gd name="connsiteY114" fmla="*/ 4467724 h 4717133"/>
              <a:gd name="connsiteX115" fmla="*/ 1690629 w 4694357"/>
              <a:gd name="connsiteY115" fmla="*/ 4463168 h 4717133"/>
              <a:gd name="connsiteX116" fmla="*/ 1718531 w 4694357"/>
              <a:gd name="connsiteY116" fmla="*/ 4491640 h 4717133"/>
              <a:gd name="connsiteX117" fmla="*/ 1690629 w 4694357"/>
              <a:gd name="connsiteY117" fmla="*/ 4520112 h 4717133"/>
              <a:gd name="connsiteX118" fmla="*/ 1662727 w 4694357"/>
              <a:gd name="connsiteY118" fmla="*/ 4491640 h 4717133"/>
              <a:gd name="connsiteX119" fmla="*/ 1690629 w 4694357"/>
              <a:gd name="connsiteY119" fmla="*/ 4463168 h 4717133"/>
              <a:gd name="connsiteX120" fmla="*/ 3008284 w 4694357"/>
              <a:gd name="connsiteY120" fmla="*/ 4457474 h 4717133"/>
              <a:gd name="connsiteX121" fmla="*/ 3041881 w 4694357"/>
              <a:gd name="connsiteY121" fmla="*/ 4491640 h 4717133"/>
              <a:gd name="connsiteX122" fmla="*/ 3008284 w 4694357"/>
              <a:gd name="connsiteY122" fmla="*/ 4525806 h 4717133"/>
              <a:gd name="connsiteX123" fmla="*/ 2974687 w 4694357"/>
              <a:gd name="connsiteY123" fmla="*/ 4491640 h 4717133"/>
              <a:gd name="connsiteX124" fmla="*/ 3008284 w 4694357"/>
              <a:gd name="connsiteY124" fmla="*/ 4457474 h 4717133"/>
              <a:gd name="connsiteX125" fmla="*/ 2682002 w 4694357"/>
              <a:gd name="connsiteY125" fmla="*/ 4449502 h 4717133"/>
              <a:gd name="connsiteX126" fmla="*/ 2686559 w 4694357"/>
              <a:gd name="connsiteY126" fmla="*/ 4454058 h 4717133"/>
              <a:gd name="connsiteX127" fmla="*/ 2682002 w 4694357"/>
              <a:gd name="connsiteY127" fmla="*/ 4458615 h 4717133"/>
              <a:gd name="connsiteX128" fmla="*/ 2677446 w 4694357"/>
              <a:gd name="connsiteY128" fmla="*/ 4454058 h 4717133"/>
              <a:gd name="connsiteX129" fmla="*/ 2682002 w 4694357"/>
              <a:gd name="connsiteY129" fmla="*/ 4449502 h 4717133"/>
              <a:gd name="connsiteX130" fmla="*/ 2016911 w 4694357"/>
              <a:gd name="connsiteY130" fmla="*/ 4448363 h 4717133"/>
              <a:gd name="connsiteX131" fmla="*/ 2022606 w 4694357"/>
              <a:gd name="connsiteY131" fmla="*/ 4454058 h 4717133"/>
              <a:gd name="connsiteX132" fmla="*/ 2016911 w 4694357"/>
              <a:gd name="connsiteY132" fmla="*/ 4459753 h 4717133"/>
              <a:gd name="connsiteX133" fmla="*/ 2011216 w 4694357"/>
              <a:gd name="connsiteY133" fmla="*/ 4454058 h 4717133"/>
              <a:gd name="connsiteX134" fmla="*/ 2016911 w 4694357"/>
              <a:gd name="connsiteY134" fmla="*/ 4448363 h 4717133"/>
              <a:gd name="connsiteX135" fmla="*/ 2844858 w 4694357"/>
              <a:gd name="connsiteY135" fmla="*/ 4416475 h 4717133"/>
              <a:gd name="connsiteX136" fmla="*/ 2849415 w 4694357"/>
              <a:gd name="connsiteY136" fmla="*/ 4421031 h 4717133"/>
              <a:gd name="connsiteX137" fmla="*/ 2844858 w 4694357"/>
              <a:gd name="connsiteY137" fmla="*/ 4425588 h 4717133"/>
              <a:gd name="connsiteX138" fmla="*/ 2840302 w 4694357"/>
              <a:gd name="connsiteY138" fmla="*/ 4421031 h 4717133"/>
              <a:gd name="connsiteX139" fmla="*/ 2844858 w 4694357"/>
              <a:gd name="connsiteY139" fmla="*/ 4416475 h 4717133"/>
              <a:gd name="connsiteX140" fmla="*/ 1853486 w 4694357"/>
              <a:gd name="connsiteY140" fmla="*/ 4414197 h 4717133"/>
              <a:gd name="connsiteX141" fmla="*/ 1860889 w 4694357"/>
              <a:gd name="connsiteY141" fmla="*/ 4421600 h 4717133"/>
              <a:gd name="connsiteX142" fmla="*/ 1853486 w 4694357"/>
              <a:gd name="connsiteY142" fmla="*/ 4429003 h 4717133"/>
              <a:gd name="connsiteX143" fmla="*/ 1846083 w 4694357"/>
              <a:gd name="connsiteY143" fmla="*/ 4421600 h 4717133"/>
              <a:gd name="connsiteX144" fmla="*/ 1853486 w 4694357"/>
              <a:gd name="connsiteY144" fmla="*/ 4414197 h 4717133"/>
              <a:gd name="connsiteX145" fmla="*/ 1532898 w 4694357"/>
              <a:gd name="connsiteY145" fmla="*/ 4409642 h 4717133"/>
              <a:gd name="connsiteX146" fmla="*/ 1560231 w 4694357"/>
              <a:gd name="connsiteY146" fmla="*/ 4436405 h 4717133"/>
              <a:gd name="connsiteX147" fmla="*/ 1532898 w 4694357"/>
              <a:gd name="connsiteY147" fmla="*/ 4463168 h 4717133"/>
              <a:gd name="connsiteX148" fmla="*/ 1505565 w 4694357"/>
              <a:gd name="connsiteY148" fmla="*/ 4436405 h 4717133"/>
              <a:gd name="connsiteX149" fmla="*/ 1532898 w 4694357"/>
              <a:gd name="connsiteY149" fmla="*/ 4409642 h 4717133"/>
              <a:gd name="connsiteX150" fmla="*/ 3165445 w 4694357"/>
              <a:gd name="connsiteY150" fmla="*/ 4402809 h 4717133"/>
              <a:gd name="connsiteX151" fmla="*/ 3199042 w 4694357"/>
              <a:gd name="connsiteY151" fmla="*/ 4436406 h 4717133"/>
              <a:gd name="connsiteX152" fmla="*/ 3165445 w 4694357"/>
              <a:gd name="connsiteY152" fmla="*/ 4470003 h 4717133"/>
              <a:gd name="connsiteX153" fmla="*/ 3131848 w 4694357"/>
              <a:gd name="connsiteY153" fmla="*/ 4436406 h 4717133"/>
              <a:gd name="connsiteX154" fmla="*/ 3165445 w 4694357"/>
              <a:gd name="connsiteY154" fmla="*/ 4402809 h 4717133"/>
              <a:gd name="connsiteX155" fmla="*/ 1227685 w 4694357"/>
              <a:gd name="connsiteY155" fmla="*/ 4401670 h 4717133"/>
              <a:gd name="connsiteX156" fmla="*/ 1236796 w 4694357"/>
              <a:gd name="connsiteY156" fmla="*/ 4410781 h 4717133"/>
              <a:gd name="connsiteX157" fmla="*/ 1227685 w 4694357"/>
              <a:gd name="connsiteY157" fmla="*/ 4419892 h 4717133"/>
              <a:gd name="connsiteX158" fmla="*/ 1218574 w 4694357"/>
              <a:gd name="connsiteY158" fmla="*/ 4410781 h 4717133"/>
              <a:gd name="connsiteX159" fmla="*/ 1227685 w 4694357"/>
              <a:gd name="connsiteY159" fmla="*/ 4401670 h 4717133"/>
              <a:gd name="connsiteX160" fmla="*/ 3471227 w 4694357"/>
              <a:gd name="connsiteY160" fmla="*/ 4393698 h 4717133"/>
              <a:gd name="connsiteX161" fmla="*/ 3487171 w 4694357"/>
              <a:gd name="connsiteY161" fmla="*/ 4410212 h 4717133"/>
              <a:gd name="connsiteX162" fmla="*/ 3471227 w 4694357"/>
              <a:gd name="connsiteY162" fmla="*/ 4426726 h 4717133"/>
              <a:gd name="connsiteX163" fmla="*/ 3455283 w 4694357"/>
              <a:gd name="connsiteY163" fmla="*/ 4410212 h 4717133"/>
              <a:gd name="connsiteX164" fmla="*/ 3471227 w 4694357"/>
              <a:gd name="connsiteY164" fmla="*/ 4393698 h 4717133"/>
              <a:gd name="connsiteX165" fmla="*/ 3005437 w 4694357"/>
              <a:gd name="connsiteY165" fmla="*/ 4372060 h 4717133"/>
              <a:gd name="connsiteX166" fmla="*/ 3009994 w 4694357"/>
              <a:gd name="connsiteY166" fmla="*/ 4376046 h 4717133"/>
              <a:gd name="connsiteX167" fmla="*/ 3005437 w 4694357"/>
              <a:gd name="connsiteY167" fmla="*/ 4380032 h 4717133"/>
              <a:gd name="connsiteX168" fmla="*/ 3000881 w 4694357"/>
              <a:gd name="connsiteY168" fmla="*/ 4376046 h 4717133"/>
              <a:gd name="connsiteX169" fmla="*/ 3005437 w 4694357"/>
              <a:gd name="connsiteY169" fmla="*/ 4372060 h 4717133"/>
              <a:gd name="connsiteX170" fmla="*/ 1692908 w 4694357"/>
              <a:gd name="connsiteY170" fmla="*/ 4367504 h 4717133"/>
              <a:gd name="connsiteX171" fmla="*/ 1701450 w 4694357"/>
              <a:gd name="connsiteY171" fmla="*/ 4376615 h 4717133"/>
              <a:gd name="connsiteX172" fmla="*/ 1692908 w 4694357"/>
              <a:gd name="connsiteY172" fmla="*/ 4385726 h 4717133"/>
              <a:gd name="connsiteX173" fmla="*/ 1684366 w 4694357"/>
              <a:gd name="connsiteY173" fmla="*/ 4376615 h 4717133"/>
              <a:gd name="connsiteX174" fmla="*/ 1692908 w 4694357"/>
              <a:gd name="connsiteY174" fmla="*/ 4367504 h 4717133"/>
              <a:gd name="connsiteX175" fmla="*/ 2348888 w 4694357"/>
              <a:gd name="connsiteY175" fmla="*/ 4356116 h 4717133"/>
              <a:gd name="connsiteX176" fmla="*/ 2366541 w 4694357"/>
              <a:gd name="connsiteY176" fmla="*/ 4373769 h 4717133"/>
              <a:gd name="connsiteX177" fmla="*/ 2348888 w 4694357"/>
              <a:gd name="connsiteY177" fmla="*/ 4391422 h 4717133"/>
              <a:gd name="connsiteX178" fmla="*/ 2331235 w 4694357"/>
              <a:gd name="connsiteY178" fmla="*/ 4373769 h 4717133"/>
              <a:gd name="connsiteX179" fmla="*/ 2348888 w 4694357"/>
              <a:gd name="connsiteY179" fmla="*/ 4356116 h 4717133"/>
              <a:gd name="connsiteX180" fmla="*/ 2182044 w 4694357"/>
              <a:gd name="connsiteY180" fmla="*/ 4350421 h 4717133"/>
              <a:gd name="connsiteX181" fmla="*/ 2197988 w 4694357"/>
              <a:gd name="connsiteY181" fmla="*/ 4366935 h 4717133"/>
              <a:gd name="connsiteX182" fmla="*/ 2182044 w 4694357"/>
              <a:gd name="connsiteY182" fmla="*/ 4383449 h 4717133"/>
              <a:gd name="connsiteX183" fmla="*/ 2166100 w 4694357"/>
              <a:gd name="connsiteY183" fmla="*/ 4366935 h 4717133"/>
              <a:gd name="connsiteX184" fmla="*/ 2182044 w 4694357"/>
              <a:gd name="connsiteY184" fmla="*/ 4350421 h 4717133"/>
              <a:gd name="connsiteX185" fmla="*/ 2516299 w 4694357"/>
              <a:gd name="connsiteY185" fmla="*/ 4349283 h 4717133"/>
              <a:gd name="connsiteX186" fmla="*/ 2533952 w 4694357"/>
              <a:gd name="connsiteY186" fmla="*/ 4366936 h 4717133"/>
              <a:gd name="connsiteX187" fmla="*/ 2516299 w 4694357"/>
              <a:gd name="connsiteY187" fmla="*/ 4384589 h 4717133"/>
              <a:gd name="connsiteX188" fmla="*/ 2498646 w 4694357"/>
              <a:gd name="connsiteY188" fmla="*/ 4366936 h 4717133"/>
              <a:gd name="connsiteX189" fmla="*/ 2516299 w 4694357"/>
              <a:gd name="connsiteY189" fmla="*/ 4349283 h 4717133"/>
              <a:gd name="connsiteX190" fmla="*/ 1380292 w 4694357"/>
              <a:gd name="connsiteY190" fmla="*/ 4343588 h 4717133"/>
              <a:gd name="connsiteX191" fmla="*/ 1406486 w 4694357"/>
              <a:gd name="connsiteY191" fmla="*/ 4369782 h 4717133"/>
              <a:gd name="connsiteX192" fmla="*/ 1380292 w 4694357"/>
              <a:gd name="connsiteY192" fmla="*/ 4395976 h 4717133"/>
              <a:gd name="connsiteX193" fmla="*/ 1354098 w 4694357"/>
              <a:gd name="connsiteY193" fmla="*/ 4369782 h 4717133"/>
              <a:gd name="connsiteX194" fmla="*/ 1380292 w 4694357"/>
              <a:gd name="connsiteY194" fmla="*/ 4343588 h 4717133"/>
              <a:gd name="connsiteX195" fmla="*/ 3318621 w 4694357"/>
              <a:gd name="connsiteY195" fmla="*/ 4335617 h 4717133"/>
              <a:gd name="connsiteX196" fmla="*/ 3351648 w 4694357"/>
              <a:gd name="connsiteY196" fmla="*/ 4369214 h 4717133"/>
              <a:gd name="connsiteX197" fmla="*/ 3318621 w 4694357"/>
              <a:gd name="connsiteY197" fmla="*/ 4402811 h 4717133"/>
              <a:gd name="connsiteX198" fmla="*/ 3285594 w 4694357"/>
              <a:gd name="connsiteY198" fmla="*/ 4369214 h 4717133"/>
              <a:gd name="connsiteX199" fmla="*/ 3318621 w 4694357"/>
              <a:gd name="connsiteY199" fmla="*/ 4335617 h 4717133"/>
              <a:gd name="connsiteX200" fmla="*/ 2016910 w 4694357"/>
              <a:gd name="connsiteY200" fmla="*/ 4331061 h 4717133"/>
              <a:gd name="connsiteX201" fmla="*/ 2031715 w 4694357"/>
              <a:gd name="connsiteY201" fmla="*/ 4346436 h 4717133"/>
              <a:gd name="connsiteX202" fmla="*/ 2016910 w 4694357"/>
              <a:gd name="connsiteY202" fmla="*/ 4361811 h 4717133"/>
              <a:gd name="connsiteX203" fmla="*/ 2002105 w 4694357"/>
              <a:gd name="connsiteY203" fmla="*/ 4346436 h 4717133"/>
              <a:gd name="connsiteX204" fmla="*/ 2016910 w 4694357"/>
              <a:gd name="connsiteY204" fmla="*/ 4331061 h 4717133"/>
              <a:gd name="connsiteX205" fmla="*/ 2681433 w 4694357"/>
              <a:gd name="connsiteY205" fmla="*/ 4328783 h 4717133"/>
              <a:gd name="connsiteX206" fmla="*/ 2699086 w 4694357"/>
              <a:gd name="connsiteY206" fmla="*/ 4346436 h 4717133"/>
              <a:gd name="connsiteX207" fmla="*/ 2681433 w 4694357"/>
              <a:gd name="connsiteY207" fmla="*/ 4364089 h 4717133"/>
              <a:gd name="connsiteX208" fmla="*/ 2663780 w 4694357"/>
              <a:gd name="connsiteY208" fmla="*/ 4346436 h 4717133"/>
              <a:gd name="connsiteX209" fmla="*/ 2681433 w 4694357"/>
              <a:gd name="connsiteY209" fmla="*/ 4328783 h 4717133"/>
              <a:gd name="connsiteX210" fmla="*/ 1084189 w 4694357"/>
              <a:gd name="connsiteY210" fmla="*/ 4318533 h 4717133"/>
              <a:gd name="connsiteX211" fmla="*/ 1091022 w 4694357"/>
              <a:gd name="connsiteY211" fmla="*/ 4325366 h 4717133"/>
              <a:gd name="connsiteX212" fmla="*/ 1084189 w 4694357"/>
              <a:gd name="connsiteY212" fmla="*/ 4332199 h 4717133"/>
              <a:gd name="connsiteX213" fmla="*/ 1077356 w 4694357"/>
              <a:gd name="connsiteY213" fmla="*/ 4325366 h 4717133"/>
              <a:gd name="connsiteX214" fmla="*/ 1084189 w 4694357"/>
              <a:gd name="connsiteY214" fmla="*/ 4318533 h 4717133"/>
              <a:gd name="connsiteX215" fmla="*/ 3162028 w 4694357"/>
              <a:gd name="connsiteY215" fmla="*/ 4313978 h 4717133"/>
              <a:gd name="connsiteX216" fmla="*/ 3166014 w 4694357"/>
              <a:gd name="connsiteY216" fmla="*/ 4318534 h 4717133"/>
              <a:gd name="connsiteX217" fmla="*/ 3162028 w 4694357"/>
              <a:gd name="connsiteY217" fmla="*/ 4323091 h 4717133"/>
              <a:gd name="connsiteX218" fmla="*/ 3158042 w 4694357"/>
              <a:gd name="connsiteY218" fmla="*/ 4318534 h 4717133"/>
              <a:gd name="connsiteX219" fmla="*/ 3162028 w 4694357"/>
              <a:gd name="connsiteY219" fmla="*/ 4313978 h 4717133"/>
              <a:gd name="connsiteX220" fmla="*/ 3614723 w 4694357"/>
              <a:gd name="connsiteY220" fmla="*/ 4309423 h 4717133"/>
              <a:gd name="connsiteX221" fmla="*/ 3629528 w 4694357"/>
              <a:gd name="connsiteY221" fmla="*/ 4324798 h 4717133"/>
              <a:gd name="connsiteX222" fmla="*/ 3614723 w 4694357"/>
              <a:gd name="connsiteY222" fmla="*/ 4340173 h 4717133"/>
              <a:gd name="connsiteX223" fmla="*/ 3599918 w 4694357"/>
              <a:gd name="connsiteY223" fmla="*/ 4324798 h 4717133"/>
              <a:gd name="connsiteX224" fmla="*/ 3614723 w 4694357"/>
              <a:gd name="connsiteY224" fmla="*/ 4309423 h 4717133"/>
              <a:gd name="connsiteX225" fmla="*/ 1536885 w 4694357"/>
              <a:gd name="connsiteY225" fmla="*/ 4307145 h 4717133"/>
              <a:gd name="connsiteX226" fmla="*/ 1547705 w 4694357"/>
              <a:gd name="connsiteY226" fmla="*/ 4317965 h 4717133"/>
              <a:gd name="connsiteX227" fmla="*/ 1536885 w 4694357"/>
              <a:gd name="connsiteY227" fmla="*/ 4328785 h 4717133"/>
              <a:gd name="connsiteX228" fmla="*/ 1526065 w 4694357"/>
              <a:gd name="connsiteY228" fmla="*/ 4317965 h 4717133"/>
              <a:gd name="connsiteX229" fmla="*/ 1536885 w 4694357"/>
              <a:gd name="connsiteY229" fmla="*/ 4307145 h 4717133"/>
              <a:gd name="connsiteX230" fmla="*/ 1854054 w 4694357"/>
              <a:gd name="connsiteY230" fmla="*/ 4298034 h 4717133"/>
              <a:gd name="connsiteX231" fmla="*/ 1867720 w 4694357"/>
              <a:gd name="connsiteY231" fmla="*/ 4312270 h 4717133"/>
              <a:gd name="connsiteX232" fmla="*/ 1854054 w 4694357"/>
              <a:gd name="connsiteY232" fmla="*/ 4326506 h 4717133"/>
              <a:gd name="connsiteX233" fmla="*/ 1840388 w 4694357"/>
              <a:gd name="connsiteY233" fmla="*/ 4312270 h 4717133"/>
              <a:gd name="connsiteX234" fmla="*/ 1854054 w 4694357"/>
              <a:gd name="connsiteY234" fmla="*/ 4298034 h 4717133"/>
              <a:gd name="connsiteX235" fmla="*/ 2844858 w 4694357"/>
              <a:gd name="connsiteY235" fmla="*/ 4293479 h 4717133"/>
              <a:gd name="connsiteX236" fmla="*/ 2863080 w 4694357"/>
              <a:gd name="connsiteY236" fmla="*/ 4311701 h 4717133"/>
              <a:gd name="connsiteX237" fmla="*/ 2844858 w 4694357"/>
              <a:gd name="connsiteY237" fmla="*/ 4329923 h 4717133"/>
              <a:gd name="connsiteX238" fmla="*/ 2826636 w 4694357"/>
              <a:gd name="connsiteY238" fmla="*/ 4311701 h 4717133"/>
              <a:gd name="connsiteX239" fmla="*/ 2844858 w 4694357"/>
              <a:gd name="connsiteY239" fmla="*/ 4293479 h 4717133"/>
              <a:gd name="connsiteX240" fmla="*/ 1232810 w 4694357"/>
              <a:gd name="connsiteY240" fmla="*/ 4266146 h 4717133"/>
              <a:gd name="connsiteX241" fmla="*/ 1258435 w 4694357"/>
              <a:gd name="connsiteY241" fmla="*/ 4291771 h 4717133"/>
              <a:gd name="connsiteX242" fmla="*/ 1232810 w 4694357"/>
              <a:gd name="connsiteY242" fmla="*/ 4317396 h 4717133"/>
              <a:gd name="connsiteX243" fmla="*/ 1207185 w 4694357"/>
              <a:gd name="connsiteY243" fmla="*/ 4291771 h 4717133"/>
              <a:gd name="connsiteX244" fmla="*/ 1232810 w 4694357"/>
              <a:gd name="connsiteY244" fmla="*/ 4266146 h 4717133"/>
              <a:gd name="connsiteX245" fmla="*/ 3466103 w 4694357"/>
              <a:gd name="connsiteY245" fmla="*/ 4258174 h 4717133"/>
              <a:gd name="connsiteX246" fmla="*/ 3498561 w 4694357"/>
              <a:gd name="connsiteY246" fmla="*/ 4290632 h 4717133"/>
              <a:gd name="connsiteX247" fmla="*/ 3466103 w 4694357"/>
              <a:gd name="connsiteY247" fmla="*/ 4323090 h 4717133"/>
              <a:gd name="connsiteX248" fmla="*/ 3433645 w 4694357"/>
              <a:gd name="connsiteY248" fmla="*/ 4290632 h 4717133"/>
              <a:gd name="connsiteX249" fmla="*/ 3466103 w 4694357"/>
              <a:gd name="connsiteY249" fmla="*/ 4258174 h 4717133"/>
              <a:gd name="connsiteX250" fmla="*/ 1694046 w 4694357"/>
              <a:gd name="connsiteY250" fmla="*/ 4252480 h 4717133"/>
              <a:gd name="connsiteX251" fmla="*/ 1706004 w 4694357"/>
              <a:gd name="connsiteY251" fmla="*/ 4264438 h 4717133"/>
              <a:gd name="connsiteX252" fmla="*/ 1694046 w 4694357"/>
              <a:gd name="connsiteY252" fmla="*/ 4276396 h 4717133"/>
              <a:gd name="connsiteX253" fmla="*/ 1682088 w 4694357"/>
              <a:gd name="connsiteY253" fmla="*/ 4264438 h 4717133"/>
              <a:gd name="connsiteX254" fmla="*/ 1694046 w 4694357"/>
              <a:gd name="connsiteY254" fmla="*/ 4252480 h 4717133"/>
              <a:gd name="connsiteX255" fmla="*/ 3004867 w 4694357"/>
              <a:gd name="connsiteY255" fmla="*/ 4246786 h 4717133"/>
              <a:gd name="connsiteX256" fmla="*/ 3022520 w 4694357"/>
              <a:gd name="connsiteY256" fmla="*/ 4264439 h 4717133"/>
              <a:gd name="connsiteX257" fmla="*/ 3004867 w 4694357"/>
              <a:gd name="connsiteY257" fmla="*/ 4282092 h 4717133"/>
              <a:gd name="connsiteX258" fmla="*/ 2987214 w 4694357"/>
              <a:gd name="connsiteY258" fmla="*/ 4264439 h 4717133"/>
              <a:gd name="connsiteX259" fmla="*/ 3004867 w 4694357"/>
              <a:gd name="connsiteY259" fmla="*/ 4246786 h 4717133"/>
              <a:gd name="connsiteX260" fmla="*/ 3313496 w 4694357"/>
              <a:gd name="connsiteY260" fmla="*/ 4244508 h 4717133"/>
              <a:gd name="connsiteX261" fmla="*/ 3317482 w 4694357"/>
              <a:gd name="connsiteY261" fmla="*/ 4248494 h 4717133"/>
              <a:gd name="connsiteX262" fmla="*/ 3313496 w 4694357"/>
              <a:gd name="connsiteY262" fmla="*/ 4252480 h 4717133"/>
              <a:gd name="connsiteX263" fmla="*/ 3309510 w 4694357"/>
              <a:gd name="connsiteY263" fmla="*/ 4248494 h 4717133"/>
              <a:gd name="connsiteX264" fmla="*/ 3313496 w 4694357"/>
              <a:gd name="connsiteY264" fmla="*/ 4244508 h 4717133"/>
              <a:gd name="connsiteX265" fmla="*/ 1385417 w 4694357"/>
              <a:gd name="connsiteY265" fmla="*/ 4235397 h 4717133"/>
              <a:gd name="connsiteX266" fmla="*/ 1398514 w 4694357"/>
              <a:gd name="connsiteY266" fmla="*/ 4248494 h 4717133"/>
              <a:gd name="connsiteX267" fmla="*/ 1385417 w 4694357"/>
              <a:gd name="connsiteY267" fmla="*/ 4261591 h 4717133"/>
              <a:gd name="connsiteX268" fmla="*/ 1372320 w 4694357"/>
              <a:gd name="connsiteY268" fmla="*/ 4248494 h 4717133"/>
              <a:gd name="connsiteX269" fmla="*/ 1385417 w 4694357"/>
              <a:gd name="connsiteY269" fmla="*/ 4235397 h 4717133"/>
              <a:gd name="connsiteX270" fmla="*/ 946958 w 4694357"/>
              <a:gd name="connsiteY270" fmla="*/ 4225147 h 4717133"/>
              <a:gd name="connsiteX271" fmla="*/ 952083 w 4694357"/>
              <a:gd name="connsiteY271" fmla="*/ 4230272 h 4717133"/>
              <a:gd name="connsiteX272" fmla="*/ 946958 w 4694357"/>
              <a:gd name="connsiteY272" fmla="*/ 4235397 h 4717133"/>
              <a:gd name="connsiteX273" fmla="*/ 941833 w 4694357"/>
              <a:gd name="connsiteY273" fmla="*/ 4230272 h 4717133"/>
              <a:gd name="connsiteX274" fmla="*/ 946958 w 4694357"/>
              <a:gd name="connsiteY274" fmla="*/ 4225147 h 4717133"/>
              <a:gd name="connsiteX275" fmla="*/ 3751385 w 4694357"/>
              <a:gd name="connsiteY275" fmla="*/ 4214898 h 4717133"/>
              <a:gd name="connsiteX276" fmla="*/ 3765051 w 4694357"/>
              <a:gd name="connsiteY276" fmla="*/ 4229134 h 4717133"/>
              <a:gd name="connsiteX277" fmla="*/ 3751385 w 4694357"/>
              <a:gd name="connsiteY277" fmla="*/ 4243370 h 4717133"/>
              <a:gd name="connsiteX278" fmla="*/ 3737719 w 4694357"/>
              <a:gd name="connsiteY278" fmla="*/ 4229134 h 4717133"/>
              <a:gd name="connsiteX279" fmla="*/ 3751385 w 4694357"/>
              <a:gd name="connsiteY279" fmla="*/ 4214898 h 4717133"/>
              <a:gd name="connsiteX280" fmla="*/ 1539162 w 4694357"/>
              <a:gd name="connsiteY280" fmla="*/ 4194399 h 4717133"/>
              <a:gd name="connsiteX281" fmla="*/ 1548843 w 4694357"/>
              <a:gd name="connsiteY281" fmla="*/ 4204080 h 4717133"/>
              <a:gd name="connsiteX282" fmla="*/ 1539162 w 4694357"/>
              <a:gd name="connsiteY282" fmla="*/ 4213761 h 4717133"/>
              <a:gd name="connsiteX283" fmla="*/ 1529481 w 4694357"/>
              <a:gd name="connsiteY283" fmla="*/ 4204080 h 4717133"/>
              <a:gd name="connsiteX284" fmla="*/ 1539162 w 4694357"/>
              <a:gd name="connsiteY284" fmla="*/ 4194399 h 4717133"/>
              <a:gd name="connsiteX285" fmla="*/ 3159181 w 4694357"/>
              <a:gd name="connsiteY285" fmla="*/ 4186426 h 4717133"/>
              <a:gd name="connsiteX286" fmla="*/ 3176264 w 4694357"/>
              <a:gd name="connsiteY286" fmla="*/ 4204079 h 4717133"/>
              <a:gd name="connsiteX287" fmla="*/ 3159181 w 4694357"/>
              <a:gd name="connsiteY287" fmla="*/ 4221732 h 4717133"/>
              <a:gd name="connsiteX288" fmla="*/ 3142098 w 4694357"/>
              <a:gd name="connsiteY288" fmla="*/ 4204079 h 4717133"/>
              <a:gd name="connsiteX289" fmla="*/ 3159181 w 4694357"/>
              <a:gd name="connsiteY289" fmla="*/ 4186426 h 4717133"/>
              <a:gd name="connsiteX290" fmla="*/ 1091593 w 4694357"/>
              <a:gd name="connsiteY290" fmla="*/ 4178455 h 4717133"/>
              <a:gd name="connsiteX291" fmla="*/ 1116079 w 4694357"/>
              <a:gd name="connsiteY291" fmla="*/ 4202941 h 4717133"/>
              <a:gd name="connsiteX292" fmla="*/ 1091593 w 4694357"/>
              <a:gd name="connsiteY292" fmla="*/ 4227427 h 4717133"/>
              <a:gd name="connsiteX293" fmla="*/ 1067107 w 4694357"/>
              <a:gd name="connsiteY293" fmla="*/ 4202941 h 4717133"/>
              <a:gd name="connsiteX294" fmla="*/ 1091593 w 4694357"/>
              <a:gd name="connsiteY294" fmla="*/ 4178455 h 4717133"/>
              <a:gd name="connsiteX295" fmla="*/ 3607320 w 4694357"/>
              <a:gd name="connsiteY295" fmla="*/ 4170482 h 4717133"/>
              <a:gd name="connsiteX296" fmla="*/ 3638639 w 4694357"/>
              <a:gd name="connsiteY296" fmla="*/ 4201801 h 4717133"/>
              <a:gd name="connsiteX297" fmla="*/ 3607320 w 4694357"/>
              <a:gd name="connsiteY297" fmla="*/ 4233120 h 4717133"/>
              <a:gd name="connsiteX298" fmla="*/ 3576001 w 4694357"/>
              <a:gd name="connsiteY298" fmla="*/ 4201801 h 4717133"/>
              <a:gd name="connsiteX299" fmla="*/ 3607320 w 4694357"/>
              <a:gd name="connsiteY299" fmla="*/ 4170482 h 4717133"/>
              <a:gd name="connsiteX300" fmla="*/ 3458130 w 4694357"/>
              <a:gd name="connsiteY300" fmla="*/ 4162511 h 4717133"/>
              <a:gd name="connsiteX301" fmla="*/ 3462116 w 4694357"/>
              <a:gd name="connsiteY301" fmla="*/ 4166497 h 4717133"/>
              <a:gd name="connsiteX302" fmla="*/ 3458130 w 4694357"/>
              <a:gd name="connsiteY302" fmla="*/ 4170483 h 4717133"/>
              <a:gd name="connsiteX303" fmla="*/ 3454144 w 4694357"/>
              <a:gd name="connsiteY303" fmla="*/ 4166497 h 4717133"/>
              <a:gd name="connsiteX304" fmla="*/ 3458130 w 4694357"/>
              <a:gd name="connsiteY304" fmla="*/ 4162511 h 4717133"/>
              <a:gd name="connsiteX305" fmla="*/ 1240212 w 4694357"/>
              <a:gd name="connsiteY305" fmla="*/ 4152261 h 4717133"/>
              <a:gd name="connsiteX306" fmla="*/ 1255017 w 4694357"/>
              <a:gd name="connsiteY306" fmla="*/ 4167066 h 4717133"/>
              <a:gd name="connsiteX307" fmla="*/ 1240212 w 4694357"/>
              <a:gd name="connsiteY307" fmla="*/ 4181871 h 4717133"/>
              <a:gd name="connsiteX308" fmla="*/ 1225407 w 4694357"/>
              <a:gd name="connsiteY308" fmla="*/ 4167066 h 4717133"/>
              <a:gd name="connsiteX309" fmla="*/ 1240212 w 4694357"/>
              <a:gd name="connsiteY309" fmla="*/ 4152261 h 4717133"/>
              <a:gd name="connsiteX310" fmla="*/ 1389402 w 4694357"/>
              <a:gd name="connsiteY310" fmla="*/ 4122651 h 4717133"/>
              <a:gd name="connsiteX311" fmla="*/ 1397374 w 4694357"/>
              <a:gd name="connsiteY311" fmla="*/ 4130623 h 4717133"/>
              <a:gd name="connsiteX312" fmla="*/ 1389402 w 4694357"/>
              <a:gd name="connsiteY312" fmla="*/ 4138595 h 4717133"/>
              <a:gd name="connsiteX313" fmla="*/ 1381430 w 4694357"/>
              <a:gd name="connsiteY313" fmla="*/ 4130623 h 4717133"/>
              <a:gd name="connsiteX314" fmla="*/ 1389402 w 4694357"/>
              <a:gd name="connsiteY314" fmla="*/ 4122651 h 4717133"/>
              <a:gd name="connsiteX315" fmla="*/ 817128 w 4694357"/>
              <a:gd name="connsiteY315" fmla="*/ 4121512 h 4717133"/>
              <a:gd name="connsiteX316" fmla="*/ 821114 w 4694357"/>
              <a:gd name="connsiteY316" fmla="*/ 4125498 h 4717133"/>
              <a:gd name="connsiteX317" fmla="*/ 817128 w 4694357"/>
              <a:gd name="connsiteY317" fmla="*/ 4129484 h 4717133"/>
              <a:gd name="connsiteX318" fmla="*/ 813142 w 4694357"/>
              <a:gd name="connsiteY318" fmla="*/ 4125498 h 4717133"/>
              <a:gd name="connsiteX319" fmla="*/ 817128 w 4694357"/>
              <a:gd name="connsiteY319" fmla="*/ 4121512 h 4717133"/>
              <a:gd name="connsiteX320" fmla="*/ 3308941 w 4694357"/>
              <a:gd name="connsiteY320" fmla="*/ 4113540 h 4717133"/>
              <a:gd name="connsiteX321" fmla="*/ 3325455 w 4694357"/>
              <a:gd name="connsiteY321" fmla="*/ 4130054 h 4717133"/>
              <a:gd name="connsiteX322" fmla="*/ 3308941 w 4694357"/>
              <a:gd name="connsiteY322" fmla="*/ 4146568 h 4717133"/>
              <a:gd name="connsiteX323" fmla="*/ 3292427 w 4694357"/>
              <a:gd name="connsiteY323" fmla="*/ 4130054 h 4717133"/>
              <a:gd name="connsiteX324" fmla="*/ 3308941 w 4694357"/>
              <a:gd name="connsiteY324" fmla="*/ 4113540 h 4717133"/>
              <a:gd name="connsiteX325" fmla="*/ 3881215 w 4694357"/>
              <a:gd name="connsiteY325" fmla="*/ 4111262 h 4717133"/>
              <a:gd name="connsiteX326" fmla="*/ 3893743 w 4694357"/>
              <a:gd name="connsiteY326" fmla="*/ 4124359 h 4717133"/>
              <a:gd name="connsiteX327" fmla="*/ 3881215 w 4694357"/>
              <a:gd name="connsiteY327" fmla="*/ 4137456 h 4717133"/>
              <a:gd name="connsiteX328" fmla="*/ 3868687 w 4694357"/>
              <a:gd name="connsiteY328" fmla="*/ 4124359 h 4717133"/>
              <a:gd name="connsiteX329" fmla="*/ 3881215 w 4694357"/>
              <a:gd name="connsiteY329" fmla="*/ 4111262 h 4717133"/>
              <a:gd name="connsiteX330" fmla="*/ 957208 w 4694357"/>
              <a:gd name="connsiteY330" fmla="*/ 4079374 h 4717133"/>
              <a:gd name="connsiteX331" fmla="*/ 980555 w 4694357"/>
              <a:gd name="connsiteY331" fmla="*/ 4103290 h 4717133"/>
              <a:gd name="connsiteX332" fmla="*/ 957208 w 4694357"/>
              <a:gd name="connsiteY332" fmla="*/ 4127206 h 4717133"/>
              <a:gd name="connsiteX333" fmla="*/ 933861 w 4694357"/>
              <a:gd name="connsiteY333" fmla="*/ 4103290 h 4717133"/>
              <a:gd name="connsiteX334" fmla="*/ 957208 w 4694357"/>
              <a:gd name="connsiteY334" fmla="*/ 4079374 h 4717133"/>
              <a:gd name="connsiteX335" fmla="*/ 3741705 w 4694357"/>
              <a:gd name="connsiteY335" fmla="*/ 4071402 h 4717133"/>
              <a:gd name="connsiteX336" fmla="*/ 3773024 w 4694357"/>
              <a:gd name="connsiteY336" fmla="*/ 4102151 h 4717133"/>
              <a:gd name="connsiteX337" fmla="*/ 3741705 w 4694357"/>
              <a:gd name="connsiteY337" fmla="*/ 4132900 h 4717133"/>
              <a:gd name="connsiteX338" fmla="*/ 3710386 w 4694357"/>
              <a:gd name="connsiteY338" fmla="*/ 4102151 h 4717133"/>
              <a:gd name="connsiteX339" fmla="*/ 3741705 w 4694357"/>
              <a:gd name="connsiteY339" fmla="*/ 4071402 h 4717133"/>
              <a:gd name="connsiteX340" fmla="*/ 3597071 w 4694357"/>
              <a:gd name="connsiteY340" fmla="*/ 4070263 h 4717133"/>
              <a:gd name="connsiteX341" fmla="*/ 3601057 w 4694357"/>
              <a:gd name="connsiteY341" fmla="*/ 4074249 h 4717133"/>
              <a:gd name="connsiteX342" fmla="*/ 3597071 w 4694357"/>
              <a:gd name="connsiteY342" fmla="*/ 4078235 h 4717133"/>
              <a:gd name="connsiteX343" fmla="*/ 3593085 w 4694357"/>
              <a:gd name="connsiteY343" fmla="*/ 4074249 h 4717133"/>
              <a:gd name="connsiteX344" fmla="*/ 3597071 w 4694357"/>
              <a:gd name="connsiteY344" fmla="*/ 4070263 h 4717133"/>
              <a:gd name="connsiteX345" fmla="*/ 1101272 w 4694357"/>
              <a:gd name="connsiteY345" fmla="*/ 4056597 h 4717133"/>
              <a:gd name="connsiteX346" fmla="*/ 1118355 w 4694357"/>
              <a:gd name="connsiteY346" fmla="*/ 4074250 h 4717133"/>
              <a:gd name="connsiteX347" fmla="*/ 1101272 w 4694357"/>
              <a:gd name="connsiteY347" fmla="*/ 4091903 h 4717133"/>
              <a:gd name="connsiteX348" fmla="*/ 1084189 w 4694357"/>
              <a:gd name="connsiteY348" fmla="*/ 4074250 h 4717133"/>
              <a:gd name="connsiteX349" fmla="*/ 1101272 w 4694357"/>
              <a:gd name="connsiteY349" fmla="*/ 4056597 h 4717133"/>
              <a:gd name="connsiteX350" fmla="*/ 1246477 w 4694357"/>
              <a:gd name="connsiteY350" fmla="*/ 4039515 h 4717133"/>
              <a:gd name="connsiteX351" fmla="*/ 1252741 w 4694357"/>
              <a:gd name="connsiteY351" fmla="*/ 4045210 h 4717133"/>
              <a:gd name="connsiteX352" fmla="*/ 1246477 w 4694357"/>
              <a:gd name="connsiteY352" fmla="*/ 4050905 h 4717133"/>
              <a:gd name="connsiteX353" fmla="*/ 1240213 w 4694357"/>
              <a:gd name="connsiteY353" fmla="*/ 4045210 h 4717133"/>
              <a:gd name="connsiteX354" fmla="*/ 1246477 w 4694357"/>
              <a:gd name="connsiteY354" fmla="*/ 4039515 h 4717133"/>
              <a:gd name="connsiteX355" fmla="*/ 3451867 w 4694357"/>
              <a:gd name="connsiteY355" fmla="*/ 4028126 h 4717133"/>
              <a:gd name="connsiteX356" fmla="*/ 3467811 w 4694357"/>
              <a:gd name="connsiteY356" fmla="*/ 4044640 h 4717133"/>
              <a:gd name="connsiteX357" fmla="*/ 3451867 w 4694357"/>
              <a:gd name="connsiteY357" fmla="*/ 4061154 h 4717133"/>
              <a:gd name="connsiteX358" fmla="*/ 3435923 w 4694357"/>
              <a:gd name="connsiteY358" fmla="*/ 4044640 h 4717133"/>
              <a:gd name="connsiteX359" fmla="*/ 3451867 w 4694357"/>
              <a:gd name="connsiteY359" fmla="*/ 4028126 h 4717133"/>
              <a:gd name="connsiteX360" fmla="*/ 694702 w 4694357"/>
              <a:gd name="connsiteY360" fmla="*/ 4008765 h 4717133"/>
              <a:gd name="connsiteX361" fmla="*/ 698119 w 4694357"/>
              <a:gd name="connsiteY361" fmla="*/ 4011613 h 4717133"/>
              <a:gd name="connsiteX362" fmla="*/ 694702 w 4694357"/>
              <a:gd name="connsiteY362" fmla="*/ 4014461 h 4717133"/>
              <a:gd name="connsiteX363" fmla="*/ 691285 w 4694357"/>
              <a:gd name="connsiteY363" fmla="*/ 4011613 h 4717133"/>
              <a:gd name="connsiteX364" fmla="*/ 694702 w 4694357"/>
              <a:gd name="connsiteY364" fmla="*/ 4008765 h 4717133"/>
              <a:gd name="connsiteX365" fmla="*/ 4003641 w 4694357"/>
              <a:gd name="connsiteY365" fmla="*/ 3998516 h 4717133"/>
              <a:gd name="connsiteX366" fmla="*/ 4015599 w 4694357"/>
              <a:gd name="connsiteY366" fmla="*/ 4010474 h 4717133"/>
              <a:gd name="connsiteX367" fmla="*/ 4003641 w 4694357"/>
              <a:gd name="connsiteY367" fmla="*/ 4022432 h 4717133"/>
              <a:gd name="connsiteX368" fmla="*/ 3991683 w 4694357"/>
              <a:gd name="connsiteY368" fmla="*/ 4010474 h 4717133"/>
              <a:gd name="connsiteX369" fmla="*/ 4003641 w 4694357"/>
              <a:gd name="connsiteY369" fmla="*/ 3998516 h 4717133"/>
              <a:gd name="connsiteX370" fmla="*/ 830225 w 4694357"/>
              <a:gd name="connsiteY370" fmla="*/ 3971183 h 4717133"/>
              <a:gd name="connsiteX371" fmla="*/ 853002 w 4694357"/>
              <a:gd name="connsiteY371" fmla="*/ 3993960 h 4717133"/>
              <a:gd name="connsiteX372" fmla="*/ 830225 w 4694357"/>
              <a:gd name="connsiteY372" fmla="*/ 4016737 h 4717133"/>
              <a:gd name="connsiteX373" fmla="*/ 807448 w 4694357"/>
              <a:gd name="connsiteY373" fmla="*/ 3993960 h 4717133"/>
              <a:gd name="connsiteX374" fmla="*/ 830225 w 4694357"/>
              <a:gd name="connsiteY374" fmla="*/ 3971183 h 4717133"/>
              <a:gd name="connsiteX375" fmla="*/ 3726900 w 4694357"/>
              <a:gd name="connsiteY375" fmla="*/ 3966628 h 4717133"/>
              <a:gd name="connsiteX376" fmla="*/ 3730886 w 4694357"/>
              <a:gd name="connsiteY376" fmla="*/ 3970614 h 4717133"/>
              <a:gd name="connsiteX377" fmla="*/ 3726900 w 4694357"/>
              <a:gd name="connsiteY377" fmla="*/ 3974600 h 4717133"/>
              <a:gd name="connsiteX378" fmla="*/ 3722914 w 4694357"/>
              <a:gd name="connsiteY378" fmla="*/ 3970614 h 4717133"/>
              <a:gd name="connsiteX379" fmla="*/ 3726900 w 4694357"/>
              <a:gd name="connsiteY379" fmla="*/ 3966628 h 4717133"/>
              <a:gd name="connsiteX380" fmla="*/ 3868118 w 4694357"/>
              <a:gd name="connsiteY380" fmla="*/ 3963211 h 4717133"/>
              <a:gd name="connsiteX381" fmla="*/ 3898298 w 4694357"/>
              <a:gd name="connsiteY381" fmla="*/ 3993391 h 4717133"/>
              <a:gd name="connsiteX382" fmla="*/ 3868118 w 4694357"/>
              <a:gd name="connsiteY382" fmla="*/ 4023571 h 4717133"/>
              <a:gd name="connsiteX383" fmla="*/ 3837938 w 4694357"/>
              <a:gd name="connsiteY383" fmla="*/ 3993391 h 4717133"/>
              <a:gd name="connsiteX384" fmla="*/ 3868118 w 4694357"/>
              <a:gd name="connsiteY384" fmla="*/ 3963211 h 4717133"/>
              <a:gd name="connsiteX385" fmla="*/ 970874 w 4694357"/>
              <a:gd name="connsiteY385" fmla="*/ 3951822 h 4717133"/>
              <a:gd name="connsiteX386" fmla="*/ 989666 w 4694357"/>
              <a:gd name="connsiteY386" fmla="*/ 3971183 h 4717133"/>
              <a:gd name="connsiteX387" fmla="*/ 970874 w 4694357"/>
              <a:gd name="connsiteY387" fmla="*/ 3990544 h 4717133"/>
              <a:gd name="connsiteX388" fmla="*/ 952082 w 4694357"/>
              <a:gd name="connsiteY388" fmla="*/ 3971183 h 4717133"/>
              <a:gd name="connsiteX389" fmla="*/ 970874 w 4694357"/>
              <a:gd name="connsiteY389" fmla="*/ 3951822 h 4717133"/>
              <a:gd name="connsiteX390" fmla="*/ 1110952 w 4694357"/>
              <a:gd name="connsiteY390" fmla="*/ 3943851 h 4717133"/>
              <a:gd name="connsiteX391" fmla="*/ 1114938 w 4694357"/>
              <a:gd name="connsiteY391" fmla="*/ 3948407 h 4717133"/>
              <a:gd name="connsiteX392" fmla="*/ 1110952 w 4694357"/>
              <a:gd name="connsiteY392" fmla="*/ 3952964 h 4717133"/>
              <a:gd name="connsiteX393" fmla="*/ 1106966 w 4694357"/>
              <a:gd name="connsiteY393" fmla="*/ 3948407 h 4717133"/>
              <a:gd name="connsiteX394" fmla="*/ 1110952 w 4694357"/>
              <a:gd name="connsiteY394" fmla="*/ 3943851 h 4717133"/>
              <a:gd name="connsiteX395" fmla="*/ 3587390 w 4694357"/>
              <a:gd name="connsiteY395" fmla="*/ 3932462 h 4717133"/>
              <a:gd name="connsiteX396" fmla="*/ 3603334 w 4694357"/>
              <a:gd name="connsiteY396" fmla="*/ 3947837 h 4717133"/>
              <a:gd name="connsiteX397" fmla="*/ 3587390 w 4694357"/>
              <a:gd name="connsiteY397" fmla="*/ 3963212 h 4717133"/>
              <a:gd name="connsiteX398" fmla="*/ 3571446 w 4694357"/>
              <a:gd name="connsiteY398" fmla="*/ 3947837 h 4717133"/>
              <a:gd name="connsiteX399" fmla="*/ 3587390 w 4694357"/>
              <a:gd name="connsiteY399" fmla="*/ 3932462 h 4717133"/>
              <a:gd name="connsiteX400" fmla="*/ 581386 w 4694357"/>
              <a:gd name="connsiteY400" fmla="*/ 3886908 h 4717133"/>
              <a:gd name="connsiteX401" fmla="*/ 583095 w 4694357"/>
              <a:gd name="connsiteY401" fmla="*/ 3889186 h 4717133"/>
              <a:gd name="connsiteX402" fmla="*/ 581386 w 4694357"/>
              <a:gd name="connsiteY402" fmla="*/ 3891464 h 4717133"/>
              <a:gd name="connsiteX403" fmla="*/ 579677 w 4694357"/>
              <a:gd name="connsiteY403" fmla="*/ 3889186 h 4717133"/>
              <a:gd name="connsiteX404" fmla="*/ 581386 w 4694357"/>
              <a:gd name="connsiteY404" fmla="*/ 3886908 h 4717133"/>
              <a:gd name="connsiteX405" fmla="*/ 4117527 w 4694357"/>
              <a:gd name="connsiteY405" fmla="*/ 3877797 h 4717133"/>
              <a:gd name="connsiteX406" fmla="*/ 4128347 w 4694357"/>
              <a:gd name="connsiteY406" fmla="*/ 3888617 h 4717133"/>
              <a:gd name="connsiteX407" fmla="*/ 4117527 w 4694357"/>
              <a:gd name="connsiteY407" fmla="*/ 3899437 h 4717133"/>
              <a:gd name="connsiteX408" fmla="*/ 4106707 w 4694357"/>
              <a:gd name="connsiteY408" fmla="*/ 3888617 h 4717133"/>
              <a:gd name="connsiteX409" fmla="*/ 4117527 w 4694357"/>
              <a:gd name="connsiteY409" fmla="*/ 3877797 h 4717133"/>
              <a:gd name="connsiteX410" fmla="*/ 712923 w 4694357"/>
              <a:gd name="connsiteY410" fmla="*/ 3855020 h 4717133"/>
              <a:gd name="connsiteX411" fmla="*/ 734561 w 4694357"/>
              <a:gd name="connsiteY411" fmla="*/ 3876658 h 4717133"/>
              <a:gd name="connsiteX412" fmla="*/ 712923 w 4694357"/>
              <a:gd name="connsiteY412" fmla="*/ 3898296 h 4717133"/>
              <a:gd name="connsiteX413" fmla="*/ 691285 w 4694357"/>
              <a:gd name="connsiteY413" fmla="*/ 3876658 h 4717133"/>
              <a:gd name="connsiteX414" fmla="*/ 712923 w 4694357"/>
              <a:gd name="connsiteY414" fmla="*/ 3855020 h 4717133"/>
              <a:gd name="connsiteX415" fmla="*/ 3849896 w 4694357"/>
              <a:gd name="connsiteY415" fmla="*/ 3853881 h 4717133"/>
              <a:gd name="connsiteX416" fmla="*/ 3853882 w 4694357"/>
              <a:gd name="connsiteY416" fmla="*/ 3857867 h 4717133"/>
              <a:gd name="connsiteX417" fmla="*/ 3849896 w 4694357"/>
              <a:gd name="connsiteY417" fmla="*/ 3861853 h 4717133"/>
              <a:gd name="connsiteX418" fmla="*/ 3845910 w 4694357"/>
              <a:gd name="connsiteY418" fmla="*/ 3857867 h 4717133"/>
              <a:gd name="connsiteX419" fmla="*/ 3849896 w 4694357"/>
              <a:gd name="connsiteY419" fmla="*/ 3853881 h 4717133"/>
              <a:gd name="connsiteX420" fmla="*/ 3985989 w 4694357"/>
              <a:gd name="connsiteY420" fmla="*/ 3845909 h 4717133"/>
              <a:gd name="connsiteX421" fmla="*/ 4015599 w 4694357"/>
              <a:gd name="connsiteY421" fmla="*/ 3875519 h 4717133"/>
              <a:gd name="connsiteX422" fmla="*/ 3985989 w 4694357"/>
              <a:gd name="connsiteY422" fmla="*/ 3905129 h 4717133"/>
              <a:gd name="connsiteX423" fmla="*/ 3956379 w 4694357"/>
              <a:gd name="connsiteY423" fmla="*/ 3875519 h 4717133"/>
              <a:gd name="connsiteX424" fmla="*/ 3985989 w 4694357"/>
              <a:gd name="connsiteY424" fmla="*/ 3845909 h 4717133"/>
              <a:gd name="connsiteX425" fmla="*/ 983971 w 4694357"/>
              <a:gd name="connsiteY425" fmla="*/ 3837937 h 4717133"/>
              <a:gd name="connsiteX426" fmla="*/ 987388 w 4694357"/>
              <a:gd name="connsiteY426" fmla="*/ 3840785 h 4717133"/>
              <a:gd name="connsiteX427" fmla="*/ 983971 w 4694357"/>
              <a:gd name="connsiteY427" fmla="*/ 3843633 h 4717133"/>
              <a:gd name="connsiteX428" fmla="*/ 980554 w 4694357"/>
              <a:gd name="connsiteY428" fmla="*/ 3840785 h 4717133"/>
              <a:gd name="connsiteX429" fmla="*/ 983971 w 4694357"/>
              <a:gd name="connsiteY429" fmla="*/ 3837937 h 4717133"/>
              <a:gd name="connsiteX430" fmla="*/ 849016 w 4694357"/>
              <a:gd name="connsiteY430" fmla="*/ 3836799 h 4717133"/>
              <a:gd name="connsiteX431" fmla="*/ 870085 w 4694357"/>
              <a:gd name="connsiteY431" fmla="*/ 3857868 h 4717133"/>
              <a:gd name="connsiteX432" fmla="*/ 849016 w 4694357"/>
              <a:gd name="connsiteY432" fmla="*/ 3878937 h 4717133"/>
              <a:gd name="connsiteX433" fmla="*/ 827947 w 4694357"/>
              <a:gd name="connsiteY433" fmla="*/ 3857868 h 4717133"/>
              <a:gd name="connsiteX434" fmla="*/ 849016 w 4694357"/>
              <a:gd name="connsiteY434" fmla="*/ 3836799 h 4717133"/>
              <a:gd name="connsiteX435" fmla="*/ 3714942 w 4694357"/>
              <a:gd name="connsiteY435" fmla="*/ 3824271 h 4717133"/>
              <a:gd name="connsiteX436" fmla="*/ 3730886 w 4694357"/>
              <a:gd name="connsiteY436" fmla="*/ 3840215 h 4717133"/>
              <a:gd name="connsiteX437" fmla="*/ 3714942 w 4694357"/>
              <a:gd name="connsiteY437" fmla="*/ 3856159 h 4717133"/>
              <a:gd name="connsiteX438" fmla="*/ 3698998 w 4694357"/>
              <a:gd name="connsiteY438" fmla="*/ 3840215 h 4717133"/>
              <a:gd name="connsiteX439" fmla="*/ 3714942 w 4694357"/>
              <a:gd name="connsiteY439" fmla="*/ 3824271 h 4717133"/>
              <a:gd name="connsiteX440" fmla="*/ 476042 w 4694357"/>
              <a:gd name="connsiteY440" fmla="*/ 3758217 h 4717133"/>
              <a:gd name="connsiteX441" fmla="*/ 478320 w 4694357"/>
              <a:gd name="connsiteY441" fmla="*/ 3759926 h 4717133"/>
              <a:gd name="connsiteX442" fmla="*/ 476042 w 4694357"/>
              <a:gd name="connsiteY442" fmla="*/ 3761635 h 4717133"/>
              <a:gd name="connsiteX443" fmla="*/ 473764 w 4694357"/>
              <a:gd name="connsiteY443" fmla="*/ 3759926 h 4717133"/>
              <a:gd name="connsiteX444" fmla="*/ 476042 w 4694357"/>
              <a:gd name="connsiteY444" fmla="*/ 3758217 h 4717133"/>
              <a:gd name="connsiteX445" fmla="*/ 4222302 w 4694357"/>
              <a:gd name="connsiteY445" fmla="*/ 3749107 h 4717133"/>
              <a:gd name="connsiteX446" fmla="*/ 4231983 w 4694357"/>
              <a:gd name="connsiteY446" fmla="*/ 3758788 h 4717133"/>
              <a:gd name="connsiteX447" fmla="*/ 4222302 w 4694357"/>
              <a:gd name="connsiteY447" fmla="*/ 3768469 h 4717133"/>
              <a:gd name="connsiteX448" fmla="*/ 4212621 w 4694357"/>
              <a:gd name="connsiteY448" fmla="*/ 3758788 h 4717133"/>
              <a:gd name="connsiteX449" fmla="*/ 4222302 w 4694357"/>
              <a:gd name="connsiteY449" fmla="*/ 3749107 h 4717133"/>
              <a:gd name="connsiteX450" fmla="*/ 3962642 w 4694357"/>
              <a:gd name="connsiteY450" fmla="*/ 3730885 h 4717133"/>
              <a:gd name="connsiteX451" fmla="*/ 3966628 w 4694357"/>
              <a:gd name="connsiteY451" fmla="*/ 3735441 h 4717133"/>
              <a:gd name="connsiteX452" fmla="*/ 3962642 w 4694357"/>
              <a:gd name="connsiteY452" fmla="*/ 3739998 h 4717133"/>
              <a:gd name="connsiteX453" fmla="*/ 3958656 w 4694357"/>
              <a:gd name="connsiteY453" fmla="*/ 3735441 h 4717133"/>
              <a:gd name="connsiteX454" fmla="*/ 3962642 w 4694357"/>
              <a:gd name="connsiteY454" fmla="*/ 3730885 h 4717133"/>
              <a:gd name="connsiteX455" fmla="*/ 603594 w 4694357"/>
              <a:gd name="connsiteY455" fmla="*/ 3728607 h 4717133"/>
              <a:gd name="connsiteX456" fmla="*/ 624094 w 4694357"/>
              <a:gd name="connsiteY456" fmla="*/ 3749676 h 4717133"/>
              <a:gd name="connsiteX457" fmla="*/ 603594 w 4694357"/>
              <a:gd name="connsiteY457" fmla="*/ 3770745 h 4717133"/>
              <a:gd name="connsiteX458" fmla="*/ 583094 w 4694357"/>
              <a:gd name="connsiteY458" fmla="*/ 3749676 h 4717133"/>
              <a:gd name="connsiteX459" fmla="*/ 603594 w 4694357"/>
              <a:gd name="connsiteY459" fmla="*/ 3728607 h 4717133"/>
              <a:gd name="connsiteX460" fmla="*/ 4095320 w 4694357"/>
              <a:gd name="connsiteY460" fmla="*/ 3720636 h 4717133"/>
              <a:gd name="connsiteX461" fmla="*/ 4123792 w 4694357"/>
              <a:gd name="connsiteY461" fmla="*/ 3749108 h 4717133"/>
              <a:gd name="connsiteX462" fmla="*/ 4095320 w 4694357"/>
              <a:gd name="connsiteY462" fmla="*/ 3777580 h 4717133"/>
              <a:gd name="connsiteX463" fmla="*/ 4066848 w 4694357"/>
              <a:gd name="connsiteY463" fmla="*/ 3749108 h 4717133"/>
              <a:gd name="connsiteX464" fmla="*/ 4095320 w 4694357"/>
              <a:gd name="connsiteY464" fmla="*/ 3720636 h 4717133"/>
              <a:gd name="connsiteX465" fmla="*/ 865530 w 4694357"/>
              <a:gd name="connsiteY465" fmla="*/ 3720636 h 4717133"/>
              <a:gd name="connsiteX466" fmla="*/ 867808 w 4694357"/>
              <a:gd name="connsiteY466" fmla="*/ 3722914 h 4717133"/>
              <a:gd name="connsiteX467" fmla="*/ 865530 w 4694357"/>
              <a:gd name="connsiteY467" fmla="*/ 3725192 h 4717133"/>
              <a:gd name="connsiteX468" fmla="*/ 863252 w 4694357"/>
              <a:gd name="connsiteY468" fmla="*/ 3722914 h 4717133"/>
              <a:gd name="connsiteX469" fmla="*/ 865530 w 4694357"/>
              <a:gd name="connsiteY469" fmla="*/ 3720636 h 4717133"/>
              <a:gd name="connsiteX470" fmla="*/ 735700 w 4694357"/>
              <a:gd name="connsiteY470" fmla="*/ 3712663 h 4717133"/>
              <a:gd name="connsiteX471" fmla="*/ 758477 w 4694357"/>
              <a:gd name="connsiteY471" fmla="*/ 3735440 h 4717133"/>
              <a:gd name="connsiteX472" fmla="*/ 735700 w 4694357"/>
              <a:gd name="connsiteY472" fmla="*/ 3758217 h 4717133"/>
              <a:gd name="connsiteX473" fmla="*/ 712923 w 4694357"/>
              <a:gd name="connsiteY473" fmla="*/ 3735440 h 4717133"/>
              <a:gd name="connsiteX474" fmla="*/ 735700 w 4694357"/>
              <a:gd name="connsiteY474" fmla="*/ 3712663 h 4717133"/>
              <a:gd name="connsiteX475" fmla="*/ 3832244 w 4694357"/>
              <a:gd name="connsiteY475" fmla="*/ 3706969 h 4717133"/>
              <a:gd name="connsiteX476" fmla="*/ 3848188 w 4694357"/>
              <a:gd name="connsiteY476" fmla="*/ 3722913 h 4717133"/>
              <a:gd name="connsiteX477" fmla="*/ 3832244 w 4694357"/>
              <a:gd name="connsiteY477" fmla="*/ 3738857 h 4717133"/>
              <a:gd name="connsiteX478" fmla="*/ 3816300 w 4694357"/>
              <a:gd name="connsiteY478" fmla="*/ 3722913 h 4717133"/>
              <a:gd name="connsiteX479" fmla="*/ 3832244 w 4694357"/>
              <a:gd name="connsiteY479" fmla="*/ 3706969 h 4717133"/>
              <a:gd name="connsiteX480" fmla="*/ 380948 w 4694357"/>
              <a:gd name="connsiteY480" fmla="*/ 3620416 h 4717133"/>
              <a:gd name="connsiteX481" fmla="*/ 382657 w 4694357"/>
              <a:gd name="connsiteY481" fmla="*/ 3622694 h 4717133"/>
              <a:gd name="connsiteX482" fmla="*/ 380948 w 4694357"/>
              <a:gd name="connsiteY482" fmla="*/ 3624972 h 4717133"/>
              <a:gd name="connsiteX483" fmla="*/ 379239 w 4694357"/>
              <a:gd name="connsiteY483" fmla="*/ 3622694 h 4717133"/>
              <a:gd name="connsiteX484" fmla="*/ 380948 w 4694357"/>
              <a:gd name="connsiteY484" fmla="*/ 3620416 h 4717133"/>
              <a:gd name="connsiteX485" fmla="*/ 4317965 w 4694357"/>
              <a:gd name="connsiteY485" fmla="*/ 3613583 h 4717133"/>
              <a:gd name="connsiteX486" fmla="*/ 4326507 w 4694357"/>
              <a:gd name="connsiteY486" fmla="*/ 3622125 h 4717133"/>
              <a:gd name="connsiteX487" fmla="*/ 4317965 w 4694357"/>
              <a:gd name="connsiteY487" fmla="*/ 3630667 h 4717133"/>
              <a:gd name="connsiteX488" fmla="*/ 4309423 w 4694357"/>
              <a:gd name="connsiteY488" fmla="*/ 3622125 h 4717133"/>
              <a:gd name="connsiteX489" fmla="*/ 4317965 w 4694357"/>
              <a:gd name="connsiteY489" fmla="*/ 3613583 h 4717133"/>
              <a:gd name="connsiteX490" fmla="*/ 4066278 w 4694357"/>
              <a:gd name="connsiteY490" fmla="*/ 3599917 h 4717133"/>
              <a:gd name="connsiteX491" fmla="*/ 4071403 w 4694357"/>
              <a:gd name="connsiteY491" fmla="*/ 3604473 h 4717133"/>
              <a:gd name="connsiteX492" fmla="*/ 4066278 w 4694357"/>
              <a:gd name="connsiteY492" fmla="*/ 3609030 h 4717133"/>
              <a:gd name="connsiteX493" fmla="*/ 4061153 w 4694357"/>
              <a:gd name="connsiteY493" fmla="*/ 3604473 h 4717133"/>
              <a:gd name="connsiteX494" fmla="*/ 4066278 w 4694357"/>
              <a:gd name="connsiteY494" fmla="*/ 3599917 h 4717133"/>
              <a:gd name="connsiteX495" fmla="*/ 758478 w 4694357"/>
              <a:gd name="connsiteY495" fmla="*/ 3595362 h 4717133"/>
              <a:gd name="connsiteX496" fmla="*/ 759617 w 4694357"/>
              <a:gd name="connsiteY496" fmla="*/ 3596501 h 4717133"/>
              <a:gd name="connsiteX497" fmla="*/ 758478 w 4694357"/>
              <a:gd name="connsiteY497" fmla="*/ 3597640 h 4717133"/>
              <a:gd name="connsiteX498" fmla="*/ 757339 w 4694357"/>
              <a:gd name="connsiteY498" fmla="*/ 3596501 h 4717133"/>
              <a:gd name="connsiteX499" fmla="*/ 758478 w 4694357"/>
              <a:gd name="connsiteY499" fmla="*/ 3595362 h 4717133"/>
              <a:gd name="connsiteX500" fmla="*/ 503944 w 4694357"/>
              <a:gd name="connsiteY500" fmla="*/ 3595362 h 4717133"/>
              <a:gd name="connsiteX501" fmla="*/ 523874 w 4694357"/>
              <a:gd name="connsiteY501" fmla="*/ 3615862 h 4717133"/>
              <a:gd name="connsiteX502" fmla="*/ 503944 w 4694357"/>
              <a:gd name="connsiteY502" fmla="*/ 3636362 h 4717133"/>
              <a:gd name="connsiteX503" fmla="*/ 484014 w 4694357"/>
              <a:gd name="connsiteY503" fmla="*/ 3615862 h 4717133"/>
              <a:gd name="connsiteX504" fmla="*/ 503944 w 4694357"/>
              <a:gd name="connsiteY504" fmla="*/ 3595362 h 4717133"/>
              <a:gd name="connsiteX505" fmla="*/ 4194400 w 4694357"/>
              <a:gd name="connsiteY505" fmla="*/ 3587389 h 4717133"/>
              <a:gd name="connsiteX506" fmla="*/ 4221733 w 4694357"/>
              <a:gd name="connsiteY506" fmla="*/ 3615291 h 4717133"/>
              <a:gd name="connsiteX507" fmla="*/ 4194400 w 4694357"/>
              <a:gd name="connsiteY507" fmla="*/ 3643193 h 4717133"/>
              <a:gd name="connsiteX508" fmla="*/ 4167067 w 4694357"/>
              <a:gd name="connsiteY508" fmla="*/ 3615291 h 4717133"/>
              <a:gd name="connsiteX509" fmla="*/ 4194400 w 4694357"/>
              <a:gd name="connsiteY509" fmla="*/ 3587389 h 4717133"/>
              <a:gd name="connsiteX510" fmla="*/ 632064 w 4694357"/>
              <a:gd name="connsiteY510" fmla="*/ 3581695 h 4717133"/>
              <a:gd name="connsiteX511" fmla="*/ 655980 w 4694357"/>
              <a:gd name="connsiteY511" fmla="*/ 3605611 h 4717133"/>
              <a:gd name="connsiteX512" fmla="*/ 632064 w 4694357"/>
              <a:gd name="connsiteY512" fmla="*/ 3629527 h 4717133"/>
              <a:gd name="connsiteX513" fmla="*/ 608148 w 4694357"/>
              <a:gd name="connsiteY513" fmla="*/ 3605611 h 4717133"/>
              <a:gd name="connsiteX514" fmla="*/ 632064 w 4694357"/>
              <a:gd name="connsiteY514" fmla="*/ 3581695 h 4717133"/>
              <a:gd name="connsiteX515" fmla="*/ 3939866 w 4694357"/>
              <a:gd name="connsiteY515" fmla="*/ 3579418 h 4717133"/>
              <a:gd name="connsiteX516" fmla="*/ 3956380 w 4694357"/>
              <a:gd name="connsiteY516" fmla="*/ 3595362 h 4717133"/>
              <a:gd name="connsiteX517" fmla="*/ 3939866 w 4694357"/>
              <a:gd name="connsiteY517" fmla="*/ 3611306 h 4717133"/>
              <a:gd name="connsiteX518" fmla="*/ 3923352 w 4694357"/>
              <a:gd name="connsiteY518" fmla="*/ 3595362 h 4717133"/>
              <a:gd name="connsiteX519" fmla="*/ 3939866 w 4694357"/>
              <a:gd name="connsiteY519" fmla="*/ 3579418 h 4717133"/>
              <a:gd name="connsiteX520" fmla="*/ 294964 w 4694357"/>
              <a:gd name="connsiteY520" fmla="*/ 3476921 h 4717133"/>
              <a:gd name="connsiteX521" fmla="*/ 297242 w 4694357"/>
              <a:gd name="connsiteY521" fmla="*/ 3479199 h 4717133"/>
              <a:gd name="connsiteX522" fmla="*/ 294964 w 4694357"/>
              <a:gd name="connsiteY522" fmla="*/ 3481477 h 4717133"/>
              <a:gd name="connsiteX523" fmla="*/ 292686 w 4694357"/>
              <a:gd name="connsiteY523" fmla="*/ 3479199 h 4717133"/>
              <a:gd name="connsiteX524" fmla="*/ 294964 w 4694357"/>
              <a:gd name="connsiteY524" fmla="*/ 3476921 h 4717133"/>
              <a:gd name="connsiteX525" fmla="*/ 4403379 w 4694357"/>
              <a:gd name="connsiteY525" fmla="*/ 3471226 h 4717133"/>
              <a:gd name="connsiteX526" fmla="*/ 4410782 w 4694357"/>
              <a:gd name="connsiteY526" fmla="*/ 3478629 h 4717133"/>
              <a:gd name="connsiteX527" fmla="*/ 4403379 w 4694357"/>
              <a:gd name="connsiteY527" fmla="*/ 3486032 h 4717133"/>
              <a:gd name="connsiteX528" fmla="*/ 4395976 w 4694357"/>
              <a:gd name="connsiteY528" fmla="*/ 3478629 h 4717133"/>
              <a:gd name="connsiteX529" fmla="*/ 4403379 w 4694357"/>
              <a:gd name="connsiteY529" fmla="*/ 3471226 h 4717133"/>
              <a:gd name="connsiteX530" fmla="*/ 4159096 w 4694357"/>
              <a:gd name="connsiteY530" fmla="*/ 3460977 h 4717133"/>
              <a:gd name="connsiteX531" fmla="*/ 4164791 w 4694357"/>
              <a:gd name="connsiteY531" fmla="*/ 3466672 h 4717133"/>
              <a:gd name="connsiteX532" fmla="*/ 4159096 w 4694357"/>
              <a:gd name="connsiteY532" fmla="*/ 3472367 h 4717133"/>
              <a:gd name="connsiteX533" fmla="*/ 4153401 w 4694357"/>
              <a:gd name="connsiteY533" fmla="*/ 3466672 h 4717133"/>
              <a:gd name="connsiteX534" fmla="*/ 4159096 w 4694357"/>
              <a:gd name="connsiteY534" fmla="*/ 3460977 h 4717133"/>
              <a:gd name="connsiteX535" fmla="*/ 661106 w 4694357"/>
              <a:gd name="connsiteY535" fmla="*/ 3458699 h 4717133"/>
              <a:gd name="connsiteX536" fmla="*/ 662815 w 4694357"/>
              <a:gd name="connsiteY536" fmla="*/ 3460408 h 4717133"/>
              <a:gd name="connsiteX537" fmla="*/ 661106 w 4694357"/>
              <a:gd name="connsiteY537" fmla="*/ 3462117 h 4717133"/>
              <a:gd name="connsiteX538" fmla="*/ 659397 w 4694357"/>
              <a:gd name="connsiteY538" fmla="*/ 3460408 h 4717133"/>
              <a:gd name="connsiteX539" fmla="*/ 661106 w 4694357"/>
              <a:gd name="connsiteY539" fmla="*/ 3458699 h 4717133"/>
              <a:gd name="connsiteX540" fmla="*/ 414544 w 4694357"/>
              <a:gd name="connsiteY540" fmla="*/ 3455282 h 4717133"/>
              <a:gd name="connsiteX541" fmla="*/ 433905 w 4694357"/>
              <a:gd name="connsiteY541" fmla="*/ 3474643 h 4717133"/>
              <a:gd name="connsiteX542" fmla="*/ 414544 w 4694357"/>
              <a:gd name="connsiteY542" fmla="*/ 3494004 h 4717133"/>
              <a:gd name="connsiteX543" fmla="*/ 395183 w 4694357"/>
              <a:gd name="connsiteY543" fmla="*/ 3474643 h 4717133"/>
              <a:gd name="connsiteX544" fmla="*/ 414544 w 4694357"/>
              <a:gd name="connsiteY544" fmla="*/ 3455282 h 4717133"/>
              <a:gd name="connsiteX545" fmla="*/ 4283231 w 4694357"/>
              <a:gd name="connsiteY545" fmla="*/ 3447311 h 4717133"/>
              <a:gd name="connsiteX546" fmla="*/ 4310564 w 4694357"/>
              <a:gd name="connsiteY546" fmla="*/ 3474074 h 4717133"/>
              <a:gd name="connsiteX547" fmla="*/ 4283231 w 4694357"/>
              <a:gd name="connsiteY547" fmla="*/ 3500837 h 4717133"/>
              <a:gd name="connsiteX548" fmla="*/ 4255898 w 4694357"/>
              <a:gd name="connsiteY548" fmla="*/ 3474074 h 4717133"/>
              <a:gd name="connsiteX549" fmla="*/ 4283231 w 4694357"/>
              <a:gd name="connsiteY549" fmla="*/ 3447311 h 4717133"/>
              <a:gd name="connsiteX550" fmla="*/ 4037237 w 4694357"/>
              <a:gd name="connsiteY550" fmla="*/ 3442755 h 4717133"/>
              <a:gd name="connsiteX551" fmla="*/ 4054320 w 4694357"/>
              <a:gd name="connsiteY551" fmla="*/ 3459838 h 4717133"/>
              <a:gd name="connsiteX552" fmla="*/ 4037237 w 4694357"/>
              <a:gd name="connsiteY552" fmla="*/ 3476921 h 4717133"/>
              <a:gd name="connsiteX553" fmla="*/ 4020154 w 4694357"/>
              <a:gd name="connsiteY553" fmla="*/ 3459838 h 4717133"/>
              <a:gd name="connsiteX554" fmla="*/ 4037237 w 4694357"/>
              <a:gd name="connsiteY554" fmla="*/ 3442755 h 4717133"/>
              <a:gd name="connsiteX555" fmla="*/ 539248 w 4694357"/>
              <a:gd name="connsiteY555" fmla="*/ 3441616 h 4717133"/>
              <a:gd name="connsiteX556" fmla="*/ 563734 w 4694357"/>
              <a:gd name="connsiteY556" fmla="*/ 3466671 h 4717133"/>
              <a:gd name="connsiteX557" fmla="*/ 539248 w 4694357"/>
              <a:gd name="connsiteY557" fmla="*/ 3491726 h 4717133"/>
              <a:gd name="connsiteX558" fmla="*/ 514762 w 4694357"/>
              <a:gd name="connsiteY558" fmla="*/ 3466671 h 4717133"/>
              <a:gd name="connsiteX559" fmla="*/ 539248 w 4694357"/>
              <a:gd name="connsiteY559" fmla="*/ 3441616 h 4717133"/>
              <a:gd name="connsiteX560" fmla="*/ 220370 w 4694357"/>
              <a:gd name="connsiteY560" fmla="*/ 3327731 h 4717133"/>
              <a:gd name="connsiteX561" fmla="*/ 223218 w 4694357"/>
              <a:gd name="connsiteY561" fmla="*/ 3330579 h 4717133"/>
              <a:gd name="connsiteX562" fmla="*/ 220370 w 4694357"/>
              <a:gd name="connsiteY562" fmla="*/ 3333427 h 4717133"/>
              <a:gd name="connsiteX563" fmla="*/ 217522 w 4694357"/>
              <a:gd name="connsiteY563" fmla="*/ 3330579 h 4717133"/>
              <a:gd name="connsiteX564" fmla="*/ 220370 w 4694357"/>
              <a:gd name="connsiteY564" fmla="*/ 3327731 h 4717133"/>
              <a:gd name="connsiteX565" fmla="*/ 4477974 w 4694357"/>
              <a:gd name="connsiteY565" fmla="*/ 3322037 h 4717133"/>
              <a:gd name="connsiteX566" fmla="*/ 4484807 w 4694357"/>
              <a:gd name="connsiteY566" fmla="*/ 3328870 h 4717133"/>
              <a:gd name="connsiteX567" fmla="*/ 4477974 w 4694357"/>
              <a:gd name="connsiteY567" fmla="*/ 3335703 h 4717133"/>
              <a:gd name="connsiteX568" fmla="*/ 4471141 w 4694357"/>
              <a:gd name="connsiteY568" fmla="*/ 3328870 h 4717133"/>
              <a:gd name="connsiteX569" fmla="*/ 4477974 w 4694357"/>
              <a:gd name="connsiteY569" fmla="*/ 3322037 h 4717133"/>
              <a:gd name="connsiteX570" fmla="*/ 575692 w 4694357"/>
              <a:gd name="connsiteY570" fmla="*/ 3316342 h 4717133"/>
              <a:gd name="connsiteX571" fmla="*/ 577401 w 4694357"/>
              <a:gd name="connsiteY571" fmla="*/ 3317481 h 4717133"/>
              <a:gd name="connsiteX572" fmla="*/ 575692 w 4694357"/>
              <a:gd name="connsiteY572" fmla="*/ 3318620 h 4717133"/>
              <a:gd name="connsiteX573" fmla="*/ 573983 w 4694357"/>
              <a:gd name="connsiteY573" fmla="*/ 3317481 h 4717133"/>
              <a:gd name="connsiteX574" fmla="*/ 575692 w 4694357"/>
              <a:gd name="connsiteY574" fmla="*/ 3316342 h 4717133"/>
              <a:gd name="connsiteX575" fmla="*/ 4240523 w 4694357"/>
              <a:gd name="connsiteY575" fmla="*/ 3315204 h 4717133"/>
              <a:gd name="connsiteX576" fmla="*/ 4246787 w 4694357"/>
              <a:gd name="connsiteY576" fmla="*/ 3321468 h 4717133"/>
              <a:gd name="connsiteX577" fmla="*/ 4240523 w 4694357"/>
              <a:gd name="connsiteY577" fmla="*/ 3327732 h 4717133"/>
              <a:gd name="connsiteX578" fmla="*/ 4234259 w 4694357"/>
              <a:gd name="connsiteY578" fmla="*/ 3321468 h 4717133"/>
              <a:gd name="connsiteX579" fmla="*/ 4240523 w 4694357"/>
              <a:gd name="connsiteY579" fmla="*/ 3315204 h 4717133"/>
              <a:gd name="connsiteX580" fmla="*/ 336533 w 4694357"/>
              <a:gd name="connsiteY580" fmla="*/ 3308370 h 4717133"/>
              <a:gd name="connsiteX581" fmla="*/ 355325 w 4694357"/>
              <a:gd name="connsiteY581" fmla="*/ 3327162 h 4717133"/>
              <a:gd name="connsiteX582" fmla="*/ 336533 w 4694357"/>
              <a:gd name="connsiteY582" fmla="*/ 3345954 h 4717133"/>
              <a:gd name="connsiteX583" fmla="*/ 317741 w 4694357"/>
              <a:gd name="connsiteY583" fmla="*/ 3327162 h 4717133"/>
              <a:gd name="connsiteX584" fmla="*/ 336533 w 4694357"/>
              <a:gd name="connsiteY584" fmla="*/ 3308370 h 4717133"/>
              <a:gd name="connsiteX585" fmla="*/ 4361811 w 4694357"/>
              <a:gd name="connsiteY585" fmla="*/ 3300398 h 4717133"/>
              <a:gd name="connsiteX586" fmla="*/ 4388005 w 4694357"/>
              <a:gd name="connsiteY586" fmla="*/ 3326592 h 4717133"/>
              <a:gd name="connsiteX587" fmla="*/ 4361811 w 4694357"/>
              <a:gd name="connsiteY587" fmla="*/ 3352786 h 4717133"/>
              <a:gd name="connsiteX588" fmla="*/ 4335617 w 4694357"/>
              <a:gd name="connsiteY588" fmla="*/ 3326592 h 4717133"/>
              <a:gd name="connsiteX589" fmla="*/ 4361811 w 4694357"/>
              <a:gd name="connsiteY589" fmla="*/ 3300398 h 4717133"/>
              <a:gd name="connsiteX590" fmla="*/ 4122652 w 4694357"/>
              <a:gd name="connsiteY590" fmla="*/ 3299260 h 4717133"/>
              <a:gd name="connsiteX591" fmla="*/ 4140874 w 4694357"/>
              <a:gd name="connsiteY591" fmla="*/ 3317482 h 4717133"/>
              <a:gd name="connsiteX592" fmla="*/ 4122652 w 4694357"/>
              <a:gd name="connsiteY592" fmla="*/ 3335704 h 4717133"/>
              <a:gd name="connsiteX593" fmla="*/ 4104430 w 4694357"/>
              <a:gd name="connsiteY593" fmla="*/ 3317482 h 4717133"/>
              <a:gd name="connsiteX594" fmla="*/ 4122652 w 4694357"/>
              <a:gd name="connsiteY594" fmla="*/ 3299260 h 4717133"/>
              <a:gd name="connsiteX595" fmla="*/ 457820 w 4694357"/>
              <a:gd name="connsiteY595" fmla="*/ 3296982 h 4717133"/>
              <a:gd name="connsiteX596" fmla="*/ 482875 w 4694357"/>
              <a:gd name="connsiteY596" fmla="*/ 3322037 h 4717133"/>
              <a:gd name="connsiteX597" fmla="*/ 457820 w 4694357"/>
              <a:gd name="connsiteY597" fmla="*/ 3347092 h 4717133"/>
              <a:gd name="connsiteX598" fmla="*/ 432765 w 4694357"/>
              <a:gd name="connsiteY598" fmla="*/ 3322037 h 4717133"/>
              <a:gd name="connsiteX599" fmla="*/ 457820 w 4694357"/>
              <a:gd name="connsiteY599" fmla="*/ 3296982 h 4717133"/>
              <a:gd name="connsiteX600" fmla="*/ 156593 w 4694357"/>
              <a:gd name="connsiteY600" fmla="*/ 3172847 h 4717133"/>
              <a:gd name="connsiteX601" fmla="*/ 160579 w 4694357"/>
              <a:gd name="connsiteY601" fmla="*/ 3176833 h 4717133"/>
              <a:gd name="connsiteX602" fmla="*/ 156593 w 4694357"/>
              <a:gd name="connsiteY602" fmla="*/ 3180819 h 4717133"/>
              <a:gd name="connsiteX603" fmla="*/ 152607 w 4694357"/>
              <a:gd name="connsiteY603" fmla="*/ 3176833 h 4717133"/>
              <a:gd name="connsiteX604" fmla="*/ 156593 w 4694357"/>
              <a:gd name="connsiteY604" fmla="*/ 3172847 h 4717133"/>
              <a:gd name="connsiteX605" fmla="*/ 4541749 w 4694357"/>
              <a:gd name="connsiteY605" fmla="*/ 3168291 h 4717133"/>
              <a:gd name="connsiteX606" fmla="*/ 4548582 w 4694357"/>
              <a:gd name="connsiteY606" fmla="*/ 3175124 h 4717133"/>
              <a:gd name="connsiteX607" fmla="*/ 4541749 w 4694357"/>
              <a:gd name="connsiteY607" fmla="*/ 3181957 h 4717133"/>
              <a:gd name="connsiteX608" fmla="*/ 4534916 w 4694357"/>
              <a:gd name="connsiteY608" fmla="*/ 3175124 h 4717133"/>
              <a:gd name="connsiteX609" fmla="*/ 4541749 w 4694357"/>
              <a:gd name="connsiteY609" fmla="*/ 3168291 h 4717133"/>
              <a:gd name="connsiteX610" fmla="*/ 502236 w 4694357"/>
              <a:gd name="connsiteY610" fmla="*/ 3166013 h 4717133"/>
              <a:gd name="connsiteX611" fmla="*/ 504514 w 4694357"/>
              <a:gd name="connsiteY611" fmla="*/ 3168291 h 4717133"/>
              <a:gd name="connsiteX612" fmla="*/ 502236 w 4694357"/>
              <a:gd name="connsiteY612" fmla="*/ 3170569 h 4717133"/>
              <a:gd name="connsiteX613" fmla="*/ 499958 w 4694357"/>
              <a:gd name="connsiteY613" fmla="*/ 3168291 h 4717133"/>
              <a:gd name="connsiteX614" fmla="*/ 502236 w 4694357"/>
              <a:gd name="connsiteY614" fmla="*/ 3166013 h 4717133"/>
              <a:gd name="connsiteX615" fmla="*/ 4309993 w 4694357"/>
              <a:gd name="connsiteY615" fmla="*/ 3162597 h 4717133"/>
              <a:gd name="connsiteX616" fmla="*/ 4317396 w 4694357"/>
              <a:gd name="connsiteY616" fmla="*/ 3170000 h 4717133"/>
              <a:gd name="connsiteX617" fmla="*/ 4309993 w 4694357"/>
              <a:gd name="connsiteY617" fmla="*/ 3177403 h 4717133"/>
              <a:gd name="connsiteX618" fmla="*/ 4302590 w 4694357"/>
              <a:gd name="connsiteY618" fmla="*/ 3170000 h 4717133"/>
              <a:gd name="connsiteX619" fmla="*/ 4309993 w 4694357"/>
              <a:gd name="connsiteY619" fmla="*/ 3162597 h 4717133"/>
              <a:gd name="connsiteX620" fmla="*/ 269909 w 4694357"/>
              <a:gd name="connsiteY620" fmla="*/ 3155764 h 4717133"/>
              <a:gd name="connsiteX621" fmla="*/ 288131 w 4694357"/>
              <a:gd name="connsiteY621" fmla="*/ 3174556 h 4717133"/>
              <a:gd name="connsiteX622" fmla="*/ 269909 w 4694357"/>
              <a:gd name="connsiteY622" fmla="*/ 3193348 h 4717133"/>
              <a:gd name="connsiteX623" fmla="*/ 251687 w 4694357"/>
              <a:gd name="connsiteY623" fmla="*/ 3174556 h 4717133"/>
              <a:gd name="connsiteX624" fmla="*/ 269909 w 4694357"/>
              <a:gd name="connsiteY624" fmla="*/ 3155764 h 4717133"/>
              <a:gd name="connsiteX625" fmla="*/ 4427864 w 4694357"/>
              <a:gd name="connsiteY625" fmla="*/ 3147792 h 4717133"/>
              <a:gd name="connsiteX626" fmla="*/ 4452919 w 4694357"/>
              <a:gd name="connsiteY626" fmla="*/ 3173417 h 4717133"/>
              <a:gd name="connsiteX627" fmla="*/ 4427864 w 4694357"/>
              <a:gd name="connsiteY627" fmla="*/ 3199042 h 4717133"/>
              <a:gd name="connsiteX628" fmla="*/ 4402809 w 4694357"/>
              <a:gd name="connsiteY628" fmla="*/ 3173417 h 4717133"/>
              <a:gd name="connsiteX629" fmla="*/ 4427864 w 4694357"/>
              <a:gd name="connsiteY629" fmla="*/ 3147792 h 4717133"/>
              <a:gd name="connsiteX630" fmla="*/ 4195539 w 4694357"/>
              <a:gd name="connsiteY630" fmla="*/ 3147792 h 4717133"/>
              <a:gd name="connsiteX631" fmla="*/ 4216039 w 4694357"/>
              <a:gd name="connsiteY631" fmla="*/ 3167722 h 4717133"/>
              <a:gd name="connsiteX632" fmla="*/ 4195539 w 4694357"/>
              <a:gd name="connsiteY632" fmla="*/ 3187652 h 4717133"/>
              <a:gd name="connsiteX633" fmla="*/ 4175039 w 4694357"/>
              <a:gd name="connsiteY633" fmla="*/ 3167722 h 4717133"/>
              <a:gd name="connsiteX634" fmla="*/ 4195539 w 4694357"/>
              <a:gd name="connsiteY634" fmla="*/ 3147792 h 4717133"/>
              <a:gd name="connsiteX635" fmla="*/ 387781 w 4694357"/>
              <a:gd name="connsiteY635" fmla="*/ 3145514 h 4717133"/>
              <a:gd name="connsiteX636" fmla="*/ 413406 w 4694357"/>
              <a:gd name="connsiteY636" fmla="*/ 3170569 h 4717133"/>
              <a:gd name="connsiteX637" fmla="*/ 387781 w 4694357"/>
              <a:gd name="connsiteY637" fmla="*/ 3195624 h 4717133"/>
              <a:gd name="connsiteX638" fmla="*/ 362156 w 4694357"/>
              <a:gd name="connsiteY638" fmla="*/ 3170569 h 4717133"/>
              <a:gd name="connsiteX639" fmla="*/ 387781 w 4694357"/>
              <a:gd name="connsiteY639" fmla="*/ 3145514 h 4717133"/>
              <a:gd name="connsiteX640" fmla="*/ 103067 w 4694357"/>
              <a:gd name="connsiteY640" fmla="*/ 3013407 h 4717133"/>
              <a:gd name="connsiteX641" fmla="*/ 108192 w 4694357"/>
              <a:gd name="connsiteY641" fmla="*/ 3018532 h 4717133"/>
              <a:gd name="connsiteX642" fmla="*/ 103067 w 4694357"/>
              <a:gd name="connsiteY642" fmla="*/ 3023657 h 4717133"/>
              <a:gd name="connsiteX643" fmla="*/ 97942 w 4694357"/>
              <a:gd name="connsiteY643" fmla="*/ 3018532 h 4717133"/>
              <a:gd name="connsiteX644" fmla="*/ 103067 w 4694357"/>
              <a:gd name="connsiteY644" fmla="*/ 3013407 h 4717133"/>
              <a:gd name="connsiteX645" fmla="*/ 4594707 w 4694357"/>
              <a:gd name="connsiteY645" fmla="*/ 3009991 h 4717133"/>
              <a:gd name="connsiteX646" fmla="*/ 4600971 w 4694357"/>
              <a:gd name="connsiteY646" fmla="*/ 3016824 h 4717133"/>
              <a:gd name="connsiteX647" fmla="*/ 4594707 w 4694357"/>
              <a:gd name="connsiteY647" fmla="*/ 3023657 h 4717133"/>
              <a:gd name="connsiteX648" fmla="*/ 4588443 w 4694357"/>
              <a:gd name="connsiteY648" fmla="*/ 3016824 h 4717133"/>
              <a:gd name="connsiteX649" fmla="*/ 4594707 w 4694357"/>
              <a:gd name="connsiteY649" fmla="*/ 3009991 h 4717133"/>
              <a:gd name="connsiteX650" fmla="*/ 441307 w 4694357"/>
              <a:gd name="connsiteY650" fmla="*/ 3009991 h 4717133"/>
              <a:gd name="connsiteX651" fmla="*/ 444155 w 4694357"/>
              <a:gd name="connsiteY651" fmla="*/ 3013408 h 4717133"/>
              <a:gd name="connsiteX652" fmla="*/ 441307 w 4694357"/>
              <a:gd name="connsiteY652" fmla="*/ 3016825 h 4717133"/>
              <a:gd name="connsiteX653" fmla="*/ 438459 w 4694357"/>
              <a:gd name="connsiteY653" fmla="*/ 3013408 h 4717133"/>
              <a:gd name="connsiteX654" fmla="*/ 441307 w 4694357"/>
              <a:gd name="connsiteY654" fmla="*/ 3009991 h 4717133"/>
              <a:gd name="connsiteX655" fmla="*/ 4368075 w 4694357"/>
              <a:gd name="connsiteY655" fmla="*/ 3005435 h 4717133"/>
              <a:gd name="connsiteX656" fmla="*/ 4376617 w 4694357"/>
              <a:gd name="connsiteY656" fmla="*/ 3013977 h 4717133"/>
              <a:gd name="connsiteX657" fmla="*/ 4368075 w 4694357"/>
              <a:gd name="connsiteY657" fmla="*/ 3022519 h 4717133"/>
              <a:gd name="connsiteX658" fmla="*/ 4359533 w 4694357"/>
              <a:gd name="connsiteY658" fmla="*/ 3013977 h 4717133"/>
              <a:gd name="connsiteX659" fmla="*/ 4368075 w 4694357"/>
              <a:gd name="connsiteY659" fmla="*/ 3005435 h 4717133"/>
              <a:gd name="connsiteX660" fmla="*/ 214105 w 4694357"/>
              <a:gd name="connsiteY660" fmla="*/ 2998602 h 4717133"/>
              <a:gd name="connsiteX661" fmla="*/ 232327 w 4694357"/>
              <a:gd name="connsiteY661" fmla="*/ 3016824 h 4717133"/>
              <a:gd name="connsiteX662" fmla="*/ 214105 w 4694357"/>
              <a:gd name="connsiteY662" fmla="*/ 3035046 h 4717133"/>
              <a:gd name="connsiteX663" fmla="*/ 195883 w 4694357"/>
              <a:gd name="connsiteY663" fmla="*/ 3016824 h 4717133"/>
              <a:gd name="connsiteX664" fmla="*/ 214105 w 4694357"/>
              <a:gd name="connsiteY664" fmla="*/ 2998602 h 4717133"/>
              <a:gd name="connsiteX665" fmla="*/ 4483668 w 4694357"/>
              <a:gd name="connsiteY665" fmla="*/ 2991769 h 4717133"/>
              <a:gd name="connsiteX666" fmla="*/ 4507584 w 4694357"/>
              <a:gd name="connsiteY666" fmla="*/ 3016255 h 4717133"/>
              <a:gd name="connsiteX667" fmla="*/ 4483668 w 4694357"/>
              <a:gd name="connsiteY667" fmla="*/ 3040741 h 4717133"/>
              <a:gd name="connsiteX668" fmla="*/ 4459752 w 4694357"/>
              <a:gd name="connsiteY668" fmla="*/ 3016255 h 4717133"/>
              <a:gd name="connsiteX669" fmla="*/ 4483668 w 4694357"/>
              <a:gd name="connsiteY669" fmla="*/ 2991769 h 4717133"/>
              <a:gd name="connsiteX670" fmla="*/ 330268 w 4694357"/>
              <a:gd name="connsiteY670" fmla="*/ 2991769 h 4717133"/>
              <a:gd name="connsiteX671" fmla="*/ 353045 w 4694357"/>
              <a:gd name="connsiteY671" fmla="*/ 3014546 h 4717133"/>
              <a:gd name="connsiteX672" fmla="*/ 330268 w 4694357"/>
              <a:gd name="connsiteY672" fmla="*/ 3037323 h 4717133"/>
              <a:gd name="connsiteX673" fmla="*/ 307491 w 4694357"/>
              <a:gd name="connsiteY673" fmla="*/ 3014546 h 4717133"/>
              <a:gd name="connsiteX674" fmla="*/ 330268 w 4694357"/>
              <a:gd name="connsiteY674" fmla="*/ 2991769 h 4717133"/>
              <a:gd name="connsiteX675" fmla="*/ 4256467 w 4694357"/>
              <a:gd name="connsiteY675" fmla="*/ 2990630 h 4717133"/>
              <a:gd name="connsiteX676" fmla="*/ 4278675 w 4694357"/>
              <a:gd name="connsiteY676" fmla="*/ 3012838 h 4717133"/>
              <a:gd name="connsiteX677" fmla="*/ 4256467 w 4694357"/>
              <a:gd name="connsiteY677" fmla="*/ 3035046 h 4717133"/>
              <a:gd name="connsiteX678" fmla="*/ 4234259 w 4694357"/>
              <a:gd name="connsiteY678" fmla="*/ 3012838 h 4717133"/>
              <a:gd name="connsiteX679" fmla="*/ 4256467 w 4694357"/>
              <a:gd name="connsiteY679" fmla="*/ 2990630 h 4717133"/>
              <a:gd name="connsiteX680" fmla="*/ 62069 w 4694357"/>
              <a:gd name="connsiteY680" fmla="*/ 2850551 h 4717133"/>
              <a:gd name="connsiteX681" fmla="*/ 68333 w 4694357"/>
              <a:gd name="connsiteY681" fmla="*/ 2856246 h 4717133"/>
              <a:gd name="connsiteX682" fmla="*/ 62069 w 4694357"/>
              <a:gd name="connsiteY682" fmla="*/ 2861941 h 4717133"/>
              <a:gd name="connsiteX683" fmla="*/ 55805 w 4694357"/>
              <a:gd name="connsiteY683" fmla="*/ 2856246 h 4717133"/>
              <a:gd name="connsiteX684" fmla="*/ 62069 w 4694357"/>
              <a:gd name="connsiteY684" fmla="*/ 2850551 h 4717133"/>
              <a:gd name="connsiteX685" fmla="*/ 4636275 w 4694357"/>
              <a:gd name="connsiteY685" fmla="*/ 2849412 h 4717133"/>
              <a:gd name="connsiteX686" fmla="*/ 4641970 w 4694357"/>
              <a:gd name="connsiteY686" fmla="*/ 2855107 h 4717133"/>
              <a:gd name="connsiteX687" fmla="*/ 4636275 w 4694357"/>
              <a:gd name="connsiteY687" fmla="*/ 2860802 h 4717133"/>
              <a:gd name="connsiteX688" fmla="*/ 4630580 w 4694357"/>
              <a:gd name="connsiteY688" fmla="*/ 2855107 h 4717133"/>
              <a:gd name="connsiteX689" fmla="*/ 4636275 w 4694357"/>
              <a:gd name="connsiteY689" fmla="*/ 2849412 h 4717133"/>
              <a:gd name="connsiteX690" fmla="*/ 394044 w 4694357"/>
              <a:gd name="connsiteY690" fmla="*/ 2849412 h 4717133"/>
              <a:gd name="connsiteX691" fmla="*/ 398601 w 4694357"/>
              <a:gd name="connsiteY691" fmla="*/ 2853398 h 4717133"/>
              <a:gd name="connsiteX692" fmla="*/ 394044 w 4694357"/>
              <a:gd name="connsiteY692" fmla="*/ 2857384 h 4717133"/>
              <a:gd name="connsiteX693" fmla="*/ 389488 w 4694357"/>
              <a:gd name="connsiteY693" fmla="*/ 2853398 h 4717133"/>
              <a:gd name="connsiteX694" fmla="*/ 394044 w 4694357"/>
              <a:gd name="connsiteY694" fmla="*/ 2849412 h 4717133"/>
              <a:gd name="connsiteX695" fmla="*/ 4413060 w 4694357"/>
              <a:gd name="connsiteY695" fmla="*/ 2844857 h 4717133"/>
              <a:gd name="connsiteX696" fmla="*/ 4422171 w 4694357"/>
              <a:gd name="connsiteY696" fmla="*/ 2853968 h 4717133"/>
              <a:gd name="connsiteX697" fmla="*/ 4413060 w 4694357"/>
              <a:gd name="connsiteY697" fmla="*/ 2863079 h 4717133"/>
              <a:gd name="connsiteX698" fmla="*/ 4403949 w 4694357"/>
              <a:gd name="connsiteY698" fmla="*/ 2853968 h 4717133"/>
              <a:gd name="connsiteX699" fmla="*/ 4413060 w 4694357"/>
              <a:gd name="connsiteY699" fmla="*/ 2844857 h 4717133"/>
              <a:gd name="connsiteX700" fmla="*/ 284714 w 4694357"/>
              <a:gd name="connsiteY700" fmla="*/ 2838024 h 4717133"/>
              <a:gd name="connsiteX701" fmla="*/ 301797 w 4694357"/>
              <a:gd name="connsiteY701" fmla="*/ 2854538 h 4717133"/>
              <a:gd name="connsiteX702" fmla="*/ 284714 w 4694357"/>
              <a:gd name="connsiteY702" fmla="*/ 2871052 h 4717133"/>
              <a:gd name="connsiteX703" fmla="*/ 267631 w 4694357"/>
              <a:gd name="connsiteY703" fmla="*/ 2854538 h 4717133"/>
              <a:gd name="connsiteX704" fmla="*/ 284714 w 4694357"/>
              <a:gd name="connsiteY704" fmla="*/ 2838024 h 4717133"/>
              <a:gd name="connsiteX705" fmla="*/ 171399 w 4694357"/>
              <a:gd name="connsiteY705" fmla="*/ 2838024 h 4717133"/>
              <a:gd name="connsiteX706" fmla="*/ 189052 w 4694357"/>
              <a:gd name="connsiteY706" fmla="*/ 2856246 h 4717133"/>
              <a:gd name="connsiteX707" fmla="*/ 171399 w 4694357"/>
              <a:gd name="connsiteY707" fmla="*/ 2874468 h 4717133"/>
              <a:gd name="connsiteX708" fmla="*/ 153746 w 4694357"/>
              <a:gd name="connsiteY708" fmla="*/ 2856246 h 4717133"/>
              <a:gd name="connsiteX709" fmla="*/ 171399 w 4694357"/>
              <a:gd name="connsiteY709" fmla="*/ 2838024 h 4717133"/>
              <a:gd name="connsiteX710" fmla="*/ 4526945 w 4694357"/>
              <a:gd name="connsiteY710" fmla="*/ 2831190 h 4717133"/>
              <a:gd name="connsiteX711" fmla="*/ 4549722 w 4694357"/>
              <a:gd name="connsiteY711" fmla="*/ 2854537 h 4717133"/>
              <a:gd name="connsiteX712" fmla="*/ 4526945 w 4694357"/>
              <a:gd name="connsiteY712" fmla="*/ 2877884 h 4717133"/>
              <a:gd name="connsiteX713" fmla="*/ 4504168 w 4694357"/>
              <a:gd name="connsiteY713" fmla="*/ 2854537 h 4717133"/>
              <a:gd name="connsiteX714" fmla="*/ 4526945 w 4694357"/>
              <a:gd name="connsiteY714" fmla="*/ 2831190 h 4717133"/>
              <a:gd name="connsiteX715" fmla="*/ 4303729 w 4694357"/>
              <a:gd name="connsiteY715" fmla="*/ 2828913 h 4717133"/>
              <a:gd name="connsiteX716" fmla="*/ 4327645 w 4694357"/>
              <a:gd name="connsiteY716" fmla="*/ 2852829 h 4717133"/>
              <a:gd name="connsiteX717" fmla="*/ 4303729 w 4694357"/>
              <a:gd name="connsiteY717" fmla="*/ 2876745 h 4717133"/>
              <a:gd name="connsiteX718" fmla="*/ 4279813 w 4694357"/>
              <a:gd name="connsiteY718" fmla="*/ 2852829 h 4717133"/>
              <a:gd name="connsiteX719" fmla="*/ 4303729 w 4694357"/>
              <a:gd name="connsiteY719" fmla="*/ 2828913 h 4717133"/>
              <a:gd name="connsiteX720" fmla="*/ 4665885 w 4694357"/>
              <a:gd name="connsiteY720" fmla="*/ 2685417 h 4717133"/>
              <a:gd name="connsiteX721" fmla="*/ 4671580 w 4694357"/>
              <a:gd name="connsiteY721" fmla="*/ 2691112 h 4717133"/>
              <a:gd name="connsiteX722" fmla="*/ 4665885 w 4694357"/>
              <a:gd name="connsiteY722" fmla="*/ 2696807 h 4717133"/>
              <a:gd name="connsiteX723" fmla="*/ 4660190 w 4694357"/>
              <a:gd name="connsiteY723" fmla="*/ 2691112 h 4717133"/>
              <a:gd name="connsiteX724" fmla="*/ 4665885 w 4694357"/>
              <a:gd name="connsiteY724" fmla="*/ 2685417 h 4717133"/>
              <a:gd name="connsiteX725" fmla="*/ 360448 w 4694357"/>
              <a:gd name="connsiteY725" fmla="*/ 2685417 h 4717133"/>
              <a:gd name="connsiteX726" fmla="*/ 365573 w 4694357"/>
              <a:gd name="connsiteY726" fmla="*/ 2690542 h 4717133"/>
              <a:gd name="connsiteX727" fmla="*/ 360448 w 4694357"/>
              <a:gd name="connsiteY727" fmla="*/ 2695667 h 4717133"/>
              <a:gd name="connsiteX728" fmla="*/ 355323 w 4694357"/>
              <a:gd name="connsiteY728" fmla="*/ 2690542 h 4717133"/>
              <a:gd name="connsiteX729" fmla="*/ 360448 w 4694357"/>
              <a:gd name="connsiteY729" fmla="*/ 2685417 h 4717133"/>
              <a:gd name="connsiteX730" fmla="*/ 33027 w 4694357"/>
              <a:gd name="connsiteY730" fmla="*/ 2685417 h 4717133"/>
              <a:gd name="connsiteX731" fmla="*/ 39860 w 4694357"/>
              <a:gd name="connsiteY731" fmla="*/ 2692250 h 4717133"/>
              <a:gd name="connsiteX732" fmla="*/ 33027 w 4694357"/>
              <a:gd name="connsiteY732" fmla="*/ 2699083 h 4717133"/>
              <a:gd name="connsiteX733" fmla="*/ 26194 w 4694357"/>
              <a:gd name="connsiteY733" fmla="*/ 2692250 h 4717133"/>
              <a:gd name="connsiteX734" fmla="*/ 33027 w 4694357"/>
              <a:gd name="connsiteY734" fmla="*/ 2685417 h 4717133"/>
              <a:gd name="connsiteX735" fmla="*/ 252257 w 4694357"/>
              <a:gd name="connsiteY735" fmla="*/ 2682001 h 4717133"/>
              <a:gd name="connsiteX736" fmla="*/ 260799 w 4694357"/>
              <a:gd name="connsiteY736" fmla="*/ 2691112 h 4717133"/>
              <a:gd name="connsiteX737" fmla="*/ 252257 w 4694357"/>
              <a:gd name="connsiteY737" fmla="*/ 2700223 h 4717133"/>
              <a:gd name="connsiteX738" fmla="*/ 243715 w 4694357"/>
              <a:gd name="connsiteY738" fmla="*/ 2691112 h 4717133"/>
              <a:gd name="connsiteX739" fmla="*/ 252257 w 4694357"/>
              <a:gd name="connsiteY739" fmla="*/ 2682001 h 4717133"/>
              <a:gd name="connsiteX740" fmla="*/ 4446086 w 4694357"/>
              <a:gd name="connsiteY740" fmla="*/ 2679723 h 4717133"/>
              <a:gd name="connsiteX741" fmla="*/ 4456336 w 4694357"/>
              <a:gd name="connsiteY741" fmla="*/ 2689973 h 4717133"/>
              <a:gd name="connsiteX742" fmla="*/ 4446086 w 4694357"/>
              <a:gd name="connsiteY742" fmla="*/ 2700223 h 4717133"/>
              <a:gd name="connsiteX743" fmla="*/ 4435836 w 4694357"/>
              <a:gd name="connsiteY743" fmla="*/ 2689973 h 4717133"/>
              <a:gd name="connsiteX744" fmla="*/ 4446086 w 4694357"/>
              <a:gd name="connsiteY744" fmla="*/ 2679723 h 4717133"/>
              <a:gd name="connsiteX745" fmla="*/ 140080 w 4694357"/>
              <a:gd name="connsiteY745" fmla="*/ 2674029 h 4717133"/>
              <a:gd name="connsiteX746" fmla="*/ 158302 w 4694357"/>
              <a:gd name="connsiteY746" fmla="*/ 2692251 h 4717133"/>
              <a:gd name="connsiteX747" fmla="*/ 140080 w 4694357"/>
              <a:gd name="connsiteY747" fmla="*/ 2710473 h 4717133"/>
              <a:gd name="connsiteX748" fmla="*/ 121858 w 4694357"/>
              <a:gd name="connsiteY748" fmla="*/ 2692251 h 4717133"/>
              <a:gd name="connsiteX749" fmla="*/ 140080 w 4694357"/>
              <a:gd name="connsiteY749" fmla="*/ 2674029 h 4717133"/>
              <a:gd name="connsiteX750" fmla="*/ 4558264 w 4694357"/>
              <a:gd name="connsiteY750" fmla="*/ 2668335 h 4717133"/>
              <a:gd name="connsiteX751" fmla="*/ 4580472 w 4694357"/>
              <a:gd name="connsiteY751" fmla="*/ 2691112 h 4717133"/>
              <a:gd name="connsiteX752" fmla="*/ 4558264 w 4694357"/>
              <a:gd name="connsiteY752" fmla="*/ 2713889 h 4717133"/>
              <a:gd name="connsiteX753" fmla="*/ 4536056 w 4694357"/>
              <a:gd name="connsiteY753" fmla="*/ 2691112 h 4717133"/>
              <a:gd name="connsiteX754" fmla="*/ 4558264 w 4694357"/>
              <a:gd name="connsiteY754" fmla="*/ 2668335 h 4717133"/>
              <a:gd name="connsiteX755" fmla="*/ 4337895 w 4694357"/>
              <a:gd name="connsiteY755" fmla="*/ 2664918 h 4717133"/>
              <a:gd name="connsiteX756" fmla="*/ 4364089 w 4694357"/>
              <a:gd name="connsiteY756" fmla="*/ 2690543 h 4717133"/>
              <a:gd name="connsiteX757" fmla="*/ 4337895 w 4694357"/>
              <a:gd name="connsiteY757" fmla="*/ 2716168 h 4717133"/>
              <a:gd name="connsiteX758" fmla="*/ 4311701 w 4694357"/>
              <a:gd name="connsiteY758" fmla="*/ 2690543 h 4717133"/>
              <a:gd name="connsiteX759" fmla="*/ 4337895 w 4694357"/>
              <a:gd name="connsiteY759" fmla="*/ 2664918 h 4717133"/>
              <a:gd name="connsiteX760" fmla="*/ 232327 w 4694357"/>
              <a:gd name="connsiteY760" fmla="*/ 2522561 h 4717133"/>
              <a:gd name="connsiteX761" fmla="*/ 235744 w 4694357"/>
              <a:gd name="connsiteY761" fmla="*/ 2525978 h 4717133"/>
              <a:gd name="connsiteX762" fmla="*/ 232327 w 4694357"/>
              <a:gd name="connsiteY762" fmla="*/ 2529395 h 4717133"/>
              <a:gd name="connsiteX763" fmla="*/ 228910 w 4694357"/>
              <a:gd name="connsiteY763" fmla="*/ 2525978 h 4717133"/>
              <a:gd name="connsiteX764" fmla="*/ 232327 w 4694357"/>
              <a:gd name="connsiteY764" fmla="*/ 2522561 h 4717133"/>
              <a:gd name="connsiteX765" fmla="*/ 4682968 w 4694357"/>
              <a:gd name="connsiteY765" fmla="*/ 2519145 h 4717133"/>
              <a:gd name="connsiteX766" fmla="*/ 4688663 w 4694357"/>
              <a:gd name="connsiteY766" fmla="*/ 2524840 h 4717133"/>
              <a:gd name="connsiteX767" fmla="*/ 4682968 w 4694357"/>
              <a:gd name="connsiteY767" fmla="*/ 2530535 h 4717133"/>
              <a:gd name="connsiteX768" fmla="*/ 4677273 w 4694357"/>
              <a:gd name="connsiteY768" fmla="*/ 2524840 h 4717133"/>
              <a:gd name="connsiteX769" fmla="*/ 4682968 w 4694357"/>
              <a:gd name="connsiteY769" fmla="*/ 2519145 h 4717133"/>
              <a:gd name="connsiteX770" fmla="*/ 339380 w 4694357"/>
              <a:gd name="connsiteY770" fmla="*/ 2519145 h 4717133"/>
              <a:gd name="connsiteX771" fmla="*/ 345075 w 4694357"/>
              <a:gd name="connsiteY771" fmla="*/ 2525409 h 4717133"/>
              <a:gd name="connsiteX772" fmla="*/ 339380 w 4694357"/>
              <a:gd name="connsiteY772" fmla="*/ 2531673 h 4717133"/>
              <a:gd name="connsiteX773" fmla="*/ 333685 w 4694357"/>
              <a:gd name="connsiteY773" fmla="*/ 2525409 h 4717133"/>
              <a:gd name="connsiteX774" fmla="*/ 339380 w 4694357"/>
              <a:gd name="connsiteY774" fmla="*/ 2519145 h 4717133"/>
              <a:gd name="connsiteX775" fmla="*/ 14806 w 4694357"/>
              <a:gd name="connsiteY775" fmla="*/ 2519145 h 4717133"/>
              <a:gd name="connsiteX776" fmla="*/ 22778 w 4694357"/>
              <a:gd name="connsiteY776" fmla="*/ 2526548 h 4717133"/>
              <a:gd name="connsiteX777" fmla="*/ 14806 w 4694357"/>
              <a:gd name="connsiteY777" fmla="*/ 2533951 h 4717133"/>
              <a:gd name="connsiteX778" fmla="*/ 6834 w 4694357"/>
              <a:gd name="connsiteY778" fmla="*/ 2526548 h 4717133"/>
              <a:gd name="connsiteX779" fmla="*/ 14806 w 4694357"/>
              <a:gd name="connsiteY779" fmla="*/ 2519145 h 4717133"/>
              <a:gd name="connsiteX780" fmla="*/ 4464877 w 4694357"/>
              <a:gd name="connsiteY780" fmla="*/ 2513451 h 4717133"/>
              <a:gd name="connsiteX781" fmla="*/ 4476835 w 4694357"/>
              <a:gd name="connsiteY781" fmla="*/ 2524840 h 4717133"/>
              <a:gd name="connsiteX782" fmla="*/ 4464877 w 4694357"/>
              <a:gd name="connsiteY782" fmla="*/ 2536229 h 4717133"/>
              <a:gd name="connsiteX783" fmla="*/ 4452919 w 4694357"/>
              <a:gd name="connsiteY783" fmla="*/ 2524840 h 4717133"/>
              <a:gd name="connsiteX784" fmla="*/ 4464877 w 4694357"/>
              <a:gd name="connsiteY784" fmla="*/ 2513451 h 4717133"/>
              <a:gd name="connsiteX785" fmla="*/ 121289 w 4694357"/>
              <a:gd name="connsiteY785" fmla="*/ 2508895 h 4717133"/>
              <a:gd name="connsiteX786" fmla="*/ 138942 w 4694357"/>
              <a:gd name="connsiteY786" fmla="*/ 2526548 h 4717133"/>
              <a:gd name="connsiteX787" fmla="*/ 121289 w 4694357"/>
              <a:gd name="connsiteY787" fmla="*/ 2544201 h 4717133"/>
              <a:gd name="connsiteX788" fmla="*/ 103636 w 4694357"/>
              <a:gd name="connsiteY788" fmla="*/ 2526548 h 4717133"/>
              <a:gd name="connsiteX789" fmla="*/ 121289 w 4694357"/>
              <a:gd name="connsiteY789" fmla="*/ 2508895 h 4717133"/>
              <a:gd name="connsiteX790" fmla="*/ 4576485 w 4694357"/>
              <a:gd name="connsiteY790" fmla="*/ 2503201 h 4717133"/>
              <a:gd name="connsiteX791" fmla="*/ 4597554 w 4694357"/>
              <a:gd name="connsiteY791" fmla="*/ 2524839 h 4717133"/>
              <a:gd name="connsiteX792" fmla="*/ 4576485 w 4694357"/>
              <a:gd name="connsiteY792" fmla="*/ 2546477 h 4717133"/>
              <a:gd name="connsiteX793" fmla="*/ 4555416 w 4694357"/>
              <a:gd name="connsiteY793" fmla="*/ 2524839 h 4717133"/>
              <a:gd name="connsiteX794" fmla="*/ 4576485 w 4694357"/>
              <a:gd name="connsiteY794" fmla="*/ 2503201 h 4717133"/>
              <a:gd name="connsiteX795" fmla="*/ 4358394 w 4694357"/>
              <a:gd name="connsiteY795" fmla="*/ 2498645 h 4717133"/>
              <a:gd name="connsiteX796" fmla="*/ 4384588 w 4694357"/>
              <a:gd name="connsiteY796" fmla="*/ 2525408 h 4717133"/>
              <a:gd name="connsiteX797" fmla="*/ 4358394 w 4694357"/>
              <a:gd name="connsiteY797" fmla="*/ 2552171 h 4717133"/>
              <a:gd name="connsiteX798" fmla="*/ 4332200 w 4694357"/>
              <a:gd name="connsiteY798" fmla="*/ 2525408 h 4717133"/>
              <a:gd name="connsiteX799" fmla="*/ 4358394 w 4694357"/>
              <a:gd name="connsiteY799" fmla="*/ 2498645 h 4717133"/>
              <a:gd name="connsiteX800" fmla="*/ 226064 w 4694357"/>
              <a:gd name="connsiteY800" fmla="*/ 2357427 h 4717133"/>
              <a:gd name="connsiteX801" fmla="*/ 227773 w 4694357"/>
              <a:gd name="connsiteY801" fmla="*/ 2359136 h 4717133"/>
              <a:gd name="connsiteX802" fmla="*/ 226064 w 4694357"/>
              <a:gd name="connsiteY802" fmla="*/ 2360845 h 4717133"/>
              <a:gd name="connsiteX803" fmla="*/ 224355 w 4694357"/>
              <a:gd name="connsiteY803" fmla="*/ 2359136 h 4717133"/>
              <a:gd name="connsiteX804" fmla="*/ 226064 w 4694357"/>
              <a:gd name="connsiteY804" fmla="*/ 2357427 h 4717133"/>
              <a:gd name="connsiteX805" fmla="*/ 332546 w 4694357"/>
              <a:gd name="connsiteY805" fmla="*/ 2352872 h 4717133"/>
              <a:gd name="connsiteX806" fmla="*/ 339379 w 4694357"/>
              <a:gd name="connsiteY806" fmla="*/ 2359705 h 4717133"/>
              <a:gd name="connsiteX807" fmla="*/ 332546 w 4694357"/>
              <a:gd name="connsiteY807" fmla="*/ 2366538 h 4717133"/>
              <a:gd name="connsiteX808" fmla="*/ 325713 w 4694357"/>
              <a:gd name="connsiteY808" fmla="*/ 2359705 h 4717133"/>
              <a:gd name="connsiteX809" fmla="*/ 332546 w 4694357"/>
              <a:gd name="connsiteY809" fmla="*/ 2352872 h 4717133"/>
              <a:gd name="connsiteX810" fmla="*/ 4688662 w 4694357"/>
              <a:gd name="connsiteY810" fmla="*/ 2351733 h 4717133"/>
              <a:gd name="connsiteX811" fmla="*/ 4694357 w 4694357"/>
              <a:gd name="connsiteY811" fmla="*/ 2357997 h 4717133"/>
              <a:gd name="connsiteX812" fmla="*/ 4688662 w 4694357"/>
              <a:gd name="connsiteY812" fmla="*/ 2364261 h 4717133"/>
              <a:gd name="connsiteX813" fmla="*/ 4682967 w 4694357"/>
              <a:gd name="connsiteY813" fmla="*/ 2357997 h 4717133"/>
              <a:gd name="connsiteX814" fmla="*/ 4688662 w 4694357"/>
              <a:gd name="connsiteY814" fmla="*/ 2351733 h 4717133"/>
              <a:gd name="connsiteX815" fmla="*/ 8542 w 4694357"/>
              <a:gd name="connsiteY815" fmla="*/ 2350594 h 4717133"/>
              <a:gd name="connsiteX816" fmla="*/ 17084 w 4694357"/>
              <a:gd name="connsiteY816" fmla="*/ 2359705 h 4717133"/>
              <a:gd name="connsiteX817" fmla="*/ 8542 w 4694357"/>
              <a:gd name="connsiteY817" fmla="*/ 2368816 h 4717133"/>
              <a:gd name="connsiteX818" fmla="*/ 0 w 4694357"/>
              <a:gd name="connsiteY818" fmla="*/ 2359705 h 4717133"/>
              <a:gd name="connsiteX819" fmla="*/ 8542 w 4694357"/>
              <a:gd name="connsiteY819" fmla="*/ 2350594 h 4717133"/>
              <a:gd name="connsiteX820" fmla="*/ 4471711 w 4694357"/>
              <a:gd name="connsiteY820" fmla="*/ 2346039 h 4717133"/>
              <a:gd name="connsiteX821" fmla="*/ 4484808 w 4694357"/>
              <a:gd name="connsiteY821" fmla="*/ 2358567 h 4717133"/>
              <a:gd name="connsiteX822" fmla="*/ 4471711 w 4694357"/>
              <a:gd name="connsiteY822" fmla="*/ 2371095 h 4717133"/>
              <a:gd name="connsiteX823" fmla="*/ 4458614 w 4694357"/>
              <a:gd name="connsiteY823" fmla="*/ 2358567 h 4717133"/>
              <a:gd name="connsiteX824" fmla="*/ 4471711 w 4694357"/>
              <a:gd name="connsiteY824" fmla="*/ 2346039 h 4717133"/>
              <a:gd name="connsiteX825" fmla="*/ 115595 w 4694357"/>
              <a:gd name="connsiteY825" fmla="*/ 2341483 h 4717133"/>
              <a:gd name="connsiteX826" fmla="*/ 133248 w 4694357"/>
              <a:gd name="connsiteY826" fmla="*/ 2359136 h 4717133"/>
              <a:gd name="connsiteX827" fmla="*/ 115595 w 4694357"/>
              <a:gd name="connsiteY827" fmla="*/ 2376789 h 4717133"/>
              <a:gd name="connsiteX828" fmla="*/ 97942 w 4694357"/>
              <a:gd name="connsiteY828" fmla="*/ 2359136 h 4717133"/>
              <a:gd name="connsiteX829" fmla="*/ 115595 w 4694357"/>
              <a:gd name="connsiteY829" fmla="*/ 2341483 h 4717133"/>
              <a:gd name="connsiteX830" fmla="*/ 4582179 w 4694357"/>
              <a:gd name="connsiteY830" fmla="*/ 2336928 h 4717133"/>
              <a:gd name="connsiteX831" fmla="*/ 4603248 w 4694357"/>
              <a:gd name="connsiteY831" fmla="*/ 2357997 h 4717133"/>
              <a:gd name="connsiteX832" fmla="*/ 4582179 w 4694357"/>
              <a:gd name="connsiteY832" fmla="*/ 2379066 h 4717133"/>
              <a:gd name="connsiteX833" fmla="*/ 4561110 w 4694357"/>
              <a:gd name="connsiteY833" fmla="*/ 2357997 h 4717133"/>
              <a:gd name="connsiteX834" fmla="*/ 4582179 w 4694357"/>
              <a:gd name="connsiteY834" fmla="*/ 2336928 h 4717133"/>
              <a:gd name="connsiteX835" fmla="*/ 4365228 w 4694357"/>
              <a:gd name="connsiteY835" fmla="*/ 2331234 h 4717133"/>
              <a:gd name="connsiteX836" fmla="*/ 4392561 w 4694357"/>
              <a:gd name="connsiteY836" fmla="*/ 2358567 h 4717133"/>
              <a:gd name="connsiteX837" fmla="*/ 4365228 w 4694357"/>
              <a:gd name="connsiteY837" fmla="*/ 2385900 h 4717133"/>
              <a:gd name="connsiteX838" fmla="*/ 4337895 w 4694357"/>
              <a:gd name="connsiteY838" fmla="*/ 2358567 h 4717133"/>
              <a:gd name="connsiteX839" fmla="*/ 4365228 w 4694357"/>
              <a:gd name="connsiteY839" fmla="*/ 2331234 h 4717133"/>
              <a:gd name="connsiteX840" fmla="*/ 232897 w 4694357"/>
              <a:gd name="connsiteY840" fmla="*/ 2191155 h 4717133"/>
              <a:gd name="connsiteX841" fmla="*/ 234606 w 4694357"/>
              <a:gd name="connsiteY841" fmla="*/ 2192864 h 4717133"/>
              <a:gd name="connsiteX842" fmla="*/ 232897 w 4694357"/>
              <a:gd name="connsiteY842" fmla="*/ 2194573 h 4717133"/>
              <a:gd name="connsiteX843" fmla="*/ 231188 w 4694357"/>
              <a:gd name="connsiteY843" fmla="*/ 2192864 h 4717133"/>
              <a:gd name="connsiteX844" fmla="*/ 232897 w 4694357"/>
              <a:gd name="connsiteY844" fmla="*/ 2191155 h 4717133"/>
              <a:gd name="connsiteX845" fmla="*/ 339379 w 4694357"/>
              <a:gd name="connsiteY845" fmla="*/ 2185461 h 4717133"/>
              <a:gd name="connsiteX846" fmla="*/ 347351 w 4694357"/>
              <a:gd name="connsiteY846" fmla="*/ 2192864 h 4717133"/>
              <a:gd name="connsiteX847" fmla="*/ 339379 w 4694357"/>
              <a:gd name="connsiteY847" fmla="*/ 2200267 h 4717133"/>
              <a:gd name="connsiteX848" fmla="*/ 331407 w 4694357"/>
              <a:gd name="connsiteY848" fmla="*/ 2192864 h 4717133"/>
              <a:gd name="connsiteX849" fmla="*/ 339379 w 4694357"/>
              <a:gd name="connsiteY849" fmla="*/ 2185461 h 4717133"/>
              <a:gd name="connsiteX850" fmla="*/ 4682968 w 4694357"/>
              <a:gd name="connsiteY850" fmla="*/ 2184322 h 4717133"/>
              <a:gd name="connsiteX851" fmla="*/ 4690940 w 4694357"/>
              <a:gd name="connsiteY851" fmla="*/ 2191155 h 4717133"/>
              <a:gd name="connsiteX852" fmla="*/ 4682968 w 4694357"/>
              <a:gd name="connsiteY852" fmla="*/ 2197988 h 4717133"/>
              <a:gd name="connsiteX853" fmla="*/ 4674996 w 4694357"/>
              <a:gd name="connsiteY853" fmla="*/ 2191155 h 4717133"/>
              <a:gd name="connsiteX854" fmla="*/ 4682968 w 4694357"/>
              <a:gd name="connsiteY854" fmla="*/ 2184322 h 4717133"/>
              <a:gd name="connsiteX855" fmla="*/ 14237 w 4694357"/>
              <a:gd name="connsiteY855" fmla="*/ 2183183 h 4717133"/>
              <a:gd name="connsiteX856" fmla="*/ 23918 w 4694357"/>
              <a:gd name="connsiteY856" fmla="*/ 2192864 h 4717133"/>
              <a:gd name="connsiteX857" fmla="*/ 14237 w 4694357"/>
              <a:gd name="connsiteY857" fmla="*/ 2202545 h 4717133"/>
              <a:gd name="connsiteX858" fmla="*/ 4556 w 4694357"/>
              <a:gd name="connsiteY858" fmla="*/ 2192864 h 4717133"/>
              <a:gd name="connsiteX859" fmla="*/ 14237 w 4694357"/>
              <a:gd name="connsiteY859" fmla="*/ 2183183 h 4717133"/>
              <a:gd name="connsiteX860" fmla="*/ 121289 w 4694357"/>
              <a:gd name="connsiteY860" fmla="*/ 2178628 h 4717133"/>
              <a:gd name="connsiteX861" fmla="*/ 135525 w 4694357"/>
              <a:gd name="connsiteY861" fmla="*/ 2192864 h 4717133"/>
              <a:gd name="connsiteX862" fmla="*/ 121289 w 4694357"/>
              <a:gd name="connsiteY862" fmla="*/ 2207100 h 4717133"/>
              <a:gd name="connsiteX863" fmla="*/ 107053 w 4694357"/>
              <a:gd name="connsiteY863" fmla="*/ 2192864 h 4717133"/>
              <a:gd name="connsiteX864" fmla="*/ 121289 w 4694357"/>
              <a:gd name="connsiteY864" fmla="*/ 2178628 h 4717133"/>
              <a:gd name="connsiteX865" fmla="*/ 4464878 w 4694357"/>
              <a:gd name="connsiteY865" fmla="*/ 2176350 h 4717133"/>
              <a:gd name="connsiteX866" fmla="*/ 4480253 w 4694357"/>
              <a:gd name="connsiteY866" fmla="*/ 2191725 h 4717133"/>
              <a:gd name="connsiteX867" fmla="*/ 4464878 w 4694357"/>
              <a:gd name="connsiteY867" fmla="*/ 2207100 h 4717133"/>
              <a:gd name="connsiteX868" fmla="*/ 4449503 w 4694357"/>
              <a:gd name="connsiteY868" fmla="*/ 2191725 h 4717133"/>
              <a:gd name="connsiteX869" fmla="*/ 4464878 w 4694357"/>
              <a:gd name="connsiteY869" fmla="*/ 2176350 h 4717133"/>
              <a:gd name="connsiteX870" fmla="*/ 4576485 w 4694357"/>
              <a:gd name="connsiteY870" fmla="*/ 2170655 h 4717133"/>
              <a:gd name="connsiteX871" fmla="*/ 4597554 w 4694357"/>
              <a:gd name="connsiteY871" fmla="*/ 2191724 h 4717133"/>
              <a:gd name="connsiteX872" fmla="*/ 4576485 w 4694357"/>
              <a:gd name="connsiteY872" fmla="*/ 2212793 h 4717133"/>
              <a:gd name="connsiteX873" fmla="*/ 4555416 w 4694357"/>
              <a:gd name="connsiteY873" fmla="*/ 2191724 h 4717133"/>
              <a:gd name="connsiteX874" fmla="*/ 4576485 w 4694357"/>
              <a:gd name="connsiteY874" fmla="*/ 2170655 h 4717133"/>
              <a:gd name="connsiteX875" fmla="*/ 4358395 w 4694357"/>
              <a:gd name="connsiteY875" fmla="*/ 2163822 h 4717133"/>
              <a:gd name="connsiteX876" fmla="*/ 4386867 w 4694357"/>
              <a:gd name="connsiteY876" fmla="*/ 2191724 h 4717133"/>
              <a:gd name="connsiteX877" fmla="*/ 4358395 w 4694357"/>
              <a:gd name="connsiteY877" fmla="*/ 2219626 h 4717133"/>
              <a:gd name="connsiteX878" fmla="*/ 4329923 w 4694357"/>
              <a:gd name="connsiteY878" fmla="*/ 2191724 h 4717133"/>
              <a:gd name="connsiteX879" fmla="*/ 4358395 w 4694357"/>
              <a:gd name="connsiteY879" fmla="*/ 2163822 h 4717133"/>
              <a:gd name="connsiteX880" fmla="*/ 251688 w 4694357"/>
              <a:gd name="connsiteY880" fmla="*/ 2026021 h 4717133"/>
              <a:gd name="connsiteX881" fmla="*/ 253966 w 4694357"/>
              <a:gd name="connsiteY881" fmla="*/ 2027730 h 4717133"/>
              <a:gd name="connsiteX882" fmla="*/ 251688 w 4694357"/>
              <a:gd name="connsiteY882" fmla="*/ 2029439 h 4717133"/>
              <a:gd name="connsiteX883" fmla="*/ 249410 w 4694357"/>
              <a:gd name="connsiteY883" fmla="*/ 2027730 h 4717133"/>
              <a:gd name="connsiteX884" fmla="*/ 251688 w 4694357"/>
              <a:gd name="connsiteY884" fmla="*/ 2026021 h 4717133"/>
              <a:gd name="connsiteX885" fmla="*/ 359879 w 4694357"/>
              <a:gd name="connsiteY885" fmla="*/ 2020327 h 4717133"/>
              <a:gd name="connsiteX886" fmla="*/ 367851 w 4694357"/>
              <a:gd name="connsiteY886" fmla="*/ 2028299 h 4717133"/>
              <a:gd name="connsiteX887" fmla="*/ 359879 w 4694357"/>
              <a:gd name="connsiteY887" fmla="*/ 2036271 h 4717133"/>
              <a:gd name="connsiteX888" fmla="*/ 351907 w 4694357"/>
              <a:gd name="connsiteY888" fmla="*/ 2028299 h 4717133"/>
              <a:gd name="connsiteX889" fmla="*/ 359879 w 4694357"/>
              <a:gd name="connsiteY889" fmla="*/ 2020327 h 4717133"/>
              <a:gd name="connsiteX890" fmla="*/ 4664746 w 4694357"/>
              <a:gd name="connsiteY890" fmla="*/ 2016910 h 4717133"/>
              <a:gd name="connsiteX891" fmla="*/ 4673857 w 4694357"/>
              <a:gd name="connsiteY891" fmla="*/ 2025452 h 4717133"/>
              <a:gd name="connsiteX892" fmla="*/ 4664746 w 4694357"/>
              <a:gd name="connsiteY892" fmla="*/ 2033994 h 4717133"/>
              <a:gd name="connsiteX893" fmla="*/ 4655635 w 4694357"/>
              <a:gd name="connsiteY893" fmla="*/ 2025452 h 4717133"/>
              <a:gd name="connsiteX894" fmla="*/ 4664746 w 4694357"/>
              <a:gd name="connsiteY894" fmla="*/ 2016910 h 4717133"/>
              <a:gd name="connsiteX895" fmla="*/ 32459 w 4694357"/>
              <a:gd name="connsiteY895" fmla="*/ 2016910 h 4717133"/>
              <a:gd name="connsiteX896" fmla="*/ 43279 w 4694357"/>
              <a:gd name="connsiteY896" fmla="*/ 2027160 h 4717133"/>
              <a:gd name="connsiteX897" fmla="*/ 32459 w 4694357"/>
              <a:gd name="connsiteY897" fmla="*/ 2037410 h 4717133"/>
              <a:gd name="connsiteX898" fmla="*/ 21639 w 4694357"/>
              <a:gd name="connsiteY898" fmla="*/ 2027160 h 4717133"/>
              <a:gd name="connsiteX899" fmla="*/ 32459 w 4694357"/>
              <a:gd name="connsiteY899" fmla="*/ 2016910 h 4717133"/>
              <a:gd name="connsiteX900" fmla="*/ 139511 w 4694357"/>
              <a:gd name="connsiteY900" fmla="*/ 2011216 h 4717133"/>
              <a:gd name="connsiteX901" fmla="*/ 154886 w 4694357"/>
              <a:gd name="connsiteY901" fmla="*/ 2026591 h 4717133"/>
              <a:gd name="connsiteX902" fmla="*/ 139511 w 4694357"/>
              <a:gd name="connsiteY902" fmla="*/ 2041966 h 4717133"/>
              <a:gd name="connsiteX903" fmla="*/ 124136 w 4694357"/>
              <a:gd name="connsiteY903" fmla="*/ 2026591 h 4717133"/>
              <a:gd name="connsiteX904" fmla="*/ 139511 w 4694357"/>
              <a:gd name="connsiteY904" fmla="*/ 2011216 h 4717133"/>
              <a:gd name="connsiteX905" fmla="*/ 4445517 w 4694357"/>
              <a:gd name="connsiteY905" fmla="*/ 2005522 h 4717133"/>
              <a:gd name="connsiteX906" fmla="*/ 4466586 w 4694357"/>
              <a:gd name="connsiteY906" fmla="*/ 2026591 h 4717133"/>
              <a:gd name="connsiteX907" fmla="*/ 4445517 w 4694357"/>
              <a:gd name="connsiteY907" fmla="*/ 2047660 h 4717133"/>
              <a:gd name="connsiteX908" fmla="*/ 4424448 w 4694357"/>
              <a:gd name="connsiteY908" fmla="*/ 2026591 h 4717133"/>
              <a:gd name="connsiteX909" fmla="*/ 4445517 w 4694357"/>
              <a:gd name="connsiteY909" fmla="*/ 2005522 h 4717133"/>
              <a:gd name="connsiteX910" fmla="*/ 4557694 w 4694357"/>
              <a:gd name="connsiteY910" fmla="*/ 2004383 h 4717133"/>
              <a:gd name="connsiteX911" fmla="*/ 4579332 w 4694357"/>
              <a:gd name="connsiteY911" fmla="*/ 2026021 h 4717133"/>
              <a:gd name="connsiteX912" fmla="*/ 4557694 w 4694357"/>
              <a:gd name="connsiteY912" fmla="*/ 2047659 h 4717133"/>
              <a:gd name="connsiteX913" fmla="*/ 4536056 w 4694357"/>
              <a:gd name="connsiteY913" fmla="*/ 2026021 h 4717133"/>
              <a:gd name="connsiteX914" fmla="*/ 4557694 w 4694357"/>
              <a:gd name="connsiteY914" fmla="*/ 2004383 h 4717133"/>
              <a:gd name="connsiteX915" fmla="*/ 4337895 w 4694357"/>
              <a:gd name="connsiteY915" fmla="*/ 1998689 h 4717133"/>
              <a:gd name="connsiteX916" fmla="*/ 4366367 w 4694357"/>
              <a:gd name="connsiteY916" fmla="*/ 2027161 h 4717133"/>
              <a:gd name="connsiteX917" fmla="*/ 4337895 w 4694357"/>
              <a:gd name="connsiteY917" fmla="*/ 2055633 h 4717133"/>
              <a:gd name="connsiteX918" fmla="*/ 4309423 w 4694357"/>
              <a:gd name="connsiteY918" fmla="*/ 2027161 h 4717133"/>
              <a:gd name="connsiteX919" fmla="*/ 4337895 w 4694357"/>
              <a:gd name="connsiteY919" fmla="*/ 1998689 h 4717133"/>
              <a:gd name="connsiteX920" fmla="*/ 284714 w 4694357"/>
              <a:gd name="connsiteY920" fmla="*/ 1862026 h 4717133"/>
              <a:gd name="connsiteX921" fmla="*/ 286992 w 4694357"/>
              <a:gd name="connsiteY921" fmla="*/ 1864304 h 4717133"/>
              <a:gd name="connsiteX922" fmla="*/ 284714 w 4694357"/>
              <a:gd name="connsiteY922" fmla="*/ 1866582 h 4717133"/>
              <a:gd name="connsiteX923" fmla="*/ 282436 w 4694357"/>
              <a:gd name="connsiteY923" fmla="*/ 1864304 h 4717133"/>
              <a:gd name="connsiteX924" fmla="*/ 284714 w 4694357"/>
              <a:gd name="connsiteY924" fmla="*/ 1862026 h 4717133"/>
              <a:gd name="connsiteX925" fmla="*/ 394044 w 4694357"/>
              <a:gd name="connsiteY925" fmla="*/ 1856332 h 4717133"/>
              <a:gd name="connsiteX926" fmla="*/ 402016 w 4694357"/>
              <a:gd name="connsiteY926" fmla="*/ 1864874 h 4717133"/>
              <a:gd name="connsiteX927" fmla="*/ 394044 w 4694357"/>
              <a:gd name="connsiteY927" fmla="*/ 1873416 h 4717133"/>
              <a:gd name="connsiteX928" fmla="*/ 386072 w 4694357"/>
              <a:gd name="connsiteY928" fmla="*/ 1864874 h 4717133"/>
              <a:gd name="connsiteX929" fmla="*/ 394044 w 4694357"/>
              <a:gd name="connsiteY929" fmla="*/ 1856332 h 4717133"/>
              <a:gd name="connsiteX930" fmla="*/ 62069 w 4694357"/>
              <a:gd name="connsiteY930" fmla="*/ 1851776 h 4717133"/>
              <a:gd name="connsiteX931" fmla="*/ 72889 w 4694357"/>
              <a:gd name="connsiteY931" fmla="*/ 1862596 h 4717133"/>
              <a:gd name="connsiteX932" fmla="*/ 62069 w 4694357"/>
              <a:gd name="connsiteY932" fmla="*/ 1873416 h 4717133"/>
              <a:gd name="connsiteX933" fmla="*/ 51249 w 4694357"/>
              <a:gd name="connsiteY933" fmla="*/ 1862596 h 4717133"/>
              <a:gd name="connsiteX934" fmla="*/ 62069 w 4694357"/>
              <a:gd name="connsiteY934" fmla="*/ 1851776 h 4717133"/>
              <a:gd name="connsiteX935" fmla="*/ 4635136 w 4694357"/>
              <a:gd name="connsiteY935" fmla="*/ 1850638 h 4717133"/>
              <a:gd name="connsiteX936" fmla="*/ 4646525 w 4694357"/>
              <a:gd name="connsiteY936" fmla="*/ 1861458 h 4717133"/>
              <a:gd name="connsiteX937" fmla="*/ 4635136 w 4694357"/>
              <a:gd name="connsiteY937" fmla="*/ 1872278 h 4717133"/>
              <a:gd name="connsiteX938" fmla="*/ 4623747 w 4694357"/>
              <a:gd name="connsiteY938" fmla="*/ 1861458 h 4717133"/>
              <a:gd name="connsiteX939" fmla="*/ 4635136 w 4694357"/>
              <a:gd name="connsiteY939" fmla="*/ 1850638 h 4717133"/>
              <a:gd name="connsiteX940" fmla="*/ 170829 w 4694357"/>
              <a:gd name="connsiteY940" fmla="*/ 1846082 h 4717133"/>
              <a:gd name="connsiteX941" fmla="*/ 187912 w 4694357"/>
              <a:gd name="connsiteY941" fmla="*/ 1862596 h 4717133"/>
              <a:gd name="connsiteX942" fmla="*/ 170829 w 4694357"/>
              <a:gd name="connsiteY942" fmla="*/ 1879110 h 4717133"/>
              <a:gd name="connsiteX943" fmla="*/ 153746 w 4694357"/>
              <a:gd name="connsiteY943" fmla="*/ 1862596 h 4717133"/>
              <a:gd name="connsiteX944" fmla="*/ 170829 w 4694357"/>
              <a:gd name="connsiteY944" fmla="*/ 1846082 h 4717133"/>
              <a:gd name="connsiteX945" fmla="*/ 4526376 w 4694357"/>
              <a:gd name="connsiteY945" fmla="*/ 1840388 h 4717133"/>
              <a:gd name="connsiteX946" fmla="*/ 4548584 w 4694357"/>
              <a:gd name="connsiteY946" fmla="*/ 1862026 h 4717133"/>
              <a:gd name="connsiteX947" fmla="*/ 4526376 w 4694357"/>
              <a:gd name="connsiteY947" fmla="*/ 1883664 h 4717133"/>
              <a:gd name="connsiteX948" fmla="*/ 4504168 w 4694357"/>
              <a:gd name="connsiteY948" fmla="*/ 1862026 h 4717133"/>
              <a:gd name="connsiteX949" fmla="*/ 4526376 w 4694357"/>
              <a:gd name="connsiteY949" fmla="*/ 1840388 h 4717133"/>
              <a:gd name="connsiteX950" fmla="*/ 4303730 w 4694357"/>
              <a:gd name="connsiteY950" fmla="*/ 1836972 h 4717133"/>
              <a:gd name="connsiteX951" fmla="*/ 4331063 w 4694357"/>
              <a:gd name="connsiteY951" fmla="*/ 1864305 h 4717133"/>
              <a:gd name="connsiteX952" fmla="*/ 4303730 w 4694357"/>
              <a:gd name="connsiteY952" fmla="*/ 1891638 h 4717133"/>
              <a:gd name="connsiteX953" fmla="*/ 4276397 w 4694357"/>
              <a:gd name="connsiteY953" fmla="*/ 1864305 h 4717133"/>
              <a:gd name="connsiteX954" fmla="*/ 4303730 w 4694357"/>
              <a:gd name="connsiteY954" fmla="*/ 1836972 h 4717133"/>
              <a:gd name="connsiteX955" fmla="*/ 4413060 w 4694357"/>
              <a:gd name="connsiteY955" fmla="*/ 1835832 h 4717133"/>
              <a:gd name="connsiteX956" fmla="*/ 4441532 w 4694357"/>
              <a:gd name="connsiteY956" fmla="*/ 1863734 h 4717133"/>
              <a:gd name="connsiteX957" fmla="*/ 4413060 w 4694357"/>
              <a:gd name="connsiteY957" fmla="*/ 1891636 h 4717133"/>
              <a:gd name="connsiteX958" fmla="*/ 4384588 w 4694357"/>
              <a:gd name="connsiteY958" fmla="*/ 1863734 h 4717133"/>
              <a:gd name="connsiteX959" fmla="*/ 4413060 w 4694357"/>
              <a:gd name="connsiteY959" fmla="*/ 1835832 h 4717133"/>
              <a:gd name="connsiteX960" fmla="*/ 329700 w 4694357"/>
              <a:gd name="connsiteY960" fmla="*/ 1701448 h 4717133"/>
              <a:gd name="connsiteX961" fmla="*/ 332548 w 4694357"/>
              <a:gd name="connsiteY961" fmla="*/ 1704296 h 4717133"/>
              <a:gd name="connsiteX962" fmla="*/ 329700 w 4694357"/>
              <a:gd name="connsiteY962" fmla="*/ 1707144 h 4717133"/>
              <a:gd name="connsiteX963" fmla="*/ 326852 w 4694357"/>
              <a:gd name="connsiteY963" fmla="*/ 1704296 h 4717133"/>
              <a:gd name="connsiteX964" fmla="*/ 329700 w 4694357"/>
              <a:gd name="connsiteY964" fmla="*/ 1701448 h 4717133"/>
              <a:gd name="connsiteX965" fmla="*/ 441307 w 4694357"/>
              <a:gd name="connsiteY965" fmla="*/ 1696892 h 4717133"/>
              <a:gd name="connsiteX966" fmla="*/ 449849 w 4694357"/>
              <a:gd name="connsiteY966" fmla="*/ 1705434 h 4717133"/>
              <a:gd name="connsiteX967" fmla="*/ 441307 w 4694357"/>
              <a:gd name="connsiteY967" fmla="*/ 1713976 h 4717133"/>
              <a:gd name="connsiteX968" fmla="*/ 432765 w 4694357"/>
              <a:gd name="connsiteY968" fmla="*/ 1705434 h 4717133"/>
              <a:gd name="connsiteX969" fmla="*/ 441307 w 4694357"/>
              <a:gd name="connsiteY969" fmla="*/ 1696892 h 4717133"/>
              <a:gd name="connsiteX970" fmla="*/ 103637 w 4694357"/>
              <a:gd name="connsiteY970" fmla="*/ 1690059 h 4717133"/>
              <a:gd name="connsiteX971" fmla="*/ 115026 w 4694357"/>
              <a:gd name="connsiteY971" fmla="*/ 1700879 h 4717133"/>
              <a:gd name="connsiteX972" fmla="*/ 103637 w 4694357"/>
              <a:gd name="connsiteY972" fmla="*/ 1711699 h 4717133"/>
              <a:gd name="connsiteX973" fmla="*/ 92248 w 4694357"/>
              <a:gd name="connsiteY973" fmla="*/ 1700879 h 4717133"/>
              <a:gd name="connsiteX974" fmla="*/ 103637 w 4694357"/>
              <a:gd name="connsiteY974" fmla="*/ 1690059 h 4717133"/>
              <a:gd name="connsiteX975" fmla="*/ 4594137 w 4694357"/>
              <a:gd name="connsiteY975" fmla="*/ 1686643 h 4717133"/>
              <a:gd name="connsiteX976" fmla="*/ 4607803 w 4694357"/>
              <a:gd name="connsiteY976" fmla="*/ 1699740 h 4717133"/>
              <a:gd name="connsiteX977" fmla="*/ 4594137 w 4694357"/>
              <a:gd name="connsiteY977" fmla="*/ 1712837 h 4717133"/>
              <a:gd name="connsiteX978" fmla="*/ 4580471 w 4694357"/>
              <a:gd name="connsiteY978" fmla="*/ 1699740 h 4717133"/>
              <a:gd name="connsiteX979" fmla="*/ 4594137 w 4694357"/>
              <a:gd name="connsiteY979" fmla="*/ 1686643 h 4717133"/>
              <a:gd name="connsiteX980" fmla="*/ 214106 w 4694357"/>
              <a:gd name="connsiteY980" fmla="*/ 1682087 h 4717133"/>
              <a:gd name="connsiteX981" fmla="*/ 233467 w 4694357"/>
              <a:gd name="connsiteY981" fmla="*/ 1701448 h 4717133"/>
              <a:gd name="connsiteX982" fmla="*/ 214106 w 4694357"/>
              <a:gd name="connsiteY982" fmla="*/ 1720809 h 4717133"/>
              <a:gd name="connsiteX983" fmla="*/ 194745 w 4694357"/>
              <a:gd name="connsiteY983" fmla="*/ 1701448 h 4717133"/>
              <a:gd name="connsiteX984" fmla="*/ 214106 w 4694357"/>
              <a:gd name="connsiteY984" fmla="*/ 1682087 h 4717133"/>
              <a:gd name="connsiteX985" fmla="*/ 4483099 w 4694357"/>
              <a:gd name="connsiteY985" fmla="*/ 1678670 h 4717133"/>
              <a:gd name="connsiteX986" fmla="*/ 4505307 w 4694357"/>
              <a:gd name="connsiteY986" fmla="*/ 1700878 h 4717133"/>
              <a:gd name="connsiteX987" fmla="*/ 4483099 w 4694357"/>
              <a:gd name="connsiteY987" fmla="*/ 1723086 h 4717133"/>
              <a:gd name="connsiteX988" fmla="*/ 4460891 w 4694357"/>
              <a:gd name="connsiteY988" fmla="*/ 1700878 h 4717133"/>
              <a:gd name="connsiteX989" fmla="*/ 4483099 w 4694357"/>
              <a:gd name="connsiteY989" fmla="*/ 1678670 h 4717133"/>
              <a:gd name="connsiteX990" fmla="*/ 4255898 w 4694357"/>
              <a:gd name="connsiteY990" fmla="*/ 1677532 h 4717133"/>
              <a:gd name="connsiteX991" fmla="*/ 4283231 w 4694357"/>
              <a:gd name="connsiteY991" fmla="*/ 1704865 h 4717133"/>
              <a:gd name="connsiteX992" fmla="*/ 4255898 w 4694357"/>
              <a:gd name="connsiteY992" fmla="*/ 1732198 h 4717133"/>
              <a:gd name="connsiteX993" fmla="*/ 4228565 w 4694357"/>
              <a:gd name="connsiteY993" fmla="*/ 1704865 h 4717133"/>
              <a:gd name="connsiteX994" fmla="*/ 4255898 w 4694357"/>
              <a:gd name="connsiteY994" fmla="*/ 1677532 h 4717133"/>
              <a:gd name="connsiteX995" fmla="*/ 4367506 w 4694357"/>
              <a:gd name="connsiteY995" fmla="*/ 1669560 h 4717133"/>
              <a:gd name="connsiteX996" fmla="*/ 4401672 w 4694357"/>
              <a:gd name="connsiteY996" fmla="*/ 1703157 h 4717133"/>
              <a:gd name="connsiteX997" fmla="*/ 4367506 w 4694357"/>
              <a:gd name="connsiteY997" fmla="*/ 1736754 h 4717133"/>
              <a:gd name="connsiteX998" fmla="*/ 4333340 w 4694357"/>
              <a:gd name="connsiteY998" fmla="*/ 1703157 h 4717133"/>
              <a:gd name="connsiteX999" fmla="*/ 4367506 w 4694357"/>
              <a:gd name="connsiteY999" fmla="*/ 1669560 h 4717133"/>
              <a:gd name="connsiteX1000" fmla="*/ 387781 w 4694357"/>
              <a:gd name="connsiteY1000" fmla="*/ 1545425 h 4717133"/>
              <a:gd name="connsiteX1001" fmla="*/ 390629 w 4694357"/>
              <a:gd name="connsiteY1001" fmla="*/ 1548273 h 4717133"/>
              <a:gd name="connsiteX1002" fmla="*/ 387781 w 4694357"/>
              <a:gd name="connsiteY1002" fmla="*/ 1551121 h 4717133"/>
              <a:gd name="connsiteX1003" fmla="*/ 384933 w 4694357"/>
              <a:gd name="connsiteY1003" fmla="*/ 1548273 h 4717133"/>
              <a:gd name="connsiteX1004" fmla="*/ 387781 w 4694357"/>
              <a:gd name="connsiteY1004" fmla="*/ 1545425 h 4717133"/>
              <a:gd name="connsiteX1005" fmla="*/ 502235 w 4694357"/>
              <a:gd name="connsiteY1005" fmla="*/ 1540870 h 4717133"/>
              <a:gd name="connsiteX1006" fmla="*/ 511346 w 4694357"/>
              <a:gd name="connsiteY1006" fmla="*/ 1549981 h 4717133"/>
              <a:gd name="connsiteX1007" fmla="*/ 502235 w 4694357"/>
              <a:gd name="connsiteY1007" fmla="*/ 1559092 h 4717133"/>
              <a:gd name="connsiteX1008" fmla="*/ 493124 w 4694357"/>
              <a:gd name="connsiteY1008" fmla="*/ 1549981 h 4717133"/>
              <a:gd name="connsiteX1009" fmla="*/ 502235 w 4694357"/>
              <a:gd name="connsiteY1009" fmla="*/ 1540870 h 4717133"/>
              <a:gd name="connsiteX1010" fmla="*/ 156024 w 4694357"/>
              <a:gd name="connsiteY1010" fmla="*/ 1530620 h 4717133"/>
              <a:gd name="connsiteX1011" fmla="*/ 168552 w 4694357"/>
              <a:gd name="connsiteY1011" fmla="*/ 1542578 h 4717133"/>
              <a:gd name="connsiteX1012" fmla="*/ 156024 w 4694357"/>
              <a:gd name="connsiteY1012" fmla="*/ 1554536 h 4717133"/>
              <a:gd name="connsiteX1013" fmla="*/ 143496 w 4694357"/>
              <a:gd name="connsiteY1013" fmla="*/ 1542578 h 4717133"/>
              <a:gd name="connsiteX1014" fmla="*/ 156024 w 4694357"/>
              <a:gd name="connsiteY1014" fmla="*/ 1530620 h 4717133"/>
              <a:gd name="connsiteX1015" fmla="*/ 4541181 w 4694357"/>
              <a:gd name="connsiteY1015" fmla="*/ 1526064 h 4717133"/>
              <a:gd name="connsiteX1016" fmla="*/ 4556556 w 4694357"/>
              <a:gd name="connsiteY1016" fmla="*/ 1541439 h 4717133"/>
              <a:gd name="connsiteX1017" fmla="*/ 4541181 w 4694357"/>
              <a:gd name="connsiteY1017" fmla="*/ 1556814 h 4717133"/>
              <a:gd name="connsiteX1018" fmla="*/ 4525806 w 4694357"/>
              <a:gd name="connsiteY1018" fmla="*/ 1541439 h 4717133"/>
              <a:gd name="connsiteX1019" fmla="*/ 4541181 w 4694357"/>
              <a:gd name="connsiteY1019" fmla="*/ 1526064 h 4717133"/>
              <a:gd name="connsiteX1020" fmla="*/ 4195539 w 4694357"/>
              <a:gd name="connsiteY1020" fmla="*/ 1523786 h 4717133"/>
              <a:gd name="connsiteX1021" fmla="*/ 4221733 w 4694357"/>
              <a:gd name="connsiteY1021" fmla="*/ 1549980 h 4717133"/>
              <a:gd name="connsiteX1022" fmla="*/ 4195539 w 4694357"/>
              <a:gd name="connsiteY1022" fmla="*/ 1576174 h 4717133"/>
              <a:gd name="connsiteX1023" fmla="*/ 4169345 w 4694357"/>
              <a:gd name="connsiteY1023" fmla="*/ 1549980 h 4717133"/>
              <a:gd name="connsiteX1024" fmla="*/ 4195539 w 4694357"/>
              <a:gd name="connsiteY1024" fmla="*/ 1523786 h 4717133"/>
              <a:gd name="connsiteX1025" fmla="*/ 269340 w 4694357"/>
              <a:gd name="connsiteY1025" fmla="*/ 1522648 h 4717133"/>
              <a:gd name="connsiteX1026" fmla="*/ 290409 w 4694357"/>
              <a:gd name="connsiteY1026" fmla="*/ 1543717 h 4717133"/>
              <a:gd name="connsiteX1027" fmla="*/ 269340 w 4694357"/>
              <a:gd name="connsiteY1027" fmla="*/ 1564786 h 4717133"/>
              <a:gd name="connsiteX1028" fmla="*/ 248271 w 4694357"/>
              <a:gd name="connsiteY1028" fmla="*/ 1543717 h 4717133"/>
              <a:gd name="connsiteX1029" fmla="*/ 269340 w 4694357"/>
              <a:gd name="connsiteY1029" fmla="*/ 1522648 h 4717133"/>
              <a:gd name="connsiteX1030" fmla="*/ 4427864 w 4694357"/>
              <a:gd name="connsiteY1030" fmla="*/ 1521509 h 4717133"/>
              <a:gd name="connsiteX1031" fmla="*/ 4450641 w 4694357"/>
              <a:gd name="connsiteY1031" fmla="*/ 1543717 h 4717133"/>
              <a:gd name="connsiteX1032" fmla="*/ 4427864 w 4694357"/>
              <a:gd name="connsiteY1032" fmla="*/ 1565925 h 4717133"/>
              <a:gd name="connsiteX1033" fmla="*/ 4405087 w 4694357"/>
              <a:gd name="connsiteY1033" fmla="*/ 1543717 h 4717133"/>
              <a:gd name="connsiteX1034" fmla="*/ 4427864 w 4694357"/>
              <a:gd name="connsiteY1034" fmla="*/ 1521509 h 4717133"/>
              <a:gd name="connsiteX1035" fmla="*/ 4309993 w 4694357"/>
              <a:gd name="connsiteY1035" fmla="*/ 1511259 h 4717133"/>
              <a:gd name="connsiteX1036" fmla="*/ 4345867 w 4694357"/>
              <a:gd name="connsiteY1036" fmla="*/ 1547133 h 4717133"/>
              <a:gd name="connsiteX1037" fmla="*/ 4309993 w 4694357"/>
              <a:gd name="connsiteY1037" fmla="*/ 1583007 h 4717133"/>
              <a:gd name="connsiteX1038" fmla="*/ 4274119 w 4694357"/>
              <a:gd name="connsiteY1038" fmla="*/ 1547133 h 4717133"/>
              <a:gd name="connsiteX1039" fmla="*/ 4309993 w 4694357"/>
              <a:gd name="connsiteY1039" fmla="*/ 1511259 h 4717133"/>
              <a:gd name="connsiteX1040" fmla="*/ 457820 w 4694357"/>
              <a:gd name="connsiteY1040" fmla="*/ 1392819 h 4717133"/>
              <a:gd name="connsiteX1041" fmla="*/ 461237 w 4694357"/>
              <a:gd name="connsiteY1041" fmla="*/ 1396805 h 4717133"/>
              <a:gd name="connsiteX1042" fmla="*/ 457820 w 4694357"/>
              <a:gd name="connsiteY1042" fmla="*/ 1400791 h 4717133"/>
              <a:gd name="connsiteX1043" fmla="*/ 454403 w 4694357"/>
              <a:gd name="connsiteY1043" fmla="*/ 1396805 h 4717133"/>
              <a:gd name="connsiteX1044" fmla="*/ 457820 w 4694357"/>
              <a:gd name="connsiteY1044" fmla="*/ 1392819 h 4717133"/>
              <a:gd name="connsiteX1045" fmla="*/ 575692 w 4694357"/>
              <a:gd name="connsiteY1045" fmla="*/ 1391679 h 4717133"/>
              <a:gd name="connsiteX1046" fmla="*/ 585373 w 4694357"/>
              <a:gd name="connsiteY1046" fmla="*/ 1400790 h 4717133"/>
              <a:gd name="connsiteX1047" fmla="*/ 575692 w 4694357"/>
              <a:gd name="connsiteY1047" fmla="*/ 1409901 h 4717133"/>
              <a:gd name="connsiteX1048" fmla="*/ 566011 w 4694357"/>
              <a:gd name="connsiteY1048" fmla="*/ 1400790 h 4717133"/>
              <a:gd name="connsiteX1049" fmla="*/ 575692 w 4694357"/>
              <a:gd name="connsiteY1049" fmla="*/ 1391679 h 4717133"/>
              <a:gd name="connsiteX1050" fmla="*/ 219800 w 4694357"/>
              <a:gd name="connsiteY1050" fmla="*/ 1375735 h 4717133"/>
              <a:gd name="connsiteX1051" fmla="*/ 232328 w 4694357"/>
              <a:gd name="connsiteY1051" fmla="*/ 1388263 h 4717133"/>
              <a:gd name="connsiteX1052" fmla="*/ 219800 w 4694357"/>
              <a:gd name="connsiteY1052" fmla="*/ 1400791 h 4717133"/>
              <a:gd name="connsiteX1053" fmla="*/ 207272 w 4694357"/>
              <a:gd name="connsiteY1053" fmla="*/ 1388263 h 4717133"/>
              <a:gd name="connsiteX1054" fmla="*/ 219800 w 4694357"/>
              <a:gd name="connsiteY1054" fmla="*/ 1375735 h 4717133"/>
              <a:gd name="connsiteX1055" fmla="*/ 4122083 w 4694357"/>
              <a:gd name="connsiteY1055" fmla="*/ 1374597 h 4717133"/>
              <a:gd name="connsiteX1056" fmla="*/ 4147708 w 4694357"/>
              <a:gd name="connsiteY1056" fmla="*/ 1400222 h 4717133"/>
              <a:gd name="connsiteX1057" fmla="*/ 4122083 w 4694357"/>
              <a:gd name="connsiteY1057" fmla="*/ 1425847 h 4717133"/>
              <a:gd name="connsiteX1058" fmla="*/ 4096458 w 4694357"/>
              <a:gd name="connsiteY1058" fmla="*/ 1400222 h 4717133"/>
              <a:gd name="connsiteX1059" fmla="*/ 4122083 w 4694357"/>
              <a:gd name="connsiteY1059" fmla="*/ 1374597 h 4717133"/>
              <a:gd name="connsiteX1060" fmla="*/ 4477405 w 4694357"/>
              <a:gd name="connsiteY1060" fmla="*/ 1370041 h 4717133"/>
              <a:gd name="connsiteX1061" fmla="*/ 4495058 w 4694357"/>
              <a:gd name="connsiteY1061" fmla="*/ 1387694 h 4717133"/>
              <a:gd name="connsiteX1062" fmla="*/ 4477405 w 4694357"/>
              <a:gd name="connsiteY1062" fmla="*/ 1405347 h 4717133"/>
              <a:gd name="connsiteX1063" fmla="*/ 4459752 w 4694357"/>
              <a:gd name="connsiteY1063" fmla="*/ 1387694 h 4717133"/>
              <a:gd name="connsiteX1064" fmla="*/ 4477405 w 4694357"/>
              <a:gd name="connsiteY1064" fmla="*/ 1370041 h 4717133"/>
              <a:gd name="connsiteX1065" fmla="*/ 4360672 w 4694357"/>
              <a:gd name="connsiteY1065" fmla="*/ 1367764 h 4717133"/>
              <a:gd name="connsiteX1066" fmla="*/ 4383449 w 4694357"/>
              <a:gd name="connsiteY1066" fmla="*/ 1390541 h 4717133"/>
              <a:gd name="connsiteX1067" fmla="*/ 4360672 w 4694357"/>
              <a:gd name="connsiteY1067" fmla="*/ 1413318 h 4717133"/>
              <a:gd name="connsiteX1068" fmla="*/ 4337895 w 4694357"/>
              <a:gd name="connsiteY1068" fmla="*/ 1390541 h 4717133"/>
              <a:gd name="connsiteX1069" fmla="*/ 4360672 w 4694357"/>
              <a:gd name="connsiteY1069" fmla="*/ 1367764 h 4717133"/>
              <a:gd name="connsiteX1070" fmla="*/ 336533 w 4694357"/>
              <a:gd name="connsiteY1070" fmla="*/ 1367764 h 4717133"/>
              <a:gd name="connsiteX1071" fmla="*/ 359880 w 4694357"/>
              <a:gd name="connsiteY1071" fmla="*/ 1391111 h 4717133"/>
              <a:gd name="connsiteX1072" fmla="*/ 336533 w 4694357"/>
              <a:gd name="connsiteY1072" fmla="*/ 1414458 h 4717133"/>
              <a:gd name="connsiteX1073" fmla="*/ 313186 w 4694357"/>
              <a:gd name="connsiteY1073" fmla="*/ 1391111 h 4717133"/>
              <a:gd name="connsiteX1074" fmla="*/ 336533 w 4694357"/>
              <a:gd name="connsiteY1074" fmla="*/ 1367764 h 4717133"/>
              <a:gd name="connsiteX1075" fmla="*/ 4239954 w 4694357"/>
              <a:gd name="connsiteY1075" fmla="*/ 1359791 h 4717133"/>
              <a:gd name="connsiteX1076" fmla="*/ 4276398 w 4694357"/>
              <a:gd name="connsiteY1076" fmla="*/ 1395665 h 4717133"/>
              <a:gd name="connsiteX1077" fmla="*/ 4239954 w 4694357"/>
              <a:gd name="connsiteY1077" fmla="*/ 1431539 h 4717133"/>
              <a:gd name="connsiteX1078" fmla="*/ 4203510 w 4694357"/>
              <a:gd name="connsiteY1078" fmla="*/ 1395665 h 4717133"/>
              <a:gd name="connsiteX1079" fmla="*/ 4239954 w 4694357"/>
              <a:gd name="connsiteY1079" fmla="*/ 1359791 h 4717133"/>
              <a:gd name="connsiteX1080" fmla="*/ 661106 w 4694357"/>
              <a:gd name="connsiteY1080" fmla="*/ 1248184 h 4717133"/>
              <a:gd name="connsiteX1081" fmla="*/ 670787 w 4694357"/>
              <a:gd name="connsiteY1081" fmla="*/ 1257865 h 4717133"/>
              <a:gd name="connsiteX1082" fmla="*/ 661106 w 4694357"/>
              <a:gd name="connsiteY1082" fmla="*/ 1267546 h 4717133"/>
              <a:gd name="connsiteX1083" fmla="*/ 651425 w 4694357"/>
              <a:gd name="connsiteY1083" fmla="*/ 1257865 h 4717133"/>
              <a:gd name="connsiteX1084" fmla="*/ 661106 w 4694357"/>
              <a:gd name="connsiteY1084" fmla="*/ 1248184 h 4717133"/>
              <a:gd name="connsiteX1085" fmla="*/ 538679 w 4694357"/>
              <a:gd name="connsiteY1085" fmla="*/ 1247045 h 4717133"/>
              <a:gd name="connsiteX1086" fmla="*/ 543236 w 4694357"/>
              <a:gd name="connsiteY1086" fmla="*/ 1251601 h 4717133"/>
              <a:gd name="connsiteX1087" fmla="*/ 538679 w 4694357"/>
              <a:gd name="connsiteY1087" fmla="*/ 1256158 h 4717133"/>
              <a:gd name="connsiteX1088" fmla="*/ 534123 w 4694357"/>
              <a:gd name="connsiteY1088" fmla="*/ 1251601 h 4717133"/>
              <a:gd name="connsiteX1089" fmla="*/ 538679 w 4694357"/>
              <a:gd name="connsiteY1089" fmla="*/ 1247045 h 4717133"/>
              <a:gd name="connsiteX1090" fmla="*/ 4036099 w 4694357"/>
              <a:gd name="connsiteY1090" fmla="*/ 1232240 h 4717133"/>
              <a:gd name="connsiteX1091" fmla="*/ 4061154 w 4694357"/>
              <a:gd name="connsiteY1091" fmla="*/ 1257295 h 4717133"/>
              <a:gd name="connsiteX1092" fmla="*/ 4036099 w 4694357"/>
              <a:gd name="connsiteY1092" fmla="*/ 1282350 h 4717133"/>
              <a:gd name="connsiteX1093" fmla="*/ 4011044 w 4694357"/>
              <a:gd name="connsiteY1093" fmla="*/ 1257295 h 4717133"/>
              <a:gd name="connsiteX1094" fmla="*/ 4036099 w 4694357"/>
              <a:gd name="connsiteY1094" fmla="*/ 1232240 h 4717133"/>
              <a:gd name="connsiteX1095" fmla="*/ 295533 w 4694357"/>
              <a:gd name="connsiteY1095" fmla="*/ 1226546 h 4717133"/>
              <a:gd name="connsiteX1096" fmla="*/ 308630 w 4694357"/>
              <a:gd name="connsiteY1096" fmla="*/ 1239643 h 4717133"/>
              <a:gd name="connsiteX1097" fmla="*/ 295533 w 4694357"/>
              <a:gd name="connsiteY1097" fmla="*/ 1252740 h 4717133"/>
              <a:gd name="connsiteX1098" fmla="*/ 282436 w 4694357"/>
              <a:gd name="connsiteY1098" fmla="*/ 1239643 h 4717133"/>
              <a:gd name="connsiteX1099" fmla="*/ 295533 w 4694357"/>
              <a:gd name="connsiteY1099" fmla="*/ 1226546 h 4717133"/>
              <a:gd name="connsiteX1100" fmla="*/ 4282661 w 4694357"/>
              <a:gd name="connsiteY1100" fmla="*/ 1219713 h 4717133"/>
              <a:gd name="connsiteX1101" fmla="*/ 4306008 w 4694357"/>
              <a:gd name="connsiteY1101" fmla="*/ 1243060 h 4717133"/>
              <a:gd name="connsiteX1102" fmla="*/ 4282661 w 4694357"/>
              <a:gd name="connsiteY1102" fmla="*/ 1266407 h 4717133"/>
              <a:gd name="connsiteX1103" fmla="*/ 4259314 w 4694357"/>
              <a:gd name="connsiteY1103" fmla="*/ 1243060 h 4717133"/>
              <a:gd name="connsiteX1104" fmla="*/ 4282661 w 4694357"/>
              <a:gd name="connsiteY1104" fmla="*/ 1219713 h 4717133"/>
              <a:gd name="connsiteX1105" fmla="*/ 4402240 w 4694357"/>
              <a:gd name="connsiteY1105" fmla="*/ 1218574 h 4717133"/>
              <a:gd name="connsiteX1106" fmla="*/ 4422170 w 4694357"/>
              <a:gd name="connsiteY1106" fmla="*/ 1238504 h 4717133"/>
              <a:gd name="connsiteX1107" fmla="*/ 4402240 w 4694357"/>
              <a:gd name="connsiteY1107" fmla="*/ 1258434 h 4717133"/>
              <a:gd name="connsiteX1108" fmla="*/ 4382310 w 4694357"/>
              <a:gd name="connsiteY1108" fmla="*/ 1238504 h 4717133"/>
              <a:gd name="connsiteX1109" fmla="*/ 4402240 w 4694357"/>
              <a:gd name="connsiteY1109" fmla="*/ 1218574 h 4717133"/>
              <a:gd name="connsiteX1110" fmla="*/ 414543 w 4694357"/>
              <a:gd name="connsiteY1110" fmla="*/ 1218574 h 4717133"/>
              <a:gd name="connsiteX1111" fmla="*/ 439598 w 4694357"/>
              <a:gd name="connsiteY1111" fmla="*/ 1244199 h 4717133"/>
              <a:gd name="connsiteX1112" fmla="*/ 414543 w 4694357"/>
              <a:gd name="connsiteY1112" fmla="*/ 1269824 h 4717133"/>
              <a:gd name="connsiteX1113" fmla="*/ 389488 w 4694357"/>
              <a:gd name="connsiteY1113" fmla="*/ 1244199 h 4717133"/>
              <a:gd name="connsiteX1114" fmla="*/ 414543 w 4694357"/>
              <a:gd name="connsiteY1114" fmla="*/ 1218574 h 4717133"/>
              <a:gd name="connsiteX1115" fmla="*/ 4157957 w 4694357"/>
              <a:gd name="connsiteY1115" fmla="*/ 1215157 h 4717133"/>
              <a:gd name="connsiteX1116" fmla="*/ 4194401 w 4694357"/>
              <a:gd name="connsiteY1116" fmla="*/ 1251031 h 4717133"/>
              <a:gd name="connsiteX1117" fmla="*/ 4157957 w 4694357"/>
              <a:gd name="connsiteY1117" fmla="*/ 1286905 h 4717133"/>
              <a:gd name="connsiteX1118" fmla="*/ 4121513 w 4694357"/>
              <a:gd name="connsiteY1118" fmla="*/ 1251031 h 4717133"/>
              <a:gd name="connsiteX1119" fmla="*/ 4157957 w 4694357"/>
              <a:gd name="connsiteY1119" fmla="*/ 1215157 h 4717133"/>
              <a:gd name="connsiteX1120" fmla="*/ 758478 w 4694357"/>
              <a:gd name="connsiteY1120" fmla="*/ 1112661 h 4717133"/>
              <a:gd name="connsiteX1121" fmla="*/ 768728 w 4694357"/>
              <a:gd name="connsiteY1121" fmla="*/ 1122911 h 4717133"/>
              <a:gd name="connsiteX1122" fmla="*/ 758478 w 4694357"/>
              <a:gd name="connsiteY1122" fmla="*/ 1133161 h 4717133"/>
              <a:gd name="connsiteX1123" fmla="*/ 748228 w 4694357"/>
              <a:gd name="connsiteY1123" fmla="*/ 1122911 h 4717133"/>
              <a:gd name="connsiteX1124" fmla="*/ 758478 w 4694357"/>
              <a:gd name="connsiteY1124" fmla="*/ 1112661 h 4717133"/>
              <a:gd name="connsiteX1125" fmla="*/ 632065 w 4694357"/>
              <a:gd name="connsiteY1125" fmla="*/ 1108105 h 4717133"/>
              <a:gd name="connsiteX1126" fmla="*/ 637760 w 4694357"/>
              <a:gd name="connsiteY1126" fmla="*/ 1113800 h 4717133"/>
              <a:gd name="connsiteX1127" fmla="*/ 632065 w 4694357"/>
              <a:gd name="connsiteY1127" fmla="*/ 1119495 h 4717133"/>
              <a:gd name="connsiteX1128" fmla="*/ 626370 w 4694357"/>
              <a:gd name="connsiteY1128" fmla="*/ 1113800 h 4717133"/>
              <a:gd name="connsiteX1129" fmla="*/ 632065 w 4694357"/>
              <a:gd name="connsiteY1129" fmla="*/ 1108105 h 4717133"/>
              <a:gd name="connsiteX1130" fmla="*/ 3939296 w 4694357"/>
              <a:gd name="connsiteY1130" fmla="*/ 1097855 h 4717133"/>
              <a:gd name="connsiteX1131" fmla="*/ 3963212 w 4694357"/>
              <a:gd name="connsiteY1131" fmla="*/ 1121771 h 4717133"/>
              <a:gd name="connsiteX1132" fmla="*/ 3939296 w 4694357"/>
              <a:gd name="connsiteY1132" fmla="*/ 1145687 h 4717133"/>
              <a:gd name="connsiteX1133" fmla="*/ 3915380 w 4694357"/>
              <a:gd name="connsiteY1133" fmla="*/ 1121771 h 4717133"/>
              <a:gd name="connsiteX1134" fmla="*/ 3939296 w 4694357"/>
              <a:gd name="connsiteY1134" fmla="*/ 1097855 h 4717133"/>
              <a:gd name="connsiteX1135" fmla="*/ 380377 w 4694357"/>
              <a:gd name="connsiteY1135" fmla="*/ 1081911 h 4717133"/>
              <a:gd name="connsiteX1136" fmla="*/ 394043 w 4694357"/>
              <a:gd name="connsiteY1136" fmla="*/ 1095577 h 4717133"/>
              <a:gd name="connsiteX1137" fmla="*/ 380377 w 4694357"/>
              <a:gd name="connsiteY1137" fmla="*/ 1109243 h 4717133"/>
              <a:gd name="connsiteX1138" fmla="*/ 366711 w 4694357"/>
              <a:gd name="connsiteY1138" fmla="*/ 1095577 h 4717133"/>
              <a:gd name="connsiteX1139" fmla="*/ 380377 w 4694357"/>
              <a:gd name="connsiteY1139" fmla="*/ 1081911 h 4717133"/>
              <a:gd name="connsiteX1140" fmla="*/ 4193830 w 4694357"/>
              <a:gd name="connsiteY1140" fmla="*/ 1078495 h 4717133"/>
              <a:gd name="connsiteX1141" fmla="*/ 4217177 w 4694357"/>
              <a:gd name="connsiteY1141" fmla="*/ 1101842 h 4717133"/>
              <a:gd name="connsiteX1142" fmla="*/ 4193830 w 4694357"/>
              <a:gd name="connsiteY1142" fmla="*/ 1125189 h 4717133"/>
              <a:gd name="connsiteX1143" fmla="*/ 4170483 w 4694357"/>
              <a:gd name="connsiteY1143" fmla="*/ 1101842 h 4717133"/>
              <a:gd name="connsiteX1144" fmla="*/ 4193830 w 4694357"/>
              <a:gd name="connsiteY1144" fmla="*/ 1078495 h 4717133"/>
              <a:gd name="connsiteX1145" fmla="*/ 4065139 w 4694357"/>
              <a:gd name="connsiteY1145" fmla="*/ 1077356 h 4717133"/>
              <a:gd name="connsiteX1146" fmla="*/ 4101013 w 4694357"/>
              <a:gd name="connsiteY1146" fmla="*/ 1113230 h 4717133"/>
              <a:gd name="connsiteX1147" fmla="*/ 4065139 w 4694357"/>
              <a:gd name="connsiteY1147" fmla="*/ 1149104 h 4717133"/>
              <a:gd name="connsiteX1148" fmla="*/ 4029265 w 4694357"/>
              <a:gd name="connsiteY1148" fmla="*/ 1113230 h 4717133"/>
              <a:gd name="connsiteX1149" fmla="*/ 4065139 w 4694357"/>
              <a:gd name="connsiteY1149" fmla="*/ 1077356 h 4717133"/>
              <a:gd name="connsiteX1150" fmla="*/ 503944 w 4694357"/>
              <a:gd name="connsiteY1150" fmla="*/ 1076217 h 4717133"/>
              <a:gd name="connsiteX1151" fmla="*/ 530707 w 4694357"/>
              <a:gd name="connsiteY1151" fmla="*/ 1102980 h 4717133"/>
              <a:gd name="connsiteX1152" fmla="*/ 503944 w 4694357"/>
              <a:gd name="connsiteY1152" fmla="*/ 1129743 h 4717133"/>
              <a:gd name="connsiteX1153" fmla="*/ 477181 w 4694357"/>
              <a:gd name="connsiteY1153" fmla="*/ 1102980 h 4717133"/>
              <a:gd name="connsiteX1154" fmla="*/ 503944 w 4694357"/>
              <a:gd name="connsiteY1154" fmla="*/ 1076217 h 4717133"/>
              <a:gd name="connsiteX1155" fmla="*/ 4316257 w 4694357"/>
              <a:gd name="connsiteY1155" fmla="*/ 1072800 h 4717133"/>
              <a:gd name="connsiteX1156" fmla="*/ 4337895 w 4694357"/>
              <a:gd name="connsiteY1156" fmla="*/ 1094438 h 4717133"/>
              <a:gd name="connsiteX1157" fmla="*/ 4316257 w 4694357"/>
              <a:gd name="connsiteY1157" fmla="*/ 1116076 h 4717133"/>
              <a:gd name="connsiteX1158" fmla="*/ 4294619 w 4694357"/>
              <a:gd name="connsiteY1158" fmla="*/ 1094438 h 4717133"/>
              <a:gd name="connsiteX1159" fmla="*/ 4316257 w 4694357"/>
              <a:gd name="connsiteY1159" fmla="*/ 1072800 h 4717133"/>
              <a:gd name="connsiteX1160" fmla="*/ 866100 w 4694357"/>
              <a:gd name="connsiteY1160" fmla="*/ 985109 h 4717133"/>
              <a:gd name="connsiteX1161" fmla="*/ 876920 w 4694357"/>
              <a:gd name="connsiteY1161" fmla="*/ 995929 h 4717133"/>
              <a:gd name="connsiteX1162" fmla="*/ 866100 w 4694357"/>
              <a:gd name="connsiteY1162" fmla="*/ 1006749 h 4717133"/>
              <a:gd name="connsiteX1163" fmla="*/ 855280 w 4694357"/>
              <a:gd name="connsiteY1163" fmla="*/ 995929 h 4717133"/>
              <a:gd name="connsiteX1164" fmla="*/ 866100 w 4694357"/>
              <a:gd name="connsiteY1164" fmla="*/ 985109 h 4717133"/>
              <a:gd name="connsiteX1165" fmla="*/ 735700 w 4694357"/>
              <a:gd name="connsiteY1165" fmla="*/ 975998 h 4717133"/>
              <a:gd name="connsiteX1166" fmla="*/ 742533 w 4694357"/>
              <a:gd name="connsiteY1166" fmla="*/ 982831 h 4717133"/>
              <a:gd name="connsiteX1167" fmla="*/ 735700 w 4694357"/>
              <a:gd name="connsiteY1167" fmla="*/ 989664 h 4717133"/>
              <a:gd name="connsiteX1168" fmla="*/ 728867 w 4694357"/>
              <a:gd name="connsiteY1168" fmla="*/ 982831 h 4717133"/>
              <a:gd name="connsiteX1169" fmla="*/ 735700 w 4694357"/>
              <a:gd name="connsiteY1169" fmla="*/ 975998 h 4717133"/>
              <a:gd name="connsiteX1170" fmla="*/ 3831105 w 4694357"/>
              <a:gd name="connsiteY1170" fmla="*/ 971443 h 4717133"/>
              <a:gd name="connsiteX1171" fmla="*/ 3855021 w 4694357"/>
              <a:gd name="connsiteY1171" fmla="*/ 994790 h 4717133"/>
              <a:gd name="connsiteX1172" fmla="*/ 3831105 w 4694357"/>
              <a:gd name="connsiteY1172" fmla="*/ 1018137 h 4717133"/>
              <a:gd name="connsiteX1173" fmla="*/ 3807189 w 4694357"/>
              <a:gd name="connsiteY1173" fmla="*/ 994790 h 4717133"/>
              <a:gd name="connsiteX1174" fmla="*/ 3831105 w 4694357"/>
              <a:gd name="connsiteY1174" fmla="*/ 971443 h 4717133"/>
              <a:gd name="connsiteX1175" fmla="*/ 3961504 w 4694357"/>
              <a:gd name="connsiteY1175" fmla="*/ 946388 h 4717133"/>
              <a:gd name="connsiteX1176" fmla="*/ 3997378 w 4694357"/>
              <a:gd name="connsiteY1176" fmla="*/ 982262 h 4717133"/>
              <a:gd name="connsiteX1177" fmla="*/ 3961504 w 4694357"/>
              <a:gd name="connsiteY1177" fmla="*/ 1018136 h 4717133"/>
              <a:gd name="connsiteX1178" fmla="*/ 3925630 w 4694357"/>
              <a:gd name="connsiteY1178" fmla="*/ 982262 h 4717133"/>
              <a:gd name="connsiteX1179" fmla="*/ 3961504 w 4694357"/>
              <a:gd name="connsiteY1179" fmla="*/ 946388 h 4717133"/>
              <a:gd name="connsiteX1180" fmla="*/ 476042 w 4694357"/>
              <a:gd name="connsiteY1180" fmla="*/ 945249 h 4717133"/>
              <a:gd name="connsiteX1181" fmla="*/ 490847 w 4694357"/>
              <a:gd name="connsiteY1181" fmla="*/ 959485 h 4717133"/>
              <a:gd name="connsiteX1182" fmla="*/ 476042 w 4694357"/>
              <a:gd name="connsiteY1182" fmla="*/ 973721 h 4717133"/>
              <a:gd name="connsiteX1183" fmla="*/ 461237 w 4694357"/>
              <a:gd name="connsiteY1183" fmla="*/ 959485 h 4717133"/>
              <a:gd name="connsiteX1184" fmla="*/ 476042 w 4694357"/>
              <a:gd name="connsiteY1184" fmla="*/ 945249 h 4717133"/>
              <a:gd name="connsiteX1185" fmla="*/ 4094180 w 4694357"/>
              <a:gd name="connsiteY1185" fmla="*/ 944110 h 4717133"/>
              <a:gd name="connsiteX1186" fmla="*/ 4118096 w 4694357"/>
              <a:gd name="connsiteY1186" fmla="*/ 968026 h 4717133"/>
              <a:gd name="connsiteX1187" fmla="*/ 4094180 w 4694357"/>
              <a:gd name="connsiteY1187" fmla="*/ 991942 h 4717133"/>
              <a:gd name="connsiteX1188" fmla="*/ 4070264 w 4694357"/>
              <a:gd name="connsiteY1188" fmla="*/ 968026 h 4717133"/>
              <a:gd name="connsiteX1189" fmla="*/ 4094180 w 4694357"/>
              <a:gd name="connsiteY1189" fmla="*/ 944110 h 4717133"/>
              <a:gd name="connsiteX1190" fmla="*/ 602455 w 4694357"/>
              <a:gd name="connsiteY1190" fmla="*/ 941832 h 4717133"/>
              <a:gd name="connsiteX1191" fmla="*/ 629788 w 4694357"/>
              <a:gd name="connsiteY1191" fmla="*/ 969165 h 4717133"/>
              <a:gd name="connsiteX1192" fmla="*/ 602455 w 4694357"/>
              <a:gd name="connsiteY1192" fmla="*/ 996498 h 4717133"/>
              <a:gd name="connsiteX1193" fmla="*/ 575122 w 4694357"/>
              <a:gd name="connsiteY1193" fmla="*/ 969165 h 4717133"/>
              <a:gd name="connsiteX1194" fmla="*/ 602455 w 4694357"/>
              <a:gd name="connsiteY1194" fmla="*/ 941832 h 4717133"/>
              <a:gd name="connsiteX1195" fmla="*/ 4220593 w 4694357"/>
              <a:gd name="connsiteY1195" fmla="*/ 934999 h 4717133"/>
              <a:gd name="connsiteX1196" fmla="*/ 4243370 w 4694357"/>
              <a:gd name="connsiteY1196" fmla="*/ 957776 h 4717133"/>
              <a:gd name="connsiteX1197" fmla="*/ 4220593 w 4694357"/>
              <a:gd name="connsiteY1197" fmla="*/ 980553 h 4717133"/>
              <a:gd name="connsiteX1198" fmla="*/ 4197816 w 4694357"/>
              <a:gd name="connsiteY1198" fmla="*/ 957776 h 4717133"/>
              <a:gd name="connsiteX1199" fmla="*/ 4220593 w 4694357"/>
              <a:gd name="connsiteY1199" fmla="*/ 934999 h 4717133"/>
              <a:gd name="connsiteX1200" fmla="*/ 983971 w 4694357"/>
              <a:gd name="connsiteY1200" fmla="*/ 866668 h 4717133"/>
              <a:gd name="connsiteX1201" fmla="*/ 995360 w 4694357"/>
              <a:gd name="connsiteY1201" fmla="*/ 878057 h 4717133"/>
              <a:gd name="connsiteX1202" fmla="*/ 983971 w 4694357"/>
              <a:gd name="connsiteY1202" fmla="*/ 889446 h 4717133"/>
              <a:gd name="connsiteX1203" fmla="*/ 972582 w 4694357"/>
              <a:gd name="connsiteY1203" fmla="*/ 878057 h 4717133"/>
              <a:gd name="connsiteX1204" fmla="*/ 983971 w 4694357"/>
              <a:gd name="connsiteY1204" fmla="*/ 866668 h 4717133"/>
              <a:gd name="connsiteX1205" fmla="*/ 3713803 w 4694357"/>
              <a:gd name="connsiteY1205" fmla="*/ 854140 h 4717133"/>
              <a:gd name="connsiteX1206" fmla="*/ 3736580 w 4694357"/>
              <a:gd name="connsiteY1206" fmla="*/ 877487 h 4717133"/>
              <a:gd name="connsiteX1207" fmla="*/ 3713803 w 4694357"/>
              <a:gd name="connsiteY1207" fmla="*/ 900834 h 4717133"/>
              <a:gd name="connsiteX1208" fmla="*/ 3691026 w 4694357"/>
              <a:gd name="connsiteY1208" fmla="*/ 877487 h 4717133"/>
              <a:gd name="connsiteX1209" fmla="*/ 3713803 w 4694357"/>
              <a:gd name="connsiteY1209" fmla="*/ 854140 h 4717133"/>
              <a:gd name="connsiteX1210" fmla="*/ 848447 w 4694357"/>
              <a:gd name="connsiteY1210" fmla="*/ 853002 h 4717133"/>
              <a:gd name="connsiteX1211" fmla="*/ 856419 w 4694357"/>
              <a:gd name="connsiteY1211" fmla="*/ 860974 h 4717133"/>
              <a:gd name="connsiteX1212" fmla="*/ 848447 w 4694357"/>
              <a:gd name="connsiteY1212" fmla="*/ 868946 h 4717133"/>
              <a:gd name="connsiteX1213" fmla="*/ 840475 w 4694357"/>
              <a:gd name="connsiteY1213" fmla="*/ 860974 h 4717133"/>
              <a:gd name="connsiteX1214" fmla="*/ 848447 w 4694357"/>
              <a:gd name="connsiteY1214" fmla="*/ 853002 h 4717133"/>
              <a:gd name="connsiteX1215" fmla="*/ 3848757 w 4694357"/>
              <a:gd name="connsiteY1215" fmla="*/ 825669 h 4717133"/>
              <a:gd name="connsiteX1216" fmla="*/ 3883492 w 4694357"/>
              <a:gd name="connsiteY1216" fmla="*/ 859835 h 4717133"/>
              <a:gd name="connsiteX1217" fmla="*/ 3848757 w 4694357"/>
              <a:gd name="connsiteY1217" fmla="*/ 894001 h 4717133"/>
              <a:gd name="connsiteX1218" fmla="*/ 3814022 w 4694357"/>
              <a:gd name="connsiteY1218" fmla="*/ 859835 h 4717133"/>
              <a:gd name="connsiteX1219" fmla="*/ 3848757 w 4694357"/>
              <a:gd name="connsiteY1219" fmla="*/ 825669 h 4717133"/>
              <a:gd name="connsiteX1220" fmla="*/ 3984850 w 4694357"/>
              <a:gd name="connsiteY1220" fmla="*/ 817697 h 4717133"/>
              <a:gd name="connsiteX1221" fmla="*/ 4008766 w 4694357"/>
              <a:gd name="connsiteY1221" fmla="*/ 841613 h 4717133"/>
              <a:gd name="connsiteX1222" fmla="*/ 3984850 w 4694357"/>
              <a:gd name="connsiteY1222" fmla="*/ 865529 h 4717133"/>
              <a:gd name="connsiteX1223" fmla="*/ 3960934 w 4694357"/>
              <a:gd name="connsiteY1223" fmla="*/ 841613 h 4717133"/>
              <a:gd name="connsiteX1224" fmla="*/ 3984850 w 4694357"/>
              <a:gd name="connsiteY1224" fmla="*/ 817697 h 4717133"/>
              <a:gd name="connsiteX1225" fmla="*/ 711785 w 4694357"/>
              <a:gd name="connsiteY1225" fmla="*/ 815419 h 4717133"/>
              <a:gd name="connsiteX1226" fmla="*/ 739118 w 4694357"/>
              <a:gd name="connsiteY1226" fmla="*/ 842752 h 4717133"/>
              <a:gd name="connsiteX1227" fmla="*/ 711785 w 4694357"/>
              <a:gd name="connsiteY1227" fmla="*/ 870085 h 4717133"/>
              <a:gd name="connsiteX1228" fmla="*/ 684452 w 4694357"/>
              <a:gd name="connsiteY1228" fmla="*/ 842752 h 4717133"/>
              <a:gd name="connsiteX1229" fmla="*/ 711785 w 4694357"/>
              <a:gd name="connsiteY1229" fmla="*/ 815419 h 4717133"/>
              <a:gd name="connsiteX1230" fmla="*/ 580816 w 4694357"/>
              <a:gd name="connsiteY1230" fmla="*/ 814281 h 4717133"/>
              <a:gd name="connsiteX1231" fmla="*/ 595621 w 4694357"/>
              <a:gd name="connsiteY1231" fmla="*/ 829086 h 4717133"/>
              <a:gd name="connsiteX1232" fmla="*/ 580816 w 4694357"/>
              <a:gd name="connsiteY1232" fmla="*/ 843891 h 4717133"/>
              <a:gd name="connsiteX1233" fmla="*/ 566011 w 4694357"/>
              <a:gd name="connsiteY1233" fmla="*/ 829086 h 4717133"/>
              <a:gd name="connsiteX1234" fmla="*/ 580816 w 4694357"/>
              <a:gd name="connsiteY1234" fmla="*/ 814281 h 4717133"/>
              <a:gd name="connsiteX1235" fmla="*/ 4116388 w 4694357"/>
              <a:gd name="connsiteY1235" fmla="*/ 805170 h 4717133"/>
              <a:gd name="connsiteX1236" fmla="*/ 4139735 w 4694357"/>
              <a:gd name="connsiteY1236" fmla="*/ 828517 h 4717133"/>
              <a:gd name="connsiteX1237" fmla="*/ 4116388 w 4694357"/>
              <a:gd name="connsiteY1237" fmla="*/ 851864 h 4717133"/>
              <a:gd name="connsiteX1238" fmla="*/ 4093041 w 4694357"/>
              <a:gd name="connsiteY1238" fmla="*/ 828517 h 4717133"/>
              <a:gd name="connsiteX1239" fmla="*/ 4116388 w 4694357"/>
              <a:gd name="connsiteY1239" fmla="*/ 805170 h 4717133"/>
              <a:gd name="connsiteX1240" fmla="*/ 1110953 w 4694357"/>
              <a:gd name="connsiteY1240" fmla="*/ 758477 h 4717133"/>
              <a:gd name="connsiteX1241" fmla="*/ 1122911 w 4694357"/>
              <a:gd name="connsiteY1241" fmla="*/ 770435 h 4717133"/>
              <a:gd name="connsiteX1242" fmla="*/ 1110953 w 4694357"/>
              <a:gd name="connsiteY1242" fmla="*/ 782393 h 4717133"/>
              <a:gd name="connsiteX1243" fmla="*/ 1098995 w 4694357"/>
              <a:gd name="connsiteY1243" fmla="*/ 770435 h 4717133"/>
              <a:gd name="connsiteX1244" fmla="*/ 1110953 w 4694357"/>
              <a:gd name="connsiteY1244" fmla="*/ 758477 h 4717133"/>
              <a:gd name="connsiteX1245" fmla="*/ 3586821 w 4694357"/>
              <a:gd name="connsiteY1245" fmla="*/ 748227 h 4717133"/>
              <a:gd name="connsiteX1246" fmla="*/ 3609029 w 4694357"/>
              <a:gd name="connsiteY1246" fmla="*/ 769865 h 4717133"/>
              <a:gd name="connsiteX1247" fmla="*/ 3586821 w 4694357"/>
              <a:gd name="connsiteY1247" fmla="*/ 791503 h 4717133"/>
              <a:gd name="connsiteX1248" fmla="*/ 3564613 w 4694357"/>
              <a:gd name="connsiteY1248" fmla="*/ 769865 h 4717133"/>
              <a:gd name="connsiteX1249" fmla="*/ 3586821 w 4694357"/>
              <a:gd name="connsiteY1249" fmla="*/ 748227 h 4717133"/>
              <a:gd name="connsiteX1250" fmla="*/ 970874 w 4694357"/>
              <a:gd name="connsiteY1250" fmla="*/ 737977 h 4717133"/>
              <a:gd name="connsiteX1251" fmla="*/ 979416 w 4694357"/>
              <a:gd name="connsiteY1251" fmla="*/ 747088 h 4717133"/>
              <a:gd name="connsiteX1252" fmla="*/ 970874 w 4694357"/>
              <a:gd name="connsiteY1252" fmla="*/ 756199 h 4717133"/>
              <a:gd name="connsiteX1253" fmla="*/ 962332 w 4694357"/>
              <a:gd name="connsiteY1253" fmla="*/ 747088 h 4717133"/>
              <a:gd name="connsiteX1254" fmla="*/ 970874 w 4694357"/>
              <a:gd name="connsiteY1254" fmla="*/ 737977 h 4717133"/>
              <a:gd name="connsiteX1255" fmla="*/ 3726331 w 4694357"/>
              <a:gd name="connsiteY1255" fmla="*/ 714062 h 4717133"/>
              <a:gd name="connsiteX1256" fmla="*/ 3759358 w 4694357"/>
              <a:gd name="connsiteY1256" fmla="*/ 747089 h 4717133"/>
              <a:gd name="connsiteX1257" fmla="*/ 3726331 w 4694357"/>
              <a:gd name="connsiteY1257" fmla="*/ 780116 h 4717133"/>
              <a:gd name="connsiteX1258" fmla="*/ 3693304 w 4694357"/>
              <a:gd name="connsiteY1258" fmla="*/ 747089 h 4717133"/>
              <a:gd name="connsiteX1259" fmla="*/ 3726331 w 4694357"/>
              <a:gd name="connsiteY1259" fmla="*/ 714062 h 4717133"/>
              <a:gd name="connsiteX1260" fmla="*/ 3866979 w 4694357"/>
              <a:gd name="connsiteY1260" fmla="*/ 699256 h 4717133"/>
              <a:gd name="connsiteX1261" fmla="*/ 3891465 w 4694357"/>
              <a:gd name="connsiteY1261" fmla="*/ 723742 h 4717133"/>
              <a:gd name="connsiteX1262" fmla="*/ 3866979 w 4694357"/>
              <a:gd name="connsiteY1262" fmla="*/ 748228 h 4717133"/>
              <a:gd name="connsiteX1263" fmla="*/ 3842493 w 4694357"/>
              <a:gd name="connsiteY1263" fmla="*/ 723742 h 4717133"/>
              <a:gd name="connsiteX1264" fmla="*/ 3866979 w 4694357"/>
              <a:gd name="connsiteY1264" fmla="*/ 699256 h 4717133"/>
              <a:gd name="connsiteX1265" fmla="*/ 830226 w 4694357"/>
              <a:gd name="connsiteY1265" fmla="*/ 696979 h 4717133"/>
              <a:gd name="connsiteX1266" fmla="*/ 857559 w 4694357"/>
              <a:gd name="connsiteY1266" fmla="*/ 724312 h 4717133"/>
              <a:gd name="connsiteX1267" fmla="*/ 830226 w 4694357"/>
              <a:gd name="connsiteY1267" fmla="*/ 751645 h 4717133"/>
              <a:gd name="connsiteX1268" fmla="*/ 802893 w 4694357"/>
              <a:gd name="connsiteY1268" fmla="*/ 724312 h 4717133"/>
              <a:gd name="connsiteX1269" fmla="*/ 830226 w 4694357"/>
              <a:gd name="connsiteY1269" fmla="*/ 696979 h 4717133"/>
              <a:gd name="connsiteX1270" fmla="*/ 694701 w 4694357"/>
              <a:gd name="connsiteY1270" fmla="*/ 691285 h 4717133"/>
              <a:gd name="connsiteX1271" fmla="*/ 710645 w 4694357"/>
              <a:gd name="connsiteY1271" fmla="*/ 707229 h 4717133"/>
              <a:gd name="connsiteX1272" fmla="*/ 694701 w 4694357"/>
              <a:gd name="connsiteY1272" fmla="*/ 723173 h 4717133"/>
              <a:gd name="connsiteX1273" fmla="*/ 678757 w 4694357"/>
              <a:gd name="connsiteY1273" fmla="*/ 707229 h 4717133"/>
              <a:gd name="connsiteX1274" fmla="*/ 694701 w 4694357"/>
              <a:gd name="connsiteY1274" fmla="*/ 691285 h 4717133"/>
              <a:gd name="connsiteX1275" fmla="*/ 4002503 w 4694357"/>
              <a:gd name="connsiteY1275" fmla="*/ 683312 h 4717133"/>
              <a:gd name="connsiteX1276" fmla="*/ 4025850 w 4694357"/>
              <a:gd name="connsiteY1276" fmla="*/ 706089 h 4717133"/>
              <a:gd name="connsiteX1277" fmla="*/ 4002503 w 4694357"/>
              <a:gd name="connsiteY1277" fmla="*/ 728866 h 4717133"/>
              <a:gd name="connsiteX1278" fmla="*/ 3979156 w 4694357"/>
              <a:gd name="connsiteY1278" fmla="*/ 706089 h 4717133"/>
              <a:gd name="connsiteX1279" fmla="*/ 4002503 w 4694357"/>
              <a:gd name="connsiteY1279" fmla="*/ 683312 h 4717133"/>
              <a:gd name="connsiteX1280" fmla="*/ 1245907 w 4694357"/>
              <a:gd name="connsiteY1280" fmla="*/ 660535 h 4717133"/>
              <a:gd name="connsiteX1281" fmla="*/ 1258435 w 4694357"/>
              <a:gd name="connsiteY1281" fmla="*/ 673063 h 4717133"/>
              <a:gd name="connsiteX1282" fmla="*/ 1245907 w 4694357"/>
              <a:gd name="connsiteY1282" fmla="*/ 685591 h 4717133"/>
              <a:gd name="connsiteX1283" fmla="*/ 1233379 w 4694357"/>
              <a:gd name="connsiteY1283" fmla="*/ 673063 h 4717133"/>
              <a:gd name="connsiteX1284" fmla="*/ 1245907 w 4694357"/>
              <a:gd name="connsiteY1284" fmla="*/ 660535 h 4717133"/>
              <a:gd name="connsiteX1285" fmla="*/ 3450728 w 4694357"/>
              <a:gd name="connsiteY1285" fmla="*/ 651424 h 4717133"/>
              <a:gd name="connsiteX1286" fmla="*/ 3472366 w 4694357"/>
              <a:gd name="connsiteY1286" fmla="*/ 673062 h 4717133"/>
              <a:gd name="connsiteX1287" fmla="*/ 3450728 w 4694357"/>
              <a:gd name="connsiteY1287" fmla="*/ 694700 h 4717133"/>
              <a:gd name="connsiteX1288" fmla="*/ 3429090 w 4694357"/>
              <a:gd name="connsiteY1288" fmla="*/ 673062 h 4717133"/>
              <a:gd name="connsiteX1289" fmla="*/ 3450728 w 4694357"/>
              <a:gd name="connsiteY1289" fmla="*/ 651424 h 4717133"/>
              <a:gd name="connsiteX1290" fmla="*/ 1101272 w 4694357"/>
              <a:gd name="connsiteY1290" fmla="*/ 634342 h 4717133"/>
              <a:gd name="connsiteX1291" fmla="*/ 1111522 w 4694357"/>
              <a:gd name="connsiteY1291" fmla="*/ 644592 h 4717133"/>
              <a:gd name="connsiteX1292" fmla="*/ 1101272 w 4694357"/>
              <a:gd name="connsiteY1292" fmla="*/ 654842 h 4717133"/>
              <a:gd name="connsiteX1293" fmla="*/ 1091022 w 4694357"/>
              <a:gd name="connsiteY1293" fmla="*/ 644592 h 4717133"/>
              <a:gd name="connsiteX1294" fmla="*/ 1101272 w 4694357"/>
              <a:gd name="connsiteY1294" fmla="*/ 634342 h 4717133"/>
              <a:gd name="connsiteX1295" fmla="*/ 3595932 w 4694357"/>
              <a:gd name="connsiteY1295" fmla="*/ 611565 h 4717133"/>
              <a:gd name="connsiteX1296" fmla="*/ 3628390 w 4694357"/>
              <a:gd name="connsiteY1296" fmla="*/ 644023 h 4717133"/>
              <a:gd name="connsiteX1297" fmla="*/ 3595932 w 4694357"/>
              <a:gd name="connsiteY1297" fmla="*/ 676481 h 4717133"/>
              <a:gd name="connsiteX1298" fmla="*/ 3563474 w 4694357"/>
              <a:gd name="connsiteY1298" fmla="*/ 644023 h 4717133"/>
              <a:gd name="connsiteX1299" fmla="*/ 3595932 w 4694357"/>
              <a:gd name="connsiteY1299" fmla="*/ 611565 h 4717133"/>
              <a:gd name="connsiteX1300" fmla="*/ 3740567 w 4694357"/>
              <a:gd name="connsiteY1300" fmla="*/ 589926 h 4717133"/>
              <a:gd name="connsiteX1301" fmla="*/ 3765053 w 4694357"/>
              <a:gd name="connsiteY1301" fmla="*/ 614412 h 4717133"/>
              <a:gd name="connsiteX1302" fmla="*/ 3740567 w 4694357"/>
              <a:gd name="connsiteY1302" fmla="*/ 638898 h 4717133"/>
              <a:gd name="connsiteX1303" fmla="*/ 3716081 w 4694357"/>
              <a:gd name="connsiteY1303" fmla="*/ 614412 h 4717133"/>
              <a:gd name="connsiteX1304" fmla="*/ 3740567 w 4694357"/>
              <a:gd name="connsiteY1304" fmla="*/ 589926 h 4717133"/>
              <a:gd name="connsiteX1305" fmla="*/ 956638 w 4694357"/>
              <a:gd name="connsiteY1305" fmla="*/ 588788 h 4717133"/>
              <a:gd name="connsiteX1306" fmla="*/ 983971 w 4694357"/>
              <a:gd name="connsiteY1306" fmla="*/ 615551 h 4717133"/>
              <a:gd name="connsiteX1307" fmla="*/ 956638 w 4694357"/>
              <a:gd name="connsiteY1307" fmla="*/ 642314 h 4717133"/>
              <a:gd name="connsiteX1308" fmla="*/ 929305 w 4694357"/>
              <a:gd name="connsiteY1308" fmla="*/ 615551 h 4717133"/>
              <a:gd name="connsiteX1309" fmla="*/ 956638 w 4694357"/>
              <a:gd name="connsiteY1309" fmla="*/ 588788 h 4717133"/>
              <a:gd name="connsiteX1310" fmla="*/ 816559 w 4694357"/>
              <a:gd name="connsiteY1310" fmla="*/ 577399 h 4717133"/>
              <a:gd name="connsiteX1311" fmla="*/ 832503 w 4694357"/>
              <a:gd name="connsiteY1311" fmla="*/ 593343 h 4717133"/>
              <a:gd name="connsiteX1312" fmla="*/ 816559 w 4694357"/>
              <a:gd name="connsiteY1312" fmla="*/ 609287 h 4717133"/>
              <a:gd name="connsiteX1313" fmla="*/ 800615 w 4694357"/>
              <a:gd name="connsiteY1313" fmla="*/ 593343 h 4717133"/>
              <a:gd name="connsiteX1314" fmla="*/ 816559 w 4694357"/>
              <a:gd name="connsiteY1314" fmla="*/ 577399 h 4717133"/>
              <a:gd name="connsiteX1315" fmla="*/ 1389402 w 4694357"/>
              <a:gd name="connsiteY1315" fmla="*/ 573982 h 4717133"/>
              <a:gd name="connsiteX1316" fmla="*/ 1403068 w 4694357"/>
              <a:gd name="connsiteY1316" fmla="*/ 587648 h 4717133"/>
              <a:gd name="connsiteX1317" fmla="*/ 1389402 w 4694357"/>
              <a:gd name="connsiteY1317" fmla="*/ 601314 h 4717133"/>
              <a:gd name="connsiteX1318" fmla="*/ 1375736 w 4694357"/>
              <a:gd name="connsiteY1318" fmla="*/ 587648 h 4717133"/>
              <a:gd name="connsiteX1319" fmla="*/ 1389402 w 4694357"/>
              <a:gd name="connsiteY1319" fmla="*/ 573982 h 4717133"/>
              <a:gd name="connsiteX1320" fmla="*/ 3880076 w 4694357"/>
              <a:gd name="connsiteY1320" fmla="*/ 569427 h 4717133"/>
              <a:gd name="connsiteX1321" fmla="*/ 3902853 w 4694357"/>
              <a:gd name="connsiteY1321" fmla="*/ 592204 h 4717133"/>
              <a:gd name="connsiteX1322" fmla="*/ 3880076 w 4694357"/>
              <a:gd name="connsiteY1322" fmla="*/ 614981 h 4717133"/>
              <a:gd name="connsiteX1323" fmla="*/ 3857299 w 4694357"/>
              <a:gd name="connsiteY1323" fmla="*/ 592204 h 4717133"/>
              <a:gd name="connsiteX1324" fmla="*/ 3880076 w 4694357"/>
              <a:gd name="connsiteY1324" fmla="*/ 569427 h 4717133"/>
              <a:gd name="connsiteX1325" fmla="*/ 3307802 w 4694357"/>
              <a:gd name="connsiteY1325" fmla="*/ 566011 h 4717133"/>
              <a:gd name="connsiteX1326" fmla="*/ 3328871 w 4694357"/>
              <a:gd name="connsiteY1326" fmla="*/ 587080 h 4717133"/>
              <a:gd name="connsiteX1327" fmla="*/ 3307802 w 4694357"/>
              <a:gd name="connsiteY1327" fmla="*/ 608149 h 4717133"/>
              <a:gd name="connsiteX1328" fmla="*/ 3286733 w 4694357"/>
              <a:gd name="connsiteY1328" fmla="*/ 587080 h 4717133"/>
              <a:gd name="connsiteX1329" fmla="*/ 3307802 w 4694357"/>
              <a:gd name="connsiteY1329" fmla="*/ 566011 h 4717133"/>
              <a:gd name="connsiteX1330" fmla="*/ 1240213 w 4694357"/>
              <a:gd name="connsiteY1330" fmla="*/ 539817 h 4717133"/>
              <a:gd name="connsiteX1331" fmla="*/ 1251602 w 4694357"/>
              <a:gd name="connsiteY1331" fmla="*/ 551775 h 4717133"/>
              <a:gd name="connsiteX1332" fmla="*/ 1240213 w 4694357"/>
              <a:gd name="connsiteY1332" fmla="*/ 563733 h 4717133"/>
              <a:gd name="connsiteX1333" fmla="*/ 1228824 w 4694357"/>
              <a:gd name="connsiteY1333" fmla="*/ 551775 h 4717133"/>
              <a:gd name="connsiteX1334" fmla="*/ 1240213 w 4694357"/>
              <a:gd name="connsiteY1334" fmla="*/ 539817 h 4717133"/>
              <a:gd name="connsiteX1335" fmla="*/ 3457561 w 4694357"/>
              <a:gd name="connsiteY1335" fmla="*/ 520457 h 4717133"/>
              <a:gd name="connsiteX1336" fmla="*/ 3488310 w 4694357"/>
              <a:gd name="connsiteY1336" fmla="*/ 551206 h 4717133"/>
              <a:gd name="connsiteX1337" fmla="*/ 3457561 w 4694357"/>
              <a:gd name="connsiteY1337" fmla="*/ 581955 h 4717133"/>
              <a:gd name="connsiteX1338" fmla="*/ 3426812 w 4694357"/>
              <a:gd name="connsiteY1338" fmla="*/ 551206 h 4717133"/>
              <a:gd name="connsiteX1339" fmla="*/ 3457561 w 4694357"/>
              <a:gd name="connsiteY1339" fmla="*/ 520457 h 4717133"/>
              <a:gd name="connsiteX1340" fmla="*/ 1538592 w 4694357"/>
              <a:gd name="connsiteY1340" fmla="*/ 499957 h 4717133"/>
              <a:gd name="connsiteX1341" fmla="*/ 1552258 w 4694357"/>
              <a:gd name="connsiteY1341" fmla="*/ 514193 h 4717133"/>
              <a:gd name="connsiteX1342" fmla="*/ 1538592 w 4694357"/>
              <a:gd name="connsiteY1342" fmla="*/ 528429 h 4717133"/>
              <a:gd name="connsiteX1343" fmla="*/ 1524926 w 4694357"/>
              <a:gd name="connsiteY1343" fmla="*/ 514193 h 4717133"/>
              <a:gd name="connsiteX1344" fmla="*/ 1538592 w 4694357"/>
              <a:gd name="connsiteY1344" fmla="*/ 499957 h 4717133"/>
              <a:gd name="connsiteX1345" fmla="*/ 3158612 w 4694357"/>
              <a:gd name="connsiteY1345" fmla="*/ 494263 h 4717133"/>
              <a:gd name="connsiteX1346" fmla="*/ 3178542 w 4694357"/>
              <a:gd name="connsiteY1346" fmla="*/ 514193 h 4717133"/>
              <a:gd name="connsiteX1347" fmla="*/ 3158612 w 4694357"/>
              <a:gd name="connsiteY1347" fmla="*/ 534123 h 4717133"/>
              <a:gd name="connsiteX1348" fmla="*/ 3138682 w 4694357"/>
              <a:gd name="connsiteY1348" fmla="*/ 514193 h 4717133"/>
              <a:gd name="connsiteX1349" fmla="*/ 3158612 w 4694357"/>
              <a:gd name="connsiteY1349" fmla="*/ 494263 h 4717133"/>
              <a:gd name="connsiteX1350" fmla="*/ 3606182 w 4694357"/>
              <a:gd name="connsiteY1350" fmla="*/ 490846 h 4717133"/>
              <a:gd name="connsiteX1351" fmla="*/ 3630668 w 4694357"/>
              <a:gd name="connsiteY1351" fmla="*/ 515901 h 4717133"/>
              <a:gd name="connsiteX1352" fmla="*/ 3606182 w 4694357"/>
              <a:gd name="connsiteY1352" fmla="*/ 540956 h 4717133"/>
              <a:gd name="connsiteX1353" fmla="*/ 3581696 w 4694357"/>
              <a:gd name="connsiteY1353" fmla="*/ 515901 h 4717133"/>
              <a:gd name="connsiteX1354" fmla="*/ 3606182 w 4694357"/>
              <a:gd name="connsiteY1354" fmla="*/ 490846 h 4717133"/>
              <a:gd name="connsiteX1355" fmla="*/ 1091023 w 4694357"/>
              <a:gd name="connsiteY1355" fmla="*/ 489707 h 4717133"/>
              <a:gd name="connsiteX1356" fmla="*/ 1118356 w 4694357"/>
              <a:gd name="connsiteY1356" fmla="*/ 516470 h 4717133"/>
              <a:gd name="connsiteX1357" fmla="*/ 1091023 w 4694357"/>
              <a:gd name="connsiteY1357" fmla="*/ 543233 h 4717133"/>
              <a:gd name="connsiteX1358" fmla="*/ 1063690 w 4694357"/>
              <a:gd name="connsiteY1358" fmla="*/ 516470 h 4717133"/>
              <a:gd name="connsiteX1359" fmla="*/ 1091023 w 4694357"/>
              <a:gd name="connsiteY1359" fmla="*/ 489707 h 4717133"/>
              <a:gd name="connsiteX1360" fmla="*/ 946958 w 4694357"/>
              <a:gd name="connsiteY1360" fmla="*/ 472625 h 4717133"/>
              <a:gd name="connsiteX1361" fmla="*/ 963472 w 4694357"/>
              <a:gd name="connsiteY1361" fmla="*/ 489139 h 4717133"/>
              <a:gd name="connsiteX1362" fmla="*/ 946958 w 4694357"/>
              <a:gd name="connsiteY1362" fmla="*/ 505653 h 4717133"/>
              <a:gd name="connsiteX1363" fmla="*/ 930444 w 4694357"/>
              <a:gd name="connsiteY1363" fmla="*/ 489139 h 4717133"/>
              <a:gd name="connsiteX1364" fmla="*/ 946958 w 4694357"/>
              <a:gd name="connsiteY1364" fmla="*/ 472625 h 4717133"/>
              <a:gd name="connsiteX1365" fmla="*/ 3750246 w 4694357"/>
              <a:gd name="connsiteY1365" fmla="*/ 464652 h 4717133"/>
              <a:gd name="connsiteX1366" fmla="*/ 3773023 w 4694357"/>
              <a:gd name="connsiteY1366" fmla="*/ 487429 h 4717133"/>
              <a:gd name="connsiteX1367" fmla="*/ 3750246 w 4694357"/>
              <a:gd name="connsiteY1367" fmla="*/ 510206 h 4717133"/>
              <a:gd name="connsiteX1368" fmla="*/ 3727469 w 4694357"/>
              <a:gd name="connsiteY1368" fmla="*/ 487429 h 4717133"/>
              <a:gd name="connsiteX1369" fmla="*/ 3750246 w 4694357"/>
              <a:gd name="connsiteY1369" fmla="*/ 464652 h 4717133"/>
              <a:gd name="connsiteX1370" fmla="*/ 1385417 w 4694357"/>
              <a:gd name="connsiteY1370" fmla="*/ 456681 h 4717133"/>
              <a:gd name="connsiteX1371" fmla="*/ 1398514 w 4694357"/>
              <a:gd name="connsiteY1371" fmla="*/ 469778 h 4717133"/>
              <a:gd name="connsiteX1372" fmla="*/ 1385417 w 4694357"/>
              <a:gd name="connsiteY1372" fmla="*/ 482875 h 4717133"/>
              <a:gd name="connsiteX1373" fmla="*/ 1372320 w 4694357"/>
              <a:gd name="connsiteY1373" fmla="*/ 469778 h 4717133"/>
              <a:gd name="connsiteX1374" fmla="*/ 1385417 w 4694357"/>
              <a:gd name="connsiteY1374" fmla="*/ 456681 h 4717133"/>
              <a:gd name="connsiteX1375" fmla="*/ 3311787 w 4694357"/>
              <a:gd name="connsiteY1375" fmla="*/ 440737 h 4717133"/>
              <a:gd name="connsiteX1376" fmla="*/ 3341397 w 4694357"/>
              <a:gd name="connsiteY1376" fmla="*/ 469778 h 4717133"/>
              <a:gd name="connsiteX1377" fmla="*/ 3311787 w 4694357"/>
              <a:gd name="connsiteY1377" fmla="*/ 498819 h 4717133"/>
              <a:gd name="connsiteX1378" fmla="*/ 3282177 w 4694357"/>
              <a:gd name="connsiteY1378" fmla="*/ 469778 h 4717133"/>
              <a:gd name="connsiteX1379" fmla="*/ 3311787 w 4694357"/>
              <a:gd name="connsiteY1379" fmla="*/ 440737 h 4717133"/>
              <a:gd name="connsiteX1380" fmla="*/ 1694046 w 4694357"/>
              <a:gd name="connsiteY1380" fmla="*/ 439598 h 4717133"/>
              <a:gd name="connsiteX1381" fmla="*/ 1708282 w 4694357"/>
              <a:gd name="connsiteY1381" fmla="*/ 454403 h 4717133"/>
              <a:gd name="connsiteX1382" fmla="*/ 1694046 w 4694357"/>
              <a:gd name="connsiteY1382" fmla="*/ 469208 h 4717133"/>
              <a:gd name="connsiteX1383" fmla="*/ 1679810 w 4694357"/>
              <a:gd name="connsiteY1383" fmla="*/ 454403 h 4717133"/>
              <a:gd name="connsiteX1384" fmla="*/ 1694046 w 4694357"/>
              <a:gd name="connsiteY1384" fmla="*/ 439598 h 4717133"/>
              <a:gd name="connsiteX1385" fmla="*/ 3003158 w 4694357"/>
              <a:gd name="connsiteY1385" fmla="*/ 433904 h 4717133"/>
              <a:gd name="connsiteX1386" fmla="*/ 3022519 w 4694357"/>
              <a:gd name="connsiteY1386" fmla="*/ 453265 h 4717133"/>
              <a:gd name="connsiteX1387" fmla="*/ 3003158 w 4694357"/>
              <a:gd name="connsiteY1387" fmla="*/ 472626 h 4717133"/>
              <a:gd name="connsiteX1388" fmla="*/ 2983797 w 4694357"/>
              <a:gd name="connsiteY1388" fmla="*/ 453265 h 4717133"/>
              <a:gd name="connsiteX1389" fmla="*/ 3003158 w 4694357"/>
              <a:gd name="connsiteY1389" fmla="*/ 433904 h 4717133"/>
              <a:gd name="connsiteX1390" fmla="*/ 3464394 w 4694357"/>
              <a:gd name="connsiteY1390" fmla="*/ 402016 h 4717133"/>
              <a:gd name="connsiteX1391" fmla="*/ 3489449 w 4694357"/>
              <a:gd name="connsiteY1391" fmla="*/ 427071 h 4717133"/>
              <a:gd name="connsiteX1392" fmla="*/ 3464394 w 4694357"/>
              <a:gd name="connsiteY1392" fmla="*/ 452126 h 4717133"/>
              <a:gd name="connsiteX1393" fmla="*/ 3439339 w 4694357"/>
              <a:gd name="connsiteY1393" fmla="*/ 427071 h 4717133"/>
              <a:gd name="connsiteX1394" fmla="*/ 3464394 w 4694357"/>
              <a:gd name="connsiteY1394" fmla="*/ 402016 h 4717133"/>
              <a:gd name="connsiteX1395" fmla="*/ 1231671 w 4694357"/>
              <a:gd name="connsiteY1395" fmla="*/ 399738 h 4717133"/>
              <a:gd name="connsiteX1396" fmla="*/ 1258434 w 4694357"/>
              <a:gd name="connsiteY1396" fmla="*/ 427071 h 4717133"/>
              <a:gd name="connsiteX1397" fmla="*/ 1231671 w 4694357"/>
              <a:gd name="connsiteY1397" fmla="*/ 454404 h 4717133"/>
              <a:gd name="connsiteX1398" fmla="*/ 1204908 w 4694357"/>
              <a:gd name="connsiteY1398" fmla="*/ 427071 h 4717133"/>
              <a:gd name="connsiteX1399" fmla="*/ 1231671 w 4694357"/>
              <a:gd name="connsiteY1399" fmla="*/ 399738 h 4717133"/>
              <a:gd name="connsiteX1400" fmla="*/ 1853485 w 4694357"/>
              <a:gd name="connsiteY1400" fmla="*/ 390627 h 4717133"/>
              <a:gd name="connsiteX1401" fmla="*/ 1868860 w 4694357"/>
              <a:gd name="connsiteY1401" fmla="*/ 406002 h 4717133"/>
              <a:gd name="connsiteX1402" fmla="*/ 1853485 w 4694357"/>
              <a:gd name="connsiteY1402" fmla="*/ 421377 h 4717133"/>
              <a:gd name="connsiteX1403" fmla="*/ 1838110 w 4694357"/>
              <a:gd name="connsiteY1403" fmla="*/ 406002 h 4717133"/>
              <a:gd name="connsiteX1404" fmla="*/ 1853485 w 4694357"/>
              <a:gd name="connsiteY1404" fmla="*/ 390627 h 4717133"/>
              <a:gd name="connsiteX1405" fmla="*/ 2843150 w 4694357"/>
              <a:gd name="connsiteY1405" fmla="*/ 387210 h 4717133"/>
              <a:gd name="connsiteX1406" fmla="*/ 2861942 w 4694357"/>
              <a:gd name="connsiteY1406" fmla="*/ 406002 h 4717133"/>
              <a:gd name="connsiteX1407" fmla="*/ 2843150 w 4694357"/>
              <a:gd name="connsiteY1407" fmla="*/ 424794 h 4717133"/>
              <a:gd name="connsiteX1408" fmla="*/ 2824358 w 4694357"/>
              <a:gd name="connsiteY1408" fmla="*/ 406002 h 4717133"/>
              <a:gd name="connsiteX1409" fmla="*/ 2843150 w 4694357"/>
              <a:gd name="connsiteY1409" fmla="*/ 387210 h 4717133"/>
              <a:gd name="connsiteX1410" fmla="*/ 1536314 w 4694357"/>
              <a:gd name="connsiteY1410" fmla="*/ 386072 h 4717133"/>
              <a:gd name="connsiteX1411" fmla="*/ 1551119 w 4694357"/>
              <a:gd name="connsiteY1411" fmla="*/ 400308 h 4717133"/>
              <a:gd name="connsiteX1412" fmla="*/ 1536314 w 4694357"/>
              <a:gd name="connsiteY1412" fmla="*/ 414544 h 4717133"/>
              <a:gd name="connsiteX1413" fmla="*/ 1521509 w 4694357"/>
              <a:gd name="connsiteY1413" fmla="*/ 400308 h 4717133"/>
              <a:gd name="connsiteX1414" fmla="*/ 1536314 w 4694357"/>
              <a:gd name="connsiteY1414" fmla="*/ 386072 h 4717133"/>
              <a:gd name="connsiteX1415" fmla="*/ 1083621 w 4694357"/>
              <a:gd name="connsiteY1415" fmla="*/ 375822 h 4717133"/>
              <a:gd name="connsiteX1416" fmla="*/ 1101274 w 4694357"/>
              <a:gd name="connsiteY1416" fmla="*/ 392905 h 4717133"/>
              <a:gd name="connsiteX1417" fmla="*/ 1083621 w 4694357"/>
              <a:gd name="connsiteY1417" fmla="*/ 409988 h 4717133"/>
              <a:gd name="connsiteX1418" fmla="*/ 1065968 w 4694357"/>
              <a:gd name="connsiteY1418" fmla="*/ 392905 h 4717133"/>
              <a:gd name="connsiteX1419" fmla="*/ 1083621 w 4694357"/>
              <a:gd name="connsiteY1419" fmla="*/ 375822 h 4717133"/>
              <a:gd name="connsiteX1420" fmla="*/ 3160890 w 4694357"/>
              <a:gd name="connsiteY1420" fmla="*/ 372406 h 4717133"/>
              <a:gd name="connsiteX1421" fmla="*/ 3188792 w 4694357"/>
              <a:gd name="connsiteY1421" fmla="*/ 400308 h 4717133"/>
              <a:gd name="connsiteX1422" fmla="*/ 3160890 w 4694357"/>
              <a:gd name="connsiteY1422" fmla="*/ 428210 h 4717133"/>
              <a:gd name="connsiteX1423" fmla="*/ 3132988 w 4694357"/>
              <a:gd name="connsiteY1423" fmla="*/ 400308 h 4717133"/>
              <a:gd name="connsiteX1424" fmla="*/ 3160890 w 4694357"/>
              <a:gd name="connsiteY1424" fmla="*/ 372406 h 4717133"/>
              <a:gd name="connsiteX1425" fmla="*/ 3612445 w 4694357"/>
              <a:gd name="connsiteY1425" fmla="*/ 370128 h 4717133"/>
              <a:gd name="connsiteX1426" fmla="*/ 3635222 w 4694357"/>
              <a:gd name="connsiteY1426" fmla="*/ 392905 h 4717133"/>
              <a:gd name="connsiteX1427" fmla="*/ 3612445 w 4694357"/>
              <a:gd name="connsiteY1427" fmla="*/ 415682 h 4717133"/>
              <a:gd name="connsiteX1428" fmla="*/ 3589668 w 4694357"/>
              <a:gd name="connsiteY1428" fmla="*/ 392905 h 4717133"/>
              <a:gd name="connsiteX1429" fmla="*/ 3612445 w 4694357"/>
              <a:gd name="connsiteY1429" fmla="*/ 370128 h 4717133"/>
              <a:gd name="connsiteX1430" fmla="*/ 2016911 w 4694357"/>
              <a:gd name="connsiteY1430" fmla="*/ 356462 h 4717133"/>
              <a:gd name="connsiteX1431" fmla="*/ 2032855 w 4694357"/>
              <a:gd name="connsiteY1431" fmla="*/ 372406 h 4717133"/>
              <a:gd name="connsiteX1432" fmla="*/ 2016911 w 4694357"/>
              <a:gd name="connsiteY1432" fmla="*/ 388350 h 4717133"/>
              <a:gd name="connsiteX1433" fmla="*/ 2000967 w 4694357"/>
              <a:gd name="connsiteY1433" fmla="*/ 372406 h 4717133"/>
              <a:gd name="connsiteX1434" fmla="*/ 2016911 w 4694357"/>
              <a:gd name="connsiteY1434" fmla="*/ 356462 h 4717133"/>
              <a:gd name="connsiteX1435" fmla="*/ 2680294 w 4694357"/>
              <a:gd name="connsiteY1435" fmla="*/ 353045 h 4717133"/>
              <a:gd name="connsiteX1436" fmla="*/ 2699086 w 4694357"/>
              <a:gd name="connsiteY1436" fmla="*/ 371837 h 4717133"/>
              <a:gd name="connsiteX1437" fmla="*/ 2680294 w 4694357"/>
              <a:gd name="connsiteY1437" fmla="*/ 390629 h 4717133"/>
              <a:gd name="connsiteX1438" fmla="*/ 2661502 w 4694357"/>
              <a:gd name="connsiteY1438" fmla="*/ 371837 h 4717133"/>
              <a:gd name="connsiteX1439" fmla="*/ 2680294 w 4694357"/>
              <a:gd name="connsiteY1439" fmla="*/ 353045 h 4717133"/>
              <a:gd name="connsiteX1440" fmla="*/ 2181476 w 4694357"/>
              <a:gd name="connsiteY1440" fmla="*/ 334823 h 4717133"/>
              <a:gd name="connsiteX1441" fmla="*/ 2197990 w 4694357"/>
              <a:gd name="connsiteY1441" fmla="*/ 351337 h 4717133"/>
              <a:gd name="connsiteX1442" fmla="*/ 2181476 w 4694357"/>
              <a:gd name="connsiteY1442" fmla="*/ 367851 h 4717133"/>
              <a:gd name="connsiteX1443" fmla="*/ 2164962 w 4694357"/>
              <a:gd name="connsiteY1443" fmla="*/ 351337 h 4717133"/>
              <a:gd name="connsiteX1444" fmla="*/ 2181476 w 4694357"/>
              <a:gd name="connsiteY1444" fmla="*/ 334823 h 4717133"/>
              <a:gd name="connsiteX1445" fmla="*/ 2515160 w 4694357"/>
              <a:gd name="connsiteY1445" fmla="*/ 333685 h 4717133"/>
              <a:gd name="connsiteX1446" fmla="*/ 2532813 w 4694357"/>
              <a:gd name="connsiteY1446" fmla="*/ 351338 h 4717133"/>
              <a:gd name="connsiteX1447" fmla="*/ 2515160 w 4694357"/>
              <a:gd name="connsiteY1447" fmla="*/ 368991 h 4717133"/>
              <a:gd name="connsiteX1448" fmla="*/ 2497507 w 4694357"/>
              <a:gd name="connsiteY1448" fmla="*/ 351338 h 4717133"/>
              <a:gd name="connsiteX1449" fmla="*/ 2515160 w 4694357"/>
              <a:gd name="connsiteY1449" fmla="*/ 333685 h 4717133"/>
              <a:gd name="connsiteX1450" fmla="*/ 2348318 w 4694357"/>
              <a:gd name="connsiteY1450" fmla="*/ 327990 h 4717133"/>
              <a:gd name="connsiteX1451" fmla="*/ 2365401 w 4694357"/>
              <a:gd name="connsiteY1451" fmla="*/ 345073 h 4717133"/>
              <a:gd name="connsiteX1452" fmla="*/ 2348318 w 4694357"/>
              <a:gd name="connsiteY1452" fmla="*/ 362156 h 4717133"/>
              <a:gd name="connsiteX1453" fmla="*/ 2331235 w 4694357"/>
              <a:gd name="connsiteY1453" fmla="*/ 345073 h 4717133"/>
              <a:gd name="connsiteX1454" fmla="*/ 2348318 w 4694357"/>
              <a:gd name="connsiteY1454" fmla="*/ 327990 h 4717133"/>
              <a:gd name="connsiteX1455" fmla="*/ 1692907 w 4694357"/>
              <a:gd name="connsiteY1455" fmla="*/ 326851 h 4717133"/>
              <a:gd name="connsiteX1456" fmla="*/ 1708282 w 4694357"/>
              <a:gd name="connsiteY1456" fmla="*/ 342226 h 4717133"/>
              <a:gd name="connsiteX1457" fmla="*/ 1692907 w 4694357"/>
              <a:gd name="connsiteY1457" fmla="*/ 357601 h 4717133"/>
              <a:gd name="connsiteX1458" fmla="*/ 1677532 w 4694357"/>
              <a:gd name="connsiteY1458" fmla="*/ 342226 h 4717133"/>
              <a:gd name="connsiteX1459" fmla="*/ 1692907 w 4694357"/>
              <a:gd name="connsiteY1459" fmla="*/ 326851 h 4717133"/>
              <a:gd name="connsiteX1460" fmla="*/ 3316913 w 4694357"/>
              <a:gd name="connsiteY1460" fmla="*/ 323435 h 4717133"/>
              <a:gd name="connsiteX1461" fmla="*/ 3342538 w 4694357"/>
              <a:gd name="connsiteY1461" fmla="*/ 348490 h 4717133"/>
              <a:gd name="connsiteX1462" fmla="*/ 3316913 w 4694357"/>
              <a:gd name="connsiteY1462" fmla="*/ 373545 h 4717133"/>
              <a:gd name="connsiteX1463" fmla="*/ 3291288 w 4694357"/>
              <a:gd name="connsiteY1463" fmla="*/ 348490 h 4717133"/>
              <a:gd name="connsiteX1464" fmla="*/ 3316913 w 4694357"/>
              <a:gd name="connsiteY1464" fmla="*/ 323435 h 4717133"/>
              <a:gd name="connsiteX1465" fmla="*/ 1379722 w 4694357"/>
              <a:gd name="connsiteY1465" fmla="*/ 322296 h 4717133"/>
              <a:gd name="connsiteX1466" fmla="*/ 1406485 w 4694357"/>
              <a:gd name="connsiteY1466" fmla="*/ 349059 h 4717133"/>
              <a:gd name="connsiteX1467" fmla="*/ 1379722 w 4694357"/>
              <a:gd name="connsiteY1467" fmla="*/ 375822 h 4717133"/>
              <a:gd name="connsiteX1468" fmla="*/ 1352959 w 4694357"/>
              <a:gd name="connsiteY1468" fmla="*/ 349059 h 4717133"/>
              <a:gd name="connsiteX1469" fmla="*/ 1379722 w 4694357"/>
              <a:gd name="connsiteY1469" fmla="*/ 322296 h 4717133"/>
              <a:gd name="connsiteX1470" fmla="*/ 3004298 w 4694357"/>
              <a:gd name="connsiteY1470" fmla="*/ 316601 h 4717133"/>
              <a:gd name="connsiteX1471" fmla="*/ 3030492 w 4694357"/>
              <a:gd name="connsiteY1471" fmla="*/ 342226 h 4717133"/>
              <a:gd name="connsiteX1472" fmla="*/ 3004298 w 4694357"/>
              <a:gd name="connsiteY1472" fmla="*/ 367851 h 4717133"/>
              <a:gd name="connsiteX1473" fmla="*/ 2978104 w 4694357"/>
              <a:gd name="connsiteY1473" fmla="*/ 342226 h 4717133"/>
              <a:gd name="connsiteX1474" fmla="*/ 3004298 w 4694357"/>
              <a:gd name="connsiteY1474" fmla="*/ 316601 h 4717133"/>
              <a:gd name="connsiteX1475" fmla="*/ 1227116 w 4694357"/>
              <a:gd name="connsiteY1475" fmla="*/ 290408 h 4717133"/>
              <a:gd name="connsiteX1476" fmla="*/ 1244769 w 4694357"/>
              <a:gd name="connsiteY1476" fmla="*/ 308061 h 4717133"/>
              <a:gd name="connsiteX1477" fmla="*/ 1227116 w 4694357"/>
              <a:gd name="connsiteY1477" fmla="*/ 325714 h 4717133"/>
              <a:gd name="connsiteX1478" fmla="*/ 1209463 w 4694357"/>
              <a:gd name="connsiteY1478" fmla="*/ 308061 h 4717133"/>
              <a:gd name="connsiteX1479" fmla="*/ 1227116 w 4694357"/>
              <a:gd name="connsiteY1479" fmla="*/ 290408 h 4717133"/>
              <a:gd name="connsiteX1480" fmla="*/ 3468949 w 4694357"/>
              <a:gd name="connsiteY1480" fmla="*/ 284714 h 4717133"/>
              <a:gd name="connsiteX1481" fmla="*/ 3491726 w 4694357"/>
              <a:gd name="connsiteY1481" fmla="*/ 307491 h 4717133"/>
              <a:gd name="connsiteX1482" fmla="*/ 3468949 w 4694357"/>
              <a:gd name="connsiteY1482" fmla="*/ 330268 h 4717133"/>
              <a:gd name="connsiteX1483" fmla="*/ 3446172 w 4694357"/>
              <a:gd name="connsiteY1483" fmla="*/ 307491 h 4717133"/>
              <a:gd name="connsiteX1484" fmla="*/ 3468949 w 4694357"/>
              <a:gd name="connsiteY1484" fmla="*/ 284714 h 4717133"/>
              <a:gd name="connsiteX1485" fmla="*/ 1852916 w 4694357"/>
              <a:gd name="connsiteY1485" fmla="*/ 280158 h 4717133"/>
              <a:gd name="connsiteX1486" fmla="*/ 1869999 w 4694357"/>
              <a:gd name="connsiteY1486" fmla="*/ 297241 h 4717133"/>
              <a:gd name="connsiteX1487" fmla="*/ 1852916 w 4694357"/>
              <a:gd name="connsiteY1487" fmla="*/ 314324 h 4717133"/>
              <a:gd name="connsiteX1488" fmla="*/ 1835833 w 4694357"/>
              <a:gd name="connsiteY1488" fmla="*/ 297241 h 4717133"/>
              <a:gd name="connsiteX1489" fmla="*/ 1852916 w 4694357"/>
              <a:gd name="connsiteY1489" fmla="*/ 280158 h 4717133"/>
              <a:gd name="connsiteX1490" fmla="*/ 2843719 w 4694357"/>
              <a:gd name="connsiteY1490" fmla="*/ 272187 h 4717133"/>
              <a:gd name="connsiteX1491" fmla="*/ 2868774 w 4694357"/>
              <a:gd name="connsiteY1491" fmla="*/ 296673 h 4717133"/>
              <a:gd name="connsiteX1492" fmla="*/ 2843719 w 4694357"/>
              <a:gd name="connsiteY1492" fmla="*/ 321159 h 4717133"/>
              <a:gd name="connsiteX1493" fmla="*/ 2818664 w 4694357"/>
              <a:gd name="connsiteY1493" fmla="*/ 296673 h 4717133"/>
              <a:gd name="connsiteX1494" fmla="*/ 2843719 w 4694357"/>
              <a:gd name="connsiteY1494" fmla="*/ 272187 h 4717133"/>
              <a:gd name="connsiteX1495" fmla="*/ 3164307 w 4694357"/>
              <a:gd name="connsiteY1495" fmla="*/ 256243 h 4717133"/>
              <a:gd name="connsiteX1496" fmla="*/ 3189932 w 4694357"/>
              <a:gd name="connsiteY1496" fmla="*/ 281868 h 4717133"/>
              <a:gd name="connsiteX1497" fmla="*/ 3164307 w 4694357"/>
              <a:gd name="connsiteY1497" fmla="*/ 307493 h 4717133"/>
              <a:gd name="connsiteX1498" fmla="*/ 3138682 w 4694357"/>
              <a:gd name="connsiteY1498" fmla="*/ 281868 h 4717133"/>
              <a:gd name="connsiteX1499" fmla="*/ 3164307 w 4694357"/>
              <a:gd name="connsiteY1499" fmla="*/ 256243 h 4717133"/>
              <a:gd name="connsiteX1500" fmla="*/ 1532328 w 4694357"/>
              <a:gd name="connsiteY1500" fmla="*/ 255103 h 4717133"/>
              <a:gd name="connsiteX1501" fmla="*/ 1559091 w 4694357"/>
              <a:gd name="connsiteY1501" fmla="*/ 281866 h 4717133"/>
              <a:gd name="connsiteX1502" fmla="*/ 1532328 w 4694357"/>
              <a:gd name="connsiteY1502" fmla="*/ 308629 h 4717133"/>
              <a:gd name="connsiteX1503" fmla="*/ 1505565 w 4694357"/>
              <a:gd name="connsiteY1503" fmla="*/ 281866 h 4717133"/>
              <a:gd name="connsiteX1504" fmla="*/ 1532328 w 4694357"/>
              <a:gd name="connsiteY1504" fmla="*/ 255103 h 4717133"/>
              <a:gd name="connsiteX1505" fmla="*/ 2016911 w 4694357"/>
              <a:gd name="connsiteY1505" fmla="*/ 245993 h 4717133"/>
              <a:gd name="connsiteX1506" fmla="*/ 2035133 w 4694357"/>
              <a:gd name="connsiteY1506" fmla="*/ 264785 h 4717133"/>
              <a:gd name="connsiteX1507" fmla="*/ 2016911 w 4694357"/>
              <a:gd name="connsiteY1507" fmla="*/ 283577 h 4717133"/>
              <a:gd name="connsiteX1508" fmla="*/ 1998689 w 4694357"/>
              <a:gd name="connsiteY1508" fmla="*/ 264785 h 4717133"/>
              <a:gd name="connsiteX1509" fmla="*/ 2016911 w 4694357"/>
              <a:gd name="connsiteY1509" fmla="*/ 245993 h 4717133"/>
              <a:gd name="connsiteX1510" fmla="*/ 2680294 w 4694357"/>
              <a:gd name="connsiteY1510" fmla="*/ 241437 h 4717133"/>
              <a:gd name="connsiteX1511" fmla="*/ 2703641 w 4694357"/>
              <a:gd name="connsiteY1511" fmla="*/ 264784 h 4717133"/>
              <a:gd name="connsiteX1512" fmla="*/ 2680294 w 4694357"/>
              <a:gd name="connsiteY1512" fmla="*/ 288131 h 4717133"/>
              <a:gd name="connsiteX1513" fmla="*/ 2656947 w 4694357"/>
              <a:gd name="connsiteY1513" fmla="*/ 264784 h 4717133"/>
              <a:gd name="connsiteX1514" fmla="*/ 2680294 w 4694357"/>
              <a:gd name="connsiteY1514" fmla="*/ 241437 h 4717133"/>
              <a:gd name="connsiteX1515" fmla="*/ 2182045 w 4694357"/>
              <a:gd name="connsiteY1515" fmla="*/ 225493 h 4717133"/>
              <a:gd name="connsiteX1516" fmla="*/ 2201406 w 4694357"/>
              <a:gd name="connsiteY1516" fmla="*/ 244854 h 4717133"/>
              <a:gd name="connsiteX1517" fmla="*/ 2182045 w 4694357"/>
              <a:gd name="connsiteY1517" fmla="*/ 264215 h 4717133"/>
              <a:gd name="connsiteX1518" fmla="*/ 2162684 w 4694357"/>
              <a:gd name="connsiteY1518" fmla="*/ 244854 h 4717133"/>
              <a:gd name="connsiteX1519" fmla="*/ 2182045 w 4694357"/>
              <a:gd name="connsiteY1519" fmla="*/ 225493 h 4717133"/>
              <a:gd name="connsiteX1520" fmla="*/ 2515160 w 4694357"/>
              <a:gd name="connsiteY1520" fmla="*/ 223215 h 4717133"/>
              <a:gd name="connsiteX1521" fmla="*/ 2537368 w 4694357"/>
              <a:gd name="connsiteY1521" fmla="*/ 245423 h 4717133"/>
              <a:gd name="connsiteX1522" fmla="*/ 2515160 w 4694357"/>
              <a:gd name="connsiteY1522" fmla="*/ 267631 h 4717133"/>
              <a:gd name="connsiteX1523" fmla="*/ 2492952 w 4694357"/>
              <a:gd name="connsiteY1523" fmla="*/ 245423 h 4717133"/>
              <a:gd name="connsiteX1524" fmla="*/ 2515160 w 4694357"/>
              <a:gd name="connsiteY1524" fmla="*/ 223215 h 4717133"/>
              <a:gd name="connsiteX1525" fmla="*/ 2348318 w 4694357"/>
              <a:gd name="connsiteY1525" fmla="*/ 217522 h 4717133"/>
              <a:gd name="connsiteX1526" fmla="*/ 2368818 w 4694357"/>
              <a:gd name="connsiteY1526" fmla="*/ 238591 h 4717133"/>
              <a:gd name="connsiteX1527" fmla="*/ 2348318 w 4694357"/>
              <a:gd name="connsiteY1527" fmla="*/ 259660 h 4717133"/>
              <a:gd name="connsiteX1528" fmla="*/ 2327818 w 4694357"/>
              <a:gd name="connsiteY1528" fmla="*/ 238591 h 4717133"/>
              <a:gd name="connsiteX1529" fmla="*/ 2348318 w 4694357"/>
              <a:gd name="connsiteY1529" fmla="*/ 217522 h 4717133"/>
              <a:gd name="connsiteX1530" fmla="*/ 1376875 w 4694357"/>
              <a:gd name="connsiteY1530" fmla="*/ 214105 h 4717133"/>
              <a:gd name="connsiteX1531" fmla="*/ 1395097 w 4694357"/>
              <a:gd name="connsiteY1531" fmla="*/ 232897 h 4717133"/>
              <a:gd name="connsiteX1532" fmla="*/ 1376875 w 4694357"/>
              <a:gd name="connsiteY1532" fmla="*/ 251689 h 4717133"/>
              <a:gd name="connsiteX1533" fmla="*/ 1358653 w 4694357"/>
              <a:gd name="connsiteY1533" fmla="*/ 232897 h 4717133"/>
              <a:gd name="connsiteX1534" fmla="*/ 1376875 w 4694357"/>
              <a:gd name="connsiteY1534" fmla="*/ 214105 h 4717133"/>
              <a:gd name="connsiteX1535" fmla="*/ 3319760 w 4694357"/>
              <a:gd name="connsiteY1535" fmla="*/ 209549 h 4717133"/>
              <a:gd name="connsiteX1536" fmla="*/ 3342537 w 4694357"/>
              <a:gd name="connsiteY1536" fmla="*/ 232326 h 4717133"/>
              <a:gd name="connsiteX1537" fmla="*/ 3319760 w 4694357"/>
              <a:gd name="connsiteY1537" fmla="*/ 255103 h 4717133"/>
              <a:gd name="connsiteX1538" fmla="*/ 3296983 w 4694357"/>
              <a:gd name="connsiteY1538" fmla="*/ 232326 h 4717133"/>
              <a:gd name="connsiteX1539" fmla="*/ 3319760 w 4694357"/>
              <a:gd name="connsiteY1539" fmla="*/ 209549 h 4717133"/>
              <a:gd name="connsiteX1540" fmla="*/ 3006575 w 4694357"/>
              <a:gd name="connsiteY1540" fmla="*/ 200438 h 4717133"/>
              <a:gd name="connsiteX1541" fmla="*/ 3032769 w 4694357"/>
              <a:gd name="connsiteY1541" fmla="*/ 226632 h 4717133"/>
              <a:gd name="connsiteX1542" fmla="*/ 3006575 w 4694357"/>
              <a:gd name="connsiteY1542" fmla="*/ 252826 h 4717133"/>
              <a:gd name="connsiteX1543" fmla="*/ 2980381 w 4694357"/>
              <a:gd name="connsiteY1543" fmla="*/ 226632 h 4717133"/>
              <a:gd name="connsiteX1544" fmla="*/ 3006575 w 4694357"/>
              <a:gd name="connsiteY1544" fmla="*/ 200438 h 4717133"/>
              <a:gd name="connsiteX1545" fmla="*/ 1690629 w 4694357"/>
              <a:gd name="connsiteY1545" fmla="*/ 200438 h 4717133"/>
              <a:gd name="connsiteX1546" fmla="*/ 1717392 w 4694357"/>
              <a:gd name="connsiteY1546" fmla="*/ 227201 h 4717133"/>
              <a:gd name="connsiteX1547" fmla="*/ 1690629 w 4694357"/>
              <a:gd name="connsiteY1547" fmla="*/ 253964 h 4717133"/>
              <a:gd name="connsiteX1548" fmla="*/ 1663866 w 4694357"/>
              <a:gd name="connsiteY1548" fmla="*/ 227201 h 4717133"/>
              <a:gd name="connsiteX1549" fmla="*/ 1690629 w 4694357"/>
              <a:gd name="connsiteY1549" fmla="*/ 200438 h 4717133"/>
              <a:gd name="connsiteX1550" fmla="*/ 2845427 w 4694357"/>
              <a:gd name="connsiteY1550" fmla="*/ 157162 h 4717133"/>
              <a:gd name="connsiteX1551" fmla="*/ 2871052 w 4694357"/>
              <a:gd name="connsiteY1551" fmla="*/ 183356 h 4717133"/>
              <a:gd name="connsiteX1552" fmla="*/ 2845427 w 4694357"/>
              <a:gd name="connsiteY1552" fmla="*/ 209550 h 4717133"/>
              <a:gd name="connsiteX1553" fmla="*/ 2819802 w 4694357"/>
              <a:gd name="connsiteY1553" fmla="*/ 183356 h 4717133"/>
              <a:gd name="connsiteX1554" fmla="*/ 2845427 w 4694357"/>
              <a:gd name="connsiteY1554" fmla="*/ 157162 h 4717133"/>
              <a:gd name="connsiteX1555" fmla="*/ 1851207 w 4694357"/>
              <a:gd name="connsiteY1555" fmla="*/ 157162 h 4717133"/>
              <a:gd name="connsiteX1556" fmla="*/ 1877970 w 4694357"/>
              <a:gd name="connsiteY1556" fmla="*/ 183925 h 4717133"/>
              <a:gd name="connsiteX1557" fmla="*/ 1851207 w 4694357"/>
              <a:gd name="connsiteY1557" fmla="*/ 210688 h 4717133"/>
              <a:gd name="connsiteX1558" fmla="*/ 1824444 w 4694357"/>
              <a:gd name="connsiteY1558" fmla="*/ 183925 h 4717133"/>
              <a:gd name="connsiteX1559" fmla="*/ 1851207 w 4694357"/>
              <a:gd name="connsiteY1559" fmla="*/ 157162 h 4717133"/>
              <a:gd name="connsiteX1560" fmla="*/ 1530621 w 4694357"/>
              <a:gd name="connsiteY1560" fmla="*/ 150329 h 4717133"/>
              <a:gd name="connsiteX1561" fmla="*/ 1549982 w 4694357"/>
              <a:gd name="connsiteY1561" fmla="*/ 169121 h 4717133"/>
              <a:gd name="connsiteX1562" fmla="*/ 1530621 w 4694357"/>
              <a:gd name="connsiteY1562" fmla="*/ 187913 h 4717133"/>
              <a:gd name="connsiteX1563" fmla="*/ 1511260 w 4694357"/>
              <a:gd name="connsiteY1563" fmla="*/ 169121 h 4717133"/>
              <a:gd name="connsiteX1564" fmla="*/ 1530621 w 4694357"/>
              <a:gd name="connsiteY1564" fmla="*/ 150329 h 4717133"/>
              <a:gd name="connsiteX1565" fmla="*/ 3166014 w 4694357"/>
              <a:gd name="connsiteY1565" fmla="*/ 145773 h 4717133"/>
              <a:gd name="connsiteX1566" fmla="*/ 3188791 w 4694357"/>
              <a:gd name="connsiteY1566" fmla="*/ 168550 h 4717133"/>
              <a:gd name="connsiteX1567" fmla="*/ 3166014 w 4694357"/>
              <a:gd name="connsiteY1567" fmla="*/ 191327 h 4717133"/>
              <a:gd name="connsiteX1568" fmla="*/ 3143237 w 4694357"/>
              <a:gd name="connsiteY1568" fmla="*/ 168550 h 4717133"/>
              <a:gd name="connsiteX1569" fmla="*/ 3166014 w 4694357"/>
              <a:gd name="connsiteY1569" fmla="*/ 145773 h 4717133"/>
              <a:gd name="connsiteX1570" fmla="*/ 2681433 w 4694357"/>
              <a:gd name="connsiteY1570" fmla="*/ 126413 h 4717133"/>
              <a:gd name="connsiteX1571" fmla="*/ 2707058 w 4694357"/>
              <a:gd name="connsiteY1571" fmla="*/ 152607 h 4717133"/>
              <a:gd name="connsiteX1572" fmla="*/ 2681433 w 4694357"/>
              <a:gd name="connsiteY1572" fmla="*/ 178801 h 4717133"/>
              <a:gd name="connsiteX1573" fmla="*/ 2655808 w 4694357"/>
              <a:gd name="connsiteY1573" fmla="*/ 152607 h 4717133"/>
              <a:gd name="connsiteX1574" fmla="*/ 2681433 w 4694357"/>
              <a:gd name="connsiteY1574" fmla="*/ 126413 h 4717133"/>
              <a:gd name="connsiteX1575" fmla="*/ 2015202 w 4694357"/>
              <a:gd name="connsiteY1575" fmla="*/ 126413 h 4717133"/>
              <a:gd name="connsiteX1576" fmla="*/ 2041965 w 4694357"/>
              <a:gd name="connsiteY1576" fmla="*/ 152607 h 4717133"/>
              <a:gd name="connsiteX1577" fmla="*/ 2015202 w 4694357"/>
              <a:gd name="connsiteY1577" fmla="*/ 178801 h 4717133"/>
              <a:gd name="connsiteX1578" fmla="*/ 1988439 w 4694357"/>
              <a:gd name="connsiteY1578" fmla="*/ 152607 h 4717133"/>
              <a:gd name="connsiteX1579" fmla="*/ 2015202 w 4694357"/>
              <a:gd name="connsiteY1579" fmla="*/ 126413 h 4717133"/>
              <a:gd name="connsiteX1580" fmla="*/ 2515159 w 4694357"/>
              <a:gd name="connsiteY1580" fmla="*/ 108192 h 4717133"/>
              <a:gd name="connsiteX1581" fmla="*/ 2541922 w 4694357"/>
              <a:gd name="connsiteY1581" fmla="*/ 133817 h 4717133"/>
              <a:gd name="connsiteX1582" fmla="*/ 2515159 w 4694357"/>
              <a:gd name="connsiteY1582" fmla="*/ 159442 h 4717133"/>
              <a:gd name="connsiteX1583" fmla="*/ 2488396 w 4694357"/>
              <a:gd name="connsiteY1583" fmla="*/ 133817 h 4717133"/>
              <a:gd name="connsiteX1584" fmla="*/ 2515159 w 4694357"/>
              <a:gd name="connsiteY1584" fmla="*/ 108192 h 4717133"/>
              <a:gd name="connsiteX1585" fmla="*/ 2181475 w 4694357"/>
              <a:gd name="connsiteY1585" fmla="*/ 107052 h 4717133"/>
              <a:gd name="connsiteX1586" fmla="*/ 2208238 w 4694357"/>
              <a:gd name="connsiteY1586" fmla="*/ 133815 h 4717133"/>
              <a:gd name="connsiteX1587" fmla="*/ 2181475 w 4694357"/>
              <a:gd name="connsiteY1587" fmla="*/ 160578 h 4717133"/>
              <a:gd name="connsiteX1588" fmla="*/ 2154712 w 4694357"/>
              <a:gd name="connsiteY1588" fmla="*/ 133815 h 4717133"/>
              <a:gd name="connsiteX1589" fmla="*/ 2181475 w 4694357"/>
              <a:gd name="connsiteY1589" fmla="*/ 107052 h 4717133"/>
              <a:gd name="connsiteX1590" fmla="*/ 2348318 w 4694357"/>
              <a:gd name="connsiteY1590" fmla="*/ 101358 h 4717133"/>
              <a:gd name="connsiteX1591" fmla="*/ 2374512 w 4694357"/>
              <a:gd name="connsiteY1591" fmla="*/ 127552 h 4717133"/>
              <a:gd name="connsiteX1592" fmla="*/ 2348318 w 4694357"/>
              <a:gd name="connsiteY1592" fmla="*/ 153746 h 4717133"/>
              <a:gd name="connsiteX1593" fmla="*/ 2322124 w 4694357"/>
              <a:gd name="connsiteY1593" fmla="*/ 127552 h 4717133"/>
              <a:gd name="connsiteX1594" fmla="*/ 2348318 w 4694357"/>
              <a:gd name="connsiteY1594" fmla="*/ 101358 h 4717133"/>
              <a:gd name="connsiteX1595" fmla="*/ 1688921 w 4694357"/>
              <a:gd name="connsiteY1595" fmla="*/ 96803 h 4717133"/>
              <a:gd name="connsiteX1596" fmla="*/ 1708282 w 4694357"/>
              <a:gd name="connsiteY1596" fmla="*/ 116164 h 4717133"/>
              <a:gd name="connsiteX1597" fmla="*/ 1688921 w 4694357"/>
              <a:gd name="connsiteY1597" fmla="*/ 135525 h 4717133"/>
              <a:gd name="connsiteX1598" fmla="*/ 1669560 w 4694357"/>
              <a:gd name="connsiteY1598" fmla="*/ 116164 h 4717133"/>
              <a:gd name="connsiteX1599" fmla="*/ 1688921 w 4694357"/>
              <a:gd name="connsiteY1599" fmla="*/ 96803 h 4717133"/>
              <a:gd name="connsiteX1600" fmla="*/ 3007714 w 4694357"/>
              <a:gd name="connsiteY1600" fmla="*/ 93386 h 4717133"/>
              <a:gd name="connsiteX1601" fmla="*/ 3030491 w 4694357"/>
              <a:gd name="connsiteY1601" fmla="*/ 115594 h 4717133"/>
              <a:gd name="connsiteX1602" fmla="*/ 3007714 w 4694357"/>
              <a:gd name="connsiteY1602" fmla="*/ 137802 h 4717133"/>
              <a:gd name="connsiteX1603" fmla="*/ 2984937 w 4694357"/>
              <a:gd name="connsiteY1603" fmla="*/ 115594 h 4717133"/>
              <a:gd name="connsiteX1604" fmla="*/ 3007714 w 4694357"/>
              <a:gd name="connsiteY1604" fmla="*/ 93386 h 4717133"/>
              <a:gd name="connsiteX1605" fmla="*/ 1850638 w 4694357"/>
              <a:gd name="connsiteY1605" fmla="*/ 54665 h 4717133"/>
              <a:gd name="connsiteX1606" fmla="*/ 1869999 w 4694357"/>
              <a:gd name="connsiteY1606" fmla="*/ 74595 h 4717133"/>
              <a:gd name="connsiteX1607" fmla="*/ 1850638 w 4694357"/>
              <a:gd name="connsiteY1607" fmla="*/ 94525 h 4717133"/>
              <a:gd name="connsiteX1608" fmla="*/ 1831277 w 4694357"/>
              <a:gd name="connsiteY1608" fmla="*/ 74595 h 4717133"/>
              <a:gd name="connsiteX1609" fmla="*/ 1850638 w 4694357"/>
              <a:gd name="connsiteY1609" fmla="*/ 54665 h 4717133"/>
              <a:gd name="connsiteX1610" fmla="*/ 2845427 w 4694357"/>
              <a:gd name="connsiteY1610" fmla="*/ 52387 h 4717133"/>
              <a:gd name="connsiteX1611" fmla="*/ 2867635 w 4694357"/>
              <a:gd name="connsiteY1611" fmla="*/ 74595 h 4717133"/>
              <a:gd name="connsiteX1612" fmla="*/ 2845427 w 4694357"/>
              <a:gd name="connsiteY1612" fmla="*/ 96803 h 4717133"/>
              <a:gd name="connsiteX1613" fmla="*/ 2823219 w 4694357"/>
              <a:gd name="connsiteY1613" fmla="*/ 74595 h 4717133"/>
              <a:gd name="connsiteX1614" fmla="*/ 2845427 w 4694357"/>
              <a:gd name="connsiteY1614" fmla="*/ 52387 h 4717133"/>
              <a:gd name="connsiteX1615" fmla="*/ 2015202 w 4694357"/>
              <a:gd name="connsiteY1615" fmla="*/ 25055 h 4717133"/>
              <a:gd name="connsiteX1616" fmla="*/ 2035132 w 4694357"/>
              <a:gd name="connsiteY1616" fmla="*/ 44985 h 4717133"/>
              <a:gd name="connsiteX1617" fmla="*/ 2015202 w 4694357"/>
              <a:gd name="connsiteY1617" fmla="*/ 64915 h 4717133"/>
              <a:gd name="connsiteX1618" fmla="*/ 1995272 w 4694357"/>
              <a:gd name="connsiteY1618" fmla="*/ 44985 h 4717133"/>
              <a:gd name="connsiteX1619" fmla="*/ 2015202 w 4694357"/>
              <a:gd name="connsiteY1619" fmla="*/ 25055 h 4717133"/>
              <a:gd name="connsiteX1620" fmla="*/ 2680862 w 4694357"/>
              <a:gd name="connsiteY1620" fmla="*/ 22777 h 4717133"/>
              <a:gd name="connsiteX1621" fmla="*/ 2702500 w 4694357"/>
              <a:gd name="connsiteY1621" fmla="*/ 44985 h 4717133"/>
              <a:gd name="connsiteX1622" fmla="*/ 2680862 w 4694357"/>
              <a:gd name="connsiteY1622" fmla="*/ 67193 h 4717133"/>
              <a:gd name="connsiteX1623" fmla="*/ 2659224 w 4694357"/>
              <a:gd name="connsiteY1623" fmla="*/ 44985 h 4717133"/>
              <a:gd name="connsiteX1624" fmla="*/ 2680862 w 4694357"/>
              <a:gd name="connsiteY1624" fmla="*/ 22777 h 4717133"/>
              <a:gd name="connsiteX1625" fmla="*/ 2181475 w 4694357"/>
              <a:gd name="connsiteY1625" fmla="*/ 6833 h 4717133"/>
              <a:gd name="connsiteX1626" fmla="*/ 2202544 w 4694357"/>
              <a:gd name="connsiteY1626" fmla="*/ 27333 h 4717133"/>
              <a:gd name="connsiteX1627" fmla="*/ 2181475 w 4694357"/>
              <a:gd name="connsiteY1627" fmla="*/ 47833 h 4717133"/>
              <a:gd name="connsiteX1628" fmla="*/ 2160406 w 4694357"/>
              <a:gd name="connsiteY1628" fmla="*/ 27333 h 4717133"/>
              <a:gd name="connsiteX1629" fmla="*/ 2181475 w 4694357"/>
              <a:gd name="connsiteY1629" fmla="*/ 6833 h 4717133"/>
              <a:gd name="connsiteX1630" fmla="*/ 2515159 w 4694357"/>
              <a:gd name="connsiteY1630" fmla="*/ 5695 h 4717133"/>
              <a:gd name="connsiteX1631" fmla="*/ 2536228 w 4694357"/>
              <a:gd name="connsiteY1631" fmla="*/ 27333 h 4717133"/>
              <a:gd name="connsiteX1632" fmla="*/ 2515159 w 4694357"/>
              <a:gd name="connsiteY1632" fmla="*/ 48971 h 4717133"/>
              <a:gd name="connsiteX1633" fmla="*/ 2494090 w 4694357"/>
              <a:gd name="connsiteY1633" fmla="*/ 27333 h 4717133"/>
              <a:gd name="connsiteX1634" fmla="*/ 2515159 w 4694357"/>
              <a:gd name="connsiteY1634" fmla="*/ 5695 h 4717133"/>
              <a:gd name="connsiteX1635" fmla="*/ 2347748 w 4694357"/>
              <a:gd name="connsiteY1635" fmla="*/ 0 h 4717133"/>
              <a:gd name="connsiteX1636" fmla="*/ 2368817 w 4694357"/>
              <a:gd name="connsiteY1636" fmla="*/ 21069 h 4717133"/>
              <a:gd name="connsiteX1637" fmla="*/ 2347748 w 4694357"/>
              <a:gd name="connsiteY1637" fmla="*/ 42138 h 4717133"/>
              <a:gd name="connsiteX1638" fmla="*/ 2326679 w 4694357"/>
              <a:gd name="connsiteY1638" fmla="*/ 21069 h 4717133"/>
              <a:gd name="connsiteX1639" fmla="*/ 2347748 w 4694357"/>
              <a:gd name="connsiteY1639" fmla="*/ 0 h 4717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Lst>
            <a:rect l="l" t="t" r="r" b="b"/>
            <a:pathLst>
              <a:path w="1922" h="1931">
                <a:moveTo>
                  <a:pt x="962" y="1915"/>
                </a:moveTo>
                <a:lnTo>
                  <a:pt x="964" y="1915"/>
                </a:lnTo>
                <a:lnTo>
                  <a:pt x="965" y="1916"/>
                </a:lnTo>
                <a:lnTo>
                  <a:pt x="967" y="1916"/>
                </a:lnTo>
                <a:lnTo>
                  <a:pt x="968" y="1918"/>
                </a:lnTo>
                <a:lnTo>
                  <a:pt x="969" y="1919"/>
                </a:lnTo>
                <a:lnTo>
                  <a:pt x="970" y="1921"/>
                </a:lnTo>
                <a:lnTo>
                  <a:pt x="970" y="1923"/>
                </a:lnTo>
                <a:lnTo>
                  <a:pt x="970" y="1925"/>
                </a:lnTo>
                <a:lnTo>
                  <a:pt x="969" y="1926"/>
                </a:lnTo>
                <a:lnTo>
                  <a:pt x="968" y="1928"/>
                </a:lnTo>
                <a:lnTo>
                  <a:pt x="967" y="1929"/>
                </a:lnTo>
                <a:lnTo>
                  <a:pt x="965" y="1930"/>
                </a:lnTo>
                <a:lnTo>
                  <a:pt x="964" y="1931"/>
                </a:lnTo>
                <a:lnTo>
                  <a:pt x="962" y="1931"/>
                </a:lnTo>
                <a:lnTo>
                  <a:pt x="960" y="1931"/>
                </a:lnTo>
                <a:lnTo>
                  <a:pt x="958" y="1930"/>
                </a:lnTo>
                <a:lnTo>
                  <a:pt x="957" y="1929"/>
                </a:lnTo>
                <a:lnTo>
                  <a:pt x="955" y="1928"/>
                </a:lnTo>
                <a:lnTo>
                  <a:pt x="954" y="1926"/>
                </a:lnTo>
                <a:lnTo>
                  <a:pt x="954" y="1925"/>
                </a:lnTo>
                <a:lnTo>
                  <a:pt x="954" y="1923"/>
                </a:lnTo>
                <a:lnTo>
                  <a:pt x="954" y="1921"/>
                </a:lnTo>
                <a:lnTo>
                  <a:pt x="954" y="1919"/>
                </a:lnTo>
                <a:lnTo>
                  <a:pt x="955" y="1918"/>
                </a:lnTo>
                <a:lnTo>
                  <a:pt x="957" y="1916"/>
                </a:lnTo>
                <a:lnTo>
                  <a:pt x="958" y="1916"/>
                </a:lnTo>
                <a:lnTo>
                  <a:pt x="960" y="1915"/>
                </a:lnTo>
                <a:lnTo>
                  <a:pt x="962" y="1915"/>
                </a:lnTo>
                <a:close/>
                <a:moveTo>
                  <a:pt x="893" y="1913"/>
                </a:moveTo>
                <a:lnTo>
                  <a:pt x="895" y="1913"/>
                </a:lnTo>
                <a:lnTo>
                  <a:pt x="897" y="1914"/>
                </a:lnTo>
                <a:lnTo>
                  <a:pt x="898" y="1915"/>
                </a:lnTo>
                <a:lnTo>
                  <a:pt x="900" y="1916"/>
                </a:lnTo>
                <a:lnTo>
                  <a:pt x="901" y="1917"/>
                </a:lnTo>
                <a:lnTo>
                  <a:pt x="901" y="1919"/>
                </a:lnTo>
                <a:lnTo>
                  <a:pt x="901" y="1921"/>
                </a:lnTo>
                <a:lnTo>
                  <a:pt x="901" y="1922"/>
                </a:lnTo>
                <a:lnTo>
                  <a:pt x="901" y="1924"/>
                </a:lnTo>
                <a:lnTo>
                  <a:pt x="900" y="1925"/>
                </a:lnTo>
                <a:lnTo>
                  <a:pt x="898" y="1927"/>
                </a:lnTo>
                <a:lnTo>
                  <a:pt x="897" y="1927"/>
                </a:lnTo>
                <a:lnTo>
                  <a:pt x="895" y="1928"/>
                </a:lnTo>
                <a:lnTo>
                  <a:pt x="893" y="1928"/>
                </a:lnTo>
                <a:lnTo>
                  <a:pt x="892" y="1928"/>
                </a:lnTo>
                <a:lnTo>
                  <a:pt x="890" y="1927"/>
                </a:lnTo>
                <a:lnTo>
                  <a:pt x="888" y="1927"/>
                </a:lnTo>
                <a:lnTo>
                  <a:pt x="887" y="1925"/>
                </a:lnTo>
                <a:lnTo>
                  <a:pt x="886" y="1924"/>
                </a:lnTo>
                <a:lnTo>
                  <a:pt x="886" y="1922"/>
                </a:lnTo>
                <a:lnTo>
                  <a:pt x="885" y="1921"/>
                </a:lnTo>
                <a:lnTo>
                  <a:pt x="886" y="1919"/>
                </a:lnTo>
                <a:lnTo>
                  <a:pt x="886" y="1917"/>
                </a:lnTo>
                <a:lnTo>
                  <a:pt x="887" y="1916"/>
                </a:lnTo>
                <a:lnTo>
                  <a:pt x="888" y="1915"/>
                </a:lnTo>
                <a:lnTo>
                  <a:pt x="890" y="1914"/>
                </a:lnTo>
                <a:lnTo>
                  <a:pt x="892" y="1913"/>
                </a:lnTo>
                <a:lnTo>
                  <a:pt x="893" y="1913"/>
                </a:lnTo>
                <a:close/>
                <a:moveTo>
                  <a:pt x="1031" y="1912"/>
                </a:moveTo>
                <a:lnTo>
                  <a:pt x="1032" y="1913"/>
                </a:lnTo>
                <a:lnTo>
                  <a:pt x="1034" y="1913"/>
                </a:lnTo>
                <a:lnTo>
                  <a:pt x="1036" y="1914"/>
                </a:lnTo>
                <a:lnTo>
                  <a:pt x="1037" y="1915"/>
                </a:lnTo>
                <a:lnTo>
                  <a:pt x="1038" y="1917"/>
                </a:lnTo>
                <a:lnTo>
                  <a:pt x="1038" y="1918"/>
                </a:lnTo>
                <a:lnTo>
                  <a:pt x="1038" y="1920"/>
                </a:lnTo>
                <a:lnTo>
                  <a:pt x="1038" y="1922"/>
                </a:lnTo>
                <a:lnTo>
                  <a:pt x="1038" y="1924"/>
                </a:lnTo>
                <a:lnTo>
                  <a:pt x="1037" y="1925"/>
                </a:lnTo>
                <a:lnTo>
                  <a:pt x="1036" y="1926"/>
                </a:lnTo>
                <a:lnTo>
                  <a:pt x="1034" y="1927"/>
                </a:lnTo>
                <a:lnTo>
                  <a:pt x="1032" y="1928"/>
                </a:lnTo>
                <a:lnTo>
                  <a:pt x="1031" y="1928"/>
                </a:lnTo>
                <a:lnTo>
                  <a:pt x="1029" y="1928"/>
                </a:lnTo>
                <a:lnTo>
                  <a:pt x="1027" y="1927"/>
                </a:lnTo>
                <a:lnTo>
                  <a:pt x="1026" y="1926"/>
                </a:lnTo>
                <a:lnTo>
                  <a:pt x="1025" y="1925"/>
                </a:lnTo>
                <a:lnTo>
                  <a:pt x="1024" y="1924"/>
                </a:lnTo>
                <a:lnTo>
                  <a:pt x="1023" y="1922"/>
                </a:lnTo>
                <a:lnTo>
                  <a:pt x="1023" y="1920"/>
                </a:lnTo>
                <a:lnTo>
                  <a:pt x="1023" y="1918"/>
                </a:lnTo>
                <a:lnTo>
                  <a:pt x="1024" y="1917"/>
                </a:lnTo>
                <a:lnTo>
                  <a:pt x="1025" y="1915"/>
                </a:lnTo>
                <a:lnTo>
                  <a:pt x="1026" y="1914"/>
                </a:lnTo>
                <a:lnTo>
                  <a:pt x="1027" y="1913"/>
                </a:lnTo>
                <a:lnTo>
                  <a:pt x="1029" y="1913"/>
                </a:lnTo>
                <a:lnTo>
                  <a:pt x="1031" y="1912"/>
                </a:lnTo>
                <a:close/>
                <a:moveTo>
                  <a:pt x="825" y="1906"/>
                </a:moveTo>
                <a:lnTo>
                  <a:pt x="827" y="1906"/>
                </a:lnTo>
                <a:lnTo>
                  <a:pt x="829" y="1907"/>
                </a:lnTo>
                <a:lnTo>
                  <a:pt x="831" y="1908"/>
                </a:lnTo>
                <a:lnTo>
                  <a:pt x="832" y="1910"/>
                </a:lnTo>
                <a:lnTo>
                  <a:pt x="833" y="1911"/>
                </a:lnTo>
                <a:lnTo>
                  <a:pt x="833" y="1913"/>
                </a:lnTo>
                <a:lnTo>
                  <a:pt x="833" y="1915"/>
                </a:lnTo>
                <a:lnTo>
                  <a:pt x="832" y="1917"/>
                </a:lnTo>
                <a:lnTo>
                  <a:pt x="831" y="1919"/>
                </a:lnTo>
                <a:lnTo>
                  <a:pt x="829" y="1920"/>
                </a:lnTo>
                <a:lnTo>
                  <a:pt x="827" y="1920"/>
                </a:lnTo>
                <a:lnTo>
                  <a:pt x="825" y="1921"/>
                </a:lnTo>
                <a:lnTo>
                  <a:pt x="823" y="1920"/>
                </a:lnTo>
                <a:lnTo>
                  <a:pt x="822" y="1920"/>
                </a:lnTo>
                <a:lnTo>
                  <a:pt x="820" y="1919"/>
                </a:lnTo>
                <a:lnTo>
                  <a:pt x="819" y="1917"/>
                </a:lnTo>
                <a:lnTo>
                  <a:pt x="818" y="1915"/>
                </a:lnTo>
                <a:lnTo>
                  <a:pt x="818" y="1913"/>
                </a:lnTo>
                <a:lnTo>
                  <a:pt x="818" y="1911"/>
                </a:lnTo>
                <a:lnTo>
                  <a:pt x="819" y="1910"/>
                </a:lnTo>
                <a:lnTo>
                  <a:pt x="820" y="1908"/>
                </a:lnTo>
                <a:lnTo>
                  <a:pt x="822" y="1907"/>
                </a:lnTo>
                <a:lnTo>
                  <a:pt x="823" y="1906"/>
                </a:lnTo>
                <a:lnTo>
                  <a:pt x="825" y="1906"/>
                </a:lnTo>
                <a:close/>
                <a:moveTo>
                  <a:pt x="1099" y="1905"/>
                </a:moveTo>
                <a:lnTo>
                  <a:pt x="1101" y="1906"/>
                </a:lnTo>
                <a:lnTo>
                  <a:pt x="1102" y="1906"/>
                </a:lnTo>
                <a:lnTo>
                  <a:pt x="1104" y="1907"/>
                </a:lnTo>
                <a:lnTo>
                  <a:pt x="1105" y="1908"/>
                </a:lnTo>
                <a:lnTo>
                  <a:pt x="1106" y="1910"/>
                </a:lnTo>
                <a:lnTo>
                  <a:pt x="1106" y="1911"/>
                </a:lnTo>
                <a:lnTo>
                  <a:pt x="1106" y="1913"/>
                </a:lnTo>
                <a:lnTo>
                  <a:pt x="1106" y="1915"/>
                </a:lnTo>
                <a:lnTo>
                  <a:pt x="1106" y="1916"/>
                </a:lnTo>
                <a:lnTo>
                  <a:pt x="1105" y="1918"/>
                </a:lnTo>
                <a:lnTo>
                  <a:pt x="1104" y="1919"/>
                </a:lnTo>
                <a:lnTo>
                  <a:pt x="1102" y="1920"/>
                </a:lnTo>
                <a:lnTo>
                  <a:pt x="1101" y="1921"/>
                </a:lnTo>
                <a:lnTo>
                  <a:pt x="1099" y="1921"/>
                </a:lnTo>
                <a:lnTo>
                  <a:pt x="1097" y="1921"/>
                </a:lnTo>
                <a:lnTo>
                  <a:pt x="1095" y="1920"/>
                </a:lnTo>
                <a:lnTo>
                  <a:pt x="1094" y="1919"/>
                </a:lnTo>
                <a:lnTo>
                  <a:pt x="1093" y="1918"/>
                </a:lnTo>
                <a:lnTo>
                  <a:pt x="1092" y="1916"/>
                </a:lnTo>
                <a:lnTo>
                  <a:pt x="1091" y="1915"/>
                </a:lnTo>
                <a:lnTo>
                  <a:pt x="1091" y="1913"/>
                </a:lnTo>
                <a:lnTo>
                  <a:pt x="1091" y="1911"/>
                </a:lnTo>
                <a:lnTo>
                  <a:pt x="1092" y="1910"/>
                </a:lnTo>
                <a:lnTo>
                  <a:pt x="1093" y="1908"/>
                </a:lnTo>
                <a:lnTo>
                  <a:pt x="1094" y="1907"/>
                </a:lnTo>
                <a:lnTo>
                  <a:pt x="1095" y="1906"/>
                </a:lnTo>
                <a:lnTo>
                  <a:pt x="1097" y="1906"/>
                </a:lnTo>
                <a:lnTo>
                  <a:pt x="1099" y="1905"/>
                </a:lnTo>
                <a:close/>
                <a:moveTo>
                  <a:pt x="758" y="1894"/>
                </a:moveTo>
                <a:lnTo>
                  <a:pt x="760" y="1894"/>
                </a:lnTo>
                <a:lnTo>
                  <a:pt x="762" y="1895"/>
                </a:lnTo>
                <a:lnTo>
                  <a:pt x="763" y="1896"/>
                </a:lnTo>
                <a:lnTo>
                  <a:pt x="764" y="1898"/>
                </a:lnTo>
                <a:lnTo>
                  <a:pt x="765" y="1899"/>
                </a:lnTo>
                <a:lnTo>
                  <a:pt x="765" y="1901"/>
                </a:lnTo>
                <a:lnTo>
                  <a:pt x="765" y="1903"/>
                </a:lnTo>
                <a:lnTo>
                  <a:pt x="764" y="1905"/>
                </a:lnTo>
                <a:lnTo>
                  <a:pt x="763" y="1906"/>
                </a:lnTo>
                <a:lnTo>
                  <a:pt x="762" y="1907"/>
                </a:lnTo>
                <a:lnTo>
                  <a:pt x="760" y="1908"/>
                </a:lnTo>
                <a:lnTo>
                  <a:pt x="758" y="1908"/>
                </a:lnTo>
                <a:lnTo>
                  <a:pt x="756" y="1908"/>
                </a:lnTo>
                <a:lnTo>
                  <a:pt x="755" y="1907"/>
                </a:lnTo>
                <a:lnTo>
                  <a:pt x="753" y="1906"/>
                </a:lnTo>
                <a:lnTo>
                  <a:pt x="752" y="1905"/>
                </a:lnTo>
                <a:lnTo>
                  <a:pt x="751" y="1903"/>
                </a:lnTo>
                <a:lnTo>
                  <a:pt x="751" y="1901"/>
                </a:lnTo>
                <a:lnTo>
                  <a:pt x="751" y="1899"/>
                </a:lnTo>
                <a:lnTo>
                  <a:pt x="752" y="1898"/>
                </a:lnTo>
                <a:lnTo>
                  <a:pt x="753" y="1896"/>
                </a:lnTo>
                <a:lnTo>
                  <a:pt x="755" y="1895"/>
                </a:lnTo>
                <a:lnTo>
                  <a:pt x="756" y="1894"/>
                </a:lnTo>
                <a:lnTo>
                  <a:pt x="758" y="1894"/>
                </a:lnTo>
                <a:close/>
                <a:moveTo>
                  <a:pt x="1166" y="1893"/>
                </a:moveTo>
                <a:lnTo>
                  <a:pt x="1168" y="1893"/>
                </a:lnTo>
                <a:lnTo>
                  <a:pt x="1169" y="1894"/>
                </a:lnTo>
                <a:lnTo>
                  <a:pt x="1171" y="1895"/>
                </a:lnTo>
                <a:lnTo>
                  <a:pt x="1172" y="1896"/>
                </a:lnTo>
                <a:lnTo>
                  <a:pt x="1173" y="1898"/>
                </a:lnTo>
                <a:lnTo>
                  <a:pt x="1173" y="1899"/>
                </a:lnTo>
                <a:lnTo>
                  <a:pt x="1174" y="1901"/>
                </a:lnTo>
                <a:lnTo>
                  <a:pt x="1173" y="1903"/>
                </a:lnTo>
                <a:lnTo>
                  <a:pt x="1173" y="1904"/>
                </a:lnTo>
                <a:lnTo>
                  <a:pt x="1172" y="1906"/>
                </a:lnTo>
                <a:lnTo>
                  <a:pt x="1171" y="1907"/>
                </a:lnTo>
                <a:lnTo>
                  <a:pt x="1169" y="1908"/>
                </a:lnTo>
                <a:lnTo>
                  <a:pt x="1168" y="1908"/>
                </a:lnTo>
                <a:lnTo>
                  <a:pt x="1166" y="1909"/>
                </a:lnTo>
                <a:lnTo>
                  <a:pt x="1164" y="1908"/>
                </a:lnTo>
                <a:lnTo>
                  <a:pt x="1163" y="1908"/>
                </a:lnTo>
                <a:lnTo>
                  <a:pt x="1161" y="1907"/>
                </a:lnTo>
                <a:lnTo>
                  <a:pt x="1160" y="1906"/>
                </a:lnTo>
                <a:lnTo>
                  <a:pt x="1159" y="1904"/>
                </a:lnTo>
                <a:lnTo>
                  <a:pt x="1158" y="1903"/>
                </a:lnTo>
                <a:lnTo>
                  <a:pt x="1158" y="1901"/>
                </a:lnTo>
                <a:lnTo>
                  <a:pt x="1158" y="1899"/>
                </a:lnTo>
                <a:lnTo>
                  <a:pt x="1159" y="1898"/>
                </a:lnTo>
                <a:lnTo>
                  <a:pt x="1160" y="1896"/>
                </a:lnTo>
                <a:lnTo>
                  <a:pt x="1161" y="1895"/>
                </a:lnTo>
                <a:lnTo>
                  <a:pt x="1163" y="1894"/>
                </a:lnTo>
                <a:lnTo>
                  <a:pt x="1164" y="1893"/>
                </a:lnTo>
                <a:lnTo>
                  <a:pt x="1166" y="1893"/>
                </a:lnTo>
                <a:close/>
                <a:moveTo>
                  <a:pt x="692" y="1878"/>
                </a:moveTo>
                <a:lnTo>
                  <a:pt x="694" y="1878"/>
                </a:lnTo>
                <a:lnTo>
                  <a:pt x="695" y="1879"/>
                </a:lnTo>
                <a:lnTo>
                  <a:pt x="697" y="1880"/>
                </a:lnTo>
                <a:lnTo>
                  <a:pt x="698" y="1882"/>
                </a:lnTo>
                <a:lnTo>
                  <a:pt x="698" y="1884"/>
                </a:lnTo>
                <a:lnTo>
                  <a:pt x="698" y="1886"/>
                </a:lnTo>
                <a:lnTo>
                  <a:pt x="697" y="1888"/>
                </a:lnTo>
                <a:lnTo>
                  <a:pt x="695" y="1889"/>
                </a:lnTo>
                <a:lnTo>
                  <a:pt x="694" y="1890"/>
                </a:lnTo>
                <a:lnTo>
                  <a:pt x="692" y="1890"/>
                </a:lnTo>
                <a:lnTo>
                  <a:pt x="690" y="1890"/>
                </a:lnTo>
                <a:lnTo>
                  <a:pt x="688" y="1889"/>
                </a:lnTo>
                <a:lnTo>
                  <a:pt x="687" y="1888"/>
                </a:lnTo>
                <a:lnTo>
                  <a:pt x="686" y="1886"/>
                </a:lnTo>
                <a:lnTo>
                  <a:pt x="685" y="1884"/>
                </a:lnTo>
                <a:lnTo>
                  <a:pt x="686" y="1882"/>
                </a:lnTo>
                <a:lnTo>
                  <a:pt x="687" y="1880"/>
                </a:lnTo>
                <a:lnTo>
                  <a:pt x="688" y="1879"/>
                </a:lnTo>
                <a:lnTo>
                  <a:pt x="690" y="1878"/>
                </a:lnTo>
                <a:lnTo>
                  <a:pt x="692" y="1878"/>
                </a:lnTo>
                <a:close/>
                <a:moveTo>
                  <a:pt x="1232" y="1876"/>
                </a:moveTo>
                <a:lnTo>
                  <a:pt x="1234" y="1877"/>
                </a:lnTo>
                <a:lnTo>
                  <a:pt x="1236" y="1877"/>
                </a:lnTo>
                <a:lnTo>
                  <a:pt x="1238" y="1879"/>
                </a:lnTo>
                <a:lnTo>
                  <a:pt x="1239" y="1880"/>
                </a:lnTo>
                <a:lnTo>
                  <a:pt x="1240" y="1882"/>
                </a:lnTo>
                <a:lnTo>
                  <a:pt x="1240" y="1884"/>
                </a:lnTo>
                <a:lnTo>
                  <a:pt x="1240" y="1886"/>
                </a:lnTo>
                <a:lnTo>
                  <a:pt x="1239" y="1888"/>
                </a:lnTo>
                <a:lnTo>
                  <a:pt x="1238" y="1889"/>
                </a:lnTo>
                <a:lnTo>
                  <a:pt x="1236" y="1890"/>
                </a:lnTo>
                <a:lnTo>
                  <a:pt x="1234" y="1891"/>
                </a:lnTo>
                <a:lnTo>
                  <a:pt x="1232" y="1891"/>
                </a:lnTo>
                <a:lnTo>
                  <a:pt x="1230" y="1891"/>
                </a:lnTo>
                <a:lnTo>
                  <a:pt x="1229" y="1890"/>
                </a:lnTo>
                <a:lnTo>
                  <a:pt x="1227" y="1889"/>
                </a:lnTo>
                <a:lnTo>
                  <a:pt x="1226" y="1888"/>
                </a:lnTo>
                <a:lnTo>
                  <a:pt x="1225" y="1886"/>
                </a:lnTo>
                <a:lnTo>
                  <a:pt x="1225" y="1884"/>
                </a:lnTo>
                <a:lnTo>
                  <a:pt x="1225" y="1882"/>
                </a:lnTo>
                <a:lnTo>
                  <a:pt x="1226" y="1880"/>
                </a:lnTo>
                <a:lnTo>
                  <a:pt x="1227" y="1879"/>
                </a:lnTo>
                <a:lnTo>
                  <a:pt x="1229" y="1877"/>
                </a:lnTo>
                <a:lnTo>
                  <a:pt x="1230" y="1877"/>
                </a:lnTo>
                <a:lnTo>
                  <a:pt x="1232" y="1876"/>
                </a:lnTo>
                <a:close/>
                <a:moveTo>
                  <a:pt x="962" y="1865"/>
                </a:moveTo>
                <a:cubicBezTo>
                  <a:pt x="970" y="1864"/>
                  <a:pt x="977" y="1874"/>
                  <a:pt x="976" y="1879"/>
                </a:cubicBezTo>
                <a:cubicBezTo>
                  <a:pt x="977" y="1888"/>
                  <a:pt x="967" y="1895"/>
                  <a:pt x="962" y="1894"/>
                </a:cubicBezTo>
                <a:cubicBezTo>
                  <a:pt x="953" y="1895"/>
                  <a:pt x="947" y="1884"/>
                  <a:pt x="947" y="1879"/>
                </a:cubicBezTo>
                <a:cubicBezTo>
                  <a:pt x="947" y="1871"/>
                  <a:pt x="957" y="1864"/>
                  <a:pt x="962" y="1865"/>
                </a:cubicBezTo>
                <a:close/>
                <a:moveTo>
                  <a:pt x="893" y="1863"/>
                </a:moveTo>
                <a:cubicBezTo>
                  <a:pt x="902" y="1862"/>
                  <a:pt x="908" y="1872"/>
                  <a:pt x="907" y="1877"/>
                </a:cubicBezTo>
                <a:cubicBezTo>
                  <a:pt x="908" y="1885"/>
                  <a:pt x="898" y="1892"/>
                  <a:pt x="893" y="1891"/>
                </a:cubicBezTo>
                <a:cubicBezTo>
                  <a:pt x="885" y="1892"/>
                  <a:pt x="879" y="1882"/>
                  <a:pt x="879" y="1877"/>
                </a:cubicBezTo>
                <a:cubicBezTo>
                  <a:pt x="879" y="1869"/>
                  <a:pt x="889" y="1862"/>
                  <a:pt x="893" y="1863"/>
                </a:cubicBezTo>
                <a:close/>
                <a:moveTo>
                  <a:pt x="1031" y="1862"/>
                </a:moveTo>
                <a:cubicBezTo>
                  <a:pt x="1039" y="1862"/>
                  <a:pt x="1046" y="1872"/>
                  <a:pt x="1045" y="1877"/>
                </a:cubicBezTo>
                <a:cubicBezTo>
                  <a:pt x="1046" y="1885"/>
                  <a:pt x="1036" y="1892"/>
                  <a:pt x="1031" y="1891"/>
                </a:cubicBezTo>
                <a:cubicBezTo>
                  <a:pt x="1022" y="1892"/>
                  <a:pt x="1016" y="1882"/>
                  <a:pt x="1016" y="1877"/>
                </a:cubicBezTo>
                <a:cubicBezTo>
                  <a:pt x="1016" y="1868"/>
                  <a:pt x="1026" y="1862"/>
                  <a:pt x="1031" y="1862"/>
                </a:cubicBezTo>
                <a:close/>
                <a:moveTo>
                  <a:pt x="627" y="1857"/>
                </a:moveTo>
                <a:lnTo>
                  <a:pt x="629" y="1857"/>
                </a:lnTo>
                <a:lnTo>
                  <a:pt x="631" y="1859"/>
                </a:lnTo>
                <a:lnTo>
                  <a:pt x="632" y="1860"/>
                </a:lnTo>
                <a:lnTo>
                  <a:pt x="632" y="1862"/>
                </a:lnTo>
                <a:lnTo>
                  <a:pt x="632" y="1865"/>
                </a:lnTo>
                <a:lnTo>
                  <a:pt x="631" y="1866"/>
                </a:lnTo>
                <a:lnTo>
                  <a:pt x="629" y="1868"/>
                </a:lnTo>
                <a:lnTo>
                  <a:pt x="627" y="1868"/>
                </a:lnTo>
                <a:lnTo>
                  <a:pt x="625" y="1868"/>
                </a:lnTo>
                <a:lnTo>
                  <a:pt x="623" y="1866"/>
                </a:lnTo>
                <a:lnTo>
                  <a:pt x="622" y="1865"/>
                </a:lnTo>
                <a:lnTo>
                  <a:pt x="622" y="1862"/>
                </a:lnTo>
                <a:lnTo>
                  <a:pt x="622" y="1860"/>
                </a:lnTo>
                <a:lnTo>
                  <a:pt x="623" y="1859"/>
                </a:lnTo>
                <a:lnTo>
                  <a:pt x="625" y="1857"/>
                </a:lnTo>
                <a:lnTo>
                  <a:pt x="627" y="1857"/>
                </a:lnTo>
                <a:close/>
                <a:moveTo>
                  <a:pt x="825" y="1856"/>
                </a:moveTo>
                <a:cubicBezTo>
                  <a:pt x="833" y="1855"/>
                  <a:pt x="839" y="1865"/>
                  <a:pt x="838" y="1869"/>
                </a:cubicBezTo>
                <a:cubicBezTo>
                  <a:pt x="839" y="1877"/>
                  <a:pt x="830" y="1883"/>
                  <a:pt x="825" y="1883"/>
                </a:cubicBezTo>
                <a:cubicBezTo>
                  <a:pt x="817" y="1883"/>
                  <a:pt x="811" y="1874"/>
                  <a:pt x="812" y="1869"/>
                </a:cubicBezTo>
                <a:cubicBezTo>
                  <a:pt x="811" y="1861"/>
                  <a:pt x="821" y="1855"/>
                  <a:pt x="825" y="1856"/>
                </a:cubicBezTo>
                <a:close/>
                <a:moveTo>
                  <a:pt x="1297" y="1855"/>
                </a:moveTo>
                <a:lnTo>
                  <a:pt x="1299" y="1855"/>
                </a:lnTo>
                <a:lnTo>
                  <a:pt x="1301" y="1856"/>
                </a:lnTo>
                <a:lnTo>
                  <a:pt x="1302" y="1857"/>
                </a:lnTo>
                <a:lnTo>
                  <a:pt x="1303" y="1859"/>
                </a:lnTo>
                <a:lnTo>
                  <a:pt x="1304" y="1860"/>
                </a:lnTo>
                <a:lnTo>
                  <a:pt x="1304" y="1862"/>
                </a:lnTo>
                <a:lnTo>
                  <a:pt x="1304" y="1864"/>
                </a:lnTo>
                <a:lnTo>
                  <a:pt x="1303" y="1866"/>
                </a:lnTo>
                <a:lnTo>
                  <a:pt x="1302" y="1867"/>
                </a:lnTo>
                <a:lnTo>
                  <a:pt x="1301" y="1868"/>
                </a:lnTo>
                <a:lnTo>
                  <a:pt x="1299" y="1869"/>
                </a:lnTo>
                <a:lnTo>
                  <a:pt x="1297" y="1869"/>
                </a:lnTo>
                <a:lnTo>
                  <a:pt x="1295" y="1869"/>
                </a:lnTo>
                <a:lnTo>
                  <a:pt x="1293" y="1868"/>
                </a:lnTo>
                <a:lnTo>
                  <a:pt x="1292" y="1867"/>
                </a:lnTo>
                <a:lnTo>
                  <a:pt x="1291" y="1866"/>
                </a:lnTo>
                <a:lnTo>
                  <a:pt x="1290" y="1864"/>
                </a:lnTo>
                <a:lnTo>
                  <a:pt x="1290" y="1862"/>
                </a:lnTo>
                <a:lnTo>
                  <a:pt x="1290" y="1860"/>
                </a:lnTo>
                <a:lnTo>
                  <a:pt x="1291" y="1859"/>
                </a:lnTo>
                <a:lnTo>
                  <a:pt x="1292" y="1857"/>
                </a:lnTo>
                <a:lnTo>
                  <a:pt x="1293" y="1856"/>
                </a:lnTo>
                <a:lnTo>
                  <a:pt x="1295" y="1855"/>
                </a:lnTo>
                <a:lnTo>
                  <a:pt x="1297" y="1855"/>
                </a:lnTo>
                <a:close/>
                <a:moveTo>
                  <a:pt x="1098" y="1855"/>
                </a:moveTo>
                <a:cubicBezTo>
                  <a:pt x="1107" y="1854"/>
                  <a:pt x="1113" y="1864"/>
                  <a:pt x="1113" y="1869"/>
                </a:cubicBezTo>
                <a:cubicBezTo>
                  <a:pt x="1113" y="1878"/>
                  <a:pt x="1103" y="1884"/>
                  <a:pt x="1098" y="1883"/>
                </a:cubicBezTo>
                <a:cubicBezTo>
                  <a:pt x="1090" y="1884"/>
                  <a:pt x="1083" y="1874"/>
                  <a:pt x="1084" y="1869"/>
                </a:cubicBezTo>
                <a:cubicBezTo>
                  <a:pt x="1083" y="1861"/>
                  <a:pt x="1094" y="1854"/>
                  <a:pt x="1098" y="1855"/>
                </a:cubicBezTo>
                <a:close/>
                <a:moveTo>
                  <a:pt x="758" y="1844"/>
                </a:moveTo>
                <a:lnTo>
                  <a:pt x="760" y="1844"/>
                </a:lnTo>
                <a:lnTo>
                  <a:pt x="762" y="1845"/>
                </a:lnTo>
                <a:lnTo>
                  <a:pt x="763" y="1845"/>
                </a:lnTo>
                <a:lnTo>
                  <a:pt x="765" y="1846"/>
                </a:lnTo>
                <a:lnTo>
                  <a:pt x="766" y="1847"/>
                </a:lnTo>
                <a:lnTo>
                  <a:pt x="767" y="1848"/>
                </a:lnTo>
                <a:lnTo>
                  <a:pt x="768" y="1850"/>
                </a:lnTo>
                <a:lnTo>
                  <a:pt x="769" y="1851"/>
                </a:lnTo>
                <a:lnTo>
                  <a:pt x="770" y="1853"/>
                </a:lnTo>
                <a:lnTo>
                  <a:pt x="770" y="1855"/>
                </a:lnTo>
                <a:lnTo>
                  <a:pt x="770" y="1856"/>
                </a:lnTo>
                <a:lnTo>
                  <a:pt x="770" y="1858"/>
                </a:lnTo>
                <a:lnTo>
                  <a:pt x="770" y="1860"/>
                </a:lnTo>
                <a:lnTo>
                  <a:pt x="769" y="1862"/>
                </a:lnTo>
                <a:lnTo>
                  <a:pt x="768" y="1863"/>
                </a:lnTo>
                <a:lnTo>
                  <a:pt x="767" y="1864"/>
                </a:lnTo>
                <a:lnTo>
                  <a:pt x="766" y="1866"/>
                </a:lnTo>
                <a:lnTo>
                  <a:pt x="765" y="1867"/>
                </a:lnTo>
                <a:lnTo>
                  <a:pt x="763" y="1867"/>
                </a:lnTo>
                <a:lnTo>
                  <a:pt x="762" y="1868"/>
                </a:lnTo>
                <a:lnTo>
                  <a:pt x="760" y="1868"/>
                </a:lnTo>
                <a:lnTo>
                  <a:pt x="758" y="1869"/>
                </a:lnTo>
                <a:lnTo>
                  <a:pt x="756" y="1868"/>
                </a:lnTo>
                <a:lnTo>
                  <a:pt x="755" y="1868"/>
                </a:lnTo>
                <a:lnTo>
                  <a:pt x="753" y="1867"/>
                </a:lnTo>
                <a:lnTo>
                  <a:pt x="752" y="1867"/>
                </a:lnTo>
                <a:lnTo>
                  <a:pt x="750" y="1866"/>
                </a:lnTo>
                <a:lnTo>
                  <a:pt x="749" y="1864"/>
                </a:lnTo>
                <a:lnTo>
                  <a:pt x="748" y="1863"/>
                </a:lnTo>
                <a:lnTo>
                  <a:pt x="747" y="1862"/>
                </a:lnTo>
                <a:lnTo>
                  <a:pt x="747" y="1860"/>
                </a:lnTo>
                <a:lnTo>
                  <a:pt x="746" y="1858"/>
                </a:lnTo>
                <a:lnTo>
                  <a:pt x="746" y="1856"/>
                </a:lnTo>
                <a:lnTo>
                  <a:pt x="746" y="1855"/>
                </a:lnTo>
                <a:lnTo>
                  <a:pt x="747" y="1853"/>
                </a:lnTo>
                <a:lnTo>
                  <a:pt x="747" y="1851"/>
                </a:lnTo>
                <a:lnTo>
                  <a:pt x="748" y="1850"/>
                </a:lnTo>
                <a:lnTo>
                  <a:pt x="749" y="1848"/>
                </a:lnTo>
                <a:lnTo>
                  <a:pt x="750" y="1847"/>
                </a:lnTo>
                <a:lnTo>
                  <a:pt x="752" y="1846"/>
                </a:lnTo>
                <a:lnTo>
                  <a:pt x="753" y="1845"/>
                </a:lnTo>
                <a:lnTo>
                  <a:pt x="755" y="1845"/>
                </a:lnTo>
                <a:lnTo>
                  <a:pt x="756" y="1844"/>
                </a:lnTo>
                <a:lnTo>
                  <a:pt x="758" y="1844"/>
                </a:lnTo>
                <a:close/>
                <a:moveTo>
                  <a:pt x="1166" y="1842"/>
                </a:moveTo>
                <a:cubicBezTo>
                  <a:pt x="1174" y="1842"/>
                  <a:pt x="1181" y="1852"/>
                  <a:pt x="1180" y="1856"/>
                </a:cubicBezTo>
                <a:cubicBezTo>
                  <a:pt x="1181" y="1865"/>
                  <a:pt x="1170" y="1871"/>
                  <a:pt x="1166" y="1870"/>
                </a:cubicBezTo>
                <a:cubicBezTo>
                  <a:pt x="1157" y="1871"/>
                  <a:pt x="1151" y="1861"/>
                  <a:pt x="1152" y="1856"/>
                </a:cubicBezTo>
                <a:cubicBezTo>
                  <a:pt x="1151" y="1848"/>
                  <a:pt x="1161" y="1842"/>
                  <a:pt x="1166" y="1842"/>
                </a:cubicBezTo>
                <a:close/>
                <a:moveTo>
                  <a:pt x="564" y="1832"/>
                </a:moveTo>
                <a:lnTo>
                  <a:pt x="566" y="1832"/>
                </a:lnTo>
                <a:lnTo>
                  <a:pt x="568" y="1834"/>
                </a:lnTo>
                <a:lnTo>
                  <a:pt x="568" y="1836"/>
                </a:lnTo>
                <a:lnTo>
                  <a:pt x="568" y="1839"/>
                </a:lnTo>
                <a:lnTo>
                  <a:pt x="566" y="1840"/>
                </a:lnTo>
                <a:lnTo>
                  <a:pt x="564" y="1841"/>
                </a:lnTo>
                <a:lnTo>
                  <a:pt x="561" y="1840"/>
                </a:lnTo>
                <a:lnTo>
                  <a:pt x="560" y="1839"/>
                </a:lnTo>
                <a:lnTo>
                  <a:pt x="559" y="1836"/>
                </a:lnTo>
                <a:lnTo>
                  <a:pt x="560" y="1834"/>
                </a:lnTo>
                <a:lnTo>
                  <a:pt x="561" y="1832"/>
                </a:lnTo>
                <a:lnTo>
                  <a:pt x="564" y="1832"/>
                </a:lnTo>
                <a:close/>
                <a:moveTo>
                  <a:pt x="1360" y="1829"/>
                </a:moveTo>
                <a:lnTo>
                  <a:pt x="1362" y="1829"/>
                </a:lnTo>
                <a:lnTo>
                  <a:pt x="1364" y="1830"/>
                </a:lnTo>
                <a:lnTo>
                  <a:pt x="1365" y="1831"/>
                </a:lnTo>
                <a:lnTo>
                  <a:pt x="1366" y="1832"/>
                </a:lnTo>
                <a:lnTo>
                  <a:pt x="1367" y="1834"/>
                </a:lnTo>
                <a:lnTo>
                  <a:pt x="1367" y="1836"/>
                </a:lnTo>
                <a:lnTo>
                  <a:pt x="1367" y="1838"/>
                </a:lnTo>
                <a:lnTo>
                  <a:pt x="1366" y="1840"/>
                </a:lnTo>
                <a:lnTo>
                  <a:pt x="1365" y="1841"/>
                </a:lnTo>
                <a:lnTo>
                  <a:pt x="1364" y="1842"/>
                </a:lnTo>
                <a:lnTo>
                  <a:pt x="1362" y="1843"/>
                </a:lnTo>
                <a:lnTo>
                  <a:pt x="1360" y="1843"/>
                </a:lnTo>
                <a:lnTo>
                  <a:pt x="1358" y="1843"/>
                </a:lnTo>
                <a:lnTo>
                  <a:pt x="1357" y="1842"/>
                </a:lnTo>
                <a:lnTo>
                  <a:pt x="1355" y="1841"/>
                </a:lnTo>
                <a:lnTo>
                  <a:pt x="1354" y="1840"/>
                </a:lnTo>
                <a:lnTo>
                  <a:pt x="1353" y="1838"/>
                </a:lnTo>
                <a:lnTo>
                  <a:pt x="1353" y="1836"/>
                </a:lnTo>
                <a:lnTo>
                  <a:pt x="1353" y="1834"/>
                </a:lnTo>
                <a:lnTo>
                  <a:pt x="1354" y="1832"/>
                </a:lnTo>
                <a:lnTo>
                  <a:pt x="1355" y="1831"/>
                </a:lnTo>
                <a:lnTo>
                  <a:pt x="1357" y="1830"/>
                </a:lnTo>
                <a:lnTo>
                  <a:pt x="1358" y="1829"/>
                </a:lnTo>
                <a:lnTo>
                  <a:pt x="1360" y="1829"/>
                </a:lnTo>
                <a:close/>
                <a:moveTo>
                  <a:pt x="692" y="1827"/>
                </a:moveTo>
                <a:lnTo>
                  <a:pt x="694" y="1827"/>
                </a:lnTo>
                <a:lnTo>
                  <a:pt x="695" y="1828"/>
                </a:lnTo>
                <a:lnTo>
                  <a:pt x="697" y="1828"/>
                </a:lnTo>
                <a:cubicBezTo>
                  <a:pt x="700" y="1829"/>
                  <a:pt x="703" y="1833"/>
                  <a:pt x="703" y="1834"/>
                </a:cubicBezTo>
                <a:lnTo>
                  <a:pt x="703" y="1835"/>
                </a:lnTo>
                <a:lnTo>
                  <a:pt x="703" y="1837"/>
                </a:lnTo>
                <a:lnTo>
                  <a:pt x="704" y="1839"/>
                </a:lnTo>
                <a:lnTo>
                  <a:pt x="703" y="1840"/>
                </a:lnTo>
                <a:lnTo>
                  <a:pt x="703" y="1842"/>
                </a:lnTo>
                <a:lnTo>
                  <a:pt x="703" y="1844"/>
                </a:lnTo>
                <a:lnTo>
                  <a:pt x="702" y="1845"/>
                </a:lnTo>
                <a:lnTo>
                  <a:pt x="701" y="1846"/>
                </a:lnTo>
                <a:lnTo>
                  <a:pt x="700" y="1847"/>
                </a:lnTo>
                <a:lnTo>
                  <a:pt x="698" y="1848"/>
                </a:lnTo>
                <a:lnTo>
                  <a:pt x="697" y="1849"/>
                </a:lnTo>
                <a:lnTo>
                  <a:pt x="695" y="1850"/>
                </a:lnTo>
                <a:lnTo>
                  <a:pt x="694" y="1850"/>
                </a:lnTo>
                <a:lnTo>
                  <a:pt x="692" y="1850"/>
                </a:lnTo>
                <a:lnTo>
                  <a:pt x="691" y="1850"/>
                </a:lnTo>
                <a:lnTo>
                  <a:pt x="689" y="1850"/>
                </a:lnTo>
                <a:lnTo>
                  <a:pt x="687" y="1849"/>
                </a:lnTo>
                <a:cubicBezTo>
                  <a:pt x="685" y="1848"/>
                  <a:pt x="682" y="1844"/>
                  <a:pt x="682" y="1844"/>
                </a:cubicBezTo>
                <a:lnTo>
                  <a:pt x="681" y="1842"/>
                </a:lnTo>
                <a:lnTo>
                  <a:pt x="681" y="1840"/>
                </a:lnTo>
                <a:lnTo>
                  <a:pt x="681" y="1839"/>
                </a:lnTo>
                <a:lnTo>
                  <a:pt x="681" y="1837"/>
                </a:lnTo>
                <a:lnTo>
                  <a:pt x="681" y="1835"/>
                </a:lnTo>
                <a:lnTo>
                  <a:pt x="682" y="1834"/>
                </a:lnTo>
                <a:lnTo>
                  <a:pt x="683" y="1832"/>
                </a:lnTo>
                <a:lnTo>
                  <a:pt x="684" y="1831"/>
                </a:lnTo>
                <a:lnTo>
                  <a:pt x="685" y="1830"/>
                </a:lnTo>
                <a:lnTo>
                  <a:pt x="686" y="1829"/>
                </a:lnTo>
                <a:lnTo>
                  <a:pt x="687" y="1828"/>
                </a:lnTo>
                <a:lnTo>
                  <a:pt x="689" y="1828"/>
                </a:lnTo>
                <a:lnTo>
                  <a:pt x="691" y="1827"/>
                </a:lnTo>
                <a:lnTo>
                  <a:pt x="692" y="1827"/>
                </a:lnTo>
                <a:close/>
                <a:moveTo>
                  <a:pt x="1232" y="1825"/>
                </a:moveTo>
                <a:cubicBezTo>
                  <a:pt x="1240" y="1824"/>
                  <a:pt x="1246" y="1834"/>
                  <a:pt x="1245" y="1839"/>
                </a:cubicBezTo>
                <a:cubicBezTo>
                  <a:pt x="1246" y="1847"/>
                  <a:pt x="1236" y="1854"/>
                  <a:pt x="1232" y="1853"/>
                </a:cubicBezTo>
                <a:cubicBezTo>
                  <a:pt x="1223" y="1854"/>
                  <a:pt x="1217" y="1843"/>
                  <a:pt x="1218" y="1839"/>
                </a:cubicBezTo>
                <a:cubicBezTo>
                  <a:pt x="1217" y="1830"/>
                  <a:pt x="1227" y="1824"/>
                  <a:pt x="1232" y="1825"/>
                </a:cubicBezTo>
                <a:close/>
                <a:moveTo>
                  <a:pt x="827" y="1825"/>
                </a:moveTo>
                <a:lnTo>
                  <a:pt x="826" y="1826"/>
                </a:lnTo>
                <a:lnTo>
                  <a:pt x="824" y="1825"/>
                </a:lnTo>
                <a:lnTo>
                  <a:pt x="824" y="1824"/>
                </a:lnTo>
                <a:lnTo>
                  <a:pt x="827" y="1825"/>
                </a:lnTo>
                <a:close/>
                <a:moveTo>
                  <a:pt x="762" y="1810"/>
                </a:moveTo>
                <a:lnTo>
                  <a:pt x="761" y="1812"/>
                </a:lnTo>
                <a:lnTo>
                  <a:pt x="759" y="1813"/>
                </a:lnTo>
                <a:lnTo>
                  <a:pt x="757" y="1812"/>
                </a:lnTo>
                <a:lnTo>
                  <a:pt x="756" y="1810"/>
                </a:lnTo>
                <a:lnTo>
                  <a:pt x="756" y="1809"/>
                </a:lnTo>
                <a:lnTo>
                  <a:pt x="762" y="1810"/>
                </a:lnTo>
                <a:close/>
                <a:moveTo>
                  <a:pt x="628" y="1805"/>
                </a:moveTo>
                <a:lnTo>
                  <a:pt x="629" y="1805"/>
                </a:lnTo>
                <a:lnTo>
                  <a:pt x="631" y="1806"/>
                </a:lnTo>
                <a:lnTo>
                  <a:pt x="633" y="1806"/>
                </a:lnTo>
                <a:lnTo>
                  <a:pt x="634" y="1807"/>
                </a:lnTo>
                <a:lnTo>
                  <a:pt x="636" y="1808"/>
                </a:lnTo>
                <a:lnTo>
                  <a:pt x="637" y="1810"/>
                </a:lnTo>
                <a:lnTo>
                  <a:pt x="638" y="1811"/>
                </a:lnTo>
                <a:lnTo>
                  <a:pt x="638" y="1813"/>
                </a:lnTo>
                <a:lnTo>
                  <a:pt x="639" y="1814"/>
                </a:lnTo>
                <a:lnTo>
                  <a:pt x="639" y="1816"/>
                </a:lnTo>
                <a:lnTo>
                  <a:pt x="639" y="1818"/>
                </a:lnTo>
                <a:lnTo>
                  <a:pt x="638" y="1820"/>
                </a:lnTo>
                <a:lnTo>
                  <a:pt x="638" y="1821"/>
                </a:lnTo>
                <a:lnTo>
                  <a:pt x="637" y="1823"/>
                </a:lnTo>
                <a:lnTo>
                  <a:pt x="636" y="1824"/>
                </a:lnTo>
                <a:lnTo>
                  <a:pt x="634" y="1825"/>
                </a:lnTo>
                <a:lnTo>
                  <a:pt x="633" y="1826"/>
                </a:lnTo>
                <a:lnTo>
                  <a:pt x="631" y="1826"/>
                </a:lnTo>
                <a:lnTo>
                  <a:pt x="629" y="1827"/>
                </a:lnTo>
                <a:lnTo>
                  <a:pt x="628" y="1827"/>
                </a:lnTo>
                <a:lnTo>
                  <a:pt x="626" y="1827"/>
                </a:lnTo>
                <a:lnTo>
                  <a:pt x="624" y="1826"/>
                </a:lnTo>
                <a:lnTo>
                  <a:pt x="622" y="1826"/>
                </a:lnTo>
                <a:lnTo>
                  <a:pt x="621" y="1825"/>
                </a:lnTo>
                <a:lnTo>
                  <a:pt x="620" y="1824"/>
                </a:lnTo>
                <a:lnTo>
                  <a:pt x="619" y="1823"/>
                </a:lnTo>
                <a:lnTo>
                  <a:pt x="618" y="1821"/>
                </a:lnTo>
                <a:lnTo>
                  <a:pt x="617" y="1820"/>
                </a:lnTo>
                <a:lnTo>
                  <a:pt x="617" y="1818"/>
                </a:lnTo>
                <a:lnTo>
                  <a:pt x="616" y="1816"/>
                </a:lnTo>
                <a:lnTo>
                  <a:pt x="617" y="1814"/>
                </a:lnTo>
                <a:lnTo>
                  <a:pt x="617" y="1813"/>
                </a:lnTo>
                <a:lnTo>
                  <a:pt x="618" y="1811"/>
                </a:lnTo>
                <a:lnTo>
                  <a:pt x="619" y="1810"/>
                </a:lnTo>
                <a:lnTo>
                  <a:pt x="620" y="1808"/>
                </a:lnTo>
                <a:lnTo>
                  <a:pt x="621" y="1807"/>
                </a:lnTo>
                <a:lnTo>
                  <a:pt x="622" y="1806"/>
                </a:lnTo>
                <a:lnTo>
                  <a:pt x="624" y="1806"/>
                </a:lnTo>
                <a:lnTo>
                  <a:pt x="626" y="1805"/>
                </a:lnTo>
                <a:lnTo>
                  <a:pt x="628" y="1805"/>
                </a:lnTo>
                <a:close/>
                <a:moveTo>
                  <a:pt x="1296" y="1802"/>
                </a:moveTo>
                <a:cubicBezTo>
                  <a:pt x="1304" y="1801"/>
                  <a:pt x="1311" y="1811"/>
                  <a:pt x="1310" y="1816"/>
                </a:cubicBezTo>
                <a:cubicBezTo>
                  <a:pt x="1311" y="1824"/>
                  <a:pt x="1301" y="1831"/>
                  <a:pt x="1296" y="1830"/>
                </a:cubicBezTo>
                <a:cubicBezTo>
                  <a:pt x="1288" y="1831"/>
                  <a:pt x="1281" y="1821"/>
                  <a:pt x="1282" y="1816"/>
                </a:cubicBezTo>
                <a:cubicBezTo>
                  <a:pt x="1281" y="1808"/>
                  <a:pt x="1291" y="1802"/>
                  <a:pt x="1296" y="1802"/>
                </a:cubicBezTo>
                <a:close/>
                <a:moveTo>
                  <a:pt x="503" y="1802"/>
                </a:moveTo>
                <a:lnTo>
                  <a:pt x="505" y="1803"/>
                </a:lnTo>
                <a:lnTo>
                  <a:pt x="506" y="1806"/>
                </a:lnTo>
                <a:lnTo>
                  <a:pt x="505" y="1808"/>
                </a:lnTo>
                <a:lnTo>
                  <a:pt x="503" y="1809"/>
                </a:lnTo>
                <a:lnTo>
                  <a:pt x="500" y="1808"/>
                </a:lnTo>
                <a:lnTo>
                  <a:pt x="499" y="1806"/>
                </a:lnTo>
                <a:lnTo>
                  <a:pt x="500" y="1803"/>
                </a:lnTo>
                <a:lnTo>
                  <a:pt x="503" y="1802"/>
                </a:lnTo>
                <a:close/>
                <a:moveTo>
                  <a:pt x="1421" y="1799"/>
                </a:moveTo>
                <a:lnTo>
                  <a:pt x="1423" y="1799"/>
                </a:lnTo>
                <a:lnTo>
                  <a:pt x="1425" y="1800"/>
                </a:lnTo>
                <a:lnTo>
                  <a:pt x="1426" y="1801"/>
                </a:lnTo>
                <a:lnTo>
                  <a:pt x="1427" y="1802"/>
                </a:lnTo>
                <a:lnTo>
                  <a:pt x="1428" y="1804"/>
                </a:lnTo>
                <a:lnTo>
                  <a:pt x="1428" y="1805"/>
                </a:lnTo>
                <a:lnTo>
                  <a:pt x="1428" y="1807"/>
                </a:lnTo>
                <a:lnTo>
                  <a:pt x="1427" y="1809"/>
                </a:lnTo>
                <a:lnTo>
                  <a:pt x="1426" y="1810"/>
                </a:lnTo>
                <a:lnTo>
                  <a:pt x="1425" y="1811"/>
                </a:lnTo>
                <a:lnTo>
                  <a:pt x="1423" y="1812"/>
                </a:lnTo>
                <a:lnTo>
                  <a:pt x="1421" y="1812"/>
                </a:lnTo>
                <a:lnTo>
                  <a:pt x="1419" y="1812"/>
                </a:lnTo>
                <a:lnTo>
                  <a:pt x="1418" y="1811"/>
                </a:lnTo>
                <a:lnTo>
                  <a:pt x="1417" y="1810"/>
                </a:lnTo>
                <a:lnTo>
                  <a:pt x="1416" y="1809"/>
                </a:lnTo>
                <a:lnTo>
                  <a:pt x="1415" y="1807"/>
                </a:lnTo>
                <a:lnTo>
                  <a:pt x="1415" y="1805"/>
                </a:lnTo>
                <a:lnTo>
                  <a:pt x="1415" y="1804"/>
                </a:lnTo>
                <a:lnTo>
                  <a:pt x="1416" y="1802"/>
                </a:lnTo>
                <a:lnTo>
                  <a:pt x="1417" y="1801"/>
                </a:lnTo>
                <a:lnTo>
                  <a:pt x="1418" y="1800"/>
                </a:lnTo>
                <a:lnTo>
                  <a:pt x="1419" y="1799"/>
                </a:lnTo>
                <a:lnTo>
                  <a:pt x="1421" y="1799"/>
                </a:lnTo>
                <a:close/>
                <a:moveTo>
                  <a:pt x="696" y="1789"/>
                </a:moveTo>
                <a:lnTo>
                  <a:pt x="697" y="1792"/>
                </a:lnTo>
                <a:lnTo>
                  <a:pt x="696" y="1794"/>
                </a:lnTo>
                <a:lnTo>
                  <a:pt x="693" y="1795"/>
                </a:lnTo>
                <a:lnTo>
                  <a:pt x="691" y="1794"/>
                </a:lnTo>
                <a:lnTo>
                  <a:pt x="690" y="1792"/>
                </a:lnTo>
                <a:lnTo>
                  <a:pt x="691" y="1789"/>
                </a:lnTo>
                <a:lnTo>
                  <a:pt x="692" y="1788"/>
                </a:lnTo>
                <a:lnTo>
                  <a:pt x="696" y="1789"/>
                </a:lnTo>
                <a:close/>
                <a:moveTo>
                  <a:pt x="565" y="1778"/>
                </a:moveTo>
                <a:lnTo>
                  <a:pt x="567" y="1778"/>
                </a:lnTo>
                <a:lnTo>
                  <a:pt x="569" y="1779"/>
                </a:lnTo>
                <a:lnTo>
                  <a:pt x="570" y="1779"/>
                </a:lnTo>
                <a:lnTo>
                  <a:pt x="571" y="1780"/>
                </a:lnTo>
                <a:lnTo>
                  <a:pt x="573" y="1781"/>
                </a:lnTo>
                <a:lnTo>
                  <a:pt x="574" y="1782"/>
                </a:lnTo>
                <a:lnTo>
                  <a:pt x="575" y="1784"/>
                </a:lnTo>
                <a:lnTo>
                  <a:pt x="575" y="1785"/>
                </a:lnTo>
                <a:lnTo>
                  <a:pt x="576" y="1787"/>
                </a:lnTo>
                <a:lnTo>
                  <a:pt x="576" y="1789"/>
                </a:lnTo>
                <a:lnTo>
                  <a:pt x="576" y="1791"/>
                </a:lnTo>
                <a:lnTo>
                  <a:pt x="575" y="1792"/>
                </a:lnTo>
                <a:lnTo>
                  <a:pt x="575" y="1794"/>
                </a:lnTo>
                <a:lnTo>
                  <a:pt x="574" y="1795"/>
                </a:lnTo>
                <a:lnTo>
                  <a:pt x="573" y="1796"/>
                </a:lnTo>
                <a:lnTo>
                  <a:pt x="571" y="1797"/>
                </a:lnTo>
                <a:lnTo>
                  <a:pt x="570" y="1798"/>
                </a:lnTo>
                <a:lnTo>
                  <a:pt x="569" y="1799"/>
                </a:lnTo>
                <a:lnTo>
                  <a:pt x="567" y="1799"/>
                </a:lnTo>
                <a:lnTo>
                  <a:pt x="565" y="1800"/>
                </a:lnTo>
                <a:lnTo>
                  <a:pt x="563" y="1799"/>
                </a:lnTo>
                <a:lnTo>
                  <a:pt x="562" y="1799"/>
                </a:lnTo>
                <a:lnTo>
                  <a:pt x="560" y="1798"/>
                </a:lnTo>
                <a:lnTo>
                  <a:pt x="559" y="1797"/>
                </a:lnTo>
                <a:lnTo>
                  <a:pt x="558" y="1796"/>
                </a:lnTo>
                <a:lnTo>
                  <a:pt x="556" y="1795"/>
                </a:lnTo>
                <a:lnTo>
                  <a:pt x="556" y="1794"/>
                </a:lnTo>
                <a:lnTo>
                  <a:pt x="555" y="1792"/>
                </a:lnTo>
                <a:lnTo>
                  <a:pt x="555" y="1791"/>
                </a:lnTo>
                <a:lnTo>
                  <a:pt x="554" y="1789"/>
                </a:lnTo>
                <a:lnTo>
                  <a:pt x="555" y="1787"/>
                </a:lnTo>
                <a:lnTo>
                  <a:pt x="555" y="1785"/>
                </a:lnTo>
                <a:lnTo>
                  <a:pt x="556" y="1784"/>
                </a:lnTo>
                <a:lnTo>
                  <a:pt x="556" y="1782"/>
                </a:lnTo>
                <a:lnTo>
                  <a:pt x="558" y="1781"/>
                </a:lnTo>
                <a:lnTo>
                  <a:pt x="559" y="1780"/>
                </a:lnTo>
                <a:lnTo>
                  <a:pt x="560" y="1779"/>
                </a:lnTo>
                <a:lnTo>
                  <a:pt x="562" y="1779"/>
                </a:lnTo>
                <a:lnTo>
                  <a:pt x="563" y="1778"/>
                </a:lnTo>
                <a:lnTo>
                  <a:pt x="565" y="1778"/>
                </a:lnTo>
                <a:close/>
                <a:moveTo>
                  <a:pt x="1359" y="1775"/>
                </a:moveTo>
                <a:cubicBezTo>
                  <a:pt x="1367" y="1774"/>
                  <a:pt x="1373" y="1784"/>
                  <a:pt x="1372" y="1789"/>
                </a:cubicBezTo>
                <a:cubicBezTo>
                  <a:pt x="1373" y="1797"/>
                  <a:pt x="1363" y="1803"/>
                  <a:pt x="1359" y="1802"/>
                </a:cubicBezTo>
                <a:cubicBezTo>
                  <a:pt x="1351" y="1803"/>
                  <a:pt x="1344" y="1793"/>
                  <a:pt x="1345" y="1789"/>
                </a:cubicBezTo>
                <a:cubicBezTo>
                  <a:pt x="1344" y="1780"/>
                  <a:pt x="1354" y="1774"/>
                  <a:pt x="1359" y="1775"/>
                </a:cubicBezTo>
                <a:close/>
                <a:moveTo>
                  <a:pt x="444" y="1768"/>
                </a:moveTo>
                <a:lnTo>
                  <a:pt x="446" y="1769"/>
                </a:lnTo>
                <a:lnTo>
                  <a:pt x="447" y="1771"/>
                </a:lnTo>
                <a:lnTo>
                  <a:pt x="446" y="1773"/>
                </a:lnTo>
                <a:lnTo>
                  <a:pt x="444" y="1773"/>
                </a:lnTo>
                <a:lnTo>
                  <a:pt x="442" y="1773"/>
                </a:lnTo>
                <a:lnTo>
                  <a:pt x="441" y="1771"/>
                </a:lnTo>
                <a:lnTo>
                  <a:pt x="442" y="1769"/>
                </a:lnTo>
                <a:lnTo>
                  <a:pt x="444" y="1768"/>
                </a:lnTo>
                <a:close/>
                <a:moveTo>
                  <a:pt x="1480" y="1764"/>
                </a:moveTo>
                <a:lnTo>
                  <a:pt x="1482" y="1764"/>
                </a:lnTo>
                <a:lnTo>
                  <a:pt x="1484" y="1765"/>
                </a:lnTo>
                <a:lnTo>
                  <a:pt x="1485" y="1767"/>
                </a:lnTo>
                <a:lnTo>
                  <a:pt x="1486" y="1768"/>
                </a:lnTo>
                <a:lnTo>
                  <a:pt x="1486" y="1770"/>
                </a:lnTo>
                <a:lnTo>
                  <a:pt x="1486" y="1772"/>
                </a:lnTo>
                <a:lnTo>
                  <a:pt x="1485" y="1774"/>
                </a:lnTo>
                <a:lnTo>
                  <a:pt x="1484" y="1775"/>
                </a:lnTo>
                <a:lnTo>
                  <a:pt x="1482" y="1776"/>
                </a:lnTo>
                <a:lnTo>
                  <a:pt x="1480" y="1777"/>
                </a:lnTo>
                <a:lnTo>
                  <a:pt x="1478" y="1776"/>
                </a:lnTo>
                <a:lnTo>
                  <a:pt x="1476" y="1775"/>
                </a:lnTo>
                <a:lnTo>
                  <a:pt x="1475" y="1774"/>
                </a:lnTo>
                <a:lnTo>
                  <a:pt x="1474" y="1772"/>
                </a:lnTo>
                <a:lnTo>
                  <a:pt x="1474" y="1770"/>
                </a:lnTo>
                <a:lnTo>
                  <a:pt x="1474" y="1768"/>
                </a:lnTo>
                <a:lnTo>
                  <a:pt x="1475" y="1767"/>
                </a:lnTo>
                <a:lnTo>
                  <a:pt x="1476" y="1765"/>
                </a:lnTo>
                <a:lnTo>
                  <a:pt x="1478" y="1764"/>
                </a:lnTo>
                <a:lnTo>
                  <a:pt x="1480" y="1764"/>
                </a:lnTo>
                <a:close/>
                <a:moveTo>
                  <a:pt x="629" y="1763"/>
                </a:moveTo>
                <a:lnTo>
                  <a:pt x="631" y="1764"/>
                </a:lnTo>
                <a:lnTo>
                  <a:pt x="633" y="1765"/>
                </a:lnTo>
                <a:lnTo>
                  <a:pt x="634" y="1768"/>
                </a:lnTo>
                <a:lnTo>
                  <a:pt x="633" y="1770"/>
                </a:lnTo>
                <a:lnTo>
                  <a:pt x="631" y="1771"/>
                </a:lnTo>
                <a:lnTo>
                  <a:pt x="629" y="1772"/>
                </a:lnTo>
                <a:lnTo>
                  <a:pt x="627" y="1771"/>
                </a:lnTo>
                <a:lnTo>
                  <a:pt x="625" y="1770"/>
                </a:lnTo>
                <a:lnTo>
                  <a:pt x="625" y="1768"/>
                </a:lnTo>
                <a:lnTo>
                  <a:pt x="625" y="1765"/>
                </a:lnTo>
                <a:lnTo>
                  <a:pt x="627" y="1764"/>
                </a:lnTo>
                <a:lnTo>
                  <a:pt x="629" y="1763"/>
                </a:lnTo>
                <a:close/>
                <a:moveTo>
                  <a:pt x="505" y="1746"/>
                </a:moveTo>
                <a:lnTo>
                  <a:pt x="507" y="1747"/>
                </a:lnTo>
                <a:lnTo>
                  <a:pt x="508" y="1747"/>
                </a:lnTo>
                <a:lnTo>
                  <a:pt x="510" y="1748"/>
                </a:lnTo>
                <a:lnTo>
                  <a:pt x="512" y="1749"/>
                </a:lnTo>
                <a:lnTo>
                  <a:pt x="513" y="1750"/>
                </a:lnTo>
                <a:lnTo>
                  <a:pt x="514" y="1752"/>
                </a:lnTo>
                <a:lnTo>
                  <a:pt x="515" y="1753"/>
                </a:lnTo>
                <a:lnTo>
                  <a:pt x="515" y="1755"/>
                </a:lnTo>
                <a:lnTo>
                  <a:pt x="515" y="1757"/>
                </a:lnTo>
                <a:lnTo>
                  <a:pt x="515" y="1759"/>
                </a:lnTo>
                <a:lnTo>
                  <a:pt x="515" y="1761"/>
                </a:lnTo>
                <a:lnTo>
                  <a:pt x="514" y="1762"/>
                </a:lnTo>
                <a:lnTo>
                  <a:pt x="513" y="1764"/>
                </a:lnTo>
                <a:lnTo>
                  <a:pt x="512" y="1765"/>
                </a:lnTo>
                <a:lnTo>
                  <a:pt x="510" y="1766"/>
                </a:lnTo>
                <a:lnTo>
                  <a:pt x="508" y="1767"/>
                </a:lnTo>
                <a:lnTo>
                  <a:pt x="507" y="1767"/>
                </a:lnTo>
                <a:lnTo>
                  <a:pt x="505" y="1767"/>
                </a:lnTo>
                <a:lnTo>
                  <a:pt x="503" y="1767"/>
                </a:lnTo>
                <a:lnTo>
                  <a:pt x="501" y="1767"/>
                </a:lnTo>
                <a:lnTo>
                  <a:pt x="499" y="1766"/>
                </a:lnTo>
                <a:lnTo>
                  <a:pt x="498" y="1765"/>
                </a:lnTo>
                <a:lnTo>
                  <a:pt x="497" y="1764"/>
                </a:lnTo>
                <a:lnTo>
                  <a:pt x="496" y="1762"/>
                </a:lnTo>
                <a:lnTo>
                  <a:pt x="495" y="1761"/>
                </a:lnTo>
                <a:lnTo>
                  <a:pt x="494" y="1759"/>
                </a:lnTo>
                <a:lnTo>
                  <a:pt x="494" y="1757"/>
                </a:lnTo>
                <a:lnTo>
                  <a:pt x="494" y="1755"/>
                </a:lnTo>
                <a:lnTo>
                  <a:pt x="495" y="1753"/>
                </a:lnTo>
                <a:lnTo>
                  <a:pt x="496" y="1752"/>
                </a:lnTo>
                <a:lnTo>
                  <a:pt x="497" y="1750"/>
                </a:lnTo>
                <a:lnTo>
                  <a:pt x="498" y="1749"/>
                </a:lnTo>
                <a:lnTo>
                  <a:pt x="499" y="1748"/>
                </a:lnTo>
                <a:lnTo>
                  <a:pt x="501" y="1747"/>
                </a:lnTo>
                <a:lnTo>
                  <a:pt x="503" y="1747"/>
                </a:lnTo>
                <a:lnTo>
                  <a:pt x="505" y="1746"/>
                </a:lnTo>
                <a:close/>
                <a:moveTo>
                  <a:pt x="1419" y="1743"/>
                </a:moveTo>
                <a:cubicBezTo>
                  <a:pt x="1427" y="1742"/>
                  <a:pt x="1433" y="1752"/>
                  <a:pt x="1432" y="1756"/>
                </a:cubicBezTo>
                <a:cubicBezTo>
                  <a:pt x="1433" y="1764"/>
                  <a:pt x="1423" y="1771"/>
                  <a:pt x="1419" y="1770"/>
                </a:cubicBezTo>
                <a:cubicBezTo>
                  <a:pt x="1411" y="1771"/>
                  <a:pt x="1405" y="1761"/>
                  <a:pt x="1406" y="1756"/>
                </a:cubicBezTo>
                <a:cubicBezTo>
                  <a:pt x="1405" y="1748"/>
                  <a:pt x="1415" y="1742"/>
                  <a:pt x="1419" y="1743"/>
                </a:cubicBezTo>
                <a:close/>
                <a:moveTo>
                  <a:pt x="567" y="1734"/>
                </a:moveTo>
                <a:lnTo>
                  <a:pt x="569" y="1734"/>
                </a:lnTo>
                <a:lnTo>
                  <a:pt x="571" y="1735"/>
                </a:lnTo>
                <a:lnTo>
                  <a:pt x="572" y="1737"/>
                </a:lnTo>
                <a:lnTo>
                  <a:pt x="573" y="1739"/>
                </a:lnTo>
                <a:lnTo>
                  <a:pt x="572" y="1741"/>
                </a:lnTo>
                <a:lnTo>
                  <a:pt x="571" y="1743"/>
                </a:lnTo>
                <a:lnTo>
                  <a:pt x="569" y="1744"/>
                </a:lnTo>
                <a:lnTo>
                  <a:pt x="567" y="1745"/>
                </a:lnTo>
                <a:lnTo>
                  <a:pt x="565" y="1744"/>
                </a:lnTo>
                <a:lnTo>
                  <a:pt x="563" y="1743"/>
                </a:lnTo>
                <a:lnTo>
                  <a:pt x="562" y="1741"/>
                </a:lnTo>
                <a:lnTo>
                  <a:pt x="562" y="1739"/>
                </a:lnTo>
                <a:lnTo>
                  <a:pt x="562" y="1737"/>
                </a:lnTo>
                <a:lnTo>
                  <a:pt x="563" y="1735"/>
                </a:lnTo>
                <a:lnTo>
                  <a:pt x="565" y="1734"/>
                </a:lnTo>
                <a:lnTo>
                  <a:pt x="567" y="1734"/>
                </a:lnTo>
                <a:close/>
                <a:moveTo>
                  <a:pt x="388" y="1730"/>
                </a:moveTo>
                <a:lnTo>
                  <a:pt x="389" y="1730"/>
                </a:lnTo>
                <a:lnTo>
                  <a:pt x="390" y="1732"/>
                </a:lnTo>
                <a:lnTo>
                  <a:pt x="389" y="1733"/>
                </a:lnTo>
                <a:lnTo>
                  <a:pt x="388" y="1734"/>
                </a:lnTo>
                <a:lnTo>
                  <a:pt x="386" y="1733"/>
                </a:lnTo>
                <a:lnTo>
                  <a:pt x="386" y="1732"/>
                </a:lnTo>
                <a:lnTo>
                  <a:pt x="386" y="1730"/>
                </a:lnTo>
                <a:lnTo>
                  <a:pt x="388" y="1730"/>
                </a:lnTo>
                <a:close/>
                <a:moveTo>
                  <a:pt x="1536" y="1725"/>
                </a:moveTo>
                <a:lnTo>
                  <a:pt x="1538" y="1726"/>
                </a:lnTo>
                <a:lnTo>
                  <a:pt x="1539" y="1727"/>
                </a:lnTo>
                <a:lnTo>
                  <a:pt x="1540" y="1728"/>
                </a:lnTo>
                <a:lnTo>
                  <a:pt x="1541" y="1729"/>
                </a:lnTo>
                <a:lnTo>
                  <a:pt x="1542" y="1731"/>
                </a:lnTo>
                <a:lnTo>
                  <a:pt x="1541" y="1733"/>
                </a:lnTo>
                <a:lnTo>
                  <a:pt x="1540" y="1735"/>
                </a:lnTo>
                <a:lnTo>
                  <a:pt x="1539" y="1736"/>
                </a:lnTo>
                <a:lnTo>
                  <a:pt x="1538" y="1737"/>
                </a:lnTo>
                <a:lnTo>
                  <a:pt x="1536" y="1737"/>
                </a:lnTo>
                <a:lnTo>
                  <a:pt x="1534" y="1737"/>
                </a:lnTo>
                <a:lnTo>
                  <a:pt x="1533" y="1736"/>
                </a:lnTo>
                <a:lnTo>
                  <a:pt x="1531" y="1735"/>
                </a:lnTo>
                <a:lnTo>
                  <a:pt x="1531" y="1733"/>
                </a:lnTo>
                <a:lnTo>
                  <a:pt x="1530" y="1731"/>
                </a:lnTo>
                <a:lnTo>
                  <a:pt x="1531" y="1729"/>
                </a:lnTo>
                <a:lnTo>
                  <a:pt x="1531" y="1728"/>
                </a:lnTo>
                <a:lnTo>
                  <a:pt x="1533" y="1727"/>
                </a:lnTo>
                <a:lnTo>
                  <a:pt x="1534" y="1726"/>
                </a:lnTo>
                <a:lnTo>
                  <a:pt x="1536" y="1725"/>
                </a:lnTo>
                <a:close/>
                <a:moveTo>
                  <a:pt x="447" y="1710"/>
                </a:moveTo>
                <a:lnTo>
                  <a:pt x="449" y="1711"/>
                </a:lnTo>
                <a:lnTo>
                  <a:pt x="450" y="1711"/>
                </a:lnTo>
                <a:lnTo>
                  <a:pt x="452" y="1712"/>
                </a:lnTo>
                <a:lnTo>
                  <a:pt x="453" y="1713"/>
                </a:lnTo>
                <a:lnTo>
                  <a:pt x="455" y="1714"/>
                </a:lnTo>
                <a:lnTo>
                  <a:pt x="456" y="1715"/>
                </a:lnTo>
                <a:lnTo>
                  <a:pt x="456" y="1717"/>
                </a:lnTo>
                <a:lnTo>
                  <a:pt x="457" y="1719"/>
                </a:lnTo>
                <a:lnTo>
                  <a:pt x="457" y="1721"/>
                </a:lnTo>
                <a:lnTo>
                  <a:pt x="457" y="1722"/>
                </a:lnTo>
                <a:lnTo>
                  <a:pt x="456" y="1724"/>
                </a:lnTo>
                <a:lnTo>
                  <a:pt x="456" y="1726"/>
                </a:lnTo>
                <a:lnTo>
                  <a:pt x="455" y="1727"/>
                </a:lnTo>
                <a:lnTo>
                  <a:pt x="453" y="1728"/>
                </a:lnTo>
                <a:lnTo>
                  <a:pt x="452" y="1729"/>
                </a:lnTo>
                <a:lnTo>
                  <a:pt x="450" y="1730"/>
                </a:lnTo>
                <a:lnTo>
                  <a:pt x="449" y="1730"/>
                </a:lnTo>
                <a:lnTo>
                  <a:pt x="447" y="1731"/>
                </a:lnTo>
                <a:lnTo>
                  <a:pt x="445" y="1730"/>
                </a:lnTo>
                <a:lnTo>
                  <a:pt x="443" y="1730"/>
                </a:lnTo>
                <a:lnTo>
                  <a:pt x="442" y="1729"/>
                </a:lnTo>
                <a:lnTo>
                  <a:pt x="440" y="1728"/>
                </a:lnTo>
                <a:lnTo>
                  <a:pt x="439" y="1727"/>
                </a:lnTo>
                <a:lnTo>
                  <a:pt x="438" y="1726"/>
                </a:lnTo>
                <a:lnTo>
                  <a:pt x="438" y="1724"/>
                </a:lnTo>
                <a:lnTo>
                  <a:pt x="437" y="1722"/>
                </a:lnTo>
                <a:lnTo>
                  <a:pt x="437" y="1721"/>
                </a:lnTo>
                <a:lnTo>
                  <a:pt x="437" y="1719"/>
                </a:lnTo>
                <a:lnTo>
                  <a:pt x="438" y="1717"/>
                </a:lnTo>
                <a:lnTo>
                  <a:pt x="438" y="1715"/>
                </a:lnTo>
                <a:lnTo>
                  <a:pt x="439" y="1714"/>
                </a:lnTo>
                <a:lnTo>
                  <a:pt x="440" y="1713"/>
                </a:lnTo>
                <a:lnTo>
                  <a:pt x="442" y="1712"/>
                </a:lnTo>
                <a:lnTo>
                  <a:pt x="443" y="1711"/>
                </a:lnTo>
                <a:lnTo>
                  <a:pt x="445" y="1711"/>
                </a:lnTo>
                <a:lnTo>
                  <a:pt x="447" y="1710"/>
                </a:lnTo>
                <a:close/>
                <a:moveTo>
                  <a:pt x="1477" y="1707"/>
                </a:moveTo>
                <a:cubicBezTo>
                  <a:pt x="1485" y="1706"/>
                  <a:pt x="1491" y="1716"/>
                  <a:pt x="1490" y="1720"/>
                </a:cubicBezTo>
                <a:cubicBezTo>
                  <a:pt x="1491" y="1728"/>
                  <a:pt x="1481" y="1734"/>
                  <a:pt x="1477" y="1733"/>
                </a:cubicBezTo>
                <a:cubicBezTo>
                  <a:pt x="1469" y="1734"/>
                  <a:pt x="1463" y="1724"/>
                  <a:pt x="1464" y="1720"/>
                </a:cubicBezTo>
                <a:cubicBezTo>
                  <a:pt x="1463" y="1712"/>
                  <a:pt x="1473" y="1706"/>
                  <a:pt x="1477" y="1707"/>
                </a:cubicBezTo>
                <a:close/>
                <a:moveTo>
                  <a:pt x="508" y="1700"/>
                </a:moveTo>
                <a:lnTo>
                  <a:pt x="510" y="1700"/>
                </a:lnTo>
                <a:lnTo>
                  <a:pt x="511" y="1701"/>
                </a:lnTo>
                <a:lnTo>
                  <a:pt x="513" y="1702"/>
                </a:lnTo>
                <a:lnTo>
                  <a:pt x="514" y="1704"/>
                </a:lnTo>
                <a:lnTo>
                  <a:pt x="514" y="1706"/>
                </a:lnTo>
                <a:lnTo>
                  <a:pt x="514" y="1708"/>
                </a:lnTo>
                <a:lnTo>
                  <a:pt x="513" y="1709"/>
                </a:lnTo>
                <a:lnTo>
                  <a:pt x="511" y="1711"/>
                </a:lnTo>
                <a:lnTo>
                  <a:pt x="510" y="1712"/>
                </a:lnTo>
                <a:lnTo>
                  <a:pt x="508" y="1712"/>
                </a:lnTo>
                <a:lnTo>
                  <a:pt x="506" y="1712"/>
                </a:lnTo>
                <a:lnTo>
                  <a:pt x="504" y="1711"/>
                </a:lnTo>
                <a:lnTo>
                  <a:pt x="503" y="1709"/>
                </a:lnTo>
                <a:lnTo>
                  <a:pt x="502" y="1708"/>
                </a:lnTo>
                <a:lnTo>
                  <a:pt x="502" y="1706"/>
                </a:lnTo>
                <a:lnTo>
                  <a:pt x="502" y="1704"/>
                </a:lnTo>
                <a:lnTo>
                  <a:pt x="503" y="1702"/>
                </a:lnTo>
                <a:lnTo>
                  <a:pt x="504" y="1701"/>
                </a:lnTo>
                <a:lnTo>
                  <a:pt x="506" y="1700"/>
                </a:lnTo>
                <a:lnTo>
                  <a:pt x="508" y="1700"/>
                </a:lnTo>
                <a:close/>
                <a:moveTo>
                  <a:pt x="335" y="1687"/>
                </a:moveTo>
                <a:lnTo>
                  <a:pt x="336" y="1688"/>
                </a:lnTo>
                <a:lnTo>
                  <a:pt x="336" y="1689"/>
                </a:lnTo>
                <a:lnTo>
                  <a:pt x="336" y="1690"/>
                </a:lnTo>
                <a:lnTo>
                  <a:pt x="335" y="1690"/>
                </a:lnTo>
                <a:lnTo>
                  <a:pt x="333" y="1690"/>
                </a:lnTo>
                <a:lnTo>
                  <a:pt x="333" y="1689"/>
                </a:lnTo>
                <a:lnTo>
                  <a:pt x="333" y="1688"/>
                </a:lnTo>
                <a:lnTo>
                  <a:pt x="335" y="1687"/>
                </a:lnTo>
                <a:close/>
                <a:moveTo>
                  <a:pt x="1589" y="1683"/>
                </a:moveTo>
                <a:lnTo>
                  <a:pt x="1591" y="1683"/>
                </a:lnTo>
                <a:lnTo>
                  <a:pt x="1593" y="1685"/>
                </a:lnTo>
                <a:lnTo>
                  <a:pt x="1594" y="1686"/>
                </a:lnTo>
                <a:lnTo>
                  <a:pt x="1594" y="1688"/>
                </a:lnTo>
                <a:lnTo>
                  <a:pt x="1594" y="1690"/>
                </a:lnTo>
                <a:lnTo>
                  <a:pt x="1593" y="1692"/>
                </a:lnTo>
                <a:lnTo>
                  <a:pt x="1591" y="1693"/>
                </a:lnTo>
                <a:lnTo>
                  <a:pt x="1589" y="1694"/>
                </a:lnTo>
                <a:lnTo>
                  <a:pt x="1587" y="1693"/>
                </a:lnTo>
                <a:lnTo>
                  <a:pt x="1585" y="1692"/>
                </a:lnTo>
                <a:lnTo>
                  <a:pt x="1584" y="1690"/>
                </a:lnTo>
                <a:lnTo>
                  <a:pt x="1584" y="1688"/>
                </a:lnTo>
                <a:lnTo>
                  <a:pt x="1584" y="1686"/>
                </a:lnTo>
                <a:lnTo>
                  <a:pt x="1585" y="1685"/>
                </a:lnTo>
                <a:lnTo>
                  <a:pt x="1587" y="1683"/>
                </a:lnTo>
                <a:lnTo>
                  <a:pt x="1589" y="1683"/>
                </a:lnTo>
                <a:close/>
                <a:moveTo>
                  <a:pt x="392" y="1670"/>
                </a:moveTo>
                <a:lnTo>
                  <a:pt x="394" y="1670"/>
                </a:lnTo>
                <a:lnTo>
                  <a:pt x="395" y="1671"/>
                </a:lnTo>
                <a:lnTo>
                  <a:pt x="397" y="1671"/>
                </a:lnTo>
                <a:lnTo>
                  <a:pt x="398" y="1672"/>
                </a:lnTo>
                <a:lnTo>
                  <a:pt x="399" y="1673"/>
                </a:lnTo>
                <a:lnTo>
                  <a:pt x="400" y="1675"/>
                </a:lnTo>
                <a:lnTo>
                  <a:pt x="401" y="1676"/>
                </a:lnTo>
                <a:lnTo>
                  <a:pt x="401" y="1678"/>
                </a:lnTo>
                <a:lnTo>
                  <a:pt x="401" y="1680"/>
                </a:lnTo>
                <a:lnTo>
                  <a:pt x="401" y="1681"/>
                </a:lnTo>
                <a:lnTo>
                  <a:pt x="401" y="1683"/>
                </a:lnTo>
                <a:lnTo>
                  <a:pt x="400" y="1685"/>
                </a:lnTo>
                <a:lnTo>
                  <a:pt x="399" y="1686"/>
                </a:lnTo>
                <a:lnTo>
                  <a:pt x="398" y="1687"/>
                </a:lnTo>
                <a:lnTo>
                  <a:pt x="397" y="1688"/>
                </a:lnTo>
                <a:lnTo>
                  <a:pt x="395" y="1689"/>
                </a:lnTo>
                <a:lnTo>
                  <a:pt x="394" y="1689"/>
                </a:lnTo>
                <a:lnTo>
                  <a:pt x="392" y="1690"/>
                </a:lnTo>
                <a:lnTo>
                  <a:pt x="390" y="1689"/>
                </a:lnTo>
                <a:lnTo>
                  <a:pt x="389" y="1689"/>
                </a:lnTo>
                <a:lnTo>
                  <a:pt x="387" y="1688"/>
                </a:lnTo>
                <a:lnTo>
                  <a:pt x="386" y="1687"/>
                </a:lnTo>
                <a:lnTo>
                  <a:pt x="385" y="1686"/>
                </a:lnTo>
                <a:lnTo>
                  <a:pt x="384" y="1685"/>
                </a:lnTo>
                <a:lnTo>
                  <a:pt x="383" y="1683"/>
                </a:lnTo>
                <a:lnTo>
                  <a:pt x="383" y="1681"/>
                </a:lnTo>
                <a:lnTo>
                  <a:pt x="382" y="1680"/>
                </a:lnTo>
                <a:lnTo>
                  <a:pt x="383" y="1678"/>
                </a:lnTo>
                <a:lnTo>
                  <a:pt x="383" y="1676"/>
                </a:lnTo>
                <a:lnTo>
                  <a:pt x="384" y="1675"/>
                </a:lnTo>
                <a:lnTo>
                  <a:pt x="385" y="1673"/>
                </a:lnTo>
                <a:lnTo>
                  <a:pt x="386" y="1672"/>
                </a:lnTo>
                <a:lnTo>
                  <a:pt x="387" y="1671"/>
                </a:lnTo>
                <a:lnTo>
                  <a:pt x="389" y="1671"/>
                </a:lnTo>
                <a:lnTo>
                  <a:pt x="390" y="1670"/>
                </a:lnTo>
                <a:lnTo>
                  <a:pt x="392" y="1670"/>
                </a:lnTo>
                <a:close/>
                <a:moveTo>
                  <a:pt x="1532" y="1667"/>
                </a:moveTo>
                <a:cubicBezTo>
                  <a:pt x="1540" y="1666"/>
                  <a:pt x="1546" y="1675"/>
                  <a:pt x="1545" y="1679"/>
                </a:cubicBezTo>
                <a:cubicBezTo>
                  <a:pt x="1546" y="1687"/>
                  <a:pt x="1536" y="1693"/>
                  <a:pt x="1532" y="1692"/>
                </a:cubicBezTo>
                <a:cubicBezTo>
                  <a:pt x="1524" y="1693"/>
                  <a:pt x="1518" y="1683"/>
                  <a:pt x="1519" y="1679"/>
                </a:cubicBezTo>
                <a:cubicBezTo>
                  <a:pt x="1518" y="1672"/>
                  <a:pt x="1528" y="1666"/>
                  <a:pt x="1532" y="1667"/>
                </a:cubicBezTo>
                <a:close/>
                <a:moveTo>
                  <a:pt x="451" y="1661"/>
                </a:moveTo>
                <a:lnTo>
                  <a:pt x="453" y="1661"/>
                </a:lnTo>
                <a:lnTo>
                  <a:pt x="454" y="1662"/>
                </a:lnTo>
                <a:lnTo>
                  <a:pt x="456" y="1663"/>
                </a:lnTo>
                <a:lnTo>
                  <a:pt x="457" y="1664"/>
                </a:lnTo>
                <a:lnTo>
                  <a:pt x="458" y="1666"/>
                </a:lnTo>
                <a:lnTo>
                  <a:pt x="458" y="1668"/>
                </a:lnTo>
                <a:lnTo>
                  <a:pt x="458" y="1670"/>
                </a:lnTo>
                <a:lnTo>
                  <a:pt x="457" y="1671"/>
                </a:lnTo>
                <a:lnTo>
                  <a:pt x="456" y="1673"/>
                </a:lnTo>
                <a:lnTo>
                  <a:pt x="454" y="1674"/>
                </a:lnTo>
                <a:lnTo>
                  <a:pt x="453" y="1675"/>
                </a:lnTo>
                <a:lnTo>
                  <a:pt x="451" y="1675"/>
                </a:lnTo>
                <a:lnTo>
                  <a:pt x="449" y="1675"/>
                </a:lnTo>
                <a:lnTo>
                  <a:pt x="447" y="1674"/>
                </a:lnTo>
                <a:lnTo>
                  <a:pt x="446" y="1673"/>
                </a:lnTo>
                <a:lnTo>
                  <a:pt x="445" y="1671"/>
                </a:lnTo>
                <a:lnTo>
                  <a:pt x="444" y="1670"/>
                </a:lnTo>
                <a:lnTo>
                  <a:pt x="444" y="1668"/>
                </a:lnTo>
                <a:lnTo>
                  <a:pt x="444" y="1666"/>
                </a:lnTo>
                <a:lnTo>
                  <a:pt x="445" y="1664"/>
                </a:lnTo>
                <a:lnTo>
                  <a:pt x="446" y="1663"/>
                </a:lnTo>
                <a:lnTo>
                  <a:pt x="447" y="1662"/>
                </a:lnTo>
                <a:lnTo>
                  <a:pt x="449" y="1661"/>
                </a:lnTo>
                <a:lnTo>
                  <a:pt x="451" y="1661"/>
                </a:lnTo>
                <a:close/>
                <a:moveTo>
                  <a:pt x="284" y="1641"/>
                </a:moveTo>
                <a:lnTo>
                  <a:pt x="285" y="1641"/>
                </a:lnTo>
                <a:lnTo>
                  <a:pt x="286" y="1642"/>
                </a:lnTo>
                <a:lnTo>
                  <a:pt x="285" y="1643"/>
                </a:lnTo>
                <a:lnTo>
                  <a:pt x="284" y="1643"/>
                </a:lnTo>
                <a:lnTo>
                  <a:pt x="283" y="1643"/>
                </a:lnTo>
                <a:lnTo>
                  <a:pt x="283" y="1642"/>
                </a:lnTo>
                <a:lnTo>
                  <a:pt x="283" y="1641"/>
                </a:lnTo>
                <a:lnTo>
                  <a:pt x="284" y="1641"/>
                </a:lnTo>
                <a:close/>
                <a:moveTo>
                  <a:pt x="1639" y="1637"/>
                </a:moveTo>
                <a:lnTo>
                  <a:pt x="1641" y="1637"/>
                </a:lnTo>
                <a:lnTo>
                  <a:pt x="1643" y="1638"/>
                </a:lnTo>
                <a:lnTo>
                  <a:pt x="1644" y="1640"/>
                </a:lnTo>
                <a:lnTo>
                  <a:pt x="1644" y="1642"/>
                </a:lnTo>
                <a:lnTo>
                  <a:pt x="1644" y="1644"/>
                </a:lnTo>
                <a:lnTo>
                  <a:pt x="1643" y="1645"/>
                </a:lnTo>
                <a:lnTo>
                  <a:pt x="1641" y="1646"/>
                </a:lnTo>
                <a:lnTo>
                  <a:pt x="1639" y="1647"/>
                </a:lnTo>
                <a:lnTo>
                  <a:pt x="1637" y="1646"/>
                </a:lnTo>
                <a:lnTo>
                  <a:pt x="1636" y="1645"/>
                </a:lnTo>
                <a:lnTo>
                  <a:pt x="1635" y="1644"/>
                </a:lnTo>
                <a:lnTo>
                  <a:pt x="1634" y="1642"/>
                </a:lnTo>
                <a:lnTo>
                  <a:pt x="1635" y="1640"/>
                </a:lnTo>
                <a:lnTo>
                  <a:pt x="1636" y="1638"/>
                </a:lnTo>
                <a:lnTo>
                  <a:pt x="1637" y="1637"/>
                </a:lnTo>
                <a:lnTo>
                  <a:pt x="1639" y="1637"/>
                </a:lnTo>
                <a:close/>
                <a:moveTo>
                  <a:pt x="340" y="1626"/>
                </a:moveTo>
                <a:lnTo>
                  <a:pt x="342" y="1626"/>
                </a:lnTo>
                <a:lnTo>
                  <a:pt x="344" y="1626"/>
                </a:lnTo>
                <a:lnTo>
                  <a:pt x="345" y="1627"/>
                </a:lnTo>
                <a:lnTo>
                  <a:pt x="347" y="1628"/>
                </a:lnTo>
                <a:lnTo>
                  <a:pt x="348" y="1630"/>
                </a:lnTo>
                <a:lnTo>
                  <a:pt x="349" y="1631"/>
                </a:lnTo>
                <a:lnTo>
                  <a:pt x="349" y="1633"/>
                </a:lnTo>
                <a:lnTo>
                  <a:pt x="349" y="1635"/>
                </a:lnTo>
                <a:lnTo>
                  <a:pt x="349" y="1637"/>
                </a:lnTo>
                <a:lnTo>
                  <a:pt x="349" y="1639"/>
                </a:lnTo>
                <a:lnTo>
                  <a:pt x="348" y="1640"/>
                </a:lnTo>
                <a:lnTo>
                  <a:pt x="347" y="1642"/>
                </a:lnTo>
                <a:lnTo>
                  <a:pt x="345" y="1643"/>
                </a:lnTo>
                <a:lnTo>
                  <a:pt x="344" y="1644"/>
                </a:lnTo>
                <a:lnTo>
                  <a:pt x="342" y="1644"/>
                </a:lnTo>
                <a:lnTo>
                  <a:pt x="340" y="1644"/>
                </a:lnTo>
                <a:lnTo>
                  <a:pt x="338" y="1644"/>
                </a:lnTo>
                <a:lnTo>
                  <a:pt x="336" y="1644"/>
                </a:lnTo>
                <a:lnTo>
                  <a:pt x="335" y="1643"/>
                </a:lnTo>
                <a:lnTo>
                  <a:pt x="333" y="1642"/>
                </a:lnTo>
                <a:lnTo>
                  <a:pt x="332" y="1640"/>
                </a:lnTo>
                <a:lnTo>
                  <a:pt x="331" y="1639"/>
                </a:lnTo>
                <a:lnTo>
                  <a:pt x="331" y="1637"/>
                </a:lnTo>
                <a:lnTo>
                  <a:pt x="331" y="1635"/>
                </a:lnTo>
                <a:lnTo>
                  <a:pt x="331" y="1633"/>
                </a:lnTo>
                <a:lnTo>
                  <a:pt x="331" y="1631"/>
                </a:lnTo>
                <a:lnTo>
                  <a:pt x="332" y="1630"/>
                </a:lnTo>
                <a:lnTo>
                  <a:pt x="333" y="1628"/>
                </a:lnTo>
                <a:lnTo>
                  <a:pt x="335" y="1627"/>
                </a:lnTo>
                <a:lnTo>
                  <a:pt x="336" y="1626"/>
                </a:lnTo>
                <a:lnTo>
                  <a:pt x="338" y="1626"/>
                </a:lnTo>
                <a:lnTo>
                  <a:pt x="340" y="1626"/>
                </a:lnTo>
                <a:close/>
                <a:moveTo>
                  <a:pt x="1584" y="1622"/>
                </a:moveTo>
                <a:lnTo>
                  <a:pt x="1586" y="1623"/>
                </a:lnTo>
                <a:lnTo>
                  <a:pt x="1587" y="1623"/>
                </a:lnTo>
                <a:lnTo>
                  <a:pt x="1589" y="1624"/>
                </a:lnTo>
                <a:lnTo>
                  <a:pt x="1590" y="1624"/>
                </a:lnTo>
                <a:lnTo>
                  <a:pt x="1592" y="1625"/>
                </a:lnTo>
                <a:lnTo>
                  <a:pt x="1593" y="1627"/>
                </a:lnTo>
                <a:lnTo>
                  <a:pt x="1594" y="1628"/>
                </a:lnTo>
                <a:lnTo>
                  <a:pt x="1595" y="1630"/>
                </a:lnTo>
                <a:lnTo>
                  <a:pt x="1596" y="1631"/>
                </a:lnTo>
                <a:lnTo>
                  <a:pt x="1596" y="1633"/>
                </a:lnTo>
                <a:lnTo>
                  <a:pt x="1596" y="1635"/>
                </a:lnTo>
                <a:lnTo>
                  <a:pt x="1596" y="1637"/>
                </a:lnTo>
                <a:lnTo>
                  <a:pt x="1596" y="1638"/>
                </a:lnTo>
                <a:lnTo>
                  <a:pt x="1595" y="1640"/>
                </a:lnTo>
                <a:lnTo>
                  <a:pt x="1594" y="1641"/>
                </a:lnTo>
                <a:lnTo>
                  <a:pt x="1593" y="1643"/>
                </a:lnTo>
                <a:lnTo>
                  <a:pt x="1592" y="1644"/>
                </a:lnTo>
                <a:lnTo>
                  <a:pt x="1590" y="1645"/>
                </a:lnTo>
                <a:lnTo>
                  <a:pt x="1589" y="1646"/>
                </a:lnTo>
                <a:lnTo>
                  <a:pt x="1587" y="1647"/>
                </a:lnTo>
                <a:lnTo>
                  <a:pt x="1586" y="1647"/>
                </a:lnTo>
                <a:lnTo>
                  <a:pt x="1584" y="1647"/>
                </a:lnTo>
                <a:lnTo>
                  <a:pt x="1582" y="1647"/>
                </a:lnTo>
                <a:lnTo>
                  <a:pt x="1580" y="1647"/>
                </a:lnTo>
                <a:lnTo>
                  <a:pt x="1579" y="1646"/>
                </a:lnTo>
                <a:lnTo>
                  <a:pt x="1577" y="1645"/>
                </a:lnTo>
                <a:lnTo>
                  <a:pt x="1576" y="1644"/>
                </a:lnTo>
                <a:lnTo>
                  <a:pt x="1574" y="1643"/>
                </a:lnTo>
                <a:lnTo>
                  <a:pt x="1573" y="1641"/>
                </a:lnTo>
                <a:lnTo>
                  <a:pt x="1573" y="1640"/>
                </a:lnTo>
                <a:lnTo>
                  <a:pt x="1572" y="1638"/>
                </a:lnTo>
                <a:lnTo>
                  <a:pt x="1571" y="1637"/>
                </a:lnTo>
                <a:lnTo>
                  <a:pt x="1571" y="1635"/>
                </a:lnTo>
                <a:lnTo>
                  <a:pt x="1571" y="1633"/>
                </a:lnTo>
                <a:lnTo>
                  <a:pt x="1572" y="1631"/>
                </a:lnTo>
                <a:lnTo>
                  <a:pt x="1573" y="1630"/>
                </a:lnTo>
                <a:lnTo>
                  <a:pt x="1573" y="1628"/>
                </a:lnTo>
                <a:lnTo>
                  <a:pt x="1574" y="1627"/>
                </a:lnTo>
                <a:lnTo>
                  <a:pt x="1576" y="1625"/>
                </a:lnTo>
                <a:lnTo>
                  <a:pt x="1577" y="1624"/>
                </a:lnTo>
                <a:lnTo>
                  <a:pt x="1579" y="1624"/>
                </a:lnTo>
                <a:lnTo>
                  <a:pt x="1580" y="1623"/>
                </a:lnTo>
                <a:lnTo>
                  <a:pt x="1582" y="1623"/>
                </a:lnTo>
                <a:lnTo>
                  <a:pt x="1584" y="1622"/>
                </a:lnTo>
                <a:close/>
                <a:moveTo>
                  <a:pt x="398" y="1618"/>
                </a:moveTo>
                <a:lnTo>
                  <a:pt x="399" y="1618"/>
                </a:lnTo>
                <a:lnTo>
                  <a:pt x="401" y="1619"/>
                </a:lnTo>
                <a:lnTo>
                  <a:pt x="402" y="1619"/>
                </a:lnTo>
                <a:lnTo>
                  <a:pt x="404" y="1621"/>
                </a:lnTo>
                <a:lnTo>
                  <a:pt x="404" y="1622"/>
                </a:lnTo>
                <a:lnTo>
                  <a:pt x="405" y="1624"/>
                </a:lnTo>
                <a:lnTo>
                  <a:pt x="405" y="1626"/>
                </a:lnTo>
                <a:lnTo>
                  <a:pt x="405" y="1627"/>
                </a:lnTo>
                <a:lnTo>
                  <a:pt x="404" y="1629"/>
                </a:lnTo>
                <a:lnTo>
                  <a:pt x="404" y="1631"/>
                </a:lnTo>
                <a:lnTo>
                  <a:pt x="402" y="1632"/>
                </a:lnTo>
                <a:lnTo>
                  <a:pt x="401" y="1633"/>
                </a:lnTo>
                <a:lnTo>
                  <a:pt x="399" y="1633"/>
                </a:lnTo>
                <a:lnTo>
                  <a:pt x="398" y="1634"/>
                </a:lnTo>
                <a:lnTo>
                  <a:pt x="396" y="1633"/>
                </a:lnTo>
                <a:lnTo>
                  <a:pt x="394" y="1633"/>
                </a:lnTo>
                <a:lnTo>
                  <a:pt x="393" y="1632"/>
                </a:lnTo>
                <a:lnTo>
                  <a:pt x="391" y="1631"/>
                </a:lnTo>
                <a:lnTo>
                  <a:pt x="391" y="1629"/>
                </a:lnTo>
                <a:lnTo>
                  <a:pt x="390" y="1627"/>
                </a:lnTo>
                <a:lnTo>
                  <a:pt x="390" y="1626"/>
                </a:lnTo>
                <a:lnTo>
                  <a:pt x="390" y="1624"/>
                </a:lnTo>
                <a:lnTo>
                  <a:pt x="391" y="1622"/>
                </a:lnTo>
                <a:lnTo>
                  <a:pt x="391" y="1621"/>
                </a:lnTo>
                <a:lnTo>
                  <a:pt x="393" y="1619"/>
                </a:lnTo>
                <a:lnTo>
                  <a:pt x="394" y="1619"/>
                </a:lnTo>
                <a:lnTo>
                  <a:pt x="396" y="1618"/>
                </a:lnTo>
                <a:lnTo>
                  <a:pt x="398" y="1618"/>
                </a:lnTo>
                <a:close/>
                <a:moveTo>
                  <a:pt x="238" y="1591"/>
                </a:moveTo>
                <a:lnTo>
                  <a:pt x="239" y="1591"/>
                </a:lnTo>
                <a:lnTo>
                  <a:pt x="239" y="1592"/>
                </a:lnTo>
                <a:lnTo>
                  <a:pt x="239" y="1593"/>
                </a:lnTo>
                <a:lnTo>
                  <a:pt x="238" y="1593"/>
                </a:lnTo>
                <a:lnTo>
                  <a:pt x="238" y="1593"/>
                </a:lnTo>
                <a:lnTo>
                  <a:pt x="237" y="1592"/>
                </a:lnTo>
                <a:lnTo>
                  <a:pt x="238" y="1591"/>
                </a:lnTo>
                <a:lnTo>
                  <a:pt x="238" y="1591"/>
                </a:lnTo>
                <a:close/>
                <a:moveTo>
                  <a:pt x="1686" y="1587"/>
                </a:moveTo>
                <a:lnTo>
                  <a:pt x="1688" y="1588"/>
                </a:lnTo>
                <a:lnTo>
                  <a:pt x="1690" y="1590"/>
                </a:lnTo>
                <a:lnTo>
                  <a:pt x="1690" y="1592"/>
                </a:lnTo>
                <a:lnTo>
                  <a:pt x="1690" y="1594"/>
                </a:lnTo>
                <a:lnTo>
                  <a:pt x="1688" y="1596"/>
                </a:lnTo>
                <a:lnTo>
                  <a:pt x="1686" y="1596"/>
                </a:lnTo>
                <a:lnTo>
                  <a:pt x="1684" y="1596"/>
                </a:lnTo>
                <a:lnTo>
                  <a:pt x="1682" y="1594"/>
                </a:lnTo>
                <a:lnTo>
                  <a:pt x="1681" y="1592"/>
                </a:lnTo>
                <a:lnTo>
                  <a:pt x="1682" y="1590"/>
                </a:lnTo>
                <a:lnTo>
                  <a:pt x="1684" y="1588"/>
                </a:lnTo>
                <a:lnTo>
                  <a:pt x="1686" y="1587"/>
                </a:lnTo>
                <a:close/>
                <a:moveTo>
                  <a:pt x="292" y="1578"/>
                </a:moveTo>
                <a:lnTo>
                  <a:pt x="294" y="1578"/>
                </a:lnTo>
                <a:lnTo>
                  <a:pt x="295" y="1579"/>
                </a:lnTo>
                <a:lnTo>
                  <a:pt x="297" y="1580"/>
                </a:lnTo>
                <a:lnTo>
                  <a:pt x="298" y="1581"/>
                </a:lnTo>
                <a:lnTo>
                  <a:pt x="299" y="1582"/>
                </a:lnTo>
                <a:lnTo>
                  <a:pt x="300" y="1583"/>
                </a:lnTo>
                <a:lnTo>
                  <a:pt x="301" y="1585"/>
                </a:lnTo>
                <a:lnTo>
                  <a:pt x="301" y="1587"/>
                </a:lnTo>
                <a:lnTo>
                  <a:pt x="301" y="1589"/>
                </a:lnTo>
                <a:lnTo>
                  <a:pt x="300" y="1590"/>
                </a:lnTo>
                <a:lnTo>
                  <a:pt x="299" y="1592"/>
                </a:lnTo>
                <a:lnTo>
                  <a:pt x="298" y="1593"/>
                </a:lnTo>
                <a:lnTo>
                  <a:pt x="297" y="1594"/>
                </a:lnTo>
                <a:lnTo>
                  <a:pt x="295" y="1595"/>
                </a:lnTo>
                <a:lnTo>
                  <a:pt x="294" y="1596"/>
                </a:lnTo>
                <a:lnTo>
                  <a:pt x="292" y="1596"/>
                </a:lnTo>
                <a:lnTo>
                  <a:pt x="290" y="1596"/>
                </a:lnTo>
                <a:lnTo>
                  <a:pt x="288" y="1595"/>
                </a:lnTo>
                <a:lnTo>
                  <a:pt x="287" y="1594"/>
                </a:lnTo>
                <a:lnTo>
                  <a:pt x="286" y="1593"/>
                </a:lnTo>
                <a:lnTo>
                  <a:pt x="285" y="1592"/>
                </a:lnTo>
                <a:lnTo>
                  <a:pt x="284" y="1590"/>
                </a:lnTo>
                <a:lnTo>
                  <a:pt x="283" y="1589"/>
                </a:lnTo>
                <a:lnTo>
                  <a:pt x="283" y="1587"/>
                </a:lnTo>
                <a:lnTo>
                  <a:pt x="283" y="1585"/>
                </a:lnTo>
                <a:lnTo>
                  <a:pt x="284" y="1583"/>
                </a:lnTo>
                <a:lnTo>
                  <a:pt x="285" y="1582"/>
                </a:lnTo>
                <a:lnTo>
                  <a:pt x="286" y="1581"/>
                </a:lnTo>
                <a:lnTo>
                  <a:pt x="287" y="1580"/>
                </a:lnTo>
                <a:lnTo>
                  <a:pt x="288" y="1579"/>
                </a:lnTo>
                <a:lnTo>
                  <a:pt x="290" y="1578"/>
                </a:lnTo>
                <a:lnTo>
                  <a:pt x="292" y="1578"/>
                </a:lnTo>
                <a:close/>
                <a:moveTo>
                  <a:pt x="1632" y="1574"/>
                </a:moveTo>
                <a:lnTo>
                  <a:pt x="1634" y="1574"/>
                </a:lnTo>
                <a:lnTo>
                  <a:pt x="1635" y="1575"/>
                </a:lnTo>
                <a:lnTo>
                  <a:pt x="1637" y="1575"/>
                </a:lnTo>
                <a:lnTo>
                  <a:pt x="1639" y="1576"/>
                </a:lnTo>
                <a:lnTo>
                  <a:pt x="1640" y="1577"/>
                </a:lnTo>
                <a:lnTo>
                  <a:pt x="1641" y="1579"/>
                </a:lnTo>
                <a:lnTo>
                  <a:pt x="1642" y="1580"/>
                </a:lnTo>
                <a:lnTo>
                  <a:pt x="1643" y="1581"/>
                </a:lnTo>
                <a:lnTo>
                  <a:pt x="1644" y="1583"/>
                </a:lnTo>
                <a:lnTo>
                  <a:pt x="1644" y="1585"/>
                </a:lnTo>
                <a:lnTo>
                  <a:pt x="1644" y="1586"/>
                </a:lnTo>
                <a:lnTo>
                  <a:pt x="1644" y="1588"/>
                </a:lnTo>
                <a:lnTo>
                  <a:pt x="1644" y="1590"/>
                </a:lnTo>
                <a:lnTo>
                  <a:pt x="1643" y="1592"/>
                </a:lnTo>
                <a:lnTo>
                  <a:pt x="1642" y="1593"/>
                </a:lnTo>
                <a:lnTo>
                  <a:pt x="1641" y="1594"/>
                </a:lnTo>
                <a:lnTo>
                  <a:pt x="1640" y="1596"/>
                </a:lnTo>
                <a:lnTo>
                  <a:pt x="1639" y="1597"/>
                </a:lnTo>
                <a:lnTo>
                  <a:pt x="1637" y="1597"/>
                </a:lnTo>
                <a:lnTo>
                  <a:pt x="1635" y="1598"/>
                </a:lnTo>
                <a:lnTo>
                  <a:pt x="1634" y="1598"/>
                </a:lnTo>
                <a:lnTo>
                  <a:pt x="1632" y="1599"/>
                </a:lnTo>
                <a:lnTo>
                  <a:pt x="1630" y="1598"/>
                </a:lnTo>
                <a:lnTo>
                  <a:pt x="1628" y="1598"/>
                </a:lnTo>
                <a:lnTo>
                  <a:pt x="1627" y="1597"/>
                </a:lnTo>
                <a:lnTo>
                  <a:pt x="1625" y="1597"/>
                </a:lnTo>
                <a:lnTo>
                  <a:pt x="1624" y="1596"/>
                </a:lnTo>
                <a:lnTo>
                  <a:pt x="1623" y="1594"/>
                </a:lnTo>
                <a:lnTo>
                  <a:pt x="1622" y="1593"/>
                </a:lnTo>
                <a:lnTo>
                  <a:pt x="1621" y="1592"/>
                </a:lnTo>
                <a:lnTo>
                  <a:pt x="1620" y="1590"/>
                </a:lnTo>
                <a:lnTo>
                  <a:pt x="1620" y="1588"/>
                </a:lnTo>
                <a:lnTo>
                  <a:pt x="1620" y="1586"/>
                </a:lnTo>
                <a:lnTo>
                  <a:pt x="1620" y="1585"/>
                </a:lnTo>
                <a:lnTo>
                  <a:pt x="1620" y="1583"/>
                </a:lnTo>
                <a:lnTo>
                  <a:pt x="1621" y="1581"/>
                </a:lnTo>
                <a:lnTo>
                  <a:pt x="1622" y="1580"/>
                </a:lnTo>
                <a:lnTo>
                  <a:pt x="1623" y="1579"/>
                </a:lnTo>
                <a:lnTo>
                  <a:pt x="1624" y="1577"/>
                </a:lnTo>
                <a:lnTo>
                  <a:pt x="1625" y="1576"/>
                </a:lnTo>
                <a:lnTo>
                  <a:pt x="1627" y="1575"/>
                </a:lnTo>
                <a:lnTo>
                  <a:pt x="1628" y="1575"/>
                </a:lnTo>
                <a:lnTo>
                  <a:pt x="1630" y="1574"/>
                </a:lnTo>
                <a:lnTo>
                  <a:pt x="1632" y="1574"/>
                </a:lnTo>
                <a:close/>
                <a:moveTo>
                  <a:pt x="348" y="1571"/>
                </a:moveTo>
                <a:lnTo>
                  <a:pt x="349" y="1571"/>
                </a:lnTo>
                <a:lnTo>
                  <a:pt x="351" y="1571"/>
                </a:lnTo>
                <a:lnTo>
                  <a:pt x="352" y="1572"/>
                </a:lnTo>
                <a:lnTo>
                  <a:pt x="354" y="1573"/>
                </a:lnTo>
                <a:lnTo>
                  <a:pt x="355" y="1574"/>
                </a:lnTo>
                <a:lnTo>
                  <a:pt x="356" y="1576"/>
                </a:lnTo>
                <a:lnTo>
                  <a:pt x="356" y="1578"/>
                </a:lnTo>
                <a:lnTo>
                  <a:pt x="356" y="1579"/>
                </a:lnTo>
                <a:lnTo>
                  <a:pt x="356" y="1581"/>
                </a:lnTo>
                <a:lnTo>
                  <a:pt x="356" y="1583"/>
                </a:lnTo>
                <a:lnTo>
                  <a:pt x="355" y="1584"/>
                </a:lnTo>
                <a:lnTo>
                  <a:pt x="354" y="1585"/>
                </a:lnTo>
                <a:lnTo>
                  <a:pt x="352" y="1586"/>
                </a:lnTo>
                <a:lnTo>
                  <a:pt x="351" y="1587"/>
                </a:lnTo>
                <a:lnTo>
                  <a:pt x="349" y="1588"/>
                </a:lnTo>
                <a:lnTo>
                  <a:pt x="348" y="1588"/>
                </a:lnTo>
                <a:lnTo>
                  <a:pt x="346" y="1588"/>
                </a:lnTo>
                <a:lnTo>
                  <a:pt x="344" y="1587"/>
                </a:lnTo>
                <a:lnTo>
                  <a:pt x="343" y="1586"/>
                </a:lnTo>
                <a:lnTo>
                  <a:pt x="342" y="1585"/>
                </a:lnTo>
                <a:lnTo>
                  <a:pt x="340" y="1584"/>
                </a:lnTo>
                <a:lnTo>
                  <a:pt x="340" y="1583"/>
                </a:lnTo>
                <a:lnTo>
                  <a:pt x="339" y="1581"/>
                </a:lnTo>
                <a:lnTo>
                  <a:pt x="339" y="1579"/>
                </a:lnTo>
                <a:lnTo>
                  <a:pt x="339" y="1578"/>
                </a:lnTo>
                <a:lnTo>
                  <a:pt x="340" y="1576"/>
                </a:lnTo>
                <a:lnTo>
                  <a:pt x="340" y="1574"/>
                </a:lnTo>
                <a:lnTo>
                  <a:pt x="342" y="1573"/>
                </a:lnTo>
                <a:lnTo>
                  <a:pt x="343" y="1572"/>
                </a:lnTo>
                <a:lnTo>
                  <a:pt x="344" y="1571"/>
                </a:lnTo>
                <a:lnTo>
                  <a:pt x="346" y="1571"/>
                </a:lnTo>
                <a:lnTo>
                  <a:pt x="348" y="1571"/>
                </a:lnTo>
                <a:close/>
                <a:moveTo>
                  <a:pt x="195" y="1538"/>
                </a:moveTo>
                <a:lnTo>
                  <a:pt x="196" y="1539"/>
                </a:lnTo>
                <a:lnTo>
                  <a:pt x="196" y="1539"/>
                </a:lnTo>
                <a:lnTo>
                  <a:pt x="196" y="1540"/>
                </a:lnTo>
                <a:lnTo>
                  <a:pt x="195" y="1540"/>
                </a:lnTo>
                <a:lnTo>
                  <a:pt x="194" y="1540"/>
                </a:lnTo>
                <a:lnTo>
                  <a:pt x="194" y="1539"/>
                </a:lnTo>
                <a:lnTo>
                  <a:pt x="194" y="1539"/>
                </a:lnTo>
                <a:lnTo>
                  <a:pt x="195" y="1538"/>
                </a:lnTo>
                <a:close/>
                <a:moveTo>
                  <a:pt x="1729" y="1535"/>
                </a:moveTo>
                <a:lnTo>
                  <a:pt x="1731" y="1535"/>
                </a:lnTo>
                <a:lnTo>
                  <a:pt x="1732" y="1537"/>
                </a:lnTo>
                <a:lnTo>
                  <a:pt x="1733" y="1539"/>
                </a:lnTo>
                <a:lnTo>
                  <a:pt x="1732" y="1541"/>
                </a:lnTo>
                <a:lnTo>
                  <a:pt x="1731" y="1542"/>
                </a:lnTo>
                <a:lnTo>
                  <a:pt x="1729" y="1543"/>
                </a:lnTo>
                <a:lnTo>
                  <a:pt x="1727" y="1542"/>
                </a:lnTo>
                <a:lnTo>
                  <a:pt x="1725" y="1541"/>
                </a:lnTo>
                <a:lnTo>
                  <a:pt x="1725" y="1539"/>
                </a:lnTo>
                <a:lnTo>
                  <a:pt x="1725" y="1537"/>
                </a:lnTo>
                <a:lnTo>
                  <a:pt x="1727" y="1535"/>
                </a:lnTo>
                <a:lnTo>
                  <a:pt x="1729" y="1535"/>
                </a:lnTo>
                <a:close/>
                <a:moveTo>
                  <a:pt x="247" y="1526"/>
                </a:moveTo>
                <a:lnTo>
                  <a:pt x="249" y="1527"/>
                </a:lnTo>
                <a:lnTo>
                  <a:pt x="250" y="1527"/>
                </a:lnTo>
                <a:lnTo>
                  <a:pt x="252" y="1528"/>
                </a:lnTo>
                <a:lnTo>
                  <a:pt x="253" y="1529"/>
                </a:lnTo>
                <a:lnTo>
                  <a:pt x="254" y="1530"/>
                </a:lnTo>
                <a:lnTo>
                  <a:pt x="255" y="1532"/>
                </a:lnTo>
                <a:lnTo>
                  <a:pt x="255" y="1533"/>
                </a:lnTo>
                <a:lnTo>
                  <a:pt x="256" y="1535"/>
                </a:lnTo>
                <a:lnTo>
                  <a:pt x="255" y="1537"/>
                </a:lnTo>
                <a:lnTo>
                  <a:pt x="255" y="1538"/>
                </a:lnTo>
                <a:lnTo>
                  <a:pt x="254" y="1540"/>
                </a:lnTo>
                <a:lnTo>
                  <a:pt x="253" y="1541"/>
                </a:lnTo>
                <a:lnTo>
                  <a:pt x="252" y="1542"/>
                </a:lnTo>
                <a:lnTo>
                  <a:pt x="250" y="1543"/>
                </a:lnTo>
                <a:lnTo>
                  <a:pt x="249" y="1543"/>
                </a:lnTo>
                <a:lnTo>
                  <a:pt x="247" y="1544"/>
                </a:lnTo>
                <a:lnTo>
                  <a:pt x="245" y="1543"/>
                </a:lnTo>
                <a:lnTo>
                  <a:pt x="244" y="1543"/>
                </a:lnTo>
                <a:lnTo>
                  <a:pt x="242" y="1542"/>
                </a:lnTo>
                <a:lnTo>
                  <a:pt x="241" y="1541"/>
                </a:lnTo>
                <a:lnTo>
                  <a:pt x="240" y="1540"/>
                </a:lnTo>
                <a:lnTo>
                  <a:pt x="239" y="1538"/>
                </a:lnTo>
                <a:lnTo>
                  <a:pt x="239" y="1537"/>
                </a:lnTo>
                <a:lnTo>
                  <a:pt x="239" y="1535"/>
                </a:lnTo>
                <a:lnTo>
                  <a:pt x="239" y="1533"/>
                </a:lnTo>
                <a:lnTo>
                  <a:pt x="239" y="1532"/>
                </a:lnTo>
                <a:lnTo>
                  <a:pt x="240" y="1530"/>
                </a:lnTo>
                <a:lnTo>
                  <a:pt x="241" y="1529"/>
                </a:lnTo>
                <a:lnTo>
                  <a:pt x="242" y="1528"/>
                </a:lnTo>
                <a:lnTo>
                  <a:pt x="244" y="1527"/>
                </a:lnTo>
                <a:lnTo>
                  <a:pt x="245" y="1527"/>
                </a:lnTo>
                <a:lnTo>
                  <a:pt x="247" y="1526"/>
                </a:lnTo>
                <a:close/>
                <a:moveTo>
                  <a:pt x="1677" y="1523"/>
                </a:moveTo>
                <a:lnTo>
                  <a:pt x="1678" y="1523"/>
                </a:lnTo>
                <a:lnTo>
                  <a:pt x="1680" y="1524"/>
                </a:lnTo>
                <a:lnTo>
                  <a:pt x="1682" y="1524"/>
                </a:lnTo>
                <a:lnTo>
                  <a:pt x="1683" y="1525"/>
                </a:lnTo>
                <a:lnTo>
                  <a:pt x="1684" y="1526"/>
                </a:lnTo>
                <a:lnTo>
                  <a:pt x="1686" y="1527"/>
                </a:lnTo>
                <a:lnTo>
                  <a:pt x="1687" y="1528"/>
                </a:lnTo>
                <a:lnTo>
                  <a:pt x="1687" y="1530"/>
                </a:lnTo>
                <a:lnTo>
                  <a:pt x="1688" y="1531"/>
                </a:lnTo>
                <a:lnTo>
                  <a:pt x="1688" y="1533"/>
                </a:lnTo>
                <a:lnTo>
                  <a:pt x="1688" y="1535"/>
                </a:lnTo>
                <a:lnTo>
                  <a:pt x="1688" y="1536"/>
                </a:lnTo>
                <a:lnTo>
                  <a:pt x="1688" y="1538"/>
                </a:lnTo>
                <a:lnTo>
                  <a:pt x="1687" y="1540"/>
                </a:lnTo>
                <a:lnTo>
                  <a:pt x="1687" y="1541"/>
                </a:lnTo>
                <a:lnTo>
                  <a:pt x="1686" y="1542"/>
                </a:lnTo>
                <a:lnTo>
                  <a:pt x="1684" y="1544"/>
                </a:lnTo>
                <a:lnTo>
                  <a:pt x="1683" y="1545"/>
                </a:lnTo>
                <a:lnTo>
                  <a:pt x="1682" y="1545"/>
                </a:lnTo>
                <a:lnTo>
                  <a:pt x="1680" y="1546"/>
                </a:lnTo>
                <a:lnTo>
                  <a:pt x="1678" y="1546"/>
                </a:lnTo>
                <a:lnTo>
                  <a:pt x="1677" y="1546"/>
                </a:lnTo>
                <a:lnTo>
                  <a:pt x="1675" y="1546"/>
                </a:lnTo>
                <a:lnTo>
                  <a:pt x="1673" y="1546"/>
                </a:lnTo>
                <a:lnTo>
                  <a:pt x="1672" y="1545"/>
                </a:lnTo>
                <a:lnTo>
                  <a:pt x="1670" y="1545"/>
                </a:lnTo>
                <a:lnTo>
                  <a:pt x="1669" y="1544"/>
                </a:lnTo>
                <a:lnTo>
                  <a:pt x="1668" y="1542"/>
                </a:lnTo>
                <a:lnTo>
                  <a:pt x="1667" y="1541"/>
                </a:lnTo>
                <a:lnTo>
                  <a:pt x="1666" y="1540"/>
                </a:lnTo>
                <a:lnTo>
                  <a:pt x="1666" y="1538"/>
                </a:lnTo>
                <a:lnTo>
                  <a:pt x="1665" y="1536"/>
                </a:lnTo>
                <a:lnTo>
                  <a:pt x="1665" y="1535"/>
                </a:lnTo>
                <a:lnTo>
                  <a:pt x="1665" y="1533"/>
                </a:lnTo>
                <a:lnTo>
                  <a:pt x="1666" y="1531"/>
                </a:lnTo>
                <a:lnTo>
                  <a:pt x="1666" y="1530"/>
                </a:lnTo>
                <a:lnTo>
                  <a:pt x="1667" y="1528"/>
                </a:lnTo>
                <a:lnTo>
                  <a:pt x="1668" y="1527"/>
                </a:lnTo>
                <a:lnTo>
                  <a:pt x="1669" y="1526"/>
                </a:lnTo>
                <a:lnTo>
                  <a:pt x="1670" y="1525"/>
                </a:lnTo>
                <a:lnTo>
                  <a:pt x="1672" y="1524"/>
                </a:lnTo>
                <a:lnTo>
                  <a:pt x="1673" y="1524"/>
                </a:lnTo>
                <a:lnTo>
                  <a:pt x="1675" y="1523"/>
                </a:lnTo>
                <a:lnTo>
                  <a:pt x="1677" y="1523"/>
                </a:lnTo>
                <a:close/>
                <a:moveTo>
                  <a:pt x="301" y="1520"/>
                </a:moveTo>
                <a:lnTo>
                  <a:pt x="303" y="1520"/>
                </a:lnTo>
                <a:lnTo>
                  <a:pt x="305" y="1521"/>
                </a:lnTo>
                <a:lnTo>
                  <a:pt x="306" y="1521"/>
                </a:lnTo>
                <a:lnTo>
                  <a:pt x="308" y="1523"/>
                </a:lnTo>
                <a:lnTo>
                  <a:pt x="309" y="1524"/>
                </a:lnTo>
                <a:lnTo>
                  <a:pt x="310" y="1526"/>
                </a:lnTo>
                <a:lnTo>
                  <a:pt x="310" y="1527"/>
                </a:lnTo>
                <a:lnTo>
                  <a:pt x="311" y="1529"/>
                </a:lnTo>
                <a:lnTo>
                  <a:pt x="310" y="1531"/>
                </a:lnTo>
                <a:lnTo>
                  <a:pt x="310" y="1533"/>
                </a:lnTo>
                <a:lnTo>
                  <a:pt x="309" y="1534"/>
                </a:lnTo>
                <a:lnTo>
                  <a:pt x="308" y="1536"/>
                </a:lnTo>
                <a:lnTo>
                  <a:pt x="306" y="1537"/>
                </a:lnTo>
                <a:lnTo>
                  <a:pt x="305" y="1538"/>
                </a:lnTo>
                <a:lnTo>
                  <a:pt x="303" y="1538"/>
                </a:lnTo>
                <a:lnTo>
                  <a:pt x="301" y="1538"/>
                </a:lnTo>
                <a:lnTo>
                  <a:pt x="299" y="1538"/>
                </a:lnTo>
                <a:lnTo>
                  <a:pt x="298" y="1538"/>
                </a:lnTo>
                <a:lnTo>
                  <a:pt x="296" y="1537"/>
                </a:lnTo>
                <a:lnTo>
                  <a:pt x="295" y="1536"/>
                </a:lnTo>
                <a:lnTo>
                  <a:pt x="293" y="1534"/>
                </a:lnTo>
                <a:lnTo>
                  <a:pt x="293" y="1533"/>
                </a:lnTo>
                <a:lnTo>
                  <a:pt x="292" y="1531"/>
                </a:lnTo>
                <a:lnTo>
                  <a:pt x="292" y="1529"/>
                </a:lnTo>
                <a:lnTo>
                  <a:pt x="292" y="1527"/>
                </a:lnTo>
                <a:lnTo>
                  <a:pt x="293" y="1526"/>
                </a:lnTo>
                <a:lnTo>
                  <a:pt x="293" y="1524"/>
                </a:lnTo>
                <a:lnTo>
                  <a:pt x="295" y="1523"/>
                </a:lnTo>
                <a:lnTo>
                  <a:pt x="296" y="1521"/>
                </a:lnTo>
                <a:lnTo>
                  <a:pt x="298" y="1521"/>
                </a:lnTo>
                <a:lnTo>
                  <a:pt x="299" y="1520"/>
                </a:lnTo>
                <a:lnTo>
                  <a:pt x="301" y="1520"/>
                </a:lnTo>
                <a:close/>
                <a:moveTo>
                  <a:pt x="156" y="1482"/>
                </a:moveTo>
                <a:lnTo>
                  <a:pt x="156" y="1482"/>
                </a:lnTo>
                <a:lnTo>
                  <a:pt x="157" y="1483"/>
                </a:lnTo>
                <a:lnTo>
                  <a:pt x="156" y="1484"/>
                </a:lnTo>
                <a:lnTo>
                  <a:pt x="156" y="1484"/>
                </a:lnTo>
                <a:lnTo>
                  <a:pt x="155" y="1484"/>
                </a:lnTo>
                <a:lnTo>
                  <a:pt x="155" y="1483"/>
                </a:lnTo>
                <a:lnTo>
                  <a:pt x="155" y="1482"/>
                </a:lnTo>
                <a:lnTo>
                  <a:pt x="156" y="1482"/>
                </a:lnTo>
                <a:close/>
                <a:moveTo>
                  <a:pt x="1768" y="1479"/>
                </a:moveTo>
                <a:lnTo>
                  <a:pt x="1770" y="1480"/>
                </a:lnTo>
                <a:lnTo>
                  <a:pt x="1771" y="1483"/>
                </a:lnTo>
                <a:lnTo>
                  <a:pt x="1770" y="1485"/>
                </a:lnTo>
                <a:lnTo>
                  <a:pt x="1768" y="1486"/>
                </a:lnTo>
                <a:lnTo>
                  <a:pt x="1765" y="1485"/>
                </a:lnTo>
                <a:lnTo>
                  <a:pt x="1764" y="1483"/>
                </a:lnTo>
                <a:lnTo>
                  <a:pt x="1765" y="1480"/>
                </a:lnTo>
                <a:lnTo>
                  <a:pt x="1768" y="1479"/>
                </a:lnTo>
                <a:close/>
                <a:moveTo>
                  <a:pt x="206" y="1472"/>
                </a:moveTo>
                <a:lnTo>
                  <a:pt x="208" y="1472"/>
                </a:lnTo>
                <a:lnTo>
                  <a:pt x="210" y="1473"/>
                </a:lnTo>
                <a:lnTo>
                  <a:pt x="211" y="1474"/>
                </a:lnTo>
                <a:lnTo>
                  <a:pt x="213" y="1475"/>
                </a:lnTo>
                <a:lnTo>
                  <a:pt x="214" y="1476"/>
                </a:lnTo>
                <a:lnTo>
                  <a:pt x="214" y="1478"/>
                </a:lnTo>
                <a:lnTo>
                  <a:pt x="214" y="1480"/>
                </a:lnTo>
                <a:lnTo>
                  <a:pt x="214" y="1482"/>
                </a:lnTo>
                <a:lnTo>
                  <a:pt x="214" y="1484"/>
                </a:lnTo>
                <a:lnTo>
                  <a:pt x="213" y="1485"/>
                </a:lnTo>
                <a:lnTo>
                  <a:pt x="211" y="1487"/>
                </a:lnTo>
                <a:lnTo>
                  <a:pt x="210" y="1488"/>
                </a:lnTo>
                <a:lnTo>
                  <a:pt x="208" y="1488"/>
                </a:lnTo>
                <a:lnTo>
                  <a:pt x="206" y="1489"/>
                </a:lnTo>
                <a:lnTo>
                  <a:pt x="204" y="1488"/>
                </a:lnTo>
                <a:lnTo>
                  <a:pt x="203" y="1488"/>
                </a:lnTo>
                <a:lnTo>
                  <a:pt x="201" y="1487"/>
                </a:lnTo>
                <a:lnTo>
                  <a:pt x="200" y="1485"/>
                </a:lnTo>
                <a:lnTo>
                  <a:pt x="199" y="1484"/>
                </a:lnTo>
                <a:lnTo>
                  <a:pt x="198" y="1482"/>
                </a:lnTo>
                <a:lnTo>
                  <a:pt x="198" y="1480"/>
                </a:lnTo>
                <a:lnTo>
                  <a:pt x="198" y="1478"/>
                </a:lnTo>
                <a:lnTo>
                  <a:pt x="199" y="1476"/>
                </a:lnTo>
                <a:lnTo>
                  <a:pt x="200" y="1475"/>
                </a:lnTo>
                <a:lnTo>
                  <a:pt x="201" y="1474"/>
                </a:lnTo>
                <a:lnTo>
                  <a:pt x="203" y="1473"/>
                </a:lnTo>
                <a:lnTo>
                  <a:pt x="204" y="1472"/>
                </a:lnTo>
                <a:lnTo>
                  <a:pt x="206" y="1472"/>
                </a:lnTo>
                <a:close/>
                <a:moveTo>
                  <a:pt x="1717" y="1469"/>
                </a:moveTo>
                <a:lnTo>
                  <a:pt x="1719" y="1469"/>
                </a:lnTo>
                <a:lnTo>
                  <a:pt x="1721" y="1469"/>
                </a:lnTo>
                <a:lnTo>
                  <a:pt x="1722" y="1470"/>
                </a:lnTo>
                <a:lnTo>
                  <a:pt x="1724" y="1471"/>
                </a:lnTo>
                <a:lnTo>
                  <a:pt x="1725" y="1472"/>
                </a:lnTo>
                <a:lnTo>
                  <a:pt x="1726" y="1473"/>
                </a:lnTo>
                <a:lnTo>
                  <a:pt x="1727" y="1475"/>
                </a:lnTo>
                <a:lnTo>
                  <a:pt x="1728" y="1476"/>
                </a:lnTo>
                <a:lnTo>
                  <a:pt x="1728" y="1478"/>
                </a:lnTo>
                <a:lnTo>
                  <a:pt x="1728" y="1480"/>
                </a:lnTo>
                <a:lnTo>
                  <a:pt x="1728" y="1482"/>
                </a:lnTo>
                <a:lnTo>
                  <a:pt x="1728" y="1484"/>
                </a:lnTo>
                <a:lnTo>
                  <a:pt x="1727" y="1485"/>
                </a:lnTo>
                <a:lnTo>
                  <a:pt x="1726" y="1487"/>
                </a:lnTo>
                <a:lnTo>
                  <a:pt x="1725" y="1488"/>
                </a:lnTo>
                <a:lnTo>
                  <a:pt x="1724" y="1489"/>
                </a:lnTo>
                <a:lnTo>
                  <a:pt x="1722" y="1490"/>
                </a:lnTo>
                <a:lnTo>
                  <a:pt x="1721" y="1491"/>
                </a:lnTo>
                <a:lnTo>
                  <a:pt x="1719" y="1491"/>
                </a:lnTo>
                <a:lnTo>
                  <a:pt x="1717" y="1491"/>
                </a:lnTo>
                <a:lnTo>
                  <a:pt x="1715" y="1491"/>
                </a:lnTo>
                <a:lnTo>
                  <a:pt x="1714" y="1491"/>
                </a:lnTo>
                <a:lnTo>
                  <a:pt x="1712" y="1490"/>
                </a:lnTo>
                <a:lnTo>
                  <a:pt x="1711" y="1489"/>
                </a:lnTo>
                <a:lnTo>
                  <a:pt x="1709" y="1488"/>
                </a:lnTo>
                <a:lnTo>
                  <a:pt x="1708" y="1487"/>
                </a:lnTo>
                <a:lnTo>
                  <a:pt x="1707" y="1485"/>
                </a:lnTo>
                <a:lnTo>
                  <a:pt x="1707" y="1484"/>
                </a:lnTo>
                <a:lnTo>
                  <a:pt x="1706" y="1482"/>
                </a:lnTo>
                <a:lnTo>
                  <a:pt x="1706" y="1480"/>
                </a:lnTo>
                <a:lnTo>
                  <a:pt x="1706" y="1478"/>
                </a:lnTo>
                <a:lnTo>
                  <a:pt x="1707" y="1476"/>
                </a:lnTo>
                <a:lnTo>
                  <a:pt x="1707" y="1475"/>
                </a:lnTo>
                <a:lnTo>
                  <a:pt x="1708" y="1473"/>
                </a:lnTo>
                <a:lnTo>
                  <a:pt x="1709" y="1472"/>
                </a:lnTo>
                <a:lnTo>
                  <a:pt x="1711" y="1471"/>
                </a:lnTo>
                <a:lnTo>
                  <a:pt x="1712" y="1470"/>
                </a:lnTo>
                <a:lnTo>
                  <a:pt x="1714" y="1469"/>
                </a:lnTo>
                <a:lnTo>
                  <a:pt x="1715" y="1469"/>
                </a:lnTo>
                <a:lnTo>
                  <a:pt x="1717" y="1469"/>
                </a:lnTo>
                <a:close/>
                <a:moveTo>
                  <a:pt x="259" y="1466"/>
                </a:moveTo>
                <a:lnTo>
                  <a:pt x="261" y="1466"/>
                </a:lnTo>
                <a:lnTo>
                  <a:pt x="262" y="1467"/>
                </a:lnTo>
                <a:lnTo>
                  <a:pt x="264" y="1468"/>
                </a:lnTo>
                <a:lnTo>
                  <a:pt x="265" y="1469"/>
                </a:lnTo>
                <a:lnTo>
                  <a:pt x="266" y="1470"/>
                </a:lnTo>
                <a:lnTo>
                  <a:pt x="267" y="1471"/>
                </a:lnTo>
                <a:lnTo>
                  <a:pt x="268" y="1473"/>
                </a:lnTo>
                <a:lnTo>
                  <a:pt x="268" y="1474"/>
                </a:lnTo>
                <a:lnTo>
                  <a:pt x="269" y="1476"/>
                </a:lnTo>
                <a:lnTo>
                  <a:pt x="268" y="1478"/>
                </a:lnTo>
                <a:lnTo>
                  <a:pt x="268" y="1479"/>
                </a:lnTo>
                <a:lnTo>
                  <a:pt x="267" y="1481"/>
                </a:lnTo>
                <a:lnTo>
                  <a:pt x="266" y="1482"/>
                </a:lnTo>
                <a:lnTo>
                  <a:pt x="265" y="1483"/>
                </a:lnTo>
                <a:lnTo>
                  <a:pt x="264" y="1484"/>
                </a:lnTo>
                <a:lnTo>
                  <a:pt x="262" y="1485"/>
                </a:lnTo>
                <a:lnTo>
                  <a:pt x="261" y="1486"/>
                </a:lnTo>
                <a:lnTo>
                  <a:pt x="259" y="1486"/>
                </a:lnTo>
                <a:lnTo>
                  <a:pt x="257" y="1486"/>
                </a:lnTo>
                <a:lnTo>
                  <a:pt x="255" y="1485"/>
                </a:lnTo>
                <a:lnTo>
                  <a:pt x="254" y="1484"/>
                </a:lnTo>
                <a:lnTo>
                  <a:pt x="252" y="1483"/>
                </a:lnTo>
                <a:lnTo>
                  <a:pt x="251" y="1482"/>
                </a:lnTo>
                <a:lnTo>
                  <a:pt x="250" y="1481"/>
                </a:lnTo>
                <a:lnTo>
                  <a:pt x="250" y="1479"/>
                </a:lnTo>
                <a:lnTo>
                  <a:pt x="249" y="1478"/>
                </a:lnTo>
                <a:lnTo>
                  <a:pt x="249" y="1476"/>
                </a:lnTo>
                <a:lnTo>
                  <a:pt x="249" y="1474"/>
                </a:lnTo>
                <a:lnTo>
                  <a:pt x="250" y="1473"/>
                </a:lnTo>
                <a:lnTo>
                  <a:pt x="250" y="1471"/>
                </a:lnTo>
                <a:lnTo>
                  <a:pt x="251" y="1470"/>
                </a:lnTo>
                <a:lnTo>
                  <a:pt x="252" y="1469"/>
                </a:lnTo>
                <a:lnTo>
                  <a:pt x="254" y="1468"/>
                </a:lnTo>
                <a:lnTo>
                  <a:pt x="255" y="1467"/>
                </a:lnTo>
                <a:lnTo>
                  <a:pt x="257" y="1466"/>
                </a:lnTo>
                <a:lnTo>
                  <a:pt x="259" y="1466"/>
                </a:lnTo>
                <a:close/>
                <a:moveTo>
                  <a:pt x="121" y="1423"/>
                </a:moveTo>
                <a:lnTo>
                  <a:pt x="121" y="1424"/>
                </a:lnTo>
                <a:lnTo>
                  <a:pt x="122" y="1424"/>
                </a:lnTo>
                <a:lnTo>
                  <a:pt x="121" y="1425"/>
                </a:lnTo>
                <a:lnTo>
                  <a:pt x="121" y="1425"/>
                </a:lnTo>
                <a:lnTo>
                  <a:pt x="120" y="1425"/>
                </a:lnTo>
                <a:lnTo>
                  <a:pt x="120" y="1424"/>
                </a:lnTo>
                <a:lnTo>
                  <a:pt x="120" y="1424"/>
                </a:lnTo>
                <a:lnTo>
                  <a:pt x="121" y="1423"/>
                </a:lnTo>
                <a:close/>
                <a:moveTo>
                  <a:pt x="1803" y="1421"/>
                </a:moveTo>
                <a:lnTo>
                  <a:pt x="1805" y="1422"/>
                </a:lnTo>
                <a:lnTo>
                  <a:pt x="1806" y="1424"/>
                </a:lnTo>
                <a:lnTo>
                  <a:pt x="1805" y="1426"/>
                </a:lnTo>
                <a:lnTo>
                  <a:pt x="1803" y="1427"/>
                </a:lnTo>
                <a:lnTo>
                  <a:pt x="1801" y="1426"/>
                </a:lnTo>
                <a:lnTo>
                  <a:pt x="1800" y="1424"/>
                </a:lnTo>
                <a:lnTo>
                  <a:pt x="1801" y="1422"/>
                </a:lnTo>
                <a:lnTo>
                  <a:pt x="1803" y="1421"/>
                </a:lnTo>
                <a:close/>
                <a:moveTo>
                  <a:pt x="170" y="1414"/>
                </a:moveTo>
                <a:lnTo>
                  <a:pt x="172" y="1415"/>
                </a:lnTo>
                <a:lnTo>
                  <a:pt x="173" y="1415"/>
                </a:lnTo>
                <a:lnTo>
                  <a:pt x="175" y="1416"/>
                </a:lnTo>
                <a:lnTo>
                  <a:pt x="176" y="1417"/>
                </a:lnTo>
                <a:lnTo>
                  <a:pt x="177" y="1419"/>
                </a:lnTo>
                <a:lnTo>
                  <a:pt x="177" y="1421"/>
                </a:lnTo>
                <a:lnTo>
                  <a:pt x="178" y="1422"/>
                </a:lnTo>
                <a:lnTo>
                  <a:pt x="177" y="1424"/>
                </a:lnTo>
                <a:lnTo>
                  <a:pt x="177" y="1426"/>
                </a:lnTo>
                <a:lnTo>
                  <a:pt x="176" y="1427"/>
                </a:lnTo>
                <a:lnTo>
                  <a:pt x="175" y="1429"/>
                </a:lnTo>
                <a:lnTo>
                  <a:pt x="173" y="1429"/>
                </a:lnTo>
                <a:lnTo>
                  <a:pt x="172" y="1430"/>
                </a:lnTo>
                <a:lnTo>
                  <a:pt x="170" y="1430"/>
                </a:lnTo>
                <a:lnTo>
                  <a:pt x="168" y="1430"/>
                </a:lnTo>
                <a:lnTo>
                  <a:pt x="166" y="1429"/>
                </a:lnTo>
                <a:lnTo>
                  <a:pt x="165" y="1429"/>
                </a:lnTo>
                <a:lnTo>
                  <a:pt x="164" y="1427"/>
                </a:lnTo>
                <a:lnTo>
                  <a:pt x="163" y="1426"/>
                </a:lnTo>
                <a:lnTo>
                  <a:pt x="162" y="1424"/>
                </a:lnTo>
                <a:lnTo>
                  <a:pt x="162" y="1422"/>
                </a:lnTo>
                <a:lnTo>
                  <a:pt x="162" y="1421"/>
                </a:lnTo>
                <a:lnTo>
                  <a:pt x="163" y="1419"/>
                </a:lnTo>
                <a:lnTo>
                  <a:pt x="164" y="1417"/>
                </a:lnTo>
                <a:lnTo>
                  <a:pt x="165" y="1416"/>
                </a:lnTo>
                <a:lnTo>
                  <a:pt x="166" y="1415"/>
                </a:lnTo>
                <a:lnTo>
                  <a:pt x="168" y="1415"/>
                </a:lnTo>
                <a:lnTo>
                  <a:pt x="170" y="1414"/>
                </a:lnTo>
                <a:close/>
                <a:moveTo>
                  <a:pt x="1754" y="1411"/>
                </a:moveTo>
                <a:lnTo>
                  <a:pt x="1755" y="1411"/>
                </a:lnTo>
                <a:lnTo>
                  <a:pt x="1757" y="1412"/>
                </a:lnTo>
                <a:lnTo>
                  <a:pt x="1759" y="1412"/>
                </a:lnTo>
                <a:lnTo>
                  <a:pt x="1760" y="1413"/>
                </a:lnTo>
                <a:lnTo>
                  <a:pt x="1762" y="1414"/>
                </a:lnTo>
                <a:lnTo>
                  <a:pt x="1763" y="1416"/>
                </a:lnTo>
                <a:lnTo>
                  <a:pt x="1764" y="1417"/>
                </a:lnTo>
                <a:lnTo>
                  <a:pt x="1764" y="1419"/>
                </a:lnTo>
                <a:lnTo>
                  <a:pt x="1765" y="1420"/>
                </a:lnTo>
                <a:lnTo>
                  <a:pt x="1765" y="1422"/>
                </a:lnTo>
                <a:lnTo>
                  <a:pt x="1765" y="1424"/>
                </a:lnTo>
                <a:lnTo>
                  <a:pt x="1764" y="1426"/>
                </a:lnTo>
                <a:lnTo>
                  <a:pt x="1764" y="1427"/>
                </a:lnTo>
                <a:lnTo>
                  <a:pt x="1763" y="1429"/>
                </a:lnTo>
                <a:lnTo>
                  <a:pt x="1762" y="1430"/>
                </a:lnTo>
                <a:lnTo>
                  <a:pt x="1760" y="1431"/>
                </a:lnTo>
                <a:lnTo>
                  <a:pt x="1759" y="1432"/>
                </a:lnTo>
                <a:lnTo>
                  <a:pt x="1757" y="1433"/>
                </a:lnTo>
                <a:lnTo>
                  <a:pt x="1755" y="1433"/>
                </a:lnTo>
                <a:lnTo>
                  <a:pt x="1754" y="1433"/>
                </a:lnTo>
                <a:lnTo>
                  <a:pt x="1752" y="1433"/>
                </a:lnTo>
                <a:lnTo>
                  <a:pt x="1750" y="1433"/>
                </a:lnTo>
                <a:lnTo>
                  <a:pt x="1749" y="1432"/>
                </a:lnTo>
                <a:lnTo>
                  <a:pt x="1747" y="1431"/>
                </a:lnTo>
                <a:lnTo>
                  <a:pt x="1746" y="1430"/>
                </a:lnTo>
                <a:lnTo>
                  <a:pt x="1745" y="1429"/>
                </a:lnTo>
                <a:lnTo>
                  <a:pt x="1744" y="1427"/>
                </a:lnTo>
                <a:lnTo>
                  <a:pt x="1743" y="1426"/>
                </a:lnTo>
                <a:lnTo>
                  <a:pt x="1743" y="1424"/>
                </a:lnTo>
                <a:lnTo>
                  <a:pt x="1742" y="1422"/>
                </a:lnTo>
                <a:lnTo>
                  <a:pt x="1743" y="1420"/>
                </a:lnTo>
                <a:lnTo>
                  <a:pt x="1743" y="1419"/>
                </a:lnTo>
                <a:lnTo>
                  <a:pt x="1744" y="1417"/>
                </a:lnTo>
                <a:lnTo>
                  <a:pt x="1745" y="1416"/>
                </a:lnTo>
                <a:lnTo>
                  <a:pt x="1746" y="1414"/>
                </a:lnTo>
                <a:lnTo>
                  <a:pt x="1747" y="1413"/>
                </a:lnTo>
                <a:lnTo>
                  <a:pt x="1749" y="1412"/>
                </a:lnTo>
                <a:lnTo>
                  <a:pt x="1750" y="1412"/>
                </a:lnTo>
                <a:lnTo>
                  <a:pt x="1752" y="1411"/>
                </a:lnTo>
                <a:lnTo>
                  <a:pt x="1754" y="1411"/>
                </a:lnTo>
                <a:close/>
                <a:moveTo>
                  <a:pt x="221" y="1409"/>
                </a:moveTo>
                <a:lnTo>
                  <a:pt x="223" y="1409"/>
                </a:lnTo>
                <a:lnTo>
                  <a:pt x="224" y="1409"/>
                </a:lnTo>
                <a:lnTo>
                  <a:pt x="226" y="1410"/>
                </a:lnTo>
                <a:lnTo>
                  <a:pt x="227" y="1411"/>
                </a:lnTo>
                <a:lnTo>
                  <a:pt x="228" y="1413"/>
                </a:lnTo>
                <a:lnTo>
                  <a:pt x="229" y="1414"/>
                </a:lnTo>
                <a:lnTo>
                  <a:pt x="230" y="1416"/>
                </a:lnTo>
                <a:lnTo>
                  <a:pt x="231" y="1417"/>
                </a:lnTo>
                <a:lnTo>
                  <a:pt x="231" y="1419"/>
                </a:lnTo>
                <a:lnTo>
                  <a:pt x="231" y="1421"/>
                </a:lnTo>
                <a:lnTo>
                  <a:pt x="230" y="1423"/>
                </a:lnTo>
                <a:lnTo>
                  <a:pt x="229" y="1424"/>
                </a:lnTo>
                <a:lnTo>
                  <a:pt x="228" y="1426"/>
                </a:lnTo>
                <a:lnTo>
                  <a:pt x="227" y="1427"/>
                </a:lnTo>
                <a:lnTo>
                  <a:pt x="226" y="1428"/>
                </a:lnTo>
                <a:lnTo>
                  <a:pt x="224" y="1429"/>
                </a:lnTo>
                <a:lnTo>
                  <a:pt x="223" y="1429"/>
                </a:lnTo>
                <a:lnTo>
                  <a:pt x="221" y="1429"/>
                </a:lnTo>
                <a:lnTo>
                  <a:pt x="219" y="1429"/>
                </a:lnTo>
                <a:lnTo>
                  <a:pt x="217" y="1429"/>
                </a:lnTo>
                <a:lnTo>
                  <a:pt x="216" y="1428"/>
                </a:lnTo>
                <a:lnTo>
                  <a:pt x="214" y="1427"/>
                </a:lnTo>
                <a:lnTo>
                  <a:pt x="213" y="1426"/>
                </a:lnTo>
                <a:lnTo>
                  <a:pt x="212" y="1424"/>
                </a:lnTo>
                <a:lnTo>
                  <a:pt x="211" y="1423"/>
                </a:lnTo>
                <a:lnTo>
                  <a:pt x="211" y="1421"/>
                </a:lnTo>
                <a:lnTo>
                  <a:pt x="211" y="1419"/>
                </a:lnTo>
                <a:lnTo>
                  <a:pt x="211" y="1417"/>
                </a:lnTo>
                <a:lnTo>
                  <a:pt x="211" y="1416"/>
                </a:lnTo>
                <a:lnTo>
                  <a:pt x="212" y="1414"/>
                </a:lnTo>
                <a:lnTo>
                  <a:pt x="213" y="1413"/>
                </a:lnTo>
                <a:lnTo>
                  <a:pt x="214" y="1411"/>
                </a:lnTo>
                <a:lnTo>
                  <a:pt x="216" y="1410"/>
                </a:lnTo>
                <a:lnTo>
                  <a:pt x="217" y="1409"/>
                </a:lnTo>
                <a:lnTo>
                  <a:pt x="219" y="1409"/>
                </a:lnTo>
                <a:lnTo>
                  <a:pt x="221" y="1409"/>
                </a:lnTo>
                <a:close/>
                <a:moveTo>
                  <a:pt x="90" y="1362"/>
                </a:moveTo>
                <a:lnTo>
                  <a:pt x="91" y="1363"/>
                </a:lnTo>
                <a:lnTo>
                  <a:pt x="91" y="1363"/>
                </a:lnTo>
                <a:lnTo>
                  <a:pt x="91" y="1364"/>
                </a:lnTo>
                <a:lnTo>
                  <a:pt x="90" y="1365"/>
                </a:lnTo>
                <a:lnTo>
                  <a:pt x="89" y="1364"/>
                </a:lnTo>
                <a:lnTo>
                  <a:pt x="89" y="1363"/>
                </a:lnTo>
                <a:lnTo>
                  <a:pt x="89" y="1363"/>
                </a:lnTo>
                <a:lnTo>
                  <a:pt x="90" y="1362"/>
                </a:lnTo>
                <a:close/>
                <a:moveTo>
                  <a:pt x="1833" y="1360"/>
                </a:moveTo>
                <a:lnTo>
                  <a:pt x="1835" y="1361"/>
                </a:lnTo>
                <a:lnTo>
                  <a:pt x="1836" y="1363"/>
                </a:lnTo>
                <a:lnTo>
                  <a:pt x="1835" y="1365"/>
                </a:lnTo>
                <a:lnTo>
                  <a:pt x="1833" y="1365"/>
                </a:lnTo>
                <a:lnTo>
                  <a:pt x="1831" y="1365"/>
                </a:lnTo>
                <a:lnTo>
                  <a:pt x="1831" y="1363"/>
                </a:lnTo>
                <a:lnTo>
                  <a:pt x="1831" y="1361"/>
                </a:lnTo>
                <a:lnTo>
                  <a:pt x="1833" y="1360"/>
                </a:lnTo>
                <a:close/>
                <a:moveTo>
                  <a:pt x="138" y="1354"/>
                </a:moveTo>
                <a:lnTo>
                  <a:pt x="140" y="1355"/>
                </a:lnTo>
                <a:lnTo>
                  <a:pt x="141" y="1355"/>
                </a:lnTo>
                <a:lnTo>
                  <a:pt x="143" y="1356"/>
                </a:lnTo>
                <a:lnTo>
                  <a:pt x="144" y="1357"/>
                </a:lnTo>
                <a:lnTo>
                  <a:pt x="145" y="1359"/>
                </a:lnTo>
                <a:lnTo>
                  <a:pt x="145" y="1360"/>
                </a:lnTo>
                <a:lnTo>
                  <a:pt x="145" y="1362"/>
                </a:lnTo>
                <a:lnTo>
                  <a:pt x="145" y="1364"/>
                </a:lnTo>
                <a:lnTo>
                  <a:pt x="145" y="1365"/>
                </a:lnTo>
                <a:lnTo>
                  <a:pt x="144" y="1367"/>
                </a:lnTo>
                <a:lnTo>
                  <a:pt x="143" y="1368"/>
                </a:lnTo>
                <a:lnTo>
                  <a:pt x="141" y="1369"/>
                </a:lnTo>
                <a:lnTo>
                  <a:pt x="140" y="1369"/>
                </a:lnTo>
                <a:lnTo>
                  <a:pt x="138" y="1370"/>
                </a:lnTo>
                <a:lnTo>
                  <a:pt x="136" y="1369"/>
                </a:lnTo>
                <a:lnTo>
                  <a:pt x="134" y="1369"/>
                </a:lnTo>
                <a:lnTo>
                  <a:pt x="133" y="1368"/>
                </a:lnTo>
                <a:lnTo>
                  <a:pt x="132" y="1367"/>
                </a:lnTo>
                <a:lnTo>
                  <a:pt x="131" y="1365"/>
                </a:lnTo>
                <a:lnTo>
                  <a:pt x="130" y="1364"/>
                </a:lnTo>
                <a:lnTo>
                  <a:pt x="130" y="1362"/>
                </a:lnTo>
                <a:lnTo>
                  <a:pt x="130" y="1360"/>
                </a:lnTo>
                <a:lnTo>
                  <a:pt x="131" y="1359"/>
                </a:lnTo>
                <a:lnTo>
                  <a:pt x="132" y="1357"/>
                </a:lnTo>
                <a:lnTo>
                  <a:pt x="133" y="1356"/>
                </a:lnTo>
                <a:lnTo>
                  <a:pt x="134" y="1355"/>
                </a:lnTo>
                <a:lnTo>
                  <a:pt x="136" y="1355"/>
                </a:lnTo>
                <a:lnTo>
                  <a:pt x="138" y="1354"/>
                </a:lnTo>
                <a:close/>
                <a:moveTo>
                  <a:pt x="1786" y="1351"/>
                </a:moveTo>
                <a:lnTo>
                  <a:pt x="1788" y="1351"/>
                </a:lnTo>
                <a:lnTo>
                  <a:pt x="1789" y="1352"/>
                </a:lnTo>
                <a:lnTo>
                  <a:pt x="1791" y="1352"/>
                </a:lnTo>
                <a:lnTo>
                  <a:pt x="1792" y="1353"/>
                </a:lnTo>
                <a:lnTo>
                  <a:pt x="1793" y="1354"/>
                </a:lnTo>
                <a:lnTo>
                  <a:pt x="1795" y="1355"/>
                </a:lnTo>
                <a:lnTo>
                  <a:pt x="1795" y="1357"/>
                </a:lnTo>
                <a:lnTo>
                  <a:pt x="1796" y="1358"/>
                </a:lnTo>
                <a:lnTo>
                  <a:pt x="1796" y="1360"/>
                </a:lnTo>
                <a:lnTo>
                  <a:pt x="1797" y="1362"/>
                </a:lnTo>
                <a:lnTo>
                  <a:pt x="1796" y="1364"/>
                </a:lnTo>
                <a:lnTo>
                  <a:pt x="1796" y="1365"/>
                </a:lnTo>
                <a:lnTo>
                  <a:pt x="1795" y="1367"/>
                </a:lnTo>
                <a:lnTo>
                  <a:pt x="1795" y="1368"/>
                </a:lnTo>
                <a:lnTo>
                  <a:pt x="1793" y="1369"/>
                </a:lnTo>
                <a:lnTo>
                  <a:pt x="1792" y="1370"/>
                </a:lnTo>
                <a:lnTo>
                  <a:pt x="1791" y="1371"/>
                </a:lnTo>
                <a:lnTo>
                  <a:pt x="1789" y="1372"/>
                </a:lnTo>
                <a:lnTo>
                  <a:pt x="1788" y="1372"/>
                </a:lnTo>
                <a:lnTo>
                  <a:pt x="1786" y="1372"/>
                </a:lnTo>
                <a:lnTo>
                  <a:pt x="1784" y="1372"/>
                </a:lnTo>
                <a:lnTo>
                  <a:pt x="1782" y="1372"/>
                </a:lnTo>
                <a:lnTo>
                  <a:pt x="1781" y="1371"/>
                </a:lnTo>
                <a:lnTo>
                  <a:pt x="1780" y="1370"/>
                </a:lnTo>
                <a:lnTo>
                  <a:pt x="1778" y="1369"/>
                </a:lnTo>
                <a:lnTo>
                  <a:pt x="1777" y="1368"/>
                </a:lnTo>
                <a:lnTo>
                  <a:pt x="1776" y="1367"/>
                </a:lnTo>
                <a:lnTo>
                  <a:pt x="1776" y="1365"/>
                </a:lnTo>
                <a:lnTo>
                  <a:pt x="1775" y="1364"/>
                </a:lnTo>
                <a:lnTo>
                  <a:pt x="1775" y="1362"/>
                </a:lnTo>
                <a:lnTo>
                  <a:pt x="1775" y="1360"/>
                </a:lnTo>
                <a:lnTo>
                  <a:pt x="1776" y="1358"/>
                </a:lnTo>
                <a:lnTo>
                  <a:pt x="1776" y="1357"/>
                </a:lnTo>
                <a:lnTo>
                  <a:pt x="1777" y="1355"/>
                </a:lnTo>
                <a:lnTo>
                  <a:pt x="1778" y="1354"/>
                </a:lnTo>
                <a:lnTo>
                  <a:pt x="1780" y="1353"/>
                </a:lnTo>
                <a:lnTo>
                  <a:pt x="1781" y="1352"/>
                </a:lnTo>
                <a:lnTo>
                  <a:pt x="1782" y="1352"/>
                </a:lnTo>
                <a:lnTo>
                  <a:pt x="1784" y="1351"/>
                </a:lnTo>
                <a:lnTo>
                  <a:pt x="1786" y="1351"/>
                </a:lnTo>
                <a:close/>
                <a:moveTo>
                  <a:pt x="187" y="1350"/>
                </a:moveTo>
                <a:lnTo>
                  <a:pt x="189" y="1350"/>
                </a:lnTo>
                <a:lnTo>
                  <a:pt x="191" y="1350"/>
                </a:lnTo>
                <a:lnTo>
                  <a:pt x="193" y="1351"/>
                </a:lnTo>
                <a:lnTo>
                  <a:pt x="194" y="1352"/>
                </a:lnTo>
                <a:lnTo>
                  <a:pt x="195" y="1353"/>
                </a:lnTo>
                <a:lnTo>
                  <a:pt x="196" y="1355"/>
                </a:lnTo>
                <a:lnTo>
                  <a:pt x="197" y="1356"/>
                </a:lnTo>
                <a:lnTo>
                  <a:pt x="198" y="1358"/>
                </a:lnTo>
                <a:lnTo>
                  <a:pt x="198" y="1360"/>
                </a:lnTo>
                <a:lnTo>
                  <a:pt x="198" y="1362"/>
                </a:lnTo>
                <a:lnTo>
                  <a:pt x="197" y="1363"/>
                </a:lnTo>
                <a:lnTo>
                  <a:pt x="196" y="1365"/>
                </a:lnTo>
                <a:lnTo>
                  <a:pt x="195" y="1367"/>
                </a:lnTo>
                <a:lnTo>
                  <a:pt x="194" y="1368"/>
                </a:lnTo>
                <a:lnTo>
                  <a:pt x="193" y="1369"/>
                </a:lnTo>
                <a:lnTo>
                  <a:pt x="191" y="1370"/>
                </a:lnTo>
                <a:lnTo>
                  <a:pt x="189" y="1370"/>
                </a:lnTo>
                <a:lnTo>
                  <a:pt x="187" y="1370"/>
                </a:lnTo>
                <a:lnTo>
                  <a:pt x="186" y="1370"/>
                </a:lnTo>
                <a:lnTo>
                  <a:pt x="184" y="1370"/>
                </a:lnTo>
                <a:lnTo>
                  <a:pt x="182" y="1369"/>
                </a:lnTo>
                <a:lnTo>
                  <a:pt x="181" y="1368"/>
                </a:lnTo>
                <a:lnTo>
                  <a:pt x="180" y="1367"/>
                </a:lnTo>
                <a:lnTo>
                  <a:pt x="179" y="1365"/>
                </a:lnTo>
                <a:lnTo>
                  <a:pt x="178" y="1363"/>
                </a:lnTo>
                <a:lnTo>
                  <a:pt x="177" y="1362"/>
                </a:lnTo>
                <a:lnTo>
                  <a:pt x="177" y="1360"/>
                </a:lnTo>
                <a:lnTo>
                  <a:pt x="177" y="1358"/>
                </a:lnTo>
                <a:lnTo>
                  <a:pt x="178" y="1356"/>
                </a:lnTo>
                <a:lnTo>
                  <a:pt x="179" y="1355"/>
                </a:lnTo>
                <a:lnTo>
                  <a:pt x="180" y="1353"/>
                </a:lnTo>
                <a:lnTo>
                  <a:pt x="181" y="1352"/>
                </a:lnTo>
                <a:lnTo>
                  <a:pt x="182" y="1351"/>
                </a:lnTo>
                <a:lnTo>
                  <a:pt x="184" y="1350"/>
                </a:lnTo>
                <a:lnTo>
                  <a:pt x="186" y="1350"/>
                </a:lnTo>
                <a:lnTo>
                  <a:pt x="187" y="1350"/>
                </a:lnTo>
                <a:close/>
                <a:moveTo>
                  <a:pt x="64" y="1299"/>
                </a:moveTo>
                <a:lnTo>
                  <a:pt x="65" y="1299"/>
                </a:lnTo>
                <a:lnTo>
                  <a:pt x="66" y="1300"/>
                </a:lnTo>
                <a:lnTo>
                  <a:pt x="65" y="1302"/>
                </a:lnTo>
                <a:lnTo>
                  <a:pt x="64" y="1302"/>
                </a:lnTo>
                <a:lnTo>
                  <a:pt x="63" y="1302"/>
                </a:lnTo>
                <a:lnTo>
                  <a:pt x="62" y="1300"/>
                </a:lnTo>
                <a:lnTo>
                  <a:pt x="63" y="1299"/>
                </a:lnTo>
                <a:lnTo>
                  <a:pt x="64" y="1299"/>
                </a:lnTo>
                <a:close/>
                <a:moveTo>
                  <a:pt x="1860" y="1297"/>
                </a:moveTo>
                <a:lnTo>
                  <a:pt x="1861" y="1298"/>
                </a:lnTo>
                <a:lnTo>
                  <a:pt x="1862" y="1300"/>
                </a:lnTo>
                <a:lnTo>
                  <a:pt x="1861" y="1302"/>
                </a:lnTo>
                <a:lnTo>
                  <a:pt x="1860" y="1303"/>
                </a:lnTo>
                <a:lnTo>
                  <a:pt x="1858" y="1302"/>
                </a:lnTo>
                <a:lnTo>
                  <a:pt x="1857" y="1300"/>
                </a:lnTo>
                <a:lnTo>
                  <a:pt x="1858" y="1298"/>
                </a:lnTo>
                <a:lnTo>
                  <a:pt x="1860" y="1297"/>
                </a:lnTo>
                <a:close/>
                <a:moveTo>
                  <a:pt x="111" y="1292"/>
                </a:moveTo>
                <a:lnTo>
                  <a:pt x="112" y="1292"/>
                </a:lnTo>
                <a:lnTo>
                  <a:pt x="114" y="1293"/>
                </a:lnTo>
                <a:lnTo>
                  <a:pt x="115" y="1294"/>
                </a:lnTo>
                <a:lnTo>
                  <a:pt x="116" y="1295"/>
                </a:lnTo>
                <a:lnTo>
                  <a:pt x="117" y="1296"/>
                </a:lnTo>
                <a:lnTo>
                  <a:pt x="118" y="1298"/>
                </a:lnTo>
                <a:lnTo>
                  <a:pt x="118" y="1300"/>
                </a:lnTo>
                <a:lnTo>
                  <a:pt x="118" y="1301"/>
                </a:lnTo>
                <a:lnTo>
                  <a:pt x="117" y="1303"/>
                </a:lnTo>
                <a:lnTo>
                  <a:pt x="116" y="1304"/>
                </a:lnTo>
                <a:lnTo>
                  <a:pt x="115" y="1306"/>
                </a:lnTo>
                <a:lnTo>
                  <a:pt x="114" y="1306"/>
                </a:lnTo>
                <a:lnTo>
                  <a:pt x="112" y="1307"/>
                </a:lnTo>
                <a:lnTo>
                  <a:pt x="111" y="1307"/>
                </a:lnTo>
                <a:lnTo>
                  <a:pt x="109" y="1307"/>
                </a:lnTo>
                <a:lnTo>
                  <a:pt x="107" y="1306"/>
                </a:lnTo>
                <a:lnTo>
                  <a:pt x="106" y="1306"/>
                </a:lnTo>
                <a:lnTo>
                  <a:pt x="105" y="1304"/>
                </a:lnTo>
                <a:lnTo>
                  <a:pt x="104" y="1303"/>
                </a:lnTo>
                <a:lnTo>
                  <a:pt x="103" y="1301"/>
                </a:lnTo>
                <a:lnTo>
                  <a:pt x="103" y="1300"/>
                </a:lnTo>
                <a:lnTo>
                  <a:pt x="103" y="1298"/>
                </a:lnTo>
                <a:lnTo>
                  <a:pt x="104" y="1296"/>
                </a:lnTo>
                <a:lnTo>
                  <a:pt x="105" y="1295"/>
                </a:lnTo>
                <a:lnTo>
                  <a:pt x="106" y="1294"/>
                </a:lnTo>
                <a:lnTo>
                  <a:pt x="107" y="1293"/>
                </a:lnTo>
                <a:lnTo>
                  <a:pt x="109" y="1292"/>
                </a:lnTo>
                <a:lnTo>
                  <a:pt x="111" y="1292"/>
                </a:lnTo>
                <a:close/>
                <a:moveTo>
                  <a:pt x="1813" y="1289"/>
                </a:moveTo>
                <a:lnTo>
                  <a:pt x="1815" y="1289"/>
                </a:lnTo>
                <a:lnTo>
                  <a:pt x="1816" y="1289"/>
                </a:lnTo>
                <a:lnTo>
                  <a:pt x="1818" y="1290"/>
                </a:lnTo>
                <a:lnTo>
                  <a:pt x="1819" y="1291"/>
                </a:lnTo>
                <a:lnTo>
                  <a:pt x="1821" y="1292"/>
                </a:lnTo>
                <a:lnTo>
                  <a:pt x="1822" y="1294"/>
                </a:lnTo>
                <a:lnTo>
                  <a:pt x="1823" y="1295"/>
                </a:lnTo>
                <a:lnTo>
                  <a:pt x="1823" y="1297"/>
                </a:lnTo>
                <a:lnTo>
                  <a:pt x="1823" y="1299"/>
                </a:lnTo>
                <a:lnTo>
                  <a:pt x="1823" y="1301"/>
                </a:lnTo>
                <a:lnTo>
                  <a:pt x="1823" y="1303"/>
                </a:lnTo>
                <a:lnTo>
                  <a:pt x="1822" y="1304"/>
                </a:lnTo>
                <a:lnTo>
                  <a:pt x="1821" y="1306"/>
                </a:lnTo>
                <a:lnTo>
                  <a:pt x="1819" y="1307"/>
                </a:lnTo>
                <a:lnTo>
                  <a:pt x="1818" y="1308"/>
                </a:lnTo>
                <a:lnTo>
                  <a:pt x="1816" y="1309"/>
                </a:lnTo>
                <a:lnTo>
                  <a:pt x="1815" y="1309"/>
                </a:lnTo>
                <a:lnTo>
                  <a:pt x="1813" y="1310"/>
                </a:lnTo>
                <a:lnTo>
                  <a:pt x="1811" y="1309"/>
                </a:lnTo>
                <a:lnTo>
                  <a:pt x="1809" y="1309"/>
                </a:lnTo>
                <a:lnTo>
                  <a:pt x="1808" y="1308"/>
                </a:lnTo>
                <a:lnTo>
                  <a:pt x="1806" y="1307"/>
                </a:lnTo>
                <a:lnTo>
                  <a:pt x="1805" y="1306"/>
                </a:lnTo>
                <a:lnTo>
                  <a:pt x="1804" y="1304"/>
                </a:lnTo>
                <a:lnTo>
                  <a:pt x="1803" y="1303"/>
                </a:lnTo>
                <a:lnTo>
                  <a:pt x="1803" y="1301"/>
                </a:lnTo>
                <a:lnTo>
                  <a:pt x="1803" y="1299"/>
                </a:lnTo>
                <a:lnTo>
                  <a:pt x="1803" y="1297"/>
                </a:lnTo>
                <a:lnTo>
                  <a:pt x="1803" y="1295"/>
                </a:lnTo>
                <a:lnTo>
                  <a:pt x="1804" y="1294"/>
                </a:lnTo>
                <a:lnTo>
                  <a:pt x="1805" y="1292"/>
                </a:lnTo>
                <a:lnTo>
                  <a:pt x="1806" y="1291"/>
                </a:lnTo>
                <a:lnTo>
                  <a:pt x="1808" y="1290"/>
                </a:lnTo>
                <a:lnTo>
                  <a:pt x="1809" y="1289"/>
                </a:lnTo>
                <a:lnTo>
                  <a:pt x="1811" y="1289"/>
                </a:lnTo>
                <a:lnTo>
                  <a:pt x="1813" y="1289"/>
                </a:lnTo>
                <a:close/>
                <a:moveTo>
                  <a:pt x="159" y="1288"/>
                </a:moveTo>
                <a:lnTo>
                  <a:pt x="161" y="1288"/>
                </a:lnTo>
                <a:lnTo>
                  <a:pt x="162" y="1288"/>
                </a:lnTo>
                <a:lnTo>
                  <a:pt x="164" y="1289"/>
                </a:lnTo>
                <a:lnTo>
                  <a:pt x="166" y="1290"/>
                </a:lnTo>
                <a:lnTo>
                  <a:pt x="167" y="1291"/>
                </a:lnTo>
                <a:lnTo>
                  <a:pt x="168" y="1293"/>
                </a:lnTo>
                <a:lnTo>
                  <a:pt x="169" y="1294"/>
                </a:lnTo>
                <a:lnTo>
                  <a:pt x="169" y="1296"/>
                </a:lnTo>
                <a:lnTo>
                  <a:pt x="169" y="1298"/>
                </a:lnTo>
                <a:lnTo>
                  <a:pt x="169" y="1300"/>
                </a:lnTo>
                <a:lnTo>
                  <a:pt x="169" y="1301"/>
                </a:lnTo>
                <a:lnTo>
                  <a:pt x="168" y="1303"/>
                </a:lnTo>
                <a:lnTo>
                  <a:pt x="167" y="1305"/>
                </a:lnTo>
                <a:lnTo>
                  <a:pt x="166" y="1306"/>
                </a:lnTo>
                <a:lnTo>
                  <a:pt x="164" y="1307"/>
                </a:lnTo>
                <a:lnTo>
                  <a:pt x="162" y="1308"/>
                </a:lnTo>
                <a:lnTo>
                  <a:pt x="161" y="1308"/>
                </a:lnTo>
                <a:lnTo>
                  <a:pt x="159" y="1308"/>
                </a:lnTo>
                <a:lnTo>
                  <a:pt x="157" y="1308"/>
                </a:lnTo>
                <a:lnTo>
                  <a:pt x="155" y="1308"/>
                </a:lnTo>
                <a:lnTo>
                  <a:pt x="153" y="1307"/>
                </a:lnTo>
                <a:lnTo>
                  <a:pt x="152" y="1306"/>
                </a:lnTo>
                <a:lnTo>
                  <a:pt x="151" y="1305"/>
                </a:lnTo>
                <a:lnTo>
                  <a:pt x="150" y="1303"/>
                </a:lnTo>
                <a:lnTo>
                  <a:pt x="149" y="1301"/>
                </a:lnTo>
                <a:lnTo>
                  <a:pt x="148" y="1300"/>
                </a:lnTo>
                <a:lnTo>
                  <a:pt x="148" y="1298"/>
                </a:lnTo>
                <a:lnTo>
                  <a:pt x="148" y="1296"/>
                </a:lnTo>
                <a:lnTo>
                  <a:pt x="149" y="1294"/>
                </a:lnTo>
                <a:lnTo>
                  <a:pt x="150" y="1293"/>
                </a:lnTo>
                <a:lnTo>
                  <a:pt x="151" y="1291"/>
                </a:lnTo>
                <a:lnTo>
                  <a:pt x="152" y="1290"/>
                </a:lnTo>
                <a:lnTo>
                  <a:pt x="153" y="1289"/>
                </a:lnTo>
                <a:lnTo>
                  <a:pt x="155" y="1288"/>
                </a:lnTo>
                <a:lnTo>
                  <a:pt x="157" y="1288"/>
                </a:lnTo>
                <a:lnTo>
                  <a:pt x="159" y="1288"/>
                </a:lnTo>
                <a:close/>
                <a:moveTo>
                  <a:pt x="42" y="1234"/>
                </a:moveTo>
                <a:lnTo>
                  <a:pt x="44" y="1234"/>
                </a:lnTo>
                <a:lnTo>
                  <a:pt x="44" y="1236"/>
                </a:lnTo>
                <a:lnTo>
                  <a:pt x="44" y="1237"/>
                </a:lnTo>
                <a:lnTo>
                  <a:pt x="42" y="1238"/>
                </a:lnTo>
                <a:lnTo>
                  <a:pt x="41" y="1237"/>
                </a:lnTo>
                <a:lnTo>
                  <a:pt x="40" y="1236"/>
                </a:lnTo>
                <a:lnTo>
                  <a:pt x="41" y="1234"/>
                </a:lnTo>
                <a:lnTo>
                  <a:pt x="42" y="1234"/>
                </a:lnTo>
                <a:close/>
                <a:moveTo>
                  <a:pt x="1881" y="1232"/>
                </a:moveTo>
                <a:lnTo>
                  <a:pt x="1883" y="1233"/>
                </a:lnTo>
                <a:lnTo>
                  <a:pt x="1884" y="1235"/>
                </a:lnTo>
                <a:lnTo>
                  <a:pt x="1883" y="1237"/>
                </a:lnTo>
                <a:lnTo>
                  <a:pt x="1881" y="1238"/>
                </a:lnTo>
                <a:lnTo>
                  <a:pt x="1879" y="1237"/>
                </a:lnTo>
                <a:lnTo>
                  <a:pt x="1879" y="1235"/>
                </a:lnTo>
                <a:lnTo>
                  <a:pt x="1879" y="1233"/>
                </a:lnTo>
                <a:lnTo>
                  <a:pt x="1881" y="1232"/>
                </a:lnTo>
                <a:close/>
                <a:moveTo>
                  <a:pt x="88" y="1228"/>
                </a:moveTo>
                <a:lnTo>
                  <a:pt x="90" y="1228"/>
                </a:lnTo>
                <a:lnTo>
                  <a:pt x="91" y="1229"/>
                </a:lnTo>
                <a:lnTo>
                  <a:pt x="93" y="1230"/>
                </a:lnTo>
                <a:lnTo>
                  <a:pt x="94" y="1231"/>
                </a:lnTo>
                <a:lnTo>
                  <a:pt x="95" y="1233"/>
                </a:lnTo>
                <a:lnTo>
                  <a:pt x="95" y="1235"/>
                </a:lnTo>
                <a:lnTo>
                  <a:pt x="95" y="1237"/>
                </a:lnTo>
                <a:lnTo>
                  <a:pt x="94" y="1239"/>
                </a:lnTo>
                <a:lnTo>
                  <a:pt x="93" y="1240"/>
                </a:lnTo>
                <a:lnTo>
                  <a:pt x="91" y="1241"/>
                </a:lnTo>
                <a:lnTo>
                  <a:pt x="90" y="1242"/>
                </a:lnTo>
                <a:lnTo>
                  <a:pt x="88" y="1242"/>
                </a:lnTo>
                <a:lnTo>
                  <a:pt x="86" y="1242"/>
                </a:lnTo>
                <a:lnTo>
                  <a:pt x="84" y="1241"/>
                </a:lnTo>
                <a:lnTo>
                  <a:pt x="82" y="1240"/>
                </a:lnTo>
                <a:lnTo>
                  <a:pt x="81" y="1239"/>
                </a:lnTo>
                <a:lnTo>
                  <a:pt x="80" y="1237"/>
                </a:lnTo>
                <a:lnTo>
                  <a:pt x="80" y="1235"/>
                </a:lnTo>
                <a:lnTo>
                  <a:pt x="80" y="1233"/>
                </a:lnTo>
                <a:lnTo>
                  <a:pt x="81" y="1231"/>
                </a:lnTo>
                <a:lnTo>
                  <a:pt x="82" y="1230"/>
                </a:lnTo>
                <a:lnTo>
                  <a:pt x="84" y="1229"/>
                </a:lnTo>
                <a:lnTo>
                  <a:pt x="86" y="1228"/>
                </a:lnTo>
                <a:lnTo>
                  <a:pt x="88" y="1228"/>
                </a:lnTo>
                <a:close/>
                <a:moveTo>
                  <a:pt x="1836" y="1225"/>
                </a:moveTo>
                <a:lnTo>
                  <a:pt x="1837" y="1225"/>
                </a:lnTo>
                <a:lnTo>
                  <a:pt x="1839" y="1225"/>
                </a:lnTo>
                <a:lnTo>
                  <a:pt x="1841" y="1226"/>
                </a:lnTo>
                <a:lnTo>
                  <a:pt x="1842" y="1227"/>
                </a:lnTo>
                <a:lnTo>
                  <a:pt x="1843" y="1228"/>
                </a:lnTo>
                <a:lnTo>
                  <a:pt x="1844" y="1230"/>
                </a:lnTo>
                <a:lnTo>
                  <a:pt x="1845" y="1231"/>
                </a:lnTo>
                <a:lnTo>
                  <a:pt x="1845" y="1233"/>
                </a:lnTo>
                <a:lnTo>
                  <a:pt x="1846" y="1235"/>
                </a:lnTo>
                <a:lnTo>
                  <a:pt x="1845" y="1237"/>
                </a:lnTo>
                <a:lnTo>
                  <a:pt x="1845" y="1238"/>
                </a:lnTo>
                <a:lnTo>
                  <a:pt x="1844" y="1240"/>
                </a:lnTo>
                <a:lnTo>
                  <a:pt x="1843" y="1241"/>
                </a:lnTo>
                <a:lnTo>
                  <a:pt x="1842" y="1242"/>
                </a:lnTo>
                <a:lnTo>
                  <a:pt x="1841" y="1243"/>
                </a:lnTo>
                <a:lnTo>
                  <a:pt x="1839" y="1244"/>
                </a:lnTo>
                <a:lnTo>
                  <a:pt x="1837" y="1245"/>
                </a:lnTo>
                <a:lnTo>
                  <a:pt x="1836" y="1245"/>
                </a:lnTo>
                <a:lnTo>
                  <a:pt x="1834" y="1245"/>
                </a:lnTo>
                <a:lnTo>
                  <a:pt x="1832" y="1244"/>
                </a:lnTo>
                <a:lnTo>
                  <a:pt x="1831" y="1243"/>
                </a:lnTo>
                <a:lnTo>
                  <a:pt x="1829" y="1242"/>
                </a:lnTo>
                <a:lnTo>
                  <a:pt x="1828" y="1241"/>
                </a:lnTo>
                <a:lnTo>
                  <a:pt x="1827" y="1240"/>
                </a:lnTo>
                <a:lnTo>
                  <a:pt x="1827" y="1238"/>
                </a:lnTo>
                <a:lnTo>
                  <a:pt x="1826" y="1237"/>
                </a:lnTo>
                <a:lnTo>
                  <a:pt x="1826" y="1235"/>
                </a:lnTo>
                <a:lnTo>
                  <a:pt x="1826" y="1233"/>
                </a:lnTo>
                <a:lnTo>
                  <a:pt x="1827" y="1231"/>
                </a:lnTo>
                <a:lnTo>
                  <a:pt x="1827" y="1230"/>
                </a:lnTo>
                <a:lnTo>
                  <a:pt x="1828" y="1228"/>
                </a:lnTo>
                <a:lnTo>
                  <a:pt x="1829" y="1227"/>
                </a:lnTo>
                <a:lnTo>
                  <a:pt x="1831" y="1226"/>
                </a:lnTo>
                <a:lnTo>
                  <a:pt x="1832" y="1225"/>
                </a:lnTo>
                <a:lnTo>
                  <a:pt x="1834" y="1225"/>
                </a:lnTo>
                <a:lnTo>
                  <a:pt x="1836" y="1225"/>
                </a:lnTo>
                <a:close/>
                <a:moveTo>
                  <a:pt x="135" y="1225"/>
                </a:moveTo>
                <a:lnTo>
                  <a:pt x="137" y="1225"/>
                </a:lnTo>
                <a:lnTo>
                  <a:pt x="139" y="1225"/>
                </a:lnTo>
                <a:lnTo>
                  <a:pt x="140" y="1226"/>
                </a:lnTo>
                <a:lnTo>
                  <a:pt x="142" y="1227"/>
                </a:lnTo>
                <a:lnTo>
                  <a:pt x="143" y="1229"/>
                </a:lnTo>
                <a:lnTo>
                  <a:pt x="144" y="1230"/>
                </a:lnTo>
                <a:lnTo>
                  <a:pt x="144" y="1232"/>
                </a:lnTo>
                <a:lnTo>
                  <a:pt x="145" y="1234"/>
                </a:lnTo>
                <a:lnTo>
                  <a:pt x="144" y="1236"/>
                </a:lnTo>
                <a:lnTo>
                  <a:pt x="144" y="1238"/>
                </a:lnTo>
                <a:lnTo>
                  <a:pt x="143" y="1239"/>
                </a:lnTo>
                <a:lnTo>
                  <a:pt x="142" y="1241"/>
                </a:lnTo>
                <a:lnTo>
                  <a:pt x="140" y="1242"/>
                </a:lnTo>
                <a:lnTo>
                  <a:pt x="139" y="1243"/>
                </a:lnTo>
                <a:lnTo>
                  <a:pt x="137" y="1243"/>
                </a:lnTo>
                <a:lnTo>
                  <a:pt x="135" y="1243"/>
                </a:lnTo>
                <a:lnTo>
                  <a:pt x="133" y="1243"/>
                </a:lnTo>
                <a:lnTo>
                  <a:pt x="132" y="1243"/>
                </a:lnTo>
                <a:lnTo>
                  <a:pt x="130" y="1242"/>
                </a:lnTo>
                <a:lnTo>
                  <a:pt x="129" y="1241"/>
                </a:lnTo>
                <a:lnTo>
                  <a:pt x="127" y="1239"/>
                </a:lnTo>
                <a:lnTo>
                  <a:pt x="127" y="1238"/>
                </a:lnTo>
                <a:lnTo>
                  <a:pt x="126" y="1236"/>
                </a:lnTo>
                <a:lnTo>
                  <a:pt x="126" y="1234"/>
                </a:lnTo>
                <a:lnTo>
                  <a:pt x="126" y="1232"/>
                </a:lnTo>
                <a:lnTo>
                  <a:pt x="127" y="1230"/>
                </a:lnTo>
                <a:lnTo>
                  <a:pt x="127" y="1229"/>
                </a:lnTo>
                <a:lnTo>
                  <a:pt x="129" y="1227"/>
                </a:lnTo>
                <a:lnTo>
                  <a:pt x="130" y="1226"/>
                </a:lnTo>
                <a:lnTo>
                  <a:pt x="132" y="1225"/>
                </a:lnTo>
                <a:lnTo>
                  <a:pt x="133" y="1225"/>
                </a:lnTo>
                <a:lnTo>
                  <a:pt x="135" y="1225"/>
                </a:lnTo>
                <a:close/>
                <a:moveTo>
                  <a:pt x="25" y="1167"/>
                </a:moveTo>
                <a:lnTo>
                  <a:pt x="27" y="1168"/>
                </a:lnTo>
                <a:lnTo>
                  <a:pt x="28" y="1169"/>
                </a:lnTo>
                <a:lnTo>
                  <a:pt x="27" y="1171"/>
                </a:lnTo>
                <a:lnTo>
                  <a:pt x="25" y="1172"/>
                </a:lnTo>
                <a:lnTo>
                  <a:pt x="24" y="1171"/>
                </a:lnTo>
                <a:lnTo>
                  <a:pt x="23" y="1169"/>
                </a:lnTo>
                <a:lnTo>
                  <a:pt x="24" y="1168"/>
                </a:lnTo>
                <a:lnTo>
                  <a:pt x="25" y="1167"/>
                </a:lnTo>
                <a:close/>
                <a:moveTo>
                  <a:pt x="1898" y="1166"/>
                </a:moveTo>
                <a:lnTo>
                  <a:pt x="1900" y="1167"/>
                </a:lnTo>
                <a:lnTo>
                  <a:pt x="1901" y="1169"/>
                </a:lnTo>
                <a:lnTo>
                  <a:pt x="1900" y="1170"/>
                </a:lnTo>
                <a:lnTo>
                  <a:pt x="1898" y="1171"/>
                </a:lnTo>
                <a:lnTo>
                  <a:pt x="1897" y="1170"/>
                </a:lnTo>
                <a:lnTo>
                  <a:pt x="1896" y="1169"/>
                </a:lnTo>
                <a:lnTo>
                  <a:pt x="1897" y="1167"/>
                </a:lnTo>
                <a:lnTo>
                  <a:pt x="1898" y="1166"/>
                </a:lnTo>
                <a:close/>
                <a:moveTo>
                  <a:pt x="117" y="1162"/>
                </a:moveTo>
                <a:lnTo>
                  <a:pt x="118" y="1162"/>
                </a:lnTo>
                <a:lnTo>
                  <a:pt x="120" y="1163"/>
                </a:lnTo>
                <a:lnTo>
                  <a:pt x="122" y="1164"/>
                </a:lnTo>
                <a:lnTo>
                  <a:pt x="123" y="1165"/>
                </a:lnTo>
                <a:lnTo>
                  <a:pt x="123" y="1167"/>
                </a:lnTo>
                <a:lnTo>
                  <a:pt x="124" y="1169"/>
                </a:lnTo>
                <a:lnTo>
                  <a:pt x="123" y="1170"/>
                </a:lnTo>
                <a:lnTo>
                  <a:pt x="123" y="1172"/>
                </a:lnTo>
                <a:lnTo>
                  <a:pt x="122" y="1173"/>
                </a:lnTo>
                <a:lnTo>
                  <a:pt x="120" y="1174"/>
                </a:lnTo>
                <a:lnTo>
                  <a:pt x="118" y="1175"/>
                </a:lnTo>
                <a:lnTo>
                  <a:pt x="117" y="1175"/>
                </a:lnTo>
                <a:lnTo>
                  <a:pt x="115" y="1175"/>
                </a:lnTo>
                <a:lnTo>
                  <a:pt x="113" y="1174"/>
                </a:lnTo>
                <a:lnTo>
                  <a:pt x="112" y="1173"/>
                </a:lnTo>
                <a:lnTo>
                  <a:pt x="111" y="1172"/>
                </a:lnTo>
                <a:lnTo>
                  <a:pt x="110" y="1170"/>
                </a:lnTo>
                <a:lnTo>
                  <a:pt x="110" y="1169"/>
                </a:lnTo>
                <a:lnTo>
                  <a:pt x="110" y="1167"/>
                </a:lnTo>
                <a:lnTo>
                  <a:pt x="111" y="1165"/>
                </a:lnTo>
                <a:lnTo>
                  <a:pt x="112" y="1164"/>
                </a:lnTo>
                <a:lnTo>
                  <a:pt x="113" y="1163"/>
                </a:lnTo>
                <a:lnTo>
                  <a:pt x="115" y="1162"/>
                </a:lnTo>
                <a:lnTo>
                  <a:pt x="117" y="1162"/>
                </a:lnTo>
                <a:close/>
                <a:moveTo>
                  <a:pt x="70" y="1162"/>
                </a:moveTo>
                <a:lnTo>
                  <a:pt x="72" y="1162"/>
                </a:lnTo>
                <a:lnTo>
                  <a:pt x="74" y="1163"/>
                </a:lnTo>
                <a:lnTo>
                  <a:pt x="75" y="1164"/>
                </a:lnTo>
                <a:lnTo>
                  <a:pt x="76" y="1165"/>
                </a:lnTo>
                <a:lnTo>
                  <a:pt x="77" y="1167"/>
                </a:lnTo>
                <a:lnTo>
                  <a:pt x="77" y="1169"/>
                </a:lnTo>
                <a:lnTo>
                  <a:pt x="77" y="1171"/>
                </a:lnTo>
                <a:lnTo>
                  <a:pt x="76" y="1173"/>
                </a:lnTo>
                <a:lnTo>
                  <a:pt x="75" y="1175"/>
                </a:lnTo>
                <a:lnTo>
                  <a:pt x="74" y="1176"/>
                </a:lnTo>
                <a:lnTo>
                  <a:pt x="72" y="1176"/>
                </a:lnTo>
                <a:lnTo>
                  <a:pt x="70" y="1177"/>
                </a:lnTo>
                <a:lnTo>
                  <a:pt x="68" y="1176"/>
                </a:lnTo>
                <a:lnTo>
                  <a:pt x="67" y="1176"/>
                </a:lnTo>
                <a:lnTo>
                  <a:pt x="65" y="1175"/>
                </a:lnTo>
                <a:lnTo>
                  <a:pt x="64" y="1173"/>
                </a:lnTo>
                <a:lnTo>
                  <a:pt x="63" y="1171"/>
                </a:lnTo>
                <a:lnTo>
                  <a:pt x="63" y="1169"/>
                </a:lnTo>
                <a:lnTo>
                  <a:pt x="63" y="1167"/>
                </a:lnTo>
                <a:lnTo>
                  <a:pt x="64" y="1165"/>
                </a:lnTo>
                <a:lnTo>
                  <a:pt x="65" y="1164"/>
                </a:lnTo>
                <a:lnTo>
                  <a:pt x="67" y="1163"/>
                </a:lnTo>
                <a:lnTo>
                  <a:pt x="68" y="1162"/>
                </a:lnTo>
                <a:lnTo>
                  <a:pt x="70" y="1162"/>
                </a:lnTo>
                <a:close/>
                <a:moveTo>
                  <a:pt x="1853" y="1159"/>
                </a:moveTo>
                <a:lnTo>
                  <a:pt x="1855" y="1159"/>
                </a:lnTo>
                <a:lnTo>
                  <a:pt x="1857" y="1160"/>
                </a:lnTo>
                <a:lnTo>
                  <a:pt x="1858" y="1160"/>
                </a:lnTo>
                <a:lnTo>
                  <a:pt x="1859" y="1161"/>
                </a:lnTo>
                <a:lnTo>
                  <a:pt x="1861" y="1162"/>
                </a:lnTo>
                <a:lnTo>
                  <a:pt x="1862" y="1164"/>
                </a:lnTo>
                <a:lnTo>
                  <a:pt x="1862" y="1165"/>
                </a:lnTo>
                <a:lnTo>
                  <a:pt x="1863" y="1167"/>
                </a:lnTo>
                <a:lnTo>
                  <a:pt x="1863" y="1169"/>
                </a:lnTo>
                <a:lnTo>
                  <a:pt x="1863" y="1170"/>
                </a:lnTo>
                <a:lnTo>
                  <a:pt x="1862" y="1172"/>
                </a:lnTo>
                <a:lnTo>
                  <a:pt x="1862" y="1173"/>
                </a:lnTo>
                <a:lnTo>
                  <a:pt x="1861" y="1175"/>
                </a:lnTo>
                <a:lnTo>
                  <a:pt x="1859" y="1176"/>
                </a:lnTo>
                <a:lnTo>
                  <a:pt x="1858" y="1177"/>
                </a:lnTo>
                <a:lnTo>
                  <a:pt x="1857" y="1177"/>
                </a:lnTo>
                <a:lnTo>
                  <a:pt x="1855" y="1178"/>
                </a:lnTo>
                <a:lnTo>
                  <a:pt x="1853" y="1178"/>
                </a:lnTo>
                <a:lnTo>
                  <a:pt x="1852" y="1178"/>
                </a:lnTo>
                <a:lnTo>
                  <a:pt x="1850" y="1177"/>
                </a:lnTo>
                <a:lnTo>
                  <a:pt x="1849" y="1177"/>
                </a:lnTo>
                <a:lnTo>
                  <a:pt x="1847" y="1176"/>
                </a:lnTo>
                <a:lnTo>
                  <a:pt x="1846" y="1175"/>
                </a:lnTo>
                <a:lnTo>
                  <a:pt x="1845" y="1173"/>
                </a:lnTo>
                <a:lnTo>
                  <a:pt x="1845" y="1172"/>
                </a:lnTo>
                <a:lnTo>
                  <a:pt x="1844" y="1170"/>
                </a:lnTo>
                <a:lnTo>
                  <a:pt x="1844" y="1169"/>
                </a:lnTo>
                <a:lnTo>
                  <a:pt x="1844" y="1167"/>
                </a:lnTo>
                <a:lnTo>
                  <a:pt x="1845" y="1165"/>
                </a:lnTo>
                <a:lnTo>
                  <a:pt x="1845" y="1164"/>
                </a:lnTo>
                <a:lnTo>
                  <a:pt x="1846" y="1162"/>
                </a:lnTo>
                <a:lnTo>
                  <a:pt x="1847" y="1161"/>
                </a:lnTo>
                <a:lnTo>
                  <a:pt x="1849" y="1160"/>
                </a:lnTo>
                <a:lnTo>
                  <a:pt x="1850" y="1160"/>
                </a:lnTo>
                <a:lnTo>
                  <a:pt x="1852" y="1159"/>
                </a:lnTo>
                <a:lnTo>
                  <a:pt x="1853" y="1159"/>
                </a:lnTo>
                <a:close/>
                <a:moveTo>
                  <a:pt x="1910" y="1099"/>
                </a:moveTo>
                <a:lnTo>
                  <a:pt x="1912" y="1100"/>
                </a:lnTo>
                <a:lnTo>
                  <a:pt x="1913" y="1102"/>
                </a:lnTo>
                <a:lnTo>
                  <a:pt x="1912" y="1103"/>
                </a:lnTo>
                <a:lnTo>
                  <a:pt x="1910" y="1104"/>
                </a:lnTo>
                <a:lnTo>
                  <a:pt x="1909" y="1103"/>
                </a:lnTo>
                <a:lnTo>
                  <a:pt x="1908" y="1102"/>
                </a:lnTo>
                <a:lnTo>
                  <a:pt x="1909" y="1100"/>
                </a:lnTo>
                <a:lnTo>
                  <a:pt x="1910" y="1099"/>
                </a:lnTo>
                <a:close/>
                <a:moveTo>
                  <a:pt x="14" y="1099"/>
                </a:moveTo>
                <a:lnTo>
                  <a:pt x="16" y="1100"/>
                </a:lnTo>
                <a:lnTo>
                  <a:pt x="16" y="1102"/>
                </a:lnTo>
                <a:lnTo>
                  <a:pt x="16" y="1104"/>
                </a:lnTo>
                <a:lnTo>
                  <a:pt x="14" y="1105"/>
                </a:lnTo>
                <a:lnTo>
                  <a:pt x="12" y="1104"/>
                </a:lnTo>
                <a:lnTo>
                  <a:pt x="11" y="1102"/>
                </a:lnTo>
                <a:lnTo>
                  <a:pt x="12" y="1100"/>
                </a:lnTo>
                <a:lnTo>
                  <a:pt x="14" y="1099"/>
                </a:lnTo>
                <a:close/>
                <a:moveTo>
                  <a:pt x="103" y="1098"/>
                </a:moveTo>
                <a:lnTo>
                  <a:pt x="106" y="1099"/>
                </a:lnTo>
                <a:lnTo>
                  <a:pt x="107" y="1102"/>
                </a:lnTo>
                <a:lnTo>
                  <a:pt x="106" y="1104"/>
                </a:lnTo>
                <a:lnTo>
                  <a:pt x="103" y="1105"/>
                </a:lnTo>
                <a:lnTo>
                  <a:pt x="101" y="1104"/>
                </a:lnTo>
                <a:lnTo>
                  <a:pt x="100" y="1102"/>
                </a:lnTo>
                <a:lnTo>
                  <a:pt x="101" y="1099"/>
                </a:lnTo>
                <a:lnTo>
                  <a:pt x="103" y="1098"/>
                </a:lnTo>
                <a:close/>
                <a:moveTo>
                  <a:pt x="57" y="1095"/>
                </a:moveTo>
                <a:lnTo>
                  <a:pt x="59" y="1095"/>
                </a:lnTo>
                <a:lnTo>
                  <a:pt x="61" y="1096"/>
                </a:lnTo>
                <a:lnTo>
                  <a:pt x="63" y="1097"/>
                </a:lnTo>
                <a:lnTo>
                  <a:pt x="64" y="1098"/>
                </a:lnTo>
                <a:lnTo>
                  <a:pt x="65" y="1100"/>
                </a:lnTo>
                <a:lnTo>
                  <a:pt x="65" y="1102"/>
                </a:lnTo>
                <a:lnTo>
                  <a:pt x="65" y="1104"/>
                </a:lnTo>
                <a:lnTo>
                  <a:pt x="64" y="1106"/>
                </a:lnTo>
                <a:lnTo>
                  <a:pt x="63" y="1107"/>
                </a:lnTo>
                <a:lnTo>
                  <a:pt x="61" y="1109"/>
                </a:lnTo>
                <a:lnTo>
                  <a:pt x="59" y="1109"/>
                </a:lnTo>
                <a:lnTo>
                  <a:pt x="57" y="1110"/>
                </a:lnTo>
                <a:lnTo>
                  <a:pt x="55" y="1109"/>
                </a:lnTo>
                <a:lnTo>
                  <a:pt x="54" y="1109"/>
                </a:lnTo>
                <a:lnTo>
                  <a:pt x="52" y="1107"/>
                </a:lnTo>
                <a:lnTo>
                  <a:pt x="51" y="1106"/>
                </a:lnTo>
                <a:lnTo>
                  <a:pt x="50" y="1104"/>
                </a:lnTo>
                <a:lnTo>
                  <a:pt x="50" y="1102"/>
                </a:lnTo>
                <a:lnTo>
                  <a:pt x="50" y="1100"/>
                </a:lnTo>
                <a:lnTo>
                  <a:pt x="51" y="1098"/>
                </a:lnTo>
                <a:lnTo>
                  <a:pt x="52" y="1097"/>
                </a:lnTo>
                <a:lnTo>
                  <a:pt x="54" y="1096"/>
                </a:lnTo>
                <a:lnTo>
                  <a:pt x="55" y="1095"/>
                </a:lnTo>
                <a:lnTo>
                  <a:pt x="57" y="1095"/>
                </a:lnTo>
                <a:close/>
                <a:moveTo>
                  <a:pt x="1866" y="1092"/>
                </a:moveTo>
                <a:lnTo>
                  <a:pt x="1868" y="1092"/>
                </a:lnTo>
                <a:lnTo>
                  <a:pt x="1870" y="1093"/>
                </a:lnTo>
                <a:lnTo>
                  <a:pt x="1871" y="1094"/>
                </a:lnTo>
                <a:lnTo>
                  <a:pt x="1873" y="1095"/>
                </a:lnTo>
                <a:lnTo>
                  <a:pt x="1874" y="1096"/>
                </a:lnTo>
                <a:lnTo>
                  <a:pt x="1875" y="1098"/>
                </a:lnTo>
                <a:lnTo>
                  <a:pt x="1875" y="1100"/>
                </a:lnTo>
                <a:lnTo>
                  <a:pt x="1875" y="1102"/>
                </a:lnTo>
                <a:lnTo>
                  <a:pt x="1875" y="1104"/>
                </a:lnTo>
                <a:lnTo>
                  <a:pt x="1875" y="1105"/>
                </a:lnTo>
                <a:lnTo>
                  <a:pt x="1874" y="1107"/>
                </a:lnTo>
                <a:lnTo>
                  <a:pt x="1873" y="1108"/>
                </a:lnTo>
                <a:lnTo>
                  <a:pt x="1871" y="1109"/>
                </a:lnTo>
                <a:lnTo>
                  <a:pt x="1870" y="1110"/>
                </a:lnTo>
                <a:lnTo>
                  <a:pt x="1868" y="1111"/>
                </a:lnTo>
                <a:lnTo>
                  <a:pt x="1866" y="1111"/>
                </a:lnTo>
                <a:lnTo>
                  <a:pt x="1864" y="1111"/>
                </a:lnTo>
                <a:lnTo>
                  <a:pt x="1863" y="1110"/>
                </a:lnTo>
                <a:lnTo>
                  <a:pt x="1861" y="1109"/>
                </a:lnTo>
                <a:lnTo>
                  <a:pt x="1860" y="1108"/>
                </a:lnTo>
                <a:lnTo>
                  <a:pt x="1859" y="1107"/>
                </a:lnTo>
                <a:lnTo>
                  <a:pt x="1858" y="1105"/>
                </a:lnTo>
                <a:lnTo>
                  <a:pt x="1857" y="1104"/>
                </a:lnTo>
                <a:lnTo>
                  <a:pt x="1857" y="1102"/>
                </a:lnTo>
                <a:lnTo>
                  <a:pt x="1857" y="1100"/>
                </a:lnTo>
                <a:lnTo>
                  <a:pt x="1858" y="1098"/>
                </a:lnTo>
                <a:lnTo>
                  <a:pt x="1859" y="1096"/>
                </a:lnTo>
                <a:lnTo>
                  <a:pt x="1860" y="1095"/>
                </a:lnTo>
                <a:lnTo>
                  <a:pt x="1861" y="1094"/>
                </a:lnTo>
                <a:lnTo>
                  <a:pt x="1863" y="1093"/>
                </a:lnTo>
                <a:lnTo>
                  <a:pt x="1864" y="1092"/>
                </a:lnTo>
                <a:lnTo>
                  <a:pt x="1866" y="1092"/>
                </a:lnTo>
                <a:close/>
                <a:moveTo>
                  <a:pt x="95" y="1033"/>
                </a:moveTo>
                <a:lnTo>
                  <a:pt x="96" y="1033"/>
                </a:lnTo>
                <a:lnTo>
                  <a:pt x="97" y="1034"/>
                </a:lnTo>
                <a:lnTo>
                  <a:pt x="96" y="1035"/>
                </a:lnTo>
                <a:lnTo>
                  <a:pt x="95" y="1035"/>
                </a:lnTo>
                <a:lnTo>
                  <a:pt x="94" y="1035"/>
                </a:lnTo>
                <a:lnTo>
                  <a:pt x="94" y="1034"/>
                </a:lnTo>
                <a:lnTo>
                  <a:pt x="94" y="1033"/>
                </a:lnTo>
                <a:lnTo>
                  <a:pt x="95" y="1033"/>
                </a:lnTo>
                <a:close/>
                <a:moveTo>
                  <a:pt x="1917" y="1031"/>
                </a:moveTo>
                <a:lnTo>
                  <a:pt x="1919" y="1032"/>
                </a:lnTo>
                <a:lnTo>
                  <a:pt x="1920" y="1034"/>
                </a:lnTo>
                <a:lnTo>
                  <a:pt x="1919" y="1035"/>
                </a:lnTo>
                <a:lnTo>
                  <a:pt x="1917" y="1036"/>
                </a:lnTo>
                <a:lnTo>
                  <a:pt x="1916" y="1035"/>
                </a:lnTo>
                <a:lnTo>
                  <a:pt x="1915" y="1034"/>
                </a:lnTo>
                <a:lnTo>
                  <a:pt x="1916" y="1032"/>
                </a:lnTo>
                <a:lnTo>
                  <a:pt x="1917" y="1031"/>
                </a:lnTo>
                <a:close/>
                <a:moveTo>
                  <a:pt x="6" y="1031"/>
                </a:moveTo>
                <a:lnTo>
                  <a:pt x="8" y="1032"/>
                </a:lnTo>
                <a:lnTo>
                  <a:pt x="9" y="1034"/>
                </a:lnTo>
                <a:lnTo>
                  <a:pt x="8" y="1036"/>
                </a:lnTo>
                <a:lnTo>
                  <a:pt x="6" y="1037"/>
                </a:lnTo>
                <a:lnTo>
                  <a:pt x="4" y="1036"/>
                </a:lnTo>
                <a:lnTo>
                  <a:pt x="3" y="1034"/>
                </a:lnTo>
                <a:lnTo>
                  <a:pt x="4" y="1032"/>
                </a:lnTo>
                <a:lnTo>
                  <a:pt x="6" y="1031"/>
                </a:lnTo>
                <a:close/>
                <a:moveTo>
                  <a:pt x="50" y="1027"/>
                </a:moveTo>
                <a:lnTo>
                  <a:pt x="52" y="1027"/>
                </a:lnTo>
                <a:lnTo>
                  <a:pt x="53" y="1028"/>
                </a:lnTo>
                <a:lnTo>
                  <a:pt x="55" y="1029"/>
                </a:lnTo>
                <a:lnTo>
                  <a:pt x="56" y="1031"/>
                </a:lnTo>
                <a:lnTo>
                  <a:pt x="57" y="1032"/>
                </a:lnTo>
                <a:lnTo>
                  <a:pt x="57" y="1034"/>
                </a:lnTo>
                <a:lnTo>
                  <a:pt x="57" y="1036"/>
                </a:lnTo>
                <a:lnTo>
                  <a:pt x="56" y="1038"/>
                </a:lnTo>
                <a:lnTo>
                  <a:pt x="55" y="1039"/>
                </a:lnTo>
                <a:lnTo>
                  <a:pt x="53" y="1041"/>
                </a:lnTo>
                <a:lnTo>
                  <a:pt x="52" y="1041"/>
                </a:lnTo>
                <a:lnTo>
                  <a:pt x="50" y="1041"/>
                </a:lnTo>
                <a:lnTo>
                  <a:pt x="48" y="1041"/>
                </a:lnTo>
                <a:lnTo>
                  <a:pt x="46" y="1041"/>
                </a:lnTo>
                <a:lnTo>
                  <a:pt x="45" y="1039"/>
                </a:lnTo>
                <a:lnTo>
                  <a:pt x="43" y="1038"/>
                </a:lnTo>
                <a:lnTo>
                  <a:pt x="43" y="1036"/>
                </a:lnTo>
                <a:lnTo>
                  <a:pt x="42" y="1034"/>
                </a:lnTo>
                <a:lnTo>
                  <a:pt x="43" y="1032"/>
                </a:lnTo>
                <a:lnTo>
                  <a:pt x="43" y="1031"/>
                </a:lnTo>
                <a:lnTo>
                  <a:pt x="45" y="1029"/>
                </a:lnTo>
                <a:lnTo>
                  <a:pt x="46" y="1028"/>
                </a:lnTo>
                <a:lnTo>
                  <a:pt x="48" y="1027"/>
                </a:lnTo>
                <a:lnTo>
                  <a:pt x="50" y="1027"/>
                </a:lnTo>
                <a:close/>
                <a:moveTo>
                  <a:pt x="1874" y="1025"/>
                </a:moveTo>
                <a:lnTo>
                  <a:pt x="1875" y="1025"/>
                </a:lnTo>
                <a:lnTo>
                  <a:pt x="1877" y="1025"/>
                </a:lnTo>
                <a:lnTo>
                  <a:pt x="1879" y="1026"/>
                </a:lnTo>
                <a:lnTo>
                  <a:pt x="1880" y="1027"/>
                </a:lnTo>
                <a:lnTo>
                  <a:pt x="1881" y="1029"/>
                </a:lnTo>
                <a:lnTo>
                  <a:pt x="1882" y="1030"/>
                </a:lnTo>
                <a:lnTo>
                  <a:pt x="1882" y="1032"/>
                </a:lnTo>
                <a:lnTo>
                  <a:pt x="1882" y="1034"/>
                </a:lnTo>
                <a:lnTo>
                  <a:pt x="1882" y="1035"/>
                </a:lnTo>
                <a:lnTo>
                  <a:pt x="1882" y="1037"/>
                </a:lnTo>
                <a:lnTo>
                  <a:pt x="1881" y="1039"/>
                </a:lnTo>
                <a:lnTo>
                  <a:pt x="1880" y="1040"/>
                </a:lnTo>
                <a:lnTo>
                  <a:pt x="1879" y="1041"/>
                </a:lnTo>
                <a:lnTo>
                  <a:pt x="1877" y="1042"/>
                </a:lnTo>
                <a:lnTo>
                  <a:pt x="1875" y="1042"/>
                </a:lnTo>
                <a:lnTo>
                  <a:pt x="1874" y="1042"/>
                </a:lnTo>
                <a:lnTo>
                  <a:pt x="1872" y="1042"/>
                </a:lnTo>
                <a:lnTo>
                  <a:pt x="1870" y="1042"/>
                </a:lnTo>
                <a:lnTo>
                  <a:pt x="1869" y="1041"/>
                </a:lnTo>
                <a:lnTo>
                  <a:pt x="1868" y="1040"/>
                </a:lnTo>
                <a:lnTo>
                  <a:pt x="1867" y="1039"/>
                </a:lnTo>
                <a:lnTo>
                  <a:pt x="1866" y="1037"/>
                </a:lnTo>
                <a:lnTo>
                  <a:pt x="1865" y="1035"/>
                </a:lnTo>
                <a:lnTo>
                  <a:pt x="1865" y="1034"/>
                </a:lnTo>
                <a:lnTo>
                  <a:pt x="1865" y="1032"/>
                </a:lnTo>
                <a:lnTo>
                  <a:pt x="1866" y="1030"/>
                </a:lnTo>
                <a:lnTo>
                  <a:pt x="1867" y="1029"/>
                </a:lnTo>
                <a:lnTo>
                  <a:pt x="1868" y="1027"/>
                </a:lnTo>
                <a:lnTo>
                  <a:pt x="1869" y="1026"/>
                </a:lnTo>
                <a:lnTo>
                  <a:pt x="1870" y="1025"/>
                </a:lnTo>
                <a:lnTo>
                  <a:pt x="1872" y="1025"/>
                </a:lnTo>
                <a:lnTo>
                  <a:pt x="1874" y="1025"/>
                </a:lnTo>
                <a:close/>
                <a:moveTo>
                  <a:pt x="93" y="965"/>
                </a:moveTo>
                <a:lnTo>
                  <a:pt x="93" y="965"/>
                </a:lnTo>
                <a:lnTo>
                  <a:pt x="93" y="966"/>
                </a:lnTo>
                <a:lnTo>
                  <a:pt x="93" y="966"/>
                </a:lnTo>
                <a:lnTo>
                  <a:pt x="93" y="966"/>
                </a:lnTo>
                <a:lnTo>
                  <a:pt x="92" y="966"/>
                </a:lnTo>
                <a:lnTo>
                  <a:pt x="92" y="966"/>
                </a:lnTo>
                <a:lnTo>
                  <a:pt x="92" y="965"/>
                </a:lnTo>
                <a:lnTo>
                  <a:pt x="93" y="965"/>
                </a:lnTo>
                <a:close/>
                <a:moveTo>
                  <a:pt x="1920" y="963"/>
                </a:moveTo>
                <a:lnTo>
                  <a:pt x="1921" y="963"/>
                </a:lnTo>
                <a:lnTo>
                  <a:pt x="1922" y="965"/>
                </a:lnTo>
                <a:lnTo>
                  <a:pt x="1921" y="967"/>
                </a:lnTo>
                <a:lnTo>
                  <a:pt x="1920" y="968"/>
                </a:lnTo>
                <a:lnTo>
                  <a:pt x="1918" y="967"/>
                </a:lnTo>
                <a:lnTo>
                  <a:pt x="1917" y="965"/>
                </a:lnTo>
                <a:lnTo>
                  <a:pt x="1918" y="963"/>
                </a:lnTo>
                <a:lnTo>
                  <a:pt x="1920" y="963"/>
                </a:lnTo>
                <a:close/>
                <a:moveTo>
                  <a:pt x="3" y="962"/>
                </a:moveTo>
                <a:lnTo>
                  <a:pt x="6" y="963"/>
                </a:lnTo>
                <a:lnTo>
                  <a:pt x="7" y="966"/>
                </a:lnTo>
                <a:lnTo>
                  <a:pt x="6" y="969"/>
                </a:lnTo>
                <a:lnTo>
                  <a:pt x="3" y="970"/>
                </a:lnTo>
                <a:lnTo>
                  <a:pt x="1" y="969"/>
                </a:lnTo>
                <a:lnTo>
                  <a:pt x="0" y="966"/>
                </a:lnTo>
                <a:lnTo>
                  <a:pt x="1" y="963"/>
                </a:lnTo>
                <a:lnTo>
                  <a:pt x="3" y="962"/>
                </a:lnTo>
                <a:close/>
                <a:moveTo>
                  <a:pt x="47" y="959"/>
                </a:moveTo>
                <a:lnTo>
                  <a:pt x="49" y="959"/>
                </a:lnTo>
                <a:lnTo>
                  <a:pt x="51" y="959"/>
                </a:lnTo>
                <a:lnTo>
                  <a:pt x="52" y="961"/>
                </a:lnTo>
                <a:lnTo>
                  <a:pt x="54" y="962"/>
                </a:lnTo>
                <a:lnTo>
                  <a:pt x="54" y="964"/>
                </a:lnTo>
                <a:lnTo>
                  <a:pt x="55" y="966"/>
                </a:lnTo>
                <a:lnTo>
                  <a:pt x="54" y="968"/>
                </a:lnTo>
                <a:lnTo>
                  <a:pt x="54" y="969"/>
                </a:lnTo>
                <a:lnTo>
                  <a:pt x="52" y="971"/>
                </a:lnTo>
                <a:lnTo>
                  <a:pt x="51" y="972"/>
                </a:lnTo>
                <a:lnTo>
                  <a:pt x="49" y="973"/>
                </a:lnTo>
                <a:lnTo>
                  <a:pt x="47" y="973"/>
                </a:lnTo>
                <a:lnTo>
                  <a:pt x="45" y="973"/>
                </a:lnTo>
                <a:lnTo>
                  <a:pt x="44" y="972"/>
                </a:lnTo>
                <a:lnTo>
                  <a:pt x="42" y="971"/>
                </a:lnTo>
                <a:lnTo>
                  <a:pt x="41" y="969"/>
                </a:lnTo>
                <a:lnTo>
                  <a:pt x="40" y="968"/>
                </a:lnTo>
                <a:lnTo>
                  <a:pt x="40" y="966"/>
                </a:lnTo>
                <a:lnTo>
                  <a:pt x="40" y="964"/>
                </a:lnTo>
                <a:lnTo>
                  <a:pt x="41" y="962"/>
                </a:lnTo>
                <a:lnTo>
                  <a:pt x="42" y="961"/>
                </a:lnTo>
                <a:lnTo>
                  <a:pt x="44" y="959"/>
                </a:lnTo>
                <a:lnTo>
                  <a:pt x="45" y="959"/>
                </a:lnTo>
                <a:lnTo>
                  <a:pt x="47" y="959"/>
                </a:lnTo>
                <a:close/>
                <a:moveTo>
                  <a:pt x="1876" y="957"/>
                </a:moveTo>
                <a:lnTo>
                  <a:pt x="1878" y="957"/>
                </a:lnTo>
                <a:lnTo>
                  <a:pt x="1879" y="957"/>
                </a:lnTo>
                <a:lnTo>
                  <a:pt x="1881" y="958"/>
                </a:lnTo>
                <a:lnTo>
                  <a:pt x="1882" y="959"/>
                </a:lnTo>
                <a:lnTo>
                  <a:pt x="1883" y="960"/>
                </a:lnTo>
                <a:lnTo>
                  <a:pt x="1884" y="962"/>
                </a:lnTo>
                <a:lnTo>
                  <a:pt x="1885" y="964"/>
                </a:lnTo>
                <a:lnTo>
                  <a:pt x="1885" y="965"/>
                </a:lnTo>
                <a:lnTo>
                  <a:pt x="1885" y="967"/>
                </a:lnTo>
                <a:lnTo>
                  <a:pt x="1884" y="969"/>
                </a:lnTo>
                <a:lnTo>
                  <a:pt x="1883" y="970"/>
                </a:lnTo>
                <a:lnTo>
                  <a:pt x="1882" y="971"/>
                </a:lnTo>
                <a:lnTo>
                  <a:pt x="1881" y="972"/>
                </a:lnTo>
                <a:lnTo>
                  <a:pt x="1879" y="973"/>
                </a:lnTo>
                <a:lnTo>
                  <a:pt x="1878" y="974"/>
                </a:lnTo>
                <a:lnTo>
                  <a:pt x="1876" y="974"/>
                </a:lnTo>
                <a:lnTo>
                  <a:pt x="1874" y="974"/>
                </a:lnTo>
                <a:lnTo>
                  <a:pt x="1873" y="973"/>
                </a:lnTo>
                <a:lnTo>
                  <a:pt x="1871" y="972"/>
                </a:lnTo>
                <a:lnTo>
                  <a:pt x="1870" y="971"/>
                </a:lnTo>
                <a:lnTo>
                  <a:pt x="1869" y="970"/>
                </a:lnTo>
                <a:lnTo>
                  <a:pt x="1868" y="969"/>
                </a:lnTo>
                <a:lnTo>
                  <a:pt x="1868" y="967"/>
                </a:lnTo>
                <a:lnTo>
                  <a:pt x="1867" y="965"/>
                </a:lnTo>
                <a:lnTo>
                  <a:pt x="1868" y="964"/>
                </a:lnTo>
                <a:lnTo>
                  <a:pt x="1868" y="962"/>
                </a:lnTo>
                <a:lnTo>
                  <a:pt x="1869" y="960"/>
                </a:lnTo>
                <a:lnTo>
                  <a:pt x="1870" y="959"/>
                </a:lnTo>
                <a:lnTo>
                  <a:pt x="1871" y="958"/>
                </a:lnTo>
                <a:lnTo>
                  <a:pt x="1873" y="957"/>
                </a:lnTo>
                <a:lnTo>
                  <a:pt x="1874" y="957"/>
                </a:lnTo>
                <a:lnTo>
                  <a:pt x="1876" y="957"/>
                </a:lnTo>
                <a:close/>
                <a:moveTo>
                  <a:pt x="95" y="897"/>
                </a:moveTo>
                <a:lnTo>
                  <a:pt x="96" y="897"/>
                </a:lnTo>
                <a:lnTo>
                  <a:pt x="96" y="898"/>
                </a:lnTo>
                <a:lnTo>
                  <a:pt x="96" y="898"/>
                </a:lnTo>
                <a:lnTo>
                  <a:pt x="95" y="898"/>
                </a:lnTo>
                <a:lnTo>
                  <a:pt x="95" y="898"/>
                </a:lnTo>
                <a:lnTo>
                  <a:pt x="95" y="898"/>
                </a:lnTo>
                <a:lnTo>
                  <a:pt x="95" y="897"/>
                </a:lnTo>
                <a:lnTo>
                  <a:pt x="95" y="897"/>
                </a:lnTo>
                <a:close/>
                <a:moveTo>
                  <a:pt x="1917" y="894"/>
                </a:moveTo>
                <a:lnTo>
                  <a:pt x="1920" y="895"/>
                </a:lnTo>
                <a:lnTo>
                  <a:pt x="1921" y="897"/>
                </a:lnTo>
                <a:lnTo>
                  <a:pt x="1920" y="899"/>
                </a:lnTo>
                <a:lnTo>
                  <a:pt x="1917" y="900"/>
                </a:lnTo>
                <a:lnTo>
                  <a:pt x="1915" y="899"/>
                </a:lnTo>
                <a:lnTo>
                  <a:pt x="1914" y="897"/>
                </a:lnTo>
                <a:lnTo>
                  <a:pt x="1915" y="895"/>
                </a:lnTo>
                <a:lnTo>
                  <a:pt x="1917" y="894"/>
                </a:lnTo>
                <a:close/>
                <a:moveTo>
                  <a:pt x="6" y="894"/>
                </a:moveTo>
                <a:lnTo>
                  <a:pt x="8" y="894"/>
                </a:lnTo>
                <a:lnTo>
                  <a:pt x="9" y="896"/>
                </a:lnTo>
                <a:lnTo>
                  <a:pt x="10" y="898"/>
                </a:lnTo>
                <a:lnTo>
                  <a:pt x="9" y="900"/>
                </a:lnTo>
                <a:lnTo>
                  <a:pt x="8" y="901"/>
                </a:lnTo>
                <a:lnTo>
                  <a:pt x="6" y="902"/>
                </a:lnTo>
                <a:lnTo>
                  <a:pt x="4" y="901"/>
                </a:lnTo>
                <a:lnTo>
                  <a:pt x="2" y="900"/>
                </a:lnTo>
                <a:lnTo>
                  <a:pt x="2" y="898"/>
                </a:lnTo>
                <a:lnTo>
                  <a:pt x="2" y="896"/>
                </a:lnTo>
                <a:lnTo>
                  <a:pt x="4" y="894"/>
                </a:lnTo>
                <a:lnTo>
                  <a:pt x="6" y="894"/>
                </a:lnTo>
                <a:close/>
                <a:moveTo>
                  <a:pt x="50" y="892"/>
                </a:moveTo>
                <a:lnTo>
                  <a:pt x="52" y="892"/>
                </a:lnTo>
                <a:lnTo>
                  <a:pt x="53" y="893"/>
                </a:lnTo>
                <a:lnTo>
                  <a:pt x="54" y="894"/>
                </a:lnTo>
                <a:lnTo>
                  <a:pt x="55" y="896"/>
                </a:lnTo>
                <a:lnTo>
                  <a:pt x="55" y="898"/>
                </a:lnTo>
                <a:lnTo>
                  <a:pt x="55" y="900"/>
                </a:lnTo>
                <a:lnTo>
                  <a:pt x="54" y="901"/>
                </a:lnTo>
                <a:lnTo>
                  <a:pt x="53" y="902"/>
                </a:lnTo>
                <a:lnTo>
                  <a:pt x="52" y="903"/>
                </a:lnTo>
                <a:lnTo>
                  <a:pt x="50" y="903"/>
                </a:lnTo>
                <a:lnTo>
                  <a:pt x="48" y="903"/>
                </a:lnTo>
                <a:lnTo>
                  <a:pt x="46" y="902"/>
                </a:lnTo>
                <a:lnTo>
                  <a:pt x="45" y="901"/>
                </a:lnTo>
                <a:lnTo>
                  <a:pt x="44" y="900"/>
                </a:lnTo>
                <a:lnTo>
                  <a:pt x="44" y="898"/>
                </a:lnTo>
                <a:lnTo>
                  <a:pt x="44" y="896"/>
                </a:lnTo>
                <a:lnTo>
                  <a:pt x="45" y="894"/>
                </a:lnTo>
                <a:lnTo>
                  <a:pt x="46" y="893"/>
                </a:lnTo>
                <a:lnTo>
                  <a:pt x="48" y="892"/>
                </a:lnTo>
                <a:lnTo>
                  <a:pt x="50" y="892"/>
                </a:lnTo>
                <a:close/>
                <a:moveTo>
                  <a:pt x="1874" y="889"/>
                </a:moveTo>
                <a:lnTo>
                  <a:pt x="1875" y="889"/>
                </a:lnTo>
                <a:lnTo>
                  <a:pt x="1877" y="889"/>
                </a:lnTo>
                <a:lnTo>
                  <a:pt x="1879" y="890"/>
                </a:lnTo>
                <a:lnTo>
                  <a:pt x="1880" y="891"/>
                </a:lnTo>
                <a:lnTo>
                  <a:pt x="1881" y="892"/>
                </a:lnTo>
                <a:lnTo>
                  <a:pt x="1882" y="894"/>
                </a:lnTo>
                <a:lnTo>
                  <a:pt x="1882" y="895"/>
                </a:lnTo>
                <a:lnTo>
                  <a:pt x="1882" y="897"/>
                </a:lnTo>
                <a:lnTo>
                  <a:pt x="1882" y="899"/>
                </a:lnTo>
                <a:lnTo>
                  <a:pt x="1882" y="901"/>
                </a:lnTo>
                <a:lnTo>
                  <a:pt x="1881" y="902"/>
                </a:lnTo>
                <a:lnTo>
                  <a:pt x="1880" y="903"/>
                </a:lnTo>
                <a:lnTo>
                  <a:pt x="1879" y="904"/>
                </a:lnTo>
                <a:lnTo>
                  <a:pt x="1877" y="905"/>
                </a:lnTo>
                <a:lnTo>
                  <a:pt x="1875" y="906"/>
                </a:lnTo>
                <a:lnTo>
                  <a:pt x="1874" y="906"/>
                </a:lnTo>
                <a:lnTo>
                  <a:pt x="1872" y="906"/>
                </a:lnTo>
                <a:lnTo>
                  <a:pt x="1870" y="905"/>
                </a:lnTo>
                <a:lnTo>
                  <a:pt x="1869" y="904"/>
                </a:lnTo>
                <a:lnTo>
                  <a:pt x="1868" y="903"/>
                </a:lnTo>
                <a:lnTo>
                  <a:pt x="1867" y="902"/>
                </a:lnTo>
                <a:lnTo>
                  <a:pt x="1866" y="901"/>
                </a:lnTo>
                <a:lnTo>
                  <a:pt x="1865" y="899"/>
                </a:lnTo>
                <a:lnTo>
                  <a:pt x="1865" y="897"/>
                </a:lnTo>
                <a:lnTo>
                  <a:pt x="1865" y="895"/>
                </a:lnTo>
                <a:lnTo>
                  <a:pt x="1866" y="894"/>
                </a:lnTo>
                <a:lnTo>
                  <a:pt x="1867" y="892"/>
                </a:lnTo>
                <a:lnTo>
                  <a:pt x="1868" y="891"/>
                </a:lnTo>
                <a:lnTo>
                  <a:pt x="1869" y="890"/>
                </a:lnTo>
                <a:lnTo>
                  <a:pt x="1870" y="889"/>
                </a:lnTo>
                <a:lnTo>
                  <a:pt x="1872" y="889"/>
                </a:lnTo>
                <a:lnTo>
                  <a:pt x="1874" y="889"/>
                </a:lnTo>
                <a:close/>
                <a:moveTo>
                  <a:pt x="103" y="829"/>
                </a:moveTo>
                <a:lnTo>
                  <a:pt x="104" y="830"/>
                </a:lnTo>
                <a:lnTo>
                  <a:pt x="104" y="830"/>
                </a:lnTo>
                <a:lnTo>
                  <a:pt x="104" y="831"/>
                </a:lnTo>
                <a:lnTo>
                  <a:pt x="103" y="831"/>
                </a:lnTo>
                <a:lnTo>
                  <a:pt x="102" y="831"/>
                </a:lnTo>
                <a:lnTo>
                  <a:pt x="102" y="830"/>
                </a:lnTo>
                <a:lnTo>
                  <a:pt x="102" y="830"/>
                </a:lnTo>
                <a:lnTo>
                  <a:pt x="103" y="829"/>
                </a:lnTo>
                <a:close/>
                <a:moveTo>
                  <a:pt x="1910" y="826"/>
                </a:moveTo>
                <a:lnTo>
                  <a:pt x="1913" y="827"/>
                </a:lnTo>
                <a:lnTo>
                  <a:pt x="1914" y="829"/>
                </a:lnTo>
                <a:lnTo>
                  <a:pt x="1913" y="832"/>
                </a:lnTo>
                <a:lnTo>
                  <a:pt x="1910" y="833"/>
                </a:lnTo>
                <a:lnTo>
                  <a:pt x="1907" y="832"/>
                </a:lnTo>
                <a:lnTo>
                  <a:pt x="1906" y="829"/>
                </a:lnTo>
                <a:lnTo>
                  <a:pt x="1907" y="827"/>
                </a:lnTo>
                <a:lnTo>
                  <a:pt x="1910" y="826"/>
                </a:lnTo>
                <a:close/>
                <a:moveTo>
                  <a:pt x="13" y="826"/>
                </a:moveTo>
                <a:lnTo>
                  <a:pt x="16" y="826"/>
                </a:lnTo>
                <a:lnTo>
                  <a:pt x="17" y="828"/>
                </a:lnTo>
                <a:lnTo>
                  <a:pt x="18" y="830"/>
                </a:lnTo>
                <a:lnTo>
                  <a:pt x="17" y="832"/>
                </a:lnTo>
                <a:lnTo>
                  <a:pt x="16" y="833"/>
                </a:lnTo>
                <a:lnTo>
                  <a:pt x="13" y="834"/>
                </a:lnTo>
                <a:lnTo>
                  <a:pt x="11" y="833"/>
                </a:lnTo>
                <a:lnTo>
                  <a:pt x="9" y="832"/>
                </a:lnTo>
                <a:lnTo>
                  <a:pt x="9" y="830"/>
                </a:lnTo>
                <a:lnTo>
                  <a:pt x="9" y="828"/>
                </a:lnTo>
                <a:lnTo>
                  <a:pt x="11" y="826"/>
                </a:lnTo>
                <a:lnTo>
                  <a:pt x="13" y="826"/>
                </a:lnTo>
                <a:close/>
                <a:moveTo>
                  <a:pt x="57" y="823"/>
                </a:moveTo>
                <a:lnTo>
                  <a:pt x="59" y="824"/>
                </a:lnTo>
                <a:lnTo>
                  <a:pt x="61" y="825"/>
                </a:lnTo>
                <a:lnTo>
                  <a:pt x="62" y="826"/>
                </a:lnTo>
                <a:lnTo>
                  <a:pt x="63" y="828"/>
                </a:lnTo>
                <a:lnTo>
                  <a:pt x="63" y="830"/>
                </a:lnTo>
                <a:lnTo>
                  <a:pt x="63" y="832"/>
                </a:lnTo>
                <a:lnTo>
                  <a:pt x="62" y="833"/>
                </a:lnTo>
                <a:lnTo>
                  <a:pt x="61" y="835"/>
                </a:lnTo>
                <a:lnTo>
                  <a:pt x="59" y="836"/>
                </a:lnTo>
                <a:lnTo>
                  <a:pt x="57" y="836"/>
                </a:lnTo>
                <a:lnTo>
                  <a:pt x="55" y="836"/>
                </a:lnTo>
                <a:lnTo>
                  <a:pt x="53" y="835"/>
                </a:lnTo>
                <a:lnTo>
                  <a:pt x="52" y="833"/>
                </a:lnTo>
                <a:lnTo>
                  <a:pt x="51" y="832"/>
                </a:lnTo>
                <a:lnTo>
                  <a:pt x="51" y="830"/>
                </a:lnTo>
                <a:lnTo>
                  <a:pt x="51" y="828"/>
                </a:lnTo>
                <a:lnTo>
                  <a:pt x="52" y="826"/>
                </a:lnTo>
                <a:lnTo>
                  <a:pt x="53" y="825"/>
                </a:lnTo>
                <a:lnTo>
                  <a:pt x="55" y="824"/>
                </a:lnTo>
                <a:lnTo>
                  <a:pt x="57" y="823"/>
                </a:lnTo>
                <a:close/>
                <a:moveTo>
                  <a:pt x="1866" y="821"/>
                </a:moveTo>
                <a:lnTo>
                  <a:pt x="1868" y="821"/>
                </a:lnTo>
                <a:lnTo>
                  <a:pt x="1869" y="821"/>
                </a:lnTo>
                <a:lnTo>
                  <a:pt x="1871" y="822"/>
                </a:lnTo>
                <a:lnTo>
                  <a:pt x="1872" y="823"/>
                </a:lnTo>
                <a:lnTo>
                  <a:pt x="1873" y="824"/>
                </a:lnTo>
                <a:lnTo>
                  <a:pt x="1874" y="826"/>
                </a:lnTo>
                <a:lnTo>
                  <a:pt x="1875" y="828"/>
                </a:lnTo>
                <a:lnTo>
                  <a:pt x="1875" y="829"/>
                </a:lnTo>
                <a:lnTo>
                  <a:pt x="1875" y="831"/>
                </a:lnTo>
                <a:lnTo>
                  <a:pt x="1874" y="833"/>
                </a:lnTo>
                <a:lnTo>
                  <a:pt x="1873" y="834"/>
                </a:lnTo>
                <a:lnTo>
                  <a:pt x="1872" y="836"/>
                </a:lnTo>
                <a:lnTo>
                  <a:pt x="1871" y="837"/>
                </a:lnTo>
                <a:lnTo>
                  <a:pt x="1869" y="838"/>
                </a:lnTo>
                <a:lnTo>
                  <a:pt x="1868" y="838"/>
                </a:lnTo>
                <a:lnTo>
                  <a:pt x="1866" y="838"/>
                </a:lnTo>
                <a:lnTo>
                  <a:pt x="1864" y="838"/>
                </a:lnTo>
                <a:lnTo>
                  <a:pt x="1863" y="838"/>
                </a:lnTo>
                <a:lnTo>
                  <a:pt x="1861" y="837"/>
                </a:lnTo>
                <a:lnTo>
                  <a:pt x="1860" y="836"/>
                </a:lnTo>
                <a:lnTo>
                  <a:pt x="1859" y="834"/>
                </a:lnTo>
                <a:lnTo>
                  <a:pt x="1858" y="833"/>
                </a:lnTo>
                <a:lnTo>
                  <a:pt x="1857" y="831"/>
                </a:lnTo>
                <a:lnTo>
                  <a:pt x="1857" y="829"/>
                </a:lnTo>
                <a:lnTo>
                  <a:pt x="1857" y="828"/>
                </a:lnTo>
                <a:lnTo>
                  <a:pt x="1858" y="826"/>
                </a:lnTo>
                <a:lnTo>
                  <a:pt x="1859" y="824"/>
                </a:lnTo>
                <a:lnTo>
                  <a:pt x="1860" y="823"/>
                </a:lnTo>
                <a:lnTo>
                  <a:pt x="1861" y="822"/>
                </a:lnTo>
                <a:lnTo>
                  <a:pt x="1863" y="821"/>
                </a:lnTo>
                <a:lnTo>
                  <a:pt x="1864" y="821"/>
                </a:lnTo>
                <a:lnTo>
                  <a:pt x="1866" y="821"/>
                </a:lnTo>
                <a:close/>
                <a:moveTo>
                  <a:pt x="117" y="762"/>
                </a:moveTo>
                <a:lnTo>
                  <a:pt x="117" y="763"/>
                </a:lnTo>
                <a:lnTo>
                  <a:pt x="118" y="763"/>
                </a:lnTo>
                <a:lnTo>
                  <a:pt x="117" y="764"/>
                </a:lnTo>
                <a:lnTo>
                  <a:pt x="117" y="764"/>
                </a:lnTo>
                <a:lnTo>
                  <a:pt x="116" y="764"/>
                </a:lnTo>
                <a:lnTo>
                  <a:pt x="116" y="763"/>
                </a:lnTo>
                <a:lnTo>
                  <a:pt x="116" y="763"/>
                </a:lnTo>
                <a:lnTo>
                  <a:pt x="117" y="762"/>
                </a:lnTo>
                <a:close/>
                <a:moveTo>
                  <a:pt x="25" y="758"/>
                </a:moveTo>
                <a:lnTo>
                  <a:pt x="28" y="759"/>
                </a:lnTo>
                <a:lnTo>
                  <a:pt x="29" y="760"/>
                </a:lnTo>
                <a:lnTo>
                  <a:pt x="30" y="762"/>
                </a:lnTo>
                <a:lnTo>
                  <a:pt x="29" y="765"/>
                </a:lnTo>
                <a:lnTo>
                  <a:pt x="28" y="766"/>
                </a:lnTo>
                <a:lnTo>
                  <a:pt x="25" y="767"/>
                </a:lnTo>
                <a:lnTo>
                  <a:pt x="23" y="766"/>
                </a:lnTo>
                <a:lnTo>
                  <a:pt x="22" y="765"/>
                </a:lnTo>
                <a:lnTo>
                  <a:pt x="21" y="762"/>
                </a:lnTo>
                <a:lnTo>
                  <a:pt x="22" y="760"/>
                </a:lnTo>
                <a:lnTo>
                  <a:pt x="23" y="759"/>
                </a:lnTo>
                <a:lnTo>
                  <a:pt x="25" y="758"/>
                </a:lnTo>
                <a:close/>
                <a:moveTo>
                  <a:pt x="1898" y="758"/>
                </a:moveTo>
                <a:lnTo>
                  <a:pt x="1900" y="758"/>
                </a:lnTo>
                <a:lnTo>
                  <a:pt x="1902" y="760"/>
                </a:lnTo>
                <a:lnTo>
                  <a:pt x="1902" y="762"/>
                </a:lnTo>
                <a:lnTo>
                  <a:pt x="1902" y="764"/>
                </a:lnTo>
                <a:lnTo>
                  <a:pt x="1900" y="766"/>
                </a:lnTo>
                <a:lnTo>
                  <a:pt x="1898" y="766"/>
                </a:lnTo>
                <a:lnTo>
                  <a:pt x="1895" y="766"/>
                </a:lnTo>
                <a:lnTo>
                  <a:pt x="1894" y="764"/>
                </a:lnTo>
                <a:lnTo>
                  <a:pt x="1893" y="762"/>
                </a:lnTo>
                <a:lnTo>
                  <a:pt x="1894" y="760"/>
                </a:lnTo>
                <a:lnTo>
                  <a:pt x="1895" y="758"/>
                </a:lnTo>
                <a:lnTo>
                  <a:pt x="1898" y="758"/>
                </a:lnTo>
                <a:close/>
                <a:moveTo>
                  <a:pt x="70" y="756"/>
                </a:moveTo>
                <a:lnTo>
                  <a:pt x="72" y="756"/>
                </a:lnTo>
                <a:lnTo>
                  <a:pt x="73" y="757"/>
                </a:lnTo>
                <a:lnTo>
                  <a:pt x="75" y="758"/>
                </a:lnTo>
                <a:lnTo>
                  <a:pt x="76" y="759"/>
                </a:lnTo>
                <a:lnTo>
                  <a:pt x="77" y="761"/>
                </a:lnTo>
                <a:lnTo>
                  <a:pt x="77" y="762"/>
                </a:lnTo>
                <a:lnTo>
                  <a:pt x="77" y="764"/>
                </a:lnTo>
                <a:lnTo>
                  <a:pt x="76" y="766"/>
                </a:lnTo>
                <a:lnTo>
                  <a:pt x="75" y="767"/>
                </a:lnTo>
                <a:lnTo>
                  <a:pt x="73" y="768"/>
                </a:lnTo>
                <a:lnTo>
                  <a:pt x="72" y="769"/>
                </a:lnTo>
                <a:lnTo>
                  <a:pt x="70" y="769"/>
                </a:lnTo>
                <a:lnTo>
                  <a:pt x="68" y="769"/>
                </a:lnTo>
                <a:lnTo>
                  <a:pt x="66" y="768"/>
                </a:lnTo>
                <a:lnTo>
                  <a:pt x="65" y="767"/>
                </a:lnTo>
                <a:lnTo>
                  <a:pt x="64" y="766"/>
                </a:lnTo>
                <a:lnTo>
                  <a:pt x="63" y="764"/>
                </a:lnTo>
                <a:lnTo>
                  <a:pt x="63" y="762"/>
                </a:lnTo>
                <a:lnTo>
                  <a:pt x="63" y="761"/>
                </a:lnTo>
                <a:lnTo>
                  <a:pt x="64" y="759"/>
                </a:lnTo>
                <a:lnTo>
                  <a:pt x="65" y="758"/>
                </a:lnTo>
                <a:lnTo>
                  <a:pt x="66" y="757"/>
                </a:lnTo>
                <a:lnTo>
                  <a:pt x="68" y="756"/>
                </a:lnTo>
                <a:lnTo>
                  <a:pt x="70" y="756"/>
                </a:lnTo>
                <a:close/>
                <a:moveTo>
                  <a:pt x="1853" y="753"/>
                </a:moveTo>
                <a:lnTo>
                  <a:pt x="1855" y="754"/>
                </a:lnTo>
                <a:lnTo>
                  <a:pt x="1857" y="754"/>
                </a:lnTo>
                <a:lnTo>
                  <a:pt x="1858" y="755"/>
                </a:lnTo>
                <a:lnTo>
                  <a:pt x="1860" y="756"/>
                </a:lnTo>
                <a:lnTo>
                  <a:pt x="1861" y="757"/>
                </a:lnTo>
                <a:lnTo>
                  <a:pt x="1862" y="759"/>
                </a:lnTo>
                <a:lnTo>
                  <a:pt x="1862" y="760"/>
                </a:lnTo>
                <a:lnTo>
                  <a:pt x="1862" y="762"/>
                </a:lnTo>
                <a:lnTo>
                  <a:pt x="1862" y="764"/>
                </a:lnTo>
                <a:lnTo>
                  <a:pt x="1862" y="766"/>
                </a:lnTo>
                <a:lnTo>
                  <a:pt x="1861" y="767"/>
                </a:lnTo>
                <a:lnTo>
                  <a:pt x="1860" y="769"/>
                </a:lnTo>
                <a:lnTo>
                  <a:pt x="1858" y="770"/>
                </a:lnTo>
                <a:lnTo>
                  <a:pt x="1857" y="770"/>
                </a:lnTo>
                <a:lnTo>
                  <a:pt x="1855" y="771"/>
                </a:lnTo>
                <a:lnTo>
                  <a:pt x="1853" y="771"/>
                </a:lnTo>
                <a:lnTo>
                  <a:pt x="1851" y="771"/>
                </a:lnTo>
                <a:lnTo>
                  <a:pt x="1850" y="770"/>
                </a:lnTo>
                <a:lnTo>
                  <a:pt x="1848" y="770"/>
                </a:lnTo>
                <a:lnTo>
                  <a:pt x="1847" y="769"/>
                </a:lnTo>
                <a:lnTo>
                  <a:pt x="1846" y="767"/>
                </a:lnTo>
                <a:lnTo>
                  <a:pt x="1845" y="766"/>
                </a:lnTo>
                <a:lnTo>
                  <a:pt x="1844" y="764"/>
                </a:lnTo>
                <a:lnTo>
                  <a:pt x="1844" y="762"/>
                </a:lnTo>
                <a:lnTo>
                  <a:pt x="1844" y="760"/>
                </a:lnTo>
                <a:lnTo>
                  <a:pt x="1845" y="759"/>
                </a:lnTo>
                <a:lnTo>
                  <a:pt x="1846" y="757"/>
                </a:lnTo>
                <a:lnTo>
                  <a:pt x="1847" y="756"/>
                </a:lnTo>
                <a:lnTo>
                  <a:pt x="1848" y="755"/>
                </a:lnTo>
                <a:lnTo>
                  <a:pt x="1850" y="754"/>
                </a:lnTo>
                <a:lnTo>
                  <a:pt x="1851" y="754"/>
                </a:lnTo>
                <a:lnTo>
                  <a:pt x="1853" y="753"/>
                </a:lnTo>
                <a:close/>
                <a:moveTo>
                  <a:pt x="135" y="697"/>
                </a:moveTo>
                <a:lnTo>
                  <a:pt x="136" y="697"/>
                </a:lnTo>
                <a:lnTo>
                  <a:pt x="136" y="698"/>
                </a:lnTo>
                <a:lnTo>
                  <a:pt x="136" y="698"/>
                </a:lnTo>
                <a:lnTo>
                  <a:pt x="135" y="699"/>
                </a:lnTo>
                <a:lnTo>
                  <a:pt x="134" y="698"/>
                </a:lnTo>
                <a:lnTo>
                  <a:pt x="134" y="698"/>
                </a:lnTo>
                <a:lnTo>
                  <a:pt x="134" y="697"/>
                </a:lnTo>
                <a:lnTo>
                  <a:pt x="135" y="697"/>
                </a:lnTo>
                <a:close/>
                <a:moveTo>
                  <a:pt x="42" y="692"/>
                </a:moveTo>
                <a:lnTo>
                  <a:pt x="45" y="692"/>
                </a:lnTo>
                <a:lnTo>
                  <a:pt x="46" y="694"/>
                </a:lnTo>
                <a:lnTo>
                  <a:pt x="47" y="696"/>
                </a:lnTo>
                <a:lnTo>
                  <a:pt x="46" y="699"/>
                </a:lnTo>
                <a:lnTo>
                  <a:pt x="45" y="700"/>
                </a:lnTo>
                <a:lnTo>
                  <a:pt x="42" y="701"/>
                </a:lnTo>
                <a:lnTo>
                  <a:pt x="40" y="700"/>
                </a:lnTo>
                <a:lnTo>
                  <a:pt x="38" y="699"/>
                </a:lnTo>
                <a:lnTo>
                  <a:pt x="38" y="696"/>
                </a:lnTo>
                <a:lnTo>
                  <a:pt x="38" y="694"/>
                </a:lnTo>
                <a:lnTo>
                  <a:pt x="40" y="692"/>
                </a:lnTo>
                <a:lnTo>
                  <a:pt x="42" y="692"/>
                </a:lnTo>
                <a:close/>
                <a:moveTo>
                  <a:pt x="1881" y="690"/>
                </a:moveTo>
                <a:lnTo>
                  <a:pt x="1883" y="691"/>
                </a:lnTo>
                <a:lnTo>
                  <a:pt x="1885" y="692"/>
                </a:lnTo>
                <a:lnTo>
                  <a:pt x="1886" y="694"/>
                </a:lnTo>
                <a:lnTo>
                  <a:pt x="1887" y="696"/>
                </a:lnTo>
                <a:lnTo>
                  <a:pt x="1886" y="698"/>
                </a:lnTo>
                <a:lnTo>
                  <a:pt x="1885" y="700"/>
                </a:lnTo>
                <a:lnTo>
                  <a:pt x="1883" y="701"/>
                </a:lnTo>
                <a:lnTo>
                  <a:pt x="1881" y="701"/>
                </a:lnTo>
                <a:lnTo>
                  <a:pt x="1879" y="701"/>
                </a:lnTo>
                <a:lnTo>
                  <a:pt x="1877" y="700"/>
                </a:lnTo>
                <a:lnTo>
                  <a:pt x="1876" y="698"/>
                </a:lnTo>
                <a:lnTo>
                  <a:pt x="1875" y="696"/>
                </a:lnTo>
                <a:lnTo>
                  <a:pt x="1876" y="694"/>
                </a:lnTo>
                <a:lnTo>
                  <a:pt x="1877" y="692"/>
                </a:lnTo>
                <a:lnTo>
                  <a:pt x="1879" y="691"/>
                </a:lnTo>
                <a:lnTo>
                  <a:pt x="1881" y="690"/>
                </a:lnTo>
                <a:close/>
                <a:moveTo>
                  <a:pt x="88" y="689"/>
                </a:moveTo>
                <a:lnTo>
                  <a:pt x="89" y="689"/>
                </a:lnTo>
                <a:lnTo>
                  <a:pt x="91" y="689"/>
                </a:lnTo>
                <a:lnTo>
                  <a:pt x="93" y="690"/>
                </a:lnTo>
                <a:lnTo>
                  <a:pt x="94" y="692"/>
                </a:lnTo>
                <a:lnTo>
                  <a:pt x="95" y="693"/>
                </a:lnTo>
                <a:lnTo>
                  <a:pt x="95" y="695"/>
                </a:lnTo>
                <a:lnTo>
                  <a:pt x="96" y="697"/>
                </a:lnTo>
                <a:lnTo>
                  <a:pt x="95" y="698"/>
                </a:lnTo>
                <a:lnTo>
                  <a:pt x="95" y="700"/>
                </a:lnTo>
                <a:lnTo>
                  <a:pt x="94" y="701"/>
                </a:lnTo>
                <a:lnTo>
                  <a:pt x="93" y="703"/>
                </a:lnTo>
                <a:lnTo>
                  <a:pt x="91" y="704"/>
                </a:lnTo>
                <a:lnTo>
                  <a:pt x="89" y="704"/>
                </a:lnTo>
                <a:lnTo>
                  <a:pt x="88" y="704"/>
                </a:lnTo>
                <a:lnTo>
                  <a:pt x="86" y="704"/>
                </a:lnTo>
                <a:lnTo>
                  <a:pt x="84" y="704"/>
                </a:lnTo>
                <a:lnTo>
                  <a:pt x="83" y="703"/>
                </a:lnTo>
                <a:lnTo>
                  <a:pt x="81" y="701"/>
                </a:lnTo>
                <a:lnTo>
                  <a:pt x="81" y="700"/>
                </a:lnTo>
                <a:lnTo>
                  <a:pt x="80" y="698"/>
                </a:lnTo>
                <a:lnTo>
                  <a:pt x="80" y="697"/>
                </a:lnTo>
                <a:lnTo>
                  <a:pt x="80" y="695"/>
                </a:lnTo>
                <a:lnTo>
                  <a:pt x="81" y="693"/>
                </a:lnTo>
                <a:lnTo>
                  <a:pt x="81" y="692"/>
                </a:lnTo>
                <a:lnTo>
                  <a:pt x="83" y="690"/>
                </a:lnTo>
                <a:lnTo>
                  <a:pt x="84" y="689"/>
                </a:lnTo>
                <a:lnTo>
                  <a:pt x="86" y="689"/>
                </a:lnTo>
                <a:lnTo>
                  <a:pt x="88" y="689"/>
                </a:lnTo>
                <a:close/>
                <a:moveTo>
                  <a:pt x="1836" y="687"/>
                </a:moveTo>
                <a:lnTo>
                  <a:pt x="1837" y="687"/>
                </a:lnTo>
                <a:lnTo>
                  <a:pt x="1839" y="688"/>
                </a:lnTo>
                <a:lnTo>
                  <a:pt x="1841" y="689"/>
                </a:lnTo>
                <a:lnTo>
                  <a:pt x="1842" y="690"/>
                </a:lnTo>
                <a:lnTo>
                  <a:pt x="1843" y="691"/>
                </a:lnTo>
                <a:lnTo>
                  <a:pt x="1844" y="693"/>
                </a:lnTo>
                <a:lnTo>
                  <a:pt x="1844" y="694"/>
                </a:lnTo>
                <a:lnTo>
                  <a:pt x="1845" y="696"/>
                </a:lnTo>
                <a:lnTo>
                  <a:pt x="1844" y="698"/>
                </a:lnTo>
                <a:lnTo>
                  <a:pt x="1844" y="700"/>
                </a:lnTo>
                <a:lnTo>
                  <a:pt x="1843" y="701"/>
                </a:lnTo>
                <a:lnTo>
                  <a:pt x="1842" y="703"/>
                </a:lnTo>
                <a:lnTo>
                  <a:pt x="1841" y="704"/>
                </a:lnTo>
                <a:lnTo>
                  <a:pt x="1839" y="705"/>
                </a:lnTo>
                <a:lnTo>
                  <a:pt x="1837" y="705"/>
                </a:lnTo>
                <a:lnTo>
                  <a:pt x="1836" y="705"/>
                </a:lnTo>
                <a:lnTo>
                  <a:pt x="1834" y="705"/>
                </a:lnTo>
                <a:lnTo>
                  <a:pt x="1832" y="705"/>
                </a:lnTo>
                <a:lnTo>
                  <a:pt x="1830" y="704"/>
                </a:lnTo>
                <a:lnTo>
                  <a:pt x="1829" y="703"/>
                </a:lnTo>
                <a:lnTo>
                  <a:pt x="1828" y="701"/>
                </a:lnTo>
                <a:lnTo>
                  <a:pt x="1827" y="700"/>
                </a:lnTo>
                <a:lnTo>
                  <a:pt x="1827" y="698"/>
                </a:lnTo>
                <a:lnTo>
                  <a:pt x="1826" y="696"/>
                </a:lnTo>
                <a:lnTo>
                  <a:pt x="1827" y="694"/>
                </a:lnTo>
                <a:lnTo>
                  <a:pt x="1827" y="693"/>
                </a:lnTo>
                <a:lnTo>
                  <a:pt x="1828" y="691"/>
                </a:lnTo>
                <a:lnTo>
                  <a:pt x="1829" y="690"/>
                </a:lnTo>
                <a:lnTo>
                  <a:pt x="1830" y="689"/>
                </a:lnTo>
                <a:lnTo>
                  <a:pt x="1832" y="688"/>
                </a:lnTo>
                <a:lnTo>
                  <a:pt x="1834" y="687"/>
                </a:lnTo>
                <a:lnTo>
                  <a:pt x="1836" y="687"/>
                </a:lnTo>
                <a:close/>
                <a:moveTo>
                  <a:pt x="159" y="633"/>
                </a:moveTo>
                <a:lnTo>
                  <a:pt x="160" y="633"/>
                </a:lnTo>
                <a:lnTo>
                  <a:pt x="160" y="634"/>
                </a:lnTo>
                <a:lnTo>
                  <a:pt x="160" y="635"/>
                </a:lnTo>
                <a:lnTo>
                  <a:pt x="159" y="635"/>
                </a:lnTo>
                <a:lnTo>
                  <a:pt x="158" y="635"/>
                </a:lnTo>
                <a:lnTo>
                  <a:pt x="158" y="634"/>
                </a:lnTo>
                <a:lnTo>
                  <a:pt x="158" y="633"/>
                </a:lnTo>
                <a:lnTo>
                  <a:pt x="159" y="633"/>
                </a:lnTo>
                <a:close/>
                <a:moveTo>
                  <a:pt x="64" y="627"/>
                </a:moveTo>
                <a:lnTo>
                  <a:pt x="66" y="627"/>
                </a:lnTo>
                <a:lnTo>
                  <a:pt x="68" y="628"/>
                </a:lnTo>
                <a:lnTo>
                  <a:pt x="69" y="630"/>
                </a:lnTo>
                <a:lnTo>
                  <a:pt x="69" y="631"/>
                </a:lnTo>
                <a:lnTo>
                  <a:pt x="69" y="633"/>
                </a:lnTo>
                <a:lnTo>
                  <a:pt x="68" y="635"/>
                </a:lnTo>
                <a:lnTo>
                  <a:pt x="66" y="636"/>
                </a:lnTo>
                <a:lnTo>
                  <a:pt x="64" y="636"/>
                </a:lnTo>
                <a:lnTo>
                  <a:pt x="62" y="636"/>
                </a:lnTo>
                <a:lnTo>
                  <a:pt x="60" y="635"/>
                </a:lnTo>
                <a:lnTo>
                  <a:pt x="59" y="633"/>
                </a:lnTo>
                <a:lnTo>
                  <a:pt x="59" y="631"/>
                </a:lnTo>
                <a:lnTo>
                  <a:pt x="59" y="630"/>
                </a:lnTo>
                <a:lnTo>
                  <a:pt x="60" y="628"/>
                </a:lnTo>
                <a:lnTo>
                  <a:pt x="62" y="627"/>
                </a:lnTo>
                <a:lnTo>
                  <a:pt x="64" y="627"/>
                </a:lnTo>
                <a:close/>
                <a:moveTo>
                  <a:pt x="1859" y="625"/>
                </a:moveTo>
                <a:lnTo>
                  <a:pt x="1861" y="625"/>
                </a:lnTo>
                <a:lnTo>
                  <a:pt x="1863" y="626"/>
                </a:lnTo>
                <a:lnTo>
                  <a:pt x="1864" y="627"/>
                </a:lnTo>
                <a:lnTo>
                  <a:pt x="1865" y="629"/>
                </a:lnTo>
                <a:lnTo>
                  <a:pt x="1866" y="631"/>
                </a:lnTo>
                <a:lnTo>
                  <a:pt x="1865" y="633"/>
                </a:lnTo>
                <a:lnTo>
                  <a:pt x="1864" y="635"/>
                </a:lnTo>
                <a:lnTo>
                  <a:pt x="1863" y="636"/>
                </a:lnTo>
                <a:lnTo>
                  <a:pt x="1861" y="637"/>
                </a:lnTo>
                <a:lnTo>
                  <a:pt x="1859" y="637"/>
                </a:lnTo>
                <a:lnTo>
                  <a:pt x="1857" y="637"/>
                </a:lnTo>
                <a:lnTo>
                  <a:pt x="1856" y="636"/>
                </a:lnTo>
                <a:lnTo>
                  <a:pt x="1854" y="635"/>
                </a:lnTo>
                <a:lnTo>
                  <a:pt x="1853" y="633"/>
                </a:lnTo>
                <a:lnTo>
                  <a:pt x="1853" y="631"/>
                </a:lnTo>
                <a:lnTo>
                  <a:pt x="1853" y="629"/>
                </a:lnTo>
                <a:lnTo>
                  <a:pt x="1854" y="627"/>
                </a:lnTo>
                <a:lnTo>
                  <a:pt x="1856" y="626"/>
                </a:lnTo>
                <a:lnTo>
                  <a:pt x="1857" y="625"/>
                </a:lnTo>
                <a:lnTo>
                  <a:pt x="1859" y="625"/>
                </a:lnTo>
                <a:close/>
                <a:moveTo>
                  <a:pt x="110" y="623"/>
                </a:moveTo>
                <a:lnTo>
                  <a:pt x="112" y="623"/>
                </a:lnTo>
                <a:lnTo>
                  <a:pt x="114" y="624"/>
                </a:lnTo>
                <a:lnTo>
                  <a:pt x="115" y="625"/>
                </a:lnTo>
                <a:lnTo>
                  <a:pt x="116" y="626"/>
                </a:lnTo>
                <a:lnTo>
                  <a:pt x="117" y="627"/>
                </a:lnTo>
                <a:lnTo>
                  <a:pt x="118" y="629"/>
                </a:lnTo>
                <a:lnTo>
                  <a:pt x="119" y="630"/>
                </a:lnTo>
                <a:lnTo>
                  <a:pt x="119" y="632"/>
                </a:lnTo>
                <a:lnTo>
                  <a:pt x="119" y="634"/>
                </a:lnTo>
                <a:lnTo>
                  <a:pt x="118" y="635"/>
                </a:lnTo>
                <a:lnTo>
                  <a:pt x="117" y="637"/>
                </a:lnTo>
                <a:lnTo>
                  <a:pt x="116" y="638"/>
                </a:lnTo>
                <a:lnTo>
                  <a:pt x="115" y="639"/>
                </a:lnTo>
                <a:lnTo>
                  <a:pt x="114" y="640"/>
                </a:lnTo>
                <a:lnTo>
                  <a:pt x="112" y="640"/>
                </a:lnTo>
                <a:lnTo>
                  <a:pt x="110" y="641"/>
                </a:lnTo>
                <a:lnTo>
                  <a:pt x="109" y="640"/>
                </a:lnTo>
                <a:lnTo>
                  <a:pt x="107" y="640"/>
                </a:lnTo>
                <a:lnTo>
                  <a:pt x="105" y="639"/>
                </a:lnTo>
                <a:lnTo>
                  <a:pt x="104" y="638"/>
                </a:lnTo>
                <a:lnTo>
                  <a:pt x="103" y="637"/>
                </a:lnTo>
                <a:lnTo>
                  <a:pt x="102" y="635"/>
                </a:lnTo>
                <a:lnTo>
                  <a:pt x="102" y="634"/>
                </a:lnTo>
                <a:lnTo>
                  <a:pt x="102" y="632"/>
                </a:lnTo>
                <a:lnTo>
                  <a:pt x="102" y="630"/>
                </a:lnTo>
                <a:lnTo>
                  <a:pt x="102" y="629"/>
                </a:lnTo>
                <a:lnTo>
                  <a:pt x="103" y="627"/>
                </a:lnTo>
                <a:lnTo>
                  <a:pt x="104" y="626"/>
                </a:lnTo>
                <a:lnTo>
                  <a:pt x="105" y="625"/>
                </a:lnTo>
                <a:lnTo>
                  <a:pt x="107" y="624"/>
                </a:lnTo>
                <a:lnTo>
                  <a:pt x="109" y="623"/>
                </a:lnTo>
                <a:lnTo>
                  <a:pt x="110" y="623"/>
                </a:lnTo>
                <a:close/>
                <a:moveTo>
                  <a:pt x="1813" y="623"/>
                </a:moveTo>
                <a:lnTo>
                  <a:pt x="1815" y="623"/>
                </a:lnTo>
                <a:lnTo>
                  <a:pt x="1817" y="624"/>
                </a:lnTo>
                <a:lnTo>
                  <a:pt x="1818" y="624"/>
                </a:lnTo>
                <a:lnTo>
                  <a:pt x="1819" y="626"/>
                </a:lnTo>
                <a:lnTo>
                  <a:pt x="1821" y="627"/>
                </a:lnTo>
                <a:lnTo>
                  <a:pt x="1821" y="628"/>
                </a:lnTo>
                <a:lnTo>
                  <a:pt x="1822" y="630"/>
                </a:lnTo>
                <a:lnTo>
                  <a:pt x="1822" y="632"/>
                </a:lnTo>
                <a:lnTo>
                  <a:pt x="1822" y="634"/>
                </a:lnTo>
                <a:lnTo>
                  <a:pt x="1821" y="635"/>
                </a:lnTo>
                <a:lnTo>
                  <a:pt x="1821" y="637"/>
                </a:lnTo>
                <a:lnTo>
                  <a:pt x="1819" y="638"/>
                </a:lnTo>
                <a:lnTo>
                  <a:pt x="1818" y="639"/>
                </a:lnTo>
                <a:lnTo>
                  <a:pt x="1817" y="640"/>
                </a:lnTo>
                <a:lnTo>
                  <a:pt x="1815" y="641"/>
                </a:lnTo>
                <a:lnTo>
                  <a:pt x="1813" y="641"/>
                </a:lnTo>
                <a:lnTo>
                  <a:pt x="1811" y="641"/>
                </a:lnTo>
                <a:lnTo>
                  <a:pt x="1809" y="640"/>
                </a:lnTo>
                <a:lnTo>
                  <a:pt x="1808" y="639"/>
                </a:lnTo>
                <a:lnTo>
                  <a:pt x="1806" y="638"/>
                </a:lnTo>
                <a:lnTo>
                  <a:pt x="1805" y="637"/>
                </a:lnTo>
                <a:lnTo>
                  <a:pt x="1804" y="635"/>
                </a:lnTo>
                <a:lnTo>
                  <a:pt x="1804" y="634"/>
                </a:lnTo>
                <a:lnTo>
                  <a:pt x="1804" y="632"/>
                </a:lnTo>
                <a:lnTo>
                  <a:pt x="1804" y="630"/>
                </a:lnTo>
                <a:lnTo>
                  <a:pt x="1804" y="628"/>
                </a:lnTo>
                <a:lnTo>
                  <a:pt x="1805" y="627"/>
                </a:lnTo>
                <a:lnTo>
                  <a:pt x="1806" y="626"/>
                </a:lnTo>
                <a:lnTo>
                  <a:pt x="1808" y="624"/>
                </a:lnTo>
                <a:lnTo>
                  <a:pt x="1809" y="624"/>
                </a:lnTo>
                <a:lnTo>
                  <a:pt x="1811" y="623"/>
                </a:lnTo>
                <a:lnTo>
                  <a:pt x="1813" y="623"/>
                </a:lnTo>
                <a:close/>
                <a:moveTo>
                  <a:pt x="187" y="570"/>
                </a:moveTo>
                <a:lnTo>
                  <a:pt x="188" y="571"/>
                </a:lnTo>
                <a:lnTo>
                  <a:pt x="189" y="572"/>
                </a:lnTo>
                <a:lnTo>
                  <a:pt x="188" y="573"/>
                </a:lnTo>
                <a:lnTo>
                  <a:pt x="187" y="573"/>
                </a:lnTo>
                <a:lnTo>
                  <a:pt x="186" y="573"/>
                </a:lnTo>
                <a:lnTo>
                  <a:pt x="186" y="572"/>
                </a:lnTo>
                <a:lnTo>
                  <a:pt x="186" y="571"/>
                </a:lnTo>
                <a:lnTo>
                  <a:pt x="187" y="570"/>
                </a:lnTo>
                <a:close/>
                <a:moveTo>
                  <a:pt x="90" y="563"/>
                </a:moveTo>
                <a:lnTo>
                  <a:pt x="92" y="564"/>
                </a:lnTo>
                <a:lnTo>
                  <a:pt x="94" y="565"/>
                </a:lnTo>
                <a:lnTo>
                  <a:pt x="95" y="566"/>
                </a:lnTo>
                <a:lnTo>
                  <a:pt x="95" y="568"/>
                </a:lnTo>
                <a:lnTo>
                  <a:pt x="95" y="570"/>
                </a:lnTo>
                <a:lnTo>
                  <a:pt x="94" y="572"/>
                </a:lnTo>
                <a:lnTo>
                  <a:pt x="92" y="573"/>
                </a:lnTo>
                <a:lnTo>
                  <a:pt x="90" y="573"/>
                </a:lnTo>
                <a:lnTo>
                  <a:pt x="88" y="573"/>
                </a:lnTo>
                <a:lnTo>
                  <a:pt x="86" y="572"/>
                </a:lnTo>
                <a:lnTo>
                  <a:pt x="85" y="570"/>
                </a:lnTo>
                <a:lnTo>
                  <a:pt x="85" y="568"/>
                </a:lnTo>
                <a:lnTo>
                  <a:pt x="85" y="566"/>
                </a:lnTo>
                <a:lnTo>
                  <a:pt x="86" y="565"/>
                </a:lnTo>
                <a:lnTo>
                  <a:pt x="88" y="564"/>
                </a:lnTo>
                <a:lnTo>
                  <a:pt x="90" y="563"/>
                </a:lnTo>
                <a:close/>
                <a:moveTo>
                  <a:pt x="1833" y="561"/>
                </a:moveTo>
                <a:lnTo>
                  <a:pt x="1835" y="561"/>
                </a:lnTo>
                <a:lnTo>
                  <a:pt x="1837" y="562"/>
                </a:lnTo>
                <a:lnTo>
                  <a:pt x="1838" y="563"/>
                </a:lnTo>
                <a:lnTo>
                  <a:pt x="1839" y="564"/>
                </a:lnTo>
                <a:lnTo>
                  <a:pt x="1840" y="566"/>
                </a:lnTo>
                <a:lnTo>
                  <a:pt x="1840" y="568"/>
                </a:lnTo>
                <a:lnTo>
                  <a:pt x="1840" y="570"/>
                </a:lnTo>
                <a:lnTo>
                  <a:pt x="1839" y="572"/>
                </a:lnTo>
                <a:lnTo>
                  <a:pt x="1838" y="573"/>
                </a:lnTo>
                <a:lnTo>
                  <a:pt x="1837" y="574"/>
                </a:lnTo>
                <a:lnTo>
                  <a:pt x="1835" y="575"/>
                </a:lnTo>
                <a:lnTo>
                  <a:pt x="1833" y="575"/>
                </a:lnTo>
                <a:lnTo>
                  <a:pt x="1831" y="575"/>
                </a:lnTo>
                <a:lnTo>
                  <a:pt x="1830" y="574"/>
                </a:lnTo>
                <a:lnTo>
                  <a:pt x="1828" y="573"/>
                </a:lnTo>
                <a:lnTo>
                  <a:pt x="1827" y="572"/>
                </a:lnTo>
                <a:lnTo>
                  <a:pt x="1826" y="570"/>
                </a:lnTo>
                <a:lnTo>
                  <a:pt x="1826" y="568"/>
                </a:lnTo>
                <a:lnTo>
                  <a:pt x="1826" y="566"/>
                </a:lnTo>
                <a:lnTo>
                  <a:pt x="1827" y="564"/>
                </a:lnTo>
                <a:lnTo>
                  <a:pt x="1828" y="563"/>
                </a:lnTo>
                <a:lnTo>
                  <a:pt x="1830" y="562"/>
                </a:lnTo>
                <a:lnTo>
                  <a:pt x="1831" y="561"/>
                </a:lnTo>
                <a:lnTo>
                  <a:pt x="1833" y="561"/>
                </a:lnTo>
                <a:close/>
                <a:moveTo>
                  <a:pt x="1785" y="560"/>
                </a:moveTo>
                <a:lnTo>
                  <a:pt x="1787" y="560"/>
                </a:lnTo>
                <a:lnTo>
                  <a:pt x="1789" y="561"/>
                </a:lnTo>
                <a:lnTo>
                  <a:pt x="1791" y="561"/>
                </a:lnTo>
                <a:lnTo>
                  <a:pt x="1792" y="563"/>
                </a:lnTo>
                <a:lnTo>
                  <a:pt x="1793" y="564"/>
                </a:lnTo>
                <a:lnTo>
                  <a:pt x="1794" y="566"/>
                </a:lnTo>
                <a:lnTo>
                  <a:pt x="1795" y="567"/>
                </a:lnTo>
                <a:lnTo>
                  <a:pt x="1795" y="569"/>
                </a:lnTo>
                <a:lnTo>
                  <a:pt x="1795" y="571"/>
                </a:lnTo>
                <a:lnTo>
                  <a:pt x="1794" y="573"/>
                </a:lnTo>
                <a:lnTo>
                  <a:pt x="1793" y="574"/>
                </a:lnTo>
                <a:lnTo>
                  <a:pt x="1792" y="576"/>
                </a:lnTo>
                <a:lnTo>
                  <a:pt x="1791" y="577"/>
                </a:lnTo>
                <a:lnTo>
                  <a:pt x="1789" y="578"/>
                </a:lnTo>
                <a:lnTo>
                  <a:pt x="1787" y="578"/>
                </a:lnTo>
                <a:lnTo>
                  <a:pt x="1785" y="579"/>
                </a:lnTo>
                <a:lnTo>
                  <a:pt x="1784" y="578"/>
                </a:lnTo>
                <a:lnTo>
                  <a:pt x="1782" y="578"/>
                </a:lnTo>
                <a:lnTo>
                  <a:pt x="1780" y="577"/>
                </a:lnTo>
                <a:lnTo>
                  <a:pt x="1779" y="576"/>
                </a:lnTo>
                <a:lnTo>
                  <a:pt x="1778" y="574"/>
                </a:lnTo>
                <a:lnTo>
                  <a:pt x="1777" y="573"/>
                </a:lnTo>
                <a:lnTo>
                  <a:pt x="1776" y="571"/>
                </a:lnTo>
                <a:lnTo>
                  <a:pt x="1776" y="569"/>
                </a:lnTo>
                <a:lnTo>
                  <a:pt x="1776" y="567"/>
                </a:lnTo>
                <a:lnTo>
                  <a:pt x="1777" y="566"/>
                </a:lnTo>
                <a:lnTo>
                  <a:pt x="1778" y="564"/>
                </a:lnTo>
                <a:lnTo>
                  <a:pt x="1779" y="563"/>
                </a:lnTo>
                <a:lnTo>
                  <a:pt x="1780" y="561"/>
                </a:lnTo>
                <a:lnTo>
                  <a:pt x="1782" y="561"/>
                </a:lnTo>
                <a:lnTo>
                  <a:pt x="1784" y="560"/>
                </a:lnTo>
                <a:lnTo>
                  <a:pt x="1785" y="560"/>
                </a:lnTo>
                <a:close/>
                <a:moveTo>
                  <a:pt x="138" y="560"/>
                </a:moveTo>
                <a:lnTo>
                  <a:pt x="140" y="560"/>
                </a:lnTo>
                <a:lnTo>
                  <a:pt x="141" y="561"/>
                </a:lnTo>
                <a:lnTo>
                  <a:pt x="143" y="561"/>
                </a:lnTo>
                <a:lnTo>
                  <a:pt x="144" y="562"/>
                </a:lnTo>
                <a:lnTo>
                  <a:pt x="145" y="563"/>
                </a:lnTo>
                <a:lnTo>
                  <a:pt x="146" y="565"/>
                </a:lnTo>
                <a:lnTo>
                  <a:pt x="147" y="566"/>
                </a:lnTo>
                <a:lnTo>
                  <a:pt x="147" y="568"/>
                </a:lnTo>
                <a:lnTo>
                  <a:pt x="147" y="569"/>
                </a:lnTo>
                <a:lnTo>
                  <a:pt x="147" y="571"/>
                </a:lnTo>
                <a:lnTo>
                  <a:pt x="147" y="573"/>
                </a:lnTo>
                <a:lnTo>
                  <a:pt x="146" y="574"/>
                </a:lnTo>
                <a:lnTo>
                  <a:pt x="145" y="576"/>
                </a:lnTo>
                <a:lnTo>
                  <a:pt x="144" y="577"/>
                </a:lnTo>
                <a:lnTo>
                  <a:pt x="143" y="578"/>
                </a:lnTo>
                <a:lnTo>
                  <a:pt x="141" y="578"/>
                </a:lnTo>
                <a:lnTo>
                  <a:pt x="140" y="579"/>
                </a:lnTo>
                <a:lnTo>
                  <a:pt x="138" y="579"/>
                </a:lnTo>
                <a:lnTo>
                  <a:pt x="136" y="579"/>
                </a:lnTo>
                <a:lnTo>
                  <a:pt x="134" y="578"/>
                </a:lnTo>
                <a:lnTo>
                  <a:pt x="133" y="578"/>
                </a:lnTo>
                <a:lnTo>
                  <a:pt x="132" y="577"/>
                </a:lnTo>
                <a:lnTo>
                  <a:pt x="130" y="576"/>
                </a:lnTo>
                <a:lnTo>
                  <a:pt x="130" y="574"/>
                </a:lnTo>
                <a:lnTo>
                  <a:pt x="129" y="573"/>
                </a:lnTo>
                <a:lnTo>
                  <a:pt x="128" y="571"/>
                </a:lnTo>
                <a:lnTo>
                  <a:pt x="128" y="569"/>
                </a:lnTo>
                <a:lnTo>
                  <a:pt x="128" y="568"/>
                </a:lnTo>
                <a:lnTo>
                  <a:pt x="129" y="566"/>
                </a:lnTo>
                <a:lnTo>
                  <a:pt x="130" y="565"/>
                </a:lnTo>
                <a:lnTo>
                  <a:pt x="130" y="563"/>
                </a:lnTo>
                <a:lnTo>
                  <a:pt x="132" y="562"/>
                </a:lnTo>
                <a:lnTo>
                  <a:pt x="133" y="561"/>
                </a:lnTo>
                <a:lnTo>
                  <a:pt x="134" y="561"/>
                </a:lnTo>
                <a:lnTo>
                  <a:pt x="136" y="560"/>
                </a:lnTo>
                <a:lnTo>
                  <a:pt x="138" y="560"/>
                </a:lnTo>
                <a:close/>
                <a:moveTo>
                  <a:pt x="221" y="510"/>
                </a:moveTo>
                <a:lnTo>
                  <a:pt x="222" y="511"/>
                </a:lnTo>
                <a:lnTo>
                  <a:pt x="222" y="512"/>
                </a:lnTo>
                <a:lnTo>
                  <a:pt x="222" y="514"/>
                </a:lnTo>
                <a:lnTo>
                  <a:pt x="221" y="514"/>
                </a:lnTo>
                <a:lnTo>
                  <a:pt x="219" y="514"/>
                </a:lnTo>
                <a:lnTo>
                  <a:pt x="219" y="512"/>
                </a:lnTo>
                <a:lnTo>
                  <a:pt x="219" y="511"/>
                </a:lnTo>
                <a:lnTo>
                  <a:pt x="221" y="510"/>
                </a:lnTo>
                <a:close/>
                <a:moveTo>
                  <a:pt x="121" y="502"/>
                </a:moveTo>
                <a:lnTo>
                  <a:pt x="123" y="503"/>
                </a:lnTo>
                <a:lnTo>
                  <a:pt x="125" y="504"/>
                </a:lnTo>
                <a:lnTo>
                  <a:pt x="126" y="505"/>
                </a:lnTo>
                <a:lnTo>
                  <a:pt x="126" y="507"/>
                </a:lnTo>
                <a:lnTo>
                  <a:pt x="126" y="510"/>
                </a:lnTo>
                <a:lnTo>
                  <a:pt x="125" y="511"/>
                </a:lnTo>
                <a:lnTo>
                  <a:pt x="123" y="512"/>
                </a:lnTo>
                <a:lnTo>
                  <a:pt x="121" y="513"/>
                </a:lnTo>
                <a:lnTo>
                  <a:pt x="119" y="512"/>
                </a:lnTo>
                <a:lnTo>
                  <a:pt x="117" y="511"/>
                </a:lnTo>
                <a:lnTo>
                  <a:pt x="116" y="510"/>
                </a:lnTo>
                <a:lnTo>
                  <a:pt x="116" y="507"/>
                </a:lnTo>
                <a:lnTo>
                  <a:pt x="116" y="505"/>
                </a:lnTo>
                <a:lnTo>
                  <a:pt x="117" y="504"/>
                </a:lnTo>
                <a:lnTo>
                  <a:pt x="119" y="503"/>
                </a:lnTo>
                <a:lnTo>
                  <a:pt x="121" y="502"/>
                </a:lnTo>
                <a:close/>
                <a:moveTo>
                  <a:pt x="1753" y="499"/>
                </a:moveTo>
                <a:lnTo>
                  <a:pt x="1755" y="499"/>
                </a:lnTo>
                <a:lnTo>
                  <a:pt x="1757" y="500"/>
                </a:lnTo>
                <a:lnTo>
                  <a:pt x="1758" y="501"/>
                </a:lnTo>
                <a:lnTo>
                  <a:pt x="1760" y="502"/>
                </a:lnTo>
                <a:lnTo>
                  <a:pt x="1761" y="503"/>
                </a:lnTo>
                <a:lnTo>
                  <a:pt x="1762" y="504"/>
                </a:lnTo>
                <a:lnTo>
                  <a:pt x="1762" y="506"/>
                </a:lnTo>
                <a:lnTo>
                  <a:pt x="1763" y="507"/>
                </a:lnTo>
                <a:lnTo>
                  <a:pt x="1763" y="509"/>
                </a:lnTo>
                <a:lnTo>
                  <a:pt x="1763" y="511"/>
                </a:lnTo>
                <a:lnTo>
                  <a:pt x="1762" y="512"/>
                </a:lnTo>
                <a:lnTo>
                  <a:pt x="1762" y="514"/>
                </a:lnTo>
                <a:lnTo>
                  <a:pt x="1761" y="515"/>
                </a:lnTo>
                <a:lnTo>
                  <a:pt x="1760" y="516"/>
                </a:lnTo>
                <a:lnTo>
                  <a:pt x="1758" y="517"/>
                </a:lnTo>
                <a:lnTo>
                  <a:pt x="1757" y="518"/>
                </a:lnTo>
                <a:lnTo>
                  <a:pt x="1755" y="518"/>
                </a:lnTo>
                <a:lnTo>
                  <a:pt x="1753" y="518"/>
                </a:lnTo>
                <a:lnTo>
                  <a:pt x="1752" y="518"/>
                </a:lnTo>
                <a:lnTo>
                  <a:pt x="1750" y="518"/>
                </a:lnTo>
                <a:lnTo>
                  <a:pt x="1749" y="517"/>
                </a:lnTo>
                <a:lnTo>
                  <a:pt x="1747" y="516"/>
                </a:lnTo>
                <a:lnTo>
                  <a:pt x="1746" y="515"/>
                </a:lnTo>
                <a:lnTo>
                  <a:pt x="1745" y="514"/>
                </a:lnTo>
                <a:lnTo>
                  <a:pt x="1744" y="512"/>
                </a:lnTo>
                <a:lnTo>
                  <a:pt x="1744" y="511"/>
                </a:lnTo>
                <a:lnTo>
                  <a:pt x="1744" y="509"/>
                </a:lnTo>
                <a:lnTo>
                  <a:pt x="1744" y="507"/>
                </a:lnTo>
                <a:lnTo>
                  <a:pt x="1744" y="506"/>
                </a:lnTo>
                <a:lnTo>
                  <a:pt x="1745" y="504"/>
                </a:lnTo>
                <a:lnTo>
                  <a:pt x="1746" y="503"/>
                </a:lnTo>
                <a:lnTo>
                  <a:pt x="1747" y="502"/>
                </a:lnTo>
                <a:lnTo>
                  <a:pt x="1749" y="501"/>
                </a:lnTo>
                <a:lnTo>
                  <a:pt x="1750" y="500"/>
                </a:lnTo>
                <a:lnTo>
                  <a:pt x="1752" y="499"/>
                </a:lnTo>
                <a:lnTo>
                  <a:pt x="1753" y="499"/>
                </a:lnTo>
                <a:close/>
                <a:moveTo>
                  <a:pt x="1802" y="499"/>
                </a:moveTo>
                <a:lnTo>
                  <a:pt x="1804" y="499"/>
                </a:lnTo>
                <a:lnTo>
                  <a:pt x="1806" y="500"/>
                </a:lnTo>
                <a:lnTo>
                  <a:pt x="1808" y="501"/>
                </a:lnTo>
                <a:lnTo>
                  <a:pt x="1809" y="502"/>
                </a:lnTo>
                <a:lnTo>
                  <a:pt x="1810" y="503"/>
                </a:lnTo>
                <a:lnTo>
                  <a:pt x="1810" y="505"/>
                </a:lnTo>
                <a:lnTo>
                  <a:pt x="1811" y="507"/>
                </a:lnTo>
                <a:lnTo>
                  <a:pt x="1810" y="509"/>
                </a:lnTo>
                <a:lnTo>
                  <a:pt x="1810" y="511"/>
                </a:lnTo>
                <a:lnTo>
                  <a:pt x="1809" y="512"/>
                </a:lnTo>
                <a:lnTo>
                  <a:pt x="1808" y="513"/>
                </a:lnTo>
                <a:lnTo>
                  <a:pt x="1806" y="514"/>
                </a:lnTo>
                <a:lnTo>
                  <a:pt x="1804" y="515"/>
                </a:lnTo>
                <a:lnTo>
                  <a:pt x="1802" y="515"/>
                </a:lnTo>
                <a:lnTo>
                  <a:pt x="1801" y="515"/>
                </a:lnTo>
                <a:lnTo>
                  <a:pt x="1799" y="514"/>
                </a:lnTo>
                <a:lnTo>
                  <a:pt x="1797" y="513"/>
                </a:lnTo>
                <a:lnTo>
                  <a:pt x="1796" y="512"/>
                </a:lnTo>
                <a:lnTo>
                  <a:pt x="1795" y="511"/>
                </a:lnTo>
                <a:lnTo>
                  <a:pt x="1794" y="509"/>
                </a:lnTo>
                <a:lnTo>
                  <a:pt x="1794" y="507"/>
                </a:lnTo>
                <a:lnTo>
                  <a:pt x="1794" y="505"/>
                </a:lnTo>
                <a:lnTo>
                  <a:pt x="1795" y="503"/>
                </a:lnTo>
                <a:lnTo>
                  <a:pt x="1796" y="502"/>
                </a:lnTo>
                <a:lnTo>
                  <a:pt x="1797" y="501"/>
                </a:lnTo>
                <a:lnTo>
                  <a:pt x="1799" y="500"/>
                </a:lnTo>
                <a:lnTo>
                  <a:pt x="1801" y="499"/>
                </a:lnTo>
                <a:lnTo>
                  <a:pt x="1802" y="499"/>
                </a:lnTo>
                <a:close/>
                <a:moveTo>
                  <a:pt x="170" y="499"/>
                </a:moveTo>
                <a:lnTo>
                  <a:pt x="172" y="499"/>
                </a:lnTo>
                <a:lnTo>
                  <a:pt x="173" y="499"/>
                </a:lnTo>
                <a:lnTo>
                  <a:pt x="175" y="500"/>
                </a:lnTo>
                <a:lnTo>
                  <a:pt x="176" y="501"/>
                </a:lnTo>
                <a:lnTo>
                  <a:pt x="178" y="503"/>
                </a:lnTo>
                <a:lnTo>
                  <a:pt x="179" y="504"/>
                </a:lnTo>
                <a:lnTo>
                  <a:pt x="179" y="506"/>
                </a:lnTo>
                <a:lnTo>
                  <a:pt x="180" y="507"/>
                </a:lnTo>
                <a:lnTo>
                  <a:pt x="180" y="509"/>
                </a:lnTo>
                <a:lnTo>
                  <a:pt x="180" y="511"/>
                </a:lnTo>
                <a:lnTo>
                  <a:pt x="179" y="513"/>
                </a:lnTo>
                <a:lnTo>
                  <a:pt x="179" y="515"/>
                </a:lnTo>
                <a:lnTo>
                  <a:pt x="178" y="516"/>
                </a:lnTo>
                <a:lnTo>
                  <a:pt x="176" y="517"/>
                </a:lnTo>
                <a:lnTo>
                  <a:pt x="175" y="518"/>
                </a:lnTo>
                <a:lnTo>
                  <a:pt x="173" y="519"/>
                </a:lnTo>
                <a:lnTo>
                  <a:pt x="172" y="520"/>
                </a:lnTo>
                <a:lnTo>
                  <a:pt x="170" y="520"/>
                </a:lnTo>
                <a:lnTo>
                  <a:pt x="168" y="520"/>
                </a:lnTo>
                <a:lnTo>
                  <a:pt x="166" y="519"/>
                </a:lnTo>
                <a:lnTo>
                  <a:pt x="165" y="518"/>
                </a:lnTo>
                <a:lnTo>
                  <a:pt x="163" y="517"/>
                </a:lnTo>
                <a:lnTo>
                  <a:pt x="162" y="516"/>
                </a:lnTo>
                <a:lnTo>
                  <a:pt x="161" y="515"/>
                </a:lnTo>
                <a:lnTo>
                  <a:pt x="160" y="513"/>
                </a:lnTo>
                <a:lnTo>
                  <a:pt x="160" y="511"/>
                </a:lnTo>
                <a:lnTo>
                  <a:pt x="159" y="509"/>
                </a:lnTo>
                <a:lnTo>
                  <a:pt x="160" y="507"/>
                </a:lnTo>
                <a:lnTo>
                  <a:pt x="160" y="506"/>
                </a:lnTo>
                <a:lnTo>
                  <a:pt x="161" y="504"/>
                </a:lnTo>
                <a:lnTo>
                  <a:pt x="162" y="503"/>
                </a:lnTo>
                <a:lnTo>
                  <a:pt x="163" y="501"/>
                </a:lnTo>
                <a:lnTo>
                  <a:pt x="165" y="500"/>
                </a:lnTo>
                <a:lnTo>
                  <a:pt x="166" y="499"/>
                </a:lnTo>
                <a:lnTo>
                  <a:pt x="168" y="499"/>
                </a:lnTo>
                <a:lnTo>
                  <a:pt x="170" y="499"/>
                </a:lnTo>
                <a:close/>
                <a:moveTo>
                  <a:pt x="259" y="454"/>
                </a:moveTo>
                <a:lnTo>
                  <a:pt x="260" y="454"/>
                </a:lnTo>
                <a:lnTo>
                  <a:pt x="261" y="456"/>
                </a:lnTo>
                <a:lnTo>
                  <a:pt x="260" y="458"/>
                </a:lnTo>
                <a:lnTo>
                  <a:pt x="259" y="458"/>
                </a:lnTo>
                <a:lnTo>
                  <a:pt x="257" y="458"/>
                </a:lnTo>
                <a:lnTo>
                  <a:pt x="256" y="456"/>
                </a:lnTo>
                <a:lnTo>
                  <a:pt x="257" y="454"/>
                </a:lnTo>
                <a:lnTo>
                  <a:pt x="259" y="454"/>
                </a:lnTo>
                <a:close/>
                <a:moveTo>
                  <a:pt x="156" y="443"/>
                </a:moveTo>
                <a:lnTo>
                  <a:pt x="158" y="443"/>
                </a:lnTo>
                <a:lnTo>
                  <a:pt x="160" y="445"/>
                </a:lnTo>
                <a:lnTo>
                  <a:pt x="161" y="446"/>
                </a:lnTo>
                <a:lnTo>
                  <a:pt x="161" y="448"/>
                </a:lnTo>
                <a:lnTo>
                  <a:pt x="161" y="451"/>
                </a:lnTo>
                <a:lnTo>
                  <a:pt x="160" y="452"/>
                </a:lnTo>
                <a:lnTo>
                  <a:pt x="158" y="454"/>
                </a:lnTo>
                <a:lnTo>
                  <a:pt x="156" y="454"/>
                </a:lnTo>
                <a:lnTo>
                  <a:pt x="154" y="454"/>
                </a:lnTo>
                <a:lnTo>
                  <a:pt x="152" y="452"/>
                </a:lnTo>
                <a:lnTo>
                  <a:pt x="151" y="451"/>
                </a:lnTo>
                <a:lnTo>
                  <a:pt x="150" y="448"/>
                </a:lnTo>
                <a:lnTo>
                  <a:pt x="151" y="446"/>
                </a:lnTo>
                <a:lnTo>
                  <a:pt x="152" y="445"/>
                </a:lnTo>
                <a:lnTo>
                  <a:pt x="154" y="443"/>
                </a:lnTo>
                <a:lnTo>
                  <a:pt x="156" y="443"/>
                </a:lnTo>
                <a:close/>
                <a:moveTo>
                  <a:pt x="1717" y="441"/>
                </a:moveTo>
                <a:lnTo>
                  <a:pt x="1719" y="442"/>
                </a:lnTo>
                <a:lnTo>
                  <a:pt x="1720" y="442"/>
                </a:lnTo>
                <a:lnTo>
                  <a:pt x="1722" y="443"/>
                </a:lnTo>
                <a:lnTo>
                  <a:pt x="1723" y="444"/>
                </a:lnTo>
                <a:lnTo>
                  <a:pt x="1724" y="445"/>
                </a:lnTo>
                <a:lnTo>
                  <a:pt x="1725" y="446"/>
                </a:lnTo>
                <a:lnTo>
                  <a:pt x="1726" y="448"/>
                </a:lnTo>
                <a:lnTo>
                  <a:pt x="1726" y="449"/>
                </a:lnTo>
                <a:lnTo>
                  <a:pt x="1727" y="451"/>
                </a:lnTo>
                <a:lnTo>
                  <a:pt x="1726" y="453"/>
                </a:lnTo>
                <a:lnTo>
                  <a:pt x="1726" y="454"/>
                </a:lnTo>
                <a:lnTo>
                  <a:pt x="1725" y="456"/>
                </a:lnTo>
                <a:lnTo>
                  <a:pt x="1724" y="457"/>
                </a:lnTo>
                <a:lnTo>
                  <a:pt x="1723" y="458"/>
                </a:lnTo>
                <a:lnTo>
                  <a:pt x="1722" y="459"/>
                </a:lnTo>
                <a:lnTo>
                  <a:pt x="1720" y="460"/>
                </a:lnTo>
                <a:lnTo>
                  <a:pt x="1719" y="460"/>
                </a:lnTo>
                <a:lnTo>
                  <a:pt x="1717" y="461"/>
                </a:lnTo>
                <a:lnTo>
                  <a:pt x="1715" y="460"/>
                </a:lnTo>
                <a:lnTo>
                  <a:pt x="1714" y="460"/>
                </a:lnTo>
                <a:lnTo>
                  <a:pt x="1712" y="459"/>
                </a:lnTo>
                <a:lnTo>
                  <a:pt x="1711" y="458"/>
                </a:lnTo>
                <a:lnTo>
                  <a:pt x="1710" y="457"/>
                </a:lnTo>
                <a:lnTo>
                  <a:pt x="1709" y="456"/>
                </a:lnTo>
                <a:lnTo>
                  <a:pt x="1708" y="454"/>
                </a:lnTo>
                <a:lnTo>
                  <a:pt x="1708" y="453"/>
                </a:lnTo>
                <a:lnTo>
                  <a:pt x="1708" y="451"/>
                </a:lnTo>
                <a:lnTo>
                  <a:pt x="1708" y="449"/>
                </a:lnTo>
                <a:lnTo>
                  <a:pt x="1708" y="448"/>
                </a:lnTo>
                <a:lnTo>
                  <a:pt x="1709" y="446"/>
                </a:lnTo>
                <a:lnTo>
                  <a:pt x="1710" y="445"/>
                </a:lnTo>
                <a:lnTo>
                  <a:pt x="1711" y="444"/>
                </a:lnTo>
                <a:lnTo>
                  <a:pt x="1712" y="443"/>
                </a:lnTo>
                <a:lnTo>
                  <a:pt x="1714" y="442"/>
                </a:lnTo>
                <a:lnTo>
                  <a:pt x="1715" y="442"/>
                </a:lnTo>
                <a:lnTo>
                  <a:pt x="1717" y="441"/>
                </a:lnTo>
                <a:close/>
                <a:moveTo>
                  <a:pt x="206" y="441"/>
                </a:moveTo>
                <a:lnTo>
                  <a:pt x="208" y="441"/>
                </a:lnTo>
                <a:lnTo>
                  <a:pt x="210" y="441"/>
                </a:lnTo>
                <a:lnTo>
                  <a:pt x="211" y="442"/>
                </a:lnTo>
                <a:lnTo>
                  <a:pt x="213" y="443"/>
                </a:lnTo>
                <a:lnTo>
                  <a:pt x="214" y="444"/>
                </a:lnTo>
                <a:lnTo>
                  <a:pt x="215" y="445"/>
                </a:lnTo>
                <a:lnTo>
                  <a:pt x="216" y="446"/>
                </a:lnTo>
                <a:lnTo>
                  <a:pt x="217" y="448"/>
                </a:lnTo>
                <a:lnTo>
                  <a:pt x="217" y="450"/>
                </a:lnTo>
                <a:lnTo>
                  <a:pt x="217" y="452"/>
                </a:lnTo>
                <a:lnTo>
                  <a:pt x="217" y="453"/>
                </a:lnTo>
                <a:lnTo>
                  <a:pt x="217" y="455"/>
                </a:lnTo>
                <a:lnTo>
                  <a:pt x="216" y="457"/>
                </a:lnTo>
                <a:lnTo>
                  <a:pt x="215" y="458"/>
                </a:lnTo>
                <a:lnTo>
                  <a:pt x="214" y="459"/>
                </a:lnTo>
                <a:lnTo>
                  <a:pt x="213" y="460"/>
                </a:lnTo>
                <a:lnTo>
                  <a:pt x="211" y="461"/>
                </a:lnTo>
                <a:lnTo>
                  <a:pt x="210" y="462"/>
                </a:lnTo>
                <a:lnTo>
                  <a:pt x="208" y="462"/>
                </a:lnTo>
                <a:lnTo>
                  <a:pt x="206" y="462"/>
                </a:lnTo>
                <a:lnTo>
                  <a:pt x="205" y="462"/>
                </a:lnTo>
                <a:lnTo>
                  <a:pt x="203" y="462"/>
                </a:lnTo>
                <a:lnTo>
                  <a:pt x="201" y="461"/>
                </a:lnTo>
                <a:lnTo>
                  <a:pt x="200" y="460"/>
                </a:lnTo>
                <a:lnTo>
                  <a:pt x="199" y="459"/>
                </a:lnTo>
                <a:lnTo>
                  <a:pt x="197" y="458"/>
                </a:lnTo>
                <a:lnTo>
                  <a:pt x="197" y="457"/>
                </a:lnTo>
                <a:lnTo>
                  <a:pt x="196" y="455"/>
                </a:lnTo>
                <a:lnTo>
                  <a:pt x="196" y="453"/>
                </a:lnTo>
                <a:lnTo>
                  <a:pt x="195" y="452"/>
                </a:lnTo>
                <a:lnTo>
                  <a:pt x="196" y="450"/>
                </a:lnTo>
                <a:lnTo>
                  <a:pt x="196" y="448"/>
                </a:lnTo>
                <a:lnTo>
                  <a:pt x="197" y="446"/>
                </a:lnTo>
                <a:lnTo>
                  <a:pt x="197" y="445"/>
                </a:lnTo>
                <a:lnTo>
                  <a:pt x="199" y="444"/>
                </a:lnTo>
                <a:lnTo>
                  <a:pt x="200" y="443"/>
                </a:lnTo>
                <a:lnTo>
                  <a:pt x="201" y="442"/>
                </a:lnTo>
                <a:lnTo>
                  <a:pt x="203" y="441"/>
                </a:lnTo>
                <a:lnTo>
                  <a:pt x="205" y="441"/>
                </a:lnTo>
                <a:lnTo>
                  <a:pt x="206" y="441"/>
                </a:lnTo>
                <a:close/>
                <a:moveTo>
                  <a:pt x="1767" y="439"/>
                </a:moveTo>
                <a:lnTo>
                  <a:pt x="1769" y="439"/>
                </a:lnTo>
                <a:lnTo>
                  <a:pt x="1771" y="440"/>
                </a:lnTo>
                <a:lnTo>
                  <a:pt x="1772" y="441"/>
                </a:lnTo>
                <a:lnTo>
                  <a:pt x="1773" y="442"/>
                </a:lnTo>
                <a:lnTo>
                  <a:pt x="1775" y="443"/>
                </a:lnTo>
                <a:lnTo>
                  <a:pt x="1775" y="445"/>
                </a:lnTo>
                <a:lnTo>
                  <a:pt x="1776" y="446"/>
                </a:lnTo>
                <a:lnTo>
                  <a:pt x="1776" y="448"/>
                </a:lnTo>
                <a:lnTo>
                  <a:pt x="1776" y="450"/>
                </a:lnTo>
                <a:lnTo>
                  <a:pt x="1775" y="451"/>
                </a:lnTo>
                <a:lnTo>
                  <a:pt x="1775" y="453"/>
                </a:lnTo>
                <a:lnTo>
                  <a:pt x="1773" y="454"/>
                </a:lnTo>
                <a:lnTo>
                  <a:pt x="1772" y="455"/>
                </a:lnTo>
                <a:lnTo>
                  <a:pt x="1771" y="456"/>
                </a:lnTo>
                <a:lnTo>
                  <a:pt x="1769" y="457"/>
                </a:lnTo>
                <a:lnTo>
                  <a:pt x="1767" y="457"/>
                </a:lnTo>
                <a:lnTo>
                  <a:pt x="1765" y="457"/>
                </a:lnTo>
                <a:lnTo>
                  <a:pt x="1764" y="456"/>
                </a:lnTo>
                <a:lnTo>
                  <a:pt x="1762" y="455"/>
                </a:lnTo>
                <a:lnTo>
                  <a:pt x="1761" y="454"/>
                </a:lnTo>
                <a:lnTo>
                  <a:pt x="1760" y="453"/>
                </a:lnTo>
                <a:lnTo>
                  <a:pt x="1759" y="451"/>
                </a:lnTo>
                <a:lnTo>
                  <a:pt x="1759" y="450"/>
                </a:lnTo>
                <a:lnTo>
                  <a:pt x="1758" y="448"/>
                </a:lnTo>
                <a:lnTo>
                  <a:pt x="1759" y="446"/>
                </a:lnTo>
                <a:lnTo>
                  <a:pt x="1759" y="445"/>
                </a:lnTo>
                <a:lnTo>
                  <a:pt x="1760" y="443"/>
                </a:lnTo>
                <a:lnTo>
                  <a:pt x="1761" y="442"/>
                </a:lnTo>
                <a:lnTo>
                  <a:pt x="1762" y="441"/>
                </a:lnTo>
                <a:lnTo>
                  <a:pt x="1764" y="440"/>
                </a:lnTo>
                <a:lnTo>
                  <a:pt x="1765" y="439"/>
                </a:lnTo>
                <a:lnTo>
                  <a:pt x="1767" y="439"/>
                </a:lnTo>
                <a:close/>
                <a:moveTo>
                  <a:pt x="301" y="400"/>
                </a:moveTo>
                <a:lnTo>
                  <a:pt x="303" y="400"/>
                </a:lnTo>
                <a:lnTo>
                  <a:pt x="304" y="402"/>
                </a:lnTo>
                <a:lnTo>
                  <a:pt x="303" y="404"/>
                </a:lnTo>
                <a:lnTo>
                  <a:pt x="301" y="405"/>
                </a:lnTo>
                <a:lnTo>
                  <a:pt x="299" y="404"/>
                </a:lnTo>
                <a:lnTo>
                  <a:pt x="298" y="402"/>
                </a:lnTo>
                <a:lnTo>
                  <a:pt x="299" y="400"/>
                </a:lnTo>
                <a:lnTo>
                  <a:pt x="301" y="400"/>
                </a:lnTo>
                <a:close/>
                <a:moveTo>
                  <a:pt x="195" y="387"/>
                </a:moveTo>
                <a:lnTo>
                  <a:pt x="197" y="387"/>
                </a:lnTo>
                <a:lnTo>
                  <a:pt x="198" y="388"/>
                </a:lnTo>
                <a:lnTo>
                  <a:pt x="200" y="389"/>
                </a:lnTo>
                <a:lnTo>
                  <a:pt x="201" y="391"/>
                </a:lnTo>
                <a:lnTo>
                  <a:pt x="201" y="393"/>
                </a:lnTo>
                <a:lnTo>
                  <a:pt x="201" y="395"/>
                </a:lnTo>
                <a:lnTo>
                  <a:pt x="200" y="396"/>
                </a:lnTo>
                <a:lnTo>
                  <a:pt x="198" y="397"/>
                </a:lnTo>
                <a:lnTo>
                  <a:pt x="197" y="398"/>
                </a:lnTo>
                <a:lnTo>
                  <a:pt x="195" y="399"/>
                </a:lnTo>
                <a:lnTo>
                  <a:pt x="193" y="398"/>
                </a:lnTo>
                <a:lnTo>
                  <a:pt x="191" y="397"/>
                </a:lnTo>
                <a:lnTo>
                  <a:pt x="190" y="396"/>
                </a:lnTo>
                <a:lnTo>
                  <a:pt x="189" y="395"/>
                </a:lnTo>
                <a:lnTo>
                  <a:pt x="189" y="393"/>
                </a:lnTo>
                <a:lnTo>
                  <a:pt x="189" y="391"/>
                </a:lnTo>
                <a:lnTo>
                  <a:pt x="190" y="389"/>
                </a:lnTo>
                <a:lnTo>
                  <a:pt x="191" y="388"/>
                </a:lnTo>
                <a:lnTo>
                  <a:pt x="193" y="387"/>
                </a:lnTo>
                <a:lnTo>
                  <a:pt x="195" y="387"/>
                </a:lnTo>
                <a:close/>
                <a:moveTo>
                  <a:pt x="1676" y="386"/>
                </a:moveTo>
                <a:lnTo>
                  <a:pt x="1678" y="387"/>
                </a:lnTo>
                <a:lnTo>
                  <a:pt x="1680" y="387"/>
                </a:lnTo>
                <a:lnTo>
                  <a:pt x="1681" y="388"/>
                </a:lnTo>
                <a:lnTo>
                  <a:pt x="1683" y="389"/>
                </a:lnTo>
                <a:lnTo>
                  <a:pt x="1684" y="390"/>
                </a:lnTo>
                <a:lnTo>
                  <a:pt x="1685" y="391"/>
                </a:lnTo>
                <a:lnTo>
                  <a:pt x="1685" y="393"/>
                </a:lnTo>
                <a:lnTo>
                  <a:pt x="1686" y="395"/>
                </a:lnTo>
                <a:lnTo>
                  <a:pt x="1686" y="396"/>
                </a:lnTo>
                <a:lnTo>
                  <a:pt x="1686" y="398"/>
                </a:lnTo>
                <a:lnTo>
                  <a:pt x="1685" y="400"/>
                </a:lnTo>
                <a:lnTo>
                  <a:pt x="1685" y="401"/>
                </a:lnTo>
                <a:lnTo>
                  <a:pt x="1684" y="403"/>
                </a:lnTo>
                <a:lnTo>
                  <a:pt x="1683" y="404"/>
                </a:lnTo>
                <a:lnTo>
                  <a:pt x="1681" y="405"/>
                </a:lnTo>
                <a:lnTo>
                  <a:pt x="1680" y="405"/>
                </a:lnTo>
                <a:lnTo>
                  <a:pt x="1678" y="406"/>
                </a:lnTo>
                <a:lnTo>
                  <a:pt x="1676" y="406"/>
                </a:lnTo>
                <a:lnTo>
                  <a:pt x="1675" y="406"/>
                </a:lnTo>
                <a:lnTo>
                  <a:pt x="1673" y="405"/>
                </a:lnTo>
                <a:lnTo>
                  <a:pt x="1671" y="405"/>
                </a:lnTo>
                <a:lnTo>
                  <a:pt x="1670" y="404"/>
                </a:lnTo>
                <a:lnTo>
                  <a:pt x="1669" y="403"/>
                </a:lnTo>
                <a:lnTo>
                  <a:pt x="1668" y="401"/>
                </a:lnTo>
                <a:lnTo>
                  <a:pt x="1667" y="400"/>
                </a:lnTo>
                <a:lnTo>
                  <a:pt x="1667" y="398"/>
                </a:lnTo>
                <a:lnTo>
                  <a:pt x="1666" y="396"/>
                </a:lnTo>
                <a:lnTo>
                  <a:pt x="1667" y="395"/>
                </a:lnTo>
                <a:lnTo>
                  <a:pt x="1667" y="393"/>
                </a:lnTo>
                <a:lnTo>
                  <a:pt x="1668" y="391"/>
                </a:lnTo>
                <a:lnTo>
                  <a:pt x="1669" y="390"/>
                </a:lnTo>
                <a:lnTo>
                  <a:pt x="1670" y="389"/>
                </a:lnTo>
                <a:lnTo>
                  <a:pt x="1671" y="388"/>
                </a:lnTo>
                <a:lnTo>
                  <a:pt x="1673" y="387"/>
                </a:lnTo>
                <a:lnTo>
                  <a:pt x="1675" y="387"/>
                </a:lnTo>
                <a:lnTo>
                  <a:pt x="1676" y="386"/>
                </a:lnTo>
                <a:close/>
                <a:moveTo>
                  <a:pt x="247" y="386"/>
                </a:moveTo>
                <a:lnTo>
                  <a:pt x="248" y="386"/>
                </a:lnTo>
                <a:lnTo>
                  <a:pt x="250" y="386"/>
                </a:lnTo>
                <a:lnTo>
                  <a:pt x="252" y="387"/>
                </a:lnTo>
                <a:lnTo>
                  <a:pt x="253" y="388"/>
                </a:lnTo>
                <a:lnTo>
                  <a:pt x="255" y="389"/>
                </a:lnTo>
                <a:lnTo>
                  <a:pt x="256" y="390"/>
                </a:lnTo>
                <a:lnTo>
                  <a:pt x="257" y="392"/>
                </a:lnTo>
                <a:lnTo>
                  <a:pt x="257" y="393"/>
                </a:lnTo>
                <a:lnTo>
                  <a:pt x="258" y="395"/>
                </a:lnTo>
                <a:lnTo>
                  <a:pt x="258" y="397"/>
                </a:lnTo>
                <a:lnTo>
                  <a:pt x="258" y="399"/>
                </a:lnTo>
                <a:lnTo>
                  <a:pt x="257" y="400"/>
                </a:lnTo>
                <a:lnTo>
                  <a:pt x="257" y="402"/>
                </a:lnTo>
                <a:lnTo>
                  <a:pt x="256" y="403"/>
                </a:lnTo>
                <a:lnTo>
                  <a:pt x="255" y="405"/>
                </a:lnTo>
                <a:lnTo>
                  <a:pt x="253" y="406"/>
                </a:lnTo>
                <a:lnTo>
                  <a:pt x="252" y="407"/>
                </a:lnTo>
                <a:lnTo>
                  <a:pt x="250" y="407"/>
                </a:lnTo>
                <a:lnTo>
                  <a:pt x="248" y="408"/>
                </a:lnTo>
                <a:lnTo>
                  <a:pt x="247" y="408"/>
                </a:lnTo>
                <a:lnTo>
                  <a:pt x="245" y="408"/>
                </a:lnTo>
                <a:lnTo>
                  <a:pt x="243" y="407"/>
                </a:lnTo>
                <a:lnTo>
                  <a:pt x="242" y="407"/>
                </a:lnTo>
                <a:lnTo>
                  <a:pt x="240" y="406"/>
                </a:lnTo>
                <a:lnTo>
                  <a:pt x="239" y="405"/>
                </a:lnTo>
                <a:lnTo>
                  <a:pt x="238" y="403"/>
                </a:lnTo>
                <a:lnTo>
                  <a:pt x="237" y="402"/>
                </a:lnTo>
                <a:lnTo>
                  <a:pt x="236" y="400"/>
                </a:lnTo>
                <a:lnTo>
                  <a:pt x="236" y="399"/>
                </a:lnTo>
                <a:lnTo>
                  <a:pt x="235" y="397"/>
                </a:lnTo>
                <a:lnTo>
                  <a:pt x="236" y="395"/>
                </a:lnTo>
                <a:lnTo>
                  <a:pt x="236" y="393"/>
                </a:lnTo>
                <a:lnTo>
                  <a:pt x="237" y="392"/>
                </a:lnTo>
                <a:lnTo>
                  <a:pt x="238" y="390"/>
                </a:lnTo>
                <a:lnTo>
                  <a:pt x="239" y="389"/>
                </a:lnTo>
                <a:lnTo>
                  <a:pt x="240" y="388"/>
                </a:lnTo>
                <a:lnTo>
                  <a:pt x="242" y="387"/>
                </a:lnTo>
                <a:lnTo>
                  <a:pt x="243" y="386"/>
                </a:lnTo>
                <a:lnTo>
                  <a:pt x="245" y="386"/>
                </a:lnTo>
                <a:lnTo>
                  <a:pt x="247" y="386"/>
                </a:lnTo>
                <a:close/>
                <a:moveTo>
                  <a:pt x="1728" y="383"/>
                </a:moveTo>
                <a:lnTo>
                  <a:pt x="1730" y="383"/>
                </a:lnTo>
                <a:lnTo>
                  <a:pt x="1732" y="383"/>
                </a:lnTo>
                <a:lnTo>
                  <a:pt x="1733" y="384"/>
                </a:lnTo>
                <a:lnTo>
                  <a:pt x="1735" y="385"/>
                </a:lnTo>
                <a:lnTo>
                  <a:pt x="1736" y="387"/>
                </a:lnTo>
                <a:lnTo>
                  <a:pt x="1737" y="388"/>
                </a:lnTo>
                <a:lnTo>
                  <a:pt x="1737" y="390"/>
                </a:lnTo>
                <a:lnTo>
                  <a:pt x="1737" y="392"/>
                </a:lnTo>
                <a:lnTo>
                  <a:pt x="1737" y="394"/>
                </a:lnTo>
                <a:lnTo>
                  <a:pt x="1737" y="396"/>
                </a:lnTo>
                <a:lnTo>
                  <a:pt x="1736" y="397"/>
                </a:lnTo>
                <a:lnTo>
                  <a:pt x="1735" y="399"/>
                </a:lnTo>
                <a:lnTo>
                  <a:pt x="1733" y="400"/>
                </a:lnTo>
                <a:lnTo>
                  <a:pt x="1732" y="401"/>
                </a:lnTo>
                <a:lnTo>
                  <a:pt x="1730" y="401"/>
                </a:lnTo>
                <a:lnTo>
                  <a:pt x="1728" y="401"/>
                </a:lnTo>
                <a:lnTo>
                  <a:pt x="1726" y="401"/>
                </a:lnTo>
                <a:lnTo>
                  <a:pt x="1724" y="401"/>
                </a:lnTo>
                <a:lnTo>
                  <a:pt x="1723" y="400"/>
                </a:lnTo>
                <a:lnTo>
                  <a:pt x="1721" y="399"/>
                </a:lnTo>
                <a:lnTo>
                  <a:pt x="1720" y="397"/>
                </a:lnTo>
                <a:lnTo>
                  <a:pt x="1719" y="396"/>
                </a:lnTo>
                <a:lnTo>
                  <a:pt x="1719" y="394"/>
                </a:lnTo>
                <a:lnTo>
                  <a:pt x="1719" y="392"/>
                </a:lnTo>
                <a:lnTo>
                  <a:pt x="1719" y="390"/>
                </a:lnTo>
                <a:lnTo>
                  <a:pt x="1719" y="388"/>
                </a:lnTo>
                <a:lnTo>
                  <a:pt x="1720" y="387"/>
                </a:lnTo>
                <a:lnTo>
                  <a:pt x="1721" y="385"/>
                </a:lnTo>
                <a:lnTo>
                  <a:pt x="1723" y="384"/>
                </a:lnTo>
                <a:lnTo>
                  <a:pt x="1724" y="383"/>
                </a:lnTo>
                <a:lnTo>
                  <a:pt x="1726" y="383"/>
                </a:lnTo>
                <a:lnTo>
                  <a:pt x="1728" y="383"/>
                </a:lnTo>
                <a:close/>
                <a:moveTo>
                  <a:pt x="347" y="349"/>
                </a:moveTo>
                <a:lnTo>
                  <a:pt x="350" y="350"/>
                </a:lnTo>
                <a:lnTo>
                  <a:pt x="351" y="352"/>
                </a:lnTo>
                <a:lnTo>
                  <a:pt x="350" y="355"/>
                </a:lnTo>
                <a:lnTo>
                  <a:pt x="347" y="356"/>
                </a:lnTo>
                <a:lnTo>
                  <a:pt x="345" y="355"/>
                </a:lnTo>
                <a:lnTo>
                  <a:pt x="344" y="352"/>
                </a:lnTo>
                <a:lnTo>
                  <a:pt x="345" y="350"/>
                </a:lnTo>
                <a:lnTo>
                  <a:pt x="347" y="349"/>
                </a:lnTo>
                <a:close/>
                <a:moveTo>
                  <a:pt x="1632" y="335"/>
                </a:moveTo>
                <a:lnTo>
                  <a:pt x="1633" y="335"/>
                </a:lnTo>
                <a:lnTo>
                  <a:pt x="1635" y="335"/>
                </a:lnTo>
                <a:lnTo>
                  <a:pt x="1636" y="336"/>
                </a:lnTo>
                <a:lnTo>
                  <a:pt x="1638" y="337"/>
                </a:lnTo>
                <a:lnTo>
                  <a:pt x="1639" y="338"/>
                </a:lnTo>
                <a:lnTo>
                  <a:pt x="1640" y="340"/>
                </a:lnTo>
                <a:lnTo>
                  <a:pt x="1641" y="341"/>
                </a:lnTo>
                <a:lnTo>
                  <a:pt x="1641" y="343"/>
                </a:lnTo>
                <a:lnTo>
                  <a:pt x="1641" y="345"/>
                </a:lnTo>
                <a:lnTo>
                  <a:pt x="1641" y="346"/>
                </a:lnTo>
                <a:lnTo>
                  <a:pt x="1641" y="348"/>
                </a:lnTo>
                <a:lnTo>
                  <a:pt x="1640" y="349"/>
                </a:lnTo>
                <a:lnTo>
                  <a:pt x="1639" y="351"/>
                </a:lnTo>
                <a:lnTo>
                  <a:pt x="1638" y="352"/>
                </a:lnTo>
                <a:lnTo>
                  <a:pt x="1636" y="353"/>
                </a:lnTo>
                <a:lnTo>
                  <a:pt x="1635" y="354"/>
                </a:lnTo>
                <a:lnTo>
                  <a:pt x="1633" y="354"/>
                </a:lnTo>
                <a:lnTo>
                  <a:pt x="1632" y="354"/>
                </a:lnTo>
                <a:lnTo>
                  <a:pt x="1630" y="354"/>
                </a:lnTo>
                <a:lnTo>
                  <a:pt x="1628" y="354"/>
                </a:lnTo>
                <a:lnTo>
                  <a:pt x="1627" y="353"/>
                </a:lnTo>
                <a:lnTo>
                  <a:pt x="1625" y="352"/>
                </a:lnTo>
                <a:lnTo>
                  <a:pt x="1624" y="351"/>
                </a:lnTo>
                <a:lnTo>
                  <a:pt x="1623" y="349"/>
                </a:lnTo>
                <a:lnTo>
                  <a:pt x="1622" y="348"/>
                </a:lnTo>
                <a:lnTo>
                  <a:pt x="1622" y="346"/>
                </a:lnTo>
                <a:lnTo>
                  <a:pt x="1622" y="345"/>
                </a:lnTo>
                <a:lnTo>
                  <a:pt x="1622" y="343"/>
                </a:lnTo>
                <a:lnTo>
                  <a:pt x="1622" y="341"/>
                </a:lnTo>
                <a:lnTo>
                  <a:pt x="1623" y="340"/>
                </a:lnTo>
                <a:lnTo>
                  <a:pt x="1624" y="338"/>
                </a:lnTo>
                <a:lnTo>
                  <a:pt x="1625" y="337"/>
                </a:lnTo>
                <a:lnTo>
                  <a:pt x="1627" y="336"/>
                </a:lnTo>
                <a:lnTo>
                  <a:pt x="1628" y="335"/>
                </a:lnTo>
                <a:lnTo>
                  <a:pt x="1630" y="335"/>
                </a:lnTo>
                <a:lnTo>
                  <a:pt x="1632" y="335"/>
                </a:lnTo>
                <a:close/>
                <a:moveTo>
                  <a:pt x="291" y="334"/>
                </a:moveTo>
                <a:lnTo>
                  <a:pt x="293" y="334"/>
                </a:lnTo>
                <a:lnTo>
                  <a:pt x="295" y="334"/>
                </a:lnTo>
                <a:lnTo>
                  <a:pt x="297" y="335"/>
                </a:lnTo>
                <a:lnTo>
                  <a:pt x="298" y="336"/>
                </a:lnTo>
                <a:lnTo>
                  <a:pt x="299" y="337"/>
                </a:lnTo>
                <a:lnTo>
                  <a:pt x="300" y="338"/>
                </a:lnTo>
                <a:lnTo>
                  <a:pt x="301" y="340"/>
                </a:lnTo>
                <a:lnTo>
                  <a:pt x="302" y="341"/>
                </a:lnTo>
                <a:lnTo>
                  <a:pt x="302" y="343"/>
                </a:lnTo>
                <a:lnTo>
                  <a:pt x="303" y="345"/>
                </a:lnTo>
                <a:lnTo>
                  <a:pt x="302" y="347"/>
                </a:lnTo>
                <a:lnTo>
                  <a:pt x="302" y="349"/>
                </a:lnTo>
                <a:lnTo>
                  <a:pt x="301" y="350"/>
                </a:lnTo>
                <a:lnTo>
                  <a:pt x="300" y="352"/>
                </a:lnTo>
                <a:lnTo>
                  <a:pt x="299" y="353"/>
                </a:lnTo>
                <a:lnTo>
                  <a:pt x="298" y="354"/>
                </a:lnTo>
                <a:lnTo>
                  <a:pt x="297" y="355"/>
                </a:lnTo>
                <a:lnTo>
                  <a:pt x="295" y="356"/>
                </a:lnTo>
                <a:lnTo>
                  <a:pt x="293" y="356"/>
                </a:lnTo>
                <a:lnTo>
                  <a:pt x="291" y="356"/>
                </a:lnTo>
                <a:lnTo>
                  <a:pt x="290" y="356"/>
                </a:lnTo>
                <a:lnTo>
                  <a:pt x="288" y="356"/>
                </a:lnTo>
                <a:lnTo>
                  <a:pt x="286" y="355"/>
                </a:lnTo>
                <a:lnTo>
                  <a:pt x="285" y="354"/>
                </a:lnTo>
                <a:lnTo>
                  <a:pt x="284" y="353"/>
                </a:lnTo>
                <a:lnTo>
                  <a:pt x="282" y="352"/>
                </a:lnTo>
                <a:lnTo>
                  <a:pt x="281" y="350"/>
                </a:lnTo>
                <a:lnTo>
                  <a:pt x="281" y="349"/>
                </a:lnTo>
                <a:lnTo>
                  <a:pt x="280" y="347"/>
                </a:lnTo>
                <a:lnTo>
                  <a:pt x="280" y="345"/>
                </a:lnTo>
                <a:lnTo>
                  <a:pt x="280" y="343"/>
                </a:lnTo>
                <a:lnTo>
                  <a:pt x="281" y="341"/>
                </a:lnTo>
                <a:lnTo>
                  <a:pt x="281" y="340"/>
                </a:lnTo>
                <a:lnTo>
                  <a:pt x="282" y="338"/>
                </a:lnTo>
                <a:lnTo>
                  <a:pt x="284" y="337"/>
                </a:lnTo>
                <a:lnTo>
                  <a:pt x="285" y="336"/>
                </a:lnTo>
                <a:lnTo>
                  <a:pt x="286" y="335"/>
                </a:lnTo>
                <a:lnTo>
                  <a:pt x="288" y="334"/>
                </a:lnTo>
                <a:lnTo>
                  <a:pt x="290" y="334"/>
                </a:lnTo>
                <a:lnTo>
                  <a:pt x="291" y="334"/>
                </a:lnTo>
                <a:close/>
                <a:moveTo>
                  <a:pt x="238" y="333"/>
                </a:moveTo>
                <a:lnTo>
                  <a:pt x="240" y="334"/>
                </a:lnTo>
                <a:lnTo>
                  <a:pt x="241" y="335"/>
                </a:lnTo>
                <a:lnTo>
                  <a:pt x="243" y="336"/>
                </a:lnTo>
                <a:lnTo>
                  <a:pt x="244" y="337"/>
                </a:lnTo>
                <a:lnTo>
                  <a:pt x="244" y="339"/>
                </a:lnTo>
                <a:lnTo>
                  <a:pt x="244" y="341"/>
                </a:lnTo>
                <a:lnTo>
                  <a:pt x="243" y="343"/>
                </a:lnTo>
                <a:lnTo>
                  <a:pt x="241" y="344"/>
                </a:lnTo>
                <a:lnTo>
                  <a:pt x="240" y="345"/>
                </a:lnTo>
                <a:lnTo>
                  <a:pt x="238" y="345"/>
                </a:lnTo>
                <a:lnTo>
                  <a:pt x="236" y="345"/>
                </a:lnTo>
                <a:lnTo>
                  <a:pt x="234" y="344"/>
                </a:lnTo>
                <a:lnTo>
                  <a:pt x="233" y="343"/>
                </a:lnTo>
                <a:lnTo>
                  <a:pt x="232" y="341"/>
                </a:lnTo>
                <a:lnTo>
                  <a:pt x="232" y="339"/>
                </a:lnTo>
                <a:lnTo>
                  <a:pt x="232" y="337"/>
                </a:lnTo>
                <a:lnTo>
                  <a:pt x="233" y="336"/>
                </a:lnTo>
                <a:lnTo>
                  <a:pt x="234" y="335"/>
                </a:lnTo>
                <a:lnTo>
                  <a:pt x="236" y="334"/>
                </a:lnTo>
                <a:lnTo>
                  <a:pt x="238" y="333"/>
                </a:lnTo>
                <a:close/>
                <a:moveTo>
                  <a:pt x="1685" y="330"/>
                </a:moveTo>
                <a:lnTo>
                  <a:pt x="1687" y="330"/>
                </a:lnTo>
                <a:lnTo>
                  <a:pt x="1689" y="330"/>
                </a:lnTo>
                <a:lnTo>
                  <a:pt x="1690" y="331"/>
                </a:lnTo>
                <a:lnTo>
                  <a:pt x="1692" y="332"/>
                </a:lnTo>
                <a:lnTo>
                  <a:pt x="1693" y="333"/>
                </a:lnTo>
                <a:lnTo>
                  <a:pt x="1694" y="334"/>
                </a:lnTo>
                <a:lnTo>
                  <a:pt x="1694" y="336"/>
                </a:lnTo>
                <a:lnTo>
                  <a:pt x="1695" y="337"/>
                </a:lnTo>
                <a:lnTo>
                  <a:pt x="1695" y="339"/>
                </a:lnTo>
                <a:lnTo>
                  <a:pt x="1695" y="341"/>
                </a:lnTo>
                <a:lnTo>
                  <a:pt x="1694" y="342"/>
                </a:lnTo>
                <a:lnTo>
                  <a:pt x="1694" y="344"/>
                </a:lnTo>
                <a:lnTo>
                  <a:pt x="1693" y="345"/>
                </a:lnTo>
                <a:lnTo>
                  <a:pt x="1692" y="346"/>
                </a:lnTo>
                <a:lnTo>
                  <a:pt x="1690" y="347"/>
                </a:lnTo>
                <a:lnTo>
                  <a:pt x="1689" y="348"/>
                </a:lnTo>
                <a:lnTo>
                  <a:pt x="1687" y="349"/>
                </a:lnTo>
                <a:lnTo>
                  <a:pt x="1685" y="349"/>
                </a:lnTo>
                <a:lnTo>
                  <a:pt x="1684" y="349"/>
                </a:lnTo>
                <a:lnTo>
                  <a:pt x="1682" y="348"/>
                </a:lnTo>
                <a:lnTo>
                  <a:pt x="1681" y="347"/>
                </a:lnTo>
                <a:lnTo>
                  <a:pt x="1679" y="346"/>
                </a:lnTo>
                <a:lnTo>
                  <a:pt x="1678" y="345"/>
                </a:lnTo>
                <a:lnTo>
                  <a:pt x="1677" y="344"/>
                </a:lnTo>
                <a:lnTo>
                  <a:pt x="1676" y="342"/>
                </a:lnTo>
                <a:lnTo>
                  <a:pt x="1676" y="341"/>
                </a:lnTo>
                <a:lnTo>
                  <a:pt x="1676" y="339"/>
                </a:lnTo>
                <a:lnTo>
                  <a:pt x="1676" y="337"/>
                </a:lnTo>
                <a:lnTo>
                  <a:pt x="1676" y="336"/>
                </a:lnTo>
                <a:lnTo>
                  <a:pt x="1677" y="334"/>
                </a:lnTo>
                <a:lnTo>
                  <a:pt x="1678" y="333"/>
                </a:lnTo>
                <a:lnTo>
                  <a:pt x="1679" y="332"/>
                </a:lnTo>
                <a:lnTo>
                  <a:pt x="1681" y="331"/>
                </a:lnTo>
                <a:lnTo>
                  <a:pt x="1682" y="330"/>
                </a:lnTo>
                <a:lnTo>
                  <a:pt x="1684" y="330"/>
                </a:lnTo>
                <a:lnTo>
                  <a:pt x="1685" y="330"/>
                </a:lnTo>
                <a:close/>
                <a:moveTo>
                  <a:pt x="398" y="302"/>
                </a:moveTo>
                <a:lnTo>
                  <a:pt x="400" y="303"/>
                </a:lnTo>
                <a:lnTo>
                  <a:pt x="401" y="306"/>
                </a:lnTo>
                <a:lnTo>
                  <a:pt x="400" y="308"/>
                </a:lnTo>
                <a:lnTo>
                  <a:pt x="398" y="310"/>
                </a:lnTo>
                <a:lnTo>
                  <a:pt x="395" y="308"/>
                </a:lnTo>
                <a:lnTo>
                  <a:pt x="394" y="306"/>
                </a:lnTo>
                <a:lnTo>
                  <a:pt x="395" y="303"/>
                </a:lnTo>
                <a:lnTo>
                  <a:pt x="398" y="302"/>
                </a:lnTo>
                <a:close/>
                <a:moveTo>
                  <a:pt x="1583" y="286"/>
                </a:moveTo>
                <a:lnTo>
                  <a:pt x="1585" y="286"/>
                </a:lnTo>
                <a:lnTo>
                  <a:pt x="1587" y="287"/>
                </a:lnTo>
                <a:lnTo>
                  <a:pt x="1588" y="288"/>
                </a:lnTo>
                <a:lnTo>
                  <a:pt x="1590" y="289"/>
                </a:lnTo>
                <a:lnTo>
                  <a:pt x="1591" y="290"/>
                </a:lnTo>
                <a:lnTo>
                  <a:pt x="1592" y="291"/>
                </a:lnTo>
                <a:lnTo>
                  <a:pt x="1593" y="293"/>
                </a:lnTo>
                <a:lnTo>
                  <a:pt x="1593" y="294"/>
                </a:lnTo>
                <a:lnTo>
                  <a:pt x="1593" y="296"/>
                </a:lnTo>
                <a:lnTo>
                  <a:pt x="1593" y="298"/>
                </a:lnTo>
                <a:lnTo>
                  <a:pt x="1593" y="300"/>
                </a:lnTo>
                <a:lnTo>
                  <a:pt x="1592" y="301"/>
                </a:lnTo>
                <a:lnTo>
                  <a:pt x="1591" y="303"/>
                </a:lnTo>
                <a:lnTo>
                  <a:pt x="1590" y="304"/>
                </a:lnTo>
                <a:lnTo>
                  <a:pt x="1588" y="305"/>
                </a:lnTo>
                <a:lnTo>
                  <a:pt x="1587" y="306"/>
                </a:lnTo>
                <a:lnTo>
                  <a:pt x="1585" y="306"/>
                </a:lnTo>
                <a:lnTo>
                  <a:pt x="1583" y="306"/>
                </a:lnTo>
                <a:lnTo>
                  <a:pt x="1581" y="306"/>
                </a:lnTo>
                <a:lnTo>
                  <a:pt x="1580" y="306"/>
                </a:lnTo>
                <a:lnTo>
                  <a:pt x="1578" y="305"/>
                </a:lnTo>
                <a:lnTo>
                  <a:pt x="1577" y="304"/>
                </a:lnTo>
                <a:lnTo>
                  <a:pt x="1576" y="303"/>
                </a:lnTo>
                <a:lnTo>
                  <a:pt x="1575" y="301"/>
                </a:lnTo>
                <a:lnTo>
                  <a:pt x="1574" y="300"/>
                </a:lnTo>
                <a:lnTo>
                  <a:pt x="1573" y="298"/>
                </a:lnTo>
                <a:lnTo>
                  <a:pt x="1573" y="296"/>
                </a:lnTo>
                <a:lnTo>
                  <a:pt x="1573" y="294"/>
                </a:lnTo>
                <a:lnTo>
                  <a:pt x="1574" y="293"/>
                </a:lnTo>
                <a:lnTo>
                  <a:pt x="1575" y="291"/>
                </a:lnTo>
                <a:lnTo>
                  <a:pt x="1576" y="290"/>
                </a:lnTo>
                <a:lnTo>
                  <a:pt x="1577" y="289"/>
                </a:lnTo>
                <a:lnTo>
                  <a:pt x="1578" y="288"/>
                </a:lnTo>
                <a:lnTo>
                  <a:pt x="1580" y="287"/>
                </a:lnTo>
                <a:lnTo>
                  <a:pt x="1581" y="286"/>
                </a:lnTo>
                <a:lnTo>
                  <a:pt x="1583" y="286"/>
                </a:lnTo>
                <a:close/>
                <a:moveTo>
                  <a:pt x="340" y="285"/>
                </a:moveTo>
                <a:lnTo>
                  <a:pt x="342" y="285"/>
                </a:lnTo>
                <a:lnTo>
                  <a:pt x="343" y="286"/>
                </a:lnTo>
                <a:lnTo>
                  <a:pt x="345" y="287"/>
                </a:lnTo>
                <a:lnTo>
                  <a:pt x="347" y="287"/>
                </a:lnTo>
                <a:lnTo>
                  <a:pt x="348" y="289"/>
                </a:lnTo>
                <a:lnTo>
                  <a:pt x="349" y="290"/>
                </a:lnTo>
                <a:lnTo>
                  <a:pt x="350" y="291"/>
                </a:lnTo>
                <a:lnTo>
                  <a:pt x="351" y="293"/>
                </a:lnTo>
                <a:lnTo>
                  <a:pt x="351" y="295"/>
                </a:lnTo>
                <a:lnTo>
                  <a:pt x="351" y="297"/>
                </a:lnTo>
                <a:lnTo>
                  <a:pt x="351" y="298"/>
                </a:lnTo>
                <a:lnTo>
                  <a:pt x="351" y="300"/>
                </a:lnTo>
                <a:lnTo>
                  <a:pt x="350" y="302"/>
                </a:lnTo>
                <a:lnTo>
                  <a:pt x="349" y="303"/>
                </a:lnTo>
                <a:lnTo>
                  <a:pt x="348" y="304"/>
                </a:lnTo>
                <a:lnTo>
                  <a:pt x="347" y="306"/>
                </a:lnTo>
                <a:lnTo>
                  <a:pt x="345" y="306"/>
                </a:lnTo>
                <a:lnTo>
                  <a:pt x="343" y="307"/>
                </a:lnTo>
                <a:lnTo>
                  <a:pt x="342" y="308"/>
                </a:lnTo>
                <a:lnTo>
                  <a:pt x="340" y="308"/>
                </a:lnTo>
                <a:lnTo>
                  <a:pt x="338" y="308"/>
                </a:lnTo>
                <a:lnTo>
                  <a:pt x="336" y="307"/>
                </a:lnTo>
                <a:lnTo>
                  <a:pt x="335" y="306"/>
                </a:lnTo>
                <a:lnTo>
                  <a:pt x="333" y="306"/>
                </a:lnTo>
                <a:lnTo>
                  <a:pt x="332" y="304"/>
                </a:lnTo>
                <a:lnTo>
                  <a:pt x="331" y="303"/>
                </a:lnTo>
                <a:lnTo>
                  <a:pt x="330" y="302"/>
                </a:lnTo>
                <a:lnTo>
                  <a:pt x="329" y="300"/>
                </a:lnTo>
                <a:lnTo>
                  <a:pt x="329" y="298"/>
                </a:lnTo>
                <a:lnTo>
                  <a:pt x="329" y="297"/>
                </a:lnTo>
                <a:lnTo>
                  <a:pt x="329" y="295"/>
                </a:lnTo>
                <a:lnTo>
                  <a:pt x="329" y="293"/>
                </a:lnTo>
                <a:lnTo>
                  <a:pt x="330" y="291"/>
                </a:lnTo>
                <a:lnTo>
                  <a:pt x="331" y="290"/>
                </a:lnTo>
                <a:lnTo>
                  <a:pt x="332" y="289"/>
                </a:lnTo>
                <a:lnTo>
                  <a:pt x="333" y="287"/>
                </a:lnTo>
                <a:lnTo>
                  <a:pt x="335" y="287"/>
                </a:lnTo>
                <a:lnTo>
                  <a:pt x="336" y="286"/>
                </a:lnTo>
                <a:lnTo>
                  <a:pt x="338" y="285"/>
                </a:lnTo>
                <a:lnTo>
                  <a:pt x="340" y="285"/>
                </a:lnTo>
                <a:close/>
                <a:moveTo>
                  <a:pt x="284" y="283"/>
                </a:moveTo>
                <a:lnTo>
                  <a:pt x="286" y="283"/>
                </a:lnTo>
                <a:lnTo>
                  <a:pt x="288" y="284"/>
                </a:lnTo>
                <a:lnTo>
                  <a:pt x="290" y="286"/>
                </a:lnTo>
                <a:lnTo>
                  <a:pt x="291" y="287"/>
                </a:lnTo>
                <a:lnTo>
                  <a:pt x="291" y="290"/>
                </a:lnTo>
                <a:lnTo>
                  <a:pt x="291" y="292"/>
                </a:lnTo>
                <a:lnTo>
                  <a:pt x="290" y="293"/>
                </a:lnTo>
                <a:lnTo>
                  <a:pt x="288" y="295"/>
                </a:lnTo>
                <a:lnTo>
                  <a:pt x="286" y="296"/>
                </a:lnTo>
                <a:lnTo>
                  <a:pt x="284" y="296"/>
                </a:lnTo>
                <a:lnTo>
                  <a:pt x="282" y="296"/>
                </a:lnTo>
                <a:lnTo>
                  <a:pt x="281" y="295"/>
                </a:lnTo>
                <a:lnTo>
                  <a:pt x="279" y="293"/>
                </a:lnTo>
                <a:lnTo>
                  <a:pt x="278" y="292"/>
                </a:lnTo>
                <a:lnTo>
                  <a:pt x="278" y="290"/>
                </a:lnTo>
                <a:lnTo>
                  <a:pt x="278" y="287"/>
                </a:lnTo>
                <a:lnTo>
                  <a:pt x="279" y="286"/>
                </a:lnTo>
                <a:lnTo>
                  <a:pt x="281" y="284"/>
                </a:lnTo>
                <a:lnTo>
                  <a:pt x="282" y="283"/>
                </a:lnTo>
                <a:lnTo>
                  <a:pt x="284" y="283"/>
                </a:lnTo>
                <a:close/>
                <a:moveTo>
                  <a:pt x="1639" y="280"/>
                </a:moveTo>
                <a:lnTo>
                  <a:pt x="1640" y="280"/>
                </a:lnTo>
                <a:lnTo>
                  <a:pt x="1642" y="280"/>
                </a:lnTo>
                <a:lnTo>
                  <a:pt x="1644" y="281"/>
                </a:lnTo>
                <a:lnTo>
                  <a:pt x="1645" y="282"/>
                </a:lnTo>
                <a:lnTo>
                  <a:pt x="1646" y="283"/>
                </a:lnTo>
                <a:lnTo>
                  <a:pt x="1647" y="284"/>
                </a:lnTo>
                <a:lnTo>
                  <a:pt x="1648" y="286"/>
                </a:lnTo>
                <a:lnTo>
                  <a:pt x="1648" y="287"/>
                </a:lnTo>
                <a:lnTo>
                  <a:pt x="1648" y="289"/>
                </a:lnTo>
                <a:lnTo>
                  <a:pt x="1648" y="291"/>
                </a:lnTo>
                <a:lnTo>
                  <a:pt x="1648" y="292"/>
                </a:lnTo>
                <a:lnTo>
                  <a:pt x="1647" y="294"/>
                </a:lnTo>
                <a:lnTo>
                  <a:pt x="1646" y="295"/>
                </a:lnTo>
                <a:lnTo>
                  <a:pt x="1645" y="296"/>
                </a:lnTo>
                <a:lnTo>
                  <a:pt x="1644" y="297"/>
                </a:lnTo>
                <a:lnTo>
                  <a:pt x="1642" y="298"/>
                </a:lnTo>
                <a:lnTo>
                  <a:pt x="1640" y="298"/>
                </a:lnTo>
                <a:lnTo>
                  <a:pt x="1639" y="298"/>
                </a:lnTo>
                <a:lnTo>
                  <a:pt x="1637" y="298"/>
                </a:lnTo>
                <a:lnTo>
                  <a:pt x="1635" y="298"/>
                </a:lnTo>
                <a:lnTo>
                  <a:pt x="1634" y="297"/>
                </a:lnTo>
                <a:lnTo>
                  <a:pt x="1633" y="296"/>
                </a:lnTo>
                <a:lnTo>
                  <a:pt x="1631" y="295"/>
                </a:lnTo>
                <a:lnTo>
                  <a:pt x="1630" y="294"/>
                </a:lnTo>
                <a:lnTo>
                  <a:pt x="1630" y="292"/>
                </a:lnTo>
                <a:lnTo>
                  <a:pt x="1629" y="291"/>
                </a:lnTo>
                <a:lnTo>
                  <a:pt x="1629" y="289"/>
                </a:lnTo>
                <a:lnTo>
                  <a:pt x="1629" y="287"/>
                </a:lnTo>
                <a:lnTo>
                  <a:pt x="1630" y="286"/>
                </a:lnTo>
                <a:lnTo>
                  <a:pt x="1630" y="284"/>
                </a:lnTo>
                <a:lnTo>
                  <a:pt x="1631" y="283"/>
                </a:lnTo>
                <a:lnTo>
                  <a:pt x="1633" y="282"/>
                </a:lnTo>
                <a:lnTo>
                  <a:pt x="1634" y="281"/>
                </a:lnTo>
                <a:lnTo>
                  <a:pt x="1635" y="280"/>
                </a:lnTo>
                <a:lnTo>
                  <a:pt x="1637" y="280"/>
                </a:lnTo>
                <a:lnTo>
                  <a:pt x="1639" y="280"/>
                </a:lnTo>
                <a:close/>
                <a:moveTo>
                  <a:pt x="451" y="260"/>
                </a:moveTo>
                <a:lnTo>
                  <a:pt x="453" y="260"/>
                </a:lnTo>
                <a:lnTo>
                  <a:pt x="455" y="262"/>
                </a:lnTo>
                <a:lnTo>
                  <a:pt x="455" y="264"/>
                </a:lnTo>
                <a:lnTo>
                  <a:pt x="455" y="266"/>
                </a:lnTo>
                <a:lnTo>
                  <a:pt x="453" y="267"/>
                </a:lnTo>
                <a:lnTo>
                  <a:pt x="451" y="268"/>
                </a:lnTo>
                <a:lnTo>
                  <a:pt x="449" y="267"/>
                </a:lnTo>
                <a:lnTo>
                  <a:pt x="447" y="266"/>
                </a:lnTo>
                <a:lnTo>
                  <a:pt x="447" y="264"/>
                </a:lnTo>
                <a:lnTo>
                  <a:pt x="447" y="262"/>
                </a:lnTo>
                <a:lnTo>
                  <a:pt x="449" y="260"/>
                </a:lnTo>
                <a:lnTo>
                  <a:pt x="451" y="260"/>
                </a:lnTo>
                <a:close/>
                <a:moveTo>
                  <a:pt x="1531" y="241"/>
                </a:moveTo>
                <a:lnTo>
                  <a:pt x="1533" y="242"/>
                </a:lnTo>
                <a:lnTo>
                  <a:pt x="1535" y="242"/>
                </a:lnTo>
                <a:lnTo>
                  <a:pt x="1537" y="243"/>
                </a:lnTo>
                <a:lnTo>
                  <a:pt x="1538" y="244"/>
                </a:lnTo>
                <a:lnTo>
                  <a:pt x="1539" y="245"/>
                </a:lnTo>
                <a:lnTo>
                  <a:pt x="1540" y="246"/>
                </a:lnTo>
                <a:lnTo>
                  <a:pt x="1541" y="248"/>
                </a:lnTo>
                <a:lnTo>
                  <a:pt x="1541" y="250"/>
                </a:lnTo>
                <a:lnTo>
                  <a:pt x="1542" y="252"/>
                </a:lnTo>
                <a:lnTo>
                  <a:pt x="1541" y="253"/>
                </a:lnTo>
                <a:lnTo>
                  <a:pt x="1541" y="255"/>
                </a:lnTo>
                <a:lnTo>
                  <a:pt x="1540" y="257"/>
                </a:lnTo>
                <a:lnTo>
                  <a:pt x="1539" y="258"/>
                </a:lnTo>
                <a:lnTo>
                  <a:pt x="1538" y="259"/>
                </a:lnTo>
                <a:lnTo>
                  <a:pt x="1537" y="260"/>
                </a:lnTo>
                <a:lnTo>
                  <a:pt x="1535" y="261"/>
                </a:lnTo>
                <a:lnTo>
                  <a:pt x="1533" y="261"/>
                </a:lnTo>
                <a:lnTo>
                  <a:pt x="1531" y="262"/>
                </a:lnTo>
                <a:lnTo>
                  <a:pt x="1530" y="261"/>
                </a:lnTo>
                <a:lnTo>
                  <a:pt x="1528" y="261"/>
                </a:lnTo>
                <a:lnTo>
                  <a:pt x="1526" y="260"/>
                </a:lnTo>
                <a:lnTo>
                  <a:pt x="1525" y="259"/>
                </a:lnTo>
                <a:lnTo>
                  <a:pt x="1524" y="258"/>
                </a:lnTo>
                <a:lnTo>
                  <a:pt x="1523" y="257"/>
                </a:lnTo>
                <a:lnTo>
                  <a:pt x="1522" y="255"/>
                </a:lnTo>
                <a:lnTo>
                  <a:pt x="1522" y="253"/>
                </a:lnTo>
                <a:lnTo>
                  <a:pt x="1521" y="252"/>
                </a:lnTo>
                <a:lnTo>
                  <a:pt x="1522" y="250"/>
                </a:lnTo>
                <a:lnTo>
                  <a:pt x="1522" y="248"/>
                </a:lnTo>
                <a:lnTo>
                  <a:pt x="1523" y="246"/>
                </a:lnTo>
                <a:lnTo>
                  <a:pt x="1524" y="245"/>
                </a:lnTo>
                <a:lnTo>
                  <a:pt x="1525" y="244"/>
                </a:lnTo>
                <a:lnTo>
                  <a:pt x="1526" y="243"/>
                </a:lnTo>
                <a:lnTo>
                  <a:pt x="1528" y="242"/>
                </a:lnTo>
                <a:lnTo>
                  <a:pt x="1530" y="242"/>
                </a:lnTo>
                <a:lnTo>
                  <a:pt x="1531" y="241"/>
                </a:lnTo>
                <a:close/>
                <a:moveTo>
                  <a:pt x="392" y="241"/>
                </a:moveTo>
                <a:lnTo>
                  <a:pt x="393" y="241"/>
                </a:lnTo>
                <a:lnTo>
                  <a:pt x="395" y="242"/>
                </a:lnTo>
                <a:lnTo>
                  <a:pt x="397" y="242"/>
                </a:lnTo>
                <a:lnTo>
                  <a:pt x="398" y="243"/>
                </a:lnTo>
                <a:lnTo>
                  <a:pt x="400" y="244"/>
                </a:lnTo>
                <a:lnTo>
                  <a:pt x="401" y="246"/>
                </a:lnTo>
                <a:lnTo>
                  <a:pt x="402" y="247"/>
                </a:lnTo>
                <a:lnTo>
                  <a:pt x="402" y="249"/>
                </a:lnTo>
                <a:lnTo>
                  <a:pt x="403" y="250"/>
                </a:lnTo>
                <a:lnTo>
                  <a:pt x="403" y="252"/>
                </a:lnTo>
                <a:lnTo>
                  <a:pt x="403" y="254"/>
                </a:lnTo>
                <a:lnTo>
                  <a:pt x="402" y="255"/>
                </a:lnTo>
                <a:lnTo>
                  <a:pt x="402" y="257"/>
                </a:lnTo>
                <a:lnTo>
                  <a:pt x="401" y="258"/>
                </a:lnTo>
                <a:lnTo>
                  <a:pt x="400" y="260"/>
                </a:lnTo>
                <a:lnTo>
                  <a:pt x="398" y="261"/>
                </a:lnTo>
                <a:lnTo>
                  <a:pt x="397" y="262"/>
                </a:lnTo>
                <a:lnTo>
                  <a:pt x="395" y="262"/>
                </a:lnTo>
                <a:lnTo>
                  <a:pt x="393" y="263"/>
                </a:lnTo>
                <a:lnTo>
                  <a:pt x="392" y="263"/>
                </a:lnTo>
                <a:lnTo>
                  <a:pt x="390" y="263"/>
                </a:lnTo>
                <a:lnTo>
                  <a:pt x="388" y="262"/>
                </a:lnTo>
                <a:lnTo>
                  <a:pt x="387" y="262"/>
                </a:lnTo>
                <a:lnTo>
                  <a:pt x="385" y="261"/>
                </a:lnTo>
                <a:lnTo>
                  <a:pt x="384" y="260"/>
                </a:lnTo>
                <a:lnTo>
                  <a:pt x="383" y="258"/>
                </a:lnTo>
                <a:lnTo>
                  <a:pt x="382" y="257"/>
                </a:lnTo>
                <a:lnTo>
                  <a:pt x="381" y="255"/>
                </a:lnTo>
                <a:lnTo>
                  <a:pt x="381" y="254"/>
                </a:lnTo>
                <a:lnTo>
                  <a:pt x="380" y="252"/>
                </a:lnTo>
                <a:lnTo>
                  <a:pt x="381" y="250"/>
                </a:lnTo>
                <a:lnTo>
                  <a:pt x="381" y="249"/>
                </a:lnTo>
                <a:lnTo>
                  <a:pt x="382" y="247"/>
                </a:lnTo>
                <a:lnTo>
                  <a:pt x="383" y="246"/>
                </a:lnTo>
                <a:lnTo>
                  <a:pt x="384" y="244"/>
                </a:lnTo>
                <a:lnTo>
                  <a:pt x="385" y="243"/>
                </a:lnTo>
                <a:lnTo>
                  <a:pt x="387" y="242"/>
                </a:lnTo>
                <a:lnTo>
                  <a:pt x="388" y="242"/>
                </a:lnTo>
                <a:lnTo>
                  <a:pt x="390" y="241"/>
                </a:lnTo>
                <a:lnTo>
                  <a:pt x="392" y="241"/>
                </a:lnTo>
                <a:close/>
                <a:moveTo>
                  <a:pt x="334" y="236"/>
                </a:moveTo>
                <a:lnTo>
                  <a:pt x="336" y="237"/>
                </a:lnTo>
                <a:lnTo>
                  <a:pt x="338" y="238"/>
                </a:lnTo>
                <a:lnTo>
                  <a:pt x="340" y="239"/>
                </a:lnTo>
                <a:lnTo>
                  <a:pt x="341" y="241"/>
                </a:lnTo>
                <a:lnTo>
                  <a:pt x="341" y="243"/>
                </a:lnTo>
                <a:lnTo>
                  <a:pt x="341" y="245"/>
                </a:lnTo>
                <a:lnTo>
                  <a:pt x="340" y="247"/>
                </a:lnTo>
                <a:lnTo>
                  <a:pt x="338" y="248"/>
                </a:lnTo>
                <a:lnTo>
                  <a:pt x="336" y="249"/>
                </a:lnTo>
                <a:lnTo>
                  <a:pt x="334" y="249"/>
                </a:lnTo>
                <a:lnTo>
                  <a:pt x="332" y="249"/>
                </a:lnTo>
                <a:lnTo>
                  <a:pt x="330" y="248"/>
                </a:lnTo>
                <a:lnTo>
                  <a:pt x="329" y="247"/>
                </a:lnTo>
                <a:lnTo>
                  <a:pt x="328" y="245"/>
                </a:lnTo>
                <a:lnTo>
                  <a:pt x="328" y="243"/>
                </a:lnTo>
                <a:lnTo>
                  <a:pt x="328" y="241"/>
                </a:lnTo>
                <a:lnTo>
                  <a:pt x="329" y="239"/>
                </a:lnTo>
                <a:lnTo>
                  <a:pt x="330" y="238"/>
                </a:lnTo>
                <a:lnTo>
                  <a:pt x="332" y="237"/>
                </a:lnTo>
                <a:lnTo>
                  <a:pt x="334" y="236"/>
                </a:lnTo>
                <a:close/>
                <a:moveTo>
                  <a:pt x="1589" y="233"/>
                </a:moveTo>
                <a:lnTo>
                  <a:pt x="1590" y="233"/>
                </a:lnTo>
                <a:lnTo>
                  <a:pt x="1592" y="234"/>
                </a:lnTo>
                <a:lnTo>
                  <a:pt x="1594" y="235"/>
                </a:lnTo>
                <a:lnTo>
                  <a:pt x="1595" y="236"/>
                </a:lnTo>
                <a:lnTo>
                  <a:pt x="1596" y="237"/>
                </a:lnTo>
                <a:lnTo>
                  <a:pt x="1597" y="239"/>
                </a:lnTo>
                <a:lnTo>
                  <a:pt x="1598" y="241"/>
                </a:lnTo>
                <a:lnTo>
                  <a:pt x="1598" y="242"/>
                </a:lnTo>
                <a:lnTo>
                  <a:pt x="1598" y="244"/>
                </a:lnTo>
                <a:lnTo>
                  <a:pt x="1597" y="246"/>
                </a:lnTo>
                <a:lnTo>
                  <a:pt x="1596" y="248"/>
                </a:lnTo>
                <a:lnTo>
                  <a:pt x="1595" y="249"/>
                </a:lnTo>
                <a:lnTo>
                  <a:pt x="1594" y="250"/>
                </a:lnTo>
                <a:lnTo>
                  <a:pt x="1592" y="251"/>
                </a:lnTo>
                <a:lnTo>
                  <a:pt x="1590" y="252"/>
                </a:lnTo>
                <a:lnTo>
                  <a:pt x="1589" y="252"/>
                </a:lnTo>
                <a:lnTo>
                  <a:pt x="1587" y="252"/>
                </a:lnTo>
                <a:lnTo>
                  <a:pt x="1585" y="251"/>
                </a:lnTo>
                <a:lnTo>
                  <a:pt x="1583" y="250"/>
                </a:lnTo>
                <a:lnTo>
                  <a:pt x="1582" y="249"/>
                </a:lnTo>
                <a:lnTo>
                  <a:pt x="1581" y="248"/>
                </a:lnTo>
                <a:lnTo>
                  <a:pt x="1580" y="246"/>
                </a:lnTo>
                <a:lnTo>
                  <a:pt x="1579" y="244"/>
                </a:lnTo>
                <a:lnTo>
                  <a:pt x="1579" y="242"/>
                </a:lnTo>
                <a:lnTo>
                  <a:pt x="1579" y="241"/>
                </a:lnTo>
                <a:lnTo>
                  <a:pt x="1580" y="239"/>
                </a:lnTo>
                <a:lnTo>
                  <a:pt x="1581" y="237"/>
                </a:lnTo>
                <a:lnTo>
                  <a:pt x="1582" y="236"/>
                </a:lnTo>
                <a:lnTo>
                  <a:pt x="1583" y="235"/>
                </a:lnTo>
                <a:lnTo>
                  <a:pt x="1585" y="234"/>
                </a:lnTo>
                <a:lnTo>
                  <a:pt x="1587" y="233"/>
                </a:lnTo>
                <a:lnTo>
                  <a:pt x="1589" y="233"/>
                </a:lnTo>
                <a:close/>
                <a:moveTo>
                  <a:pt x="508" y="221"/>
                </a:moveTo>
                <a:lnTo>
                  <a:pt x="510" y="221"/>
                </a:lnTo>
                <a:lnTo>
                  <a:pt x="511" y="222"/>
                </a:lnTo>
                <a:lnTo>
                  <a:pt x="512" y="224"/>
                </a:lnTo>
                <a:lnTo>
                  <a:pt x="512" y="226"/>
                </a:lnTo>
                <a:lnTo>
                  <a:pt x="512" y="228"/>
                </a:lnTo>
                <a:lnTo>
                  <a:pt x="511" y="229"/>
                </a:lnTo>
                <a:lnTo>
                  <a:pt x="510" y="230"/>
                </a:lnTo>
                <a:lnTo>
                  <a:pt x="508" y="231"/>
                </a:lnTo>
                <a:lnTo>
                  <a:pt x="506" y="230"/>
                </a:lnTo>
                <a:lnTo>
                  <a:pt x="504" y="229"/>
                </a:lnTo>
                <a:lnTo>
                  <a:pt x="503" y="228"/>
                </a:lnTo>
                <a:lnTo>
                  <a:pt x="503" y="226"/>
                </a:lnTo>
                <a:lnTo>
                  <a:pt x="503" y="224"/>
                </a:lnTo>
                <a:lnTo>
                  <a:pt x="504" y="222"/>
                </a:lnTo>
                <a:lnTo>
                  <a:pt x="506" y="221"/>
                </a:lnTo>
                <a:lnTo>
                  <a:pt x="508" y="221"/>
                </a:lnTo>
                <a:close/>
                <a:moveTo>
                  <a:pt x="1476" y="201"/>
                </a:moveTo>
                <a:lnTo>
                  <a:pt x="1478" y="201"/>
                </a:lnTo>
                <a:lnTo>
                  <a:pt x="1480" y="202"/>
                </a:lnTo>
                <a:lnTo>
                  <a:pt x="1482" y="202"/>
                </a:lnTo>
                <a:lnTo>
                  <a:pt x="1483" y="203"/>
                </a:lnTo>
                <a:lnTo>
                  <a:pt x="1484" y="205"/>
                </a:lnTo>
                <a:lnTo>
                  <a:pt x="1485" y="206"/>
                </a:lnTo>
                <a:lnTo>
                  <a:pt x="1486" y="208"/>
                </a:lnTo>
                <a:lnTo>
                  <a:pt x="1486" y="209"/>
                </a:lnTo>
                <a:lnTo>
                  <a:pt x="1486" y="211"/>
                </a:lnTo>
                <a:lnTo>
                  <a:pt x="1486" y="213"/>
                </a:lnTo>
                <a:lnTo>
                  <a:pt x="1486" y="215"/>
                </a:lnTo>
                <a:lnTo>
                  <a:pt x="1485" y="216"/>
                </a:lnTo>
                <a:lnTo>
                  <a:pt x="1484" y="218"/>
                </a:lnTo>
                <a:lnTo>
                  <a:pt x="1483" y="219"/>
                </a:lnTo>
                <a:lnTo>
                  <a:pt x="1482" y="220"/>
                </a:lnTo>
                <a:lnTo>
                  <a:pt x="1480" y="221"/>
                </a:lnTo>
                <a:lnTo>
                  <a:pt x="1478" y="221"/>
                </a:lnTo>
                <a:lnTo>
                  <a:pt x="1476" y="221"/>
                </a:lnTo>
                <a:lnTo>
                  <a:pt x="1475" y="221"/>
                </a:lnTo>
                <a:lnTo>
                  <a:pt x="1473" y="221"/>
                </a:lnTo>
                <a:lnTo>
                  <a:pt x="1471" y="220"/>
                </a:lnTo>
                <a:lnTo>
                  <a:pt x="1470" y="219"/>
                </a:lnTo>
                <a:lnTo>
                  <a:pt x="1469" y="218"/>
                </a:lnTo>
                <a:lnTo>
                  <a:pt x="1468" y="216"/>
                </a:lnTo>
                <a:lnTo>
                  <a:pt x="1467" y="215"/>
                </a:lnTo>
                <a:lnTo>
                  <a:pt x="1467" y="213"/>
                </a:lnTo>
                <a:lnTo>
                  <a:pt x="1466" y="211"/>
                </a:lnTo>
                <a:lnTo>
                  <a:pt x="1467" y="209"/>
                </a:lnTo>
                <a:lnTo>
                  <a:pt x="1467" y="208"/>
                </a:lnTo>
                <a:lnTo>
                  <a:pt x="1468" y="206"/>
                </a:lnTo>
                <a:lnTo>
                  <a:pt x="1469" y="205"/>
                </a:lnTo>
                <a:lnTo>
                  <a:pt x="1470" y="203"/>
                </a:lnTo>
                <a:lnTo>
                  <a:pt x="1471" y="202"/>
                </a:lnTo>
                <a:lnTo>
                  <a:pt x="1473" y="202"/>
                </a:lnTo>
                <a:lnTo>
                  <a:pt x="1475" y="201"/>
                </a:lnTo>
                <a:lnTo>
                  <a:pt x="1476" y="201"/>
                </a:lnTo>
                <a:close/>
                <a:moveTo>
                  <a:pt x="447" y="200"/>
                </a:moveTo>
                <a:lnTo>
                  <a:pt x="449" y="201"/>
                </a:lnTo>
                <a:lnTo>
                  <a:pt x="450" y="201"/>
                </a:lnTo>
                <a:lnTo>
                  <a:pt x="452" y="202"/>
                </a:lnTo>
                <a:lnTo>
                  <a:pt x="453" y="203"/>
                </a:lnTo>
                <a:lnTo>
                  <a:pt x="455" y="204"/>
                </a:lnTo>
                <a:lnTo>
                  <a:pt x="456" y="205"/>
                </a:lnTo>
                <a:lnTo>
                  <a:pt x="457" y="206"/>
                </a:lnTo>
                <a:lnTo>
                  <a:pt x="457" y="208"/>
                </a:lnTo>
                <a:lnTo>
                  <a:pt x="458" y="210"/>
                </a:lnTo>
                <a:lnTo>
                  <a:pt x="458" y="211"/>
                </a:lnTo>
                <a:lnTo>
                  <a:pt x="458" y="213"/>
                </a:lnTo>
                <a:lnTo>
                  <a:pt x="457" y="215"/>
                </a:lnTo>
                <a:lnTo>
                  <a:pt x="457" y="216"/>
                </a:lnTo>
                <a:lnTo>
                  <a:pt x="456" y="218"/>
                </a:lnTo>
                <a:lnTo>
                  <a:pt x="455" y="219"/>
                </a:lnTo>
                <a:lnTo>
                  <a:pt x="453" y="220"/>
                </a:lnTo>
                <a:lnTo>
                  <a:pt x="452" y="221"/>
                </a:lnTo>
                <a:lnTo>
                  <a:pt x="450" y="222"/>
                </a:lnTo>
                <a:lnTo>
                  <a:pt x="449" y="222"/>
                </a:lnTo>
                <a:lnTo>
                  <a:pt x="447" y="222"/>
                </a:lnTo>
                <a:lnTo>
                  <a:pt x="445" y="222"/>
                </a:lnTo>
                <a:lnTo>
                  <a:pt x="443" y="222"/>
                </a:lnTo>
                <a:lnTo>
                  <a:pt x="442" y="221"/>
                </a:lnTo>
                <a:lnTo>
                  <a:pt x="440" y="220"/>
                </a:lnTo>
                <a:lnTo>
                  <a:pt x="439" y="219"/>
                </a:lnTo>
                <a:lnTo>
                  <a:pt x="438" y="218"/>
                </a:lnTo>
                <a:lnTo>
                  <a:pt x="437" y="216"/>
                </a:lnTo>
                <a:lnTo>
                  <a:pt x="436" y="215"/>
                </a:lnTo>
                <a:lnTo>
                  <a:pt x="436" y="213"/>
                </a:lnTo>
                <a:lnTo>
                  <a:pt x="436" y="211"/>
                </a:lnTo>
                <a:lnTo>
                  <a:pt x="436" y="210"/>
                </a:lnTo>
                <a:lnTo>
                  <a:pt x="436" y="208"/>
                </a:lnTo>
                <a:lnTo>
                  <a:pt x="437" y="206"/>
                </a:lnTo>
                <a:lnTo>
                  <a:pt x="438" y="205"/>
                </a:lnTo>
                <a:lnTo>
                  <a:pt x="439" y="204"/>
                </a:lnTo>
                <a:lnTo>
                  <a:pt x="440" y="203"/>
                </a:lnTo>
                <a:lnTo>
                  <a:pt x="442" y="202"/>
                </a:lnTo>
                <a:lnTo>
                  <a:pt x="443" y="201"/>
                </a:lnTo>
                <a:lnTo>
                  <a:pt x="445" y="201"/>
                </a:lnTo>
                <a:lnTo>
                  <a:pt x="447" y="200"/>
                </a:lnTo>
                <a:close/>
                <a:moveTo>
                  <a:pt x="388" y="193"/>
                </a:moveTo>
                <a:lnTo>
                  <a:pt x="390" y="194"/>
                </a:lnTo>
                <a:lnTo>
                  <a:pt x="391" y="194"/>
                </a:lnTo>
                <a:lnTo>
                  <a:pt x="392" y="195"/>
                </a:lnTo>
                <a:lnTo>
                  <a:pt x="394" y="197"/>
                </a:lnTo>
                <a:lnTo>
                  <a:pt x="394" y="198"/>
                </a:lnTo>
                <a:lnTo>
                  <a:pt x="394" y="200"/>
                </a:lnTo>
                <a:lnTo>
                  <a:pt x="394" y="202"/>
                </a:lnTo>
                <a:lnTo>
                  <a:pt x="394" y="204"/>
                </a:lnTo>
                <a:lnTo>
                  <a:pt x="392" y="205"/>
                </a:lnTo>
                <a:lnTo>
                  <a:pt x="391" y="206"/>
                </a:lnTo>
                <a:lnTo>
                  <a:pt x="390" y="207"/>
                </a:lnTo>
                <a:lnTo>
                  <a:pt x="388" y="207"/>
                </a:lnTo>
                <a:lnTo>
                  <a:pt x="386" y="207"/>
                </a:lnTo>
                <a:lnTo>
                  <a:pt x="384" y="206"/>
                </a:lnTo>
                <a:lnTo>
                  <a:pt x="383" y="205"/>
                </a:lnTo>
                <a:lnTo>
                  <a:pt x="382" y="204"/>
                </a:lnTo>
                <a:lnTo>
                  <a:pt x="381" y="202"/>
                </a:lnTo>
                <a:lnTo>
                  <a:pt x="381" y="200"/>
                </a:lnTo>
                <a:lnTo>
                  <a:pt x="381" y="198"/>
                </a:lnTo>
                <a:lnTo>
                  <a:pt x="382" y="197"/>
                </a:lnTo>
                <a:lnTo>
                  <a:pt x="383" y="195"/>
                </a:lnTo>
                <a:lnTo>
                  <a:pt x="384" y="194"/>
                </a:lnTo>
                <a:lnTo>
                  <a:pt x="386" y="194"/>
                </a:lnTo>
                <a:lnTo>
                  <a:pt x="388" y="193"/>
                </a:lnTo>
                <a:close/>
                <a:moveTo>
                  <a:pt x="1535" y="190"/>
                </a:moveTo>
                <a:lnTo>
                  <a:pt x="1537" y="190"/>
                </a:lnTo>
                <a:lnTo>
                  <a:pt x="1539" y="191"/>
                </a:lnTo>
                <a:lnTo>
                  <a:pt x="1541" y="192"/>
                </a:lnTo>
                <a:lnTo>
                  <a:pt x="1542" y="193"/>
                </a:lnTo>
                <a:lnTo>
                  <a:pt x="1543" y="194"/>
                </a:lnTo>
                <a:lnTo>
                  <a:pt x="1544" y="196"/>
                </a:lnTo>
                <a:lnTo>
                  <a:pt x="1545" y="198"/>
                </a:lnTo>
                <a:lnTo>
                  <a:pt x="1545" y="200"/>
                </a:lnTo>
                <a:lnTo>
                  <a:pt x="1545" y="201"/>
                </a:lnTo>
                <a:lnTo>
                  <a:pt x="1544" y="203"/>
                </a:lnTo>
                <a:lnTo>
                  <a:pt x="1543" y="205"/>
                </a:lnTo>
                <a:lnTo>
                  <a:pt x="1542" y="206"/>
                </a:lnTo>
                <a:lnTo>
                  <a:pt x="1541" y="207"/>
                </a:lnTo>
                <a:lnTo>
                  <a:pt x="1539" y="208"/>
                </a:lnTo>
                <a:lnTo>
                  <a:pt x="1537" y="209"/>
                </a:lnTo>
                <a:lnTo>
                  <a:pt x="1535" y="209"/>
                </a:lnTo>
                <a:lnTo>
                  <a:pt x="1534" y="209"/>
                </a:lnTo>
                <a:lnTo>
                  <a:pt x="1532" y="208"/>
                </a:lnTo>
                <a:lnTo>
                  <a:pt x="1530" y="207"/>
                </a:lnTo>
                <a:lnTo>
                  <a:pt x="1529" y="206"/>
                </a:lnTo>
                <a:lnTo>
                  <a:pt x="1528" y="205"/>
                </a:lnTo>
                <a:lnTo>
                  <a:pt x="1527" y="203"/>
                </a:lnTo>
                <a:lnTo>
                  <a:pt x="1526" y="201"/>
                </a:lnTo>
                <a:lnTo>
                  <a:pt x="1526" y="200"/>
                </a:lnTo>
                <a:lnTo>
                  <a:pt x="1526" y="198"/>
                </a:lnTo>
                <a:lnTo>
                  <a:pt x="1527" y="196"/>
                </a:lnTo>
                <a:lnTo>
                  <a:pt x="1528" y="194"/>
                </a:lnTo>
                <a:lnTo>
                  <a:pt x="1529" y="193"/>
                </a:lnTo>
                <a:lnTo>
                  <a:pt x="1530" y="192"/>
                </a:lnTo>
                <a:lnTo>
                  <a:pt x="1532" y="191"/>
                </a:lnTo>
                <a:lnTo>
                  <a:pt x="1534" y="190"/>
                </a:lnTo>
                <a:lnTo>
                  <a:pt x="1535" y="190"/>
                </a:lnTo>
                <a:close/>
                <a:moveTo>
                  <a:pt x="567" y="187"/>
                </a:moveTo>
                <a:lnTo>
                  <a:pt x="569" y="187"/>
                </a:lnTo>
                <a:lnTo>
                  <a:pt x="571" y="189"/>
                </a:lnTo>
                <a:lnTo>
                  <a:pt x="572" y="190"/>
                </a:lnTo>
                <a:lnTo>
                  <a:pt x="573" y="192"/>
                </a:lnTo>
                <a:lnTo>
                  <a:pt x="572" y="194"/>
                </a:lnTo>
                <a:lnTo>
                  <a:pt x="571" y="196"/>
                </a:lnTo>
                <a:lnTo>
                  <a:pt x="569" y="197"/>
                </a:lnTo>
                <a:lnTo>
                  <a:pt x="567" y="198"/>
                </a:lnTo>
                <a:lnTo>
                  <a:pt x="565" y="197"/>
                </a:lnTo>
                <a:lnTo>
                  <a:pt x="563" y="196"/>
                </a:lnTo>
                <a:lnTo>
                  <a:pt x="562" y="194"/>
                </a:lnTo>
                <a:lnTo>
                  <a:pt x="562" y="192"/>
                </a:lnTo>
                <a:lnTo>
                  <a:pt x="562" y="190"/>
                </a:lnTo>
                <a:lnTo>
                  <a:pt x="563" y="189"/>
                </a:lnTo>
                <a:lnTo>
                  <a:pt x="565" y="187"/>
                </a:lnTo>
                <a:lnTo>
                  <a:pt x="567" y="187"/>
                </a:lnTo>
                <a:close/>
                <a:moveTo>
                  <a:pt x="1418" y="165"/>
                </a:moveTo>
                <a:lnTo>
                  <a:pt x="1420" y="165"/>
                </a:lnTo>
                <a:lnTo>
                  <a:pt x="1422" y="165"/>
                </a:lnTo>
                <a:lnTo>
                  <a:pt x="1424" y="166"/>
                </a:lnTo>
                <a:lnTo>
                  <a:pt x="1425" y="167"/>
                </a:lnTo>
                <a:lnTo>
                  <a:pt x="1426" y="168"/>
                </a:lnTo>
                <a:lnTo>
                  <a:pt x="1427" y="170"/>
                </a:lnTo>
                <a:lnTo>
                  <a:pt x="1428" y="171"/>
                </a:lnTo>
                <a:lnTo>
                  <a:pt x="1429" y="173"/>
                </a:lnTo>
                <a:lnTo>
                  <a:pt x="1429" y="175"/>
                </a:lnTo>
                <a:lnTo>
                  <a:pt x="1429" y="177"/>
                </a:lnTo>
                <a:lnTo>
                  <a:pt x="1428" y="178"/>
                </a:lnTo>
                <a:lnTo>
                  <a:pt x="1427" y="180"/>
                </a:lnTo>
                <a:lnTo>
                  <a:pt x="1426" y="181"/>
                </a:lnTo>
                <a:lnTo>
                  <a:pt x="1425" y="183"/>
                </a:lnTo>
                <a:lnTo>
                  <a:pt x="1424" y="184"/>
                </a:lnTo>
                <a:lnTo>
                  <a:pt x="1422" y="184"/>
                </a:lnTo>
                <a:lnTo>
                  <a:pt x="1420" y="185"/>
                </a:lnTo>
                <a:lnTo>
                  <a:pt x="1418" y="185"/>
                </a:lnTo>
                <a:lnTo>
                  <a:pt x="1417" y="185"/>
                </a:lnTo>
                <a:lnTo>
                  <a:pt x="1415" y="184"/>
                </a:lnTo>
                <a:lnTo>
                  <a:pt x="1413" y="184"/>
                </a:lnTo>
                <a:lnTo>
                  <a:pt x="1412" y="183"/>
                </a:lnTo>
                <a:lnTo>
                  <a:pt x="1411" y="181"/>
                </a:lnTo>
                <a:lnTo>
                  <a:pt x="1410" y="180"/>
                </a:lnTo>
                <a:lnTo>
                  <a:pt x="1409" y="178"/>
                </a:lnTo>
                <a:lnTo>
                  <a:pt x="1408" y="177"/>
                </a:lnTo>
                <a:lnTo>
                  <a:pt x="1408" y="175"/>
                </a:lnTo>
                <a:lnTo>
                  <a:pt x="1408" y="173"/>
                </a:lnTo>
                <a:lnTo>
                  <a:pt x="1409" y="171"/>
                </a:lnTo>
                <a:lnTo>
                  <a:pt x="1410" y="170"/>
                </a:lnTo>
                <a:lnTo>
                  <a:pt x="1411" y="168"/>
                </a:lnTo>
                <a:lnTo>
                  <a:pt x="1412" y="167"/>
                </a:lnTo>
                <a:lnTo>
                  <a:pt x="1413" y="166"/>
                </a:lnTo>
                <a:lnTo>
                  <a:pt x="1415" y="165"/>
                </a:lnTo>
                <a:lnTo>
                  <a:pt x="1417" y="165"/>
                </a:lnTo>
                <a:lnTo>
                  <a:pt x="1418" y="165"/>
                </a:lnTo>
                <a:close/>
                <a:moveTo>
                  <a:pt x="504" y="164"/>
                </a:moveTo>
                <a:lnTo>
                  <a:pt x="506" y="164"/>
                </a:lnTo>
                <a:lnTo>
                  <a:pt x="508" y="164"/>
                </a:lnTo>
                <a:lnTo>
                  <a:pt x="509" y="165"/>
                </a:lnTo>
                <a:lnTo>
                  <a:pt x="511" y="166"/>
                </a:lnTo>
                <a:lnTo>
                  <a:pt x="512" y="167"/>
                </a:lnTo>
                <a:lnTo>
                  <a:pt x="513" y="168"/>
                </a:lnTo>
                <a:lnTo>
                  <a:pt x="514" y="170"/>
                </a:lnTo>
                <a:lnTo>
                  <a:pt x="515" y="171"/>
                </a:lnTo>
                <a:lnTo>
                  <a:pt x="515" y="173"/>
                </a:lnTo>
                <a:lnTo>
                  <a:pt x="515" y="175"/>
                </a:lnTo>
                <a:lnTo>
                  <a:pt x="515" y="177"/>
                </a:lnTo>
                <a:lnTo>
                  <a:pt x="515" y="178"/>
                </a:lnTo>
                <a:lnTo>
                  <a:pt x="514" y="180"/>
                </a:lnTo>
                <a:lnTo>
                  <a:pt x="513" y="181"/>
                </a:lnTo>
                <a:lnTo>
                  <a:pt x="512" y="183"/>
                </a:lnTo>
                <a:lnTo>
                  <a:pt x="511" y="184"/>
                </a:lnTo>
                <a:lnTo>
                  <a:pt x="509" y="185"/>
                </a:lnTo>
                <a:lnTo>
                  <a:pt x="508" y="185"/>
                </a:lnTo>
                <a:lnTo>
                  <a:pt x="506" y="186"/>
                </a:lnTo>
                <a:lnTo>
                  <a:pt x="504" y="186"/>
                </a:lnTo>
                <a:lnTo>
                  <a:pt x="503" y="186"/>
                </a:lnTo>
                <a:lnTo>
                  <a:pt x="501" y="185"/>
                </a:lnTo>
                <a:lnTo>
                  <a:pt x="499" y="185"/>
                </a:lnTo>
                <a:lnTo>
                  <a:pt x="498" y="184"/>
                </a:lnTo>
                <a:lnTo>
                  <a:pt x="497" y="183"/>
                </a:lnTo>
                <a:lnTo>
                  <a:pt x="495" y="181"/>
                </a:lnTo>
                <a:lnTo>
                  <a:pt x="495" y="180"/>
                </a:lnTo>
                <a:lnTo>
                  <a:pt x="494" y="178"/>
                </a:lnTo>
                <a:lnTo>
                  <a:pt x="493" y="177"/>
                </a:lnTo>
                <a:lnTo>
                  <a:pt x="493" y="175"/>
                </a:lnTo>
                <a:lnTo>
                  <a:pt x="493" y="173"/>
                </a:lnTo>
                <a:lnTo>
                  <a:pt x="494" y="171"/>
                </a:lnTo>
                <a:lnTo>
                  <a:pt x="495" y="170"/>
                </a:lnTo>
                <a:lnTo>
                  <a:pt x="495" y="168"/>
                </a:lnTo>
                <a:lnTo>
                  <a:pt x="497" y="167"/>
                </a:lnTo>
                <a:lnTo>
                  <a:pt x="498" y="166"/>
                </a:lnTo>
                <a:lnTo>
                  <a:pt x="499" y="165"/>
                </a:lnTo>
                <a:lnTo>
                  <a:pt x="501" y="164"/>
                </a:lnTo>
                <a:lnTo>
                  <a:pt x="503" y="164"/>
                </a:lnTo>
                <a:lnTo>
                  <a:pt x="504" y="164"/>
                </a:lnTo>
                <a:close/>
                <a:moveTo>
                  <a:pt x="629" y="158"/>
                </a:moveTo>
                <a:lnTo>
                  <a:pt x="631" y="158"/>
                </a:lnTo>
                <a:lnTo>
                  <a:pt x="633" y="159"/>
                </a:lnTo>
                <a:lnTo>
                  <a:pt x="634" y="160"/>
                </a:lnTo>
                <a:lnTo>
                  <a:pt x="635" y="162"/>
                </a:lnTo>
                <a:lnTo>
                  <a:pt x="635" y="164"/>
                </a:lnTo>
                <a:lnTo>
                  <a:pt x="635" y="166"/>
                </a:lnTo>
                <a:lnTo>
                  <a:pt x="634" y="167"/>
                </a:lnTo>
                <a:lnTo>
                  <a:pt x="633" y="169"/>
                </a:lnTo>
                <a:lnTo>
                  <a:pt x="631" y="169"/>
                </a:lnTo>
                <a:lnTo>
                  <a:pt x="629" y="170"/>
                </a:lnTo>
                <a:lnTo>
                  <a:pt x="627" y="169"/>
                </a:lnTo>
                <a:lnTo>
                  <a:pt x="625" y="169"/>
                </a:lnTo>
                <a:lnTo>
                  <a:pt x="624" y="167"/>
                </a:lnTo>
                <a:lnTo>
                  <a:pt x="623" y="166"/>
                </a:lnTo>
                <a:lnTo>
                  <a:pt x="623" y="164"/>
                </a:lnTo>
                <a:lnTo>
                  <a:pt x="623" y="162"/>
                </a:lnTo>
                <a:lnTo>
                  <a:pt x="624" y="160"/>
                </a:lnTo>
                <a:lnTo>
                  <a:pt x="625" y="159"/>
                </a:lnTo>
                <a:lnTo>
                  <a:pt x="627" y="158"/>
                </a:lnTo>
                <a:lnTo>
                  <a:pt x="629" y="158"/>
                </a:lnTo>
                <a:close/>
                <a:moveTo>
                  <a:pt x="444" y="154"/>
                </a:moveTo>
                <a:lnTo>
                  <a:pt x="446" y="154"/>
                </a:lnTo>
                <a:lnTo>
                  <a:pt x="447" y="155"/>
                </a:lnTo>
                <a:lnTo>
                  <a:pt x="449" y="156"/>
                </a:lnTo>
                <a:lnTo>
                  <a:pt x="450" y="157"/>
                </a:lnTo>
                <a:lnTo>
                  <a:pt x="451" y="159"/>
                </a:lnTo>
                <a:lnTo>
                  <a:pt x="451" y="161"/>
                </a:lnTo>
                <a:lnTo>
                  <a:pt x="451" y="163"/>
                </a:lnTo>
                <a:lnTo>
                  <a:pt x="450" y="164"/>
                </a:lnTo>
                <a:lnTo>
                  <a:pt x="449" y="166"/>
                </a:lnTo>
                <a:lnTo>
                  <a:pt x="447" y="167"/>
                </a:lnTo>
                <a:lnTo>
                  <a:pt x="446" y="168"/>
                </a:lnTo>
                <a:lnTo>
                  <a:pt x="444" y="168"/>
                </a:lnTo>
                <a:lnTo>
                  <a:pt x="442" y="168"/>
                </a:lnTo>
                <a:lnTo>
                  <a:pt x="440" y="167"/>
                </a:lnTo>
                <a:lnTo>
                  <a:pt x="439" y="166"/>
                </a:lnTo>
                <a:lnTo>
                  <a:pt x="437" y="164"/>
                </a:lnTo>
                <a:lnTo>
                  <a:pt x="437" y="163"/>
                </a:lnTo>
                <a:lnTo>
                  <a:pt x="436" y="161"/>
                </a:lnTo>
                <a:lnTo>
                  <a:pt x="437" y="159"/>
                </a:lnTo>
                <a:lnTo>
                  <a:pt x="437" y="157"/>
                </a:lnTo>
                <a:lnTo>
                  <a:pt x="439" y="156"/>
                </a:lnTo>
                <a:lnTo>
                  <a:pt x="440" y="155"/>
                </a:lnTo>
                <a:lnTo>
                  <a:pt x="442" y="154"/>
                </a:lnTo>
                <a:lnTo>
                  <a:pt x="444" y="154"/>
                </a:lnTo>
                <a:close/>
                <a:moveTo>
                  <a:pt x="1296" y="153"/>
                </a:moveTo>
                <a:lnTo>
                  <a:pt x="1296" y="153"/>
                </a:lnTo>
                <a:lnTo>
                  <a:pt x="1298" y="153"/>
                </a:lnTo>
                <a:lnTo>
                  <a:pt x="1299" y="154"/>
                </a:lnTo>
                <a:lnTo>
                  <a:pt x="1300" y="154"/>
                </a:lnTo>
                <a:lnTo>
                  <a:pt x="1296" y="153"/>
                </a:lnTo>
                <a:close/>
                <a:moveTo>
                  <a:pt x="1479" y="152"/>
                </a:moveTo>
                <a:lnTo>
                  <a:pt x="1481" y="152"/>
                </a:lnTo>
                <a:lnTo>
                  <a:pt x="1483" y="152"/>
                </a:lnTo>
                <a:lnTo>
                  <a:pt x="1484" y="153"/>
                </a:lnTo>
                <a:lnTo>
                  <a:pt x="1486" y="154"/>
                </a:lnTo>
                <a:lnTo>
                  <a:pt x="1487" y="156"/>
                </a:lnTo>
                <a:lnTo>
                  <a:pt x="1488" y="157"/>
                </a:lnTo>
                <a:lnTo>
                  <a:pt x="1488" y="159"/>
                </a:lnTo>
                <a:lnTo>
                  <a:pt x="1488" y="161"/>
                </a:lnTo>
                <a:lnTo>
                  <a:pt x="1488" y="163"/>
                </a:lnTo>
                <a:lnTo>
                  <a:pt x="1488" y="164"/>
                </a:lnTo>
                <a:lnTo>
                  <a:pt x="1487" y="166"/>
                </a:lnTo>
                <a:lnTo>
                  <a:pt x="1486" y="167"/>
                </a:lnTo>
                <a:lnTo>
                  <a:pt x="1484" y="169"/>
                </a:lnTo>
                <a:lnTo>
                  <a:pt x="1483" y="169"/>
                </a:lnTo>
                <a:lnTo>
                  <a:pt x="1481" y="170"/>
                </a:lnTo>
                <a:lnTo>
                  <a:pt x="1479" y="170"/>
                </a:lnTo>
                <a:lnTo>
                  <a:pt x="1477" y="170"/>
                </a:lnTo>
                <a:lnTo>
                  <a:pt x="1475" y="169"/>
                </a:lnTo>
                <a:lnTo>
                  <a:pt x="1474" y="169"/>
                </a:lnTo>
                <a:lnTo>
                  <a:pt x="1472" y="167"/>
                </a:lnTo>
                <a:lnTo>
                  <a:pt x="1471" y="166"/>
                </a:lnTo>
                <a:lnTo>
                  <a:pt x="1470" y="164"/>
                </a:lnTo>
                <a:lnTo>
                  <a:pt x="1470" y="163"/>
                </a:lnTo>
                <a:lnTo>
                  <a:pt x="1470" y="161"/>
                </a:lnTo>
                <a:lnTo>
                  <a:pt x="1470" y="159"/>
                </a:lnTo>
                <a:lnTo>
                  <a:pt x="1470" y="157"/>
                </a:lnTo>
                <a:lnTo>
                  <a:pt x="1471" y="156"/>
                </a:lnTo>
                <a:lnTo>
                  <a:pt x="1472" y="154"/>
                </a:lnTo>
                <a:lnTo>
                  <a:pt x="1474" y="153"/>
                </a:lnTo>
                <a:lnTo>
                  <a:pt x="1475" y="152"/>
                </a:lnTo>
                <a:lnTo>
                  <a:pt x="1477" y="152"/>
                </a:lnTo>
                <a:lnTo>
                  <a:pt x="1479" y="152"/>
                </a:lnTo>
                <a:close/>
                <a:moveTo>
                  <a:pt x="693" y="134"/>
                </a:moveTo>
                <a:lnTo>
                  <a:pt x="695" y="134"/>
                </a:lnTo>
                <a:lnTo>
                  <a:pt x="697" y="135"/>
                </a:lnTo>
                <a:lnTo>
                  <a:pt x="698" y="136"/>
                </a:lnTo>
                <a:lnTo>
                  <a:pt x="699" y="138"/>
                </a:lnTo>
                <a:lnTo>
                  <a:pt x="699" y="140"/>
                </a:lnTo>
                <a:lnTo>
                  <a:pt x="699" y="142"/>
                </a:lnTo>
                <a:lnTo>
                  <a:pt x="698" y="144"/>
                </a:lnTo>
                <a:lnTo>
                  <a:pt x="697" y="145"/>
                </a:lnTo>
                <a:lnTo>
                  <a:pt x="695" y="146"/>
                </a:lnTo>
                <a:lnTo>
                  <a:pt x="693" y="146"/>
                </a:lnTo>
                <a:lnTo>
                  <a:pt x="691" y="146"/>
                </a:lnTo>
                <a:lnTo>
                  <a:pt x="689" y="145"/>
                </a:lnTo>
                <a:lnTo>
                  <a:pt x="688" y="144"/>
                </a:lnTo>
                <a:lnTo>
                  <a:pt x="687" y="142"/>
                </a:lnTo>
                <a:lnTo>
                  <a:pt x="687" y="140"/>
                </a:lnTo>
                <a:lnTo>
                  <a:pt x="687" y="138"/>
                </a:lnTo>
                <a:lnTo>
                  <a:pt x="688" y="136"/>
                </a:lnTo>
                <a:lnTo>
                  <a:pt x="689" y="135"/>
                </a:lnTo>
                <a:lnTo>
                  <a:pt x="691" y="134"/>
                </a:lnTo>
                <a:lnTo>
                  <a:pt x="693" y="134"/>
                </a:lnTo>
                <a:close/>
                <a:moveTo>
                  <a:pt x="1358" y="132"/>
                </a:moveTo>
                <a:lnTo>
                  <a:pt x="1360" y="133"/>
                </a:lnTo>
                <a:lnTo>
                  <a:pt x="1362" y="133"/>
                </a:lnTo>
                <a:lnTo>
                  <a:pt x="1363" y="134"/>
                </a:lnTo>
                <a:lnTo>
                  <a:pt x="1365" y="135"/>
                </a:lnTo>
                <a:lnTo>
                  <a:pt x="1366" y="136"/>
                </a:lnTo>
                <a:lnTo>
                  <a:pt x="1367" y="137"/>
                </a:lnTo>
                <a:lnTo>
                  <a:pt x="1368" y="139"/>
                </a:lnTo>
                <a:lnTo>
                  <a:pt x="1368" y="141"/>
                </a:lnTo>
                <a:lnTo>
                  <a:pt x="1369" y="143"/>
                </a:lnTo>
                <a:lnTo>
                  <a:pt x="1368" y="145"/>
                </a:lnTo>
                <a:lnTo>
                  <a:pt x="1368" y="146"/>
                </a:lnTo>
                <a:lnTo>
                  <a:pt x="1367" y="148"/>
                </a:lnTo>
                <a:lnTo>
                  <a:pt x="1366" y="149"/>
                </a:lnTo>
                <a:lnTo>
                  <a:pt x="1365" y="151"/>
                </a:lnTo>
                <a:lnTo>
                  <a:pt x="1363" y="152"/>
                </a:lnTo>
                <a:lnTo>
                  <a:pt x="1362" y="152"/>
                </a:lnTo>
                <a:lnTo>
                  <a:pt x="1360" y="153"/>
                </a:lnTo>
                <a:lnTo>
                  <a:pt x="1358" y="153"/>
                </a:lnTo>
                <a:lnTo>
                  <a:pt x="1356" y="153"/>
                </a:lnTo>
                <a:lnTo>
                  <a:pt x="1354" y="152"/>
                </a:lnTo>
                <a:lnTo>
                  <a:pt x="1353" y="152"/>
                </a:lnTo>
                <a:lnTo>
                  <a:pt x="1351" y="151"/>
                </a:lnTo>
                <a:lnTo>
                  <a:pt x="1350" y="149"/>
                </a:lnTo>
                <a:lnTo>
                  <a:pt x="1349" y="148"/>
                </a:lnTo>
                <a:lnTo>
                  <a:pt x="1348" y="146"/>
                </a:lnTo>
                <a:lnTo>
                  <a:pt x="1348" y="145"/>
                </a:lnTo>
                <a:lnTo>
                  <a:pt x="1348" y="143"/>
                </a:lnTo>
                <a:lnTo>
                  <a:pt x="1348" y="141"/>
                </a:lnTo>
                <a:lnTo>
                  <a:pt x="1348" y="139"/>
                </a:lnTo>
                <a:lnTo>
                  <a:pt x="1349" y="137"/>
                </a:lnTo>
                <a:lnTo>
                  <a:pt x="1350" y="136"/>
                </a:lnTo>
                <a:lnTo>
                  <a:pt x="1351" y="135"/>
                </a:lnTo>
                <a:lnTo>
                  <a:pt x="1353" y="134"/>
                </a:lnTo>
                <a:lnTo>
                  <a:pt x="1354" y="133"/>
                </a:lnTo>
                <a:lnTo>
                  <a:pt x="1356" y="133"/>
                </a:lnTo>
                <a:lnTo>
                  <a:pt x="1358" y="132"/>
                </a:lnTo>
                <a:close/>
                <a:moveTo>
                  <a:pt x="565" y="132"/>
                </a:moveTo>
                <a:lnTo>
                  <a:pt x="567" y="132"/>
                </a:lnTo>
                <a:lnTo>
                  <a:pt x="568" y="132"/>
                </a:lnTo>
                <a:lnTo>
                  <a:pt x="570" y="133"/>
                </a:lnTo>
                <a:lnTo>
                  <a:pt x="571" y="134"/>
                </a:lnTo>
                <a:lnTo>
                  <a:pt x="573" y="135"/>
                </a:lnTo>
                <a:lnTo>
                  <a:pt x="574" y="136"/>
                </a:lnTo>
                <a:lnTo>
                  <a:pt x="575" y="138"/>
                </a:lnTo>
                <a:lnTo>
                  <a:pt x="575" y="139"/>
                </a:lnTo>
                <a:lnTo>
                  <a:pt x="576" y="141"/>
                </a:lnTo>
                <a:lnTo>
                  <a:pt x="576" y="143"/>
                </a:lnTo>
                <a:lnTo>
                  <a:pt x="576" y="145"/>
                </a:lnTo>
                <a:lnTo>
                  <a:pt x="575" y="146"/>
                </a:lnTo>
                <a:lnTo>
                  <a:pt x="575" y="148"/>
                </a:lnTo>
                <a:lnTo>
                  <a:pt x="574" y="149"/>
                </a:lnTo>
                <a:lnTo>
                  <a:pt x="573" y="151"/>
                </a:lnTo>
                <a:lnTo>
                  <a:pt x="571" y="152"/>
                </a:lnTo>
                <a:lnTo>
                  <a:pt x="570" y="153"/>
                </a:lnTo>
                <a:lnTo>
                  <a:pt x="568" y="153"/>
                </a:lnTo>
                <a:lnTo>
                  <a:pt x="567" y="154"/>
                </a:lnTo>
                <a:lnTo>
                  <a:pt x="565" y="154"/>
                </a:lnTo>
                <a:lnTo>
                  <a:pt x="563" y="154"/>
                </a:lnTo>
                <a:lnTo>
                  <a:pt x="561" y="153"/>
                </a:lnTo>
                <a:lnTo>
                  <a:pt x="560" y="153"/>
                </a:lnTo>
                <a:lnTo>
                  <a:pt x="558" y="152"/>
                </a:lnTo>
                <a:lnTo>
                  <a:pt x="557" y="151"/>
                </a:lnTo>
                <a:lnTo>
                  <a:pt x="556" y="149"/>
                </a:lnTo>
                <a:lnTo>
                  <a:pt x="555" y="148"/>
                </a:lnTo>
                <a:lnTo>
                  <a:pt x="554" y="146"/>
                </a:lnTo>
                <a:lnTo>
                  <a:pt x="554" y="145"/>
                </a:lnTo>
                <a:lnTo>
                  <a:pt x="554" y="143"/>
                </a:lnTo>
                <a:lnTo>
                  <a:pt x="554" y="141"/>
                </a:lnTo>
                <a:lnTo>
                  <a:pt x="554" y="139"/>
                </a:lnTo>
                <a:lnTo>
                  <a:pt x="555" y="138"/>
                </a:lnTo>
                <a:lnTo>
                  <a:pt x="556" y="136"/>
                </a:lnTo>
                <a:lnTo>
                  <a:pt x="557" y="135"/>
                </a:lnTo>
                <a:lnTo>
                  <a:pt x="558" y="134"/>
                </a:lnTo>
                <a:lnTo>
                  <a:pt x="560" y="133"/>
                </a:lnTo>
                <a:lnTo>
                  <a:pt x="561" y="132"/>
                </a:lnTo>
                <a:lnTo>
                  <a:pt x="563" y="132"/>
                </a:lnTo>
                <a:lnTo>
                  <a:pt x="565" y="132"/>
                </a:lnTo>
                <a:close/>
                <a:moveTo>
                  <a:pt x="1230" y="130"/>
                </a:moveTo>
                <a:lnTo>
                  <a:pt x="1232" y="130"/>
                </a:lnTo>
                <a:lnTo>
                  <a:pt x="1233" y="130"/>
                </a:lnTo>
                <a:lnTo>
                  <a:pt x="1235" y="131"/>
                </a:lnTo>
                <a:lnTo>
                  <a:pt x="1236" y="132"/>
                </a:lnTo>
                <a:lnTo>
                  <a:pt x="1238" y="133"/>
                </a:lnTo>
                <a:lnTo>
                  <a:pt x="1238" y="133"/>
                </a:lnTo>
                <a:lnTo>
                  <a:pt x="1231" y="131"/>
                </a:lnTo>
                <a:lnTo>
                  <a:pt x="1227" y="130"/>
                </a:lnTo>
                <a:lnTo>
                  <a:pt x="1228" y="130"/>
                </a:lnTo>
                <a:lnTo>
                  <a:pt x="1230" y="130"/>
                </a:lnTo>
                <a:close/>
                <a:moveTo>
                  <a:pt x="502" y="119"/>
                </a:moveTo>
                <a:lnTo>
                  <a:pt x="504" y="119"/>
                </a:lnTo>
                <a:lnTo>
                  <a:pt x="506" y="120"/>
                </a:lnTo>
                <a:lnTo>
                  <a:pt x="508" y="121"/>
                </a:lnTo>
                <a:lnTo>
                  <a:pt x="509" y="122"/>
                </a:lnTo>
                <a:lnTo>
                  <a:pt x="509" y="124"/>
                </a:lnTo>
                <a:lnTo>
                  <a:pt x="510" y="126"/>
                </a:lnTo>
                <a:lnTo>
                  <a:pt x="509" y="128"/>
                </a:lnTo>
                <a:lnTo>
                  <a:pt x="509" y="130"/>
                </a:lnTo>
                <a:lnTo>
                  <a:pt x="508" y="131"/>
                </a:lnTo>
                <a:lnTo>
                  <a:pt x="506" y="132"/>
                </a:lnTo>
                <a:lnTo>
                  <a:pt x="504" y="133"/>
                </a:lnTo>
                <a:lnTo>
                  <a:pt x="502" y="133"/>
                </a:lnTo>
                <a:lnTo>
                  <a:pt x="500" y="133"/>
                </a:lnTo>
                <a:lnTo>
                  <a:pt x="499" y="132"/>
                </a:lnTo>
                <a:lnTo>
                  <a:pt x="497" y="131"/>
                </a:lnTo>
                <a:lnTo>
                  <a:pt x="496" y="130"/>
                </a:lnTo>
                <a:lnTo>
                  <a:pt x="495" y="128"/>
                </a:lnTo>
                <a:lnTo>
                  <a:pt x="495" y="126"/>
                </a:lnTo>
                <a:lnTo>
                  <a:pt x="495" y="124"/>
                </a:lnTo>
                <a:lnTo>
                  <a:pt x="496" y="122"/>
                </a:lnTo>
                <a:lnTo>
                  <a:pt x="497" y="121"/>
                </a:lnTo>
                <a:lnTo>
                  <a:pt x="499" y="120"/>
                </a:lnTo>
                <a:lnTo>
                  <a:pt x="500" y="119"/>
                </a:lnTo>
                <a:lnTo>
                  <a:pt x="502" y="119"/>
                </a:lnTo>
                <a:close/>
                <a:moveTo>
                  <a:pt x="1420" y="117"/>
                </a:moveTo>
                <a:lnTo>
                  <a:pt x="1422" y="117"/>
                </a:lnTo>
                <a:lnTo>
                  <a:pt x="1424" y="117"/>
                </a:lnTo>
                <a:lnTo>
                  <a:pt x="1425" y="118"/>
                </a:lnTo>
                <a:lnTo>
                  <a:pt x="1427" y="119"/>
                </a:lnTo>
                <a:lnTo>
                  <a:pt x="1428" y="121"/>
                </a:lnTo>
                <a:lnTo>
                  <a:pt x="1429" y="122"/>
                </a:lnTo>
                <a:lnTo>
                  <a:pt x="1429" y="124"/>
                </a:lnTo>
                <a:lnTo>
                  <a:pt x="1430" y="126"/>
                </a:lnTo>
                <a:lnTo>
                  <a:pt x="1429" y="128"/>
                </a:lnTo>
                <a:lnTo>
                  <a:pt x="1429" y="130"/>
                </a:lnTo>
                <a:lnTo>
                  <a:pt x="1428" y="131"/>
                </a:lnTo>
                <a:lnTo>
                  <a:pt x="1427" y="132"/>
                </a:lnTo>
                <a:lnTo>
                  <a:pt x="1425" y="134"/>
                </a:lnTo>
                <a:lnTo>
                  <a:pt x="1424" y="134"/>
                </a:lnTo>
                <a:lnTo>
                  <a:pt x="1422" y="135"/>
                </a:lnTo>
                <a:lnTo>
                  <a:pt x="1420" y="135"/>
                </a:lnTo>
                <a:lnTo>
                  <a:pt x="1418" y="135"/>
                </a:lnTo>
                <a:lnTo>
                  <a:pt x="1417" y="134"/>
                </a:lnTo>
                <a:lnTo>
                  <a:pt x="1415" y="134"/>
                </a:lnTo>
                <a:lnTo>
                  <a:pt x="1414" y="132"/>
                </a:lnTo>
                <a:lnTo>
                  <a:pt x="1413" y="131"/>
                </a:lnTo>
                <a:lnTo>
                  <a:pt x="1412" y="130"/>
                </a:lnTo>
                <a:lnTo>
                  <a:pt x="1411" y="128"/>
                </a:lnTo>
                <a:lnTo>
                  <a:pt x="1411" y="126"/>
                </a:lnTo>
                <a:lnTo>
                  <a:pt x="1411" y="124"/>
                </a:lnTo>
                <a:lnTo>
                  <a:pt x="1412" y="122"/>
                </a:lnTo>
                <a:lnTo>
                  <a:pt x="1413" y="121"/>
                </a:lnTo>
                <a:lnTo>
                  <a:pt x="1414" y="119"/>
                </a:lnTo>
                <a:lnTo>
                  <a:pt x="1415" y="118"/>
                </a:lnTo>
                <a:lnTo>
                  <a:pt x="1417" y="117"/>
                </a:lnTo>
                <a:lnTo>
                  <a:pt x="1418" y="117"/>
                </a:lnTo>
                <a:lnTo>
                  <a:pt x="1420" y="117"/>
                </a:lnTo>
                <a:close/>
                <a:moveTo>
                  <a:pt x="759" y="115"/>
                </a:moveTo>
                <a:lnTo>
                  <a:pt x="760" y="115"/>
                </a:lnTo>
                <a:lnTo>
                  <a:pt x="762" y="116"/>
                </a:lnTo>
                <a:lnTo>
                  <a:pt x="764" y="117"/>
                </a:lnTo>
                <a:lnTo>
                  <a:pt x="765" y="118"/>
                </a:lnTo>
                <a:lnTo>
                  <a:pt x="765" y="120"/>
                </a:lnTo>
                <a:lnTo>
                  <a:pt x="766" y="122"/>
                </a:lnTo>
                <a:lnTo>
                  <a:pt x="765" y="124"/>
                </a:lnTo>
                <a:lnTo>
                  <a:pt x="765" y="125"/>
                </a:lnTo>
                <a:lnTo>
                  <a:pt x="764" y="126"/>
                </a:lnTo>
                <a:lnTo>
                  <a:pt x="757" y="128"/>
                </a:lnTo>
                <a:lnTo>
                  <a:pt x="755" y="128"/>
                </a:lnTo>
                <a:lnTo>
                  <a:pt x="754" y="127"/>
                </a:lnTo>
                <a:lnTo>
                  <a:pt x="753" y="125"/>
                </a:lnTo>
                <a:lnTo>
                  <a:pt x="752" y="124"/>
                </a:lnTo>
                <a:lnTo>
                  <a:pt x="752" y="122"/>
                </a:lnTo>
                <a:lnTo>
                  <a:pt x="752" y="120"/>
                </a:lnTo>
                <a:lnTo>
                  <a:pt x="753" y="118"/>
                </a:lnTo>
                <a:lnTo>
                  <a:pt x="754" y="117"/>
                </a:lnTo>
                <a:lnTo>
                  <a:pt x="755" y="116"/>
                </a:lnTo>
                <a:lnTo>
                  <a:pt x="757" y="115"/>
                </a:lnTo>
                <a:lnTo>
                  <a:pt x="759" y="115"/>
                </a:lnTo>
                <a:close/>
                <a:moveTo>
                  <a:pt x="1164" y="111"/>
                </a:moveTo>
                <a:lnTo>
                  <a:pt x="1166" y="112"/>
                </a:lnTo>
                <a:lnTo>
                  <a:pt x="1168" y="112"/>
                </a:lnTo>
                <a:lnTo>
                  <a:pt x="1169" y="113"/>
                </a:lnTo>
                <a:lnTo>
                  <a:pt x="1171" y="114"/>
                </a:lnTo>
                <a:lnTo>
                  <a:pt x="1172" y="115"/>
                </a:lnTo>
                <a:lnTo>
                  <a:pt x="1173" y="116"/>
                </a:lnTo>
                <a:lnTo>
                  <a:pt x="1173" y="117"/>
                </a:lnTo>
                <a:lnTo>
                  <a:pt x="1167" y="115"/>
                </a:lnTo>
                <a:lnTo>
                  <a:pt x="1158" y="113"/>
                </a:lnTo>
                <a:lnTo>
                  <a:pt x="1159" y="113"/>
                </a:lnTo>
                <a:lnTo>
                  <a:pt x="1161" y="112"/>
                </a:lnTo>
                <a:lnTo>
                  <a:pt x="1162" y="112"/>
                </a:lnTo>
                <a:lnTo>
                  <a:pt x="1164" y="111"/>
                </a:lnTo>
                <a:close/>
                <a:moveTo>
                  <a:pt x="1296" y="105"/>
                </a:moveTo>
                <a:lnTo>
                  <a:pt x="1297" y="105"/>
                </a:lnTo>
                <a:lnTo>
                  <a:pt x="1299" y="106"/>
                </a:lnTo>
                <a:lnTo>
                  <a:pt x="1301" y="106"/>
                </a:lnTo>
                <a:lnTo>
                  <a:pt x="1302" y="107"/>
                </a:lnTo>
                <a:lnTo>
                  <a:pt x="1304" y="109"/>
                </a:lnTo>
                <a:lnTo>
                  <a:pt x="1305" y="110"/>
                </a:lnTo>
                <a:lnTo>
                  <a:pt x="1305" y="112"/>
                </a:lnTo>
                <a:lnTo>
                  <a:pt x="1306" y="113"/>
                </a:lnTo>
                <a:lnTo>
                  <a:pt x="1306" y="115"/>
                </a:lnTo>
                <a:lnTo>
                  <a:pt x="1306" y="117"/>
                </a:lnTo>
                <a:lnTo>
                  <a:pt x="1305" y="119"/>
                </a:lnTo>
                <a:lnTo>
                  <a:pt x="1305" y="121"/>
                </a:lnTo>
                <a:lnTo>
                  <a:pt x="1304" y="122"/>
                </a:lnTo>
                <a:lnTo>
                  <a:pt x="1302" y="123"/>
                </a:lnTo>
                <a:lnTo>
                  <a:pt x="1301" y="124"/>
                </a:lnTo>
                <a:lnTo>
                  <a:pt x="1299" y="125"/>
                </a:lnTo>
                <a:lnTo>
                  <a:pt x="1297" y="126"/>
                </a:lnTo>
                <a:lnTo>
                  <a:pt x="1296" y="126"/>
                </a:lnTo>
                <a:lnTo>
                  <a:pt x="1294" y="126"/>
                </a:lnTo>
                <a:lnTo>
                  <a:pt x="1292" y="125"/>
                </a:lnTo>
                <a:lnTo>
                  <a:pt x="1290" y="124"/>
                </a:lnTo>
                <a:lnTo>
                  <a:pt x="1289" y="123"/>
                </a:lnTo>
                <a:lnTo>
                  <a:pt x="1288" y="122"/>
                </a:lnTo>
                <a:lnTo>
                  <a:pt x="1286" y="121"/>
                </a:lnTo>
                <a:lnTo>
                  <a:pt x="1286" y="119"/>
                </a:lnTo>
                <a:lnTo>
                  <a:pt x="1285" y="117"/>
                </a:lnTo>
                <a:lnTo>
                  <a:pt x="1285" y="115"/>
                </a:lnTo>
                <a:lnTo>
                  <a:pt x="1285" y="113"/>
                </a:lnTo>
                <a:lnTo>
                  <a:pt x="1286" y="112"/>
                </a:lnTo>
                <a:lnTo>
                  <a:pt x="1286" y="110"/>
                </a:lnTo>
                <a:lnTo>
                  <a:pt x="1288" y="109"/>
                </a:lnTo>
                <a:lnTo>
                  <a:pt x="1289" y="107"/>
                </a:lnTo>
                <a:lnTo>
                  <a:pt x="1290" y="106"/>
                </a:lnTo>
                <a:lnTo>
                  <a:pt x="1292" y="106"/>
                </a:lnTo>
                <a:lnTo>
                  <a:pt x="1294" y="105"/>
                </a:lnTo>
                <a:lnTo>
                  <a:pt x="1296" y="105"/>
                </a:lnTo>
                <a:close/>
                <a:moveTo>
                  <a:pt x="627" y="104"/>
                </a:moveTo>
                <a:lnTo>
                  <a:pt x="629" y="105"/>
                </a:lnTo>
                <a:lnTo>
                  <a:pt x="631" y="105"/>
                </a:lnTo>
                <a:lnTo>
                  <a:pt x="632" y="106"/>
                </a:lnTo>
                <a:lnTo>
                  <a:pt x="634" y="107"/>
                </a:lnTo>
                <a:lnTo>
                  <a:pt x="635" y="108"/>
                </a:lnTo>
                <a:lnTo>
                  <a:pt x="636" y="109"/>
                </a:lnTo>
                <a:lnTo>
                  <a:pt x="637" y="110"/>
                </a:lnTo>
                <a:lnTo>
                  <a:pt x="638" y="112"/>
                </a:lnTo>
                <a:lnTo>
                  <a:pt x="638" y="114"/>
                </a:lnTo>
                <a:lnTo>
                  <a:pt x="638" y="115"/>
                </a:lnTo>
                <a:lnTo>
                  <a:pt x="638" y="117"/>
                </a:lnTo>
                <a:lnTo>
                  <a:pt x="638" y="119"/>
                </a:lnTo>
                <a:lnTo>
                  <a:pt x="637" y="120"/>
                </a:lnTo>
                <a:lnTo>
                  <a:pt x="636" y="122"/>
                </a:lnTo>
                <a:lnTo>
                  <a:pt x="635" y="123"/>
                </a:lnTo>
                <a:lnTo>
                  <a:pt x="634" y="124"/>
                </a:lnTo>
                <a:lnTo>
                  <a:pt x="632" y="125"/>
                </a:lnTo>
                <a:lnTo>
                  <a:pt x="631" y="126"/>
                </a:lnTo>
                <a:lnTo>
                  <a:pt x="629" y="126"/>
                </a:lnTo>
                <a:lnTo>
                  <a:pt x="627" y="126"/>
                </a:lnTo>
                <a:lnTo>
                  <a:pt x="626" y="126"/>
                </a:lnTo>
                <a:lnTo>
                  <a:pt x="624" y="126"/>
                </a:lnTo>
                <a:lnTo>
                  <a:pt x="622" y="125"/>
                </a:lnTo>
                <a:lnTo>
                  <a:pt x="621" y="124"/>
                </a:lnTo>
                <a:lnTo>
                  <a:pt x="620" y="123"/>
                </a:lnTo>
                <a:lnTo>
                  <a:pt x="619" y="122"/>
                </a:lnTo>
                <a:lnTo>
                  <a:pt x="618" y="120"/>
                </a:lnTo>
                <a:lnTo>
                  <a:pt x="617" y="119"/>
                </a:lnTo>
                <a:lnTo>
                  <a:pt x="617" y="117"/>
                </a:lnTo>
                <a:lnTo>
                  <a:pt x="616" y="115"/>
                </a:lnTo>
                <a:lnTo>
                  <a:pt x="617" y="114"/>
                </a:lnTo>
                <a:lnTo>
                  <a:pt x="617" y="112"/>
                </a:lnTo>
                <a:lnTo>
                  <a:pt x="618" y="110"/>
                </a:lnTo>
                <a:lnTo>
                  <a:pt x="619" y="109"/>
                </a:lnTo>
                <a:lnTo>
                  <a:pt x="620" y="108"/>
                </a:lnTo>
                <a:lnTo>
                  <a:pt x="621" y="107"/>
                </a:lnTo>
                <a:lnTo>
                  <a:pt x="622" y="106"/>
                </a:lnTo>
                <a:lnTo>
                  <a:pt x="624" y="105"/>
                </a:lnTo>
                <a:lnTo>
                  <a:pt x="626" y="105"/>
                </a:lnTo>
                <a:lnTo>
                  <a:pt x="627" y="104"/>
                </a:lnTo>
                <a:close/>
                <a:moveTo>
                  <a:pt x="826" y="101"/>
                </a:moveTo>
                <a:lnTo>
                  <a:pt x="827" y="101"/>
                </a:lnTo>
                <a:lnTo>
                  <a:pt x="829" y="101"/>
                </a:lnTo>
                <a:lnTo>
                  <a:pt x="830" y="102"/>
                </a:lnTo>
                <a:lnTo>
                  <a:pt x="832" y="104"/>
                </a:lnTo>
                <a:lnTo>
                  <a:pt x="832" y="105"/>
                </a:lnTo>
                <a:lnTo>
                  <a:pt x="833" y="107"/>
                </a:lnTo>
                <a:lnTo>
                  <a:pt x="833" y="108"/>
                </a:lnTo>
                <a:lnTo>
                  <a:pt x="833" y="110"/>
                </a:lnTo>
                <a:lnTo>
                  <a:pt x="833" y="111"/>
                </a:lnTo>
                <a:lnTo>
                  <a:pt x="832" y="111"/>
                </a:lnTo>
                <a:lnTo>
                  <a:pt x="820" y="113"/>
                </a:lnTo>
                <a:lnTo>
                  <a:pt x="820" y="113"/>
                </a:lnTo>
                <a:lnTo>
                  <a:pt x="819" y="112"/>
                </a:lnTo>
                <a:lnTo>
                  <a:pt x="819" y="110"/>
                </a:lnTo>
                <a:lnTo>
                  <a:pt x="818" y="108"/>
                </a:lnTo>
                <a:lnTo>
                  <a:pt x="819" y="107"/>
                </a:lnTo>
                <a:lnTo>
                  <a:pt x="819" y="105"/>
                </a:lnTo>
                <a:lnTo>
                  <a:pt x="820" y="104"/>
                </a:lnTo>
                <a:lnTo>
                  <a:pt x="821" y="102"/>
                </a:lnTo>
                <a:lnTo>
                  <a:pt x="822" y="101"/>
                </a:lnTo>
                <a:lnTo>
                  <a:pt x="824" y="101"/>
                </a:lnTo>
                <a:lnTo>
                  <a:pt x="826" y="101"/>
                </a:lnTo>
                <a:close/>
                <a:moveTo>
                  <a:pt x="1097" y="99"/>
                </a:moveTo>
                <a:lnTo>
                  <a:pt x="1099" y="99"/>
                </a:lnTo>
                <a:lnTo>
                  <a:pt x="1101" y="99"/>
                </a:lnTo>
                <a:lnTo>
                  <a:pt x="1102" y="100"/>
                </a:lnTo>
                <a:lnTo>
                  <a:pt x="1104" y="101"/>
                </a:lnTo>
                <a:lnTo>
                  <a:pt x="1105" y="102"/>
                </a:lnTo>
                <a:lnTo>
                  <a:pt x="1106" y="104"/>
                </a:lnTo>
                <a:lnTo>
                  <a:pt x="1106" y="105"/>
                </a:lnTo>
                <a:lnTo>
                  <a:pt x="1102" y="104"/>
                </a:lnTo>
                <a:lnTo>
                  <a:pt x="1090" y="103"/>
                </a:lnTo>
                <a:lnTo>
                  <a:pt x="1090" y="102"/>
                </a:lnTo>
                <a:lnTo>
                  <a:pt x="1091" y="101"/>
                </a:lnTo>
                <a:lnTo>
                  <a:pt x="1093" y="100"/>
                </a:lnTo>
                <a:lnTo>
                  <a:pt x="1094" y="99"/>
                </a:lnTo>
                <a:lnTo>
                  <a:pt x="1096" y="99"/>
                </a:lnTo>
                <a:lnTo>
                  <a:pt x="1097" y="99"/>
                </a:lnTo>
                <a:close/>
                <a:moveTo>
                  <a:pt x="893" y="92"/>
                </a:moveTo>
                <a:lnTo>
                  <a:pt x="895" y="93"/>
                </a:lnTo>
                <a:lnTo>
                  <a:pt x="897" y="93"/>
                </a:lnTo>
                <a:lnTo>
                  <a:pt x="898" y="94"/>
                </a:lnTo>
                <a:lnTo>
                  <a:pt x="900" y="95"/>
                </a:lnTo>
                <a:lnTo>
                  <a:pt x="901" y="97"/>
                </a:lnTo>
                <a:lnTo>
                  <a:pt x="901" y="98"/>
                </a:lnTo>
                <a:lnTo>
                  <a:pt x="901" y="100"/>
                </a:lnTo>
                <a:lnTo>
                  <a:pt x="901" y="101"/>
                </a:lnTo>
                <a:lnTo>
                  <a:pt x="898" y="102"/>
                </a:lnTo>
                <a:lnTo>
                  <a:pt x="886" y="103"/>
                </a:lnTo>
                <a:lnTo>
                  <a:pt x="886" y="102"/>
                </a:lnTo>
                <a:lnTo>
                  <a:pt x="885" y="100"/>
                </a:lnTo>
                <a:lnTo>
                  <a:pt x="886" y="98"/>
                </a:lnTo>
                <a:lnTo>
                  <a:pt x="886" y="97"/>
                </a:lnTo>
                <a:lnTo>
                  <a:pt x="887" y="95"/>
                </a:lnTo>
                <a:lnTo>
                  <a:pt x="888" y="94"/>
                </a:lnTo>
                <a:lnTo>
                  <a:pt x="890" y="93"/>
                </a:lnTo>
                <a:lnTo>
                  <a:pt x="892" y="93"/>
                </a:lnTo>
                <a:lnTo>
                  <a:pt x="893" y="92"/>
                </a:lnTo>
                <a:close/>
                <a:moveTo>
                  <a:pt x="1030" y="91"/>
                </a:moveTo>
                <a:lnTo>
                  <a:pt x="1032" y="92"/>
                </a:lnTo>
                <a:lnTo>
                  <a:pt x="1033" y="92"/>
                </a:lnTo>
                <a:lnTo>
                  <a:pt x="1035" y="93"/>
                </a:lnTo>
                <a:lnTo>
                  <a:pt x="1036" y="94"/>
                </a:lnTo>
                <a:lnTo>
                  <a:pt x="1037" y="95"/>
                </a:lnTo>
                <a:lnTo>
                  <a:pt x="1038" y="97"/>
                </a:lnTo>
                <a:lnTo>
                  <a:pt x="1039" y="98"/>
                </a:lnTo>
                <a:lnTo>
                  <a:pt x="1035" y="98"/>
                </a:lnTo>
                <a:lnTo>
                  <a:pt x="1021" y="98"/>
                </a:lnTo>
                <a:lnTo>
                  <a:pt x="1021" y="97"/>
                </a:lnTo>
                <a:lnTo>
                  <a:pt x="1022" y="95"/>
                </a:lnTo>
                <a:lnTo>
                  <a:pt x="1023" y="94"/>
                </a:lnTo>
                <a:lnTo>
                  <a:pt x="1025" y="93"/>
                </a:lnTo>
                <a:lnTo>
                  <a:pt x="1026" y="92"/>
                </a:lnTo>
                <a:lnTo>
                  <a:pt x="1028" y="92"/>
                </a:lnTo>
                <a:lnTo>
                  <a:pt x="1030" y="91"/>
                </a:lnTo>
                <a:close/>
                <a:moveTo>
                  <a:pt x="961" y="89"/>
                </a:moveTo>
                <a:lnTo>
                  <a:pt x="963" y="89"/>
                </a:lnTo>
                <a:lnTo>
                  <a:pt x="965" y="90"/>
                </a:lnTo>
                <a:lnTo>
                  <a:pt x="966" y="91"/>
                </a:lnTo>
                <a:lnTo>
                  <a:pt x="967" y="92"/>
                </a:lnTo>
                <a:lnTo>
                  <a:pt x="968" y="93"/>
                </a:lnTo>
                <a:lnTo>
                  <a:pt x="969" y="94"/>
                </a:lnTo>
                <a:lnTo>
                  <a:pt x="970" y="96"/>
                </a:lnTo>
                <a:lnTo>
                  <a:pt x="970" y="97"/>
                </a:lnTo>
                <a:lnTo>
                  <a:pt x="966" y="97"/>
                </a:lnTo>
                <a:lnTo>
                  <a:pt x="953" y="98"/>
                </a:lnTo>
                <a:lnTo>
                  <a:pt x="953" y="98"/>
                </a:lnTo>
                <a:lnTo>
                  <a:pt x="953" y="96"/>
                </a:lnTo>
                <a:lnTo>
                  <a:pt x="954" y="94"/>
                </a:lnTo>
                <a:lnTo>
                  <a:pt x="955" y="93"/>
                </a:lnTo>
                <a:lnTo>
                  <a:pt x="956" y="92"/>
                </a:lnTo>
                <a:lnTo>
                  <a:pt x="957" y="91"/>
                </a:lnTo>
                <a:lnTo>
                  <a:pt x="958" y="90"/>
                </a:lnTo>
                <a:lnTo>
                  <a:pt x="960" y="89"/>
                </a:lnTo>
                <a:lnTo>
                  <a:pt x="961" y="89"/>
                </a:lnTo>
                <a:close/>
                <a:moveTo>
                  <a:pt x="564" y="88"/>
                </a:moveTo>
                <a:lnTo>
                  <a:pt x="565" y="88"/>
                </a:lnTo>
                <a:lnTo>
                  <a:pt x="567" y="88"/>
                </a:lnTo>
                <a:lnTo>
                  <a:pt x="568" y="89"/>
                </a:lnTo>
                <a:lnTo>
                  <a:pt x="570" y="91"/>
                </a:lnTo>
                <a:lnTo>
                  <a:pt x="570" y="92"/>
                </a:lnTo>
                <a:lnTo>
                  <a:pt x="571" y="94"/>
                </a:lnTo>
                <a:lnTo>
                  <a:pt x="571" y="95"/>
                </a:lnTo>
                <a:lnTo>
                  <a:pt x="571" y="97"/>
                </a:lnTo>
                <a:lnTo>
                  <a:pt x="570" y="99"/>
                </a:lnTo>
                <a:lnTo>
                  <a:pt x="570" y="100"/>
                </a:lnTo>
                <a:lnTo>
                  <a:pt x="568" y="101"/>
                </a:lnTo>
                <a:lnTo>
                  <a:pt x="567" y="102"/>
                </a:lnTo>
                <a:lnTo>
                  <a:pt x="565" y="103"/>
                </a:lnTo>
                <a:lnTo>
                  <a:pt x="564" y="103"/>
                </a:lnTo>
                <a:lnTo>
                  <a:pt x="562" y="103"/>
                </a:lnTo>
                <a:lnTo>
                  <a:pt x="560" y="102"/>
                </a:lnTo>
                <a:lnTo>
                  <a:pt x="559" y="101"/>
                </a:lnTo>
                <a:lnTo>
                  <a:pt x="558" y="100"/>
                </a:lnTo>
                <a:lnTo>
                  <a:pt x="557" y="99"/>
                </a:lnTo>
                <a:lnTo>
                  <a:pt x="556" y="97"/>
                </a:lnTo>
                <a:lnTo>
                  <a:pt x="556" y="95"/>
                </a:lnTo>
                <a:lnTo>
                  <a:pt x="556" y="94"/>
                </a:lnTo>
                <a:lnTo>
                  <a:pt x="557" y="92"/>
                </a:lnTo>
                <a:lnTo>
                  <a:pt x="558" y="91"/>
                </a:lnTo>
                <a:lnTo>
                  <a:pt x="559" y="89"/>
                </a:lnTo>
                <a:lnTo>
                  <a:pt x="560" y="88"/>
                </a:lnTo>
                <a:lnTo>
                  <a:pt x="562" y="88"/>
                </a:lnTo>
                <a:lnTo>
                  <a:pt x="564" y="88"/>
                </a:lnTo>
                <a:close/>
                <a:moveTo>
                  <a:pt x="1359" y="86"/>
                </a:moveTo>
                <a:lnTo>
                  <a:pt x="1361" y="86"/>
                </a:lnTo>
                <a:lnTo>
                  <a:pt x="1363" y="87"/>
                </a:lnTo>
                <a:lnTo>
                  <a:pt x="1364" y="87"/>
                </a:lnTo>
                <a:lnTo>
                  <a:pt x="1366" y="89"/>
                </a:lnTo>
                <a:lnTo>
                  <a:pt x="1367" y="90"/>
                </a:lnTo>
                <a:lnTo>
                  <a:pt x="1368" y="91"/>
                </a:lnTo>
                <a:lnTo>
                  <a:pt x="1368" y="93"/>
                </a:lnTo>
                <a:lnTo>
                  <a:pt x="1369" y="95"/>
                </a:lnTo>
                <a:lnTo>
                  <a:pt x="1368" y="97"/>
                </a:lnTo>
                <a:lnTo>
                  <a:pt x="1368" y="99"/>
                </a:lnTo>
                <a:lnTo>
                  <a:pt x="1367" y="100"/>
                </a:lnTo>
                <a:lnTo>
                  <a:pt x="1366" y="102"/>
                </a:lnTo>
                <a:lnTo>
                  <a:pt x="1364" y="103"/>
                </a:lnTo>
                <a:lnTo>
                  <a:pt x="1363" y="104"/>
                </a:lnTo>
                <a:lnTo>
                  <a:pt x="1361" y="104"/>
                </a:lnTo>
                <a:lnTo>
                  <a:pt x="1359" y="104"/>
                </a:lnTo>
                <a:lnTo>
                  <a:pt x="1357" y="104"/>
                </a:lnTo>
                <a:lnTo>
                  <a:pt x="1356" y="104"/>
                </a:lnTo>
                <a:lnTo>
                  <a:pt x="1354" y="103"/>
                </a:lnTo>
                <a:lnTo>
                  <a:pt x="1353" y="102"/>
                </a:lnTo>
                <a:lnTo>
                  <a:pt x="1351" y="100"/>
                </a:lnTo>
                <a:lnTo>
                  <a:pt x="1351" y="99"/>
                </a:lnTo>
                <a:lnTo>
                  <a:pt x="1350" y="97"/>
                </a:lnTo>
                <a:lnTo>
                  <a:pt x="1350" y="95"/>
                </a:lnTo>
                <a:lnTo>
                  <a:pt x="1350" y="93"/>
                </a:lnTo>
                <a:lnTo>
                  <a:pt x="1351" y="91"/>
                </a:lnTo>
                <a:lnTo>
                  <a:pt x="1351" y="90"/>
                </a:lnTo>
                <a:lnTo>
                  <a:pt x="1353" y="89"/>
                </a:lnTo>
                <a:lnTo>
                  <a:pt x="1354" y="87"/>
                </a:lnTo>
                <a:lnTo>
                  <a:pt x="1356" y="87"/>
                </a:lnTo>
                <a:lnTo>
                  <a:pt x="1357" y="86"/>
                </a:lnTo>
                <a:lnTo>
                  <a:pt x="1359" y="86"/>
                </a:lnTo>
                <a:close/>
                <a:moveTo>
                  <a:pt x="1231" y="82"/>
                </a:moveTo>
                <a:lnTo>
                  <a:pt x="1233" y="82"/>
                </a:lnTo>
                <a:lnTo>
                  <a:pt x="1234" y="83"/>
                </a:lnTo>
                <a:lnTo>
                  <a:pt x="1236" y="83"/>
                </a:lnTo>
                <a:lnTo>
                  <a:pt x="1237" y="84"/>
                </a:lnTo>
                <a:lnTo>
                  <a:pt x="1239" y="85"/>
                </a:lnTo>
                <a:lnTo>
                  <a:pt x="1240" y="86"/>
                </a:lnTo>
                <a:lnTo>
                  <a:pt x="1241" y="88"/>
                </a:lnTo>
                <a:lnTo>
                  <a:pt x="1241" y="89"/>
                </a:lnTo>
                <a:lnTo>
                  <a:pt x="1242" y="91"/>
                </a:lnTo>
                <a:lnTo>
                  <a:pt x="1242" y="93"/>
                </a:lnTo>
                <a:lnTo>
                  <a:pt x="1242" y="95"/>
                </a:lnTo>
                <a:lnTo>
                  <a:pt x="1241" y="96"/>
                </a:lnTo>
                <a:lnTo>
                  <a:pt x="1241" y="98"/>
                </a:lnTo>
                <a:lnTo>
                  <a:pt x="1240" y="99"/>
                </a:lnTo>
                <a:lnTo>
                  <a:pt x="1239" y="100"/>
                </a:lnTo>
                <a:lnTo>
                  <a:pt x="1237" y="101"/>
                </a:lnTo>
                <a:lnTo>
                  <a:pt x="1236" y="102"/>
                </a:lnTo>
                <a:lnTo>
                  <a:pt x="1234" y="103"/>
                </a:lnTo>
                <a:lnTo>
                  <a:pt x="1233" y="103"/>
                </a:lnTo>
                <a:lnTo>
                  <a:pt x="1231" y="103"/>
                </a:lnTo>
                <a:lnTo>
                  <a:pt x="1229" y="103"/>
                </a:lnTo>
                <a:lnTo>
                  <a:pt x="1228" y="103"/>
                </a:lnTo>
                <a:lnTo>
                  <a:pt x="1226" y="102"/>
                </a:lnTo>
                <a:lnTo>
                  <a:pt x="1225" y="101"/>
                </a:lnTo>
                <a:lnTo>
                  <a:pt x="1223" y="100"/>
                </a:lnTo>
                <a:lnTo>
                  <a:pt x="1222" y="99"/>
                </a:lnTo>
                <a:lnTo>
                  <a:pt x="1221" y="98"/>
                </a:lnTo>
                <a:lnTo>
                  <a:pt x="1221" y="96"/>
                </a:lnTo>
                <a:lnTo>
                  <a:pt x="1220" y="95"/>
                </a:lnTo>
                <a:lnTo>
                  <a:pt x="1220" y="93"/>
                </a:lnTo>
                <a:lnTo>
                  <a:pt x="1220" y="91"/>
                </a:lnTo>
                <a:lnTo>
                  <a:pt x="1221" y="89"/>
                </a:lnTo>
                <a:lnTo>
                  <a:pt x="1221" y="88"/>
                </a:lnTo>
                <a:lnTo>
                  <a:pt x="1222" y="86"/>
                </a:lnTo>
                <a:lnTo>
                  <a:pt x="1223" y="85"/>
                </a:lnTo>
                <a:lnTo>
                  <a:pt x="1225" y="84"/>
                </a:lnTo>
                <a:lnTo>
                  <a:pt x="1226" y="83"/>
                </a:lnTo>
                <a:lnTo>
                  <a:pt x="1228" y="83"/>
                </a:lnTo>
                <a:lnTo>
                  <a:pt x="1229" y="82"/>
                </a:lnTo>
                <a:lnTo>
                  <a:pt x="1231" y="82"/>
                </a:lnTo>
                <a:close/>
                <a:moveTo>
                  <a:pt x="692" y="82"/>
                </a:moveTo>
                <a:lnTo>
                  <a:pt x="694" y="82"/>
                </a:lnTo>
                <a:lnTo>
                  <a:pt x="696" y="83"/>
                </a:lnTo>
                <a:lnTo>
                  <a:pt x="697" y="83"/>
                </a:lnTo>
                <a:lnTo>
                  <a:pt x="699" y="84"/>
                </a:lnTo>
                <a:lnTo>
                  <a:pt x="700" y="85"/>
                </a:lnTo>
                <a:lnTo>
                  <a:pt x="701" y="87"/>
                </a:lnTo>
                <a:lnTo>
                  <a:pt x="702" y="88"/>
                </a:lnTo>
                <a:lnTo>
                  <a:pt x="703" y="90"/>
                </a:lnTo>
                <a:lnTo>
                  <a:pt x="703" y="91"/>
                </a:lnTo>
                <a:lnTo>
                  <a:pt x="703" y="93"/>
                </a:lnTo>
                <a:lnTo>
                  <a:pt x="703" y="95"/>
                </a:lnTo>
                <a:lnTo>
                  <a:pt x="703" y="96"/>
                </a:lnTo>
                <a:lnTo>
                  <a:pt x="702" y="98"/>
                </a:lnTo>
                <a:lnTo>
                  <a:pt x="701" y="99"/>
                </a:lnTo>
                <a:lnTo>
                  <a:pt x="700" y="101"/>
                </a:lnTo>
                <a:lnTo>
                  <a:pt x="699" y="102"/>
                </a:lnTo>
                <a:lnTo>
                  <a:pt x="697" y="103"/>
                </a:lnTo>
                <a:lnTo>
                  <a:pt x="696" y="103"/>
                </a:lnTo>
                <a:lnTo>
                  <a:pt x="694" y="104"/>
                </a:lnTo>
                <a:lnTo>
                  <a:pt x="692" y="104"/>
                </a:lnTo>
                <a:lnTo>
                  <a:pt x="690" y="104"/>
                </a:lnTo>
                <a:lnTo>
                  <a:pt x="689" y="103"/>
                </a:lnTo>
                <a:lnTo>
                  <a:pt x="687" y="103"/>
                </a:lnTo>
                <a:lnTo>
                  <a:pt x="686" y="102"/>
                </a:lnTo>
                <a:lnTo>
                  <a:pt x="684" y="101"/>
                </a:lnTo>
                <a:lnTo>
                  <a:pt x="683" y="99"/>
                </a:lnTo>
                <a:lnTo>
                  <a:pt x="682" y="98"/>
                </a:lnTo>
                <a:lnTo>
                  <a:pt x="682" y="96"/>
                </a:lnTo>
                <a:lnTo>
                  <a:pt x="681" y="95"/>
                </a:lnTo>
                <a:lnTo>
                  <a:pt x="681" y="93"/>
                </a:lnTo>
                <a:lnTo>
                  <a:pt x="681" y="91"/>
                </a:lnTo>
                <a:lnTo>
                  <a:pt x="682" y="90"/>
                </a:lnTo>
                <a:lnTo>
                  <a:pt x="682" y="88"/>
                </a:lnTo>
                <a:lnTo>
                  <a:pt x="683" y="87"/>
                </a:lnTo>
                <a:lnTo>
                  <a:pt x="684" y="85"/>
                </a:lnTo>
                <a:lnTo>
                  <a:pt x="686" y="84"/>
                </a:lnTo>
                <a:lnTo>
                  <a:pt x="687" y="83"/>
                </a:lnTo>
                <a:lnTo>
                  <a:pt x="689" y="83"/>
                </a:lnTo>
                <a:lnTo>
                  <a:pt x="690" y="82"/>
                </a:lnTo>
                <a:lnTo>
                  <a:pt x="692" y="82"/>
                </a:lnTo>
                <a:close/>
                <a:moveTo>
                  <a:pt x="1165" y="64"/>
                </a:moveTo>
                <a:lnTo>
                  <a:pt x="1167" y="64"/>
                </a:lnTo>
                <a:lnTo>
                  <a:pt x="1168" y="65"/>
                </a:lnTo>
                <a:lnTo>
                  <a:pt x="1170" y="66"/>
                </a:lnTo>
                <a:lnTo>
                  <a:pt x="1171" y="66"/>
                </a:lnTo>
                <a:lnTo>
                  <a:pt x="1172" y="67"/>
                </a:lnTo>
                <a:lnTo>
                  <a:pt x="1173" y="69"/>
                </a:lnTo>
                <a:lnTo>
                  <a:pt x="1174" y="70"/>
                </a:lnTo>
                <a:lnTo>
                  <a:pt x="1175" y="72"/>
                </a:lnTo>
                <a:lnTo>
                  <a:pt x="1175" y="73"/>
                </a:lnTo>
                <a:lnTo>
                  <a:pt x="1175" y="75"/>
                </a:lnTo>
                <a:lnTo>
                  <a:pt x="1175" y="77"/>
                </a:lnTo>
                <a:lnTo>
                  <a:pt x="1175" y="78"/>
                </a:lnTo>
                <a:lnTo>
                  <a:pt x="1174" y="80"/>
                </a:lnTo>
                <a:lnTo>
                  <a:pt x="1173" y="81"/>
                </a:lnTo>
                <a:lnTo>
                  <a:pt x="1172" y="83"/>
                </a:lnTo>
                <a:lnTo>
                  <a:pt x="1171" y="84"/>
                </a:lnTo>
                <a:lnTo>
                  <a:pt x="1170" y="85"/>
                </a:lnTo>
                <a:lnTo>
                  <a:pt x="1168" y="85"/>
                </a:lnTo>
                <a:lnTo>
                  <a:pt x="1167" y="86"/>
                </a:lnTo>
                <a:lnTo>
                  <a:pt x="1165" y="86"/>
                </a:lnTo>
                <a:lnTo>
                  <a:pt x="1163" y="86"/>
                </a:lnTo>
                <a:lnTo>
                  <a:pt x="1162" y="85"/>
                </a:lnTo>
                <a:lnTo>
                  <a:pt x="1160" y="85"/>
                </a:lnTo>
                <a:lnTo>
                  <a:pt x="1159" y="84"/>
                </a:lnTo>
                <a:lnTo>
                  <a:pt x="1158" y="83"/>
                </a:lnTo>
                <a:lnTo>
                  <a:pt x="1157" y="81"/>
                </a:lnTo>
                <a:lnTo>
                  <a:pt x="1156" y="80"/>
                </a:lnTo>
                <a:lnTo>
                  <a:pt x="1155" y="78"/>
                </a:lnTo>
                <a:lnTo>
                  <a:pt x="1155" y="77"/>
                </a:lnTo>
                <a:lnTo>
                  <a:pt x="1155" y="75"/>
                </a:lnTo>
                <a:lnTo>
                  <a:pt x="1155" y="73"/>
                </a:lnTo>
                <a:lnTo>
                  <a:pt x="1155" y="72"/>
                </a:lnTo>
                <a:lnTo>
                  <a:pt x="1156" y="70"/>
                </a:lnTo>
                <a:lnTo>
                  <a:pt x="1157" y="69"/>
                </a:lnTo>
                <a:lnTo>
                  <a:pt x="1158" y="67"/>
                </a:lnTo>
                <a:lnTo>
                  <a:pt x="1159" y="66"/>
                </a:lnTo>
                <a:lnTo>
                  <a:pt x="1160" y="66"/>
                </a:lnTo>
                <a:lnTo>
                  <a:pt x="1162" y="65"/>
                </a:lnTo>
                <a:lnTo>
                  <a:pt x="1163" y="64"/>
                </a:lnTo>
                <a:lnTo>
                  <a:pt x="1165" y="64"/>
                </a:lnTo>
                <a:close/>
                <a:moveTo>
                  <a:pt x="758" y="64"/>
                </a:moveTo>
                <a:lnTo>
                  <a:pt x="760" y="64"/>
                </a:lnTo>
                <a:lnTo>
                  <a:pt x="761" y="65"/>
                </a:lnTo>
                <a:lnTo>
                  <a:pt x="763" y="66"/>
                </a:lnTo>
                <a:lnTo>
                  <a:pt x="764" y="66"/>
                </a:lnTo>
                <a:lnTo>
                  <a:pt x="766" y="68"/>
                </a:lnTo>
                <a:lnTo>
                  <a:pt x="767" y="69"/>
                </a:lnTo>
                <a:lnTo>
                  <a:pt x="768" y="70"/>
                </a:lnTo>
                <a:lnTo>
                  <a:pt x="768" y="72"/>
                </a:lnTo>
                <a:lnTo>
                  <a:pt x="769" y="74"/>
                </a:lnTo>
                <a:lnTo>
                  <a:pt x="769" y="75"/>
                </a:lnTo>
                <a:lnTo>
                  <a:pt x="769" y="77"/>
                </a:lnTo>
                <a:lnTo>
                  <a:pt x="768" y="79"/>
                </a:lnTo>
                <a:lnTo>
                  <a:pt x="768" y="80"/>
                </a:lnTo>
                <a:lnTo>
                  <a:pt x="767" y="82"/>
                </a:lnTo>
                <a:lnTo>
                  <a:pt x="766" y="83"/>
                </a:lnTo>
                <a:lnTo>
                  <a:pt x="764" y="84"/>
                </a:lnTo>
                <a:lnTo>
                  <a:pt x="763" y="85"/>
                </a:lnTo>
                <a:lnTo>
                  <a:pt x="761" y="86"/>
                </a:lnTo>
                <a:lnTo>
                  <a:pt x="760" y="86"/>
                </a:lnTo>
                <a:lnTo>
                  <a:pt x="758" y="86"/>
                </a:lnTo>
                <a:lnTo>
                  <a:pt x="756" y="86"/>
                </a:lnTo>
                <a:lnTo>
                  <a:pt x="754" y="86"/>
                </a:lnTo>
                <a:lnTo>
                  <a:pt x="753" y="85"/>
                </a:lnTo>
                <a:lnTo>
                  <a:pt x="751" y="84"/>
                </a:lnTo>
                <a:lnTo>
                  <a:pt x="750" y="83"/>
                </a:lnTo>
                <a:lnTo>
                  <a:pt x="749" y="82"/>
                </a:lnTo>
                <a:lnTo>
                  <a:pt x="748" y="80"/>
                </a:lnTo>
                <a:lnTo>
                  <a:pt x="748" y="79"/>
                </a:lnTo>
                <a:lnTo>
                  <a:pt x="747" y="77"/>
                </a:lnTo>
                <a:lnTo>
                  <a:pt x="747" y="75"/>
                </a:lnTo>
                <a:lnTo>
                  <a:pt x="747" y="74"/>
                </a:lnTo>
                <a:lnTo>
                  <a:pt x="748" y="72"/>
                </a:lnTo>
                <a:lnTo>
                  <a:pt x="748" y="70"/>
                </a:lnTo>
                <a:lnTo>
                  <a:pt x="749" y="69"/>
                </a:lnTo>
                <a:lnTo>
                  <a:pt x="750" y="68"/>
                </a:lnTo>
                <a:lnTo>
                  <a:pt x="751" y="66"/>
                </a:lnTo>
                <a:lnTo>
                  <a:pt x="753" y="66"/>
                </a:lnTo>
                <a:lnTo>
                  <a:pt x="754" y="65"/>
                </a:lnTo>
                <a:lnTo>
                  <a:pt x="756" y="64"/>
                </a:lnTo>
                <a:lnTo>
                  <a:pt x="758" y="64"/>
                </a:lnTo>
                <a:close/>
                <a:moveTo>
                  <a:pt x="627" y="62"/>
                </a:moveTo>
                <a:lnTo>
                  <a:pt x="628" y="62"/>
                </a:lnTo>
                <a:lnTo>
                  <a:pt x="630" y="62"/>
                </a:lnTo>
                <a:lnTo>
                  <a:pt x="632" y="63"/>
                </a:lnTo>
                <a:lnTo>
                  <a:pt x="633" y="64"/>
                </a:lnTo>
                <a:lnTo>
                  <a:pt x="634" y="66"/>
                </a:lnTo>
                <a:lnTo>
                  <a:pt x="634" y="67"/>
                </a:lnTo>
                <a:lnTo>
                  <a:pt x="635" y="69"/>
                </a:lnTo>
                <a:lnTo>
                  <a:pt x="634" y="71"/>
                </a:lnTo>
                <a:lnTo>
                  <a:pt x="634" y="73"/>
                </a:lnTo>
                <a:lnTo>
                  <a:pt x="633" y="74"/>
                </a:lnTo>
                <a:lnTo>
                  <a:pt x="632" y="75"/>
                </a:lnTo>
                <a:lnTo>
                  <a:pt x="630" y="76"/>
                </a:lnTo>
                <a:lnTo>
                  <a:pt x="628" y="77"/>
                </a:lnTo>
                <a:lnTo>
                  <a:pt x="627" y="77"/>
                </a:lnTo>
                <a:lnTo>
                  <a:pt x="625" y="77"/>
                </a:lnTo>
                <a:lnTo>
                  <a:pt x="623" y="76"/>
                </a:lnTo>
                <a:lnTo>
                  <a:pt x="622" y="75"/>
                </a:lnTo>
                <a:lnTo>
                  <a:pt x="620" y="74"/>
                </a:lnTo>
                <a:lnTo>
                  <a:pt x="620" y="73"/>
                </a:lnTo>
                <a:lnTo>
                  <a:pt x="619" y="71"/>
                </a:lnTo>
                <a:lnTo>
                  <a:pt x="619" y="69"/>
                </a:lnTo>
                <a:lnTo>
                  <a:pt x="619" y="67"/>
                </a:lnTo>
                <a:lnTo>
                  <a:pt x="620" y="66"/>
                </a:lnTo>
                <a:lnTo>
                  <a:pt x="620" y="64"/>
                </a:lnTo>
                <a:lnTo>
                  <a:pt x="622" y="63"/>
                </a:lnTo>
                <a:lnTo>
                  <a:pt x="623" y="62"/>
                </a:lnTo>
                <a:lnTo>
                  <a:pt x="625" y="62"/>
                </a:lnTo>
                <a:lnTo>
                  <a:pt x="627" y="62"/>
                </a:lnTo>
                <a:close/>
                <a:moveTo>
                  <a:pt x="1296" y="60"/>
                </a:moveTo>
                <a:lnTo>
                  <a:pt x="1298" y="60"/>
                </a:lnTo>
                <a:lnTo>
                  <a:pt x="1300" y="60"/>
                </a:lnTo>
                <a:lnTo>
                  <a:pt x="1301" y="61"/>
                </a:lnTo>
                <a:lnTo>
                  <a:pt x="1303" y="62"/>
                </a:lnTo>
                <a:lnTo>
                  <a:pt x="1304" y="64"/>
                </a:lnTo>
                <a:lnTo>
                  <a:pt x="1305" y="65"/>
                </a:lnTo>
                <a:lnTo>
                  <a:pt x="1305" y="67"/>
                </a:lnTo>
                <a:lnTo>
                  <a:pt x="1306" y="69"/>
                </a:lnTo>
                <a:lnTo>
                  <a:pt x="1305" y="71"/>
                </a:lnTo>
                <a:lnTo>
                  <a:pt x="1305" y="73"/>
                </a:lnTo>
                <a:lnTo>
                  <a:pt x="1304" y="74"/>
                </a:lnTo>
                <a:lnTo>
                  <a:pt x="1303" y="76"/>
                </a:lnTo>
                <a:lnTo>
                  <a:pt x="1301" y="77"/>
                </a:lnTo>
                <a:lnTo>
                  <a:pt x="1300" y="78"/>
                </a:lnTo>
                <a:lnTo>
                  <a:pt x="1298" y="78"/>
                </a:lnTo>
                <a:lnTo>
                  <a:pt x="1296" y="78"/>
                </a:lnTo>
                <a:lnTo>
                  <a:pt x="1294" y="78"/>
                </a:lnTo>
                <a:lnTo>
                  <a:pt x="1293" y="78"/>
                </a:lnTo>
                <a:lnTo>
                  <a:pt x="1291" y="77"/>
                </a:lnTo>
                <a:lnTo>
                  <a:pt x="1290" y="76"/>
                </a:lnTo>
                <a:lnTo>
                  <a:pt x="1289" y="74"/>
                </a:lnTo>
                <a:lnTo>
                  <a:pt x="1288" y="73"/>
                </a:lnTo>
                <a:lnTo>
                  <a:pt x="1287" y="71"/>
                </a:lnTo>
                <a:lnTo>
                  <a:pt x="1287" y="69"/>
                </a:lnTo>
                <a:lnTo>
                  <a:pt x="1287" y="67"/>
                </a:lnTo>
                <a:lnTo>
                  <a:pt x="1288" y="65"/>
                </a:lnTo>
                <a:lnTo>
                  <a:pt x="1289" y="64"/>
                </a:lnTo>
                <a:lnTo>
                  <a:pt x="1290" y="62"/>
                </a:lnTo>
                <a:lnTo>
                  <a:pt x="1291" y="61"/>
                </a:lnTo>
                <a:lnTo>
                  <a:pt x="1293" y="60"/>
                </a:lnTo>
                <a:lnTo>
                  <a:pt x="1294" y="60"/>
                </a:lnTo>
                <a:lnTo>
                  <a:pt x="1296" y="60"/>
                </a:lnTo>
                <a:close/>
                <a:moveTo>
                  <a:pt x="1098" y="52"/>
                </a:moveTo>
                <a:lnTo>
                  <a:pt x="1100" y="52"/>
                </a:lnTo>
                <a:lnTo>
                  <a:pt x="1101" y="52"/>
                </a:lnTo>
                <a:lnTo>
                  <a:pt x="1103" y="53"/>
                </a:lnTo>
                <a:lnTo>
                  <a:pt x="1104" y="54"/>
                </a:lnTo>
                <a:lnTo>
                  <a:pt x="1105" y="55"/>
                </a:lnTo>
                <a:lnTo>
                  <a:pt x="1106" y="56"/>
                </a:lnTo>
                <a:lnTo>
                  <a:pt x="1107" y="58"/>
                </a:lnTo>
                <a:lnTo>
                  <a:pt x="1108" y="59"/>
                </a:lnTo>
                <a:lnTo>
                  <a:pt x="1108" y="61"/>
                </a:lnTo>
                <a:lnTo>
                  <a:pt x="1108" y="62"/>
                </a:lnTo>
                <a:lnTo>
                  <a:pt x="1108" y="64"/>
                </a:lnTo>
                <a:lnTo>
                  <a:pt x="1108" y="66"/>
                </a:lnTo>
                <a:lnTo>
                  <a:pt x="1107" y="67"/>
                </a:lnTo>
                <a:lnTo>
                  <a:pt x="1106" y="69"/>
                </a:lnTo>
                <a:lnTo>
                  <a:pt x="1105" y="70"/>
                </a:lnTo>
                <a:lnTo>
                  <a:pt x="1104" y="71"/>
                </a:lnTo>
                <a:lnTo>
                  <a:pt x="1103" y="72"/>
                </a:lnTo>
                <a:lnTo>
                  <a:pt x="1101" y="73"/>
                </a:lnTo>
                <a:lnTo>
                  <a:pt x="1100" y="73"/>
                </a:lnTo>
                <a:lnTo>
                  <a:pt x="1098" y="73"/>
                </a:lnTo>
                <a:lnTo>
                  <a:pt x="1096" y="73"/>
                </a:lnTo>
                <a:lnTo>
                  <a:pt x="1095" y="73"/>
                </a:lnTo>
                <a:lnTo>
                  <a:pt x="1093" y="72"/>
                </a:lnTo>
                <a:lnTo>
                  <a:pt x="1092" y="71"/>
                </a:lnTo>
                <a:lnTo>
                  <a:pt x="1090" y="70"/>
                </a:lnTo>
                <a:lnTo>
                  <a:pt x="1089" y="69"/>
                </a:lnTo>
                <a:lnTo>
                  <a:pt x="1089" y="67"/>
                </a:lnTo>
                <a:lnTo>
                  <a:pt x="1088" y="66"/>
                </a:lnTo>
                <a:lnTo>
                  <a:pt x="1087" y="64"/>
                </a:lnTo>
                <a:lnTo>
                  <a:pt x="1087" y="62"/>
                </a:lnTo>
                <a:lnTo>
                  <a:pt x="1087" y="61"/>
                </a:lnTo>
                <a:lnTo>
                  <a:pt x="1088" y="59"/>
                </a:lnTo>
                <a:lnTo>
                  <a:pt x="1089" y="58"/>
                </a:lnTo>
                <a:lnTo>
                  <a:pt x="1089" y="56"/>
                </a:lnTo>
                <a:lnTo>
                  <a:pt x="1090" y="55"/>
                </a:lnTo>
                <a:lnTo>
                  <a:pt x="1092" y="54"/>
                </a:lnTo>
                <a:lnTo>
                  <a:pt x="1093" y="53"/>
                </a:lnTo>
                <a:lnTo>
                  <a:pt x="1095" y="52"/>
                </a:lnTo>
                <a:lnTo>
                  <a:pt x="1096" y="52"/>
                </a:lnTo>
                <a:lnTo>
                  <a:pt x="1098" y="52"/>
                </a:lnTo>
                <a:close/>
                <a:moveTo>
                  <a:pt x="825" y="52"/>
                </a:moveTo>
                <a:lnTo>
                  <a:pt x="827" y="52"/>
                </a:lnTo>
                <a:lnTo>
                  <a:pt x="829" y="52"/>
                </a:lnTo>
                <a:lnTo>
                  <a:pt x="830" y="53"/>
                </a:lnTo>
                <a:lnTo>
                  <a:pt x="832" y="54"/>
                </a:lnTo>
                <a:lnTo>
                  <a:pt x="833" y="55"/>
                </a:lnTo>
                <a:lnTo>
                  <a:pt x="834" y="56"/>
                </a:lnTo>
                <a:lnTo>
                  <a:pt x="835" y="58"/>
                </a:lnTo>
                <a:lnTo>
                  <a:pt x="835" y="59"/>
                </a:lnTo>
                <a:lnTo>
                  <a:pt x="836" y="61"/>
                </a:lnTo>
                <a:lnTo>
                  <a:pt x="836" y="62"/>
                </a:lnTo>
                <a:lnTo>
                  <a:pt x="836" y="64"/>
                </a:lnTo>
                <a:lnTo>
                  <a:pt x="835" y="66"/>
                </a:lnTo>
                <a:lnTo>
                  <a:pt x="835" y="67"/>
                </a:lnTo>
                <a:lnTo>
                  <a:pt x="834" y="69"/>
                </a:lnTo>
                <a:lnTo>
                  <a:pt x="833" y="70"/>
                </a:lnTo>
                <a:lnTo>
                  <a:pt x="832" y="71"/>
                </a:lnTo>
                <a:lnTo>
                  <a:pt x="830" y="72"/>
                </a:lnTo>
                <a:lnTo>
                  <a:pt x="829" y="73"/>
                </a:lnTo>
                <a:lnTo>
                  <a:pt x="827" y="73"/>
                </a:lnTo>
                <a:lnTo>
                  <a:pt x="825" y="73"/>
                </a:lnTo>
                <a:lnTo>
                  <a:pt x="823" y="73"/>
                </a:lnTo>
                <a:lnTo>
                  <a:pt x="822" y="73"/>
                </a:lnTo>
                <a:lnTo>
                  <a:pt x="820" y="72"/>
                </a:lnTo>
                <a:lnTo>
                  <a:pt x="819" y="71"/>
                </a:lnTo>
                <a:lnTo>
                  <a:pt x="817" y="70"/>
                </a:lnTo>
                <a:lnTo>
                  <a:pt x="816" y="69"/>
                </a:lnTo>
                <a:lnTo>
                  <a:pt x="815" y="67"/>
                </a:lnTo>
                <a:lnTo>
                  <a:pt x="815" y="66"/>
                </a:lnTo>
                <a:lnTo>
                  <a:pt x="814" y="64"/>
                </a:lnTo>
                <a:lnTo>
                  <a:pt x="814" y="62"/>
                </a:lnTo>
                <a:lnTo>
                  <a:pt x="814" y="61"/>
                </a:lnTo>
                <a:lnTo>
                  <a:pt x="815" y="59"/>
                </a:lnTo>
                <a:lnTo>
                  <a:pt x="815" y="58"/>
                </a:lnTo>
                <a:lnTo>
                  <a:pt x="816" y="56"/>
                </a:lnTo>
                <a:lnTo>
                  <a:pt x="817" y="55"/>
                </a:lnTo>
                <a:lnTo>
                  <a:pt x="819" y="54"/>
                </a:lnTo>
                <a:lnTo>
                  <a:pt x="820" y="53"/>
                </a:lnTo>
                <a:lnTo>
                  <a:pt x="822" y="52"/>
                </a:lnTo>
                <a:lnTo>
                  <a:pt x="823" y="52"/>
                </a:lnTo>
                <a:lnTo>
                  <a:pt x="825" y="52"/>
                </a:lnTo>
                <a:close/>
                <a:moveTo>
                  <a:pt x="1030" y="44"/>
                </a:moveTo>
                <a:lnTo>
                  <a:pt x="1032" y="44"/>
                </a:lnTo>
                <a:lnTo>
                  <a:pt x="1033" y="45"/>
                </a:lnTo>
                <a:lnTo>
                  <a:pt x="1035" y="45"/>
                </a:lnTo>
                <a:lnTo>
                  <a:pt x="1036" y="46"/>
                </a:lnTo>
                <a:lnTo>
                  <a:pt x="1038" y="47"/>
                </a:lnTo>
                <a:lnTo>
                  <a:pt x="1039" y="49"/>
                </a:lnTo>
                <a:lnTo>
                  <a:pt x="1040" y="50"/>
                </a:lnTo>
                <a:lnTo>
                  <a:pt x="1040" y="51"/>
                </a:lnTo>
                <a:lnTo>
                  <a:pt x="1041" y="53"/>
                </a:lnTo>
                <a:lnTo>
                  <a:pt x="1041" y="55"/>
                </a:lnTo>
                <a:lnTo>
                  <a:pt x="1041" y="56"/>
                </a:lnTo>
                <a:lnTo>
                  <a:pt x="1040" y="58"/>
                </a:lnTo>
                <a:lnTo>
                  <a:pt x="1040" y="60"/>
                </a:lnTo>
                <a:lnTo>
                  <a:pt x="1039" y="61"/>
                </a:lnTo>
                <a:lnTo>
                  <a:pt x="1038" y="62"/>
                </a:lnTo>
                <a:lnTo>
                  <a:pt x="1036" y="63"/>
                </a:lnTo>
                <a:lnTo>
                  <a:pt x="1035" y="64"/>
                </a:lnTo>
                <a:lnTo>
                  <a:pt x="1033" y="65"/>
                </a:lnTo>
                <a:lnTo>
                  <a:pt x="1032" y="65"/>
                </a:lnTo>
                <a:lnTo>
                  <a:pt x="1030" y="65"/>
                </a:lnTo>
                <a:lnTo>
                  <a:pt x="1028" y="65"/>
                </a:lnTo>
                <a:lnTo>
                  <a:pt x="1026" y="65"/>
                </a:lnTo>
                <a:lnTo>
                  <a:pt x="1025" y="64"/>
                </a:lnTo>
                <a:lnTo>
                  <a:pt x="1023" y="63"/>
                </a:lnTo>
                <a:lnTo>
                  <a:pt x="1022" y="62"/>
                </a:lnTo>
                <a:lnTo>
                  <a:pt x="1021" y="61"/>
                </a:lnTo>
                <a:lnTo>
                  <a:pt x="1020" y="60"/>
                </a:lnTo>
                <a:lnTo>
                  <a:pt x="1019" y="58"/>
                </a:lnTo>
                <a:lnTo>
                  <a:pt x="1019" y="56"/>
                </a:lnTo>
                <a:lnTo>
                  <a:pt x="1019" y="55"/>
                </a:lnTo>
                <a:lnTo>
                  <a:pt x="1019" y="53"/>
                </a:lnTo>
                <a:lnTo>
                  <a:pt x="1019" y="51"/>
                </a:lnTo>
                <a:lnTo>
                  <a:pt x="1020" y="50"/>
                </a:lnTo>
                <a:lnTo>
                  <a:pt x="1021" y="49"/>
                </a:lnTo>
                <a:lnTo>
                  <a:pt x="1022" y="47"/>
                </a:lnTo>
                <a:lnTo>
                  <a:pt x="1023" y="46"/>
                </a:lnTo>
                <a:lnTo>
                  <a:pt x="1025" y="45"/>
                </a:lnTo>
                <a:lnTo>
                  <a:pt x="1026" y="45"/>
                </a:lnTo>
                <a:lnTo>
                  <a:pt x="1028" y="44"/>
                </a:lnTo>
                <a:lnTo>
                  <a:pt x="1030" y="44"/>
                </a:lnTo>
                <a:close/>
                <a:moveTo>
                  <a:pt x="893" y="44"/>
                </a:moveTo>
                <a:lnTo>
                  <a:pt x="895" y="44"/>
                </a:lnTo>
                <a:lnTo>
                  <a:pt x="897" y="44"/>
                </a:lnTo>
                <a:lnTo>
                  <a:pt x="898" y="45"/>
                </a:lnTo>
                <a:lnTo>
                  <a:pt x="900" y="46"/>
                </a:lnTo>
                <a:lnTo>
                  <a:pt x="901" y="47"/>
                </a:lnTo>
                <a:lnTo>
                  <a:pt x="902" y="48"/>
                </a:lnTo>
                <a:lnTo>
                  <a:pt x="903" y="50"/>
                </a:lnTo>
                <a:lnTo>
                  <a:pt x="904" y="51"/>
                </a:lnTo>
                <a:lnTo>
                  <a:pt x="904" y="53"/>
                </a:lnTo>
                <a:lnTo>
                  <a:pt x="904" y="55"/>
                </a:lnTo>
                <a:lnTo>
                  <a:pt x="904" y="57"/>
                </a:lnTo>
                <a:lnTo>
                  <a:pt x="904" y="58"/>
                </a:lnTo>
                <a:lnTo>
                  <a:pt x="903" y="60"/>
                </a:lnTo>
                <a:lnTo>
                  <a:pt x="902" y="61"/>
                </a:lnTo>
                <a:lnTo>
                  <a:pt x="901" y="63"/>
                </a:lnTo>
                <a:lnTo>
                  <a:pt x="900" y="64"/>
                </a:lnTo>
                <a:lnTo>
                  <a:pt x="898" y="65"/>
                </a:lnTo>
                <a:lnTo>
                  <a:pt x="897" y="65"/>
                </a:lnTo>
                <a:lnTo>
                  <a:pt x="895" y="66"/>
                </a:lnTo>
                <a:lnTo>
                  <a:pt x="893" y="66"/>
                </a:lnTo>
                <a:lnTo>
                  <a:pt x="891" y="66"/>
                </a:lnTo>
                <a:lnTo>
                  <a:pt x="890" y="65"/>
                </a:lnTo>
                <a:lnTo>
                  <a:pt x="888" y="65"/>
                </a:lnTo>
                <a:lnTo>
                  <a:pt x="887" y="64"/>
                </a:lnTo>
                <a:lnTo>
                  <a:pt x="885" y="63"/>
                </a:lnTo>
                <a:lnTo>
                  <a:pt x="884" y="61"/>
                </a:lnTo>
                <a:lnTo>
                  <a:pt x="883" y="60"/>
                </a:lnTo>
                <a:lnTo>
                  <a:pt x="883" y="58"/>
                </a:lnTo>
                <a:lnTo>
                  <a:pt x="882" y="57"/>
                </a:lnTo>
                <a:lnTo>
                  <a:pt x="882" y="55"/>
                </a:lnTo>
                <a:lnTo>
                  <a:pt x="882" y="53"/>
                </a:lnTo>
                <a:lnTo>
                  <a:pt x="883" y="51"/>
                </a:lnTo>
                <a:lnTo>
                  <a:pt x="883" y="50"/>
                </a:lnTo>
                <a:lnTo>
                  <a:pt x="884" y="48"/>
                </a:lnTo>
                <a:lnTo>
                  <a:pt x="885" y="47"/>
                </a:lnTo>
                <a:lnTo>
                  <a:pt x="887" y="46"/>
                </a:lnTo>
                <a:lnTo>
                  <a:pt x="888" y="45"/>
                </a:lnTo>
                <a:lnTo>
                  <a:pt x="890" y="44"/>
                </a:lnTo>
                <a:lnTo>
                  <a:pt x="891" y="44"/>
                </a:lnTo>
                <a:lnTo>
                  <a:pt x="893" y="44"/>
                </a:lnTo>
                <a:close/>
                <a:moveTo>
                  <a:pt x="961" y="41"/>
                </a:moveTo>
                <a:lnTo>
                  <a:pt x="963" y="42"/>
                </a:lnTo>
                <a:lnTo>
                  <a:pt x="965" y="42"/>
                </a:lnTo>
                <a:lnTo>
                  <a:pt x="966" y="43"/>
                </a:lnTo>
                <a:lnTo>
                  <a:pt x="968" y="44"/>
                </a:lnTo>
                <a:lnTo>
                  <a:pt x="969" y="45"/>
                </a:lnTo>
                <a:lnTo>
                  <a:pt x="970" y="46"/>
                </a:lnTo>
                <a:lnTo>
                  <a:pt x="971" y="47"/>
                </a:lnTo>
                <a:lnTo>
                  <a:pt x="972" y="49"/>
                </a:lnTo>
                <a:lnTo>
                  <a:pt x="972" y="50"/>
                </a:lnTo>
                <a:lnTo>
                  <a:pt x="972" y="52"/>
                </a:lnTo>
                <a:lnTo>
                  <a:pt x="972" y="54"/>
                </a:lnTo>
                <a:lnTo>
                  <a:pt x="972" y="56"/>
                </a:lnTo>
                <a:lnTo>
                  <a:pt x="971" y="57"/>
                </a:lnTo>
                <a:lnTo>
                  <a:pt x="970" y="59"/>
                </a:lnTo>
                <a:lnTo>
                  <a:pt x="969" y="60"/>
                </a:lnTo>
                <a:lnTo>
                  <a:pt x="968" y="61"/>
                </a:lnTo>
                <a:lnTo>
                  <a:pt x="966" y="62"/>
                </a:lnTo>
                <a:lnTo>
                  <a:pt x="965" y="62"/>
                </a:lnTo>
                <a:lnTo>
                  <a:pt x="963" y="63"/>
                </a:lnTo>
                <a:lnTo>
                  <a:pt x="961" y="63"/>
                </a:lnTo>
                <a:lnTo>
                  <a:pt x="960" y="63"/>
                </a:lnTo>
                <a:lnTo>
                  <a:pt x="958" y="62"/>
                </a:lnTo>
                <a:lnTo>
                  <a:pt x="957" y="62"/>
                </a:lnTo>
                <a:lnTo>
                  <a:pt x="955" y="61"/>
                </a:lnTo>
                <a:lnTo>
                  <a:pt x="954" y="60"/>
                </a:lnTo>
                <a:lnTo>
                  <a:pt x="953" y="59"/>
                </a:lnTo>
                <a:lnTo>
                  <a:pt x="952" y="57"/>
                </a:lnTo>
                <a:lnTo>
                  <a:pt x="951" y="56"/>
                </a:lnTo>
                <a:lnTo>
                  <a:pt x="951" y="54"/>
                </a:lnTo>
                <a:lnTo>
                  <a:pt x="951" y="52"/>
                </a:lnTo>
                <a:lnTo>
                  <a:pt x="951" y="50"/>
                </a:lnTo>
                <a:lnTo>
                  <a:pt x="951" y="49"/>
                </a:lnTo>
                <a:lnTo>
                  <a:pt x="952" y="47"/>
                </a:lnTo>
                <a:lnTo>
                  <a:pt x="953" y="46"/>
                </a:lnTo>
                <a:lnTo>
                  <a:pt x="954" y="45"/>
                </a:lnTo>
                <a:lnTo>
                  <a:pt x="955" y="44"/>
                </a:lnTo>
                <a:lnTo>
                  <a:pt x="957" y="43"/>
                </a:lnTo>
                <a:lnTo>
                  <a:pt x="958" y="42"/>
                </a:lnTo>
                <a:lnTo>
                  <a:pt x="960" y="42"/>
                </a:lnTo>
                <a:lnTo>
                  <a:pt x="961" y="41"/>
                </a:lnTo>
                <a:close/>
                <a:moveTo>
                  <a:pt x="691" y="40"/>
                </a:moveTo>
                <a:lnTo>
                  <a:pt x="693" y="40"/>
                </a:lnTo>
                <a:lnTo>
                  <a:pt x="695" y="40"/>
                </a:lnTo>
                <a:lnTo>
                  <a:pt x="696" y="41"/>
                </a:lnTo>
                <a:lnTo>
                  <a:pt x="698" y="43"/>
                </a:lnTo>
                <a:lnTo>
                  <a:pt x="699" y="44"/>
                </a:lnTo>
                <a:lnTo>
                  <a:pt x="699" y="46"/>
                </a:lnTo>
                <a:lnTo>
                  <a:pt x="699" y="48"/>
                </a:lnTo>
                <a:lnTo>
                  <a:pt x="699" y="49"/>
                </a:lnTo>
                <a:lnTo>
                  <a:pt x="699" y="51"/>
                </a:lnTo>
                <a:lnTo>
                  <a:pt x="698" y="53"/>
                </a:lnTo>
                <a:lnTo>
                  <a:pt x="696" y="54"/>
                </a:lnTo>
                <a:lnTo>
                  <a:pt x="695" y="55"/>
                </a:lnTo>
                <a:lnTo>
                  <a:pt x="693" y="55"/>
                </a:lnTo>
                <a:lnTo>
                  <a:pt x="691" y="55"/>
                </a:lnTo>
                <a:lnTo>
                  <a:pt x="690" y="55"/>
                </a:lnTo>
                <a:lnTo>
                  <a:pt x="688" y="55"/>
                </a:lnTo>
                <a:lnTo>
                  <a:pt x="687" y="54"/>
                </a:lnTo>
                <a:lnTo>
                  <a:pt x="685" y="53"/>
                </a:lnTo>
                <a:lnTo>
                  <a:pt x="684" y="51"/>
                </a:lnTo>
                <a:lnTo>
                  <a:pt x="684" y="49"/>
                </a:lnTo>
                <a:lnTo>
                  <a:pt x="684" y="48"/>
                </a:lnTo>
                <a:lnTo>
                  <a:pt x="684" y="46"/>
                </a:lnTo>
                <a:lnTo>
                  <a:pt x="684" y="44"/>
                </a:lnTo>
                <a:lnTo>
                  <a:pt x="685" y="43"/>
                </a:lnTo>
                <a:lnTo>
                  <a:pt x="687" y="41"/>
                </a:lnTo>
                <a:lnTo>
                  <a:pt x="688" y="40"/>
                </a:lnTo>
                <a:lnTo>
                  <a:pt x="690" y="40"/>
                </a:lnTo>
                <a:lnTo>
                  <a:pt x="691" y="40"/>
                </a:lnTo>
                <a:close/>
                <a:moveTo>
                  <a:pt x="1231" y="38"/>
                </a:moveTo>
                <a:lnTo>
                  <a:pt x="1233" y="38"/>
                </a:lnTo>
                <a:lnTo>
                  <a:pt x="1235" y="39"/>
                </a:lnTo>
                <a:lnTo>
                  <a:pt x="1237" y="40"/>
                </a:lnTo>
                <a:lnTo>
                  <a:pt x="1238" y="41"/>
                </a:lnTo>
                <a:lnTo>
                  <a:pt x="1239" y="42"/>
                </a:lnTo>
                <a:lnTo>
                  <a:pt x="1240" y="44"/>
                </a:lnTo>
                <a:lnTo>
                  <a:pt x="1241" y="45"/>
                </a:lnTo>
                <a:lnTo>
                  <a:pt x="1241" y="47"/>
                </a:lnTo>
                <a:lnTo>
                  <a:pt x="1241" y="49"/>
                </a:lnTo>
                <a:lnTo>
                  <a:pt x="1240" y="51"/>
                </a:lnTo>
                <a:lnTo>
                  <a:pt x="1239" y="52"/>
                </a:lnTo>
                <a:lnTo>
                  <a:pt x="1238" y="54"/>
                </a:lnTo>
                <a:lnTo>
                  <a:pt x="1237" y="55"/>
                </a:lnTo>
                <a:lnTo>
                  <a:pt x="1235" y="56"/>
                </a:lnTo>
                <a:lnTo>
                  <a:pt x="1233" y="56"/>
                </a:lnTo>
                <a:lnTo>
                  <a:pt x="1231" y="56"/>
                </a:lnTo>
                <a:lnTo>
                  <a:pt x="1230" y="56"/>
                </a:lnTo>
                <a:lnTo>
                  <a:pt x="1228" y="56"/>
                </a:lnTo>
                <a:lnTo>
                  <a:pt x="1226" y="55"/>
                </a:lnTo>
                <a:lnTo>
                  <a:pt x="1225" y="54"/>
                </a:lnTo>
                <a:lnTo>
                  <a:pt x="1224" y="52"/>
                </a:lnTo>
                <a:lnTo>
                  <a:pt x="1223" y="51"/>
                </a:lnTo>
                <a:lnTo>
                  <a:pt x="1222" y="49"/>
                </a:lnTo>
                <a:lnTo>
                  <a:pt x="1222" y="47"/>
                </a:lnTo>
                <a:lnTo>
                  <a:pt x="1222" y="45"/>
                </a:lnTo>
                <a:lnTo>
                  <a:pt x="1223" y="44"/>
                </a:lnTo>
                <a:lnTo>
                  <a:pt x="1224" y="42"/>
                </a:lnTo>
                <a:lnTo>
                  <a:pt x="1225" y="41"/>
                </a:lnTo>
                <a:lnTo>
                  <a:pt x="1226" y="40"/>
                </a:lnTo>
                <a:lnTo>
                  <a:pt x="1228" y="39"/>
                </a:lnTo>
                <a:lnTo>
                  <a:pt x="1230" y="38"/>
                </a:lnTo>
                <a:lnTo>
                  <a:pt x="1231" y="38"/>
                </a:lnTo>
                <a:close/>
                <a:moveTo>
                  <a:pt x="758" y="22"/>
                </a:moveTo>
                <a:lnTo>
                  <a:pt x="760" y="23"/>
                </a:lnTo>
                <a:lnTo>
                  <a:pt x="761" y="23"/>
                </a:lnTo>
                <a:lnTo>
                  <a:pt x="763" y="24"/>
                </a:lnTo>
                <a:lnTo>
                  <a:pt x="764" y="25"/>
                </a:lnTo>
                <a:lnTo>
                  <a:pt x="765" y="27"/>
                </a:lnTo>
                <a:lnTo>
                  <a:pt x="765" y="29"/>
                </a:lnTo>
                <a:lnTo>
                  <a:pt x="766" y="31"/>
                </a:lnTo>
                <a:lnTo>
                  <a:pt x="765" y="32"/>
                </a:lnTo>
                <a:lnTo>
                  <a:pt x="765" y="34"/>
                </a:lnTo>
                <a:lnTo>
                  <a:pt x="764" y="36"/>
                </a:lnTo>
                <a:lnTo>
                  <a:pt x="763" y="37"/>
                </a:lnTo>
                <a:lnTo>
                  <a:pt x="761" y="38"/>
                </a:lnTo>
                <a:lnTo>
                  <a:pt x="760" y="38"/>
                </a:lnTo>
                <a:lnTo>
                  <a:pt x="758" y="39"/>
                </a:lnTo>
                <a:lnTo>
                  <a:pt x="756" y="38"/>
                </a:lnTo>
                <a:lnTo>
                  <a:pt x="754" y="38"/>
                </a:lnTo>
                <a:lnTo>
                  <a:pt x="753" y="37"/>
                </a:lnTo>
                <a:lnTo>
                  <a:pt x="752" y="36"/>
                </a:lnTo>
                <a:lnTo>
                  <a:pt x="751" y="34"/>
                </a:lnTo>
                <a:lnTo>
                  <a:pt x="750" y="32"/>
                </a:lnTo>
                <a:lnTo>
                  <a:pt x="750" y="31"/>
                </a:lnTo>
                <a:lnTo>
                  <a:pt x="750" y="29"/>
                </a:lnTo>
                <a:lnTo>
                  <a:pt x="751" y="27"/>
                </a:lnTo>
                <a:lnTo>
                  <a:pt x="752" y="25"/>
                </a:lnTo>
                <a:lnTo>
                  <a:pt x="753" y="24"/>
                </a:lnTo>
                <a:lnTo>
                  <a:pt x="754" y="23"/>
                </a:lnTo>
                <a:lnTo>
                  <a:pt x="756" y="23"/>
                </a:lnTo>
                <a:lnTo>
                  <a:pt x="758" y="22"/>
                </a:lnTo>
                <a:close/>
                <a:moveTo>
                  <a:pt x="1165" y="21"/>
                </a:moveTo>
                <a:lnTo>
                  <a:pt x="1167" y="22"/>
                </a:lnTo>
                <a:lnTo>
                  <a:pt x="1169" y="22"/>
                </a:lnTo>
                <a:lnTo>
                  <a:pt x="1170" y="23"/>
                </a:lnTo>
                <a:lnTo>
                  <a:pt x="1171" y="24"/>
                </a:lnTo>
                <a:lnTo>
                  <a:pt x="1173" y="25"/>
                </a:lnTo>
                <a:lnTo>
                  <a:pt x="1173" y="27"/>
                </a:lnTo>
                <a:lnTo>
                  <a:pt x="1174" y="29"/>
                </a:lnTo>
                <a:lnTo>
                  <a:pt x="1174" y="31"/>
                </a:lnTo>
                <a:lnTo>
                  <a:pt x="1174" y="32"/>
                </a:lnTo>
                <a:lnTo>
                  <a:pt x="1173" y="34"/>
                </a:lnTo>
                <a:lnTo>
                  <a:pt x="1173" y="36"/>
                </a:lnTo>
                <a:lnTo>
                  <a:pt x="1171" y="37"/>
                </a:lnTo>
                <a:lnTo>
                  <a:pt x="1170" y="38"/>
                </a:lnTo>
                <a:lnTo>
                  <a:pt x="1169" y="39"/>
                </a:lnTo>
                <a:lnTo>
                  <a:pt x="1167" y="39"/>
                </a:lnTo>
                <a:lnTo>
                  <a:pt x="1165" y="40"/>
                </a:lnTo>
                <a:lnTo>
                  <a:pt x="1163" y="39"/>
                </a:lnTo>
                <a:lnTo>
                  <a:pt x="1161" y="39"/>
                </a:lnTo>
                <a:lnTo>
                  <a:pt x="1160" y="38"/>
                </a:lnTo>
                <a:lnTo>
                  <a:pt x="1159" y="37"/>
                </a:lnTo>
                <a:lnTo>
                  <a:pt x="1157" y="36"/>
                </a:lnTo>
                <a:lnTo>
                  <a:pt x="1157" y="34"/>
                </a:lnTo>
                <a:lnTo>
                  <a:pt x="1156" y="32"/>
                </a:lnTo>
                <a:lnTo>
                  <a:pt x="1156" y="31"/>
                </a:lnTo>
                <a:lnTo>
                  <a:pt x="1156" y="29"/>
                </a:lnTo>
                <a:lnTo>
                  <a:pt x="1157" y="27"/>
                </a:lnTo>
                <a:lnTo>
                  <a:pt x="1157" y="25"/>
                </a:lnTo>
                <a:lnTo>
                  <a:pt x="1159" y="24"/>
                </a:lnTo>
                <a:lnTo>
                  <a:pt x="1160" y="23"/>
                </a:lnTo>
                <a:lnTo>
                  <a:pt x="1161" y="22"/>
                </a:lnTo>
                <a:lnTo>
                  <a:pt x="1163" y="22"/>
                </a:lnTo>
                <a:lnTo>
                  <a:pt x="1165" y="21"/>
                </a:lnTo>
                <a:close/>
                <a:moveTo>
                  <a:pt x="825" y="10"/>
                </a:moveTo>
                <a:lnTo>
                  <a:pt x="827" y="10"/>
                </a:lnTo>
                <a:lnTo>
                  <a:pt x="829" y="11"/>
                </a:lnTo>
                <a:lnTo>
                  <a:pt x="830" y="12"/>
                </a:lnTo>
                <a:lnTo>
                  <a:pt x="831" y="13"/>
                </a:lnTo>
                <a:lnTo>
                  <a:pt x="832" y="15"/>
                </a:lnTo>
                <a:lnTo>
                  <a:pt x="833" y="17"/>
                </a:lnTo>
                <a:lnTo>
                  <a:pt x="833" y="18"/>
                </a:lnTo>
                <a:lnTo>
                  <a:pt x="833" y="20"/>
                </a:lnTo>
                <a:lnTo>
                  <a:pt x="832" y="22"/>
                </a:lnTo>
                <a:lnTo>
                  <a:pt x="831" y="24"/>
                </a:lnTo>
                <a:lnTo>
                  <a:pt x="830" y="25"/>
                </a:lnTo>
                <a:lnTo>
                  <a:pt x="829" y="26"/>
                </a:lnTo>
                <a:lnTo>
                  <a:pt x="827" y="26"/>
                </a:lnTo>
                <a:lnTo>
                  <a:pt x="825" y="27"/>
                </a:lnTo>
                <a:lnTo>
                  <a:pt x="823" y="26"/>
                </a:lnTo>
                <a:lnTo>
                  <a:pt x="821" y="26"/>
                </a:lnTo>
                <a:lnTo>
                  <a:pt x="820" y="25"/>
                </a:lnTo>
                <a:lnTo>
                  <a:pt x="819" y="24"/>
                </a:lnTo>
                <a:lnTo>
                  <a:pt x="818" y="22"/>
                </a:lnTo>
                <a:lnTo>
                  <a:pt x="817" y="20"/>
                </a:lnTo>
                <a:lnTo>
                  <a:pt x="817" y="18"/>
                </a:lnTo>
                <a:lnTo>
                  <a:pt x="817" y="17"/>
                </a:lnTo>
                <a:lnTo>
                  <a:pt x="818" y="15"/>
                </a:lnTo>
                <a:lnTo>
                  <a:pt x="819" y="13"/>
                </a:lnTo>
                <a:lnTo>
                  <a:pt x="820" y="12"/>
                </a:lnTo>
                <a:lnTo>
                  <a:pt x="821" y="11"/>
                </a:lnTo>
                <a:lnTo>
                  <a:pt x="823" y="10"/>
                </a:lnTo>
                <a:lnTo>
                  <a:pt x="825" y="10"/>
                </a:lnTo>
                <a:close/>
                <a:moveTo>
                  <a:pt x="1098" y="9"/>
                </a:moveTo>
                <a:lnTo>
                  <a:pt x="1099" y="10"/>
                </a:lnTo>
                <a:lnTo>
                  <a:pt x="1101" y="10"/>
                </a:lnTo>
                <a:lnTo>
                  <a:pt x="1103" y="11"/>
                </a:lnTo>
                <a:lnTo>
                  <a:pt x="1104" y="12"/>
                </a:lnTo>
                <a:lnTo>
                  <a:pt x="1105" y="13"/>
                </a:lnTo>
                <a:lnTo>
                  <a:pt x="1106" y="15"/>
                </a:lnTo>
                <a:lnTo>
                  <a:pt x="1106" y="17"/>
                </a:lnTo>
                <a:lnTo>
                  <a:pt x="1106" y="18"/>
                </a:lnTo>
                <a:lnTo>
                  <a:pt x="1106" y="20"/>
                </a:lnTo>
                <a:lnTo>
                  <a:pt x="1106" y="22"/>
                </a:lnTo>
                <a:lnTo>
                  <a:pt x="1105" y="23"/>
                </a:lnTo>
                <a:lnTo>
                  <a:pt x="1104" y="25"/>
                </a:lnTo>
                <a:lnTo>
                  <a:pt x="1103" y="26"/>
                </a:lnTo>
                <a:lnTo>
                  <a:pt x="1101" y="27"/>
                </a:lnTo>
                <a:lnTo>
                  <a:pt x="1099" y="27"/>
                </a:lnTo>
                <a:lnTo>
                  <a:pt x="1098" y="28"/>
                </a:lnTo>
                <a:lnTo>
                  <a:pt x="1096" y="27"/>
                </a:lnTo>
                <a:lnTo>
                  <a:pt x="1094" y="27"/>
                </a:lnTo>
                <a:lnTo>
                  <a:pt x="1093" y="26"/>
                </a:lnTo>
                <a:lnTo>
                  <a:pt x="1091" y="25"/>
                </a:lnTo>
                <a:lnTo>
                  <a:pt x="1090" y="23"/>
                </a:lnTo>
                <a:lnTo>
                  <a:pt x="1089" y="22"/>
                </a:lnTo>
                <a:lnTo>
                  <a:pt x="1089" y="20"/>
                </a:lnTo>
                <a:lnTo>
                  <a:pt x="1089" y="18"/>
                </a:lnTo>
                <a:lnTo>
                  <a:pt x="1089" y="17"/>
                </a:lnTo>
                <a:lnTo>
                  <a:pt x="1089" y="15"/>
                </a:lnTo>
                <a:lnTo>
                  <a:pt x="1090" y="13"/>
                </a:lnTo>
                <a:lnTo>
                  <a:pt x="1091" y="12"/>
                </a:lnTo>
                <a:lnTo>
                  <a:pt x="1093" y="11"/>
                </a:lnTo>
                <a:lnTo>
                  <a:pt x="1094" y="10"/>
                </a:lnTo>
                <a:lnTo>
                  <a:pt x="1096" y="10"/>
                </a:lnTo>
                <a:lnTo>
                  <a:pt x="1098" y="9"/>
                </a:lnTo>
                <a:close/>
                <a:moveTo>
                  <a:pt x="893" y="3"/>
                </a:moveTo>
                <a:lnTo>
                  <a:pt x="895" y="3"/>
                </a:lnTo>
                <a:lnTo>
                  <a:pt x="897" y="3"/>
                </a:lnTo>
                <a:lnTo>
                  <a:pt x="898" y="4"/>
                </a:lnTo>
                <a:lnTo>
                  <a:pt x="899" y="5"/>
                </a:lnTo>
                <a:lnTo>
                  <a:pt x="900" y="6"/>
                </a:lnTo>
                <a:lnTo>
                  <a:pt x="901" y="8"/>
                </a:lnTo>
                <a:lnTo>
                  <a:pt x="902" y="9"/>
                </a:lnTo>
                <a:lnTo>
                  <a:pt x="902" y="11"/>
                </a:lnTo>
                <a:lnTo>
                  <a:pt x="902" y="13"/>
                </a:lnTo>
                <a:lnTo>
                  <a:pt x="901" y="14"/>
                </a:lnTo>
                <a:lnTo>
                  <a:pt x="900" y="16"/>
                </a:lnTo>
                <a:lnTo>
                  <a:pt x="899" y="17"/>
                </a:lnTo>
                <a:lnTo>
                  <a:pt x="898" y="18"/>
                </a:lnTo>
                <a:lnTo>
                  <a:pt x="897" y="19"/>
                </a:lnTo>
                <a:lnTo>
                  <a:pt x="895" y="19"/>
                </a:lnTo>
                <a:lnTo>
                  <a:pt x="893" y="20"/>
                </a:lnTo>
                <a:lnTo>
                  <a:pt x="891" y="19"/>
                </a:lnTo>
                <a:lnTo>
                  <a:pt x="890" y="19"/>
                </a:lnTo>
                <a:lnTo>
                  <a:pt x="888" y="18"/>
                </a:lnTo>
                <a:lnTo>
                  <a:pt x="887" y="17"/>
                </a:lnTo>
                <a:lnTo>
                  <a:pt x="886" y="16"/>
                </a:lnTo>
                <a:lnTo>
                  <a:pt x="885" y="14"/>
                </a:lnTo>
                <a:lnTo>
                  <a:pt x="885" y="13"/>
                </a:lnTo>
                <a:lnTo>
                  <a:pt x="885" y="11"/>
                </a:lnTo>
                <a:lnTo>
                  <a:pt x="885" y="9"/>
                </a:lnTo>
                <a:lnTo>
                  <a:pt x="885" y="8"/>
                </a:lnTo>
                <a:lnTo>
                  <a:pt x="886" y="6"/>
                </a:lnTo>
                <a:lnTo>
                  <a:pt x="887" y="5"/>
                </a:lnTo>
                <a:lnTo>
                  <a:pt x="888" y="4"/>
                </a:lnTo>
                <a:lnTo>
                  <a:pt x="890" y="3"/>
                </a:lnTo>
                <a:lnTo>
                  <a:pt x="891" y="3"/>
                </a:lnTo>
                <a:lnTo>
                  <a:pt x="893" y="3"/>
                </a:lnTo>
                <a:close/>
                <a:moveTo>
                  <a:pt x="1030" y="2"/>
                </a:moveTo>
                <a:lnTo>
                  <a:pt x="1032" y="3"/>
                </a:lnTo>
                <a:lnTo>
                  <a:pt x="1033" y="3"/>
                </a:lnTo>
                <a:lnTo>
                  <a:pt x="1035" y="4"/>
                </a:lnTo>
                <a:lnTo>
                  <a:pt x="1036" y="5"/>
                </a:lnTo>
                <a:lnTo>
                  <a:pt x="1037" y="6"/>
                </a:lnTo>
                <a:lnTo>
                  <a:pt x="1038" y="8"/>
                </a:lnTo>
                <a:lnTo>
                  <a:pt x="1038" y="9"/>
                </a:lnTo>
                <a:lnTo>
                  <a:pt x="1038" y="11"/>
                </a:lnTo>
                <a:lnTo>
                  <a:pt x="1038" y="13"/>
                </a:lnTo>
                <a:lnTo>
                  <a:pt x="1038" y="15"/>
                </a:lnTo>
                <a:lnTo>
                  <a:pt x="1037" y="16"/>
                </a:lnTo>
                <a:lnTo>
                  <a:pt x="1036" y="17"/>
                </a:lnTo>
                <a:lnTo>
                  <a:pt x="1035" y="19"/>
                </a:lnTo>
                <a:lnTo>
                  <a:pt x="1033" y="19"/>
                </a:lnTo>
                <a:lnTo>
                  <a:pt x="1032" y="20"/>
                </a:lnTo>
                <a:lnTo>
                  <a:pt x="1030" y="20"/>
                </a:lnTo>
                <a:lnTo>
                  <a:pt x="1028" y="20"/>
                </a:lnTo>
                <a:lnTo>
                  <a:pt x="1026" y="19"/>
                </a:lnTo>
                <a:lnTo>
                  <a:pt x="1025" y="19"/>
                </a:lnTo>
                <a:lnTo>
                  <a:pt x="1024" y="17"/>
                </a:lnTo>
                <a:lnTo>
                  <a:pt x="1023" y="16"/>
                </a:lnTo>
                <a:lnTo>
                  <a:pt x="1022" y="15"/>
                </a:lnTo>
                <a:lnTo>
                  <a:pt x="1021" y="13"/>
                </a:lnTo>
                <a:lnTo>
                  <a:pt x="1021" y="11"/>
                </a:lnTo>
                <a:lnTo>
                  <a:pt x="1021" y="9"/>
                </a:lnTo>
                <a:lnTo>
                  <a:pt x="1022" y="8"/>
                </a:lnTo>
                <a:lnTo>
                  <a:pt x="1023" y="6"/>
                </a:lnTo>
                <a:lnTo>
                  <a:pt x="1024" y="5"/>
                </a:lnTo>
                <a:lnTo>
                  <a:pt x="1025" y="4"/>
                </a:lnTo>
                <a:lnTo>
                  <a:pt x="1026" y="3"/>
                </a:lnTo>
                <a:lnTo>
                  <a:pt x="1028" y="3"/>
                </a:lnTo>
                <a:lnTo>
                  <a:pt x="1030" y="2"/>
                </a:lnTo>
                <a:close/>
                <a:moveTo>
                  <a:pt x="961" y="0"/>
                </a:moveTo>
                <a:lnTo>
                  <a:pt x="963" y="0"/>
                </a:lnTo>
                <a:lnTo>
                  <a:pt x="965" y="1"/>
                </a:lnTo>
                <a:lnTo>
                  <a:pt x="966" y="1"/>
                </a:lnTo>
                <a:lnTo>
                  <a:pt x="967" y="3"/>
                </a:lnTo>
                <a:lnTo>
                  <a:pt x="968" y="4"/>
                </a:lnTo>
                <a:lnTo>
                  <a:pt x="969" y="5"/>
                </a:lnTo>
                <a:lnTo>
                  <a:pt x="970" y="7"/>
                </a:lnTo>
                <a:lnTo>
                  <a:pt x="970" y="9"/>
                </a:lnTo>
                <a:lnTo>
                  <a:pt x="970" y="10"/>
                </a:lnTo>
                <a:lnTo>
                  <a:pt x="969" y="12"/>
                </a:lnTo>
                <a:lnTo>
                  <a:pt x="968" y="13"/>
                </a:lnTo>
                <a:lnTo>
                  <a:pt x="967" y="15"/>
                </a:lnTo>
                <a:lnTo>
                  <a:pt x="966" y="16"/>
                </a:lnTo>
                <a:lnTo>
                  <a:pt x="965" y="17"/>
                </a:lnTo>
                <a:lnTo>
                  <a:pt x="963" y="17"/>
                </a:lnTo>
                <a:lnTo>
                  <a:pt x="961" y="17"/>
                </a:lnTo>
                <a:lnTo>
                  <a:pt x="959" y="17"/>
                </a:lnTo>
                <a:lnTo>
                  <a:pt x="958" y="17"/>
                </a:lnTo>
                <a:lnTo>
                  <a:pt x="956" y="16"/>
                </a:lnTo>
                <a:lnTo>
                  <a:pt x="955" y="15"/>
                </a:lnTo>
                <a:lnTo>
                  <a:pt x="954" y="13"/>
                </a:lnTo>
                <a:lnTo>
                  <a:pt x="953" y="12"/>
                </a:lnTo>
                <a:lnTo>
                  <a:pt x="953" y="10"/>
                </a:lnTo>
                <a:lnTo>
                  <a:pt x="953" y="9"/>
                </a:lnTo>
                <a:lnTo>
                  <a:pt x="953" y="7"/>
                </a:lnTo>
                <a:lnTo>
                  <a:pt x="953" y="5"/>
                </a:lnTo>
                <a:lnTo>
                  <a:pt x="954" y="4"/>
                </a:lnTo>
                <a:lnTo>
                  <a:pt x="955" y="3"/>
                </a:lnTo>
                <a:lnTo>
                  <a:pt x="956" y="1"/>
                </a:lnTo>
                <a:lnTo>
                  <a:pt x="958" y="1"/>
                </a:lnTo>
                <a:lnTo>
                  <a:pt x="959" y="0"/>
                </a:lnTo>
                <a:lnTo>
                  <a:pt x="961" y="0"/>
                </a:lnTo>
                <a:close/>
              </a:path>
            </a:pathLst>
          </a:custGeom>
          <a:solidFill>
            <a:schemeClr val="accent5"/>
          </a:soli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90" name="矩形: 圆角 32"/>
          <p:cNvSpPr/>
          <p:nvPr/>
        </p:nvSpPr>
        <p:spPr>
          <a:xfrm>
            <a:off x="5502910" y="2453640"/>
            <a:ext cx="1106805" cy="1106805"/>
          </a:xfrm>
          <a:prstGeom prst="roundRect">
            <a:avLst>
              <a:gd name="adj" fmla="val 50000"/>
            </a:avLst>
          </a:prstGeom>
          <a:solidFill>
            <a:schemeClr val="bg1">
              <a:alpha val="70000"/>
            </a:schemeClr>
          </a:solidFill>
          <a:ln w="63500">
            <a:noFill/>
          </a:ln>
          <a:effectLst>
            <a:outerShdw blurRad="254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2400" b="1" dirty="0">
              <a:solidFill>
                <a:srgbClr val="FFFF00"/>
              </a:solidFill>
              <a:latin typeface="微软雅黑" panose="020B0503020204020204" charset="-122"/>
              <a:ea typeface="微软雅黑" panose="020B0503020204020204" charset="-122"/>
              <a:cs typeface="微软雅黑" panose="020B0503020204020204" charset="-122"/>
            </a:endParaRPr>
          </a:p>
        </p:txBody>
      </p:sp>
      <p:grpSp>
        <p:nvGrpSpPr>
          <p:cNvPr id="591" name="组合 590"/>
          <p:cNvGrpSpPr/>
          <p:nvPr/>
        </p:nvGrpSpPr>
        <p:grpSpPr>
          <a:xfrm rot="0" flipH="1">
            <a:off x="6939915" y="3002915"/>
            <a:ext cx="251460" cy="96520"/>
            <a:chOff x="7651" y="4318"/>
            <a:chExt cx="396" cy="152"/>
          </a:xfrm>
        </p:grpSpPr>
        <p:sp>
          <p:nvSpPr>
            <p:cNvPr id="592" name="燕尾形 591"/>
            <p:cNvSpPr/>
            <p:nvPr/>
          </p:nvSpPr>
          <p:spPr>
            <a:xfrm>
              <a:off x="7895" y="4318"/>
              <a:ext cx="152" cy="152"/>
            </a:xfrm>
            <a:prstGeom prst="chevron">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93" name="燕尾形 592"/>
            <p:cNvSpPr/>
            <p:nvPr/>
          </p:nvSpPr>
          <p:spPr>
            <a:xfrm>
              <a:off x="7773" y="4318"/>
              <a:ext cx="152" cy="152"/>
            </a:xfrm>
            <a:prstGeom prst="chevron">
              <a:avLst/>
            </a:prstGeom>
            <a:solidFill>
              <a:schemeClr val="accent1">
                <a:lumMod val="60000"/>
                <a:lumOff val="4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94" name="燕尾形 593"/>
            <p:cNvSpPr/>
            <p:nvPr/>
          </p:nvSpPr>
          <p:spPr>
            <a:xfrm>
              <a:off x="7651" y="4318"/>
              <a:ext cx="152" cy="152"/>
            </a:xfrm>
            <a:prstGeom prst="chevron">
              <a:avLst/>
            </a:prstGeom>
            <a:solidFill>
              <a:schemeClr val="accent1">
                <a:lumMod val="60000"/>
                <a:lumOff val="40000"/>
                <a:alpha val="2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595" name="组合 594"/>
          <p:cNvGrpSpPr/>
          <p:nvPr/>
        </p:nvGrpSpPr>
        <p:grpSpPr>
          <a:xfrm rot="0">
            <a:off x="6942455" y="2810510"/>
            <a:ext cx="251460" cy="96520"/>
            <a:chOff x="7651" y="4318"/>
            <a:chExt cx="396" cy="152"/>
          </a:xfrm>
        </p:grpSpPr>
        <p:sp>
          <p:nvSpPr>
            <p:cNvPr id="596" name="燕尾形 595"/>
            <p:cNvSpPr/>
            <p:nvPr/>
          </p:nvSpPr>
          <p:spPr>
            <a:xfrm>
              <a:off x="7895" y="4318"/>
              <a:ext cx="152" cy="152"/>
            </a:xfrm>
            <a:prstGeom prst="chevron">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97" name="燕尾形 596"/>
            <p:cNvSpPr/>
            <p:nvPr/>
          </p:nvSpPr>
          <p:spPr>
            <a:xfrm>
              <a:off x="7773" y="4318"/>
              <a:ext cx="152" cy="152"/>
            </a:xfrm>
            <a:prstGeom prst="chevron">
              <a:avLst/>
            </a:prstGeom>
            <a:solidFill>
              <a:schemeClr val="accent1">
                <a:lumMod val="60000"/>
                <a:lumOff val="4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98" name="燕尾形 597"/>
            <p:cNvSpPr/>
            <p:nvPr/>
          </p:nvSpPr>
          <p:spPr>
            <a:xfrm>
              <a:off x="7651" y="4318"/>
              <a:ext cx="152" cy="152"/>
            </a:xfrm>
            <a:prstGeom prst="chevron">
              <a:avLst/>
            </a:prstGeom>
            <a:solidFill>
              <a:schemeClr val="accent1">
                <a:lumMod val="60000"/>
                <a:lumOff val="40000"/>
                <a:alpha val="2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sp>
        <p:nvSpPr>
          <p:cNvPr id="599" name="矩形: 圆角 32"/>
          <p:cNvSpPr/>
          <p:nvPr/>
        </p:nvSpPr>
        <p:spPr>
          <a:xfrm>
            <a:off x="5595620" y="2546350"/>
            <a:ext cx="921385" cy="921385"/>
          </a:xfrm>
          <a:prstGeom prst="roundRect">
            <a:avLst>
              <a:gd name="adj" fmla="val 50000"/>
            </a:avLst>
          </a:prstGeom>
          <a:gradFill flip="none" rotWithShape="1">
            <a:gsLst>
              <a:gs pos="22000">
                <a:schemeClr val="accent5"/>
              </a:gs>
              <a:gs pos="100000">
                <a:schemeClr val="accent5">
                  <a:lumMod val="60000"/>
                  <a:lumOff val="40000"/>
                </a:schemeClr>
              </a:gs>
            </a:gsLst>
            <a:lin ang="2700000"/>
          </a:gradFill>
          <a:ln w="63500">
            <a:noFill/>
          </a:ln>
          <a:effectLst>
            <a:outerShdw blurRad="254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2400" b="1" dirty="0">
              <a:solidFill>
                <a:srgbClr val="FFFF00"/>
              </a:solidFill>
              <a:latin typeface="微软雅黑" panose="020B0503020204020204" charset="-122"/>
              <a:ea typeface="微软雅黑" panose="020B0503020204020204" charset="-122"/>
              <a:cs typeface="微软雅黑" panose="020B0503020204020204" charset="-122"/>
            </a:endParaRPr>
          </a:p>
        </p:txBody>
      </p:sp>
      <p:sp>
        <p:nvSpPr>
          <p:cNvPr id="600" name="矩形 599"/>
          <p:cNvSpPr/>
          <p:nvPr/>
        </p:nvSpPr>
        <p:spPr>
          <a:xfrm>
            <a:off x="5546090" y="2807970"/>
            <a:ext cx="1020445" cy="398780"/>
          </a:xfrm>
          <a:prstGeom prst="rect">
            <a:avLst/>
          </a:prstGeom>
        </p:spPr>
        <p:txBody>
          <a:bodyPr wrap="square">
            <a:spAutoFit/>
          </a:bodyPr>
          <a:lstStyle/>
          <a:p>
            <a:pPr algn="ctr"/>
            <a:r>
              <a:rPr lang="en-US" altLang="zh-CN" sz="2000" b="1" dirty="0">
                <a:solidFill>
                  <a:schemeClr val="bg1"/>
                </a:solidFill>
                <a:latin typeface="微软雅黑" panose="020B0503020204020204" charset="-122"/>
                <a:ea typeface="微软雅黑" panose="020B0503020204020204" charset="-122"/>
                <a:cs typeface="微软雅黑" panose="020B0503020204020204" charset="-122"/>
              </a:rPr>
              <a:t>AI</a:t>
            </a:r>
            <a:r>
              <a:rPr lang="zh-CN" altLang="en-US" sz="2000" b="1" dirty="0">
                <a:solidFill>
                  <a:schemeClr val="bg1"/>
                </a:solidFill>
                <a:latin typeface="微软雅黑" panose="020B0503020204020204" charset="-122"/>
                <a:ea typeface="微软雅黑" panose="020B0503020204020204" charset="-122"/>
                <a:cs typeface="微软雅黑" panose="020B0503020204020204" charset="-122"/>
              </a:rPr>
              <a:t>助手</a:t>
            </a:r>
            <a:endParaRPr lang="zh-CN" altLang="en-US" sz="20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601" name="等腰三角形 600"/>
          <p:cNvSpPr/>
          <p:nvPr/>
        </p:nvSpPr>
        <p:spPr>
          <a:xfrm>
            <a:off x="5260340" y="3670300"/>
            <a:ext cx="1592580" cy="312420"/>
          </a:xfrm>
          <a:prstGeom prst="triangle">
            <a:avLst/>
          </a:prstGeom>
          <a:noFill/>
          <a:ln>
            <a:gradFill>
              <a:gsLst>
                <a:gs pos="34000">
                  <a:schemeClr val="accent5">
                    <a:lumMod val="60000"/>
                    <a:lumOff val="40000"/>
                  </a:schemeClr>
                </a:gs>
                <a:gs pos="100000">
                  <a:schemeClr val="accent5">
                    <a:lumMod val="60000"/>
                    <a:lumOff val="40000"/>
                    <a:alpha val="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9" name="组合 8"/>
          <p:cNvGrpSpPr/>
          <p:nvPr/>
        </p:nvGrpSpPr>
        <p:grpSpPr>
          <a:xfrm>
            <a:off x="2532380" y="1100455"/>
            <a:ext cx="685800" cy="685800"/>
            <a:chOff x="3757" y="1931"/>
            <a:chExt cx="1080" cy="1080"/>
          </a:xfrm>
        </p:grpSpPr>
        <p:grpSp>
          <p:nvGrpSpPr>
            <p:cNvPr id="417" name="组合 416"/>
            <p:cNvGrpSpPr/>
            <p:nvPr/>
          </p:nvGrpSpPr>
          <p:grpSpPr>
            <a:xfrm rot="0">
              <a:off x="3757" y="1931"/>
              <a:ext cx="1081" cy="1080"/>
              <a:chOff x="5719739" y="3319093"/>
              <a:chExt cx="752522" cy="752522"/>
            </a:xfrm>
          </p:grpSpPr>
          <p:sp>
            <p:nvSpPr>
              <p:cNvPr id="418" name="©显眼包PPT1-1"/>
              <p:cNvSpPr/>
              <p:nvPr/>
            </p:nvSpPr>
            <p:spPr>
              <a:xfrm>
                <a:off x="5719739" y="3319093"/>
                <a:ext cx="752522" cy="752522"/>
              </a:xfrm>
              <a:prstGeom prst="ellipse">
                <a:avLst/>
              </a:prstGeom>
              <a:solidFill>
                <a:schemeClr val="accent1">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19" name="©显眼包PPT1-2"/>
              <p:cNvSpPr/>
              <p:nvPr/>
            </p:nvSpPr>
            <p:spPr>
              <a:xfrm>
                <a:off x="5756814" y="3356168"/>
                <a:ext cx="678371" cy="678371"/>
              </a:xfrm>
              <a:prstGeom prst="ellipse">
                <a:avLst/>
              </a:prstGeom>
              <a:gradFill flip="none" rotWithShape="1">
                <a:gsLst>
                  <a:gs pos="39000">
                    <a:schemeClr val="bg1"/>
                  </a:gs>
                  <a:gs pos="100000">
                    <a:schemeClr val="accent1">
                      <a:lumMod val="60000"/>
                      <a:lumOff val="40000"/>
                    </a:schemeClr>
                  </a:gs>
                </a:gsLst>
                <a:path path="circle">
                  <a:fillToRect l="50000" t="50000" r="50000" b="50000"/>
                </a:path>
                <a:tileRect/>
              </a:gradFill>
              <a:ln w="9525">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20" name="©显眼包PPT1-3"/>
              <p:cNvSpPr/>
              <p:nvPr/>
            </p:nvSpPr>
            <p:spPr>
              <a:xfrm>
                <a:off x="5783108" y="3382462"/>
                <a:ext cx="625785" cy="625785"/>
              </a:xfrm>
              <a:prstGeom prst="ellipse">
                <a:avLst/>
              </a:prstGeom>
              <a:noFill/>
              <a:ln w="635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421" name="©显眼包PPT1-4"/>
            <p:cNvSpPr txBox="1"/>
            <p:nvPr/>
          </p:nvSpPr>
          <p:spPr>
            <a:xfrm>
              <a:off x="3873" y="2184"/>
              <a:ext cx="826" cy="532"/>
            </a:xfrm>
            <a:prstGeom prst="rect">
              <a:avLst/>
            </a:prstGeom>
            <a:noFill/>
          </p:spPr>
          <p:txBody>
            <a:bodyPr wrap="square" lIns="0" tIns="0" rIns="0" bIns="0" rtlCol="0">
              <a:spAutoFit/>
            </a:bodyPr>
            <a:lstStyle/>
            <a:p>
              <a:pPr algn="ctr">
                <a:lnSpc>
                  <a:spcPct val="110000"/>
                </a:lnSpc>
              </a:pPr>
              <a:r>
                <a:rPr lang="en-US" sz="1200" dirty="0">
                  <a:gradFill>
                    <a:gsLst>
                      <a:gs pos="0">
                        <a:schemeClr val="accent1"/>
                      </a:gs>
                      <a:gs pos="58000">
                        <a:schemeClr val="accent1">
                          <a:lumMod val="60000"/>
                          <a:lumOff val="40000"/>
                        </a:schemeClr>
                      </a:gs>
                    </a:gsLst>
                    <a:lin ang="2700000" scaled="0"/>
                  </a:gradFill>
                  <a:latin typeface="微软雅黑" panose="020B0503020204020204" charset="-122"/>
                  <a:ea typeface="微软雅黑" panose="020B0503020204020204" charset="-122"/>
                  <a:cs typeface="微软雅黑" panose="020B0503020204020204" charset="-122"/>
                </a:rPr>
                <a:t> </a:t>
              </a:r>
              <a:endParaRPr lang="en-US" sz="1000" dirty="0">
                <a:gradFill>
                  <a:gsLst>
                    <a:gs pos="0">
                      <a:schemeClr val="accent1"/>
                    </a:gs>
                    <a:gs pos="58000">
                      <a:schemeClr val="accent1">
                        <a:lumMod val="60000"/>
                        <a:lumOff val="40000"/>
                      </a:schemeClr>
                    </a:gs>
                  </a:gsLst>
                  <a:lin ang="2700000" scaled="0"/>
                </a:gradFill>
                <a:latin typeface="微软雅黑" panose="020B0503020204020204" charset="-122"/>
                <a:ea typeface="微软雅黑" panose="020B0503020204020204" charset="-122"/>
                <a:cs typeface="微软雅黑" panose="020B0503020204020204" charset="-122"/>
              </a:endParaRPr>
            </a:p>
            <a:p>
              <a:pPr algn="ctr">
                <a:lnSpc>
                  <a:spcPct val="110000"/>
                </a:lnSpc>
              </a:pPr>
              <a:r>
                <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任务规划</a:t>
              </a:r>
              <a:endPar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pic>
          <p:nvPicPr>
            <p:cNvPr id="602" name="图片 601" descr="任务 (1)"/>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154" y="2196"/>
              <a:ext cx="288" cy="288"/>
            </a:xfrm>
            <a:prstGeom prst="rect">
              <a:avLst/>
            </a:prstGeom>
          </p:spPr>
        </p:pic>
      </p:grpSp>
      <p:grpSp>
        <p:nvGrpSpPr>
          <p:cNvPr id="11" name="组合 10"/>
          <p:cNvGrpSpPr/>
          <p:nvPr/>
        </p:nvGrpSpPr>
        <p:grpSpPr>
          <a:xfrm>
            <a:off x="4705350" y="1299210"/>
            <a:ext cx="685800" cy="685800"/>
            <a:chOff x="7029" y="1561"/>
            <a:chExt cx="1080" cy="1080"/>
          </a:xfrm>
        </p:grpSpPr>
        <p:grpSp>
          <p:nvGrpSpPr>
            <p:cNvPr id="488" name="©显眼包PPT1"/>
            <p:cNvGrpSpPr/>
            <p:nvPr/>
          </p:nvGrpSpPr>
          <p:grpSpPr>
            <a:xfrm rot="0">
              <a:off x="7029" y="1561"/>
              <a:ext cx="1081" cy="1081"/>
              <a:chOff x="5719739" y="3319093"/>
              <a:chExt cx="752522" cy="752522"/>
            </a:xfrm>
          </p:grpSpPr>
          <p:grpSp>
            <p:nvGrpSpPr>
              <p:cNvPr id="489" name="组合 488"/>
              <p:cNvGrpSpPr/>
              <p:nvPr/>
            </p:nvGrpSpPr>
            <p:grpSpPr>
              <a:xfrm>
                <a:off x="5719739" y="3319093"/>
                <a:ext cx="752522" cy="752522"/>
                <a:chOff x="5719739" y="3319093"/>
                <a:chExt cx="752522" cy="752522"/>
              </a:xfrm>
            </p:grpSpPr>
            <p:sp>
              <p:nvSpPr>
                <p:cNvPr id="500" name="©显眼包PPT1-1"/>
                <p:cNvSpPr/>
                <p:nvPr/>
              </p:nvSpPr>
              <p:spPr>
                <a:xfrm>
                  <a:off x="5719739" y="3319093"/>
                  <a:ext cx="752522" cy="752522"/>
                </a:xfrm>
                <a:prstGeom prst="ellipse">
                  <a:avLst/>
                </a:prstGeom>
                <a:solidFill>
                  <a:schemeClr val="accent1">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02" name="©显眼包PPT1-2"/>
                <p:cNvSpPr/>
                <p:nvPr/>
              </p:nvSpPr>
              <p:spPr>
                <a:xfrm>
                  <a:off x="5756814" y="3356168"/>
                  <a:ext cx="678371" cy="678371"/>
                </a:xfrm>
                <a:prstGeom prst="ellipse">
                  <a:avLst/>
                </a:prstGeom>
                <a:gradFill flip="none" rotWithShape="1">
                  <a:gsLst>
                    <a:gs pos="39000">
                      <a:schemeClr val="bg1"/>
                    </a:gs>
                    <a:gs pos="100000">
                      <a:schemeClr val="accent1">
                        <a:lumMod val="60000"/>
                        <a:lumOff val="40000"/>
                      </a:schemeClr>
                    </a:gs>
                  </a:gsLst>
                  <a:path path="circle">
                    <a:fillToRect l="50000" t="50000" r="50000" b="50000"/>
                  </a:path>
                  <a:tileRect/>
                </a:gradFill>
                <a:ln w="9525">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03" name="©显眼包PPT1-3"/>
                <p:cNvSpPr/>
                <p:nvPr/>
              </p:nvSpPr>
              <p:spPr>
                <a:xfrm>
                  <a:off x="5783108" y="3382462"/>
                  <a:ext cx="625785" cy="625785"/>
                </a:xfrm>
                <a:prstGeom prst="ellipse">
                  <a:avLst/>
                </a:prstGeom>
                <a:noFill/>
                <a:ln w="635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504" name="©显眼包PPT1-4"/>
              <p:cNvSpPr txBox="1"/>
              <p:nvPr/>
            </p:nvSpPr>
            <p:spPr>
              <a:xfrm>
                <a:off x="5800491" y="3495215"/>
                <a:ext cx="575008" cy="333449"/>
              </a:xfrm>
              <a:prstGeom prst="rect">
                <a:avLst/>
              </a:prstGeom>
              <a:noFill/>
            </p:spPr>
            <p:txBody>
              <a:bodyPr wrap="square" lIns="0" tIns="0" rIns="0" bIns="0" rtlCol="0">
                <a:spAutoFit/>
              </a:bodyPr>
              <a:lstStyle/>
              <a:p>
                <a:pPr algn="ctr">
                  <a:lnSpc>
                    <a:spcPct val="110000"/>
                  </a:lnSpc>
                </a:pPr>
                <a:endParaRPr lang="en-US" sz="10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lnSpc>
                    <a:spcPct val="110000"/>
                  </a:lnSpc>
                </a:pPr>
                <a:r>
                  <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沟通协同</a:t>
                </a:r>
                <a:endPar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pic>
          <p:nvPicPr>
            <p:cNvPr id="603" name="图片 602" descr="沟通能力"/>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412" y="1746"/>
              <a:ext cx="359" cy="359"/>
            </a:xfrm>
            <a:prstGeom prst="rect">
              <a:avLst/>
            </a:prstGeom>
          </p:spPr>
        </p:pic>
      </p:grpSp>
      <p:grpSp>
        <p:nvGrpSpPr>
          <p:cNvPr id="10" name="组合 9"/>
          <p:cNvGrpSpPr/>
          <p:nvPr/>
        </p:nvGrpSpPr>
        <p:grpSpPr>
          <a:xfrm>
            <a:off x="3618865" y="1210945"/>
            <a:ext cx="685800" cy="685800"/>
            <a:chOff x="5393" y="1746"/>
            <a:chExt cx="1080" cy="1080"/>
          </a:xfrm>
        </p:grpSpPr>
        <p:grpSp>
          <p:nvGrpSpPr>
            <p:cNvPr id="423" name="©显眼包PPT1"/>
            <p:cNvGrpSpPr/>
            <p:nvPr/>
          </p:nvGrpSpPr>
          <p:grpSpPr>
            <a:xfrm rot="0">
              <a:off x="5393" y="1746"/>
              <a:ext cx="1081" cy="1081"/>
              <a:chOff x="5719739" y="3319093"/>
              <a:chExt cx="752522" cy="752522"/>
            </a:xfrm>
          </p:grpSpPr>
          <p:grpSp>
            <p:nvGrpSpPr>
              <p:cNvPr id="424" name="组合 423"/>
              <p:cNvGrpSpPr/>
              <p:nvPr/>
            </p:nvGrpSpPr>
            <p:grpSpPr>
              <a:xfrm>
                <a:off x="5719739" y="3319093"/>
                <a:ext cx="752522" cy="752522"/>
                <a:chOff x="5719739" y="3319093"/>
                <a:chExt cx="752522" cy="752522"/>
              </a:xfrm>
            </p:grpSpPr>
            <p:sp>
              <p:nvSpPr>
                <p:cNvPr id="425" name="©显眼包PPT1-1"/>
                <p:cNvSpPr/>
                <p:nvPr/>
              </p:nvSpPr>
              <p:spPr>
                <a:xfrm>
                  <a:off x="5719739" y="3319093"/>
                  <a:ext cx="752522" cy="752522"/>
                </a:xfrm>
                <a:prstGeom prst="ellipse">
                  <a:avLst/>
                </a:prstGeom>
                <a:solidFill>
                  <a:schemeClr val="accent1">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26" name="©显眼包PPT1-2"/>
                <p:cNvSpPr/>
                <p:nvPr/>
              </p:nvSpPr>
              <p:spPr>
                <a:xfrm>
                  <a:off x="5756814" y="3356168"/>
                  <a:ext cx="678371" cy="678371"/>
                </a:xfrm>
                <a:prstGeom prst="ellipse">
                  <a:avLst/>
                </a:prstGeom>
                <a:gradFill flip="none" rotWithShape="1">
                  <a:gsLst>
                    <a:gs pos="39000">
                      <a:schemeClr val="bg1"/>
                    </a:gs>
                    <a:gs pos="100000">
                      <a:schemeClr val="accent1">
                        <a:lumMod val="60000"/>
                        <a:lumOff val="40000"/>
                      </a:schemeClr>
                    </a:gs>
                  </a:gsLst>
                  <a:path path="circle">
                    <a:fillToRect l="50000" t="50000" r="50000" b="50000"/>
                  </a:path>
                  <a:tileRect/>
                </a:gradFill>
                <a:ln w="9525">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27" name="©显眼包PPT1-3"/>
                <p:cNvSpPr/>
                <p:nvPr/>
              </p:nvSpPr>
              <p:spPr>
                <a:xfrm>
                  <a:off x="5783108" y="3382462"/>
                  <a:ext cx="625785" cy="625785"/>
                </a:xfrm>
                <a:prstGeom prst="ellipse">
                  <a:avLst/>
                </a:prstGeom>
                <a:noFill/>
                <a:ln w="635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428" name="©显眼包PPT1-4"/>
              <p:cNvSpPr txBox="1"/>
              <p:nvPr/>
            </p:nvSpPr>
            <p:spPr>
              <a:xfrm>
                <a:off x="5800491" y="3495215"/>
                <a:ext cx="575008" cy="370344"/>
              </a:xfrm>
              <a:prstGeom prst="rect">
                <a:avLst/>
              </a:prstGeom>
              <a:noFill/>
            </p:spPr>
            <p:txBody>
              <a:bodyPr wrap="square" lIns="0" tIns="0" rIns="0" bIns="0" rtlCol="0">
                <a:spAutoFit/>
              </a:bodyPr>
              <a:lstStyle/>
              <a:p>
                <a:pPr algn="ctr">
                  <a:lnSpc>
                    <a:spcPct val="110000"/>
                  </a:lnSpc>
                </a:pPr>
                <a:r>
                  <a:rPr lang="en-US" sz="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 </a:t>
                </a:r>
                <a:endParaRPr lang="en-US" sz="10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lnSpc>
                    <a:spcPct val="110000"/>
                  </a:lnSpc>
                </a:pPr>
                <a:r>
                  <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文档处理</a:t>
                </a:r>
                <a:endPar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pic>
          <p:nvPicPr>
            <p:cNvPr id="604" name="图片 603" descr="任务"/>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793" y="1984"/>
              <a:ext cx="282" cy="282"/>
            </a:xfrm>
            <a:prstGeom prst="rect">
              <a:avLst/>
            </a:prstGeom>
          </p:spPr>
        </p:pic>
      </p:grpSp>
      <p:grpSp>
        <p:nvGrpSpPr>
          <p:cNvPr id="15" name="组合 14"/>
          <p:cNvGrpSpPr/>
          <p:nvPr/>
        </p:nvGrpSpPr>
        <p:grpSpPr>
          <a:xfrm>
            <a:off x="9051290" y="1100455"/>
            <a:ext cx="685800" cy="685800"/>
            <a:chOff x="14204" y="1973"/>
            <a:chExt cx="1080" cy="1080"/>
          </a:xfrm>
        </p:grpSpPr>
        <p:grpSp>
          <p:nvGrpSpPr>
            <p:cNvPr id="435" name="©显眼包PPT1"/>
            <p:cNvGrpSpPr/>
            <p:nvPr/>
          </p:nvGrpSpPr>
          <p:grpSpPr>
            <a:xfrm rot="0">
              <a:off x="14204" y="1973"/>
              <a:ext cx="1081" cy="1081"/>
              <a:chOff x="5719739" y="3319093"/>
              <a:chExt cx="752522" cy="752522"/>
            </a:xfrm>
          </p:grpSpPr>
          <p:grpSp>
            <p:nvGrpSpPr>
              <p:cNvPr id="436" name="组合 435"/>
              <p:cNvGrpSpPr/>
              <p:nvPr/>
            </p:nvGrpSpPr>
            <p:grpSpPr>
              <a:xfrm>
                <a:off x="5719739" y="3319093"/>
                <a:ext cx="752522" cy="752522"/>
                <a:chOff x="5719739" y="3319093"/>
                <a:chExt cx="752522" cy="752522"/>
              </a:xfrm>
            </p:grpSpPr>
            <p:sp>
              <p:nvSpPr>
                <p:cNvPr id="437" name="©显眼包PPT1-1"/>
                <p:cNvSpPr/>
                <p:nvPr/>
              </p:nvSpPr>
              <p:spPr>
                <a:xfrm>
                  <a:off x="5719739" y="3319093"/>
                  <a:ext cx="752522" cy="752522"/>
                </a:xfrm>
                <a:prstGeom prst="ellipse">
                  <a:avLst/>
                </a:prstGeom>
                <a:solidFill>
                  <a:schemeClr val="accent1">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38" name="©显眼包PPT1-2"/>
                <p:cNvSpPr/>
                <p:nvPr/>
              </p:nvSpPr>
              <p:spPr>
                <a:xfrm>
                  <a:off x="5756814" y="3356168"/>
                  <a:ext cx="678371" cy="678371"/>
                </a:xfrm>
                <a:prstGeom prst="ellipse">
                  <a:avLst/>
                </a:prstGeom>
                <a:gradFill flip="none" rotWithShape="1">
                  <a:gsLst>
                    <a:gs pos="39000">
                      <a:schemeClr val="bg1"/>
                    </a:gs>
                    <a:gs pos="100000">
                      <a:schemeClr val="accent1">
                        <a:lumMod val="60000"/>
                        <a:lumOff val="40000"/>
                      </a:schemeClr>
                    </a:gs>
                  </a:gsLst>
                  <a:path path="circle">
                    <a:fillToRect l="50000" t="50000" r="50000" b="50000"/>
                  </a:path>
                  <a:tileRect/>
                </a:gradFill>
                <a:ln w="9525">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39" name="©显眼包PPT1-3"/>
                <p:cNvSpPr/>
                <p:nvPr/>
              </p:nvSpPr>
              <p:spPr>
                <a:xfrm>
                  <a:off x="5783108" y="3382462"/>
                  <a:ext cx="625785" cy="625785"/>
                </a:xfrm>
                <a:prstGeom prst="ellipse">
                  <a:avLst/>
                </a:prstGeom>
                <a:noFill/>
                <a:ln w="635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481" name="©显眼包PPT1-4"/>
              <p:cNvSpPr txBox="1"/>
              <p:nvPr/>
            </p:nvSpPr>
            <p:spPr>
              <a:xfrm>
                <a:off x="5800491" y="3495215"/>
                <a:ext cx="575008" cy="370344"/>
              </a:xfrm>
              <a:prstGeom prst="rect">
                <a:avLst/>
              </a:prstGeom>
              <a:noFill/>
            </p:spPr>
            <p:txBody>
              <a:bodyPr wrap="square" lIns="0" tIns="0" rIns="0" bIns="0" rtlCol="0">
                <a:spAutoFit/>
              </a:bodyPr>
              <a:lstStyle/>
              <a:p>
                <a:pPr algn="ctr">
                  <a:lnSpc>
                    <a:spcPct val="110000"/>
                  </a:lnSpc>
                </a:pPr>
                <a:r>
                  <a:rPr lang="en-US" sz="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 </a:t>
                </a:r>
                <a:endParaRPr lang="en-US" sz="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lnSpc>
                    <a:spcPct val="110000"/>
                  </a:lnSpc>
                </a:pPr>
                <a:r>
                  <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知识引擎</a:t>
                </a:r>
                <a:endPar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pic>
          <p:nvPicPr>
            <p:cNvPr id="605" name="图片 604" descr="知识库管理"/>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4604" y="2226"/>
              <a:ext cx="258" cy="258"/>
            </a:xfrm>
            <a:prstGeom prst="rect">
              <a:avLst/>
            </a:prstGeom>
          </p:spPr>
        </p:pic>
      </p:grpSp>
      <p:grpSp>
        <p:nvGrpSpPr>
          <p:cNvPr id="12" name="组合 11"/>
          <p:cNvGrpSpPr/>
          <p:nvPr/>
        </p:nvGrpSpPr>
        <p:grpSpPr>
          <a:xfrm>
            <a:off x="6878320" y="1299210"/>
            <a:ext cx="685800" cy="685800"/>
            <a:chOff x="11156" y="1561"/>
            <a:chExt cx="1080" cy="1080"/>
          </a:xfrm>
        </p:grpSpPr>
        <p:grpSp>
          <p:nvGrpSpPr>
            <p:cNvPr id="507" name="©显眼包PPT1"/>
            <p:cNvGrpSpPr/>
            <p:nvPr/>
          </p:nvGrpSpPr>
          <p:grpSpPr>
            <a:xfrm rot="0">
              <a:off x="11156" y="1561"/>
              <a:ext cx="1081" cy="1081"/>
              <a:chOff x="5719739" y="3319093"/>
              <a:chExt cx="752522" cy="752522"/>
            </a:xfrm>
          </p:grpSpPr>
          <p:grpSp>
            <p:nvGrpSpPr>
              <p:cNvPr id="508" name="组合 507"/>
              <p:cNvGrpSpPr/>
              <p:nvPr/>
            </p:nvGrpSpPr>
            <p:grpSpPr>
              <a:xfrm>
                <a:off x="5719739" y="3319093"/>
                <a:ext cx="752522" cy="752522"/>
                <a:chOff x="5719739" y="3319093"/>
                <a:chExt cx="752522" cy="752522"/>
              </a:xfrm>
            </p:grpSpPr>
            <p:sp>
              <p:nvSpPr>
                <p:cNvPr id="538" name="©显眼包PPT1-1"/>
                <p:cNvSpPr/>
                <p:nvPr/>
              </p:nvSpPr>
              <p:spPr>
                <a:xfrm>
                  <a:off x="5719739" y="3319093"/>
                  <a:ext cx="752522" cy="752522"/>
                </a:xfrm>
                <a:prstGeom prst="ellipse">
                  <a:avLst/>
                </a:prstGeom>
                <a:solidFill>
                  <a:schemeClr val="accent1">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39" name="©显眼包PPT1-2"/>
                <p:cNvSpPr/>
                <p:nvPr/>
              </p:nvSpPr>
              <p:spPr>
                <a:xfrm>
                  <a:off x="5756814" y="3356168"/>
                  <a:ext cx="678371" cy="678371"/>
                </a:xfrm>
                <a:prstGeom prst="ellipse">
                  <a:avLst/>
                </a:prstGeom>
                <a:gradFill flip="none" rotWithShape="1">
                  <a:gsLst>
                    <a:gs pos="39000">
                      <a:schemeClr val="bg1"/>
                    </a:gs>
                    <a:gs pos="100000">
                      <a:schemeClr val="accent1">
                        <a:lumMod val="60000"/>
                        <a:lumOff val="40000"/>
                      </a:schemeClr>
                    </a:gs>
                  </a:gsLst>
                  <a:path path="circle">
                    <a:fillToRect l="50000" t="50000" r="50000" b="50000"/>
                  </a:path>
                  <a:tileRect/>
                </a:gradFill>
                <a:ln w="9525">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40" name="©显眼包PPT1-3"/>
                <p:cNvSpPr/>
                <p:nvPr/>
              </p:nvSpPr>
              <p:spPr>
                <a:xfrm>
                  <a:off x="5783108" y="3382462"/>
                  <a:ext cx="625785" cy="625785"/>
                </a:xfrm>
                <a:prstGeom prst="ellipse">
                  <a:avLst/>
                </a:prstGeom>
                <a:noFill/>
                <a:ln w="635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541" name="©显眼包PPT1-4"/>
              <p:cNvSpPr txBox="1"/>
              <p:nvPr/>
            </p:nvSpPr>
            <p:spPr>
              <a:xfrm>
                <a:off x="5800491" y="3495215"/>
                <a:ext cx="575008" cy="370344"/>
              </a:xfrm>
              <a:prstGeom prst="rect">
                <a:avLst/>
              </a:prstGeom>
              <a:noFill/>
            </p:spPr>
            <p:txBody>
              <a:bodyPr wrap="square" lIns="0" tIns="0" rIns="0" bIns="0" rtlCol="0">
                <a:spAutoFit/>
              </a:bodyPr>
              <a:lstStyle/>
              <a:p>
                <a:pPr algn="ctr">
                  <a:lnSpc>
                    <a:spcPct val="110000"/>
                  </a:lnSpc>
                </a:pPr>
                <a:r>
                  <a:rPr lang="en-US" sz="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 </a:t>
                </a:r>
                <a:endParaRPr lang="en-US" sz="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lnSpc>
                    <a:spcPct val="110000"/>
                  </a:lnSpc>
                </a:pPr>
                <a:r>
                  <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决策支持</a:t>
                </a:r>
                <a:endPar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pic>
          <p:nvPicPr>
            <p:cNvPr id="606" name="图片 605" descr="决策"/>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1564" y="1770"/>
              <a:ext cx="335" cy="335"/>
            </a:xfrm>
            <a:prstGeom prst="rect">
              <a:avLst/>
            </a:prstGeom>
          </p:spPr>
        </p:pic>
      </p:grpSp>
      <p:grpSp>
        <p:nvGrpSpPr>
          <p:cNvPr id="14" name="组合 13"/>
          <p:cNvGrpSpPr/>
          <p:nvPr/>
        </p:nvGrpSpPr>
        <p:grpSpPr>
          <a:xfrm>
            <a:off x="7964805" y="1210945"/>
            <a:ext cx="685800" cy="685800"/>
            <a:chOff x="12680" y="1767"/>
            <a:chExt cx="1080" cy="1080"/>
          </a:xfrm>
        </p:grpSpPr>
        <p:grpSp>
          <p:nvGrpSpPr>
            <p:cNvPr id="482" name="©显眼包PPT1"/>
            <p:cNvGrpSpPr/>
            <p:nvPr/>
          </p:nvGrpSpPr>
          <p:grpSpPr>
            <a:xfrm rot="0">
              <a:off x="12680" y="1767"/>
              <a:ext cx="1081" cy="1081"/>
              <a:chOff x="5719739" y="3319093"/>
              <a:chExt cx="752522" cy="752522"/>
            </a:xfrm>
          </p:grpSpPr>
          <p:grpSp>
            <p:nvGrpSpPr>
              <p:cNvPr id="483" name="组合 482"/>
              <p:cNvGrpSpPr/>
              <p:nvPr/>
            </p:nvGrpSpPr>
            <p:grpSpPr>
              <a:xfrm>
                <a:off x="5719739" y="3319093"/>
                <a:ext cx="752522" cy="752522"/>
                <a:chOff x="5719739" y="3319093"/>
                <a:chExt cx="752522" cy="752522"/>
              </a:xfrm>
            </p:grpSpPr>
            <p:sp>
              <p:nvSpPr>
                <p:cNvPr id="484" name="©显眼包PPT1-1"/>
                <p:cNvSpPr/>
                <p:nvPr/>
              </p:nvSpPr>
              <p:spPr>
                <a:xfrm>
                  <a:off x="5719739" y="3319093"/>
                  <a:ext cx="752522" cy="752522"/>
                </a:xfrm>
                <a:prstGeom prst="ellipse">
                  <a:avLst/>
                </a:prstGeom>
                <a:solidFill>
                  <a:schemeClr val="accent1">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85" name="©显眼包PPT1-2"/>
                <p:cNvSpPr/>
                <p:nvPr/>
              </p:nvSpPr>
              <p:spPr>
                <a:xfrm>
                  <a:off x="5756814" y="3356168"/>
                  <a:ext cx="678371" cy="678371"/>
                </a:xfrm>
                <a:prstGeom prst="ellipse">
                  <a:avLst/>
                </a:prstGeom>
                <a:gradFill flip="none" rotWithShape="1">
                  <a:gsLst>
                    <a:gs pos="39000">
                      <a:schemeClr val="bg1"/>
                    </a:gs>
                    <a:gs pos="100000">
                      <a:schemeClr val="accent1">
                        <a:lumMod val="60000"/>
                        <a:lumOff val="40000"/>
                      </a:schemeClr>
                    </a:gs>
                  </a:gsLst>
                  <a:path path="circle">
                    <a:fillToRect l="50000" t="50000" r="50000" b="50000"/>
                  </a:path>
                  <a:tileRect/>
                </a:gradFill>
                <a:ln w="9525">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86" name="©显眼包PPT1-3"/>
                <p:cNvSpPr/>
                <p:nvPr/>
              </p:nvSpPr>
              <p:spPr>
                <a:xfrm>
                  <a:off x="5783108" y="3382462"/>
                  <a:ext cx="625785" cy="625785"/>
                </a:xfrm>
                <a:prstGeom prst="ellipse">
                  <a:avLst/>
                </a:prstGeom>
                <a:noFill/>
                <a:ln w="635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487" name="©显眼包PPT1-4"/>
              <p:cNvSpPr txBox="1"/>
              <p:nvPr/>
            </p:nvSpPr>
            <p:spPr>
              <a:xfrm>
                <a:off x="5800491" y="3495215"/>
                <a:ext cx="575008" cy="370344"/>
              </a:xfrm>
              <a:prstGeom prst="rect">
                <a:avLst/>
              </a:prstGeom>
              <a:noFill/>
            </p:spPr>
            <p:txBody>
              <a:bodyPr wrap="square" lIns="0" tIns="0" rIns="0" bIns="0" rtlCol="0">
                <a:spAutoFit/>
              </a:bodyPr>
              <a:lstStyle/>
              <a:p>
                <a:pPr algn="ctr">
                  <a:lnSpc>
                    <a:spcPct val="110000"/>
                  </a:lnSpc>
                </a:pPr>
                <a:r>
                  <a:rPr lang="en-US" sz="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 </a:t>
                </a:r>
                <a:endParaRPr lang="en-US" sz="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lnSpc>
                    <a:spcPct val="110000"/>
                  </a:lnSpc>
                </a:pPr>
                <a:r>
                  <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自动流程</a:t>
                </a:r>
                <a:endParaRPr lang="en-US" altLang="zh-CN"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pic>
          <p:nvPicPr>
            <p:cNvPr id="607" name="图片 606" descr="流程"/>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3079" y="1999"/>
              <a:ext cx="301" cy="301"/>
            </a:xfrm>
            <a:prstGeom prst="rect">
              <a:avLst/>
            </a:prstGeom>
          </p:spPr>
        </p:pic>
      </p:grpSp>
      <p:grpSp>
        <p:nvGrpSpPr>
          <p:cNvPr id="17" name="©显眼包PPT1"/>
          <p:cNvGrpSpPr/>
          <p:nvPr/>
        </p:nvGrpSpPr>
        <p:grpSpPr>
          <a:xfrm rot="0">
            <a:off x="5791835" y="1332230"/>
            <a:ext cx="686435" cy="686435"/>
            <a:chOff x="5719739" y="3319093"/>
            <a:chExt cx="752522" cy="752522"/>
          </a:xfrm>
        </p:grpSpPr>
        <p:grpSp>
          <p:nvGrpSpPr>
            <p:cNvPr id="18" name="组合 17"/>
            <p:cNvGrpSpPr/>
            <p:nvPr/>
          </p:nvGrpSpPr>
          <p:grpSpPr>
            <a:xfrm>
              <a:off x="5719739" y="3319093"/>
              <a:ext cx="752522" cy="752522"/>
              <a:chOff x="5719739" y="3319093"/>
              <a:chExt cx="752522" cy="752522"/>
            </a:xfrm>
          </p:grpSpPr>
          <p:sp>
            <p:nvSpPr>
              <p:cNvPr id="19" name="©显眼包PPT1-1"/>
              <p:cNvSpPr/>
              <p:nvPr/>
            </p:nvSpPr>
            <p:spPr>
              <a:xfrm>
                <a:off x="5719739" y="3319093"/>
                <a:ext cx="752522" cy="752522"/>
              </a:xfrm>
              <a:prstGeom prst="ellipse">
                <a:avLst/>
              </a:prstGeom>
              <a:solidFill>
                <a:schemeClr val="accent1">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0" name="©显眼包PPT1-2"/>
              <p:cNvSpPr/>
              <p:nvPr/>
            </p:nvSpPr>
            <p:spPr>
              <a:xfrm>
                <a:off x="5756814" y="3356168"/>
                <a:ext cx="678371" cy="678371"/>
              </a:xfrm>
              <a:prstGeom prst="ellipse">
                <a:avLst/>
              </a:prstGeom>
              <a:gradFill flip="none" rotWithShape="1">
                <a:gsLst>
                  <a:gs pos="39000">
                    <a:schemeClr val="bg1"/>
                  </a:gs>
                  <a:gs pos="100000">
                    <a:schemeClr val="accent1">
                      <a:lumMod val="60000"/>
                      <a:lumOff val="40000"/>
                    </a:schemeClr>
                  </a:gs>
                </a:gsLst>
                <a:path path="circle">
                  <a:fillToRect l="50000" t="50000" r="50000" b="50000"/>
                </a:path>
                <a:tileRect/>
              </a:gradFill>
              <a:ln w="9525">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1" name="©显眼包PPT1-3"/>
              <p:cNvSpPr/>
              <p:nvPr/>
            </p:nvSpPr>
            <p:spPr>
              <a:xfrm>
                <a:off x="5783108" y="3382462"/>
                <a:ext cx="625785" cy="625785"/>
              </a:xfrm>
              <a:prstGeom prst="ellipse">
                <a:avLst/>
              </a:prstGeom>
              <a:noFill/>
              <a:ln w="635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22" name="©显眼包PPT1-4"/>
            <p:cNvSpPr txBox="1"/>
            <p:nvPr/>
          </p:nvSpPr>
          <p:spPr>
            <a:xfrm>
              <a:off x="5810931" y="3701966"/>
              <a:ext cx="575008" cy="148973"/>
            </a:xfrm>
            <a:prstGeom prst="rect">
              <a:avLst/>
            </a:prstGeom>
            <a:noFill/>
          </p:spPr>
          <p:txBody>
            <a:bodyPr wrap="square" lIns="0" tIns="0" rIns="0" bIns="0" rtlCol="0">
              <a:noAutofit/>
            </a:bodyPr>
            <a:lstStyle/>
            <a:p>
              <a:pPr algn="ctr">
                <a:lnSpc>
                  <a:spcPct val="110000"/>
                </a:lnSpc>
              </a:pPr>
              <a:r>
                <a:rPr lang="zh-CN"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安全合规</a:t>
              </a:r>
              <a:endParaRPr lang="zh-CN"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pic>
        <p:nvPicPr>
          <p:cNvPr id="32" name="图片 31" descr="_安全中心"/>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041390" y="1483360"/>
            <a:ext cx="177800" cy="177800"/>
          </a:xfrm>
          <a:prstGeom prst="rect">
            <a:avLst/>
          </a:prstGeom>
        </p:spPr>
      </p:pic>
      <p:grpSp>
        <p:nvGrpSpPr>
          <p:cNvPr id="3" name="组合 2"/>
          <p:cNvGrpSpPr/>
          <p:nvPr/>
        </p:nvGrpSpPr>
        <p:grpSpPr>
          <a:xfrm>
            <a:off x="8738235" y="348615"/>
            <a:ext cx="3219450" cy="332740"/>
            <a:chOff x="13761" y="549"/>
            <a:chExt cx="5070" cy="524"/>
          </a:xfrm>
        </p:grpSpPr>
        <p:pic>
          <p:nvPicPr>
            <p:cNvPr id="4" name="图片 3"/>
            <p:cNvPicPr>
              <a:picLocks noChangeAspect="1"/>
            </p:cNvPicPr>
            <p:nvPr userDrawn="1"/>
          </p:nvPicPr>
          <p:blipFill>
            <a:blip r:embed="rId25"/>
            <a:srcRect l="17002" t="-1765" r="56499" b="-1176"/>
            <a:stretch>
              <a:fillRect/>
            </a:stretch>
          </p:blipFill>
          <p:spPr>
            <a:xfrm>
              <a:off x="13761" y="549"/>
              <a:ext cx="1582" cy="525"/>
            </a:xfrm>
            <a:prstGeom prst="rect">
              <a:avLst/>
            </a:prstGeom>
          </p:spPr>
        </p:pic>
        <p:sp>
          <p:nvSpPr>
            <p:cNvPr id="2" name="文本框 1"/>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timing>
    <p:tnLst>
      <p:par>
        <p:cTn id="1" dur="indefinite" restart="never" fill="hold"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任意多边形 35"/>
          <p:cNvSpPr/>
          <p:nvPr/>
        </p:nvSpPr>
        <p:spPr>
          <a:xfrm flipV="1">
            <a:off x="1809115" y="1988820"/>
            <a:ext cx="8434705" cy="1982470"/>
          </a:xfrm>
          <a:custGeom>
            <a:avLst/>
            <a:gdLst>
              <a:gd name="adj" fmla="val 47127"/>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11977" h="2815">
                <a:moveTo>
                  <a:pt x="0" y="2815"/>
                </a:moveTo>
                <a:lnTo>
                  <a:pt x="1192" y="285"/>
                </a:lnTo>
                <a:lnTo>
                  <a:pt x="1195" y="285"/>
                </a:lnTo>
                <a:lnTo>
                  <a:pt x="1197" y="281"/>
                </a:lnTo>
                <a:cubicBezTo>
                  <a:pt x="1248" y="122"/>
                  <a:pt x="3678" y="-4"/>
                  <a:pt x="6027" y="0"/>
                </a:cubicBezTo>
                <a:cubicBezTo>
                  <a:pt x="8608" y="-5"/>
                  <a:pt x="10735" y="134"/>
                  <a:pt x="10848" y="273"/>
                </a:cubicBezTo>
                <a:lnTo>
                  <a:pt x="10856" y="281"/>
                </a:lnTo>
                <a:lnTo>
                  <a:pt x="10861" y="288"/>
                </a:lnTo>
                <a:lnTo>
                  <a:pt x="10863" y="296"/>
                </a:lnTo>
                <a:lnTo>
                  <a:pt x="10861" y="304"/>
                </a:lnTo>
                <a:lnTo>
                  <a:pt x="10856" y="311"/>
                </a:lnTo>
                <a:lnTo>
                  <a:pt x="10848" y="319"/>
                </a:lnTo>
                <a:lnTo>
                  <a:pt x="10837" y="327"/>
                </a:lnTo>
                <a:lnTo>
                  <a:pt x="10823" y="334"/>
                </a:lnTo>
                <a:lnTo>
                  <a:pt x="10810" y="340"/>
                </a:lnTo>
                <a:lnTo>
                  <a:pt x="11977" y="2815"/>
                </a:lnTo>
                <a:lnTo>
                  <a:pt x="11975" y="2813"/>
                </a:lnTo>
                <a:lnTo>
                  <a:pt x="11965" y="2805"/>
                </a:lnTo>
                <a:lnTo>
                  <a:pt x="11960" y="2797"/>
                </a:lnTo>
                <a:cubicBezTo>
                  <a:pt x="11890" y="2646"/>
                  <a:pt x="8468" y="2528"/>
                  <a:pt x="6246" y="2532"/>
                </a:cubicBezTo>
                <a:lnTo>
                  <a:pt x="6125" y="2532"/>
                </a:lnTo>
                <a:lnTo>
                  <a:pt x="5988" y="2532"/>
                </a:lnTo>
                <a:lnTo>
                  <a:pt x="5836" y="2532"/>
                </a:lnTo>
                <a:lnTo>
                  <a:pt x="5688" y="2532"/>
                </a:lnTo>
                <a:cubicBezTo>
                  <a:pt x="2636" y="2528"/>
                  <a:pt x="127" y="2687"/>
                  <a:pt x="28" y="2792"/>
                </a:cubicBezTo>
                <a:lnTo>
                  <a:pt x="20" y="2798"/>
                </a:lnTo>
                <a:lnTo>
                  <a:pt x="12" y="2805"/>
                </a:lnTo>
                <a:lnTo>
                  <a:pt x="2" y="2813"/>
                </a:lnTo>
                <a:lnTo>
                  <a:pt x="0" y="2815"/>
                </a:lnTo>
                <a:close/>
              </a:path>
            </a:pathLst>
          </a:custGeom>
          <a:gradFill>
            <a:gsLst>
              <a:gs pos="100000">
                <a:schemeClr val="accent1">
                  <a:lumMod val="20000"/>
                  <a:lumOff val="80000"/>
                  <a:alpha val="60000"/>
                </a:schemeClr>
              </a:gs>
              <a:gs pos="0">
                <a:schemeClr val="accent1">
                  <a:lumMod val="20000"/>
                  <a:lumOff val="80000"/>
                  <a:alpha val="62000"/>
                </a:schemeClr>
              </a:gs>
            </a:gsLst>
            <a:lin ang="5400000" scaled="0"/>
          </a:gradFill>
          <a:ln>
            <a:gradFill>
              <a:gsLst>
                <a:gs pos="77000">
                  <a:schemeClr val="accent1">
                    <a:lumMod val="40000"/>
                    <a:lumOff val="60000"/>
                    <a:alpha val="49000"/>
                  </a:schemeClr>
                </a:gs>
                <a:gs pos="20000">
                  <a:schemeClr val="accent1">
                    <a:lumMod val="40000"/>
                    <a:lumOff val="60000"/>
                    <a:alpha val="49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87" name="任意多边形: 形状 374"/>
          <p:cNvSpPr/>
          <p:nvPr/>
        </p:nvSpPr>
        <p:spPr>
          <a:xfrm rot="21420000">
            <a:off x="5225415" y="941705"/>
            <a:ext cx="1759585" cy="2575560"/>
          </a:xfrm>
          <a:custGeom>
            <a:avLst/>
            <a:gdLst>
              <a:gd name="connsiteX0" fmla="*/ 0 w 2574"/>
              <a:gd name="connsiteY0" fmla="*/ 0 h 2483"/>
              <a:gd name="connsiteX1" fmla="*/ 2574 w 2574"/>
              <a:gd name="connsiteY1" fmla="*/ 36 h 2483"/>
              <a:gd name="connsiteX2" fmla="*/ 2008 w 2574"/>
              <a:gd name="connsiteY2" fmla="*/ 1954 h 2483"/>
              <a:gd name="connsiteX3" fmla="*/ 2008 w 2574"/>
              <a:gd name="connsiteY3" fmla="*/ 1954 h 2483"/>
              <a:gd name="connsiteX4" fmla="*/ 2008 w 2574"/>
              <a:gd name="connsiteY4" fmla="*/ 1958 h 2483"/>
              <a:gd name="connsiteX5" fmla="*/ 1171 w 2574"/>
              <a:gd name="connsiteY5" fmla="*/ 2483 h 2483"/>
              <a:gd name="connsiteX6" fmla="*/ 333 w 2574"/>
              <a:gd name="connsiteY6" fmla="*/ 1958 h 2483"/>
              <a:gd name="connsiteX7" fmla="*/ 333 w 2574"/>
              <a:gd name="connsiteY7" fmla="*/ 1954 h 2483"/>
              <a:gd name="connsiteX8" fmla="*/ 333 w 2574"/>
              <a:gd name="connsiteY8" fmla="*/ 1954 h 2483"/>
              <a:gd name="connsiteX9" fmla="*/ 0 w 2574"/>
              <a:gd name="connsiteY9" fmla="*/ 0 h 2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74" h="2483">
                <a:moveTo>
                  <a:pt x="0" y="0"/>
                </a:moveTo>
                <a:lnTo>
                  <a:pt x="2574" y="36"/>
                </a:lnTo>
                <a:lnTo>
                  <a:pt x="2008" y="1954"/>
                </a:lnTo>
                <a:lnTo>
                  <a:pt x="2008" y="1954"/>
                </a:lnTo>
                <a:lnTo>
                  <a:pt x="2008" y="1958"/>
                </a:lnTo>
                <a:cubicBezTo>
                  <a:pt x="2008" y="2248"/>
                  <a:pt x="1633" y="2483"/>
                  <a:pt x="1171" y="2483"/>
                </a:cubicBezTo>
                <a:cubicBezTo>
                  <a:pt x="708" y="2483"/>
                  <a:pt x="333" y="2248"/>
                  <a:pt x="333" y="1958"/>
                </a:cubicBezTo>
                <a:lnTo>
                  <a:pt x="333" y="1954"/>
                </a:lnTo>
                <a:lnTo>
                  <a:pt x="333" y="1954"/>
                </a:lnTo>
                <a:lnTo>
                  <a:pt x="0" y="0"/>
                </a:lnTo>
                <a:close/>
              </a:path>
            </a:pathLst>
          </a:custGeom>
          <a:gradFill>
            <a:gsLst>
              <a:gs pos="100000">
                <a:schemeClr val="accent5">
                  <a:lumMod val="20000"/>
                  <a:lumOff val="80000"/>
                  <a:alpha val="100000"/>
                </a:schemeClr>
              </a:gs>
              <a:gs pos="0">
                <a:schemeClr val="accent5">
                  <a:lumMod val="20000"/>
                  <a:lumOff val="80000"/>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81" name="显眼包PPT3"/>
          <p:cNvSpPr/>
          <p:nvPr/>
        </p:nvSpPr>
        <p:spPr>
          <a:xfrm rot="16200000" flipH="1">
            <a:off x="8255635" y="2431415"/>
            <a:ext cx="3296920" cy="5426075"/>
          </a:xfrm>
          <a:custGeom>
            <a:avLst/>
            <a:gdLst>
              <a:gd name="connsiteX0" fmla="*/ 0 w 3515232"/>
              <a:gd name="connsiteY0" fmla="*/ 4417977 h 4417977"/>
              <a:gd name="connsiteX1" fmla="*/ 3515232 w 3515232"/>
              <a:gd name="connsiteY1" fmla="*/ 4417977 h 4417977"/>
              <a:gd name="connsiteX2" fmla="*/ 3481313 w 3515232"/>
              <a:gd name="connsiteY2" fmla="*/ 4321859 h 4417977"/>
              <a:gd name="connsiteX3" fmla="*/ 3167594 w 3515232"/>
              <a:gd name="connsiteY3" fmla="*/ 3264867 h 4417977"/>
              <a:gd name="connsiteX4" fmla="*/ 2774364 w 3515232"/>
              <a:gd name="connsiteY4" fmla="*/ 193088 h 4417977"/>
              <a:gd name="connsiteX5" fmla="*/ 2797515 w 3515232"/>
              <a:gd name="connsiteY5" fmla="*/ 0 h 4417977"/>
              <a:gd name="connsiteX6" fmla="*/ 717716 w 3515232"/>
              <a:gd name="connsiteY6" fmla="*/ 0 h 4417977"/>
              <a:gd name="connsiteX7" fmla="*/ 740867 w 3515232"/>
              <a:gd name="connsiteY7" fmla="*/ 193090 h 4417977"/>
              <a:gd name="connsiteX8" fmla="*/ 347637 w 3515232"/>
              <a:gd name="connsiteY8" fmla="*/ 3264868 h 4417977"/>
              <a:gd name="connsiteX9" fmla="*/ 33918 w 3515232"/>
              <a:gd name="connsiteY9" fmla="*/ 4321860 h 4417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5232" h="4417977">
                <a:moveTo>
                  <a:pt x="0" y="4417977"/>
                </a:moveTo>
                <a:lnTo>
                  <a:pt x="3515232" y="4417977"/>
                </a:lnTo>
                <a:lnTo>
                  <a:pt x="3481313" y="4321859"/>
                </a:lnTo>
                <a:cubicBezTo>
                  <a:pt x="3369439" y="3991253"/>
                  <a:pt x="3263527" y="3636383"/>
                  <a:pt x="3167594" y="3264867"/>
                </a:cubicBezTo>
                <a:cubicBezTo>
                  <a:pt x="2847820" y="2026481"/>
                  <a:pt x="2714622" y="896235"/>
                  <a:pt x="2774364" y="193088"/>
                </a:cubicBezTo>
                <a:lnTo>
                  <a:pt x="2797515" y="0"/>
                </a:lnTo>
                <a:lnTo>
                  <a:pt x="717716" y="0"/>
                </a:lnTo>
                <a:lnTo>
                  <a:pt x="740867" y="193090"/>
                </a:lnTo>
                <a:cubicBezTo>
                  <a:pt x="800609" y="896236"/>
                  <a:pt x="667412" y="2026482"/>
                  <a:pt x="347637" y="3264868"/>
                </a:cubicBezTo>
                <a:cubicBezTo>
                  <a:pt x="251705" y="3636384"/>
                  <a:pt x="145792" y="3991254"/>
                  <a:pt x="33918" y="4321860"/>
                </a:cubicBezTo>
                <a:close/>
              </a:path>
            </a:pathLst>
          </a:custGeom>
          <a:gradFill>
            <a:gsLst>
              <a:gs pos="0">
                <a:schemeClr val="accent5">
                  <a:lumMod val="60000"/>
                  <a:lumOff val="40000"/>
                  <a:alpha val="0"/>
                </a:schemeClr>
              </a:gs>
              <a:gs pos="100000">
                <a:schemeClr val="accent5">
                  <a:lumMod val="60000"/>
                  <a:lumOff val="40000"/>
                  <a:alpha val="0"/>
                </a:schemeClr>
              </a:gs>
              <a:gs pos="73000">
                <a:schemeClr val="accent5">
                  <a:lumMod val="60000"/>
                  <a:lumOff val="40000"/>
                  <a:alpha val="24000"/>
                </a:schemeClr>
              </a:gs>
            </a:gsLst>
            <a:lin ang="5400000" scaled="1"/>
          </a:gradFill>
          <a:ln>
            <a:gradFill>
              <a:gsLst>
                <a:gs pos="55600">
                  <a:schemeClr val="accent5">
                    <a:lumMod val="60000"/>
                    <a:lumOff val="40000"/>
                  </a:schemeClr>
                </a:gs>
                <a:gs pos="23000">
                  <a:schemeClr val="accent5">
                    <a:lumMod val="60000"/>
                    <a:lumOff val="40000"/>
                    <a:alpha val="0"/>
                  </a:schemeClr>
                </a:gs>
                <a:gs pos="100000">
                  <a:schemeClr val="accent5">
                    <a:lumMod val="60000"/>
                    <a:lumOff val="4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67" name="显眼包PPT3"/>
          <p:cNvSpPr/>
          <p:nvPr/>
        </p:nvSpPr>
        <p:spPr>
          <a:xfrm rot="5400000">
            <a:off x="1063625" y="2431415"/>
            <a:ext cx="3296920" cy="5426075"/>
          </a:xfrm>
          <a:custGeom>
            <a:avLst/>
            <a:gdLst>
              <a:gd name="connsiteX0" fmla="*/ 0 w 3515232"/>
              <a:gd name="connsiteY0" fmla="*/ 4417977 h 4417977"/>
              <a:gd name="connsiteX1" fmla="*/ 3515232 w 3515232"/>
              <a:gd name="connsiteY1" fmla="*/ 4417977 h 4417977"/>
              <a:gd name="connsiteX2" fmla="*/ 3481313 w 3515232"/>
              <a:gd name="connsiteY2" fmla="*/ 4321859 h 4417977"/>
              <a:gd name="connsiteX3" fmla="*/ 3167594 w 3515232"/>
              <a:gd name="connsiteY3" fmla="*/ 3264867 h 4417977"/>
              <a:gd name="connsiteX4" fmla="*/ 2774364 w 3515232"/>
              <a:gd name="connsiteY4" fmla="*/ 193088 h 4417977"/>
              <a:gd name="connsiteX5" fmla="*/ 2797515 w 3515232"/>
              <a:gd name="connsiteY5" fmla="*/ 0 h 4417977"/>
              <a:gd name="connsiteX6" fmla="*/ 717716 w 3515232"/>
              <a:gd name="connsiteY6" fmla="*/ 0 h 4417977"/>
              <a:gd name="connsiteX7" fmla="*/ 740867 w 3515232"/>
              <a:gd name="connsiteY7" fmla="*/ 193090 h 4417977"/>
              <a:gd name="connsiteX8" fmla="*/ 347637 w 3515232"/>
              <a:gd name="connsiteY8" fmla="*/ 3264868 h 4417977"/>
              <a:gd name="connsiteX9" fmla="*/ 33918 w 3515232"/>
              <a:gd name="connsiteY9" fmla="*/ 4321860 h 4417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5232" h="4417977">
                <a:moveTo>
                  <a:pt x="0" y="4417977"/>
                </a:moveTo>
                <a:lnTo>
                  <a:pt x="3515232" y="4417977"/>
                </a:lnTo>
                <a:lnTo>
                  <a:pt x="3481313" y="4321859"/>
                </a:lnTo>
                <a:cubicBezTo>
                  <a:pt x="3369439" y="3991253"/>
                  <a:pt x="3263527" y="3636383"/>
                  <a:pt x="3167594" y="3264867"/>
                </a:cubicBezTo>
                <a:cubicBezTo>
                  <a:pt x="2847820" y="2026481"/>
                  <a:pt x="2714622" y="896235"/>
                  <a:pt x="2774364" y="193088"/>
                </a:cubicBezTo>
                <a:lnTo>
                  <a:pt x="2797515" y="0"/>
                </a:lnTo>
                <a:lnTo>
                  <a:pt x="717716" y="0"/>
                </a:lnTo>
                <a:lnTo>
                  <a:pt x="740867" y="193090"/>
                </a:lnTo>
                <a:cubicBezTo>
                  <a:pt x="800609" y="896236"/>
                  <a:pt x="667412" y="2026482"/>
                  <a:pt x="347637" y="3264868"/>
                </a:cubicBezTo>
                <a:cubicBezTo>
                  <a:pt x="251705" y="3636384"/>
                  <a:pt x="145792" y="3991254"/>
                  <a:pt x="33918" y="4321860"/>
                </a:cubicBezTo>
                <a:close/>
              </a:path>
            </a:pathLst>
          </a:custGeom>
          <a:gradFill>
            <a:gsLst>
              <a:gs pos="0">
                <a:schemeClr val="accent5">
                  <a:lumMod val="60000"/>
                  <a:lumOff val="40000"/>
                  <a:alpha val="0"/>
                </a:schemeClr>
              </a:gs>
              <a:gs pos="100000">
                <a:schemeClr val="accent5">
                  <a:lumMod val="60000"/>
                  <a:lumOff val="40000"/>
                  <a:alpha val="0"/>
                </a:schemeClr>
              </a:gs>
              <a:gs pos="73000">
                <a:schemeClr val="accent5">
                  <a:lumMod val="60000"/>
                  <a:lumOff val="40000"/>
                  <a:alpha val="24000"/>
                </a:schemeClr>
              </a:gs>
            </a:gsLst>
            <a:lin ang="5400000" scaled="1"/>
          </a:gradFill>
          <a:ln>
            <a:gradFill>
              <a:gsLst>
                <a:gs pos="55600">
                  <a:schemeClr val="accent5">
                    <a:lumMod val="60000"/>
                    <a:lumOff val="40000"/>
                  </a:schemeClr>
                </a:gs>
                <a:gs pos="23000">
                  <a:schemeClr val="accent5">
                    <a:lumMod val="60000"/>
                    <a:lumOff val="40000"/>
                    <a:alpha val="0"/>
                  </a:schemeClr>
                </a:gs>
                <a:gs pos="100000">
                  <a:schemeClr val="accent5">
                    <a:lumMod val="60000"/>
                    <a:lumOff val="4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20" name="显眼包PPT10"/>
          <p:cNvSpPr/>
          <p:nvPr/>
        </p:nvSpPr>
        <p:spPr>
          <a:xfrm>
            <a:off x="1211580" y="5866765"/>
            <a:ext cx="9596120" cy="926464"/>
          </a:xfrm>
          <a:custGeom>
            <a:avLst/>
            <a:gdLst>
              <a:gd name="connsiteX0" fmla="*/ 553814 w 10737672"/>
              <a:gd name="connsiteY0" fmla="*/ 0 h 759065"/>
              <a:gd name="connsiteX1" fmla="*/ 579806 w 10737672"/>
              <a:gd name="connsiteY1" fmla="*/ 0 h 759065"/>
              <a:gd name="connsiteX2" fmla="*/ 660566 w 10737672"/>
              <a:gd name="connsiteY2" fmla="*/ 30978 h 759065"/>
              <a:gd name="connsiteX3" fmla="*/ 5368925 w 10737672"/>
              <a:gd name="connsiteY3" fmla="*/ 179364 h 759065"/>
              <a:gd name="connsiteX4" fmla="*/ 10077284 w 10737672"/>
              <a:gd name="connsiteY4" fmla="*/ 30978 h 759065"/>
              <a:gd name="connsiteX5" fmla="*/ 10158045 w 10737672"/>
              <a:gd name="connsiteY5" fmla="*/ 0 h 759065"/>
              <a:gd name="connsiteX6" fmla="*/ 10183858 w 10737672"/>
              <a:gd name="connsiteY6" fmla="*/ 0 h 759065"/>
              <a:gd name="connsiteX7" fmla="*/ 10732255 w 10737672"/>
              <a:gd name="connsiteY7" fmla="*/ 450011 h 759065"/>
              <a:gd name="connsiteX8" fmla="*/ 10715254 w 10737672"/>
              <a:gd name="connsiteY8" fmla="*/ 450011 h 759065"/>
              <a:gd name="connsiteX9" fmla="*/ 10737672 w 10737672"/>
              <a:gd name="connsiteY9" fmla="*/ 462303 h 759065"/>
              <a:gd name="connsiteX10" fmla="*/ 5368836 w 10737672"/>
              <a:gd name="connsiteY10" fmla="*/ 759065 h 759065"/>
              <a:gd name="connsiteX11" fmla="*/ 0 w 10737672"/>
              <a:gd name="connsiteY11" fmla="*/ 462303 h 759065"/>
              <a:gd name="connsiteX12" fmla="*/ 22418 w 10737672"/>
              <a:gd name="connsiteY12" fmla="*/ 450011 h 759065"/>
              <a:gd name="connsiteX13" fmla="*/ 5417 w 10737672"/>
              <a:gd name="connsiteY13" fmla="*/ 450011 h 759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112" h="1459">
                <a:moveTo>
                  <a:pt x="779" y="0"/>
                </a:moveTo>
                <a:lnTo>
                  <a:pt x="816" y="0"/>
                </a:lnTo>
                <a:cubicBezTo>
                  <a:pt x="975" y="94"/>
                  <a:pt x="1213" y="122"/>
                  <a:pt x="1356" y="133"/>
                </a:cubicBezTo>
                <a:cubicBezTo>
                  <a:pt x="2293" y="302"/>
                  <a:pt x="5144" y="422"/>
                  <a:pt x="7610" y="417"/>
                </a:cubicBezTo>
                <a:cubicBezTo>
                  <a:pt x="11107" y="430"/>
                  <a:pt x="14079" y="205"/>
                  <a:pt x="14346" y="15"/>
                </a:cubicBezTo>
                <a:lnTo>
                  <a:pt x="15104" y="865"/>
                </a:lnTo>
                <a:lnTo>
                  <a:pt x="15080" y="865"/>
                </a:lnTo>
                <a:lnTo>
                  <a:pt x="15112" y="888"/>
                </a:lnTo>
                <a:lnTo>
                  <a:pt x="15109" y="903"/>
                </a:lnTo>
                <a:lnTo>
                  <a:pt x="15102" y="918"/>
                </a:lnTo>
                <a:lnTo>
                  <a:pt x="15095" y="933"/>
                </a:lnTo>
                <a:cubicBezTo>
                  <a:pt x="15017" y="1232"/>
                  <a:pt x="10938" y="1466"/>
                  <a:pt x="7731" y="1459"/>
                </a:cubicBezTo>
                <a:lnTo>
                  <a:pt x="7556" y="1459"/>
                </a:lnTo>
                <a:lnTo>
                  <a:pt x="7365" y="1459"/>
                </a:lnTo>
                <a:cubicBezTo>
                  <a:pt x="3426" y="1468"/>
                  <a:pt x="182" y="1179"/>
                  <a:pt x="33" y="946"/>
                </a:cubicBezTo>
                <a:lnTo>
                  <a:pt x="23" y="933"/>
                </a:lnTo>
                <a:lnTo>
                  <a:pt x="10" y="918"/>
                </a:lnTo>
                <a:lnTo>
                  <a:pt x="3" y="903"/>
                </a:lnTo>
                <a:lnTo>
                  <a:pt x="0" y="888"/>
                </a:lnTo>
                <a:lnTo>
                  <a:pt x="32" y="865"/>
                </a:lnTo>
                <a:lnTo>
                  <a:pt x="8" y="865"/>
                </a:lnTo>
                <a:lnTo>
                  <a:pt x="779" y="0"/>
                </a:lnTo>
                <a:close/>
              </a:path>
            </a:pathLst>
          </a:custGeom>
          <a:gradFill flip="none" rotWithShape="1">
            <a:gsLst>
              <a:gs pos="0">
                <a:schemeClr val="accent1">
                  <a:lumMod val="60000"/>
                  <a:lumOff val="40000"/>
                </a:schemeClr>
              </a:gs>
              <a:gs pos="85000">
                <a:schemeClr val="accent1"/>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6" name="椭圆 25"/>
          <p:cNvSpPr/>
          <p:nvPr/>
        </p:nvSpPr>
        <p:spPr>
          <a:xfrm>
            <a:off x="1804670" y="5507990"/>
            <a:ext cx="8443595" cy="537845"/>
          </a:xfrm>
          <a:prstGeom prst="ellipse">
            <a:avLst/>
          </a:prstGeom>
          <a:solidFill>
            <a:schemeClr val="bg1"/>
          </a:solidFill>
          <a:ln w="19050">
            <a:gradFill>
              <a:gsLst>
                <a:gs pos="0">
                  <a:schemeClr val="accent1">
                    <a:lumMod val="60000"/>
                    <a:lumOff val="40000"/>
                    <a:alpha val="0"/>
                  </a:schemeClr>
                </a:gs>
                <a:gs pos="100000">
                  <a:schemeClr val="accent1">
                    <a:lumMod val="60000"/>
                    <a:lumOff val="40000"/>
                  </a:schemeClr>
                </a:gs>
              </a:gsLst>
              <a:lin ang="5400000" scaled="1"/>
            </a:gradFill>
          </a:ln>
          <a:scene3d>
            <a:camera prst="orthographicFront"/>
            <a:lightRig rig="threePt" dir="t"/>
          </a:scene3d>
          <a:sp3d extrusionH="5715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28" name="椭圆 127"/>
          <p:cNvSpPr/>
          <p:nvPr/>
        </p:nvSpPr>
        <p:spPr>
          <a:xfrm>
            <a:off x="1816100" y="5507990"/>
            <a:ext cx="8443595" cy="537845"/>
          </a:xfrm>
          <a:prstGeom prst="ellipse">
            <a:avLst/>
          </a:prstGeom>
          <a:gradFill>
            <a:gsLst>
              <a:gs pos="100000">
                <a:schemeClr val="accent1">
                  <a:lumMod val="20000"/>
                  <a:lumOff val="80000"/>
                </a:schemeClr>
              </a:gs>
              <a:gs pos="0">
                <a:schemeClr val="accent1">
                  <a:lumMod val="60000"/>
                  <a:lumOff val="40000"/>
                  <a:alpha val="0"/>
                </a:schemeClr>
              </a:gs>
            </a:gsLst>
            <a:lin ang="5400000" scaled="1"/>
          </a:gradFill>
          <a:ln w="47625">
            <a:gradFill>
              <a:gsLst>
                <a:gs pos="12000">
                  <a:schemeClr val="accent1">
                    <a:lumMod val="60000"/>
                    <a:lumOff val="40000"/>
                    <a:alpha val="0"/>
                  </a:schemeClr>
                </a:gs>
                <a:gs pos="52000">
                  <a:schemeClr val="accent1">
                    <a:lumMod val="60000"/>
                    <a:lumOff val="4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 name="标题 2"/>
          <p:cNvSpPr>
            <a:spLocks noGrp="1"/>
          </p:cNvSpPr>
          <p:nvPr/>
        </p:nvSpPr>
        <p:spPr>
          <a:xfrm>
            <a:off x="1105535" y="348298"/>
            <a:ext cx="7352665"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多层平台架构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智能办公数字化应用架构</a:t>
            </a:r>
            <a:endPar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4" name="图片 103"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3" name="椭圆 12"/>
          <p:cNvSpPr/>
          <p:nvPr/>
        </p:nvSpPr>
        <p:spPr>
          <a:xfrm>
            <a:off x="2755265" y="4824095"/>
            <a:ext cx="6542405" cy="417195"/>
          </a:xfrm>
          <a:prstGeom prst="ellipse">
            <a:avLst/>
          </a:prstGeom>
          <a:gradFill>
            <a:gsLst>
              <a:gs pos="100000">
                <a:schemeClr val="accent5">
                  <a:lumMod val="60000"/>
                  <a:lumOff val="40000"/>
                  <a:alpha val="64000"/>
                </a:schemeClr>
              </a:gs>
              <a:gs pos="20000">
                <a:schemeClr val="accent5">
                  <a:lumMod val="60000"/>
                  <a:lumOff val="40000"/>
                  <a:alpha val="0"/>
                </a:schemeClr>
              </a:gs>
            </a:gsLst>
            <a:lin ang="5400000" scaled="1"/>
          </a:gradFill>
          <a:ln w="31750">
            <a:gradFill>
              <a:gsLst>
                <a:gs pos="19000">
                  <a:schemeClr val="accent5">
                    <a:lumMod val="60000"/>
                    <a:lumOff val="40000"/>
                    <a:alpha val="0"/>
                  </a:schemeClr>
                </a:gs>
                <a:gs pos="100000">
                  <a:schemeClr val="accent5">
                    <a:lumMod val="60000"/>
                    <a:lumOff val="4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78" name="任意多边形 177"/>
          <p:cNvSpPr/>
          <p:nvPr/>
        </p:nvSpPr>
        <p:spPr>
          <a:xfrm>
            <a:off x="2756535" y="5016500"/>
            <a:ext cx="6542405" cy="847090"/>
          </a:xfrm>
          <a:custGeom>
            <a:avLst/>
            <a:gdLst/>
            <a:ahLst/>
            <a:cxnLst>
              <a:cxn ang="3">
                <a:pos x="hc" y="t"/>
              </a:cxn>
              <a:cxn ang="cd2">
                <a:pos x="l" y="vc"/>
              </a:cxn>
              <a:cxn ang="cd4">
                <a:pos x="hc" y="b"/>
              </a:cxn>
              <a:cxn ang="0">
                <a:pos x="r" y="vc"/>
              </a:cxn>
            </a:cxnLst>
            <a:rect l="l" t="t" r="r" b="b"/>
            <a:pathLst>
              <a:path w="10303" h="1334">
                <a:moveTo>
                  <a:pt x="0" y="0"/>
                </a:moveTo>
                <a:lnTo>
                  <a:pt x="5" y="0"/>
                </a:lnTo>
                <a:lnTo>
                  <a:pt x="0" y="7"/>
                </a:lnTo>
                <a:lnTo>
                  <a:pt x="0" y="0"/>
                </a:lnTo>
                <a:close/>
                <a:moveTo>
                  <a:pt x="10294" y="0"/>
                </a:moveTo>
                <a:lnTo>
                  <a:pt x="10301" y="0"/>
                </a:lnTo>
                <a:lnTo>
                  <a:pt x="10301" y="17"/>
                </a:lnTo>
                <a:lnTo>
                  <a:pt x="10299" y="8"/>
                </a:lnTo>
                <a:lnTo>
                  <a:pt x="10294" y="0"/>
                </a:lnTo>
                <a:close/>
                <a:moveTo>
                  <a:pt x="10301" y="17"/>
                </a:moveTo>
                <a:lnTo>
                  <a:pt x="10301" y="996"/>
                </a:lnTo>
                <a:lnTo>
                  <a:pt x="10301" y="997"/>
                </a:lnTo>
                <a:lnTo>
                  <a:pt x="10303" y="1006"/>
                </a:lnTo>
                <a:lnTo>
                  <a:pt x="10301" y="1014"/>
                </a:lnTo>
                <a:lnTo>
                  <a:pt x="10301" y="1015"/>
                </a:lnTo>
                <a:lnTo>
                  <a:pt x="10301" y="1032"/>
                </a:lnTo>
                <a:lnTo>
                  <a:pt x="10286" y="1032"/>
                </a:lnTo>
                <a:cubicBezTo>
                  <a:pt x="10169" y="1202"/>
                  <a:pt x="7607" y="1339"/>
                  <a:pt x="5152" y="1334"/>
                </a:cubicBezTo>
                <a:cubicBezTo>
                  <a:pt x="2403" y="1340"/>
                  <a:pt x="134" y="1184"/>
                  <a:pt x="17" y="1032"/>
                </a:cubicBezTo>
                <a:lnTo>
                  <a:pt x="0" y="1032"/>
                </a:lnTo>
                <a:lnTo>
                  <a:pt x="0" y="26"/>
                </a:lnTo>
                <a:lnTo>
                  <a:pt x="5" y="34"/>
                </a:lnTo>
                <a:lnTo>
                  <a:pt x="13" y="42"/>
                </a:lnTo>
                <a:lnTo>
                  <a:pt x="18" y="50"/>
                </a:lnTo>
                <a:cubicBezTo>
                  <a:pt x="78" y="219"/>
                  <a:pt x="3019" y="349"/>
                  <a:pt x="4928" y="345"/>
                </a:cubicBezTo>
                <a:lnTo>
                  <a:pt x="5032" y="345"/>
                </a:lnTo>
                <a:lnTo>
                  <a:pt x="5150" y="345"/>
                </a:lnTo>
                <a:lnTo>
                  <a:pt x="5280" y="345"/>
                </a:lnTo>
                <a:lnTo>
                  <a:pt x="5408" y="345"/>
                </a:lnTo>
                <a:cubicBezTo>
                  <a:pt x="8031" y="349"/>
                  <a:pt x="10187" y="173"/>
                  <a:pt x="10272" y="56"/>
                </a:cubicBezTo>
                <a:lnTo>
                  <a:pt x="10278" y="49"/>
                </a:lnTo>
                <a:lnTo>
                  <a:pt x="10286" y="42"/>
                </a:lnTo>
                <a:lnTo>
                  <a:pt x="10294" y="34"/>
                </a:lnTo>
                <a:lnTo>
                  <a:pt x="10299" y="25"/>
                </a:lnTo>
                <a:lnTo>
                  <a:pt x="10301" y="17"/>
                </a:lnTo>
                <a:close/>
              </a:path>
            </a:pathLst>
          </a:custGeom>
          <a:gradFill>
            <a:gsLst>
              <a:gs pos="100000">
                <a:schemeClr val="accent5">
                  <a:lumMod val="60000"/>
                  <a:lumOff val="40000"/>
                </a:schemeClr>
              </a:gs>
              <a:gs pos="0">
                <a:schemeClr val="accent5">
                  <a:lumMod val="60000"/>
                  <a:lumOff val="40000"/>
                  <a:alpha val="0"/>
                </a:schemeClr>
              </a:gs>
            </a:gsLst>
            <a:lin ang="5400000" scaled="1"/>
          </a:gradFill>
          <a:ln w="31750">
            <a:gradFill>
              <a:gsLst>
                <a:gs pos="42000">
                  <a:schemeClr val="accent5">
                    <a:lumMod val="60000"/>
                    <a:lumOff val="40000"/>
                    <a:alpha val="0"/>
                  </a:schemeClr>
                </a:gs>
                <a:gs pos="100000">
                  <a:schemeClr val="accent5">
                    <a:lumMod val="60000"/>
                    <a:lumOff val="4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83" name="圆角矩形 182"/>
          <p:cNvSpPr/>
          <p:nvPr/>
        </p:nvSpPr>
        <p:spPr>
          <a:xfrm>
            <a:off x="4688840" y="5339715"/>
            <a:ext cx="2395855" cy="405130"/>
          </a:xfrm>
          <a:prstGeom prst="roundRect">
            <a:avLst>
              <a:gd name="adj" fmla="val 50000"/>
            </a:avLst>
          </a:prstGeom>
          <a:gradFill>
            <a:gsLst>
              <a:gs pos="0">
                <a:schemeClr val="accent5"/>
              </a:gs>
              <a:gs pos="100000">
                <a:schemeClr val="accent5">
                  <a:lumMod val="60000"/>
                  <a:lumOff val="40000"/>
                </a:schemeClr>
              </a:gs>
            </a:gsLst>
            <a:lin ang="54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a:latin typeface="微软雅黑" panose="020B0503020204020204" charset="-122"/>
                <a:ea typeface="微软雅黑" panose="020B0503020204020204" charset="-122"/>
                <a:cs typeface="微软雅黑" panose="020B0503020204020204" charset="-122"/>
              </a:rPr>
              <a:t>AI</a:t>
            </a:r>
            <a:r>
              <a:rPr lang="zh-CN" altLang="en-US" b="1">
                <a:latin typeface="微软雅黑" panose="020B0503020204020204" charset="-122"/>
                <a:ea typeface="微软雅黑" panose="020B0503020204020204" charset="-122"/>
                <a:cs typeface="微软雅黑" panose="020B0503020204020204" charset="-122"/>
              </a:rPr>
              <a:t>基础大模型</a:t>
            </a:r>
            <a:endParaRPr lang="zh-CN" altLang="en-US" b="1">
              <a:latin typeface="微软雅黑" panose="020B0503020204020204" charset="-122"/>
              <a:ea typeface="微软雅黑" panose="020B0503020204020204" charset="-122"/>
              <a:cs typeface="微软雅黑" panose="020B0503020204020204" charset="-122"/>
            </a:endParaRPr>
          </a:p>
        </p:txBody>
      </p:sp>
      <p:sp>
        <p:nvSpPr>
          <p:cNvPr id="199" name="椭圆 198"/>
          <p:cNvSpPr/>
          <p:nvPr/>
        </p:nvSpPr>
        <p:spPr>
          <a:xfrm>
            <a:off x="5012055" y="5974715"/>
            <a:ext cx="146685" cy="146685"/>
          </a:xfrm>
          <a:prstGeom prst="ellipse">
            <a:avLst/>
          </a:pr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0" name="矩形 199"/>
          <p:cNvSpPr/>
          <p:nvPr/>
        </p:nvSpPr>
        <p:spPr>
          <a:xfrm>
            <a:off x="4550410" y="6209030"/>
            <a:ext cx="1053465" cy="259715"/>
          </a:xfrm>
          <a:prstGeom prst="rect">
            <a:avLst/>
          </a:prstGeom>
        </p:spPr>
        <p:txBody>
          <a:bodyPr wrap="square">
            <a:noAutofit/>
          </a:bodyPr>
          <a:lstStyle/>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跨平台融合</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01" name="矩形 200"/>
          <p:cNvSpPr/>
          <p:nvPr/>
        </p:nvSpPr>
        <p:spPr>
          <a:xfrm>
            <a:off x="4061460" y="6424930"/>
            <a:ext cx="2040890" cy="282575"/>
          </a:xfrm>
          <a:prstGeom prst="rect">
            <a:avLst/>
          </a:prstGeom>
        </p:spPr>
        <p:txBody>
          <a:bodyPr wrap="square">
            <a:no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无缝连接各类办公系统</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02" name="椭圆 201"/>
          <p:cNvSpPr/>
          <p:nvPr/>
        </p:nvSpPr>
        <p:spPr>
          <a:xfrm>
            <a:off x="6995160" y="5974715"/>
            <a:ext cx="146685" cy="146685"/>
          </a:xfrm>
          <a:prstGeom prst="ellipse">
            <a:avLst/>
          </a:pr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3" name="矩形 202"/>
          <p:cNvSpPr/>
          <p:nvPr/>
        </p:nvSpPr>
        <p:spPr>
          <a:xfrm>
            <a:off x="6735445" y="6186170"/>
            <a:ext cx="826770" cy="259715"/>
          </a:xfrm>
          <a:prstGeom prst="rect">
            <a:avLst/>
          </a:prstGeom>
        </p:spPr>
        <p:txBody>
          <a:bodyPr wrap="square">
            <a:noAutofit/>
          </a:bodyPr>
          <a:lstStyle/>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算力保障</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04" name="矩形 203"/>
          <p:cNvSpPr/>
          <p:nvPr/>
        </p:nvSpPr>
        <p:spPr>
          <a:xfrm>
            <a:off x="6128385" y="6402070"/>
            <a:ext cx="2040890" cy="282575"/>
          </a:xfrm>
          <a:prstGeom prst="rect">
            <a:avLst/>
          </a:prstGeom>
        </p:spPr>
        <p:txBody>
          <a:bodyPr wrap="square">
            <a:no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高性能</a:t>
            </a:r>
            <a:r>
              <a:rPr lang="en-US" altLang="zh-CN" sz="1000" dirty="0">
                <a:solidFill>
                  <a:schemeClr val="bg1"/>
                </a:solidFill>
                <a:latin typeface="微软雅黑" panose="020B0503020204020204" charset="-122"/>
                <a:ea typeface="微软雅黑" panose="020B0503020204020204" charset="-122"/>
                <a:cs typeface="微软雅黑" panose="020B0503020204020204" charset="-122"/>
              </a:rPr>
              <a:t>GPU</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算力一体机</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05" name="椭圆 204"/>
          <p:cNvSpPr/>
          <p:nvPr/>
        </p:nvSpPr>
        <p:spPr>
          <a:xfrm>
            <a:off x="2609850" y="5899150"/>
            <a:ext cx="146685" cy="146685"/>
          </a:xfrm>
          <a:prstGeom prst="ellipse">
            <a:avLst/>
          </a:pr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6" name="矩形 205"/>
          <p:cNvSpPr/>
          <p:nvPr/>
        </p:nvSpPr>
        <p:spPr>
          <a:xfrm rot="360000">
            <a:off x="2104390" y="6116955"/>
            <a:ext cx="1082675" cy="259715"/>
          </a:xfrm>
          <a:prstGeom prst="rect">
            <a:avLst/>
          </a:prstGeom>
        </p:spPr>
        <p:txBody>
          <a:bodyPr wrap="square">
            <a:noAutofit/>
          </a:bodyPr>
          <a:lstStyle/>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自动化流程</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07" name="矩形 206"/>
          <p:cNvSpPr/>
          <p:nvPr/>
        </p:nvSpPr>
        <p:spPr>
          <a:xfrm rot="300000">
            <a:off x="1598295" y="6337300"/>
            <a:ext cx="2040890" cy="282575"/>
          </a:xfrm>
          <a:prstGeom prst="rect">
            <a:avLst/>
          </a:prstGeom>
        </p:spPr>
        <p:txBody>
          <a:bodyPr wrap="square">
            <a:no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实现任务端到端智能流转</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08" name="矩形 207"/>
          <p:cNvSpPr/>
          <p:nvPr/>
        </p:nvSpPr>
        <p:spPr>
          <a:xfrm rot="21240000">
            <a:off x="9187815" y="6032500"/>
            <a:ext cx="826770" cy="259715"/>
          </a:xfrm>
          <a:prstGeom prst="rect">
            <a:avLst/>
          </a:prstGeom>
        </p:spPr>
        <p:txBody>
          <a:bodyPr wrap="square">
            <a:noAutofit/>
          </a:bodyPr>
          <a:lstStyle/>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数据安全</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09" name="矩形 208"/>
          <p:cNvSpPr/>
          <p:nvPr/>
        </p:nvSpPr>
        <p:spPr>
          <a:xfrm rot="21300000">
            <a:off x="8670925" y="6271260"/>
            <a:ext cx="1964055" cy="282575"/>
          </a:xfrm>
          <a:prstGeom prst="rect">
            <a:avLst/>
          </a:prstGeom>
        </p:spPr>
        <p:txBody>
          <a:bodyPr wrap="square">
            <a:no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全链路加密与权限分级管控</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10" name="椭圆 209"/>
          <p:cNvSpPr/>
          <p:nvPr/>
        </p:nvSpPr>
        <p:spPr>
          <a:xfrm>
            <a:off x="9528175" y="5840730"/>
            <a:ext cx="146685" cy="146685"/>
          </a:xfrm>
          <a:prstGeom prst="ellipse">
            <a:avLst/>
          </a:pr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85" name="文本框 284"/>
          <p:cNvSpPr txBox="1"/>
          <p:nvPr/>
        </p:nvSpPr>
        <p:spPr>
          <a:xfrm>
            <a:off x="1009040" y="4247543"/>
            <a:ext cx="685800" cy="276860"/>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gradFill>
                  <a:gsLst>
                    <a:gs pos="0">
                      <a:schemeClr val="accent5">
                        <a:lumMod val="60000"/>
                        <a:lumOff val="40000"/>
                      </a:schemeClr>
                    </a:gs>
                    <a:gs pos="100000">
                      <a:schemeClr val="accent5"/>
                    </a:gs>
                  </a:gsLst>
                  <a:lin ang="5400000" scaled="0"/>
                </a:gradFill>
                <a:effectLst/>
                <a:uLnTx/>
                <a:uFillTx/>
                <a:latin typeface="微软雅黑" panose="020B0503020204020204" charset="-122"/>
                <a:ea typeface="微软雅黑" panose="020B0503020204020204" charset="-122"/>
                <a:cs typeface="微软雅黑" panose="020B0503020204020204" charset="-122"/>
              </a:rPr>
              <a:t>知识力</a:t>
            </a:r>
            <a:endParaRPr kumimoji="0" lang="zh-CN" altLang="en-US" sz="1800" b="1" i="0" u="none" strike="noStrike" kern="1200" cap="none" spc="0" normalizeH="0" baseline="0" noProof="0" dirty="0">
              <a:ln>
                <a:noFill/>
              </a:ln>
              <a:gradFill>
                <a:gsLst>
                  <a:gs pos="0">
                    <a:schemeClr val="accent5">
                      <a:lumMod val="60000"/>
                      <a:lumOff val="40000"/>
                    </a:schemeClr>
                  </a:gs>
                  <a:gs pos="100000">
                    <a:schemeClr val="accent5"/>
                  </a:gs>
                </a:gsLst>
                <a:lin ang="5400000" scaled="0"/>
              </a:gradFill>
              <a:effectLst/>
              <a:uLnTx/>
              <a:uFillTx/>
              <a:latin typeface="微软雅黑" panose="020B0503020204020204" charset="-122"/>
              <a:ea typeface="微软雅黑" panose="020B0503020204020204" charset="-122"/>
              <a:cs typeface="微软雅黑" panose="020B0503020204020204" charset="-122"/>
            </a:endParaRPr>
          </a:p>
        </p:txBody>
      </p:sp>
      <p:sp>
        <p:nvSpPr>
          <p:cNvPr id="287" name="文本框 286"/>
          <p:cNvSpPr txBox="1"/>
          <p:nvPr/>
        </p:nvSpPr>
        <p:spPr>
          <a:xfrm>
            <a:off x="244475" y="4736465"/>
            <a:ext cx="2295525" cy="717550"/>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30000"/>
              </a:lnSpc>
              <a:spcBef>
                <a:spcPts val="0"/>
              </a:spcBef>
              <a:spcAft>
                <a:spcPts val="0"/>
              </a:spcAft>
              <a:buClrTx/>
              <a:buSzTx/>
              <a:buFont typeface="Wingdings" panose="05000000000000000000" charset="0"/>
              <a:buChar char="Ø"/>
              <a:defRPr/>
            </a:pP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构建基于企业的专属文档库，</a:t>
            </a:r>
            <a:endPar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30000"/>
              </a:lnSpc>
              <a:spcBef>
                <a:spcPts val="0"/>
              </a:spcBef>
              <a:spcAft>
                <a:spcPts val="0"/>
              </a:spcAft>
              <a:buClrTx/>
              <a:buSzTx/>
              <a:buFont typeface="Wingdings" panose="05000000000000000000" charset="0"/>
              <a:buChar char="Ø"/>
              <a:defRPr/>
            </a:pP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行业知识库与公共信息的</a:t>
            </a:r>
            <a:r>
              <a:rPr kumimoji="0" lang="en-US" altLang="zh-CN"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办公大脑</a:t>
            </a:r>
            <a:r>
              <a:rPr kumimoji="0" lang="en-US" altLang="zh-CN"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endPar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30000"/>
              </a:lnSpc>
              <a:spcBef>
                <a:spcPts val="0"/>
              </a:spcBef>
              <a:spcAft>
                <a:spcPts val="0"/>
              </a:spcAft>
              <a:buClrTx/>
              <a:buSzTx/>
              <a:buFont typeface="Wingdings" panose="05000000000000000000" charset="0"/>
              <a:buChar char="Ø"/>
              <a:defRPr/>
            </a:pP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实现从海量数据到结构化知识的精准检索，</a:t>
            </a:r>
            <a:endPar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30000"/>
              </a:lnSpc>
              <a:spcBef>
                <a:spcPts val="0"/>
              </a:spcBef>
              <a:spcAft>
                <a:spcPts val="0"/>
              </a:spcAft>
              <a:buClrTx/>
              <a:buSzTx/>
              <a:buFont typeface="Wingdings" panose="05000000000000000000" charset="0"/>
              <a:buChar char="Ø"/>
              <a:defRPr/>
            </a:pP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为决策与协作提供统一、可信的信息源。</a:t>
            </a:r>
            <a:endPar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332" name="图片 331" descr="知识库"/>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200" y="4142740"/>
            <a:ext cx="448310" cy="448310"/>
          </a:xfrm>
          <a:prstGeom prst="rect">
            <a:avLst/>
          </a:prstGeom>
        </p:spPr>
      </p:pic>
      <p:sp>
        <p:nvSpPr>
          <p:cNvPr id="333" name="文本框 332"/>
          <p:cNvSpPr txBox="1"/>
          <p:nvPr/>
        </p:nvSpPr>
        <p:spPr>
          <a:xfrm>
            <a:off x="10530865" y="4301518"/>
            <a:ext cx="685800" cy="276860"/>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gradFill>
                  <a:gsLst>
                    <a:gs pos="0">
                      <a:schemeClr val="accent5">
                        <a:lumMod val="60000"/>
                        <a:lumOff val="40000"/>
                      </a:schemeClr>
                    </a:gs>
                    <a:gs pos="100000">
                      <a:schemeClr val="accent5"/>
                    </a:gs>
                  </a:gsLst>
                  <a:lin ang="5400000" scaled="0"/>
                </a:gradFill>
                <a:effectLst/>
                <a:uLnTx/>
                <a:uFillTx/>
                <a:latin typeface="微软雅黑" panose="020B0503020204020204" charset="-122"/>
                <a:ea typeface="微软雅黑" panose="020B0503020204020204" charset="-122"/>
                <a:cs typeface="微软雅黑" panose="020B0503020204020204" charset="-122"/>
              </a:rPr>
              <a:t>专业力</a:t>
            </a:r>
            <a:endParaRPr kumimoji="0" lang="zh-CN" altLang="en-US" sz="1800" b="1" i="0" u="none" strike="noStrike" kern="1200" cap="none" spc="0" normalizeH="0" baseline="0" noProof="0" dirty="0">
              <a:ln>
                <a:noFill/>
              </a:ln>
              <a:gradFill>
                <a:gsLst>
                  <a:gs pos="0">
                    <a:schemeClr val="accent5">
                      <a:lumMod val="60000"/>
                      <a:lumOff val="40000"/>
                    </a:schemeClr>
                  </a:gs>
                  <a:gs pos="100000">
                    <a:schemeClr val="accent5"/>
                  </a:gs>
                </a:gsLst>
                <a:lin ang="5400000" scaled="0"/>
              </a:gradFill>
              <a:effectLst/>
              <a:uLnTx/>
              <a:uFillTx/>
              <a:latin typeface="微软雅黑" panose="020B0503020204020204" charset="-122"/>
              <a:ea typeface="微软雅黑" panose="020B0503020204020204" charset="-122"/>
              <a:cs typeface="微软雅黑" panose="020B0503020204020204" charset="-122"/>
            </a:endParaRPr>
          </a:p>
        </p:txBody>
      </p:sp>
      <p:sp>
        <p:nvSpPr>
          <p:cNvPr id="334" name="文本框 333"/>
          <p:cNvSpPr txBox="1"/>
          <p:nvPr/>
        </p:nvSpPr>
        <p:spPr>
          <a:xfrm>
            <a:off x="9796780" y="4736465"/>
            <a:ext cx="2295525" cy="717550"/>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30000"/>
              </a:lnSpc>
              <a:spcBef>
                <a:spcPts val="0"/>
              </a:spcBef>
              <a:spcAft>
                <a:spcPts val="0"/>
              </a:spcAft>
              <a:buClrTx/>
              <a:buSzTx/>
              <a:buFont typeface="Wingdings" panose="05000000000000000000" charset="0"/>
              <a:buChar char="Ø"/>
              <a:defRPr/>
            </a:pP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将专业能力模块化，</a:t>
            </a:r>
            <a:endPar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30000"/>
              </a:lnSpc>
              <a:spcBef>
                <a:spcPts val="0"/>
              </a:spcBef>
              <a:spcAft>
                <a:spcPts val="0"/>
              </a:spcAft>
              <a:buClrTx/>
              <a:buSzTx/>
              <a:buFont typeface="Wingdings" panose="05000000000000000000" charset="0"/>
              <a:buChar char="Ø"/>
              <a:defRPr/>
            </a:pP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深度嵌入具体办公流程，</a:t>
            </a:r>
            <a:endPar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30000"/>
              </a:lnSpc>
              <a:spcBef>
                <a:spcPts val="0"/>
              </a:spcBef>
              <a:spcAft>
                <a:spcPts val="0"/>
              </a:spcAft>
              <a:buClrTx/>
              <a:buSzTx/>
              <a:buFont typeface="Wingdings" panose="05000000000000000000" charset="0"/>
              <a:buChar char="Ø"/>
              <a:defRPr/>
            </a:pP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提供从分析、建议到自动执行的闭环服务，</a:t>
            </a:r>
            <a:endPar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eaLnBrk="1" fontAlgn="auto" latinLnBrk="0" hangingPunct="1">
              <a:lnSpc>
                <a:spcPct val="130000"/>
              </a:lnSpc>
              <a:spcBef>
                <a:spcPts val="0"/>
              </a:spcBef>
              <a:spcAft>
                <a:spcPts val="0"/>
              </a:spcAft>
              <a:buClrTx/>
              <a:buSzTx/>
              <a:buFont typeface="Wingdings" panose="05000000000000000000" charset="0"/>
              <a:buChar char="Ø"/>
              <a:defRPr/>
            </a:pP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成为各岗位的</a:t>
            </a:r>
            <a:r>
              <a:rPr kumimoji="0" lang="en-US" altLang="zh-CN"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专家级</a:t>
            </a:r>
            <a:r>
              <a:rPr kumimoji="0" lang="en-US" altLang="zh-CN"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智能同事。</a:t>
            </a:r>
            <a:endParaRPr kumimoji="0" lang="zh-CN" altLang="en-US" sz="9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336" name="图片 335" descr="专业服务"/>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26980" y="4234815"/>
            <a:ext cx="343535" cy="343535"/>
          </a:xfrm>
          <a:prstGeom prst="rect">
            <a:avLst/>
          </a:prstGeom>
        </p:spPr>
      </p:pic>
      <p:sp>
        <p:nvSpPr>
          <p:cNvPr id="33" name="椭圆 32"/>
          <p:cNvSpPr/>
          <p:nvPr/>
        </p:nvSpPr>
        <p:spPr>
          <a:xfrm>
            <a:off x="1804670" y="1690370"/>
            <a:ext cx="8443595" cy="417195"/>
          </a:xfrm>
          <a:prstGeom prst="ellipse">
            <a:avLst/>
          </a:prstGeom>
          <a:gradFill>
            <a:gsLst>
              <a:gs pos="100000">
                <a:schemeClr val="accent1">
                  <a:lumMod val="60000"/>
                  <a:lumOff val="40000"/>
                  <a:alpha val="34000"/>
                </a:schemeClr>
              </a:gs>
              <a:gs pos="0">
                <a:schemeClr val="accent1">
                  <a:lumMod val="60000"/>
                  <a:lumOff val="40000"/>
                  <a:alpha val="0"/>
                </a:schemeClr>
              </a:gs>
            </a:gsLst>
            <a:lin ang="5400000" scaled="1"/>
          </a:gradFill>
          <a:ln w="47625">
            <a:gradFill>
              <a:gsLst>
                <a:gs pos="42000">
                  <a:schemeClr val="accent1">
                    <a:lumMod val="60000"/>
                    <a:lumOff val="40000"/>
                    <a:alpha val="0"/>
                  </a:schemeClr>
                </a:gs>
                <a:gs pos="100000">
                  <a:schemeClr val="accent1">
                    <a:lumMod val="60000"/>
                    <a:lumOff val="4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nvGrpSpPr>
          <p:cNvPr id="82" name="组合 81"/>
          <p:cNvGrpSpPr/>
          <p:nvPr/>
        </p:nvGrpSpPr>
        <p:grpSpPr>
          <a:xfrm rot="0">
            <a:off x="2858135" y="2286000"/>
            <a:ext cx="1476375" cy="1476375"/>
            <a:chOff x="4882" y="4152"/>
            <a:chExt cx="2096" cy="2096"/>
          </a:xfrm>
        </p:grpSpPr>
        <p:sp>
          <p:nvSpPr>
            <p:cNvPr id="74" name="椭圆 73"/>
            <p:cNvSpPr/>
            <p:nvPr/>
          </p:nvSpPr>
          <p:spPr>
            <a:xfrm>
              <a:off x="4882" y="4152"/>
              <a:ext cx="2097" cy="2097"/>
            </a:xfrm>
            <a:prstGeom prst="ellipse">
              <a:avLst/>
            </a:prstGeom>
            <a:solidFill>
              <a:schemeClr val="bg1">
                <a:alpha val="34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75" name="椭圆 74"/>
            <p:cNvSpPr/>
            <p:nvPr/>
          </p:nvSpPr>
          <p:spPr>
            <a:xfrm>
              <a:off x="5062" y="4332"/>
              <a:ext cx="1737" cy="1737"/>
            </a:xfrm>
            <a:prstGeom prst="ellipse">
              <a:avLst/>
            </a:prstGeom>
            <a:gradFill>
              <a:gsLst>
                <a:gs pos="0">
                  <a:schemeClr val="accent1"/>
                </a:gs>
                <a:gs pos="100000">
                  <a:schemeClr val="accent1">
                    <a:lumMod val="60000"/>
                    <a:lumOff val="40000"/>
                  </a:schemeClr>
                </a:gs>
              </a:gsLst>
              <a:lin ang="81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83" name="组合 82"/>
          <p:cNvGrpSpPr/>
          <p:nvPr/>
        </p:nvGrpSpPr>
        <p:grpSpPr>
          <a:xfrm rot="0">
            <a:off x="7743190" y="2325370"/>
            <a:ext cx="1476375" cy="1476375"/>
            <a:chOff x="4882" y="4152"/>
            <a:chExt cx="2096" cy="2096"/>
          </a:xfrm>
        </p:grpSpPr>
        <p:sp>
          <p:nvSpPr>
            <p:cNvPr id="91" name="椭圆 90"/>
            <p:cNvSpPr/>
            <p:nvPr/>
          </p:nvSpPr>
          <p:spPr>
            <a:xfrm>
              <a:off x="4882" y="4152"/>
              <a:ext cx="2097" cy="2097"/>
            </a:xfrm>
            <a:prstGeom prst="ellipse">
              <a:avLst/>
            </a:prstGeom>
            <a:solidFill>
              <a:schemeClr val="bg1">
                <a:alpha val="34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92" name="椭圆 91"/>
            <p:cNvSpPr/>
            <p:nvPr/>
          </p:nvSpPr>
          <p:spPr>
            <a:xfrm>
              <a:off x="5062" y="4332"/>
              <a:ext cx="1737" cy="1737"/>
            </a:xfrm>
            <a:prstGeom prst="ellipse">
              <a:avLst/>
            </a:prstGeom>
            <a:gradFill>
              <a:gsLst>
                <a:gs pos="0">
                  <a:schemeClr val="accent1"/>
                </a:gs>
                <a:gs pos="100000">
                  <a:schemeClr val="accent1">
                    <a:lumMod val="60000"/>
                    <a:lumOff val="40000"/>
                  </a:schemeClr>
                </a:gs>
              </a:gsLst>
              <a:lin ang="81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sp>
        <p:nvSpPr>
          <p:cNvPr id="113" name="圆角矩形 112"/>
          <p:cNvSpPr/>
          <p:nvPr/>
        </p:nvSpPr>
        <p:spPr>
          <a:xfrm>
            <a:off x="279400" y="2172970"/>
            <a:ext cx="1237615" cy="281305"/>
          </a:xfrm>
          <a:prstGeom prst="roundRect">
            <a:avLst>
              <a:gd name="adj" fmla="val 50000"/>
            </a:avLst>
          </a:prstGeom>
          <a:gradFill>
            <a:gsLst>
              <a:gs pos="100000">
                <a:schemeClr val="accent1"/>
              </a:gs>
              <a:gs pos="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latin typeface="微软雅黑" panose="020B0503020204020204" charset="-122"/>
                <a:ea typeface="微软雅黑" panose="020B0503020204020204" charset="-122"/>
                <a:cs typeface="微软雅黑" panose="020B0503020204020204" charset="-122"/>
              </a:rPr>
              <a:t>智能问答</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114" name="圆角矩形 113"/>
          <p:cNvSpPr/>
          <p:nvPr/>
        </p:nvSpPr>
        <p:spPr>
          <a:xfrm>
            <a:off x="540385" y="2720340"/>
            <a:ext cx="1237615" cy="281305"/>
          </a:xfrm>
          <a:prstGeom prst="roundRect">
            <a:avLst>
              <a:gd name="adj" fmla="val 50000"/>
            </a:avLst>
          </a:prstGeom>
          <a:gradFill>
            <a:gsLst>
              <a:gs pos="100000">
                <a:schemeClr val="accent1"/>
              </a:gs>
              <a:gs pos="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latin typeface="微软雅黑" panose="020B0503020204020204" charset="-122"/>
                <a:ea typeface="微软雅黑" panose="020B0503020204020204" charset="-122"/>
                <a:cs typeface="微软雅黑" panose="020B0503020204020204" charset="-122"/>
                <a:sym typeface="+mn-ea"/>
              </a:rPr>
              <a:t>辅助分析</a:t>
            </a: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sp>
        <p:nvSpPr>
          <p:cNvPr id="115" name="圆角矩形 114"/>
          <p:cNvSpPr/>
          <p:nvPr/>
        </p:nvSpPr>
        <p:spPr>
          <a:xfrm>
            <a:off x="800100" y="3244215"/>
            <a:ext cx="1237615" cy="281305"/>
          </a:xfrm>
          <a:prstGeom prst="roundRect">
            <a:avLst>
              <a:gd name="adj" fmla="val 50000"/>
            </a:avLst>
          </a:prstGeom>
          <a:gradFill>
            <a:gsLst>
              <a:gs pos="100000">
                <a:schemeClr val="accent1"/>
              </a:gs>
              <a:gs pos="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latin typeface="微软雅黑" panose="020B0503020204020204" charset="-122"/>
                <a:ea typeface="微软雅黑" panose="020B0503020204020204" charset="-122"/>
                <a:cs typeface="微软雅黑" panose="020B0503020204020204" charset="-122"/>
                <a:sym typeface="+mn-ea"/>
              </a:rPr>
              <a:t>风险预警</a:t>
            </a: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sp>
        <p:nvSpPr>
          <p:cNvPr id="116" name="圆角矩形 115"/>
          <p:cNvSpPr/>
          <p:nvPr/>
        </p:nvSpPr>
        <p:spPr>
          <a:xfrm>
            <a:off x="10511155" y="2183130"/>
            <a:ext cx="1237615" cy="281305"/>
          </a:xfrm>
          <a:prstGeom prst="roundRect">
            <a:avLst>
              <a:gd name="adj" fmla="val 50000"/>
            </a:avLst>
          </a:prstGeom>
          <a:gradFill>
            <a:gsLst>
              <a:gs pos="100000">
                <a:schemeClr val="accent1"/>
              </a:gs>
              <a:gs pos="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latin typeface="微软雅黑" panose="020B0503020204020204" charset="-122"/>
                <a:ea typeface="微软雅黑" panose="020B0503020204020204" charset="-122"/>
                <a:cs typeface="微软雅黑" panose="020B0503020204020204" charset="-122"/>
                <a:sym typeface="+mn-ea"/>
              </a:rPr>
              <a:t>情绪感知</a:t>
            </a: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sp>
        <p:nvSpPr>
          <p:cNvPr id="117" name="圆角矩形 116"/>
          <p:cNvSpPr/>
          <p:nvPr/>
        </p:nvSpPr>
        <p:spPr>
          <a:xfrm>
            <a:off x="10284460" y="2726690"/>
            <a:ext cx="1237615" cy="281305"/>
          </a:xfrm>
          <a:prstGeom prst="roundRect">
            <a:avLst>
              <a:gd name="adj" fmla="val 50000"/>
            </a:avLst>
          </a:prstGeom>
          <a:gradFill>
            <a:gsLst>
              <a:gs pos="100000">
                <a:schemeClr val="accent1"/>
              </a:gs>
              <a:gs pos="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latin typeface="微软雅黑" panose="020B0503020204020204" charset="-122"/>
                <a:ea typeface="微软雅黑" panose="020B0503020204020204" charset="-122"/>
                <a:cs typeface="微软雅黑" panose="020B0503020204020204" charset="-122"/>
                <a:sym typeface="+mn-ea"/>
              </a:rPr>
              <a:t>意图理解</a:t>
            </a: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sp>
        <p:nvSpPr>
          <p:cNvPr id="119" name="圆角矩形 118"/>
          <p:cNvSpPr/>
          <p:nvPr/>
        </p:nvSpPr>
        <p:spPr>
          <a:xfrm>
            <a:off x="9987280" y="3279775"/>
            <a:ext cx="1237615" cy="281305"/>
          </a:xfrm>
          <a:prstGeom prst="roundRect">
            <a:avLst>
              <a:gd name="adj" fmla="val 50000"/>
            </a:avLst>
          </a:prstGeom>
          <a:gradFill>
            <a:gsLst>
              <a:gs pos="100000">
                <a:schemeClr val="accent1"/>
              </a:gs>
              <a:gs pos="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a:latin typeface="微软雅黑" panose="020B0503020204020204" charset="-122"/>
                <a:ea typeface="微软雅黑" panose="020B0503020204020204" charset="-122"/>
                <a:cs typeface="微软雅黑" panose="020B0503020204020204" charset="-122"/>
                <a:sym typeface="+mn-ea"/>
              </a:rPr>
              <a:t>行为预测</a:t>
            </a:r>
            <a:endParaRPr lang="zh-CN" altLang="en-US" sz="1200">
              <a:latin typeface="微软雅黑" panose="020B0503020204020204" charset="-122"/>
              <a:ea typeface="微软雅黑" panose="020B0503020204020204" charset="-122"/>
              <a:cs typeface="微软雅黑" panose="020B0503020204020204" charset="-122"/>
              <a:sym typeface="+mn-ea"/>
            </a:endParaRPr>
          </a:p>
        </p:txBody>
      </p:sp>
      <p:cxnSp>
        <p:nvCxnSpPr>
          <p:cNvPr id="171" name="直接连接符 170"/>
          <p:cNvCxnSpPr/>
          <p:nvPr/>
        </p:nvCxnSpPr>
        <p:spPr>
          <a:xfrm>
            <a:off x="1514475" y="2313940"/>
            <a:ext cx="453390" cy="0"/>
          </a:xfrm>
          <a:prstGeom prst="line">
            <a:avLst/>
          </a:prstGeom>
          <a:ln>
            <a:solidFill>
              <a:schemeClr val="tx2">
                <a:lumMod val="60000"/>
                <a:lumOff val="40000"/>
              </a:schemeClr>
            </a:solidFill>
          </a:ln>
        </p:spPr>
        <p:style>
          <a:lnRef idx="2">
            <a:schemeClr val="accent1"/>
          </a:lnRef>
          <a:fillRef idx="0">
            <a:srgbClr val="FFFFFF"/>
          </a:fillRef>
          <a:effectRef idx="0">
            <a:srgbClr val="FFFFFF"/>
          </a:effectRef>
          <a:fontRef idx="minor">
            <a:schemeClr val="tx1"/>
          </a:fontRef>
        </p:style>
      </p:cxnSp>
      <p:cxnSp>
        <p:nvCxnSpPr>
          <p:cNvPr id="172" name="直接连接符 171"/>
          <p:cNvCxnSpPr/>
          <p:nvPr/>
        </p:nvCxnSpPr>
        <p:spPr>
          <a:xfrm>
            <a:off x="1771650" y="2860675"/>
            <a:ext cx="464820" cy="0"/>
          </a:xfrm>
          <a:prstGeom prst="line">
            <a:avLst/>
          </a:prstGeom>
          <a:ln>
            <a:solidFill>
              <a:schemeClr val="tx2">
                <a:lumMod val="60000"/>
                <a:lumOff val="40000"/>
              </a:schemeClr>
            </a:solidFill>
          </a:ln>
        </p:spPr>
        <p:style>
          <a:lnRef idx="2">
            <a:schemeClr val="accent1"/>
          </a:lnRef>
          <a:fillRef idx="0">
            <a:srgbClr val="FFFFFF"/>
          </a:fillRef>
          <a:effectRef idx="0">
            <a:srgbClr val="FFFFFF"/>
          </a:effectRef>
          <a:fontRef idx="minor">
            <a:schemeClr val="tx1"/>
          </a:fontRef>
        </p:style>
      </p:cxnSp>
      <p:cxnSp>
        <p:nvCxnSpPr>
          <p:cNvPr id="173" name="直接连接符 172"/>
          <p:cNvCxnSpPr/>
          <p:nvPr/>
        </p:nvCxnSpPr>
        <p:spPr>
          <a:xfrm>
            <a:off x="2040255" y="3359785"/>
            <a:ext cx="419100" cy="0"/>
          </a:xfrm>
          <a:prstGeom prst="line">
            <a:avLst/>
          </a:prstGeom>
          <a:ln>
            <a:solidFill>
              <a:schemeClr val="tx2">
                <a:lumMod val="60000"/>
                <a:lumOff val="40000"/>
              </a:schemeClr>
            </a:solidFill>
          </a:ln>
        </p:spPr>
        <p:style>
          <a:lnRef idx="2">
            <a:schemeClr val="accent1"/>
          </a:lnRef>
          <a:fillRef idx="0">
            <a:srgbClr val="FFFFFF"/>
          </a:fillRef>
          <a:effectRef idx="0">
            <a:srgbClr val="FFFFFF"/>
          </a:effectRef>
          <a:fontRef idx="minor">
            <a:schemeClr val="tx1"/>
          </a:fontRef>
        </p:style>
      </p:cxnSp>
      <p:cxnSp>
        <p:nvCxnSpPr>
          <p:cNvPr id="174" name="直接连接符 173"/>
          <p:cNvCxnSpPr/>
          <p:nvPr/>
        </p:nvCxnSpPr>
        <p:spPr>
          <a:xfrm>
            <a:off x="10078720" y="2313940"/>
            <a:ext cx="453390" cy="0"/>
          </a:xfrm>
          <a:prstGeom prst="line">
            <a:avLst/>
          </a:prstGeom>
          <a:ln>
            <a:solidFill>
              <a:schemeClr val="tx2">
                <a:lumMod val="60000"/>
                <a:lumOff val="40000"/>
              </a:schemeClr>
            </a:solidFill>
          </a:ln>
        </p:spPr>
        <p:style>
          <a:lnRef idx="2">
            <a:schemeClr val="accent1"/>
          </a:lnRef>
          <a:fillRef idx="0">
            <a:srgbClr val="FFFFFF"/>
          </a:fillRef>
          <a:effectRef idx="0">
            <a:srgbClr val="FFFFFF"/>
          </a:effectRef>
          <a:fontRef idx="minor">
            <a:schemeClr val="tx1"/>
          </a:fontRef>
        </p:style>
      </p:cxnSp>
      <p:cxnSp>
        <p:nvCxnSpPr>
          <p:cNvPr id="175" name="直接连接符 174"/>
          <p:cNvCxnSpPr/>
          <p:nvPr/>
        </p:nvCxnSpPr>
        <p:spPr>
          <a:xfrm>
            <a:off x="9819640" y="2860675"/>
            <a:ext cx="464820" cy="0"/>
          </a:xfrm>
          <a:prstGeom prst="line">
            <a:avLst/>
          </a:prstGeom>
          <a:ln>
            <a:solidFill>
              <a:schemeClr val="tx2">
                <a:lumMod val="60000"/>
                <a:lumOff val="40000"/>
              </a:schemeClr>
            </a:solidFill>
          </a:ln>
        </p:spPr>
        <p:style>
          <a:lnRef idx="2">
            <a:schemeClr val="accent1"/>
          </a:lnRef>
          <a:fillRef idx="0">
            <a:srgbClr val="FFFFFF"/>
          </a:fillRef>
          <a:effectRef idx="0">
            <a:srgbClr val="FFFFFF"/>
          </a:effectRef>
          <a:fontRef idx="minor">
            <a:schemeClr val="tx1"/>
          </a:fontRef>
        </p:style>
      </p:cxnSp>
      <p:cxnSp>
        <p:nvCxnSpPr>
          <p:cNvPr id="176" name="直接连接符 175"/>
          <p:cNvCxnSpPr/>
          <p:nvPr/>
        </p:nvCxnSpPr>
        <p:spPr>
          <a:xfrm>
            <a:off x="9568180" y="3420745"/>
            <a:ext cx="419100" cy="0"/>
          </a:xfrm>
          <a:prstGeom prst="line">
            <a:avLst/>
          </a:prstGeom>
          <a:ln>
            <a:solidFill>
              <a:schemeClr val="tx2">
                <a:lumMod val="60000"/>
                <a:lumOff val="40000"/>
              </a:schemeClr>
            </a:solidFill>
          </a:ln>
        </p:spPr>
        <p:style>
          <a:lnRef idx="2">
            <a:schemeClr val="accent1"/>
          </a:lnRef>
          <a:fillRef idx="0">
            <a:srgbClr val="FFFFFF"/>
          </a:fillRef>
          <a:effectRef idx="0">
            <a:srgbClr val="FFFFFF"/>
          </a:effectRef>
          <a:fontRef idx="minor">
            <a:schemeClr val="tx1"/>
          </a:fontRef>
        </p:style>
      </p:cxnSp>
      <p:sp>
        <p:nvSpPr>
          <p:cNvPr id="220" name="矩形 219"/>
          <p:cNvSpPr/>
          <p:nvPr/>
        </p:nvSpPr>
        <p:spPr>
          <a:xfrm>
            <a:off x="3098165" y="2933700"/>
            <a:ext cx="998220" cy="496570"/>
          </a:xfrm>
          <a:prstGeom prst="rect">
            <a:avLst/>
          </a:prstGeom>
        </p:spPr>
        <p:txBody>
          <a:bodyPr wrap="square">
            <a:noAutofit/>
          </a:bodyPr>
          <a:lstStyle/>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公司员工</a:t>
            </a:r>
            <a:endParaRPr lang="en-US" altLang="zh-CN" sz="1200" b="1" dirty="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知识工作者</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21" name="矩形 220"/>
          <p:cNvSpPr/>
          <p:nvPr/>
        </p:nvSpPr>
        <p:spPr>
          <a:xfrm>
            <a:off x="7870825" y="2979420"/>
            <a:ext cx="1223010" cy="488315"/>
          </a:xfrm>
          <a:prstGeom prst="rect">
            <a:avLst/>
          </a:prstGeom>
        </p:spPr>
        <p:txBody>
          <a:bodyPr wrap="square">
            <a:noAutofit/>
          </a:bodyPr>
          <a:lstStyle/>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业务部门</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内外部客户</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234" name="组合 233"/>
          <p:cNvGrpSpPr/>
          <p:nvPr/>
        </p:nvGrpSpPr>
        <p:grpSpPr>
          <a:xfrm rot="0" flipH="1">
            <a:off x="4520565" y="3002915"/>
            <a:ext cx="251460" cy="96520"/>
            <a:chOff x="7651" y="4318"/>
            <a:chExt cx="396" cy="152"/>
          </a:xfrm>
        </p:grpSpPr>
        <p:sp>
          <p:nvSpPr>
            <p:cNvPr id="235" name="燕尾形 234"/>
            <p:cNvSpPr/>
            <p:nvPr/>
          </p:nvSpPr>
          <p:spPr>
            <a:xfrm>
              <a:off x="7895" y="4318"/>
              <a:ext cx="152" cy="152"/>
            </a:xfrm>
            <a:prstGeom prst="chevron">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36" name="燕尾形 235"/>
            <p:cNvSpPr/>
            <p:nvPr/>
          </p:nvSpPr>
          <p:spPr>
            <a:xfrm>
              <a:off x="7773" y="4318"/>
              <a:ext cx="152" cy="152"/>
            </a:xfrm>
            <a:prstGeom prst="chevron">
              <a:avLst/>
            </a:prstGeom>
            <a:solidFill>
              <a:schemeClr val="accent1">
                <a:lumMod val="60000"/>
                <a:lumOff val="4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37" name="燕尾形 236"/>
            <p:cNvSpPr/>
            <p:nvPr/>
          </p:nvSpPr>
          <p:spPr>
            <a:xfrm>
              <a:off x="7651" y="4318"/>
              <a:ext cx="152" cy="152"/>
            </a:xfrm>
            <a:prstGeom prst="chevron">
              <a:avLst/>
            </a:prstGeom>
            <a:solidFill>
              <a:schemeClr val="accent1">
                <a:lumMod val="60000"/>
                <a:lumOff val="40000"/>
                <a:alpha val="2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238" name="组合 237"/>
          <p:cNvGrpSpPr/>
          <p:nvPr/>
        </p:nvGrpSpPr>
        <p:grpSpPr>
          <a:xfrm rot="0" flipH="1">
            <a:off x="4857115" y="3002915"/>
            <a:ext cx="251460" cy="96520"/>
            <a:chOff x="7651" y="4318"/>
            <a:chExt cx="396" cy="152"/>
          </a:xfrm>
        </p:grpSpPr>
        <p:sp>
          <p:nvSpPr>
            <p:cNvPr id="239" name="燕尾形 238"/>
            <p:cNvSpPr/>
            <p:nvPr/>
          </p:nvSpPr>
          <p:spPr>
            <a:xfrm>
              <a:off x="7895" y="4318"/>
              <a:ext cx="152" cy="152"/>
            </a:xfrm>
            <a:prstGeom prst="chevron">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40" name="燕尾形 239"/>
            <p:cNvSpPr/>
            <p:nvPr/>
          </p:nvSpPr>
          <p:spPr>
            <a:xfrm>
              <a:off x="7773" y="4318"/>
              <a:ext cx="152" cy="152"/>
            </a:xfrm>
            <a:prstGeom prst="chevron">
              <a:avLst/>
            </a:prstGeom>
            <a:solidFill>
              <a:schemeClr val="accent1">
                <a:lumMod val="60000"/>
                <a:lumOff val="4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45" name="燕尾形 244"/>
            <p:cNvSpPr/>
            <p:nvPr/>
          </p:nvSpPr>
          <p:spPr>
            <a:xfrm>
              <a:off x="7651" y="4318"/>
              <a:ext cx="152" cy="152"/>
            </a:xfrm>
            <a:prstGeom prst="chevron">
              <a:avLst/>
            </a:prstGeom>
            <a:solidFill>
              <a:schemeClr val="accent1">
                <a:lumMod val="60000"/>
                <a:lumOff val="40000"/>
                <a:alpha val="2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258" name="组合 257"/>
          <p:cNvGrpSpPr/>
          <p:nvPr/>
        </p:nvGrpSpPr>
        <p:grpSpPr>
          <a:xfrm rot="0" flipH="1">
            <a:off x="7276465" y="3002915"/>
            <a:ext cx="251460" cy="96520"/>
            <a:chOff x="7651" y="4318"/>
            <a:chExt cx="396" cy="152"/>
          </a:xfrm>
        </p:grpSpPr>
        <p:sp>
          <p:nvSpPr>
            <p:cNvPr id="259" name="燕尾形 258"/>
            <p:cNvSpPr/>
            <p:nvPr/>
          </p:nvSpPr>
          <p:spPr>
            <a:xfrm>
              <a:off x="7895" y="4318"/>
              <a:ext cx="152" cy="152"/>
            </a:xfrm>
            <a:prstGeom prst="chevron">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61" name="燕尾形 260"/>
            <p:cNvSpPr/>
            <p:nvPr/>
          </p:nvSpPr>
          <p:spPr>
            <a:xfrm>
              <a:off x="7773" y="4318"/>
              <a:ext cx="152" cy="152"/>
            </a:xfrm>
            <a:prstGeom prst="chevron">
              <a:avLst/>
            </a:prstGeom>
            <a:solidFill>
              <a:schemeClr val="accent1">
                <a:lumMod val="60000"/>
                <a:lumOff val="4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62" name="燕尾形 261"/>
            <p:cNvSpPr/>
            <p:nvPr/>
          </p:nvSpPr>
          <p:spPr>
            <a:xfrm>
              <a:off x="7651" y="4318"/>
              <a:ext cx="152" cy="152"/>
            </a:xfrm>
            <a:prstGeom prst="chevron">
              <a:avLst/>
            </a:prstGeom>
            <a:solidFill>
              <a:schemeClr val="accent1">
                <a:lumMod val="60000"/>
                <a:lumOff val="40000"/>
                <a:alpha val="2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sp>
        <p:nvSpPr>
          <p:cNvPr id="263" name="显眼包PPT-3"/>
          <p:cNvSpPr txBox="1"/>
          <p:nvPr/>
        </p:nvSpPr>
        <p:spPr>
          <a:xfrm>
            <a:off x="4482465" y="2517140"/>
            <a:ext cx="715010" cy="168910"/>
          </a:xfrm>
          <a:prstGeom prst="rect">
            <a:avLst/>
          </a:prstGeom>
          <a:noFill/>
        </p:spPr>
        <p:txBody>
          <a:bodyPr wrap="square" lIns="0" tIns="0" rIns="0" bIns="0" rtlCol="0">
            <a:sp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以人训智</a:t>
            </a:r>
            <a:endParaRPr kumimoji="0" lang="zh-CN"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64" name="显眼包PPT-3"/>
          <p:cNvSpPr txBox="1"/>
          <p:nvPr/>
        </p:nvSpPr>
        <p:spPr>
          <a:xfrm>
            <a:off x="4482465" y="3207385"/>
            <a:ext cx="715010" cy="168910"/>
          </a:xfrm>
          <a:prstGeom prst="rect">
            <a:avLst/>
          </a:prstGeom>
          <a:noFill/>
        </p:spPr>
        <p:txBody>
          <a:bodyPr wrap="square" lIns="0" tIns="0" rIns="0" bIns="0" rtlCol="0">
            <a:sp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实时智辅</a:t>
            </a:r>
            <a:endParaRPr kumimoji="0" lang="zh-CN"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65" name="显眼包PPT-3"/>
          <p:cNvSpPr txBox="1"/>
          <p:nvPr/>
        </p:nvSpPr>
        <p:spPr>
          <a:xfrm>
            <a:off x="6892290" y="2517140"/>
            <a:ext cx="715010" cy="168910"/>
          </a:xfrm>
          <a:prstGeom prst="rect">
            <a:avLst/>
          </a:prstGeom>
          <a:noFill/>
        </p:spPr>
        <p:txBody>
          <a:bodyPr wrap="square" lIns="0" tIns="0" rIns="0" bIns="0" rtlCol="0">
            <a:sp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主动服务</a:t>
            </a:r>
            <a:endParaRPr kumimoji="0" lang="zh-CN"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66" name="显眼包PPT-3"/>
          <p:cNvSpPr txBox="1"/>
          <p:nvPr/>
        </p:nvSpPr>
        <p:spPr>
          <a:xfrm>
            <a:off x="6892290" y="3207385"/>
            <a:ext cx="715010" cy="168910"/>
          </a:xfrm>
          <a:prstGeom prst="rect">
            <a:avLst/>
          </a:prstGeom>
          <a:noFill/>
        </p:spPr>
        <p:txBody>
          <a:bodyPr wrap="square" lIns="0" tIns="0" rIns="0" bIns="0" rtlCol="0">
            <a:spAutoFit/>
          </a:bodyP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zh-CN"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实时感知</a:t>
            </a:r>
            <a:endParaRPr kumimoji="0" lang="zh-CN"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37" name="显眼包PPT-1"/>
          <p:cNvSpPr/>
          <p:nvPr/>
        </p:nvSpPr>
        <p:spPr>
          <a:xfrm>
            <a:off x="2673350" y="3514725"/>
            <a:ext cx="6742430" cy="511175"/>
          </a:xfrm>
          <a:prstGeom prst="ellipse">
            <a:avLst/>
          </a:prstGeom>
          <a:noFill/>
          <a:ln w="76200">
            <a:gradFill>
              <a:gsLst>
                <a:gs pos="34000">
                  <a:schemeClr val="accent1">
                    <a:lumMod val="60000"/>
                    <a:lumOff val="40000"/>
                    <a:alpha val="0"/>
                  </a:schemeClr>
                </a:gs>
                <a:gs pos="100000">
                  <a:schemeClr val="accent1">
                    <a:lumMod val="60000"/>
                    <a:lumOff val="4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349" name="组合 348"/>
          <p:cNvGrpSpPr/>
          <p:nvPr/>
        </p:nvGrpSpPr>
        <p:grpSpPr>
          <a:xfrm rot="0">
            <a:off x="4858385" y="2810510"/>
            <a:ext cx="251460" cy="96520"/>
            <a:chOff x="7651" y="4318"/>
            <a:chExt cx="396" cy="152"/>
          </a:xfrm>
        </p:grpSpPr>
        <p:sp>
          <p:nvSpPr>
            <p:cNvPr id="350" name="燕尾形 349"/>
            <p:cNvSpPr/>
            <p:nvPr/>
          </p:nvSpPr>
          <p:spPr>
            <a:xfrm>
              <a:off x="7895" y="4318"/>
              <a:ext cx="152" cy="152"/>
            </a:xfrm>
            <a:prstGeom prst="chevron">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51" name="燕尾形 350"/>
            <p:cNvSpPr/>
            <p:nvPr/>
          </p:nvSpPr>
          <p:spPr>
            <a:xfrm>
              <a:off x="7773" y="4318"/>
              <a:ext cx="152" cy="152"/>
            </a:xfrm>
            <a:prstGeom prst="chevron">
              <a:avLst/>
            </a:prstGeom>
            <a:solidFill>
              <a:schemeClr val="accent1">
                <a:lumMod val="60000"/>
                <a:lumOff val="4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52" name="燕尾形 351"/>
            <p:cNvSpPr/>
            <p:nvPr/>
          </p:nvSpPr>
          <p:spPr>
            <a:xfrm>
              <a:off x="7651" y="4318"/>
              <a:ext cx="152" cy="152"/>
            </a:xfrm>
            <a:prstGeom prst="chevron">
              <a:avLst/>
            </a:prstGeom>
            <a:solidFill>
              <a:schemeClr val="accent1">
                <a:lumMod val="60000"/>
                <a:lumOff val="40000"/>
                <a:alpha val="2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353" name="组合 352"/>
          <p:cNvGrpSpPr/>
          <p:nvPr/>
        </p:nvGrpSpPr>
        <p:grpSpPr>
          <a:xfrm rot="0">
            <a:off x="4519930" y="2810510"/>
            <a:ext cx="251460" cy="96520"/>
            <a:chOff x="7651" y="4318"/>
            <a:chExt cx="396" cy="152"/>
          </a:xfrm>
        </p:grpSpPr>
        <p:sp>
          <p:nvSpPr>
            <p:cNvPr id="354" name="燕尾形 353"/>
            <p:cNvSpPr/>
            <p:nvPr/>
          </p:nvSpPr>
          <p:spPr>
            <a:xfrm>
              <a:off x="7895" y="4318"/>
              <a:ext cx="152" cy="152"/>
            </a:xfrm>
            <a:prstGeom prst="chevron">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55" name="燕尾形 354"/>
            <p:cNvSpPr/>
            <p:nvPr/>
          </p:nvSpPr>
          <p:spPr>
            <a:xfrm>
              <a:off x="7773" y="4318"/>
              <a:ext cx="152" cy="152"/>
            </a:xfrm>
            <a:prstGeom prst="chevron">
              <a:avLst/>
            </a:prstGeom>
            <a:solidFill>
              <a:schemeClr val="accent1">
                <a:lumMod val="60000"/>
                <a:lumOff val="4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56" name="燕尾形 355"/>
            <p:cNvSpPr/>
            <p:nvPr/>
          </p:nvSpPr>
          <p:spPr>
            <a:xfrm>
              <a:off x="7651" y="4318"/>
              <a:ext cx="152" cy="152"/>
            </a:xfrm>
            <a:prstGeom prst="chevron">
              <a:avLst/>
            </a:prstGeom>
            <a:solidFill>
              <a:schemeClr val="accent1">
                <a:lumMod val="60000"/>
                <a:lumOff val="40000"/>
                <a:alpha val="2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367" name="组合 366"/>
          <p:cNvGrpSpPr/>
          <p:nvPr/>
        </p:nvGrpSpPr>
        <p:grpSpPr>
          <a:xfrm rot="0">
            <a:off x="7280910" y="2810510"/>
            <a:ext cx="251460" cy="96520"/>
            <a:chOff x="7651" y="4318"/>
            <a:chExt cx="396" cy="152"/>
          </a:xfrm>
        </p:grpSpPr>
        <p:sp>
          <p:nvSpPr>
            <p:cNvPr id="368" name="燕尾形 367"/>
            <p:cNvSpPr/>
            <p:nvPr/>
          </p:nvSpPr>
          <p:spPr>
            <a:xfrm>
              <a:off x="7895" y="4318"/>
              <a:ext cx="152" cy="152"/>
            </a:xfrm>
            <a:prstGeom prst="chevron">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69" name="燕尾形 368"/>
            <p:cNvSpPr/>
            <p:nvPr/>
          </p:nvSpPr>
          <p:spPr>
            <a:xfrm>
              <a:off x="7773" y="4318"/>
              <a:ext cx="152" cy="152"/>
            </a:xfrm>
            <a:prstGeom prst="chevron">
              <a:avLst/>
            </a:prstGeom>
            <a:solidFill>
              <a:schemeClr val="accent1">
                <a:lumMod val="60000"/>
                <a:lumOff val="4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70" name="燕尾形 369"/>
            <p:cNvSpPr/>
            <p:nvPr/>
          </p:nvSpPr>
          <p:spPr>
            <a:xfrm>
              <a:off x="7651" y="4318"/>
              <a:ext cx="152" cy="152"/>
            </a:xfrm>
            <a:prstGeom prst="chevron">
              <a:avLst/>
            </a:prstGeom>
            <a:solidFill>
              <a:schemeClr val="accent1">
                <a:lumMod val="60000"/>
                <a:lumOff val="40000"/>
                <a:alpha val="2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pic>
        <p:nvPicPr>
          <p:cNvPr id="407" name="图片 406" descr="员工转正"/>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18840" y="2595245"/>
            <a:ext cx="354965" cy="311785"/>
          </a:xfrm>
          <a:prstGeom prst="rect">
            <a:avLst/>
          </a:prstGeom>
        </p:spPr>
      </p:pic>
      <p:pic>
        <p:nvPicPr>
          <p:cNvPr id="408" name="图片 407" descr="36合作、关系"/>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281035" y="2560955"/>
            <a:ext cx="402590" cy="402590"/>
          </a:xfrm>
          <a:prstGeom prst="rect">
            <a:avLst/>
          </a:prstGeom>
        </p:spPr>
      </p:pic>
      <p:grpSp>
        <p:nvGrpSpPr>
          <p:cNvPr id="416" name="©显眼包PPT1"/>
          <p:cNvGrpSpPr/>
          <p:nvPr/>
        </p:nvGrpSpPr>
        <p:grpSpPr>
          <a:xfrm rot="0">
            <a:off x="2385695" y="1226185"/>
            <a:ext cx="686435" cy="685800"/>
            <a:chOff x="5719739" y="3319093"/>
            <a:chExt cx="752522" cy="752522"/>
          </a:xfrm>
        </p:grpSpPr>
        <p:grpSp>
          <p:nvGrpSpPr>
            <p:cNvPr id="417" name="组合 416"/>
            <p:cNvGrpSpPr/>
            <p:nvPr/>
          </p:nvGrpSpPr>
          <p:grpSpPr>
            <a:xfrm>
              <a:off x="5719739" y="3319093"/>
              <a:ext cx="752522" cy="752522"/>
              <a:chOff x="5719739" y="3319093"/>
              <a:chExt cx="752522" cy="752522"/>
            </a:xfrm>
          </p:grpSpPr>
          <p:sp>
            <p:nvSpPr>
              <p:cNvPr id="418" name="©显眼包PPT1-1"/>
              <p:cNvSpPr/>
              <p:nvPr/>
            </p:nvSpPr>
            <p:spPr>
              <a:xfrm>
                <a:off x="5719739" y="3319093"/>
                <a:ext cx="752522" cy="752522"/>
              </a:xfrm>
              <a:prstGeom prst="ellipse">
                <a:avLst/>
              </a:prstGeom>
              <a:solidFill>
                <a:schemeClr val="accent1">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19" name="©显眼包PPT1-2"/>
              <p:cNvSpPr/>
              <p:nvPr/>
            </p:nvSpPr>
            <p:spPr>
              <a:xfrm>
                <a:off x="5756814" y="3356168"/>
                <a:ext cx="678371" cy="678371"/>
              </a:xfrm>
              <a:prstGeom prst="ellipse">
                <a:avLst/>
              </a:prstGeom>
              <a:gradFill flip="none" rotWithShape="1">
                <a:gsLst>
                  <a:gs pos="39000">
                    <a:schemeClr val="bg1"/>
                  </a:gs>
                  <a:gs pos="100000">
                    <a:schemeClr val="accent1">
                      <a:lumMod val="60000"/>
                      <a:lumOff val="40000"/>
                    </a:schemeClr>
                  </a:gs>
                </a:gsLst>
                <a:path path="circle">
                  <a:fillToRect l="50000" t="50000" r="50000" b="50000"/>
                </a:path>
                <a:tileRect/>
              </a:gradFill>
              <a:ln w="9525">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20" name="©显眼包PPT1-3"/>
              <p:cNvSpPr/>
              <p:nvPr/>
            </p:nvSpPr>
            <p:spPr>
              <a:xfrm>
                <a:off x="5783108" y="3382462"/>
                <a:ext cx="625785" cy="625785"/>
              </a:xfrm>
              <a:prstGeom prst="ellipse">
                <a:avLst/>
              </a:prstGeom>
              <a:noFill/>
              <a:ln w="635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421" name="©显眼包PPT1-4"/>
            <p:cNvSpPr txBox="1"/>
            <p:nvPr/>
          </p:nvSpPr>
          <p:spPr>
            <a:xfrm>
              <a:off x="5800491" y="3495215"/>
              <a:ext cx="575008" cy="370687"/>
            </a:xfrm>
            <a:prstGeom prst="rect">
              <a:avLst/>
            </a:prstGeom>
            <a:noFill/>
          </p:spPr>
          <p:txBody>
            <a:bodyPr wrap="square" lIns="0" tIns="0" rIns="0" bIns="0" rtlCol="0">
              <a:spAutoFit/>
            </a:bodyPr>
            <a:lstStyle/>
            <a:p>
              <a:pPr algn="ctr">
                <a:lnSpc>
                  <a:spcPct val="110000"/>
                </a:lnSpc>
              </a:pPr>
              <a:r>
                <a:rPr lang="en-US" sz="1200" dirty="0">
                  <a:gradFill>
                    <a:gsLst>
                      <a:gs pos="0">
                        <a:schemeClr val="accent1"/>
                      </a:gs>
                      <a:gs pos="58000">
                        <a:schemeClr val="accent1">
                          <a:lumMod val="60000"/>
                          <a:lumOff val="40000"/>
                        </a:schemeClr>
                      </a:gs>
                    </a:gsLst>
                    <a:lin ang="2700000" scaled="0"/>
                  </a:gradFill>
                  <a:latin typeface="微软雅黑" panose="020B0503020204020204" charset="-122"/>
                  <a:ea typeface="微软雅黑" panose="020B0503020204020204" charset="-122"/>
                  <a:cs typeface="微软雅黑" panose="020B0503020204020204" charset="-122"/>
                </a:rPr>
                <a:t> </a:t>
              </a:r>
              <a:endParaRPr lang="en-US" sz="1000" dirty="0">
                <a:gradFill>
                  <a:gsLst>
                    <a:gs pos="0">
                      <a:schemeClr val="accent1"/>
                    </a:gs>
                    <a:gs pos="58000">
                      <a:schemeClr val="accent1">
                        <a:lumMod val="60000"/>
                        <a:lumOff val="40000"/>
                      </a:schemeClr>
                    </a:gs>
                  </a:gsLst>
                  <a:lin ang="2700000" scaled="0"/>
                </a:gradFill>
                <a:latin typeface="微软雅黑" panose="020B0503020204020204" charset="-122"/>
                <a:ea typeface="微软雅黑" panose="020B0503020204020204" charset="-122"/>
                <a:cs typeface="微软雅黑" panose="020B0503020204020204" charset="-122"/>
              </a:endParaRPr>
            </a:p>
            <a:p>
              <a:pPr algn="ctr">
                <a:lnSpc>
                  <a:spcPct val="110000"/>
                </a:lnSpc>
              </a:pPr>
              <a:r>
                <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任务规划</a:t>
              </a:r>
              <a:endPar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423" name="©显眼包PPT1"/>
          <p:cNvGrpSpPr/>
          <p:nvPr/>
        </p:nvGrpSpPr>
        <p:grpSpPr>
          <a:xfrm rot="0">
            <a:off x="3424555" y="1108710"/>
            <a:ext cx="686435" cy="686435"/>
            <a:chOff x="5719739" y="3319093"/>
            <a:chExt cx="752522" cy="752522"/>
          </a:xfrm>
        </p:grpSpPr>
        <p:grpSp>
          <p:nvGrpSpPr>
            <p:cNvPr id="424" name="组合 423"/>
            <p:cNvGrpSpPr/>
            <p:nvPr/>
          </p:nvGrpSpPr>
          <p:grpSpPr>
            <a:xfrm>
              <a:off x="5719739" y="3319093"/>
              <a:ext cx="752522" cy="752522"/>
              <a:chOff x="5719739" y="3319093"/>
              <a:chExt cx="752522" cy="752522"/>
            </a:xfrm>
          </p:grpSpPr>
          <p:sp>
            <p:nvSpPr>
              <p:cNvPr id="425" name="©显眼包PPT1-1"/>
              <p:cNvSpPr/>
              <p:nvPr/>
            </p:nvSpPr>
            <p:spPr>
              <a:xfrm>
                <a:off x="5719739" y="3319093"/>
                <a:ext cx="752522" cy="752522"/>
              </a:xfrm>
              <a:prstGeom prst="ellipse">
                <a:avLst/>
              </a:prstGeom>
              <a:solidFill>
                <a:schemeClr val="accent1">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26" name="©显眼包PPT1-2"/>
              <p:cNvSpPr/>
              <p:nvPr/>
            </p:nvSpPr>
            <p:spPr>
              <a:xfrm>
                <a:off x="5756814" y="3356168"/>
                <a:ext cx="678371" cy="678371"/>
              </a:xfrm>
              <a:prstGeom prst="ellipse">
                <a:avLst/>
              </a:prstGeom>
              <a:gradFill flip="none" rotWithShape="1">
                <a:gsLst>
                  <a:gs pos="39000">
                    <a:schemeClr val="bg1"/>
                  </a:gs>
                  <a:gs pos="100000">
                    <a:schemeClr val="accent1">
                      <a:lumMod val="60000"/>
                      <a:lumOff val="40000"/>
                    </a:schemeClr>
                  </a:gs>
                </a:gsLst>
                <a:path path="circle">
                  <a:fillToRect l="50000" t="50000" r="50000" b="50000"/>
                </a:path>
                <a:tileRect/>
              </a:gradFill>
              <a:ln w="9525">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27" name="©显眼包PPT1-3"/>
              <p:cNvSpPr/>
              <p:nvPr/>
            </p:nvSpPr>
            <p:spPr>
              <a:xfrm>
                <a:off x="5783108" y="3382462"/>
                <a:ext cx="625785" cy="625785"/>
              </a:xfrm>
              <a:prstGeom prst="ellipse">
                <a:avLst/>
              </a:prstGeom>
              <a:noFill/>
              <a:ln w="635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428" name="©显眼包PPT1-4"/>
            <p:cNvSpPr txBox="1"/>
            <p:nvPr/>
          </p:nvSpPr>
          <p:spPr>
            <a:xfrm>
              <a:off x="5800491" y="3495215"/>
              <a:ext cx="575008" cy="370344"/>
            </a:xfrm>
            <a:prstGeom prst="rect">
              <a:avLst/>
            </a:prstGeom>
            <a:noFill/>
          </p:spPr>
          <p:txBody>
            <a:bodyPr wrap="square" lIns="0" tIns="0" rIns="0" bIns="0" rtlCol="0">
              <a:spAutoFit/>
            </a:bodyPr>
            <a:lstStyle/>
            <a:p>
              <a:pPr algn="ctr">
                <a:lnSpc>
                  <a:spcPct val="110000"/>
                </a:lnSpc>
              </a:pPr>
              <a:r>
                <a:rPr lang="en-US" sz="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 </a:t>
              </a:r>
              <a:endParaRPr lang="en-US" sz="10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lnSpc>
                  <a:spcPct val="110000"/>
                </a:lnSpc>
              </a:pPr>
              <a:r>
                <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文档处理</a:t>
              </a:r>
              <a:endPar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435" name="©显眼包PPT1"/>
          <p:cNvGrpSpPr/>
          <p:nvPr/>
        </p:nvGrpSpPr>
        <p:grpSpPr>
          <a:xfrm rot="0">
            <a:off x="9019540" y="1252855"/>
            <a:ext cx="686435" cy="686435"/>
            <a:chOff x="5719739" y="3319093"/>
            <a:chExt cx="752522" cy="752522"/>
          </a:xfrm>
        </p:grpSpPr>
        <p:grpSp>
          <p:nvGrpSpPr>
            <p:cNvPr id="436" name="组合 435"/>
            <p:cNvGrpSpPr/>
            <p:nvPr/>
          </p:nvGrpSpPr>
          <p:grpSpPr>
            <a:xfrm>
              <a:off x="5719739" y="3319093"/>
              <a:ext cx="752522" cy="752522"/>
              <a:chOff x="5719739" y="3319093"/>
              <a:chExt cx="752522" cy="752522"/>
            </a:xfrm>
          </p:grpSpPr>
          <p:sp>
            <p:nvSpPr>
              <p:cNvPr id="437" name="©显眼包PPT1-1"/>
              <p:cNvSpPr/>
              <p:nvPr/>
            </p:nvSpPr>
            <p:spPr>
              <a:xfrm>
                <a:off x="5719739" y="3319093"/>
                <a:ext cx="752522" cy="752522"/>
              </a:xfrm>
              <a:prstGeom prst="ellipse">
                <a:avLst/>
              </a:prstGeom>
              <a:solidFill>
                <a:schemeClr val="accent1">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38" name="©显眼包PPT1-2"/>
              <p:cNvSpPr/>
              <p:nvPr/>
            </p:nvSpPr>
            <p:spPr>
              <a:xfrm>
                <a:off x="5756814" y="3356168"/>
                <a:ext cx="678371" cy="678371"/>
              </a:xfrm>
              <a:prstGeom prst="ellipse">
                <a:avLst/>
              </a:prstGeom>
              <a:gradFill flip="none" rotWithShape="1">
                <a:gsLst>
                  <a:gs pos="39000">
                    <a:schemeClr val="bg1"/>
                  </a:gs>
                  <a:gs pos="100000">
                    <a:schemeClr val="accent1">
                      <a:lumMod val="60000"/>
                      <a:lumOff val="40000"/>
                    </a:schemeClr>
                  </a:gs>
                </a:gsLst>
                <a:path path="circle">
                  <a:fillToRect l="50000" t="50000" r="50000" b="50000"/>
                </a:path>
                <a:tileRect/>
              </a:gradFill>
              <a:ln w="9525">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39" name="©显眼包PPT1-3"/>
              <p:cNvSpPr/>
              <p:nvPr/>
            </p:nvSpPr>
            <p:spPr>
              <a:xfrm>
                <a:off x="5783108" y="3382462"/>
                <a:ext cx="625785" cy="625785"/>
              </a:xfrm>
              <a:prstGeom prst="ellipse">
                <a:avLst/>
              </a:prstGeom>
              <a:noFill/>
              <a:ln w="635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481" name="©显眼包PPT1-4"/>
            <p:cNvSpPr txBox="1"/>
            <p:nvPr/>
          </p:nvSpPr>
          <p:spPr>
            <a:xfrm>
              <a:off x="5800491" y="3495215"/>
              <a:ext cx="575008" cy="370344"/>
            </a:xfrm>
            <a:prstGeom prst="rect">
              <a:avLst/>
            </a:prstGeom>
            <a:noFill/>
          </p:spPr>
          <p:txBody>
            <a:bodyPr wrap="square" lIns="0" tIns="0" rIns="0" bIns="0" rtlCol="0">
              <a:spAutoFit/>
            </a:bodyPr>
            <a:lstStyle/>
            <a:p>
              <a:pPr algn="ctr">
                <a:lnSpc>
                  <a:spcPct val="110000"/>
                </a:lnSpc>
              </a:pPr>
              <a:r>
                <a:rPr lang="en-US" sz="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 </a:t>
              </a:r>
              <a:endParaRPr lang="en-US" sz="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lnSpc>
                  <a:spcPct val="110000"/>
                </a:lnSpc>
              </a:pPr>
              <a:r>
                <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知识引擎</a:t>
              </a:r>
              <a:endPar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482" name="©显眼包PPT1"/>
          <p:cNvGrpSpPr/>
          <p:nvPr/>
        </p:nvGrpSpPr>
        <p:grpSpPr>
          <a:xfrm rot="0">
            <a:off x="8051800" y="1122045"/>
            <a:ext cx="686435" cy="686435"/>
            <a:chOff x="5719739" y="3319093"/>
            <a:chExt cx="752522" cy="752522"/>
          </a:xfrm>
        </p:grpSpPr>
        <p:grpSp>
          <p:nvGrpSpPr>
            <p:cNvPr id="483" name="组合 482"/>
            <p:cNvGrpSpPr/>
            <p:nvPr/>
          </p:nvGrpSpPr>
          <p:grpSpPr>
            <a:xfrm>
              <a:off x="5719739" y="3319093"/>
              <a:ext cx="752522" cy="752522"/>
              <a:chOff x="5719739" y="3319093"/>
              <a:chExt cx="752522" cy="752522"/>
            </a:xfrm>
          </p:grpSpPr>
          <p:sp>
            <p:nvSpPr>
              <p:cNvPr id="484" name="©显眼包PPT1-1"/>
              <p:cNvSpPr/>
              <p:nvPr/>
            </p:nvSpPr>
            <p:spPr>
              <a:xfrm>
                <a:off x="5719739" y="3319093"/>
                <a:ext cx="752522" cy="752522"/>
              </a:xfrm>
              <a:prstGeom prst="ellipse">
                <a:avLst/>
              </a:prstGeom>
              <a:solidFill>
                <a:schemeClr val="accent1">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85" name="©显眼包PPT1-2"/>
              <p:cNvSpPr/>
              <p:nvPr/>
            </p:nvSpPr>
            <p:spPr>
              <a:xfrm>
                <a:off x="5756814" y="3356168"/>
                <a:ext cx="678371" cy="678371"/>
              </a:xfrm>
              <a:prstGeom prst="ellipse">
                <a:avLst/>
              </a:prstGeom>
              <a:gradFill flip="none" rotWithShape="1">
                <a:gsLst>
                  <a:gs pos="39000">
                    <a:schemeClr val="bg1"/>
                  </a:gs>
                  <a:gs pos="100000">
                    <a:schemeClr val="accent1">
                      <a:lumMod val="60000"/>
                      <a:lumOff val="40000"/>
                    </a:schemeClr>
                  </a:gs>
                </a:gsLst>
                <a:path path="circle">
                  <a:fillToRect l="50000" t="50000" r="50000" b="50000"/>
                </a:path>
                <a:tileRect/>
              </a:gradFill>
              <a:ln w="9525">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86" name="©显眼包PPT1-3"/>
              <p:cNvSpPr/>
              <p:nvPr/>
            </p:nvSpPr>
            <p:spPr>
              <a:xfrm>
                <a:off x="5783108" y="3382462"/>
                <a:ext cx="625785" cy="625785"/>
              </a:xfrm>
              <a:prstGeom prst="ellipse">
                <a:avLst/>
              </a:prstGeom>
              <a:noFill/>
              <a:ln w="635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487" name="©显眼包PPT1-4"/>
            <p:cNvSpPr txBox="1"/>
            <p:nvPr/>
          </p:nvSpPr>
          <p:spPr>
            <a:xfrm>
              <a:off x="5800491" y="3495215"/>
              <a:ext cx="575008" cy="370344"/>
            </a:xfrm>
            <a:prstGeom prst="rect">
              <a:avLst/>
            </a:prstGeom>
            <a:noFill/>
          </p:spPr>
          <p:txBody>
            <a:bodyPr wrap="square" lIns="0" tIns="0" rIns="0" bIns="0" rtlCol="0">
              <a:spAutoFit/>
            </a:bodyPr>
            <a:lstStyle/>
            <a:p>
              <a:pPr algn="ctr">
                <a:lnSpc>
                  <a:spcPct val="110000"/>
                </a:lnSpc>
              </a:pPr>
              <a:r>
                <a:rPr lang="en-US" sz="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 </a:t>
              </a:r>
              <a:endParaRPr lang="en-US" sz="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lnSpc>
                  <a:spcPct val="110000"/>
                </a:lnSpc>
              </a:pPr>
              <a:r>
                <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自动流程</a:t>
              </a:r>
              <a:endParaRPr lang="en-US" altLang="zh-CN"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488" name="©显眼包PPT1"/>
          <p:cNvGrpSpPr/>
          <p:nvPr/>
        </p:nvGrpSpPr>
        <p:grpSpPr>
          <a:xfrm rot="0">
            <a:off x="4463415" y="991235"/>
            <a:ext cx="686435" cy="686435"/>
            <a:chOff x="5719739" y="3319093"/>
            <a:chExt cx="752522" cy="752522"/>
          </a:xfrm>
        </p:grpSpPr>
        <p:grpSp>
          <p:nvGrpSpPr>
            <p:cNvPr id="489" name="组合 488"/>
            <p:cNvGrpSpPr/>
            <p:nvPr/>
          </p:nvGrpSpPr>
          <p:grpSpPr>
            <a:xfrm>
              <a:off x="5719739" y="3319093"/>
              <a:ext cx="752522" cy="752522"/>
              <a:chOff x="5719739" y="3319093"/>
              <a:chExt cx="752522" cy="752522"/>
            </a:xfrm>
          </p:grpSpPr>
          <p:sp>
            <p:nvSpPr>
              <p:cNvPr id="500" name="©显眼包PPT1-1"/>
              <p:cNvSpPr/>
              <p:nvPr/>
            </p:nvSpPr>
            <p:spPr>
              <a:xfrm>
                <a:off x="5719739" y="3319093"/>
                <a:ext cx="752522" cy="752522"/>
              </a:xfrm>
              <a:prstGeom prst="ellipse">
                <a:avLst/>
              </a:prstGeom>
              <a:solidFill>
                <a:schemeClr val="accent1">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02" name="©显眼包PPT1-2"/>
              <p:cNvSpPr/>
              <p:nvPr/>
            </p:nvSpPr>
            <p:spPr>
              <a:xfrm>
                <a:off x="5756814" y="3356168"/>
                <a:ext cx="678371" cy="678371"/>
              </a:xfrm>
              <a:prstGeom prst="ellipse">
                <a:avLst/>
              </a:prstGeom>
              <a:gradFill flip="none" rotWithShape="1">
                <a:gsLst>
                  <a:gs pos="39000">
                    <a:schemeClr val="bg1"/>
                  </a:gs>
                  <a:gs pos="100000">
                    <a:schemeClr val="accent1">
                      <a:lumMod val="60000"/>
                      <a:lumOff val="40000"/>
                    </a:schemeClr>
                  </a:gs>
                </a:gsLst>
                <a:path path="circle">
                  <a:fillToRect l="50000" t="50000" r="50000" b="50000"/>
                </a:path>
                <a:tileRect/>
              </a:gradFill>
              <a:ln w="9525">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03" name="©显眼包PPT1-3"/>
              <p:cNvSpPr/>
              <p:nvPr/>
            </p:nvSpPr>
            <p:spPr>
              <a:xfrm>
                <a:off x="5783108" y="3382462"/>
                <a:ext cx="625785" cy="625785"/>
              </a:xfrm>
              <a:prstGeom prst="ellipse">
                <a:avLst/>
              </a:prstGeom>
              <a:noFill/>
              <a:ln w="635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504" name="©显眼包PPT1-4"/>
            <p:cNvSpPr txBox="1"/>
            <p:nvPr/>
          </p:nvSpPr>
          <p:spPr>
            <a:xfrm>
              <a:off x="5800491" y="3495215"/>
              <a:ext cx="575008" cy="333449"/>
            </a:xfrm>
            <a:prstGeom prst="rect">
              <a:avLst/>
            </a:prstGeom>
            <a:noFill/>
          </p:spPr>
          <p:txBody>
            <a:bodyPr wrap="square" lIns="0" tIns="0" rIns="0" bIns="0" rtlCol="0">
              <a:spAutoFit/>
            </a:bodyPr>
            <a:lstStyle/>
            <a:p>
              <a:pPr algn="ctr">
                <a:lnSpc>
                  <a:spcPct val="110000"/>
                </a:lnSpc>
              </a:pPr>
              <a:endParaRPr lang="en-US" sz="10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lnSpc>
                  <a:spcPct val="110000"/>
                </a:lnSpc>
              </a:pPr>
              <a:r>
                <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沟通协同</a:t>
              </a:r>
              <a:endPar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507" name="©显眼包PPT1"/>
          <p:cNvGrpSpPr/>
          <p:nvPr/>
        </p:nvGrpSpPr>
        <p:grpSpPr>
          <a:xfrm rot="0">
            <a:off x="7084060" y="991235"/>
            <a:ext cx="686435" cy="686435"/>
            <a:chOff x="5719739" y="3319093"/>
            <a:chExt cx="752522" cy="752522"/>
          </a:xfrm>
        </p:grpSpPr>
        <p:grpSp>
          <p:nvGrpSpPr>
            <p:cNvPr id="508" name="组合 507"/>
            <p:cNvGrpSpPr/>
            <p:nvPr/>
          </p:nvGrpSpPr>
          <p:grpSpPr>
            <a:xfrm>
              <a:off x="5719739" y="3319093"/>
              <a:ext cx="752522" cy="752522"/>
              <a:chOff x="5719739" y="3319093"/>
              <a:chExt cx="752522" cy="752522"/>
            </a:xfrm>
          </p:grpSpPr>
          <p:sp>
            <p:nvSpPr>
              <p:cNvPr id="538" name="©显眼包PPT1-1"/>
              <p:cNvSpPr/>
              <p:nvPr/>
            </p:nvSpPr>
            <p:spPr>
              <a:xfrm>
                <a:off x="5719739" y="3319093"/>
                <a:ext cx="752522" cy="752522"/>
              </a:xfrm>
              <a:prstGeom prst="ellipse">
                <a:avLst/>
              </a:prstGeom>
              <a:solidFill>
                <a:schemeClr val="accent1">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39" name="©显眼包PPT1-2"/>
              <p:cNvSpPr/>
              <p:nvPr/>
            </p:nvSpPr>
            <p:spPr>
              <a:xfrm>
                <a:off x="5756814" y="3356168"/>
                <a:ext cx="678371" cy="678371"/>
              </a:xfrm>
              <a:prstGeom prst="ellipse">
                <a:avLst/>
              </a:prstGeom>
              <a:gradFill flip="none" rotWithShape="1">
                <a:gsLst>
                  <a:gs pos="39000">
                    <a:schemeClr val="bg1"/>
                  </a:gs>
                  <a:gs pos="100000">
                    <a:schemeClr val="accent1">
                      <a:lumMod val="60000"/>
                      <a:lumOff val="40000"/>
                    </a:schemeClr>
                  </a:gs>
                </a:gsLst>
                <a:path path="circle">
                  <a:fillToRect l="50000" t="50000" r="50000" b="50000"/>
                </a:path>
                <a:tileRect/>
              </a:gradFill>
              <a:ln w="9525">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40" name="©显眼包PPT1-3"/>
              <p:cNvSpPr/>
              <p:nvPr/>
            </p:nvSpPr>
            <p:spPr>
              <a:xfrm>
                <a:off x="5783108" y="3382462"/>
                <a:ext cx="625785" cy="625785"/>
              </a:xfrm>
              <a:prstGeom prst="ellipse">
                <a:avLst/>
              </a:prstGeom>
              <a:noFill/>
              <a:ln w="6350">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541" name="©显眼包PPT1-4"/>
            <p:cNvSpPr txBox="1"/>
            <p:nvPr/>
          </p:nvSpPr>
          <p:spPr>
            <a:xfrm>
              <a:off x="5800491" y="3495215"/>
              <a:ext cx="575008" cy="370344"/>
            </a:xfrm>
            <a:prstGeom prst="rect">
              <a:avLst/>
            </a:prstGeom>
            <a:noFill/>
          </p:spPr>
          <p:txBody>
            <a:bodyPr wrap="square" lIns="0" tIns="0" rIns="0" bIns="0" rtlCol="0">
              <a:spAutoFit/>
            </a:bodyPr>
            <a:lstStyle/>
            <a:p>
              <a:pPr algn="ctr">
                <a:lnSpc>
                  <a:spcPct val="110000"/>
                </a:lnSpc>
              </a:pPr>
              <a:r>
                <a:rPr lang="en-US" sz="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 </a:t>
              </a:r>
              <a:endParaRPr lang="en-US" sz="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lnSpc>
                  <a:spcPct val="110000"/>
                </a:lnSpc>
              </a:pPr>
              <a:r>
                <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决策支持</a:t>
              </a:r>
              <a:endParaRPr lang="zh-CN" altLang="en-US" sz="8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sp>
        <p:nvSpPr>
          <p:cNvPr id="548" name="任意多边形: 形状 483"/>
          <p:cNvSpPr/>
          <p:nvPr/>
        </p:nvSpPr>
        <p:spPr>
          <a:xfrm>
            <a:off x="5256530" y="1031875"/>
            <a:ext cx="1609090" cy="907415"/>
          </a:xfrm>
          <a:custGeom>
            <a:avLst/>
            <a:gdLst>
              <a:gd name="connsiteX0" fmla="*/ 1186646 w 1860469"/>
              <a:gd name="connsiteY0" fmla="*/ 0 h 1049553"/>
              <a:gd name="connsiteX1" fmla="*/ 1618837 w 1860469"/>
              <a:gd name="connsiteY1" fmla="*/ 422841 h 1049553"/>
              <a:gd name="connsiteX2" fmla="*/ 1860469 w 1860469"/>
              <a:gd name="connsiteY2" fmla="*/ 731656 h 1049553"/>
              <a:gd name="connsiteX3" fmla="*/ 1544317 w 1860469"/>
              <a:gd name="connsiteY3" fmla="*/ 1049553 h 1049553"/>
              <a:gd name="connsiteX4" fmla="*/ 352008 w 1860469"/>
              <a:gd name="connsiteY4" fmla="*/ 1049553 h 1049553"/>
              <a:gd name="connsiteX5" fmla="*/ 0 w 1860469"/>
              <a:gd name="connsiteY5" fmla="*/ 696343 h 1049553"/>
              <a:gd name="connsiteX6" fmla="*/ 352008 w 1860469"/>
              <a:gd name="connsiteY6" fmla="*/ 343131 h 1049553"/>
              <a:gd name="connsiteX7" fmla="*/ 414777 w 1860469"/>
              <a:gd name="connsiteY7" fmla="*/ 348851 h 1049553"/>
              <a:gd name="connsiteX8" fmla="*/ 412325 w 1860469"/>
              <a:gd name="connsiteY8" fmla="*/ 314312 h 1049553"/>
              <a:gd name="connsiteX9" fmla="*/ 655136 w 1860469"/>
              <a:gd name="connsiteY9" fmla="*/ 70653 h 1049553"/>
              <a:gd name="connsiteX10" fmla="*/ 847193 w 1860469"/>
              <a:gd name="connsiteY10" fmla="*/ 165322 h 1049553"/>
              <a:gd name="connsiteX11" fmla="*/ 1186646 w 1860469"/>
              <a:gd name="connsiteY11" fmla="*/ 0 h 1049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60469" h="1049553">
                <a:moveTo>
                  <a:pt x="1186646" y="0"/>
                </a:moveTo>
                <a:cubicBezTo>
                  <a:pt x="1421753" y="0"/>
                  <a:pt x="1612912" y="188344"/>
                  <a:pt x="1618837" y="422841"/>
                </a:cubicBezTo>
                <a:cubicBezTo>
                  <a:pt x="1757465" y="456689"/>
                  <a:pt x="1860469" y="582099"/>
                  <a:pt x="1860469" y="731656"/>
                </a:cubicBezTo>
                <a:cubicBezTo>
                  <a:pt x="1860469" y="907013"/>
                  <a:pt x="1719004" y="1049203"/>
                  <a:pt x="1544317" y="1049553"/>
                </a:cubicBezTo>
                <a:lnTo>
                  <a:pt x="352008" y="1049553"/>
                </a:lnTo>
                <a:cubicBezTo>
                  <a:pt x="157600" y="1049553"/>
                  <a:pt x="0" y="891421"/>
                  <a:pt x="0" y="696343"/>
                </a:cubicBezTo>
                <a:cubicBezTo>
                  <a:pt x="0" y="501265"/>
                  <a:pt x="157600" y="343131"/>
                  <a:pt x="352008" y="343131"/>
                </a:cubicBezTo>
                <a:cubicBezTo>
                  <a:pt x="373434" y="343131"/>
                  <a:pt x="394424" y="345162"/>
                  <a:pt x="414777" y="348851"/>
                </a:cubicBezTo>
                <a:cubicBezTo>
                  <a:pt x="413184" y="337555"/>
                  <a:pt x="412325" y="326045"/>
                  <a:pt x="412325" y="314312"/>
                </a:cubicBezTo>
                <a:cubicBezTo>
                  <a:pt x="412325" y="179740"/>
                  <a:pt x="521044" y="70653"/>
                  <a:pt x="655136" y="70653"/>
                </a:cubicBezTo>
                <a:cubicBezTo>
                  <a:pt x="733293" y="70653"/>
                  <a:pt x="802796" y="107750"/>
                  <a:pt x="847193" y="165322"/>
                </a:cubicBezTo>
                <a:cubicBezTo>
                  <a:pt x="926364" y="64672"/>
                  <a:pt x="1048970" y="0"/>
                  <a:pt x="1186646" y="0"/>
                </a:cubicBezTo>
                <a:close/>
              </a:path>
            </a:pathLst>
          </a:custGeom>
          <a:gradFill flip="none" rotWithShape="1">
            <a:gsLst>
              <a:gs pos="83000">
                <a:schemeClr val="accent5"/>
              </a:gs>
              <a:gs pos="7000">
                <a:schemeClr val="accent5">
                  <a:lumMod val="60000"/>
                  <a:lumOff val="40000"/>
                </a:schemeClr>
              </a:gs>
            </a:gsLst>
            <a:lin ang="2700000" scaled="1"/>
            <a:tileRect/>
          </a:gradFill>
          <a:ln w="12700" cap="flat">
            <a:gradFill>
              <a:gsLst>
                <a:gs pos="93878">
                  <a:schemeClr val="accent5">
                    <a:lumMod val="20000"/>
                    <a:lumOff val="80000"/>
                  </a:schemeClr>
                </a:gs>
                <a:gs pos="0">
                  <a:schemeClr val="accent5">
                    <a:lumMod val="20000"/>
                    <a:lumOff val="80000"/>
                  </a:schemeClr>
                </a:gs>
              </a:gsLst>
              <a:lin ang="5400000" scaled="1"/>
            </a:gradFill>
            <a:prstDash val="solid"/>
            <a:miter/>
          </a:ln>
          <a:effectLst>
            <a:reflection blurRad="139700" stA="93000" endPos="14000" dir="5400000" sy="-100000" algn="bl" rotWithShape="0"/>
          </a:effectLst>
          <a:scene3d>
            <a:camera prst="isometricOffAxis1Right">
              <a:rot lat="480000" lon="21000000" rev="0"/>
            </a:camera>
            <a:lightRig rig="contrasting" dir="t"/>
          </a:scene3d>
          <a:sp3d extrusionH="311150"/>
        </p:spPr>
        <p:txBody>
          <a:bodyPr rtlCol="0" anchor="ctr"/>
          <a:lstStyle/>
          <a:p>
            <a:endParaRPr lang="zh-CN" altLang="en-US" sz="1600" dirty="0">
              <a:latin typeface="微软雅黑" panose="020B0503020204020204" charset="-122"/>
              <a:ea typeface="微软雅黑" panose="020B0503020204020204" charset="-122"/>
              <a:cs typeface="微软雅黑" panose="020B0503020204020204" charset="-122"/>
            </a:endParaRPr>
          </a:p>
        </p:txBody>
      </p:sp>
      <p:sp>
        <p:nvSpPr>
          <p:cNvPr id="549" name="文本框 548"/>
          <p:cNvSpPr txBox="1"/>
          <p:nvPr/>
        </p:nvSpPr>
        <p:spPr>
          <a:xfrm>
            <a:off x="5411470" y="1315720"/>
            <a:ext cx="1362710" cy="564515"/>
          </a:xfrm>
          <a:prstGeom prst="rect">
            <a:avLst/>
          </a:prstGeom>
          <a:noFill/>
          <a:effectLst/>
          <a:scene3d>
            <a:camera prst="isometricOffAxis1Right">
              <a:rot lat="480000" lon="21000000" rev="0"/>
            </a:camera>
            <a:lightRig rig="threePt" dir="t"/>
          </a:scene3d>
        </p:spPr>
        <p:txBody>
          <a:bodyPr wrap="none" rtlCol="0">
            <a:noAutofit/>
          </a:bodyPr>
          <a:lstStyle/>
          <a:p>
            <a:pPr algn="ctr"/>
            <a:r>
              <a:rPr lang="zh-CN" sz="1400" b="1">
                <a:solidFill>
                  <a:schemeClr val="bg1"/>
                </a:solidFill>
                <a:latin typeface="微软雅黑" panose="020B0503020204020204" charset="-122"/>
                <a:ea typeface="微软雅黑" panose="020B0503020204020204" charset="-122"/>
                <a:cs typeface="微软雅黑" panose="020B0503020204020204" charset="-122"/>
              </a:rPr>
              <a:t>打造智能办</a:t>
            </a:r>
            <a:endParaRPr lang="zh-CN" sz="14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sz="1400" b="1">
                <a:solidFill>
                  <a:schemeClr val="bg1"/>
                </a:solidFill>
                <a:latin typeface="微软雅黑" panose="020B0503020204020204" charset="-122"/>
                <a:ea typeface="微软雅黑" panose="020B0503020204020204" charset="-122"/>
                <a:cs typeface="微软雅黑" panose="020B0503020204020204" charset="-122"/>
              </a:rPr>
              <a:t>公全场景</a:t>
            </a: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助手</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52" name="任意多边形: 形状 6"/>
          <p:cNvSpPr/>
          <p:nvPr/>
        </p:nvSpPr>
        <p:spPr>
          <a:xfrm>
            <a:off x="4580890" y="3670300"/>
            <a:ext cx="3145790" cy="1464945"/>
          </a:xfrm>
          <a:custGeom>
            <a:avLst/>
            <a:gdLst>
              <a:gd name="connsiteX0" fmla="*/ 1703020 w 5020532"/>
              <a:gd name="connsiteY0" fmla="*/ 976632 h 4676677"/>
              <a:gd name="connsiteX1" fmla="*/ 3017217 w 5020532"/>
              <a:gd name="connsiteY1" fmla="*/ 976632 h 4676677"/>
              <a:gd name="connsiteX2" fmla="*/ 5020139 w 5020532"/>
              <a:gd name="connsiteY2" fmla="*/ 4676356 h 4676677"/>
              <a:gd name="connsiteX3" fmla="*/ 5020532 w 5020532"/>
              <a:gd name="connsiteY3" fmla="*/ 4676677 h 4676677"/>
              <a:gd name="connsiteX4" fmla="*/ 0 w 5020532"/>
              <a:gd name="connsiteY4" fmla="*/ 4676677 h 4676677"/>
              <a:gd name="connsiteX5" fmla="*/ 109543 w 5020532"/>
              <a:gd name="connsiteY5" fmla="*/ 4575924 h 4676677"/>
              <a:gd name="connsiteX6" fmla="*/ 1703020 w 5020532"/>
              <a:gd name="connsiteY6" fmla="*/ 976632 h 4676677"/>
              <a:gd name="connsiteX7" fmla="*/ 2353326 w 5020532"/>
              <a:gd name="connsiteY7" fmla="*/ 0 h 4676677"/>
              <a:gd name="connsiteX8" fmla="*/ 3601329 w 5020532"/>
              <a:gd name="connsiteY8" fmla="*/ 976630 h 4676677"/>
              <a:gd name="connsiteX9" fmla="*/ 1105322 w 5020532"/>
              <a:gd name="connsiteY9" fmla="*/ 976630 h 4676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20532" h="4676677">
                <a:moveTo>
                  <a:pt x="1703020" y="976632"/>
                </a:moveTo>
                <a:lnTo>
                  <a:pt x="3017217" y="976632"/>
                </a:lnTo>
                <a:cubicBezTo>
                  <a:pt x="3062689" y="2256319"/>
                  <a:pt x="3699821" y="3536004"/>
                  <a:pt x="5020139" y="4676356"/>
                </a:cubicBezTo>
                <a:lnTo>
                  <a:pt x="5020532" y="4676677"/>
                </a:lnTo>
                <a:lnTo>
                  <a:pt x="0" y="4676677"/>
                </a:lnTo>
                <a:lnTo>
                  <a:pt x="109543" y="4575924"/>
                </a:lnTo>
                <a:cubicBezTo>
                  <a:pt x="1247186" y="3481956"/>
                  <a:pt x="1495319" y="2221599"/>
                  <a:pt x="1703020" y="976632"/>
                </a:cubicBezTo>
                <a:close/>
                <a:moveTo>
                  <a:pt x="2353326" y="0"/>
                </a:moveTo>
                <a:lnTo>
                  <a:pt x="3601329" y="976630"/>
                </a:lnTo>
                <a:lnTo>
                  <a:pt x="1105322" y="976630"/>
                </a:lnTo>
                <a:close/>
              </a:path>
            </a:pathLst>
          </a:custGeom>
          <a:gradFill>
            <a:gsLst>
              <a:gs pos="100000">
                <a:schemeClr val="accent5">
                  <a:lumMod val="20000"/>
                  <a:lumOff val="80000"/>
                  <a:alpha val="50000"/>
                </a:schemeClr>
              </a:gs>
              <a:gs pos="0">
                <a:schemeClr val="accent5">
                  <a:lumMod val="20000"/>
                  <a:lumOff val="80000"/>
                </a:schemeClr>
              </a:gs>
            </a:gsLst>
            <a:lin ang="5400000" scaled="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554" name="椭圆 553"/>
          <p:cNvSpPr/>
          <p:nvPr/>
        </p:nvSpPr>
        <p:spPr>
          <a:xfrm>
            <a:off x="4144328" y="4352925"/>
            <a:ext cx="730885" cy="730885"/>
          </a:xfrm>
          <a:prstGeom prst="ellipse">
            <a:avLst/>
          </a:prstGeom>
          <a:solidFill>
            <a:schemeClr val="bg1"/>
          </a:solidFill>
          <a:ln w="25400">
            <a:gradFill>
              <a:gsLst>
                <a:gs pos="0">
                  <a:schemeClr val="accent5">
                    <a:lumMod val="60000"/>
                    <a:lumOff val="40000"/>
                  </a:schemeClr>
                </a:gs>
                <a:gs pos="100000">
                  <a:schemeClr val="accent5"/>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55" name="矩形 554"/>
          <p:cNvSpPr/>
          <p:nvPr/>
        </p:nvSpPr>
        <p:spPr>
          <a:xfrm>
            <a:off x="4096385" y="4704715"/>
            <a:ext cx="826770" cy="259715"/>
          </a:xfrm>
          <a:prstGeom prst="rect">
            <a:avLst/>
          </a:prstGeom>
        </p:spPr>
        <p:txBody>
          <a:bodyPr wrap="square">
            <a:noAutofit/>
          </a:bodyPr>
          <a:lstStyle/>
          <a:p>
            <a:pPr algn="ctr"/>
            <a:r>
              <a:rPr lang="zh-CN" altLang="en-US" sz="1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多模态</a:t>
            </a:r>
            <a:endParaRPr lang="zh-CN" altLang="en-US" sz="1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56" name="椭圆 555"/>
          <p:cNvSpPr/>
          <p:nvPr/>
        </p:nvSpPr>
        <p:spPr>
          <a:xfrm>
            <a:off x="7152958" y="4353560"/>
            <a:ext cx="730885" cy="730885"/>
          </a:xfrm>
          <a:prstGeom prst="ellipse">
            <a:avLst/>
          </a:prstGeom>
          <a:solidFill>
            <a:schemeClr val="bg1"/>
          </a:solidFill>
          <a:ln w="25400">
            <a:gradFill>
              <a:gsLst>
                <a:gs pos="0">
                  <a:schemeClr val="accent5">
                    <a:lumMod val="60000"/>
                    <a:lumOff val="40000"/>
                  </a:schemeClr>
                </a:gs>
                <a:gs pos="100000">
                  <a:schemeClr val="accent5"/>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57" name="椭圆 556"/>
          <p:cNvSpPr/>
          <p:nvPr/>
        </p:nvSpPr>
        <p:spPr>
          <a:xfrm>
            <a:off x="6199188" y="4353560"/>
            <a:ext cx="730885" cy="730885"/>
          </a:xfrm>
          <a:prstGeom prst="ellipse">
            <a:avLst/>
          </a:prstGeom>
          <a:solidFill>
            <a:schemeClr val="bg1"/>
          </a:solidFill>
          <a:ln w="25400">
            <a:gradFill>
              <a:gsLst>
                <a:gs pos="0">
                  <a:schemeClr val="accent5">
                    <a:lumMod val="60000"/>
                    <a:lumOff val="40000"/>
                  </a:schemeClr>
                </a:gs>
                <a:gs pos="100000">
                  <a:schemeClr val="accent5"/>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58" name="椭圆 557"/>
          <p:cNvSpPr/>
          <p:nvPr/>
        </p:nvSpPr>
        <p:spPr>
          <a:xfrm>
            <a:off x="5159058" y="4352925"/>
            <a:ext cx="730885" cy="730885"/>
          </a:xfrm>
          <a:prstGeom prst="ellipse">
            <a:avLst/>
          </a:prstGeom>
          <a:solidFill>
            <a:schemeClr val="bg1"/>
          </a:solidFill>
          <a:ln w="25400">
            <a:gradFill>
              <a:gsLst>
                <a:gs pos="0">
                  <a:schemeClr val="accent5">
                    <a:lumMod val="60000"/>
                    <a:lumOff val="40000"/>
                  </a:schemeClr>
                </a:gs>
                <a:gs pos="100000">
                  <a:schemeClr val="accent5"/>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60" name="矩形 559"/>
          <p:cNvSpPr/>
          <p:nvPr/>
        </p:nvSpPr>
        <p:spPr>
          <a:xfrm>
            <a:off x="5111115" y="4704715"/>
            <a:ext cx="826770" cy="259715"/>
          </a:xfrm>
          <a:prstGeom prst="rect">
            <a:avLst/>
          </a:prstGeom>
        </p:spPr>
        <p:txBody>
          <a:bodyPr wrap="square">
            <a:noAutofit/>
          </a:bodyPr>
          <a:lstStyle/>
          <a:p>
            <a:pPr algn="ctr"/>
            <a:r>
              <a:rPr lang="zh-CN" altLang="en-US" sz="1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专业性</a:t>
            </a:r>
            <a:endParaRPr lang="zh-CN" altLang="en-US" sz="1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62" name="矩形 561"/>
          <p:cNvSpPr/>
          <p:nvPr/>
        </p:nvSpPr>
        <p:spPr>
          <a:xfrm>
            <a:off x="6151245" y="4704715"/>
            <a:ext cx="826770" cy="259715"/>
          </a:xfrm>
          <a:prstGeom prst="rect">
            <a:avLst/>
          </a:prstGeom>
        </p:spPr>
        <p:txBody>
          <a:bodyPr wrap="square">
            <a:noAutofit/>
          </a:bodyPr>
          <a:lstStyle/>
          <a:p>
            <a:pPr algn="ctr"/>
            <a:r>
              <a:rPr lang="zh-CN" altLang="en-US" sz="1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易用性</a:t>
            </a:r>
            <a:endParaRPr lang="zh-CN" altLang="en-US" sz="1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63" name="矩形 562"/>
          <p:cNvSpPr/>
          <p:nvPr/>
        </p:nvSpPr>
        <p:spPr>
          <a:xfrm>
            <a:off x="7105015" y="4704715"/>
            <a:ext cx="826770" cy="259715"/>
          </a:xfrm>
          <a:prstGeom prst="rect">
            <a:avLst/>
          </a:prstGeom>
        </p:spPr>
        <p:txBody>
          <a:bodyPr wrap="square">
            <a:noAutofit/>
          </a:bodyPr>
          <a:lstStyle/>
          <a:p>
            <a:pPr algn="ctr"/>
            <a:r>
              <a:rPr lang="zh-CN" altLang="en-US" sz="1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安全性</a:t>
            </a:r>
            <a:endParaRPr lang="zh-CN" altLang="en-US" sz="1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64" name="Freeform 52"/>
          <p:cNvSpPr>
            <a:spLocks noEditPoints="1"/>
          </p:cNvSpPr>
          <p:nvPr/>
        </p:nvSpPr>
        <p:spPr bwMode="auto">
          <a:xfrm>
            <a:off x="5398135" y="4450715"/>
            <a:ext cx="252730" cy="262255"/>
          </a:xfrm>
          <a:custGeom>
            <a:avLst/>
            <a:gdLst>
              <a:gd name="T0" fmla="*/ 79 w 88"/>
              <a:gd name="T1" fmla="*/ 76 h 88"/>
              <a:gd name="T2" fmla="*/ 78 w 88"/>
              <a:gd name="T3" fmla="*/ 76 h 88"/>
              <a:gd name="T4" fmla="*/ 77 w 88"/>
              <a:gd name="T5" fmla="*/ 76 h 88"/>
              <a:gd name="T6" fmla="*/ 74 w 88"/>
              <a:gd name="T7" fmla="*/ 76 h 88"/>
              <a:gd name="T8" fmla="*/ 56 w 88"/>
              <a:gd name="T9" fmla="*/ 60 h 88"/>
              <a:gd name="T10" fmla="*/ 72 w 88"/>
              <a:gd name="T11" fmla="*/ 60 h 88"/>
              <a:gd name="T12" fmla="*/ 72 w 88"/>
              <a:gd name="T13" fmla="*/ 52 h 88"/>
              <a:gd name="T14" fmla="*/ 56 w 88"/>
              <a:gd name="T15" fmla="*/ 52 h 88"/>
              <a:gd name="T16" fmla="*/ 56 w 88"/>
              <a:gd name="T17" fmla="*/ 44 h 88"/>
              <a:gd name="T18" fmla="*/ 69 w 88"/>
              <a:gd name="T19" fmla="*/ 44 h 88"/>
              <a:gd name="T20" fmla="*/ 88 w 88"/>
              <a:gd name="T21" fmla="*/ 27 h 88"/>
              <a:gd name="T22" fmla="*/ 69 w 88"/>
              <a:gd name="T23" fmla="*/ 8 h 88"/>
              <a:gd name="T24" fmla="*/ 60 w 88"/>
              <a:gd name="T25" fmla="*/ 10 h 88"/>
              <a:gd name="T26" fmla="*/ 44 w 88"/>
              <a:gd name="T27" fmla="*/ 0 h 88"/>
              <a:gd name="T28" fmla="*/ 28 w 88"/>
              <a:gd name="T29" fmla="*/ 10 h 88"/>
              <a:gd name="T30" fmla="*/ 19 w 88"/>
              <a:gd name="T31" fmla="*/ 8 h 88"/>
              <a:gd name="T32" fmla="*/ 0 w 88"/>
              <a:gd name="T33" fmla="*/ 27 h 88"/>
              <a:gd name="T34" fmla="*/ 19 w 88"/>
              <a:gd name="T35" fmla="*/ 44 h 88"/>
              <a:gd name="T36" fmla="*/ 32 w 88"/>
              <a:gd name="T37" fmla="*/ 44 h 88"/>
              <a:gd name="T38" fmla="*/ 32 w 88"/>
              <a:gd name="T39" fmla="*/ 52 h 88"/>
              <a:gd name="T40" fmla="*/ 16 w 88"/>
              <a:gd name="T41" fmla="*/ 52 h 88"/>
              <a:gd name="T42" fmla="*/ 16 w 88"/>
              <a:gd name="T43" fmla="*/ 60 h 88"/>
              <a:gd name="T44" fmla="*/ 32 w 88"/>
              <a:gd name="T45" fmla="*/ 60 h 88"/>
              <a:gd name="T46" fmla="*/ 14 w 88"/>
              <a:gd name="T47" fmla="*/ 76 h 88"/>
              <a:gd name="T48" fmla="*/ 11 w 88"/>
              <a:gd name="T49" fmla="*/ 76 h 88"/>
              <a:gd name="T50" fmla="*/ 10 w 88"/>
              <a:gd name="T51" fmla="*/ 76 h 88"/>
              <a:gd name="T52" fmla="*/ 9 w 88"/>
              <a:gd name="T53" fmla="*/ 76 h 88"/>
              <a:gd name="T54" fmla="*/ 4 w 88"/>
              <a:gd name="T55" fmla="*/ 83 h 88"/>
              <a:gd name="T56" fmla="*/ 10 w 88"/>
              <a:gd name="T57" fmla="*/ 88 h 88"/>
              <a:gd name="T58" fmla="*/ 78 w 88"/>
              <a:gd name="T59" fmla="*/ 88 h 88"/>
              <a:gd name="T60" fmla="*/ 84 w 88"/>
              <a:gd name="T61" fmla="*/ 82 h 88"/>
              <a:gd name="T62" fmla="*/ 79 w 88"/>
              <a:gd name="T63" fmla="*/ 76 h 88"/>
              <a:gd name="T64" fmla="*/ 36 w 88"/>
              <a:gd name="T65" fmla="*/ 36 h 88"/>
              <a:gd name="T66" fmla="*/ 19 w 88"/>
              <a:gd name="T67" fmla="*/ 36 h 88"/>
              <a:gd name="T68" fmla="*/ 8 w 88"/>
              <a:gd name="T69" fmla="*/ 27 h 88"/>
              <a:gd name="T70" fmla="*/ 19 w 88"/>
              <a:gd name="T71" fmla="*/ 16 h 88"/>
              <a:gd name="T72" fmla="*/ 27 w 88"/>
              <a:gd name="T73" fmla="*/ 19 h 88"/>
              <a:gd name="T74" fmla="*/ 31 w 88"/>
              <a:gd name="T75" fmla="*/ 20 h 88"/>
              <a:gd name="T76" fmla="*/ 34 w 88"/>
              <a:gd name="T77" fmla="*/ 17 h 88"/>
              <a:gd name="T78" fmla="*/ 44 w 88"/>
              <a:gd name="T79" fmla="*/ 8 h 88"/>
              <a:gd name="T80" fmla="*/ 54 w 88"/>
              <a:gd name="T81" fmla="*/ 17 h 88"/>
              <a:gd name="T82" fmla="*/ 57 w 88"/>
              <a:gd name="T83" fmla="*/ 20 h 88"/>
              <a:gd name="T84" fmla="*/ 61 w 88"/>
              <a:gd name="T85" fmla="*/ 19 h 88"/>
              <a:gd name="T86" fmla="*/ 69 w 88"/>
              <a:gd name="T87" fmla="*/ 16 h 88"/>
              <a:gd name="T88" fmla="*/ 80 w 88"/>
              <a:gd name="T89" fmla="*/ 27 h 88"/>
              <a:gd name="T90" fmla="*/ 69 w 88"/>
              <a:gd name="T91" fmla="*/ 36 h 88"/>
              <a:gd name="T92" fmla="*/ 52 w 88"/>
              <a:gd name="T93" fmla="*/ 36 h 88"/>
              <a:gd name="T94" fmla="*/ 48 w 88"/>
              <a:gd name="T95" fmla="*/ 40 h 88"/>
              <a:gd name="T96" fmla="*/ 48 w 88"/>
              <a:gd name="T97" fmla="*/ 52 h 88"/>
              <a:gd name="T98" fmla="*/ 40 w 88"/>
              <a:gd name="T99" fmla="*/ 52 h 88"/>
              <a:gd name="T100" fmla="*/ 40 w 88"/>
              <a:gd name="T101" fmla="*/ 40 h 88"/>
              <a:gd name="T102" fmla="*/ 36 w 88"/>
              <a:gd name="T103" fmla="*/ 36 h 88"/>
              <a:gd name="T104" fmla="*/ 29 w 88"/>
              <a:gd name="T105" fmla="*/ 80 h 88"/>
              <a:gd name="T106" fmla="*/ 40 w 88"/>
              <a:gd name="T107" fmla="*/ 60 h 88"/>
              <a:gd name="T108" fmla="*/ 48 w 88"/>
              <a:gd name="T109" fmla="*/ 60 h 88"/>
              <a:gd name="T110" fmla="*/ 58 w 88"/>
              <a:gd name="T111" fmla="*/ 79 h 88"/>
              <a:gd name="T112" fmla="*/ 59 w 88"/>
              <a:gd name="T113" fmla="*/ 80 h 88"/>
              <a:gd name="T114" fmla="*/ 29 w 88"/>
              <a:gd name="T115" fmla="*/ 8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8" h="88">
                <a:moveTo>
                  <a:pt x="79" y="76"/>
                </a:moveTo>
                <a:cubicBezTo>
                  <a:pt x="78" y="76"/>
                  <a:pt x="78" y="76"/>
                  <a:pt x="78" y="76"/>
                </a:cubicBezTo>
                <a:cubicBezTo>
                  <a:pt x="78" y="76"/>
                  <a:pt x="78" y="76"/>
                  <a:pt x="77" y="76"/>
                </a:cubicBezTo>
                <a:cubicBezTo>
                  <a:pt x="76" y="76"/>
                  <a:pt x="75" y="76"/>
                  <a:pt x="74" y="76"/>
                </a:cubicBezTo>
                <a:cubicBezTo>
                  <a:pt x="63" y="76"/>
                  <a:pt x="57" y="71"/>
                  <a:pt x="56" y="60"/>
                </a:cubicBezTo>
                <a:cubicBezTo>
                  <a:pt x="72" y="60"/>
                  <a:pt x="72" y="60"/>
                  <a:pt x="72" y="60"/>
                </a:cubicBezTo>
                <a:cubicBezTo>
                  <a:pt x="72" y="52"/>
                  <a:pt x="72" y="52"/>
                  <a:pt x="72" y="52"/>
                </a:cubicBezTo>
                <a:cubicBezTo>
                  <a:pt x="56" y="52"/>
                  <a:pt x="56" y="52"/>
                  <a:pt x="56" y="52"/>
                </a:cubicBezTo>
                <a:cubicBezTo>
                  <a:pt x="56" y="44"/>
                  <a:pt x="56" y="44"/>
                  <a:pt x="56" y="44"/>
                </a:cubicBezTo>
                <a:cubicBezTo>
                  <a:pt x="69" y="44"/>
                  <a:pt x="69" y="44"/>
                  <a:pt x="69" y="44"/>
                </a:cubicBezTo>
                <a:cubicBezTo>
                  <a:pt x="80" y="44"/>
                  <a:pt x="88" y="36"/>
                  <a:pt x="88" y="27"/>
                </a:cubicBezTo>
                <a:cubicBezTo>
                  <a:pt x="88" y="16"/>
                  <a:pt x="80" y="8"/>
                  <a:pt x="69" y="8"/>
                </a:cubicBezTo>
                <a:cubicBezTo>
                  <a:pt x="66" y="8"/>
                  <a:pt x="63" y="9"/>
                  <a:pt x="60" y="10"/>
                </a:cubicBezTo>
                <a:cubicBezTo>
                  <a:pt x="57" y="4"/>
                  <a:pt x="51" y="0"/>
                  <a:pt x="44" y="0"/>
                </a:cubicBezTo>
                <a:cubicBezTo>
                  <a:pt x="37" y="0"/>
                  <a:pt x="31" y="4"/>
                  <a:pt x="28" y="10"/>
                </a:cubicBezTo>
                <a:cubicBezTo>
                  <a:pt x="25" y="9"/>
                  <a:pt x="22" y="8"/>
                  <a:pt x="19" y="8"/>
                </a:cubicBezTo>
                <a:cubicBezTo>
                  <a:pt x="8" y="8"/>
                  <a:pt x="0" y="16"/>
                  <a:pt x="0" y="27"/>
                </a:cubicBezTo>
                <a:cubicBezTo>
                  <a:pt x="0" y="36"/>
                  <a:pt x="8" y="44"/>
                  <a:pt x="19" y="44"/>
                </a:cubicBezTo>
                <a:cubicBezTo>
                  <a:pt x="32" y="44"/>
                  <a:pt x="32" y="44"/>
                  <a:pt x="32" y="44"/>
                </a:cubicBezTo>
                <a:cubicBezTo>
                  <a:pt x="32" y="52"/>
                  <a:pt x="32" y="52"/>
                  <a:pt x="32" y="52"/>
                </a:cubicBezTo>
                <a:cubicBezTo>
                  <a:pt x="16" y="52"/>
                  <a:pt x="16" y="52"/>
                  <a:pt x="16" y="52"/>
                </a:cubicBezTo>
                <a:cubicBezTo>
                  <a:pt x="16" y="60"/>
                  <a:pt x="16" y="60"/>
                  <a:pt x="16" y="60"/>
                </a:cubicBezTo>
                <a:cubicBezTo>
                  <a:pt x="32" y="60"/>
                  <a:pt x="32" y="60"/>
                  <a:pt x="32" y="60"/>
                </a:cubicBezTo>
                <a:cubicBezTo>
                  <a:pt x="31" y="71"/>
                  <a:pt x="25" y="76"/>
                  <a:pt x="14" y="76"/>
                </a:cubicBezTo>
                <a:cubicBezTo>
                  <a:pt x="13" y="76"/>
                  <a:pt x="12" y="76"/>
                  <a:pt x="11" y="76"/>
                </a:cubicBezTo>
                <a:cubicBezTo>
                  <a:pt x="10" y="76"/>
                  <a:pt x="10" y="76"/>
                  <a:pt x="10" y="76"/>
                </a:cubicBezTo>
                <a:cubicBezTo>
                  <a:pt x="9" y="76"/>
                  <a:pt x="9" y="76"/>
                  <a:pt x="9" y="76"/>
                </a:cubicBezTo>
                <a:cubicBezTo>
                  <a:pt x="6" y="77"/>
                  <a:pt x="4" y="79"/>
                  <a:pt x="4" y="83"/>
                </a:cubicBezTo>
                <a:cubicBezTo>
                  <a:pt x="4" y="86"/>
                  <a:pt x="7" y="88"/>
                  <a:pt x="10" y="88"/>
                </a:cubicBezTo>
                <a:cubicBezTo>
                  <a:pt x="78" y="88"/>
                  <a:pt x="78" y="88"/>
                  <a:pt x="78" y="88"/>
                </a:cubicBezTo>
                <a:cubicBezTo>
                  <a:pt x="81" y="88"/>
                  <a:pt x="84" y="86"/>
                  <a:pt x="84" y="82"/>
                </a:cubicBezTo>
                <a:cubicBezTo>
                  <a:pt x="84" y="79"/>
                  <a:pt x="82" y="77"/>
                  <a:pt x="79" y="76"/>
                </a:cubicBezTo>
                <a:close/>
                <a:moveTo>
                  <a:pt x="36" y="36"/>
                </a:moveTo>
                <a:cubicBezTo>
                  <a:pt x="19" y="36"/>
                  <a:pt x="19" y="36"/>
                  <a:pt x="19" y="36"/>
                </a:cubicBezTo>
                <a:cubicBezTo>
                  <a:pt x="13" y="36"/>
                  <a:pt x="8" y="33"/>
                  <a:pt x="8" y="27"/>
                </a:cubicBezTo>
                <a:cubicBezTo>
                  <a:pt x="8" y="21"/>
                  <a:pt x="13" y="16"/>
                  <a:pt x="19" y="16"/>
                </a:cubicBezTo>
                <a:cubicBezTo>
                  <a:pt x="22" y="16"/>
                  <a:pt x="25" y="17"/>
                  <a:pt x="27" y="19"/>
                </a:cubicBezTo>
                <a:cubicBezTo>
                  <a:pt x="28" y="20"/>
                  <a:pt x="29" y="21"/>
                  <a:pt x="31" y="20"/>
                </a:cubicBezTo>
                <a:cubicBezTo>
                  <a:pt x="32" y="20"/>
                  <a:pt x="33" y="19"/>
                  <a:pt x="34" y="17"/>
                </a:cubicBezTo>
                <a:cubicBezTo>
                  <a:pt x="34" y="12"/>
                  <a:pt x="39" y="8"/>
                  <a:pt x="44" y="8"/>
                </a:cubicBezTo>
                <a:cubicBezTo>
                  <a:pt x="49" y="8"/>
                  <a:pt x="54" y="12"/>
                  <a:pt x="54" y="17"/>
                </a:cubicBezTo>
                <a:cubicBezTo>
                  <a:pt x="55" y="19"/>
                  <a:pt x="56" y="20"/>
                  <a:pt x="57" y="20"/>
                </a:cubicBezTo>
                <a:cubicBezTo>
                  <a:pt x="59" y="21"/>
                  <a:pt x="60" y="20"/>
                  <a:pt x="61" y="19"/>
                </a:cubicBezTo>
                <a:cubicBezTo>
                  <a:pt x="63" y="17"/>
                  <a:pt x="66" y="16"/>
                  <a:pt x="69" y="16"/>
                </a:cubicBezTo>
                <a:cubicBezTo>
                  <a:pt x="75" y="16"/>
                  <a:pt x="80" y="21"/>
                  <a:pt x="80" y="27"/>
                </a:cubicBezTo>
                <a:cubicBezTo>
                  <a:pt x="80" y="33"/>
                  <a:pt x="75" y="36"/>
                  <a:pt x="69" y="36"/>
                </a:cubicBezTo>
                <a:cubicBezTo>
                  <a:pt x="52" y="36"/>
                  <a:pt x="52" y="36"/>
                  <a:pt x="52" y="36"/>
                </a:cubicBezTo>
                <a:cubicBezTo>
                  <a:pt x="50" y="36"/>
                  <a:pt x="48" y="38"/>
                  <a:pt x="48" y="40"/>
                </a:cubicBezTo>
                <a:cubicBezTo>
                  <a:pt x="48" y="52"/>
                  <a:pt x="48" y="52"/>
                  <a:pt x="48" y="52"/>
                </a:cubicBezTo>
                <a:cubicBezTo>
                  <a:pt x="40" y="52"/>
                  <a:pt x="40" y="52"/>
                  <a:pt x="40" y="52"/>
                </a:cubicBezTo>
                <a:cubicBezTo>
                  <a:pt x="40" y="40"/>
                  <a:pt x="40" y="40"/>
                  <a:pt x="40" y="40"/>
                </a:cubicBezTo>
                <a:cubicBezTo>
                  <a:pt x="40" y="38"/>
                  <a:pt x="38" y="36"/>
                  <a:pt x="36" y="36"/>
                </a:cubicBezTo>
                <a:close/>
                <a:moveTo>
                  <a:pt x="29" y="80"/>
                </a:moveTo>
                <a:cubicBezTo>
                  <a:pt x="35" y="76"/>
                  <a:pt x="39" y="69"/>
                  <a:pt x="40" y="60"/>
                </a:cubicBezTo>
                <a:cubicBezTo>
                  <a:pt x="48" y="60"/>
                  <a:pt x="48" y="60"/>
                  <a:pt x="48" y="60"/>
                </a:cubicBezTo>
                <a:cubicBezTo>
                  <a:pt x="49" y="69"/>
                  <a:pt x="52" y="75"/>
                  <a:pt x="58" y="79"/>
                </a:cubicBezTo>
                <a:cubicBezTo>
                  <a:pt x="58" y="80"/>
                  <a:pt x="58" y="80"/>
                  <a:pt x="59" y="80"/>
                </a:cubicBezTo>
                <a:lnTo>
                  <a:pt x="29" y="80"/>
                </a:lnTo>
                <a:close/>
              </a:path>
            </a:pathLst>
          </a:custGeom>
          <a:gradFill>
            <a:gsLst>
              <a:gs pos="0">
                <a:schemeClr val="accent5"/>
              </a:gs>
              <a:gs pos="100000">
                <a:schemeClr val="accent5">
                  <a:lumMod val="60000"/>
                  <a:lumOff val="40000"/>
                </a:schemeClr>
              </a:gs>
            </a:gsLst>
            <a:lin ang="5400000"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565" name="组合 564"/>
          <p:cNvGrpSpPr/>
          <p:nvPr/>
        </p:nvGrpSpPr>
        <p:grpSpPr>
          <a:xfrm rot="0">
            <a:off x="7423785" y="4470400"/>
            <a:ext cx="189230" cy="214630"/>
            <a:chOff x="8709026" y="3606801"/>
            <a:chExt cx="252413" cy="252413"/>
          </a:xfrm>
          <a:gradFill>
            <a:gsLst>
              <a:gs pos="0">
                <a:schemeClr val="accent5"/>
              </a:gs>
              <a:gs pos="100000">
                <a:schemeClr val="accent5">
                  <a:lumMod val="60000"/>
                  <a:lumOff val="40000"/>
                </a:schemeClr>
              </a:gs>
            </a:gsLst>
            <a:lin ang="5400000" scaled="0"/>
          </a:gradFill>
        </p:grpSpPr>
        <p:sp>
          <p:nvSpPr>
            <p:cNvPr id="569" name="Freeform 109"/>
            <p:cNvSpPr>
              <a:spLocks noEditPoints="1"/>
            </p:cNvSpPr>
            <p:nvPr/>
          </p:nvSpPr>
          <p:spPr bwMode="auto">
            <a:xfrm>
              <a:off x="8709026" y="3606801"/>
              <a:ext cx="252413" cy="252413"/>
            </a:xfrm>
            <a:custGeom>
              <a:avLst/>
              <a:gdLst>
                <a:gd name="T0" fmla="*/ 72 w 80"/>
                <a:gd name="T1" fmla="*/ 0 h 80"/>
                <a:gd name="T2" fmla="*/ 8 w 80"/>
                <a:gd name="T3" fmla="*/ 0 h 80"/>
                <a:gd name="T4" fmla="*/ 0 w 80"/>
                <a:gd name="T5" fmla="*/ 8 h 80"/>
                <a:gd name="T6" fmla="*/ 0 w 80"/>
                <a:gd name="T7" fmla="*/ 48 h 80"/>
                <a:gd name="T8" fmla="*/ 8 w 80"/>
                <a:gd name="T9" fmla="*/ 56 h 80"/>
                <a:gd name="T10" fmla="*/ 36 w 80"/>
                <a:gd name="T11" fmla="*/ 56 h 80"/>
                <a:gd name="T12" fmla="*/ 36 w 80"/>
                <a:gd name="T13" fmla="*/ 72 h 80"/>
                <a:gd name="T14" fmla="*/ 16 w 80"/>
                <a:gd name="T15" fmla="*/ 72 h 80"/>
                <a:gd name="T16" fmla="*/ 16 w 80"/>
                <a:gd name="T17" fmla="*/ 80 h 80"/>
                <a:gd name="T18" fmla="*/ 64 w 80"/>
                <a:gd name="T19" fmla="*/ 80 h 80"/>
                <a:gd name="T20" fmla="*/ 64 w 80"/>
                <a:gd name="T21" fmla="*/ 72 h 80"/>
                <a:gd name="T22" fmla="*/ 44 w 80"/>
                <a:gd name="T23" fmla="*/ 72 h 80"/>
                <a:gd name="T24" fmla="*/ 44 w 80"/>
                <a:gd name="T25" fmla="*/ 56 h 80"/>
                <a:gd name="T26" fmla="*/ 72 w 80"/>
                <a:gd name="T27" fmla="*/ 56 h 80"/>
                <a:gd name="T28" fmla="*/ 80 w 80"/>
                <a:gd name="T29" fmla="*/ 48 h 80"/>
                <a:gd name="T30" fmla="*/ 80 w 80"/>
                <a:gd name="T31" fmla="*/ 8 h 80"/>
                <a:gd name="T32" fmla="*/ 72 w 80"/>
                <a:gd name="T33" fmla="*/ 0 h 80"/>
                <a:gd name="T34" fmla="*/ 72 w 80"/>
                <a:gd name="T35" fmla="*/ 8 h 80"/>
                <a:gd name="T36" fmla="*/ 72 w 80"/>
                <a:gd name="T37" fmla="*/ 24 h 80"/>
                <a:gd name="T38" fmla="*/ 8 w 80"/>
                <a:gd name="T39" fmla="*/ 24 h 80"/>
                <a:gd name="T40" fmla="*/ 8 w 80"/>
                <a:gd name="T41" fmla="*/ 8 h 80"/>
                <a:gd name="T42" fmla="*/ 72 w 80"/>
                <a:gd name="T43" fmla="*/ 8 h 80"/>
                <a:gd name="T44" fmla="*/ 8 w 80"/>
                <a:gd name="T45" fmla="*/ 48 h 80"/>
                <a:gd name="T46" fmla="*/ 8 w 80"/>
                <a:gd name="T47" fmla="*/ 32 h 80"/>
                <a:gd name="T48" fmla="*/ 72 w 80"/>
                <a:gd name="T49" fmla="*/ 32 h 80"/>
                <a:gd name="T50" fmla="*/ 72 w 80"/>
                <a:gd name="T51" fmla="*/ 48 h 80"/>
                <a:gd name="T52" fmla="*/ 8 w 80"/>
                <a:gd name="T53" fmla="*/ 4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0" h="80">
                  <a:moveTo>
                    <a:pt x="72" y="0"/>
                  </a:moveTo>
                  <a:cubicBezTo>
                    <a:pt x="8" y="0"/>
                    <a:pt x="8" y="0"/>
                    <a:pt x="8" y="0"/>
                  </a:cubicBezTo>
                  <a:cubicBezTo>
                    <a:pt x="4" y="0"/>
                    <a:pt x="0" y="4"/>
                    <a:pt x="0" y="8"/>
                  </a:cubicBezTo>
                  <a:cubicBezTo>
                    <a:pt x="0" y="48"/>
                    <a:pt x="0" y="48"/>
                    <a:pt x="0" y="48"/>
                  </a:cubicBezTo>
                  <a:cubicBezTo>
                    <a:pt x="0" y="52"/>
                    <a:pt x="4" y="56"/>
                    <a:pt x="8" y="56"/>
                  </a:cubicBezTo>
                  <a:cubicBezTo>
                    <a:pt x="36" y="56"/>
                    <a:pt x="36" y="56"/>
                    <a:pt x="36" y="56"/>
                  </a:cubicBezTo>
                  <a:cubicBezTo>
                    <a:pt x="36" y="72"/>
                    <a:pt x="36" y="72"/>
                    <a:pt x="36" y="72"/>
                  </a:cubicBezTo>
                  <a:cubicBezTo>
                    <a:pt x="16" y="72"/>
                    <a:pt x="16" y="72"/>
                    <a:pt x="16" y="72"/>
                  </a:cubicBezTo>
                  <a:cubicBezTo>
                    <a:pt x="16" y="80"/>
                    <a:pt x="16" y="80"/>
                    <a:pt x="16" y="80"/>
                  </a:cubicBezTo>
                  <a:cubicBezTo>
                    <a:pt x="64" y="80"/>
                    <a:pt x="64" y="80"/>
                    <a:pt x="64" y="80"/>
                  </a:cubicBezTo>
                  <a:cubicBezTo>
                    <a:pt x="64" y="72"/>
                    <a:pt x="64" y="72"/>
                    <a:pt x="64" y="72"/>
                  </a:cubicBezTo>
                  <a:cubicBezTo>
                    <a:pt x="44" y="72"/>
                    <a:pt x="44" y="72"/>
                    <a:pt x="44" y="72"/>
                  </a:cubicBezTo>
                  <a:cubicBezTo>
                    <a:pt x="44" y="56"/>
                    <a:pt x="44" y="56"/>
                    <a:pt x="44" y="56"/>
                  </a:cubicBezTo>
                  <a:cubicBezTo>
                    <a:pt x="72" y="56"/>
                    <a:pt x="72" y="56"/>
                    <a:pt x="72" y="56"/>
                  </a:cubicBezTo>
                  <a:cubicBezTo>
                    <a:pt x="76" y="56"/>
                    <a:pt x="80" y="52"/>
                    <a:pt x="80" y="48"/>
                  </a:cubicBezTo>
                  <a:cubicBezTo>
                    <a:pt x="80" y="8"/>
                    <a:pt x="80" y="8"/>
                    <a:pt x="80" y="8"/>
                  </a:cubicBezTo>
                  <a:cubicBezTo>
                    <a:pt x="80" y="4"/>
                    <a:pt x="76" y="0"/>
                    <a:pt x="72" y="0"/>
                  </a:cubicBezTo>
                  <a:close/>
                  <a:moveTo>
                    <a:pt x="72" y="8"/>
                  </a:moveTo>
                  <a:cubicBezTo>
                    <a:pt x="72" y="24"/>
                    <a:pt x="72" y="24"/>
                    <a:pt x="72" y="24"/>
                  </a:cubicBezTo>
                  <a:cubicBezTo>
                    <a:pt x="8" y="24"/>
                    <a:pt x="8" y="24"/>
                    <a:pt x="8" y="24"/>
                  </a:cubicBezTo>
                  <a:cubicBezTo>
                    <a:pt x="8" y="8"/>
                    <a:pt x="8" y="8"/>
                    <a:pt x="8" y="8"/>
                  </a:cubicBezTo>
                  <a:lnTo>
                    <a:pt x="72" y="8"/>
                  </a:lnTo>
                  <a:close/>
                  <a:moveTo>
                    <a:pt x="8" y="48"/>
                  </a:moveTo>
                  <a:cubicBezTo>
                    <a:pt x="8" y="32"/>
                    <a:pt x="8" y="32"/>
                    <a:pt x="8" y="32"/>
                  </a:cubicBezTo>
                  <a:cubicBezTo>
                    <a:pt x="72" y="32"/>
                    <a:pt x="72" y="32"/>
                    <a:pt x="72" y="32"/>
                  </a:cubicBezTo>
                  <a:cubicBezTo>
                    <a:pt x="72" y="48"/>
                    <a:pt x="72" y="48"/>
                    <a:pt x="72" y="48"/>
                  </a:cubicBezTo>
                  <a:lnTo>
                    <a:pt x="8" y="4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70" name="Rectangle 110"/>
            <p:cNvSpPr>
              <a:spLocks noChangeArrowheads="1"/>
            </p:cNvSpPr>
            <p:nvPr/>
          </p:nvSpPr>
          <p:spPr bwMode="auto">
            <a:xfrm>
              <a:off x="8747126" y="3644901"/>
              <a:ext cx="63500" cy="254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71" name="Rectangle 111"/>
            <p:cNvSpPr>
              <a:spLocks noChangeArrowheads="1"/>
            </p:cNvSpPr>
            <p:nvPr/>
          </p:nvSpPr>
          <p:spPr bwMode="auto">
            <a:xfrm>
              <a:off x="8747126" y="3721101"/>
              <a:ext cx="63500" cy="238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72" name="Oval 112"/>
            <p:cNvSpPr>
              <a:spLocks noChangeArrowheads="1"/>
            </p:cNvSpPr>
            <p:nvPr/>
          </p:nvSpPr>
          <p:spPr bwMode="auto">
            <a:xfrm>
              <a:off x="8923338" y="3833813"/>
              <a:ext cx="25400" cy="254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73" name="Oval 113"/>
            <p:cNvSpPr>
              <a:spLocks noChangeArrowheads="1"/>
            </p:cNvSpPr>
            <p:nvPr/>
          </p:nvSpPr>
          <p:spPr bwMode="auto">
            <a:xfrm>
              <a:off x="8721726" y="3833813"/>
              <a:ext cx="25400" cy="254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74" name="Oval 114"/>
            <p:cNvSpPr>
              <a:spLocks noChangeArrowheads="1"/>
            </p:cNvSpPr>
            <p:nvPr/>
          </p:nvSpPr>
          <p:spPr bwMode="auto">
            <a:xfrm>
              <a:off x="8859838" y="3644901"/>
              <a:ext cx="25400" cy="254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75" name="Oval 115"/>
            <p:cNvSpPr>
              <a:spLocks noChangeArrowheads="1"/>
            </p:cNvSpPr>
            <p:nvPr/>
          </p:nvSpPr>
          <p:spPr bwMode="auto">
            <a:xfrm>
              <a:off x="8897938" y="3644901"/>
              <a:ext cx="25400" cy="254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76" name="Oval 116"/>
            <p:cNvSpPr>
              <a:spLocks noChangeArrowheads="1"/>
            </p:cNvSpPr>
            <p:nvPr/>
          </p:nvSpPr>
          <p:spPr bwMode="auto">
            <a:xfrm>
              <a:off x="8859838" y="3721101"/>
              <a:ext cx="25400" cy="2381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77" name="Oval 117"/>
            <p:cNvSpPr>
              <a:spLocks noChangeArrowheads="1"/>
            </p:cNvSpPr>
            <p:nvPr/>
          </p:nvSpPr>
          <p:spPr bwMode="auto">
            <a:xfrm>
              <a:off x="8897938" y="3721101"/>
              <a:ext cx="25400" cy="2381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578" name="组合 577"/>
          <p:cNvGrpSpPr/>
          <p:nvPr/>
        </p:nvGrpSpPr>
        <p:grpSpPr>
          <a:xfrm rot="0">
            <a:off x="6482080" y="4484370"/>
            <a:ext cx="194310" cy="220345"/>
            <a:chOff x="4462463" y="1782763"/>
            <a:chExt cx="252413" cy="254000"/>
          </a:xfrm>
          <a:gradFill>
            <a:gsLst>
              <a:gs pos="0">
                <a:schemeClr val="accent5"/>
              </a:gs>
              <a:gs pos="100000">
                <a:schemeClr val="accent5">
                  <a:lumMod val="60000"/>
                  <a:lumOff val="40000"/>
                </a:schemeClr>
              </a:gs>
            </a:gsLst>
            <a:lin ang="5400000" scaled="0"/>
          </a:gradFill>
        </p:grpSpPr>
        <p:sp>
          <p:nvSpPr>
            <p:cNvPr id="579" name="Freeform 50"/>
            <p:cNvSpPr>
              <a:spLocks noEditPoints="1"/>
            </p:cNvSpPr>
            <p:nvPr/>
          </p:nvSpPr>
          <p:spPr bwMode="auto">
            <a:xfrm>
              <a:off x="4462463" y="1782763"/>
              <a:ext cx="203200" cy="254000"/>
            </a:xfrm>
            <a:custGeom>
              <a:avLst/>
              <a:gdLst>
                <a:gd name="T0" fmla="*/ 40 w 64"/>
                <a:gd name="T1" fmla="*/ 72 h 80"/>
                <a:gd name="T2" fmla="*/ 8 w 64"/>
                <a:gd name="T3" fmla="*/ 72 h 80"/>
                <a:gd name="T4" fmla="*/ 8 w 64"/>
                <a:gd name="T5" fmla="*/ 68 h 80"/>
                <a:gd name="T6" fmla="*/ 40 w 64"/>
                <a:gd name="T7" fmla="*/ 68 h 80"/>
                <a:gd name="T8" fmla="*/ 40 w 64"/>
                <a:gd name="T9" fmla="*/ 60 h 80"/>
                <a:gd name="T10" fmla="*/ 8 w 64"/>
                <a:gd name="T11" fmla="*/ 60 h 80"/>
                <a:gd name="T12" fmla="*/ 8 w 64"/>
                <a:gd name="T13" fmla="*/ 20 h 80"/>
                <a:gd name="T14" fmla="*/ 56 w 64"/>
                <a:gd name="T15" fmla="*/ 20 h 80"/>
                <a:gd name="T16" fmla="*/ 56 w 64"/>
                <a:gd name="T17" fmla="*/ 24 h 80"/>
                <a:gd name="T18" fmla="*/ 64 w 64"/>
                <a:gd name="T19" fmla="*/ 24 h 80"/>
                <a:gd name="T20" fmla="*/ 64 w 64"/>
                <a:gd name="T21" fmla="*/ 8 h 80"/>
                <a:gd name="T22" fmla="*/ 56 w 64"/>
                <a:gd name="T23" fmla="*/ 0 h 80"/>
                <a:gd name="T24" fmla="*/ 8 w 64"/>
                <a:gd name="T25" fmla="*/ 0 h 80"/>
                <a:gd name="T26" fmla="*/ 0 w 64"/>
                <a:gd name="T27" fmla="*/ 8 h 80"/>
                <a:gd name="T28" fmla="*/ 0 w 64"/>
                <a:gd name="T29" fmla="*/ 72 h 80"/>
                <a:gd name="T30" fmla="*/ 8 w 64"/>
                <a:gd name="T31" fmla="*/ 80 h 80"/>
                <a:gd name="T32" fmla="*/ 40 w 64"/>
                <a:gd name="T33" fmla="*/ 80 h 80"/>
                <a:gd name="T34" fmla="*/ 40 w 64"/>
                <a:gd name="T35" fmla="*/ 72 h 80"/>
                <a:gd name="T36" fmla="*/ 8 w 64"/>
                <a:gd name="T37" fmla="*/ 8 h 80"/>
                <a:gd name="T38" fmla="*/ 56 w 64"/>
                <a:gd name="T39" fmla="*/ 8 h 80"/>
                <a:gd name="T40" fmla="*/ 56 w 64"/>
                <a:gd name="T41" fmla="*/ 12 h 80"/>
                <a:gd name="T42" fmla="*/ 8 w 64"/>
                <a:gd name="T43" fmla="*/ 12 h 80"/>
                <a:gd name="T44" fmla="*/ 8 w 64"/>
                <a:gd name="T45" fmla="*/ 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4" h="80">
                  <a:moveTo>
                    <a:pt x="40" y="72"/>
                  </a:moveTo>
                  <a:cubicBezTo>
                    <a:pt x="8" y="72"/>
                    <a:pt x="8" y="72"/>
                    <a:pt x="8" y="72"/>
                  </a:cubicBezTo>
                  <a:cubicBezTo>
                    <a:pt x="8" y="68"/>
                    <a:pt x="8" y="68"/>
                    <a:pt x="8" y="68"/>
                  </a:cubicBezTo>
                  <a:cubicBezTo>
                    <a:pt x="40" y="68"/>
                    <a:pt x="40" y="68"/>
                    <a:pt x="40" y="68"/>
                  </a:cubicBezTo>
                  <a:cubicBezTo>
                    <a:pt x="40" y="60"/>
                    <a:pt x="40" y="60"/>
                    <a:pt x="40" y="60"/>
                  </a:cubicBezTo>
                  <a:cubicBezTo>
                    <a:pt x="8" y="60"/>
                    <a:pt x="8" y="60"/>
                    <a:pt x="8" y="60"/>
                  </a:cubicBezTo>
                  <a:cubicBezTo>
                    <a:pt x="8" y="20"/>
                    <a:pt x="8" y="20"/>
                    <a:pt x="8" y="20"/>
                  </a:cubicBezTo>
                  <a:cubicBezTo>
                    <a:pt x="56" y="20"/>
                    <a:pt x="56" y="20"/>
                    <a:pt x="56" y="20"/>
                  </a:cubicBezTo>
                  <a:cubicBezTo>
                    <a:pt x="56" y="24"/>
                    <a:pt x="56" y="24"/>
                    <a:pt x="56" y="24"/>
                  </a:cubicBezTo>
                  <a:cubicBezTo>
                    <a:pt x="64" y="24"/>
                    <a:pt x="64" y="24"/>
                    <a:pt x="64" y="24"/>
                  </a:cubicBezTo>
                  <a:cubicBezTo>
                    <a:pt x="64" y="8"/>
                    <a:pt x="64" y="8"/>
                    <a:pt x="64" y="8"/>
                  </a:cubicBezTo>
                  <a:cubicBezTo>
                    <a:pt x="64" y="4"/>
                    <a:pt x="60" y="0"/>
                    <a:pt x="56" y="0"/>
                  </a:cubicBezTo>
                  <a:cubicBezTo>
                    <a:pt x="8" y="0"/>
                    <a:pt x="8" y="0"/>
                    <a:pt x="8" y="0"/>
                  </a:cubicBezTo>
                  <a:cubicBezTo>
                    <a:pt x="4" y="0"/>
                    <a:pt x="0" y="4"/>
                    <a:pt x="0" y="8"/>
                  </a:cubicBezTo>
                  <a:cubicBezTo>
                    <a:pt x="0" y="72"/>
                    <a:pt x="0" y="72"/>
                    <a:pt x="0" y="72"/>
                  </a:cubicBezTo>
                  <a:cubicBezTo>
                    <a:pt x="0" y="76"/>
                    <a:pt x="4" y="80"/>
                    <a:pt x="8" y="80"/>
                  </a:cubicBezTo>
                  <a:cubicBezTo>
                    <a:pt x="40" y="80"/>
                    <a:pt x="40" y="80"/>
                    <a:pt x="40" y="80"/>
                  </a:cubicBezTo>
                  <a:lnTo>
                    <a:pt x="40" y="72"/>
                  </a:lnTo>
                  <a:close/>
                  <a:moveTo>
                    <a:pt x="8" y="8"/>
                  </a:moveTo>
                  <a:cubicBezTo>
                    <a:pt x="56" y="8"/>
                    <a:pt x="56" y="8"/>
                    <a:pt x="56" y="8"/>
                  </a:cubicBezTo>
                  <a:cubicBezTo>
                    <a:pt x="56" y="12"/>
                    <a:pt x="56" y="12"/>
                    <a:pt x="56" y="12"/>
                  </a:cubicBezTo>
                  <a:cubicBezTo>
                    <a:pt x="8" y="12"/>
                    <a:pt x="8" y="12"/>
                    <a:pt x="8" y="12"/>
                  </a:cubicBezTo>
                  <a:lnTo>
                    <a:pt x="8"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80" name="Freeform 51"/>
            <p:cNvSpPr>
              <a:spLocks noEditPoints="1"/>
            </p:cNvSpPr>
            <p:nvPr/>
          </p:nvSpPr>
          <p:spPr bwMode="auto">
            <a:xfrm>
              <a:off x="4614863" y="1884363"/>
              <a:ext cx="100013" cy="152400"/>
            </a:xfrm>
            <a:custGeom>
              <a:avLst/>
              <a:gdLst>
                <a:gd name="T0" fmla="*/ 24 w 32"/>
                <a:gd name="T1" fmla="*/ 0 h 48"/>
                <a:gd name="T2" fmla="*/ 8 w 32"/>
                <a:gd name="T3" fmla="*/ 0 h 48"/>
                <a:gd name="T4" fmla="*/ 0 w 32"/>
                <a:gd name="T5" fmla="*/ 8 h 48"/>
                <a:gd name="T6" fmla="*/ 0 w 32"/>
                <a:gd name="T7" fmla="*/ 40 h 48"/>
                <a:gd name="T8" fmla="*/ 8 w 32"/>
                <a:gd name="T9" fmla="*/ 48 h 48"/>
                <a:gd name="T10" fmla="*/ 24 w 32"/>
                <a:gd name="T11" fmla="*/ 48 h 48"/>
                <a:gd name="T12" fmla="*/ 32 w 32"/>
                <a:gd name="T13" fmla="*/ 40 h 48"/>
                <a:gd name="T14" fmla="*/ 32 w 32"/>
                <a:gd name="T15" fmla="*/ 8 h 48"/>
                <a:gd name="T16" fmla="*/ 24 w 32"/>
                <a:gd name="T17" fmla="*/ 0 h 48"/>
                <a:gd name="T18" fmla="*/ 24 w 32"/>
                <a:gd name="T19" fmla="*/ 8 h 48"/>
                <a:gd name="T20" fmla="*/ 24 w 32"/>
                <a:gd name="T21" fmla="*/ 28 h 48"/>
                <a:gd name="T22" fmla="*/ 8 w 32"/>
                <a:gd name="T23" fmla="*/ 28 h 48"/>
                <a:gd name="T24" fmla="*/ 8 w 32"/>
                <a:gd name="T25" fmla="*/ 8 h 48"/>
                <a:gd name="T26" fmla="*/ 24 w 32"/>
                <a:gd name="T27" fmla="*/ 8 h 48"/>
                <a:gd name="T28" fmla="*/ 8 w 32"/>
                <a:gd name="T29" fmla="*/ 40 h 48"/>
                <a:gd name="T30" fmla="*/ 8 w 32"/>
                <a:gd name="T31" fmla="*/ 36 h 48"/>
                <a:gd name="T32" fmla="*/ 24 w 32"/>
                <a:gd name="T33" fmla="*/ 36 h 48"/>
                <a:gd name="T34" fmla="*/ 24 w 32"/>
                <a:gd name="T35" fmla="*/ 40 h 48"/>
                <a:gd name="T36" fmla="*/ 8 w 32"/>
                <a:gd name="T37" fmla="*/ 4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 h="48">
                  <a:moveTo>
                    <a:pt x="24" y="0"/>
                  </a:moveTo>
                  <a:cubicBezTo>
                    <a:pt x="8" y="0"/>
                    <a:pt x="8" y="0"/>
                    <a:pt x="8" y="0"/>
                  </a:cubicBezTo>
                  <a:cubicBezTo>
                    <a:pt x="4" y="0"/>
                    <a:pt x="0" y="4"/>
                    <a:pt x="0" y="8"/>
                  </a:cubicBezTo>
                  <a:cubicBezTo>
                    <a:pt x="0" y="40"/>
                    <a:pt x="0" y="40"/>
                    <a:pt x="0" y="40"/>
                  </a:cubicBezTo>
                  <a:cubicBezTo>
                    <a:pt x="0" y="44"/>
                    <a:pt x="4" y="48"/>
                    <a:pt x="8" y="48"/>
                  </a:cubicBezTo>
                  <a:cubicBezTo>
                    <a:pt x="24" y="48"/>
                    <a:pt x="24" y="48"/>
                    <a:pt x="24" y="48"/>
                  </a:cubicBezTo>
                  <a:cubicBezTo>
                    <a:pt x="28" y="48"/>
                    <a:pt x="32" y="44"/>
                    <a:pt x="32" y="40"/>
                  </a:cubicBezTo>
                  <a:cubicBezTo>
                    <a:pt x="32" y="8"/>
                    <a:pt x="32" y="8"/>
                    <a:pt x="32" y="8"/>
                  </a:cubicBezTo>
                  <a:cubicBezTo>
                    <a:pt x="32" y="4"/>
                    <a:pt x="28" y="0"/>
                    <a:pt x="24" y="0"/>
                  </a:cubicBezTo>
                  <a:close/>
                  <a:moveTo>
                    <a:pt x="24" y="8"/>
                  </a:moveTo>
                  <a:cubicBezTo>
                    <a:pt x="24" y="28"/>
                    <a:pt x="24" y="28"/>
                    <a:pt x="24" y="28"/>
                  </a:cubicBezTo>
                  <a:cubicBezTo>
                    <a:pt x="8" y="28"/>
                    <a:pt x="8" y="28"/>
                    <a:pt x="8" y="28"/>
                  </a:cubicBezTo>
                  <a:cubicBezTo>
                    <a:pt x="8" y="8"/>
                    <a:pt x="8" y="8"/>
                    <a:pt x="8" y="8"/>
                  </a:cubicBezTo>
                  <a:lnTo>
                    <a:pt x="24" y="8"/>
                  </a:lnTo>
                  <a:close/>
                  <a:moveTo>
                    <a:pt x="8" y="40"/>
                  </a:moveTo>
                  <a:cubicBezTo>
                    <a:pt x="8" y="36"/>
                    <a:pt x="8" y="36"/>
                    <a:pt x="8" y="36"/>
                  </a:cubicBezTo>
                  <a:cubicBezTo>
                    <a:pt x="24" y="36"/>
                    <a:pt x="24" y="36"/>
                    <a:pt x="24" y="36"/>
                  </a:cubicBezTo>
                  <a:cubicBezTo>
                    <a:pt x="24" y="40"/>
                    <a:pt x="24" y="40"/>
                    <a:pt x="24" y="40"/>
                  </a:cubicBezTo>
                  <a:lnTo>
                    <a:pt x="8" y="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581" name="组合 580"/>
          <p:cNvGrpSpPr/>
          <p:nvPr/>
        </p:nvGrpSpPr>
        <p:grpSpPr>
          <a:xfrm rot="0">
            <a:off x="4400868" y="4470400"/>
            <a:ext cx="217805" cy="222885"/>
            <a:chOff x="5046663" y="3884613"/>
            <a:chExt cx="279400" cy="304800"/>
          </a:xfrm>
          <a:gradFill>
            <a:gsLst>
              <a:gs pos="0">
                <a:schemeClr val="accent5"/>
              </a:gs>
              <a:gs pos="100000">
                <a:schemeClr val="accent5">
                  <a:lumMod val="60000"/>
                  <a:lumOff val="40000"/>
                </a:schemeClr>
              </a:gs>
            </a:gsLst>
            <a:lin ang="5400000" scaled="0"/>
          </a:gradFill>
        </p:grpSpPr>
        <p:sp>
          <p:nvSpPr>
            <p:cNvPr id="583" name="Freeform 18"/>
            <p:cNvSpPr>
              <a:spLocks noEditPoints="1"/>
            </p:cNvSpPr>
            <p:nvPr/>
          </p:nvSpPr>
          <p:spPr bwMode="auto">
            <a:xfrm>
              <a:off x="5046663" y="3884613"/>
              <a:ext cx="127000" cy="139700"/>
            </a:xfrm>
            <a:custGeom>
              <a:avLst/>
              <a:gdLst>
                <a:gd name="T0" fmla="*/ 32 w 40"/>
                <a:gd name="T1" fmla="*/ 0 h 44"/>
                <a:gd name="T2" fmla="*/ 8 w 40"/>
                <a:gd name="T3" fmla="*/ 0 h 44"/>
                <a:gd name="T4" fmla="*/ 0 w 40"/>
                <a:gd name="T5" fmla="*/ 8 h 44"/>
                <a:gd name="T6" fmla="*/ 0 w 40"/>
                <a:gd name="T7" fmla="*/ 36 h 44"/>
                <a:gd name="T8" fmla="*/ 8 w 40"/>
                <a:gd name="T9" fmla="*/ 44 h 44"/>
                <a:gd name="T10" fmla="*/ 32 w 40"/>
                <a:gd name="T11" fmla="*/ 44 h 44"/>
                <a:gd name="T12" fmla="*/ 40 w 40"/>
                <a:gd name="T13" fmla="*/ 36 h 44"/>
                <a:gd name="T14" fmla="*/ 40 w 40"/>
                <a:gd name="T15" fmla="*/ 8 h 44"/>
                <a:gd name="T16" fmla="*/ 32 w 40"/>
                <a:gd name="T17" fmla="*/ 0 h 44"/>
                <a:gd name="T18" fmla="*/ 8 w 40"/>
                <a:gd name="T19" fmla="*/ 36 h 44"/>
                <a:gd name="T20" fmla="*/ 8 w 40"/>
                <a:gd name="T21" fmla="*/ 8 h 44"/>
                <a:gd name="T22" fmla="*/ 24 w 40"/>
                <a:gd name="T23" fmla="*/ 8 h 44"/>
                <a:gd name="T24" fmla="*/ 24 w 40"/>
                <a:gd name="T25" fmla="*/ 16 h 44"/>
                <a:gd name="T26" fmla="*/ 32 w 40"/>
                <a:gd name="T27" fmla="*/ 16 h 44"/>
                <a:gd name="T28" fmla="*/ 32 w 40"/>
                <a:gd name="T29" fmla="*/ 36 h 44"/>
                <a:gd name="T30" fmla="*/ 8 w 40"/>
                <a:gd name="T31" fmla="*/ 36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 h="44">
                  <a:moveTo>
                    <a:pt x="32" y="0"/>
                  </a:moveTo>
                  <a:cubicBezTo>
                    <a:pt x="8" y="0"/>
                    <a:pt x="8" y="0"/>
                    <a:pt x="8" y="0"/>
                  </a:cubicBezTo>
                  <a:cubicBezTo>
                    <a:pt x="4" y="0"/>
                    <a:pt x="0" y="4"/>
                    <a:pt x="0" y="8"/>
                  </a:cubicBezTo>
                  <a:cubicBezTo>
                    <a:pt x="0" y="36"/>
                    <a:pt x="0" y="36"/>
                    <a:pt x="0" y="36"/>
                  </a:cubicBezTo>
                  <a:cubicBezTo>
                    <a:pt x="0" y="40"/>
                    <a:pt x="4" y="44"/>
                    <a:pt x="8" y="44"/>
                  </a:cubicBezTo>
                  <a:cubicBezTo>
                    <a:pt x="32" y="44"/>
                    <a:pt x="32" y="44"/>
                    <a:pt x="32" y="44"/>
                  </a:cubicBezTo>
                  <a:cubicBezTo>
                    <a:pt x="36" y="44"/>
                    <a:pt x="40" y="40"/>
                    <a:pt x="40" y="36"/>
                  </a:cubicBezTo>
                  <a:cubicBezTo>
                    <a:pt x="40" y="8"/>
                    <a:pt x="40" y="8"/>
                    <a:pt x="40" y="8"/>
                  </a:cubicBezTo>
                  <a:cubicBezTo>
                    <a:pt x="40" y="4"/>
                    <a:pt x="36" y="0"/>
                    <a:pt x="32" y="0"/>
                  </a:cubicBezTo>
                  <a:close/>
                  <a:moveTo>
                    <a:pt x="8" y="36"/>
                  </a:moveTo>
                  <a:cubicBezTo>
                    <a:pt x="8" y="8"/>
                    <a:pt x="8" y="8"/>
                    <a:pt x="8" y="8"/>
                  </a:cubicBezTo>
                  <a:cubicBezTo>
                    <a:pt x="24" y="8"/>
                    <a:pt x="24" y="8"/>
                    <a:pt x="24" y="8"/>
                  </a:cubicBezTo>
                  <a:cubicBezTo>
                    <a:pt x="24" y="16"/>
                    <a:pt x="24" y="16"/>
                    <a:pt x="24" y="16"/>
                  </a:cubicBezTo>
                  <a:cubicBezTo>
                    <a:pt x="32" y="16"/>
                    <a:pt x="32" y="16"/>
                    <a:pt x="32" y="16"/>
                  </a:cubicBezTo>
                  <a:cubicBezTo>
                    <a:pt x="32" y="36"/>
                    <a:pt x="32" y="36"/>
                    <a:pt x="32" y="36"/>
                  </a:cubicBezTo>
                  <a:lnTo>
                    <a:pt x="8"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84" name="Freeform 19"/>
            <p:cNvSpPr>
              <a:spLocks noEditPoints="1"/>
            </p:cNvSpPr>
            <p:nvPr/>
          </p:nvSpPr>
          <p:spPr bwMode="auto">
            <a:xfrm>
              <a:off x="5199063" y="3884613"/>
              <a:ext cx="127000" cy="139700"/>
            </a:xfrm>
            <a:custGeom>
              <a:avLst/>
              <a:gdLst>
                <a:gd name="T0" fmla="*/ 32 w 40"/>
                <a:gd name="T1" fmla="*/ 0 h 44"/>
                <a:gd name="T2" fmla="*/ 8 w 40"/>
                <a:gd name="T3" fmla="*/ 0 h 44"/>
                <a:gd name="T4" fmla="*/ 0 w 40"/>
                <a:gd name="T5" fmla="*/ 8 h 44"/>
                <a:gd name="T6" fmla="*/ 0 w 40"/>
                <a:gd name="T7" fmla="*/ 36 h 44"/>
                <a:gd name="T8" fmla="*/ 8 w 40"/>
                <a:gd name="T9" fmla="*/ 44 h 44"/>
                <a:gd name="T10" fmla="*/ 32 w 40"/>
                <a:gd name="T11" fmla="*/ 44 h 44"/>
                <a:gd name="T12" fmla="*/ 40 w 40"/>
                <a:gd name="T13" fmla="*/ 36 h 44"/>
                <a:gd name="T14" fmla="*/ 40 w 40"/>
                <a:gd name="T15" fmla="*/ 8 h 44"/>
                <a:gd name="T16" fmla="*/ 32 w 40"/>
                <a:gd name="T17" fmla="*/ 0 h 44"/>
                <a:gd name="T18" fmla="*/ 8 w 40"/>
                <a:gd name="T19" fmla="*/ 36 h 44"/>
                <a:gd name="T20" fmla="*/ 8 w 40"/>
                <a:gd name="T21" fmla="*/ 8 h 44"/>
                <a:gd name="T22" fmla="*/ 24 w 40"/>
                <a:gd name="T23" fmla="*/ 8 h 44"/>
                <a:gd name="T24" fmla="*/ 24 w 40"/>
                <a:gd name="T25" fmla="*/ 16 h 44"/>
                <a:gd name="T26" fmla="*/ 32 w 40"/>
                <a:gd name="T27" fmla="*/ 16 h 44"/>
                <a:gd name="T28" fmla="*/ 32 w 40"/>
                <a:gd name="T29" fmla="*/ 36 h 44"/>
                <a:gd name="T30" fmla="*/ 8 w 40"/>
                <a:gd name="T31" fmla="*/ 36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 h="44">
                  <a:moveTo>
                    <a:pt x="32" y="0"/>
                  </a:moveTo>
                  <a:cubicBezTo>
                    <a:pt x="8" y="0"/>
                    <a:pt x="8" y="0"/>
                    <a:pt x="8" y="0"/>
                  </a:cubicBezTo>
                  <a:cubicBezTo>
                    <a:pt x="4" y="0"/>
                    <a:pt x="0" y="4"/>
                    <a:pt x="0" y="8"/>
                  </a:cubicBezTo>
                  <a:cubicBezTo>
                    <a:pt x="0" y="36"/>
                    <a:pt x="0" y="36"/>
                    <a:pt x="0" y="36"/>
                  </a:cubicBezTo>
                  <a:cubicBezTo>
                    <a:pt x="0" y="40"/>
                    <a:pt x="4" y="44"/>
                    <a:pt x="8" y="44"/>
                  </a:cubicBezTo>
                  <a:cubicBezTo>
                    <a:pt x="32" y="44"/>
                    <a:pt x="32" y="44"/>
                    <a:pt x="32" y="44"/>
                  </a:cubicBezTo>
                  <a:cubicBezTo>
                    <a:pt x="36" y="44"/>
                    <a:pt x="40" y="40"/>
                    <a:pt x="40" y="36"/>
                  </a:cubicBezTo>
                  <a:cubicBezTo>
                    <a:pt x="40" y="8"/>
                    <a:pt x="40" y="8"/>
                    <a:pt x="40" y="8"/>
                  </a:cubicBezTo>
                  <a:cubicBezTo>
                    <a:pt x="40" y="4"/>
                    <a:pt x="36" y="0"/>
                    <a:pt x="32" y="0"/>
                  </a:cubicBezTo>
                  <a:close/>
                  <a:moveTo>
                    <a:pt x="8" y="36"/>
                  </a:moveTo>
                  <a:cubicBezTo>
                    <a:pt x="8" y="8"/>
                    <a:pt x="8" y="8"/>
                    <a:pt x="8" y="8"/>
                  </a:cubicBezTo>
                  <a:cubicBezTo>
                    <a:pt x="24" y="8"/>
                    <a:pt x="24" y="8"/>
                    <a:pt x="24" y="8"/>
                  </a:cubicBezTo>
                  <a:cubicBezTo>
                    <a:pt x="24" y="16"/>
                    <a:pt x="24" y="16"/>
                    <a:pt x="24" y="16"/>
                  </a:cubicBezTo>
                  <a:cubicBezTo>
                    <a:pt x="32" y="16"/>
                    <a:pt x="32" y="16"/>
                    <a:pt x="32" y="16"/>
                  </a:cubicBezTo>
                  <a:cubicBezTo>
                    <a:pt x="32" y="36"/>
                    <a:pt x="32" y="36"/>
                    <a:pt x="32" y="36"/>
                  </a:cubicBezTo>
                  <a:lnTo>
                    <a:pt x="8"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85" name="Freeform 20"/>
            <p:cNvSpPr>
              <a:spLocks noEditPoints="1"/>
            </p:cNvSpPr>
            <p:nvPr/>
          </p:nvSpPr>
          <p:spPr bwMode="auto">
            <a:xfrm>
              <a:off x="5046663" y="4049713"/>
              <a:ext cx="127000" cy="139700"/>
            </a:xfrm>
            <a:custGeom>
              <a:avLst/>
              <a:gdLst>
                <a:gd name="T0" fmla="*/ 32 w 40"/>
                <a:gd name="T1" fmla="*/ 0 h 44"/>
                <a:gd name="T2" fmla="*/ 8 w 40"/>
                <a:gd name="T3" fmla="*/ 0 h 44"/>
                <a:gd name="T4" fmla="*/ 0 w 40"/>
                <a:gd name="T5" fmla="*/ 8 h 44"/>
                <a:gd name="T6" fmla="*/ 0 w 40"/>
                <a:gd name="T7" fmla="*/ 36 h 44"/>
                <a:gd name="T8" fmla="*/ 8 w 40"/>
                <a:gd name="T9" fmla="*/ 44 h 44"/>
                <a:gd name="T10" fmla="*/ 32 w 40"/>
                <a:gd name="T11" fmla="*/ 44 h 44"/>
                <a:gd name="T12" fmla="*/ 40 w 40"/>
                <a:gd name="T13" fmla="*/ 36 h 44"/>
                <a:gd name="T14" fmla="*/ 40 w 40"/>
                <a:gd name="T15" fmla="*/ 8 h 44"/>
                <a:gd name="T16" fmla="*/ 32 w 40"/>
                <a:gd name="T17" fmla="*/ 0 h 44"/>
                <a:gd name="T18" fmla="*/ 8 w 40"/>
                <a:gd name="T19" fmla="*/ 36 h 44"/>
                <a:gd name="T20" fmla="*/ 8 w 40"/>
                <a:gd name="T21" fmla="*/ 8 h 44"/>
                <a:gd name="T22" fmla="*/ 24 w 40"/>
                <a:gd name="T23" fmla="*/ 8 h 44"/>
                <a:gd name="T24" fmla="*/ 24 w 40"/>
                <a:gd name="T25" fmla="*/ 16 h 44"/>
                <a:gd name="T26" fmla="*/ 32 w 40"/>
                <a:gd name="T27" fmla="*/ 16 h 44"/>
                <a:gd name="T28" fmla="*/ 32 w 40"/>
                <a:gd name="T29" fmla="*/ 36 h 44"/>
                <a:gd name="T30" fmla="*/ 8 w 40"/>
                <a:gd name="T31" fmla="*/ 36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 h="44">
                  <a:moveTo>
                    <a:pt x="32" y="0"/>
                  </a:moveTo>
                  <a:cubicBezTo>
                    <a:pt x="8" y="0"/>
                    <a:pt x="8" y="0"/>
                    <a:pt x="8" y="0"/>
                  </a:cubicBezTo>
                  <a:cubicBezTo>
                    <a:pt x="4" y="0"/>
                    <a:pt x="0" y="4"/>
                    <a:pt x="0" y="8"/>
                  </a:cubicBezTo>
                  <a:cubicBezTo>
                    <a:pt x="0" y="36"/>
                    <a:pt x="0" y="36"/>
                    <a:pt x="0" y="36"/>
                  </a:cubicBezTo>
                  <a:cubicBezTo>
                    <a:pt x="0" y="40"/>
                    <a:pt x="4" y="44"/>
                    <a:pt x="8" y="44"/>
                  </a:cubicBezTo>
                  <a:cubicBezTo>
                    <a:pt x="32" y="44"/>
                    <a:pt x="32" y="44"/>
                    <a:pt x="32" y="44"/>
                  </a:cubicBezTo>
                  <a:cubicBezTo>
                    <a:pt x="36" y="44"/>
                    <a:pt x="40" y="40"/>
                    <a:pt x="40" y="36"/>
                  </a:cubicBezTo>
                  <a:cubicBezTo>
                    <a:pt x="40" y="8"/>
                    <a:pt x="40" y="8"/>
                    <a:pt x="40" y="8"/>
                  </a:cubicBezTo>
                  <a:cubicBezTo>
                    <a:pt x="40" y="4"/>
                    <a:pt x="36" y="0"/>
                    <a:pt x="32" y="0"/>
                  </a:cubicBezTo>
                  <a:close/>
                  <a:moveTo>
                    <a:pt x="8" y="36"/>
                  </a:moveTo>
                  <a:cubicBezTo>
                    <a:pt x="8" y="8"/>
                    <a:pt x="8" y="8"/>
                    <a:pt x="8" y="8"/>
                  </a:cubicBezTo>
                  <a:cubicBezTo>
                    <a:pt x="24" y="8"/>
                    <a:pt x="24" y="8"/>
                    <a:pt x="24" y="8"/>
                  </a:cubicBezTo>
                  <a:cubicBezTo>
                    <a:pt x="24" y="16"/>
                    <a:pt x="24" y="16"/>
                    <a:pt x="24" y="16"/>
                  </a:cubicBezTo>
                  <a:cubicBezTo>
                    <a:pt x="32" y="16"/>
                    <a:pt x="32" y="16"/>
                    <a:pt x="32" y="16"/>
                  </a:cubicBezTo>
                  <a:cubicBezTo>
                    <a:pt x="32" y="36"/>
                    <a:pt x="32" y="36"/>
                    <a:pt x="32" y="36"/>
                  </a:cubicBezTo>
                  <a:lnTo>
                    <a:pt x="8"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86" name="Freeform 21"/>
            <p:cNvSpPr>
              <a:spLocks noEditPoints="1"/>
            </p:cNvSpPr>
            <p:nvPr/>
          </p:nvSpPr>
          <p:spPr bwMode="auto">
            <a:xfrm>
              <a:off x="5199063" y="4049713"/>
              <a:ext cx="127000" cy="139700"/>
            </a:xfrm>
            <a:custGeom>
              <a:avLst/>
              <a:gdLst>
                <a:gd name="T0" fmla="*/ 32 w 40"/>
                <a:gd name="T1" fmla="*/ 0 h 44"/>
                <a:gd name="T2" fmla="*/ 8 w 40"/>
                <a:gd name="T3" fmla="*/ 0 h 44"/>
                <a:gd name="T4" fmla="*/ 0 w 40"/>
                <a:gd name="T5" fmla="*/ 8 h 44"/>
                <a:gd name="T6" fmla="*/ 0 w 40"/>
                <a:gd name="T7" fmla="*/ 36 h 44"/>
                <a:gd name="T8" fmla="*/ 8 w 40"/>
                <a:gd name="T9" fmla="*/ 44 h 44"/>
                <a:gd name="T10" fmla="*/ 32 w 40"/>
                <a:gd name="T11" fmla="*/ 44 h 44"/>
                <a:gd name="T12" fmla="*/ 40 w 40"/>
                <a:gd name="T13" fmla="*/ 36 h 44"/>
                <a:gd name="T14" fmla="*/ 40 w 40"/>
                <a:gd name="T15" fmla="*/ 8 h 44"/>
                <a:gd name="T16" fmla="*/ 32 w 40"/>
                <a:gd name="T17" fmla="*/ 0 h 44"/>
                <a:gd name="T18" fmla="*/ 8 w 40"/>
                <a:gd name="T19" fmla="*/ 36 h 44"/>
                <a:gd name="T20" fmla="*/ 8 w 40"/>
                <a:gd name="T21" fmla="*/ 8 h 44"/>
                <a:gd name="T22" fmla="*/ 24 w 40"/>
                <a:gd name="T23" fmla="*/ 8 h 44"/>
                <a:gd name="T24" fmla="*/ 24 w 40"/>
                <a:gd name="T25" fmla="*/ 16 h 44"/>
                <a:gd name="T26" fmla="*/ 32 w 40"/>
                <a:gd name="T27" fmla="*/ 16 h 44"/>
                <a:gd name="T28" fmla="*/ 32 w 40"/>
                <a:gd name="T29" fmla="*/ 36 h 44"/>
                <a:gd name="T30" fmla="*/ 8 w 40"/>
                <a:gd name="T31" fmla="*/ 36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 h="44">
                  <a:moveTo>
                    <a:pt x="32" y="0"/>
                  </a:moveTo>
                  <a:cubicBezTo>
                    <a:pt x="8" y="0"/>
                    <a:pt x="8" y="0"/>
                    <a:pt x="8" y="0"/>
                  </a:cubicBezTo>
                  <a:cubicBezTo>
                    <a:pt x="4" y="0"/>
                    <a:pt x="0" y="4"/>
                    <a:pt x="0" y="8"/>
                  </a:cubicBezTo>
                  <a:cubicBezTo>
                    <a:pt x="0" y="36"/>
                    <a:pt x="0" y="36"/>
                    <a:pt x="0" y="36"/>
                  </a:cubicBezTo>
                  <a:cubicBezTo>
                    <a:pt x="0" y="40"/>
                    <a:pt x="4" y="44"/>
                    <a:pt x="8" y="44"/>
                  </a:cubicBezTo>
                  <a:cubicBezTo>
                    <a:pt x="32" y="44"/>
                    <a:pt x="32" y="44"/>
                    <a:pt x="32" y="44"/>
                  </a:cubicBezTo>
                  <a:cubicBezTo>
                    <a:pt x="36" y="44"/>
                    <a:pt x="40" y="40"/>
                    <a:pt x="40" y="36"/>
                  </a:cubicBezTo>
                  <a:cubicBezTo>
                    <a:pt x="40" y="8"/>
                    <a:pt x="40" y="8"/>
                    <a:pt x="40" y="8"/>
                  </a:cubicBezTo>
                  <a:cubicBezTo>
                    <a:pt x="40" y="4"/>
                    <a:pt x="36" y="0"/>
                    <a:pt x="32" y="0"/>
                  </a:cubicBezTo>
                  <a:close/>
                  <a:moveTo>
                    <a:pt x="8" y="36"/>
                  </a:moveTo>
                  <a:cubicBezTo>
                    <a:pt x="8" y="8"/>
                    <a:pt x="8" y="8"/>
                    <a:pt x="8" y="8"/>
                  </a:cubicBezTo>
                  <a:cubicBezTo>
                    <a:pt x="24" y="8"/>
                    <a:pt x="24" y="8"/>
                    <a:pt x="24" y="8"/>
                  </a:cubicBezTo>
                  <a:cubicBezTo>
                    <a:pt x="24" y="16"/>
                    <a:pt x="24" y="16"/>
                    <a:pt x="24" y="16"/>
                  </a:cubicBezTo>
                  <a:cubicBezTo>
                    <a:pt x="32" y="16"/>
                    <a:pt x="32" y="16"/>
                    <a:pt x="32" y="16"/>
                  </a:cubicBezTo>
                  <a:cubicBezTo>
                    <a:pt x="32" y="36"/>
                    <a:pt x="32" y="36"/>
                    <a:pt x="32" y="36"/>
                  </a:cubicBezTo>
                  <a:lnTo>
                    <a:pt x="8"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grpSp>
      <p:sp>
        <p:nvSpPr>
          <p:cNvPr id="588" name="任意多边形: 形状 35"/>
          <p:cNvSpPr>
            <a:spLocks noEditPoints="1"/>
          </p:cNvSpPr>
          <p:nvPr/>
        </p:nvSpPr>
        <p:spPr bwMode="auto">
          <a:xfrm flipH="1">
            <a:off x="5423535" y="2370455"/>
            <a:ext cx="1280160" cy="1278890"/>
          </a:xfrm>
          <a:custGeom>
            <a:avLst/>
            <a:gdLst>
              <a:gd name="T0" fmla="*/ 5154 w 11157"/>
              <a:gd name="T1" fmla="*/ 11094 h 11157"/>
              <a:gd name="T2" fmla="*/ 6017 w 11157"/>
              <a:gd name="T3" fmla="*/ 11093 h 11157"/>
              <a:gd name="T4" fmla="*/ 6299 w 11157"/>
              <a:gd name="T5" fmla="*/ 11064 h 11157"/>
              <a:gd name="T6" fmla="*/ 4454 w 11157"/>
              <a:gd name="T7" fmla="*/ 10948 h 11157"/>
              <a:gd name="T8" fmla="*/ 4087 w 11157"/>
              <a:gd name="T9" fmla="*/ 10953 h 11157"/>
              <a:gd name="T10" fmla="*/ 7084 w 11157"/>
              <a:gd name="T11" fmla="*/ 10855 h 11157"/>
              <a:gd name="T12" fmla="*/ 7443 w 11157"/>
              <a:gd name="T13" fmla="*/ 10834 h 11157"/>
              <a:gd name="T14" fmla="*/ 7793 w 11157"/>
              <a:gd name="T15" fmla="*/ 10600 h 11157"/>
              <a:gd name="T16" fmla="*/ 3077 w 11157"/>
              <a:gd name="T17" fmla="*/ 10511 h 11157"/>
              <a:gd name="T18" fmla="*/ 2665 w 11157"/>
              <a:gd name="T19" fmla="*/ 10279 h 11157"/>
              <a:gd name="T20" fmla="*/ 8502 w 11157"/>
              <a:gd name="T21" fmla="*/ 10273 h 11157"/>
              <a:gd name="T22" fmla="*/ 8738 w 11157"/>
              <a:gd name="T23" fmla="*/ 10117 h 11157"/>
              <a:gd name="T24" fmla="*/ 2089 w 11157"/>
              <a:gd name="T25" fmla="*/ 9820 h 11157"/>
              <a:gd name="T26" fmla="*/ 1773 w 11157"/>
              <a:gd name="T27" fmla="*/ 9654 h 11157"/>
              <a:gd name="T28" fmla="*/ 9360 w 11157"/>
              <a:gd name="T29" fmla="*/ 9565 h 11157"/>
              <a:gd name="T30" fmla="*/ 9627 w 11157"/>
              <a:gd name="T31" fmla="*/ 9392 h 11157"/>
              <a:gd name="T32" fmla="*/ 1290 w 11157"/>
              <a:gd name="T33" fmla="*/ 9021 h 11157"/>
              <a:gd name="T34" fmla="*/ 1062 w 11157"/>
              <a:gd name="T35" fmla="*/ 8815 h 11157"/>
              <a:gd name="T36" fmla="*/ 854 w 11157"/>
              <a:gd name="T37" fmla="*/ 8405 h 11157"/>
              <a:gd name="T38" fmla="*/ 10350 w 11157"/>
              <a:gd name="T39" fmla="*/ 8467 h 11157"/>
              <a:gd name="T40" fmla="*/ 10452 w 11157"/>
              <a:gd name="T41" fmla="*/ 8091 h 11157"/>
              <a:gd name="T42" fmla="*/ 549 w 11157"/>
              <a:gd name="T43" fmla="*/ 7765 h 11157"/>
              <a:gd name="T44" fmla="*/ 323 w 11157"/>
              <a:gd name="T45" fmla="*/ 7449 h 11157"/>
              <a:gd name="T46" fmla="*/ 10795 w 11157"/>
              <a:gd name="T47" fmla="*/ 7373 h 11157"/>
              <a:gd name="T48" fmla="*/ 10909 w 11157"/>
              <a:gd name="T49" fmla="*/ 7107 h 11157"/>
              <a:gd name="T50" fmla="*/ 10997 w 11157"/>
              <a:gd name="T51" fmla="*/ 6646 h 11157"/>
              <a:gd name="T52" fmla="*/ 105 w 11157"/>
              <a:gd name="T53" fmla="*/ 6381 h 11157"/>
              <a:gd name="T54" fmla="*/ 57 w 11157"/>
              <a:gd name="T55" fmla="*/ 5912 h 11157"/>
              <a:gd name="T56" fmla="*/ 11101 w 11157"/>
              <a:gd name="T57" fmla="*/ 5898 h 11157"/>
              <a:gd name="T58" fmla="*/ 11157 w 11157"/>
              <a:gd name="T59" fmla="*/ 5568 h 11157"/>
              <a:gd name="T60" fmla="*/ 11049 w 11157"/>
              <a:gd name="T61" fmla="*/ 5194 h 11157"/>
              <a:gd name="T62" fmla="*/ 104 w 11157"/>
              <a:gd name="T63" fmla="*/ 4782 h 11157"/>
              <a:gd name="T64" fmla="*/ 152 w 11157"/>
              <a:gd name="T65" fmla="*/ 4503 h 11157"/>
              <a:gd name="T66" fmla="*/ 10993 w 11157"/>
              <a:gd name="T67" fmla="*/ 4396 h 11157"/>
              <a:gd name="T68" fmla="*/ 10858 w 11157"/>
              <a:gd name="T69" fmla="*/ 4090 h 11157"/>
              <a:gd name="T70" fmla="*/ 365 w 11157"/>
              <a:gd name="T71" fmla="*/ 3683 h 11157"/>
              <a:gd name="T72" fmla="*/ 503 w 11157"/>
              <a:gd name="T73" fmla="*/ 3426 h 11157"/>
              <a:gd name="T74" fmla="*/ 666 w 11157"/>
              <a:gd name="T75" fmla="*/ 2991 h 11157"/>
              <a:gd name="T76" fmla="*/ 10508 w 11157"/>
              <a:gd name="T77" fmla="*/ 3069 h 11157"/>
              <a:gd name="T78" fmla="*/ 10275 w 11157"/>
              <a:gd name="T79" fmla="*/ 2658 h 11157"/>
              <a:gd name="T80" fmla="*/ 1086 w 11157"/>
              <a:gd name="T81" fmla="*/ 2354 h 11157"/>
              <a:gd name="T82" fmla="*/ 1257 w 11157"/>
              <a:gd name="T83" fmla="*/ 2129 h 11157"/>
              <a:gd name="T84" fmla="*/ 9863 w 11157"/>
              <a:gd name="T85" fmla="*/ 2036 h 11157"/>
              <a:gd name="T86" fmla="*/ 9615 w 11157"/>
              <a:gd name="T87" fmla="*/ 1847 h 11157"/>
              <a:gd name="T88" fmla="*/ 9347 w 11157"/>
              <a:gd name="T89" fmla="*/ 1486 h 11157"/>
              <a:gd name="T90" fmla="*/ 2086 w 11157"/>
              <a:gd name="T91" fmla="*/ 1339 h 11157"/>
              <a:gd name="T92" fmla="*/ 2387 w 11157"/>
              <a:gd name="T93" fmla="*/ 1016 h 11157"/>
              <a:gd name="T94" fmla="*/ 8800 w 11157"/>
              <a:gd name="T95" fmla="*/ 1084 h 11157"/>
              <a:gd name="T96" fmla="*/ 8405 w 11157"/>
              <a:gd name="T97" fmla="*/ 825 h 11157"/>
              <a:gd name="T98" fmla="*/ 3052 w 11157"/>
              <a:gd name="T99" fmla="*/ 712 h 11157"/>
              <a:gd name="T100" fmla="*/ 3370 w 11157"/>
              <a:gd name="T101" fmla="*/ 460 h 11157"/>
              <a:gd name="T102" fmla="*/ 7819 w 11157"/>
              <a:gd name="T103" fmla="*/ 521 h 11157"/>
              <a:gd name="T104" fmla="*/ 7379 w 11157"/>
              <a:gd name="T105" fmla="*/ 348 h 11157"/>
              <a:gd name="T106" fmla="*/ 4093 w 11157"/>
              <a:gd name="T107" fmla="*/ 299 h 11157"/>
              <a:gd name="T108" fmla="*/ 4437 w 11157"/>
              <a:gd name="T109" fmla="*/ 117 h 11157"/>
              <a:gd name="T110" fmla="*/ 6706 w 11157"/>
              <a:gd name="T111" fmla="*/ 114 h 11157"/>
              <a:gd name="T112" fmla="*/ 6318 w 11157"/>
              <a:gd name="T113" fmla="*/ 144 h 11157"/>
              <a:gd name="T114" fmla="*/ 5195 w 11157"/>
              <a:gd name="T115" fmla="*/ 13 h 11157"/>
              <a:gd name="T116" fmla="*/ 5619 w 11157"/>
              <a:gd name="T117" fmla="*/ 47 h 11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157" h="11157">
                <a:moveTo>
                  <a:pt x="5592" y="11063"/>
                </a:moveTo>
                <a:cubicBezTo>
                  <a:pt x="5590" y="11063"/>
                  <a:pt x="5588" y="11063"/>
                  <a:pt x="5585" y="11063"/>
                </a:cubicBezTo>
                <a:cubicBezTo>
                  <a:pt x="5583" y="11063"/>
                  <a:pt x="5581" y="11063"/>
                  <a:pt x="5579" y="11063"/>
                </a:cubicBezTo>
                <a:cubicBezTo>
                  <a:pt x="5553" y="11063"/>
                  <a:pt x="5532" y="11084"/>
                  <a:pt x="5532" y="11110"/>
                </a:cubicBezTo>
                <a:cubicBezTo>
                  <a:pt x="5532" y="11136"/>
                  <a:pt x="5553" y="11157"/>
                  <a:pt x="5579" y="11157"/>
                </a:cubicBezTo>
                <a:cubicBezTo>
                  <a:pt x="5581" y="11157"/>
                  <a:pt x="5583" y="11157"/>
                  <a:pt x="5586" y="11157"/>
                </a:cubicBezTo>
                <a:cubicBezTo>
                  <a:pt x="5588" y="11157"/>
                  <a:pt x="5590" y="11157"/>
                  <a:pt x="5593" y="11157"/>
                </a:cubicBezTo>
                <a:cubicBezTo>
                  <a:pt x="5619" y="11157"/>
                  <a:pt x="5640" y="11136"/>
                  <a:pt x="5640" y="11110"/>
                </a:cubicBezTo>
                <a:cubicBezTo>
                  <a:pt x="5640" y="11084"/>
                  <a:pt x="5618" y="11063"/>
                  <a:pt x="5592" y="11063"/>
                </a:cubicBezTo>
                <a:moveTo>
                  <a:pt x="5201" y="11050"/>
                </a:moveTo>
                <a:cubicBezTo>
                  <a:pt x="5177" y="11050"/>
                  <a:pt x="5156" y="11069"/>
                  <a:pt x="5154" y="11094"/>
                </a:cubicBezTo>
                <a:cubicBezTo>
                  <a:pt x="5152" y="11120"/>
                  <a:pt x="5172" y="11143"/>
                  <a:pt x="5198" y="11144"/>
                </a:cubicBezTo>
                <a:cubicBezTo>
                  <a:pt x="5199" y="11144"/>
                  <a:pt x="5201" y="11144"/>
                  <a:pt x="5202" y="11144"/>
                </a:cubicBezTo>
                <a:cubicBezTo>
                  <a:pt x="5226" y="11144"/>
                  <a:pt x="5247" y="11125"/>
                  <a:pt x="5248" y="11101"/>
                </a:cubicBezTo>
                <a:cubicBezTo>
                  <a:pt x="5250" y="11074"/>
                  <a:pt x="5231" y="11052"/>
                  <a:pt x="5205" y="11050"/>
                </a:cubicBezTo>
                <a:cubicBezTo>
                  <a:pt x="5204" y="11050"/>
                  <a:pt x="5202" y="11050"/>
                  <a:pt x="5201" y="11050"/>
                </a:cubicBezTo>
                <a:moveTo>
                  <a:pt x="5970" y="11049"/>
                </a:moveTo>
                <a:cubicBezTo>
                  <a:pt x="5969" y="11049"/>
                  <a:pt x="5968" y="11049"/>
                  <a:pt x="5966" y="11049"/>
                </a:cubicBezTo>
                <a:cubicBezTo>
                  <a:pt x="5941" y="11051"/>
                  <a:pt x="5921" y="11073"/>
                  <a:pt x="5923" y="11100"/>
                </a:cubicBezTo>
                <a:cubicBezTo>
                  <a:pt x="5924" y="11124"/>
                  <a:pt x="5945" y="11143"/>
                  <a:pt x="5970" y="11144"/>
                </a:cubicBezTo>
                <a:cubicBezTo>
                  <a:pt x="5971" y="11144"/>
                  <a:pt x="5972" y="11143"/>
                  <a:pt x="5973" y="11143"/>
                </a:cubicBezTo>
                <a:cubicBezTo>
                  <a:pt x="5999" y="11141"/>
                  <a:pt x="6019" y="11119"/>
                  <a:pt x="6017" y="11093"/>
                </a:cubicBezTo>
                <a:cubicBezTo>
                  <a:pt x="6015" y="11068"/>
                  <a:pt x="5994" y="11049"/>
                  <a:pt x="5970" y="11049"/>
                </a:cubicBezTo>
                <a:moveTo>
                  <a:pt x="4826" y="11012"/>
                </a:moveTo>
                <a:cubicBezTo>
                  <a:pt x="4803" y="11012"/>
                  <a:pt x="4782" y="11029"/>
                  <a:pt x="4779" y="11052"/>
                </a:cubicBezTo>
                <a:cubicBezTo>
                  <a:pt x="4776" y="11079"/>
                  <a:pt x="4794" y="11102"/>
                  <a:pt x="4820" y="11106"/>
                </a:cubicBezTo>
                <a:cubicBezTo>
                  <a:pt x="4822" y="11106"/>
                  <a:pt x="4824" y="11106"/>
                  <a:pt x="4826" y="11106"/>
                </a:cubicBezTo>
                <a:cubicBezTo>
                  <a:pt x="4849" y="11106"/>
                  <a:pt x="4869" y="11089"/>
                  <a:pt x="4873" y="11065"/>
                </a:cubicBezTo>
                <a:cubicBezTo>
                  <a:pt x="4876" y="11039"/>
                  <a:pt x="4858" y="11016"/>
                  <a:pt x="4832" y="11012"/>
                </a:cubicBezTo>
                <a:cubicBezTo>
                  <a:pt x="4830" y="11012"/>
                  <a:pt x="4828" y="11012"/>
                  <a:pt x="4826" y="11012"/>
                </a:cubicBezTo>
                <a:moveTo>
                  <a:pt x="6345" y="11010"/>
                </a:moveTo>
                <a:cubicBezTo>
                  <a:pt x="6343" y="11010"/>
                  <a:pt x="6341" y="11010"/>
                  <a:pt x="6339" y="11010"/>
                </a:cubicBezTo>
                <a:cubicBezTo>
                  <a:pt x="6313" y="11014"/>
                  <a:pt x="6295" y="11038"/>
                  <a:pt x="6299" y="11064"/>
                </a:cubicBezTo>
                <a:cubicBezTo>
                  <a:pt x="6302" y="11087"/>
                  <a:pt x="6322" y="11104"/>
                  <a:pt x="6345" y="11104"/>
                </a:cubicBezTo>
                <a:cubicBezTo>
                  <a:pt x="6347" y="11104"/>
                  <a:pt x="6350" y="11104"/>
                  <a:pt x="6352" y="11104"/>
                </a:cubicBezTo>
                <a:cubicBezTo>
                  <a:pt x="6378" y="11100"/>
                  <a:pt x="6395" y="11076"/>
                  <a:pt x="6392" y="11050"/>
                </a:cubicBezTo>
                <a:cubicBezTo>
                  <a:pt x="6389" y="11027"/>
                  <a:pt x="6368" y="11010"/>
                  <a:pt x="6345" y="11010"/>
                </a:cubicBezTo>
                <a:moveTo>
                  <a:pt x="4454" y="10948"/>
                </a:moveTo>
                <a:cubicBezTo>
                  <a:pt x="4432" y="10948"/>
                  <a:pt x="4412" y="10963"/>
                  <a:pt x="4408" y="10985"/>
                </a:cubicBezTo>
                <a:cubicBezTo>
                  <a:pt x="4402" y="11011"/>
                  <a:pt x="4419" y="11036"/>
                  <a:pt x="4444" y="11041"/>
                </a:cubicBezTo>
                <a:cubicBezTo>
                  <a:pt x="4447" y="11042"/>
                  <a:pt x="4451" y="11042"/>
                  <a:pt x="4454" y="11042"/>
                </a:cubicBezTo>
                <a:cubicBezTo>
                  <a:pt x="4476" y="11042"/>
                  <a:pt x="4496" y="11027"/>
                  <a:pt x="4500" y="11004"/>
                </a:cubicBezTo>
                <a:cubicBezTo>
                  <a:pt x="4505" y="10979"/>
                  <a:pt x="4489" y="10954"/>
                  <a:pt x="4464" y="10949"/>
                </a:cubicBezTo>
                <a:cubicBezTo>
                  <a:pt x="4460" y="10948"/>
                  <a:pt x="4457" y="10948"/>
                  <a:pt x="4454" y="10948"/>
                </a:cubicBezTo>
                <a:moveTo>
                  <a:pt x="6717" y="10945"/>
                </a:moveTo>
                <a:cubicBezTo>
                  <a:pt x="6714" y="10945"/>
                  <a:pt x="6711" y="10945"/>
                  <a:pt x="6707" y="10946"/>
                </a:cubicBezTo>
                <a:cubicBezTo>
                  <a:pt x="6682" y="10951"/>
                  <a:pt x="6665" y="10976"/>
                  <a:pt x="6671" y="11002"/>
                </a:cubicBezTo>
                <a:cubicBezTo>
                  <a:pt x="6675" y="11024"/>
                  <a:pt x="6695" y="11039"/>
                  <a:pt x="6717" y="11039"/>
                </a:cubicBezTo>
                <a:cubicBezTo>
                  <a:pt x="6720" y="11039"/>
                  <a:pt x="6724" y="11039"/>
                  <a:pt x="6727" y="11039"/>
                </a:cubicBezTo>
                <a:cubicBezTo>
                  <a:pt x="6752" y="11033"/>
                  <a:pt x="6769" y="11008"/>
                  <a:pt x="6763" y="10982"/>
                </a:cubicBezTo>
                <a:cubicBezTo>
                  <a:pt x="6759" y="10960"/>
                  <a:pt x="6739" y="10945"/>
                  <a:pt x="6717" y="10945"/>
                </a:cubicBezTo>
                <a:moveTo>
                  <a:pt x="4087" y="10858"/>
                </a:moveTo>
                <a:cubicBezTo>
                  <a:pt x="4066" y="10858"/>
                  <a:pt x="4047" y="10872"/>
                  <a:pt x="4042" y="10893"/>
                </a:cubicBezTo>
                <a:cubicBezTo>
                  <a:pt x="4035" y="10918"/>
                  <a:pt x="4049" y="10944"/>
                  <a:pt x="4074" y="10951"/>
                </a:cubicBezTo>
                <a:cubicBezTo>
                  <a:pt x="4078" y="10952"/>
                  <a:pt x="4083" y="10953"/>
                  <a:pt x="4087" y="10953"/>
                </a:cubicBezTo>
                <a:cubicBezTo>
                  <a:pt x="4108" y="10953"/>
                  <a:pt x="4127" y="10939"/>
                  <a:pt x="4133" y="10919"/>
                </a:cubicBezTo>
                <a:cubicBezTo>
                  <a:pt x="4140" y="10893"/>
                  <a:pt x="4125" y="10867"/>
                  <a:pt x="4100" y="10860"/>
                </a:cubicBezTo>
                <a:cubicBezTo>
                  <a:pt x="4096" y="10859"/>
                  <a:pt x="4091" y="10858"/>
                  <a:pt x="4087" y="10858"/>
                </a:cubicBezTo>
                <a:moveTo>
                  <a:pt x="7084" y="10855"/>
                </a:moveTo>
                <a:cubicBezTo>
                  <a:pt x="7079" y="10855"/>
                  <a:pt x="7075" y="10855"/>
                  <a:pt x="7071" y="10857"/>
                </a:cubicBezTo>
                <a:cubicBezTo>
                  <a:pt x="7071" y="10857"/>
                  <a:pt x="7071" y="10857"/>
                  <a:pt x="7071" y="10857"/>
                </a:cubicBezTo>
                <a:cubicBezTo>
                  <a:pt x="7046" y="10863"/>
                  <a:pt x="7031" y="10890"/>
                  <a:pt x="7038" y="10915"/>
                </a:cubicBezTo>
                <a:cubicBezTo>
                  <a:pt x="7044" y="10936"/>
                  <a:pt x="7063" y="10949"/>
                  <a:pt x="7083" y="10949"/>
                </a:cubicBezTo>
                <a:cubicBezTo>
                  <a:pt x="7088" y="10949"/>
                  <a:pt x="7092" y="10948"/>
                  <a:pt x="7096" y="10947"/>
                </a:cubicBezTo>
                <a:cubicBezTo>
                  <a:pt x="7122" y="10940"/>
                  <a:pt x="7136" y="10914"/>
                  <a:pt x="7129" y="10889"/>
                </a:cubicBezTo>
                <a:cubicBezTo>
                  <a:pt x="7123" y="10868"/>
                  <a:pt x="7104" y="10855"/>
                  <a:pt x="7084" y="10855"/>
                </a:cubicBezTo>
                <a:moveTo>
                  <a:pt x="3727" y="10744"/>
                </a:moveTo>
                <a:cubicBezTo>
                  <a:pt x="3708" y="10744"/>
                  <a:pt x="3690" y="10756"/>
                  <a:pt x="3683" y="10776"/>
                </a:cubicBezTo>
                <a:cubicBezTo>
                  <a:pt x="3674" y="10800"/>
                  <a:pt x="3687" y="10827"/>
                  <a:pt x="3711" y="10836"/>
                </a:cubicBezTo>
                <a:cubicBezTo>
                  <a:pt x="3717" y="10838"/>
                  <a:pt x="3722" y="10839"/>
                  <a:pt x="3727" y="10839"/>
                </a:cubicBezTo>
                <a:cubicBezTo>
                  <a:pt x="3747" y="10839"/>
                  <a:pt x="3765" y="10827"/>
                  <a:pt x="3772" y="10807"/>
                </a:cubicBezTo>
                <a:cubicBezTo>
                  <a:pt x="3781" y="10783"/>
                  <a:pt x="3768" y="10755"/>
                  <a:pt x="3743" y="10747"/>
                </a:cubicBezTo>
                <a:cubicBezTo>
                  <a:pt x="3738" y="10745"/>
                  <a:pt x="3732" y="10744"/>
                  <a:pt x="3727" y="10744"/>
                </a:cubicBezTo>
                <a:moveTo>
                  <a:pt x="7443" y="10739"/>
                </a:moveTo>
                <a:cubicBezTo>
                  <a:pt x="7438" y="10739"/>
                  <a:pt x="7432" y="10740"/>
                  <a:pt x="7427" y="10742"/>
                </a:cubicBezTo>
                <a:cubicBezTo>
                  <a:pt x="7402" y="10751"/>
                  <a:pt x="7390" y="10778"/>
                  <a:pt x="7399" y="10803"/>
                </a:cubicBezTo>
                <a:cubicBezTo>
                  <a:pt x="7406" y="10822"/>
                  <a:pt x="7424" y="10834"/>
                  <a:pt x="7443" y="10834"/>
                </a:cubicBezTo>
                <a:cubicBezTo>
                  <a:pt x="7448" y="10834"/>
                  <a:pt x="7454" y="10833"/>
                  <a:pt x="7459" y="10831"/>
                </a:cubicBezTo>
                <a:cubicBezTo>
                  <a:pt x="7484" y="10822"/>
                  <a:pt x="7496" y="10795"/>
                  <a:pt x="7487" y="10771"/>
                </a:cubicBezTo>
                <a:cubicBezTo>
                  <a:pt x="7481" y="10751"/>
                  <a:pt x="7462" y="10739"/>
                  <a:pt x="7443" y="10739"/>
                </a:cubicBezTo>
                <a:moveTo>
                  <a:pt x="3376" y="10605"/>
                </a:moveTo>
                <a:cubicBezTo>
                  <a:pt x="3358" y="10605"/>
                  <a:pt x="3340" y="10616"/>
                  <a:pt x="3333" y="10633"/>
                </a:cubicBezTo>
                <a:cubicBezTo>
                  <a:pt x="3322" y="10657"/>
                  <a:pt x="3333" y="10685"/>
                  <a:pt x="3357" y="10696"/>
                </a:cubicBezTo>
                <a:cubicBezTo>
                  <a:pt x="3363" y="10698"/>
                  <a:pt x="3369" y="10699"/>
                  <a:pt x="3376" y="10699"/>
                </a:cubicBezTo>
                <a:cubicBezTo>
                  <a:pt x="3394" y="10699"/>
                  <a:pt x="3411" y="10689"/>
                  <a:pt x="3419" y="10671"/>
                </a:cubicBezTo>
                <a:cubicBezTo>
                  <a:pt x="3430" y="10647"/>
                  <a:pt x="3419" y="10619"/>
                  <a:pt x="3395" y="10609"/>
                </a:cubicBezTo>
                <a:cubicBezTo>
                  <a:pt x="3389" y="10606"/>
                  <a:pt x="3382" y="10605"/>
                  <a:pt x="3376" y="10605"/>
                </a:cubicBezTo>
                <a:moveTo>
                  <a:pt x="7793" y="10600"/>
                </a:moveTo>
                <a:cubicBezTo>
                  <a:pt x="7787" y="10600"/>
                  <a:pt x="7780" y="10601"/>
                  <a:pt x="7774" y="10604"/>
                </a:cubicBezTo>
                <a:cubicBezTo>
                  <a:pt x="7750" y="10614"/>
                  <a:pt x="7740" y="10642"/>
                  <a:pt x="7750" y="10666"/>
                </a:cubicBezTo>
                <a:cubicBezTo>
                  <a:pt x="7758" y="10684"/>
                  <a:pt x="7775" y="10694"/>
                  <a:pt x="7793" y="10694"/>
                </a:cubicBezTo>
                <a:cubicBezTo>
                  <a:pt x="7800" y="10694"/>
                  <a:pt x="7806" y="10693"/>
                  <a:pt x="7812" y="10690"/>
                </a:cubicBezTo>
                <a:cubicBezTo>
                  <a:pt x="7836" y="10680"/>
                  <a:pt x="7847" y="10652"/>
                  <a:pt x="7837" y="10628"/>
                </a:cubicBezTo>
                <a:cubicBezTo>
                  <a:pt x="7829" y="10611"/>
                  <a:pt x="7811" y="10600"/>
                  <a:pt x="7793" y="10600"/>
                </a:cubicBezTo>
                <a:moveTo>
                  <a:pt x="3035" y="10442"/>
                </a:moveTo>
                <a:cubicBezTo>
                  <a:pt x="3018" y="10442"/>
                  <a:pt x="3001" y="10452"/>
                  <a:pt x="2993" y="10468"/>
                </a:cubicBezTo>
                <a:cubicBezTo>
                  <a:pt x="2981" y="10491"/>
                  <a:pt x="2990" y="10519"/>
                  <a:pt x="3013" y="10532"/>
                </a:cubicBezTo>
                <a:cubicBezTo>
                  <a:pt x="3020" y="10535"/>
                  <a:pt x="3028" y="10537"/>
                  <a:pt x="3035" y="10537"/>
                </a:cubicBezTo>
                <a:cubicBezTo>
                  <a:pt x="3052" y="10537"/>
                  <a:pt x="3068" y="10528"/>
                  <a:pt x="3077" y="10511"/>
                </a:cubicBezTo>
                <a:cubicBezTo>
                  <a:pt x="3089" y="10488"/>
                  <a:pt x="3080" y="10460"/>
                  <a:pt x="3056" y="10448"/>
                </a:cubicBezTo>
                <a:cubicBezTo>
                  <a:pt x="3050" y="10444"/>
                  <a:pt x="3042" y="10442"/>
                  <a:pt x="3035" y="10442"/>
                </a:cubicBezTo>
                <a:moveTo>
                  <a:pt x="8133" y="10437"/>
                </a:moveTo>
                <a:cubicBezTo>
                  <a:pt x="8126" y="10437"/>
                  <a:pt x="8118" y="10438"/>
                  <a:pt x="8111" y="10442"/>
                </a:cubicBezTo>
                <a:cubicBezTo>
                  <a:pt x="8088" y="10454"/>
                  <a:pt x="8079" y="10483"/>
                  <a:pt x="8091" y="10506"/>
                </a:cubicBezTo>
                <a:cubicBezTo>
                  <a:pt x="8100" y="10522"/>
                  <a:pt x="8116" y="10531"/>
                  <a:pt x="8133" y="10531"/>
                </a:cubicBezTo>
                <a:cubicBezTo>
                  <a:pt x="8141" y="10531"/>
                  <a:pt x="8148" y="10529"/>
                  <a:pt x="8155" y="10526"/>
                </a:cubicBezTo>
                <a:cubicBezTo>
                  <a:pt x="8178" y="10514"/>
                  <a:pt x="8187" y="10485"/>
                  <a:pt x="8175" y="10462"/>
                </a:cubicBezTo>
                <a:cubicBezTo>
                  <a:pt x="8167" y="10446"/>
                  <a:pt x="8150" y="10437"/>
                  <a:pt x="8133" y="10437"/>
                </a:cubicBezTo>
                <a:moveTo>
                  <a:pt x="2706" y="10257"/>
                </a:moveTo>
                <a:cubicBezTo>
                  <a:pt x="2690" y="10257"/>
                  <a:pt x="2674" y="10265"/>
                  <a:pt x="2665" y="10279"/>
                </a:cubicBezTo>
                <a:cubicBezTo>
                  <a:pt x="2652" y="10301"/>
                  <a:pt x="2659" y="10331"/>
                  <a:pt x="2681" y="10344"/>
                </a:cubicBezTo>
                <a:cubicBezTo>
                  <a:pt x="2689" y="10349"/>
                  <a:pt x="2697" y="10351"/>
                  <a:pt x="2706" y="10351"/>
                </a:cubicBezTo>
                <a:cubicBezTo>
                  <a:pt x="2722" y="10351"/>
                  <a:pt x="2737" y="10343"/>
                  <a:pt x="2746" y="10329"/>
                </a:cubicBezTo>
                <a:cubicBezTo>
                  <a:pt x="2760" y="10306"/>
                  <a:pt x="2753" y="10277"/>
                  <a:pt x="2730" y="10264"/>
                </a:cubicBezTo>
                <a:cubicBezTo>
                  <a:pt x="2723" y="10259"/>
                  <a:pt x="2714" y="10257"/>
                  <a:pt x="2706" y="10257"/>
                </a:cubicBezTo>
                <a:moveTo>
                  <a:pt x="8461" y="10251"/>
                </a:moveTo>
                <a:cubicBezTo>
                  <a:pt x="8453" y="10251"/>
                  <a:pt x="8444" y="10253"/>
                  <a:pt x="8437" y="10258"/>
                </a:cubicBezTo>
                <a:cubicBezTo>
                  <a:pt x="8414" y="10271"/>
                  <a:pt x="8407" y="10300"/>
                  <a:pt x="8421" y="10323"/>
                </a:cubicBezTo>
                <a:cubicBezTo>
                  <a:pt x="8430" y="10337"/>
                  <a:pt x="8446" y="10345"/>
                  <a:pt x="8462" y="10345"/>
                </a:cubicBezTo>
                <a:cubicBezTo>
                  <a:pt x="8470" y="10345"/>
                  <a:pt x="8478" y="10343"/>
                  <a:pt x="8486" y="10338"/>
                </a:cubicBezTo>
                <a:cubicBezTo>
                  <a:pt x="8508" y="10324"/>
                  <a:pt x="8515" y="10295"/>
                  <a:pt x="8502" y="10273"/>
                </a:cubicBezTo>
                <a:cubicBezTo>
                  <a:pt x="8493" y="10259"/>
                  <a:pt x="8477" y="10251"/>
                  <a:pt x="8461" y="10251"/>
                </a:cubicBezTo>
                <a:moveTo>
                  <a:pt x="2390" y="10049"/>
                </a:moveTo>
                <a:cubicBezTo>
                  <a:pt x="2375" y="10049"/>
                  <a:pt x="2361" y="10056"/>
                  <a:pt x="2352" y="10069"/>
                </a:cubicBezTo>
                <a:cubicBezTo>
                  <a:pt x="2337" y="10090"/>
                  <a:pt x="2342" y="10120"/>
                  <a:pt x="2363" y="10135"/>
                </a:cubicBezTo>
                <a:cubicBezTo>
                  <a:pt x="2371" y="10141"/>
                  <a:pt x="2381" y="10143"/>
                  <a:pt x="2390" y="10143"/>
                </a:cubicBezTo>
                <a:cubicBezTo>
                  <a:pt x="2405" y="10143"/>
                  <a:pt x="2420" y="10136"/>
                  <a:pt x="2429" y="10124"/>
                </a:cubicBezTo>
                <a:cubicBezTo>
                  <a:pt x="2444" y="10102"/>
                  <a:pt x="2439" y="10073"/>
                  <a:pt x="2418" y="10058"/>
                </a:cubicBezTo>
                <a:cubicBezTo>
                  <a:pt x="2409" y="10052"/>
                  <a:pt x="2400" y="10049"/>
                  <a:pt x="2390" y="10049"/>
                </a:cubicBezTo>
                <a:moveTo>
                  <a:pt x="8776" y="10043"/>
                </a:moveTo>
                <a:cubicBezTo>
                  <a:pt x="8767" y="10043"/>
                  <a:pt x="8757" y="10045"/>
                  <a:pt x="8749" y="10051"/>
                </a:cubicBezTo>
                <a:cubicBezTo>
                  <a:pt x="8728" y="10066"/>
                  <a:pt x="8723" y="10096"/>
                  <a:pt x="8738" y="10117"/>
                </a:cubicBezTo>
                <a:cubicBezTo>
                  <a:pt x="8747" y="10130"/>
                  <a:pt x="8761" y="10137"/>
                  <a:pt x="8776" y="10137"/>
                </a:cubicBezTo>
                <a:cubicBezTo>
                  <a:pt x="8786" y="10137"/>
                  <a:pt x="8795" y="10134"/>
                  <a:pt x="8804" y="10128"/>
                </a:cubicBezTo>
                <a:cubicBezTo>
                  <a:pt x="8825" y="10113"/>
                  <a:pt x="8830" y="10084"/>
                  <a:pt x="8815" y="10062"/>
                </a:cubicBezTo>
                <a:cubicBezTo>
                  <a:pt x="8806" y="10049"/>
                  <a:pt x="8791" y="10043"/>
                  <a:pt x="8776" y="10043"/>
                </a:cubicBezTo>
                <a:moveTo>
                  <a:pt x="2089" y="9820"/>
                </a:moveTo>
                <a:cubicBezTo>
                  <a:pt x="2076" y="9820"/>
                  <a:pt x="2062" y="9826"/>
                  <a:pt x="2053" y="9838"/>
                </a:cubicBezTo>
                <a:cubicBezTo>
                  <a:pt x="2036" y="9858"/>
                  <a:pt x="2039" y="9888"/>
                  <a:pt x="2060" y="9904"/>
                </a:cubicBezTo>
                <a:cubicBezTo>
                  <a:pt x="2068" y="9911"/>
                  <a:pt x="2079" y="9915"/>
                  <a:pt x="2090" y="9915"/>
                </a:cubicBezTo>
                <a:cubicBezTo>
                  <a:pt x="2103" y="9915"/>
                  <a:pt x="2117" y="9909"/>
                  <a:pt x="2126" y="9897"/>
                </a:cubicBezTo>
                <a:cubicBezTo>
                  <a:pt x="2142" y="9877"/>
                  <a:pt x="2140" y="9848"/>
                  <a:pt x="2119" y="9831"/>
                </a:cubicBezTo>
                <a:cubicBezTo>
                  <a:pt x="2111" y="9824"/>
                  <a:pt x="2100" y="9820"/>
                  <a:pt x="2089" y="9820"/>
                </a:cubicBezTo>
                <a:moveTo>
                  <a:pt x="9076" y="9813"/>
                </a:moveTo>
                <a:cubicBezTo>
                  <a:pt x="9066" y="9813"/>
                  <a:pt x="9055" y="9817"/>
                  <a:pt x="9046" y="9824"/>
                </a:cubicBezTo>
                <a:cubicBezTo>
                  <a:pt x="9026" y="9841"/>
                  <a:pt x="9023" y="9870"/>
                  <a:pt x="9040" y="9891"/>
                </a:cubicBezTo>
                <a:cubicBezTo>
                  <a:pt x="9049" y="9902"/>
                  <a:pt x="9063" y="9908"/>
                  <a:pt x="9076" y="9908"/>
                </a:cubicBezTo>
                <a:cubicBezTo>
                  <a:pt x="9077" y="9908"/>
                  <a:pt x="9077" y="9908"/>
                  <a:pt x="9077" y="9908"/>
                </a:cubicBezTo>
                <a:cubicBezTo>
                  <a:pt x="9088" y="9908"/>
                  <a:pt x="9098" y="9904"/>
                  <a:pt x="9106" y="9897"/>
                </a:cubicBezTo>
                <a:cubicBezTo>
                  <a:pt x="9126" y="9881"/>
                  <a:pt x="9129" y="9851"/>
                  <a:pt x="9113" y="9831"/>
                </a:cubicBezTo>
                <a:cubicBezTo>
                  <a:pt x="9103" y="9819"/>
                  <a:pt x="9090" y="9813"/>
                  <a:pt x="9076" y="9813"/>
                </a:cubicBezTo>
                <a:moveTo>
                  <a:pt x="1805" y="9572"/>
                </a:moveTo>
                <a:cubicBezTo>
                  <a:pt x="1792" y="9572"/>
                  <a:pt x="1780" y="9577"/>
                  <a:pt x="1771" y="9587"/>
                </a:cubicBezTo>
                <a:cubicBezTo>
                  <a:pt x="1753" y="9606"/>
                  <a:pt x="1754" y="9636"/>
                  <a:pt x="1773" y="9654"/>
                </a:cubicBezTo>
                <a:cubicBezTo>
                  <a:pt x="1782" y="9662"/>
                  <a:pt x="1794" y="9667"/>
                  <a:pt x="1805" y="9667"/>
                </a:cubicBezTo>
                <a:cubicBezTo>
                  <a:pt x="1818" y="9667"/>
                  <a:pt x="1830" y="9662"/>
                  <a:pt x="1840" y="9652"/>
                </a:cubicBezTo>
                <a:cubicBezTo>
                  <a:pt x="1858" y="9633"/>
                  <a:pt x="1856" y="9603"/>
                  <a:pt x="1837" y="9585"/>
                </a:cubicBezTo>
                <a:cubicBezTo>
                  <a:pt x="1828" y="9576"/>
                  <a:pt x="1817" y="9572"/>
                  <a:pt x="1805" y="9572"/>
                </a:cubicBezTo>
                <a:moveTo>
                  <a:pt x="9360" y="9565"/>
                </a:moveTo>
                <a:cubicBezTo>
                  <a:pt x="9349" y="9565"/>
                  <a:pt x="9337" y="9569"/>
                  <a:pt x="9328" y="9578"/>
                </a:cubicBezTo>
                <a:cubicBezTo>
                  <a:pt x="9309" y="9596"/>
                  <a:pt x="9308" y="9625"/>
                  <a:pt x="9326" y="9644"/>
                </a:cubicBezTo>
                <a:cubicBezTo>
                  <a:pt x="9335" y="9654"/>
                  <a:pt x="9348" y="9659"/>
                  <a:pt x="9360" y="9659"/>
                </a:cubicBezTo>
                <a:cubicBezTo>
                  <a:pt x="9372" y="9659"/>
                  <a:pt x="9383" y="9655"/>
                  <a:pt x="9392" y="9647"/>
                </a:cubicBezTo>
                <a:cubicBezTo>
                  <a:pt x="9411" y="9629"/>
                  <a:pt x="9412" y="9599"/>
                  <a:pt x="9394" y="9580"/>
                </a:cubicBezTo>
                <a:cubicBezTo>
                  <a:pt x="9385" y="9570"/>
                  <a:pt x="9373" y="9565"/>
                  <a:pt x="9360" y="9565"/>
                </a:cubicBezTo>
                <a:moveTo>
                  <a:pt x="1538" y="9305"/>
                </a:moveTo>
                <a:cubicBezTo>
                  <a:pt x="1527" y="9305"/>
                  <a:pt x="1515" y="9309"/>
                  <a:pt x="1506" y="9318"/>
                </a:cubicBezTo>
                <a:cubicBezTo>
                  <a:pt x="1487" y="9335"/>
                  <a:pt x="1486" y="9365"/>
                  <a:pt x="1504" y="9385"/>
                </a:cubicBezTo>
                <a:cubicBezTo>
                  <a:pt x="1513" y="9395"/>
                  <a:pt x="1526" y="9400"/>
                  <a:pt x="1538" y="9400"/>
                </a:cubicBezTo>
                <a:cubicBezTo>
                  <a:pt x="1550" y="9400"/>
                  <a:pt x="1561" y="9395"/>
                  <a:pt x="1570" y="9387"/>
                </a:cubicBezTo>
                <a:cubicBezTo>
                  <a:pt x="1589" y="9369"/>
                  <a:pt x="1591" y="9339"/>
                  <a:pt x="1573" y="9320"/>
                </a:cubicBezTo>
                <a:cubicBezTo>
                  <a:pt x="1563" y="9310"/>
                  <a:pt x="1551" y="9305"/>
                  <a:pt x="1538" y="9305"/>
                </a:cubicBezTo>
                <a:moveTo>
                  <a:pt x="9627" y="9297"/>
                </a:moveTo>
                <a:cubicBezTo>
                  <a:pt x="9614" y="9297"/>
                  <a:pt x="9601" y="9302"/>
                  <a:pt x="9592" y="9312"/>
                </a:cubicBezTo>
                <a:cubicBezTo>
                  <a:pt x="9574" y="9331"/>
                  <a:pt x="9575" y="9361"/>
                  <a:pt x="9594" y="9379"/>
                </a:cubicBezTo>
                <a:cubicBezTo>
                  <a:pt x="9604" y="9388"/>
                  <a:pt x="9615" y="9392"/>
                  <a:pt x="9627" y="9392"/>
                </a:cubicBezTo>
                <a:cubicBezTo>
                  <a:pt x="9639" y="9392"/>
                  <a:pt x="9652" y="9387"/>
                  <a:pt x="9661" y="9377"/>
                </a:cubicBezTo>
                <a:cubicBezTo>
                  <a:pt x="9679" y="9358"/>
                  <a:pt x="9678" y="9328"/>
                  <a:pt x="9659" y="9310"/>
                </a:cubicBezTo>
                <a:cubicBezTo>
                  <a:pt x="9650" y="9302"/>
                  <a:pt x="9638" y="9297"/>
                  <a:pt x="9627" y="9297"/>
                </a:cubicBezTo>
                <a:moveTo>
                  <a:pt x="1290" y="9021"/>
                </a:moveTo>
                <a:cubicBezTo>
                  <a:pt x="1279" y="9021"/>
                  <a:pt x="1269" y="9024"/>
                  <a:pt x="1260" y="9031"/>
                </a:cubicBezTo>
                <a:cubicBezTo>
                  <a:pt x="1240" y="9048"/>
                  <a:pt x="1237" y="9078"/>
                  <a:pt x="1253" y="9098"/>
                </a:cubicBezTo>
                <a:cubicBezTo>
                  <a:pt x="1253" y="9098"/>
                  <a:pt x="1253" y="9098"/>
                  <a:pt x="1253" y="9098"/>
                </a:cubicBezTo>
                <a:cubicBezTo>
                  <a:pt x="1262" y="9109"/>
                  <a:pt x="1276" y="9115"/>
                  <a:pt x="1290" y="9115"/>
                </a:cubicBezTo>
                <a:cubicBezTo>
                  <a:pt x="1300" y="9115"/>
                  <a:pt x="1311" y="9112"/>
                  <a:pt x="1320" y="9105"/>
                </a:cubicBezTo>
                <a:cubicBezTo>
                  <a:pt x="1340" y="9088"/>
                  <a:pt x="1343" y="9058"/>
                  <a:pt x="1326" y="9038"/>
                </a:cubicBezTo>
                <a:cubicBezTo>
                  <a:pt x="1317" y="9027"/>
                  <a:pt x="1303" y="9021"/>
                  <a:pt x="1290" y="9021"/>
                </a:cubicBezTo>
                <a:moveTo>
                  <a:pt x="9875" y="9012"/>
                </a:moveTo>
                <a:cubicBezTo>
                  <a:pt x="9861" y="9012"/>
                  <a:pt x="9847" y="9018"/>
                  <a:pt x="9838" y="9030"/>
                </a:cubicBezTo>
                <a:cubicBezTo>
                  <a:pt x="9821" y="9050"/>
                  <a:pt x="9824" y="9080"/>
                  <a:pt x="9845" y="9096"/>
                </a:cubicBezTo>
                <a:cubicBezTo>
                  <a:pt x="9854" y="9103"/>
                  <a:pt x="9864" y="9107"/>
                  <a:pt x="9874" y="9107"/>
                </a:cubicBezTo>
                <a:cubicBezTo>
                  <a:pt x="9888" y="9107"/>
                  <a:pt x="9902" y="9101"/>
                  <a:pt x="9911" y="9089"/>
                </a:cubicBezTo>
                <a:cubicBezTo>
                  <a:pt x="9928" y="9069"/>
                  <a:pt x="9924" y="9039"/>
                  <a:pt x="9904" y="9023"/>
                </a:cubicBezTo>
                <a:cubicBezTo>
                  <a:pt x="9896" y="9016"/>
                  <a:pt x="9885" y="9012"/>
                  <a:pt x="9875" y="9012"/>
                </a:cubicBezTo>
                <a:moveTo>
                  <a:pt x="1061" y="8720"/>
                </a:moveTo>
                <a:cubicBezTo>
                  <a:pt x="1052" y="8720"/>
                  <a:pt x="1042" y="8723"/>
                  <a:pt x="1034" y="8729"/>
                </a:cubicBezTo>
                <a:cubicBezTo>
                  <a:pt x="1013" y="8744"/>
                  <a:pt x="1008" y="8773"/>
                  <a:pt x="1023" y="8795"/>
                </a:cubicBezTo>
                <a:cubicBezTo>
                  <a:pt x="1032" y="8808"/>
                  <a:pt x="1047" y="8815"/>
                  <a:pt x="1062" y="8815"/>
                </a:cubicBezTo>
                <a:cubicBezTo>
                  <a:pt x="1071" y="8815"/>
                  <a:pt x="1080" y="8812"/>
                  <a:pt x="1089" y="8806"/>
                </a:cubicBezTo>
                <a:cubicBezTo>
                  <a:pt x="1110" y="8791"/>
                  <a:pt x="1115" y="8761"/>
                  <a:pt x="1100" y="8740"/>
                </a:cubicBezTo>
                <a:cubicBezTo>
                  <a:pt x="1091" y="8727"/>
                  <a:pt x="1076" y="8720"/>
                  <a:pt x="1061" y="8720"/>
                </a:cubicBezTo>
                <a:moveTo>
                  <a:pt x="10102" y="8711"/>
                </a:moveTo>
                <a:cubicBezTo>
                  <a:pt x="10088" y="8711"/>
                  <a:pt x="10073" y="8718"/>
                  <a:pt x="10064" y="8731"/>
                </a:cubicBezTo>
                <a:cubicBezTo>
                  <a:pt x="10049" y="8753"/>
                  <a:pt x="10054" y="8782"/>
                  <a:pt x="10075" y="8797"/>
                </a:cubicBezTo>
                <a:cubicBezTo>
                  <a:pt x="10083" y="8803"/>
                  <a:pt x="10093" y="8806"/>
                  <a:pt x="10102" y="8806"/>
                </a:cubicBezTo>
                <a:cubicBezTo>
                  <a:pt x="10117" y="8806"/>
                  <a:pt x="10132" y="8799"/>
                  <a:pt x="10141" y="8786"/>
                </a:cubicBezTo>
                <a:cubicBezTo>
                  <a:pt x="10156" y="8764"/>
                  <a:pt x="10151" y="8735"/>
                  <a:pt x="10130" y="8720"/>
                </a:cubicBezTo>
                <a:cubicBezTo>
                  <a:pt x="10121" y="8714"/>
                  <a:pt x="10112" y="8711"/>
                  <a:pt x="10102" y="8711"/>
                </a:cubicBezTo>
                <a:moveTo>
                  <a:pt x="854" y="8405"/>
                </a:moveTo>
                <a:cubicBezTo>
                  <a:pt x="845" y="8405"/>
                  <a:pt x="837" y="8407"/>
                  <a:pt x="829" y="8412"/>
                </a:cubicBezTo>
                <a:cubicBezTo>
                  <a:pt x="807" y="8426"/>
                  <a:pt x="800" y="8455"/>
                  <a:pt x="814" y="8477"/>
                </a:cubicBezTo>
                <a:cubicBezTo>
                  <a:pt x="823" y="8492"/>
                  <a:pt x="838" y="8500"/>
                  <a:pt x="854" y="8500"/>
                </a:cubicBezTo>
                <a:cubicBezTo>
                  <a:pt x="862" y="8500"/>
                  <a:pt x="871" y="8497"/>
                  <a:pt x="879" y="8493"/>
                </a:cubicBezTo>
                <a:cubicBezTo>
                  <a:pt x="901" y="8479"/>
                  <a:pt x="908" y="8450"/>
                  <a:pt x="894" y="8428"/>
                </a:cubicBezTo>
                <a:cubicBezTo>
                  <a:pt x="885" y="8413"/>
                  <a:pt x="870" y="8405"/>
                  <a:pt x="854" y="8405"/>
                </a:cubicBezTo>
                <a:moveTo>
                  <a:pt x="10309" y="8395"/>
                </a:moveTo>
                <a:cubicBezTo>
                  <a:pt x="10293" y="8395"/>
                  <a:pt x="10278" y="8403"/>
                  <a:pt x="10269" y="8418"/>
                </a:cubicBezTo>
                <a:cubicBezTo>
                  <a:pt x="10256" y="8440"/>
                  <a:pt x="10263" y="8469"/>
                  <a:pt x="10285" y="8483"/>
                </a:cubicBezTo>
                <a:cubicBezTo>
                  <a:pt x="10292" y="8488"/>
                  <a:pt x="10301" y="8490"/>
                  <a:pt x="10309" y="8490"/>
                </a:cubicBezTo>
                <a:cubicBezTo>
                  <a:pt x="10325" y="8490"/>
                  <a:pt x="10341" y="8482"/>
                  <a:pt x="10350" y="8467"/>
                </a:cubicBezTo>
                <a:cubicBezTo>
                  <a:pt x="10363" y="8445"/>
                  <a:pt x="10356" y="8416"/>
                  <a:pt x="10334" y="8402"/>
                </a:cubicBezTo>
                <a:cubicBezTo>
                  <a:pt x="10326" y="8398"/>
                  <a:pt x="10318" y="8395"/>
                  <a:pt x="10309" y="8395"/>
                </a:cubicBezTo>
                <a:moveTo>
                  <a:pt x="668" y="8077"/>
                </a:moveTo>
                <a:cubicBezTo>
                  <a:pt x="661" y="8077"/>
                  <a:pt x="654" y="8078"/>
                  <a:pt x="647" y="8082"/>
                </a:cubicBezTo>
                <a:cubicBezTo>
                  <a:pt x="624" y="8094"/>
                  <a:pt x="614" y="8123"/>
                  <a:pt x="626" y="8146"/>
                </a:cubicBezTo>
                <a:cubicBezTo>
                  <a:pt x="635" y="8162"/>
                  <a:pt x="651" y="8171"/>
                  <a:pt x="669" y="8171"/>
                </a:cubicBezTo>
                <a:cubicBezTo>
                  <a:pt x="676" y="8171"/>
                  <a:pt x="683" y="8170"/>
                  <a:pt x="690" y="8166"/>
                </a:cubicBezTo>
                <a:cubicBezTo>
                  <a:pt x="713" y="8154"/>
                  <a:pt x="722" y="8125"/>
                  <a:pt x="710" y="8102"/>
                </a:cubicBezTo>
                <a:cubicBezTo>
                  <a:pt x="702" y="8086"/>
                  <a:pt x="685" y="8077"/>
                  <a:pt x="668" y="8077"/>
                </a:cubicBezTo>
                <a:moveTo>
                  <a:pt x="10494" y="8066"/>
                </a:moveTo>
                <a:cubicBezTo>
                  <a:pt x="10477" y="8066"/>
                  <a:pt x="10461" y="8075"/>
                  <a:pt x="10452" y="8091"/>
                </a:cubicBezTo>
                <a:cubicBezTo>
                  <a:pt x="10440" y="8114"/>
                  <a:pt x="10450" y="8143"/>
                  <a:pt x="10473" y="8155"/>
                </a:cubicBezTo>
                <a:cubicBezTo>
                  <a:pt x="10480" y="8159"/>
                  <a:pt x="10487" y="8160"/>
                  <a:pt x="10494" y="8160"/>
                </a:cubicBezTo>
                <a:cubicBezTo>
                  <a:pt x="10512" y="8160"/>
                  <a:pt x="10528" y="8151"/>
                  <a:pt x="10536" y="8135"/>
                </a:cubicBezTo>
                <a:cubicBezTo>
                  <a:pt x="10548" y="8112"/>
                  <a:pt x="10539" y="8083"/>
                  <a:pt x="10516" y="8071"/>
                </a:cubicBezTo>
                <a:cubicBezTo>
                  <a:pt x="10509" y="8068"/>
                  <a:pt x="10502" y="8066"/>
                  <a:pt x="10494" y="8066"/>
                </a:cubicBezTo>
                <a:moveTo>
                  <a:pt x="506" y="7736"/>
                </a:moveTo>
                <a:cubicBezTo>
                  <a:pt x="500" y="7736"/>
                  <a:pt x="493" y="7738"/>
                  <a:pt x="487" y="7740"/>
                </a:cubicBezTo>
                <a:cubicBezTo>
                  <a:pt x="463" y="7751"/>
                  <a:pt x="452" y="7779"/>
                  <a:pt x="463" y="7802"/>
                </a:cubicBezTo>
                <a:cubicBezTo>
                  <a:pt x="470" y="7820"/>
                  <a:pt x="488" y="7831"/>
                  <a:pt x="506" y="7831"/>
                </a:cubicBezTo>
                <a:cubicBezTo>
                  <a:pt x="512" y="7831"/>
                  <a:pt x="519" y="7830"/>
                  <a:pt x="525" y="7827"/>
                </a:cubicBezTo>
                <a:cubicBezTo>
                  <a:pt x="549" y="7817"/>
                  <a:pt x="560" y="7789"/>
                  <a:pt x="549" y="7765"/>
                </a:cubicBezTo>
                <a:cubicBezTo>
                  <a:pt x="541" y="7747"/>
                  <a:pt x="524" y="7736"/>
                  <a:pt x="506" y="7736"/>
                </a:cubicBezTo>
                <a:moveTo>
                  <a:pt x="10657" y="7725"/>
                </a:moveTo>
                <a:cubicBezTo>
                  <a:pt x="10638" y="7725"/>
                  <a:pt x="10621" y="7735"/>
                  <a:pt x="10613" y="7753"/>
                </a:cubicBezTo>
                <a:cubicBezTo>
                  <a:pt x="10603" y="7777"/>
                  <a:pt x="10614" y="7805"/>
                  <a:pt x="10638" y="7815"/>
                </a:cubicBezTo>
                <a:cubicBezTo>
                  <a:pt x="10644" y="7818"/>
                  <a:pt x="10650" y="7819"/>
                  <a:pt x="10657" y="7819"/>
                </a:cubicBezTo>
                <a:cubicBezTo>
                  <a:pt x="10675" y="7819"/>
                  <a:pt x="10692" y="7808"/>
                  <a:pt x="10700" y="7790"/>
                </a:cubicBezTo>
                <a:cubicBezTo>
                  <a:pt x="10710" y="7767"/>
                  <a:pt x="10699" y="7739"/>
                  <a:pt x="10675" y="7728"/>
                </a:cubicBezTo>
                <a:cubicBezTo>
                  <a:pt x="10669" y="7726"/>
                  <a:pt x="10663" y="7725"/>
                  <a:pt x="10657" y="7725"/>
                </a:cubicBezTo>
                <a:moveTo>
                  <a:pt x="367" y="7386"/>
                </a:moveTo>
                <a:cubicBezTo>
                  <a:pt x="362" y="7386"/>
                  <a:pt x="356" y="7387"/>
                  <a:pt x="351" y="7389"/>
                </a:cubicBezTo>
                <a:cubicBezTo>
                  <a:pt x="327" y="7397"/>
                  <a:pt x="314" y="7424"/>
                  <a:pt x="323" y="7449"/>
                </a:cubicBezTo>
                <a:cubicBezTo>
                  <a:pt x="330" y="7468"/>
                  <a:pt x="348" y="7480"/>
                  <a:pt x="367" y="7480"/>
                </a:cubicBezTo>
                <a:cubicBezTo>
                  <a:pt x="372" y="7480"/>
                  <a:pt x="378" y="7479"/>
                  <a:pt x="383" y="7478"/>
                </a:cubicBezTo>
                <a:cubicBezTo>
                  <a:pt x="407" y="7469"/>
                  <a:pt x="420" y="7442"/>
                  <a:pt x="411" y="7417"/>
                </a:cubicBezTo>
                <a:cubicBezTo>
                  <a:pt x="405" y="7398"/>
                  <a:pt x="387" y="7386"/>
                  <a:pt x="367" y="7386"/>
                </a:cubicBezTo>
                <a:moveTo>
                  <a:pt x="10795" y="7373"/>
                </a:moveTo>
                <a:cubicBezTo>
                  <a:pt x="10775" y="7373"/>
                  <a:pt x="10757" y="7385"/>
                  <a:pt x="10751" y="7404"/>
                </a:cubicBezTo>
                <a:cubicBezTo>
                  <a:pt x="10742" y="7429"/>
                  <a:pt x="10755" y="7456"/>
                  <a:pt x="10779" y="7465"/>
                </a:cubicBezTo>
                <a:cubicBezTo>
                  <a:pt x="10784" y="7466"/>
                  <a:pt x="10790" y="7467"/>
                  <a:pt x="10795" y="7467"/>
                </a:cubicBezTo>
                <a:cubicBezTo>
                  <a:pt x="10814" y="7467"/>
                  <a:pt x="10833" y="7455"/>
                  <a:pt x="10839" y="7436"/>
                </a:cubicBezTo>
                <a:cubicBezTo>
                  <a:pt x="10848" y="7411"/>
                  <a:pt x="10835" y="7384"/>
                  <a:pt x="10811" y="7375"/>
                </a:cubicBezTo>
                <a:cubicBezTo>
                  <a:pt x="10805" y="7374"/>
                  <a:pt x="10800" y="7373"/>
                  <a:pt x="10795" y="7373"/>
                </a:cubicBezTo>
                <a:moveTo>
                  <a:pt x="252" y="7026"/>
                </a:moveTo>
                <a:cubicBezTo>
                  <a:pt x="248" y="7026"/>
                  <a:pt x="244" y="7027"/>
                  <a:pt x="240" y="7028"/>
                </a:cubicBezTo>
                <a:cubicBezTo>
                  <a:pt x="215" y="7035"/>
                  <a:pt x="200" y="7061"/>
                  <a:pt x="207" y="7086"/>
                </a:cubicBezTo>
                <a:cubicBezTo>
                  <a:pt x="213" y="7107"/>
                  <a:pt x="232" y="7121"/>
                  <a:pt x="252" y="7121"/>
                </a:cubicBezTo>
                <a:cubicBezTo>
                  <a:pt x="257" y="7121"/>
                  <a:pt x="261" y="7120"/>
                  <a:pt x="265" y="7119"/>
                </a:cubicBezTo>
                <a:cubicBezTo>
                  <a:pt x="290" y="7112"/>
                  <a:pt x="305" y="7086"/>
                  <a:pt x="298" y="7061"/>
                </a:cubicBezTo>
                <a:cubicBezTo>
                  <a:pt x="292" y="7040"/>
                  <a:pt x="273" y="7026"/>
                  <a:pt x="252" y="7026"/>
                </a:cubicBezTo>
                <a:moveTo>
                  <a:pt x="10908" y="7013"/>
                </a:moveTo>
                <a:cubicBezTo>
                  <a:pt x="10888" y="7013"/>
                  <a:pt x="10869" y="7027"/>
                  <a:pt x="10863" y="7047"/>
                </a:cubicBezTo>
                <a:cubicBezTo>
                  <a:pt x="10856" y="7073"/>
                  <a:pt x="10871" y="7098"/>
                  <a:pt x="10896" y="7106"/>
                </a:cubicBezTo>
                <a:cubicBezTo>
                  <a:pt x="10900" y="7107"/>
                  <a:pt x="10905" y="7107"/>
                  <a:pt x="10909" y="7107"/>
                </a:cubicBezTo>
                <a:cubicBezTo>
                  <a:pt x="10929" y="7107"/>
                  <a:pt x="10948" y="7094"/>
                  <a:pt x="10954" y="7073"/>
                </a:cubicBezTo>
                <a:cubicBezTo>
                  <a:pt x="10961" y="7048"/>
                  <a:pt x="10946" y="7022"/>
                  <a:pt x="10921" y="7015"/>
                </a:cubicBezTo>
                <a:cubicBezTo>
                  <a:pt x="10917" y="7013"/>
                  <a:pt x="10913" y="7013"/>
                  <a:pt x="10908" y="7013"/>
                </a:cubicBezTo>
                <a:moveTo>
                  <a:pt x="163" y="6659"/>
                </a:moveTo>
                <a:cubicBezTo>
                  <a:pt x="160" y="6659"/>
                  <a:pt x="156" y="6660"/>
                  <a:pt x="153" y="6660"/>
                </a:cubicBezTo>
                <a:cubicBezTo>
                  <a:pt x="128" y="6666"/>
                  <a:pt x="111" y="6691"/>
                  <a:pt x="117" y="6717"/>
                </a:cubicBezTo>
                <a:cubicBezTo>
                  <a:pt x="121" y="6739"/>
                  <a:pt x="141" y="6754"/>
                  <a:pt x="163" y="6754"/>
                </a:cubicBezTo>
                <a:cubicBezTo>
                  <a:pt x="166" y="6754"/>
                  <a:pt x="169" y="6754"/>
                  <a:pt x="172" y="6753"/>
                </a:cubicBezTo>
                <a:cubicBezTo>
                  <a:pt x="198" y="6748"/>
                  <a:pt x="214" y="6722"/>
                  <a:pt x="209" y="6697"/>
                </a:cubicBezTo>
                <a:cubicBezTo>
                  <a:pt x="205" y="6675"/>
                  <a:pt x="185" y="6659"/>
                  <a:pt x="163" y="6659"/>
                </a:cubicBezTo>
                <a:moveTo>
                  <a:pt x="10997" y="6646"/>
                </a:moveTo>
                <a:cubicBezTo>
                  <a:pt x="10975" y="6646"/>
                  <a:pt x="10956" y="6661"/>
                  <a:pt x="10951" y="6684"/>
                </a:cubicBezTo>
                <a:cubicBezTo>
                  <a:pt x="10946" y="6709"/>
                  <a:pt x="10962" y="6734"/>
                  <a:pt x="10988" y="6739"/>
                </a:cubicBezTo>
                <a:cubicBezTo>
                  <a:pt x="10991" y="6740"/>
                  <a:pt x="10994" y="6740"/>
                  <a:pt x="10997" y="6740"/>
                </a:cubicBezTo>
                <a:cubicBezTo>
                  <a:pt x="11019" y="6740"/>
                  <a:pt x="11039" y="6725"/>
                  <a:pt x="11044" y="6703"/>
                </a:cubicBezTo>
                <a:cubicBezTo>
                  <a:pt x="11049" y="6677"/>
                  <a:pt x="11032" y="6652"/>
                  <a:pt x="11007" y="6647"/>
                </a:cubicBezTo>
                <a:cubicBezTo>
                  <a:pt x="11004" y="6646"/>
                  <a:pt x="11000" y="6646"/>
                  <a:pt x="10997" y="6646"/>
                </a:cubicBezTo>
                <a:moveTo>
                  <a:pt x="99" y="6288"/>
                </a:moveTo>
                <a:cubicBezTo>
                  <a:pt x="96" y="6288"/>
                  <a:pt x="94" y="6288"/>
                  <a:pt x="92" y="6288"/>
                </a:cubicBezTo>
                <a:cubicBezTo>
                  <a:pt x="66" y="6291"/>
                  <a:pt x="48" y="6315"/>
                  <a:pt x="52" y="6341"/>
                </a:cubicBezTo>
                <a:cubicBezTo>
                  <a:pt x="55" y="6365"/>
                  <a:pt x="75" y="6382"/>
                  <a:pt x="99" y="6382"/>
                </a:cubicBezTo>
                <a:cubicBezTo>
                  <a:pt x="101" y="6382"/>
                  <a:pt x="103" y="6382"/>
                  <a:pt x="105" y="6381"/>
                </a:cubicBezTo>
                <a:cubicBezTo>
                  <a:pt x="131" y="6378"/>
                  <a:pt x="149" y="6354"/>
                  <a:pt x="146" y="6328"/>
                </a:cubicBezTo>
                <a:cubicBezTo>
                  <a:pt x="142" y="6305"/>
                  <a:pt x="122" y="6288"/>
                  <a:pt x="99" y="6288"/>
                </a:cubicBezTo>
                <a:moveTo>
                  <a:pt x="11060" y="6274"/>
                </a:moveTo>
                <a:cubicBezTo>
                  <a:pt x="11037" y="6274"/>
                  <a:pt x="11017" y="6291"/>
                  <a:pt x="11014" y="6315"/>
                </a:cubicBezTo>
                <a:cubicBezTo>
                  <a:pt x="11010" y="6341"/>
                  <a:pt x="11028" y="6364"/>
                  <a:pt x="11054" y="6368"/>
                </a:cubicBezTo>
                <a:cubicBezTo>
                  <a:pt x="11056" y="6368"/>
                  <a:pt x="11059" y="6368"/>
                  <a:pt x="11061" y="6368"/>
                </a:cubicBezTo>
                <a:cubicBezTo>
                  <a:pt x="11084" y="6368"/>
                  <a:pt x="11104" y="6351"/>
                  <a:pt x="11107" y="6327"/>
                </a:cubicBezTo>
                <a:cubicBezTo>
                  <a:pt x="11111" y="6302"/>
                  <a:pt x="11093" y="6278"/>
                  <a:pt x="11067" y="6274"/>
                </a:cubicBezTo>
                <a:cubicBezTo>
                  <a:pt x="11065" y="6274"/>
                  <a:pt x="11062" y="6274"/>
                  <a:pt x="11060" y="6274"/>
                </a:cubicBezTo>
                <a:moveTo>
                  <a:pt x="60" y="5912"/>
                </a:moveTo>
                <a:cubicBezTo>
                  <a:pt x="59" y="5912"/>
                  <a:pt x="58" y="5912"/>
                  <a:pt x="57" y="5912"/>
                </a:cubicBezTo>
                <a:cubicBezTo>
                  <a:pt x="31" y="5914"/>
                  <a:pt x="11" y="5936"/>
                  <a:pt x="13" y="5962"/>
                </a:cubicBezTo>
                <a:cubicBezTo>
                  <a:pt x="15" y="5987"/>
                  <a:pt x="35" y="6006"/>
                  <a:pt x="60" y="6006"/>
                </a:cubicBezTo>
                <a:cubicBezTo>
                  <a:pt x="61" y="6006"/>
                  <a:pt x="62" y="6006"/>
                  <a:pt x="63" y="6006"/>
                </a:cubicBezTo>
                <a:cubicBezTo>
                  <a:pt x="89" y="6005"/>
                  <a:pt x="109" y="5982"/>
                  <a:pt x="107" y="5956"/>
                </a:cubicBezTo>
                <a:cubicBezTo>
                  <a:pt x="106" y="5931"/>
                  <a:pt x="85" y="5912"/>
                  <a:pt x="60" y="5912"/>
                </a:cubicBezTo>
                <a:moveTo>
                  <a:pt x="11098" y="5898"/>
                </a:moveTo>
                <a:cubicBezTo>
                  <a:pt x="11074" y="5898"/>
                  <a:pt x="11052" y="5917"/>
                  <a:pt x="11051" y="5942"/>
                </a:cubicBezTo>
                <a:cubicBezTo>
                  <a:pt x="11049" y="5968"/>
                  <a:pt x="11069" y="5991"/>
                  <a:pt x="11095" y="5993"/>
                </a:cubicBezTo>
                <a:cubicBezTo>
                  <a:pt x="11096" y="5993"/>
                  <a:pt x="11097" y="5993"/>
                  <a:pt x="11098" y="5993"/>
                </a:cubicBezTo>
                <a:cubicBezTo>
                  <a:pt x="11123" y="5993"/>
                  <a:pt x="11143" y="5973"/>
                  <a:pt x="11145" y="5949"/>
                </a:cubicBezTo>
                <a:cubicBezTo>
                  <a:pt x="11147" y="5922"/>
                  <a:pt x="11127" y="5900"/>
                  <a:pt x="11101" y="5898"/>
                </a:cubicBezTo>
                <a:cubicBezTo>
                  <a:pt x="11100" y="5898"/>
                  <a:pt x="11099" y="5898"/>
                  <a:pt x="11098" y="5898"/>
                </a:cubicBezTo>
                <a:moveTo>
                  <a:pt x="47" y="5535"/>
                </a:moveTo>
                <a:cubicBezTo>
                  <a:pt x="21" y="5535"/>
                  <a:pt x="0" y="5556"/>
                  <a:pt x="0" y="5582"/>
                </a:cubicBezTo>
                <a:cubicBezTo>
                  <a:pt x="0" y="5608"/>
                  <a:pt x="21" y="5629"/>
                  <a:pt x="47" y="5629"/>
                </a:cubicBezTo>
                <a:cubicBezTo>
                  <a:pt x="73" y="5629"/>
                  <a:pt x="95" y="5608"/>
                  <a:pt x="95" y="5582"/>
                </a:cubicBezTo>
                <a:cubicBezTo>
                  <a:pt x="94" y="5556"/>
                  <a:pt x="73" y="5535"/>
                  <a:pt x="47" y="5535"/>
                </a:cubicBezTo>
                <a:moveTo>
                  <a:pt x="11111" y="5521"/>
                </a:moveTo>
                <a:cubicBezTo>
                  <a:pt x="11111" y="5521"/>
                  <a:pt x="11110" y="5521"/>
                  <a:pt x="11110" y="5521"/>
                </a:cubicBezTo>
                <a:cubicBezTo>
                  <a:pt x="11084" y="5521"/>
                  <a:pt x="11063" y="5542"/>
                  <a:pt x="11063" y="5568"/>
                </a:cubicBezTo>
                <a:cubicBezTo>
                  <a:pt x="11063" y="5594"/>
                  <a:pt x="11084" y="5615"/>
                  <a:pt x="11110" y="5615"/>
                </a:cubicBezTo>
                <a:cubicBezTo>
                  <a:pt x="11136" y="5615"/>
                  <a:pt x="11157" y="5594"/>
                  <a:pt x="11157" y="5568"/>
                </a:cubicBezTo>
                <a:cubicBezTo>
                  <a:pt x="11157" y="5542"/>
                  <a:pt x="11137" y="5521"/>
                  <a:pt x="11111" y="5521"/>
                </a:cubicBezTo>
                <a:moveTo>
                  <a:pt x="59" y="5158"/>
                </a:moveTo>
                <a:cubicBezTo>
                  <a:pt x="35" y="5158"/>
                  <a:pt x="14" y="5177"/>
                  <a:pt x="12" y="5201"/>
                </a:cubicBezTo>
                <a:cubicBezTo>
                  <a:pt x="11" y="5228"/>
                  <a:pt x="30" y="5250"/>
                  <a:pt x="57" y="5252"/>
                </a:cubicBezTo>
                <a:cubicBezTo>
                  <a:pt x="57" y="5252"/>
                  <a:pt x="59" y="5252"/>
                  <a:pt x="60" y="5252"/>
                </a:cubicBezTo>
                <a:cubicBezTo>
                  <a:pt x="84" y="5252"/>
                  <a:pt x="105" y="5233"/>
                  <a:pt x="107" y="5208"/>
                </a:cubicBezTo>
                <a:cubicBezTo>
                  <a:pt x="108" y="5182"/>
                  <a:pt x="89" y="5159"/>
                  <a:pt x="63" y="5158"/>
                </a:cubicBezTo>
                <a:cubicBezTo>
                  <a:pt x="62" y="5158"/>
                  <a:pt x="61" y="5158"/>
                  <a:pt x="59" y="5158"/>
                </a:cubicBezTo>
                <a:moveTo>
                  <a:pt x="11097" y="5144"/>
                </a:moveTo>
                <a:cubicBezTo>
                  <a:pt x="11096" y="5144"/>
                  <a:pt x="11095" y="5144"/>
                  <a:pt x="11093" y="5144"/>
                </a:cubicBezTo>
                <a:cubicBezTo>
                  <a:pt x="11067" y="5145"/>
                  <a:pt x="11048" y="5168"/>
                  <a:pt x="11049" y="5194"/>
                </a:cubicBezTo>
                <a:cubicBezTo>
                  <a:pt x="11050" y="5194"/>
                  <a:pt x="11050" y="5194"/>
                  <a:pt x="11050" y="5194"/>
                </a:cubicBezTo>
                <a:cubicBezTo>
                  <a:pt x="11051" y="5219"/>
                  <a:pt x="11072" y="5238"/>
                  <a:pt x="11097" y="5238"/>
                </a:cubicBezTo>
                <a:cubicBezTo>
                  <a:pt x="11098" y="5238"/>
                  <a:pt x="11099" y="5238"/>
                  <a:pt x="11100" y="5238"/>
                </a:cubicBezTo>
                <a:cubicBezTo>
                  <a:pt x="11126" y="5236"/>
                  <a:pt x="11146" y="5213"/>
                  <a:pt x="11144" y="5188"/>
                </a:cubicBezTo>
                <a:cubicBezTo>
                  <a:pt x="11142" y="5163"/>
                  <a:pt x="11122" y="5144"/>
                  <a:pt x="11097" y="5144"/>
                </a:cubicBezTo>
                <a:moveTo>
                  <a:pt x="98" y="4782"/>
                </a:moveTo>
                <a:cubicBezTo>
                  <a:pt x="74" y="4782"/>
                  <a:pt x="54" y="4799"/>
                  <a:pt x="51" y="4823"/>
                </a:cubicBezTo>
                <a:cubicBezTo>
                  <a:pt x="47" y="4849"/>
                  <a:pt x="66" y="4872"/>
                  <a:pt x="91" y="4876"/>
                </a:cubicBezTo>
                <a:cubicBezTo>
                  <a:pt x="94" y="4876"/>
                  <a:pt x="96" y="4876"/>
                  <a:pt x="98" y="4876"/>
                </a:cubicBezTo>
                <a:cubicBezTo>
                  <a:pt x="121" y="4876"/>
                  <a:pt x="141" y="4859"/>
                  <a:pt x="144" y="4836"/>
                </a:cubicBezTo>
                <a:cubicBezTo>
                  <a:pt x="148" y="4810"/>
                  <a:pt x="130" y="4786"/>
                  <a:pt x="104" y="4782"/>
                </a:cubicBezTo>
                <a:cubicBezTo>
                  <a:pt x="102" y="4782"/>
                  <a:pt x="100" y="4782"/>
                  <a:pt x="98" y="4782"/>
                </a:cubicBezTo>
                <a:moveTo>
                  <a:pt x="11058" y="4768"/>
                </a:moveTo>
                <a:cubicBezTo>
                  <a:pt x="11056" y="4768"/>
                  <a:pt x="11053" y="4768"/>
                  <a:pt x="11051" y="4769"/>
                </a:cubicBezTo>
                <a:cubicBezTo>
                  <a:pt x="11025" y="4772"/>
                  <a:pt x="11007" y="4796"/>
                  <a:pt x="11011" y="4822"/>
                </a:cubicBezTo>
                <a:cubicBezTo>
                  <a:pt x="11014" y="4846"/>
                  <a:pt x="11035" y="4863"/>
                  <a:pt x="11058" y="4863"/>
                </a:cubicBezTo>
                <a:cubicBezTo>
                  <a:pt x="11060" y="4863"/>
                  <a:pt x="11062" y="4862"/>
                  <a:pt x="11064" y="4862"/>
                </a:cubicBezTo>
                <a:cubicBezTo>
                  <a:pt x="11090" y="4859"/>
                  <a:pt x="11108" y="4835"/>
                  <a:pt x="11104" y="4809"/>
                </a:cubicBezTo>
                <a:cubicBezTo>
                  <a:pt x="11101" y="4785"/>
                  <a:pt x="11081" y="4768"/>
                  <a:pt x="11058" y="4768"/>
                </a:cubicBezTo>
                <a:moveTo>
                  <a:pt x="161" y="4410"/>
                </a:moveTo>
                <a:cubicBezTo>
                  <a:pt x="139" y="4410"/>
                  <a:pt x="120" y="4425"/>
                  <a:pt x="115" y="4448"/>
                </a:cubicBezTo>
                <a:cubicBezTo>
                  <a:pt x="110" y="4473"/>
                  <a:pt x="126" y="4498"/>
                  <a:pt x="152" y="4503"/>
                </a:cubicBezTo>
                <a:cubicBezTo>
                  <a:pt x="155" y="4504"/>
                  <a:pt x="158" y="4504"/>
                  <a:pt x="161" y="4504"/>
                </a:cubicBezTo>
                <a:cubicBezTo>
                  <a:pt x="183" y="4504"/>
                  <a:pt x="203" y="4489"/>
                  <a:pt x="208" y="4467"/>
                </a:cubicBezTo>
                <a:cubicBezTo>
                  <a:pt x="213" y="4441"/>
                  <a:pt x="197" y="4416"/>
                  <a:pt x="171" y="4411"/>
                </a:cubicBezTo>
                <a:cubicBezTo>
                  <a:pt x="168" y="4410"/>
                  <a:pt x="164" y="4410"/>
                  <a:pt x="161" y="4410"/>
                </a:cubicBezTo>
                <a:moveTo>
                  <a:pt x="10993" y="4396"/>
                </a:moveTo>
                <a:cubicBezTo>
                  <a:pt x="10990" y="4396"/>
                  <a:pt x="10987" y="4397"/>
                  <a:pt x="10983" y="4397"/>
                </a:cubicBezTo>
                <a:cubicBezTo>
                  <a:pt x="10958" y="4403"/>
                  <a:pt x="10941" y="4428"/>
                  <a:pt x="10947" y="4453"/>
                </a:cubicBezTo>
                <a:cubicBezTo>
                  <a:pt x="10951" y="4475"/>
                  <a:pt x="10971" y="4491"/>
                  <a:pt x="10993" y="4491"/>
                </a:cubicBezTo>
                <a:cubicBezTo>
                  <a:pt x="10996" y="4491"/>
                  <a:pt x="10999" y="4490"/>
                  <a:pt x="11003" y="4490"/>
                </a:cubicBezTo>
                <a:cubicBezTo>
                  <a:pt x="11028" y="4484"/>
                  <a:pt x="11045" y="4459"/>
                  <a:pt x="11039" y="4434"/>
                </a:cubicBezTo>
                <a:cubicBezTo>
                  <a:pt x="11035" y="4412"/>
                  <a:pt x="11015" y="4396"/>
                  <a:pt x="10993" y="4396"/>
                </a:cubicBezTo>
                <a:moveTo>
                  <a:pt x="250" y="4043"/>
                </a:moveTo>
                <a:cubicBezTo>
                  <a:pt x="230" y="4043"/>
                  <a:pt x="211" y="4057"/>
                  <a:pt x="205" y="4077"/>
                </a:cubicBezTo>
                <a:cubicBezTo>
                  <a:pt x="205" y="4078"/>
                  <a:pt x="205" y="4078"/>
                  <a:pt x="205" y="4078"/>
                </a:cubicBezTo>
                <a:cubicBezTo>
                  <a:pt x="198" y="4103"/>
                  <a:pt x="213" y="4129"/>
                  <a:pt x="238" y="4136"/>
                </a:cubicBezTo>
                <a:cubicBezTo>
                  <a:pt x="242" y="4137"/>
                  <a:pt x="246" y="4138"/>
                  <a:pt x="250" y="4138"/>
                </a:cubicBezTo>
                <a:cubicBezTo>
                  <a:pt x="271" y="4138"/>
                  <a:pt x="290" y="4124"/>
                  <a:pt x="296" y="4103"/>
                </a:cubicBezTo>
                <a:cubicBezTo>
                  <a:pt x="303" y="4078"/>
                  <a:pt x="288" y="4052"/>
                  <a:pt x="263" y="4045"/>
                </a:cubicBezTo>
                <a:cubicBezTo>
                  <a:pt x="259" y="4044"/>
                  <a:pt x="255" y="4043"/>
                  <a:pt x="250" y="4043"/>
                </a:cubicBezTo>
                <a:moveTo>
                  <a:pt x="10903" y="4030"/>
                </a:moveTo>
                <a:cubicBezTo>
                  <a:pt x="10899" y="4030"/>
                  <a:pt x="10894" y="4030"/>
                  <a:pt x="10890" y="4031"/>
                </a:cubicBezTo>
                <a:cubicBezTo>
                  <a:pt x="10865" y="4039"/>
                  <a:pt x="10851" y="4064"/>
                  <a:pt x="10858" y="4090"/>
                </a:cubicBezTo>
                <a:cubicBezTo>
                  <a:pt x="10864" y="4110"/>
                  <a:pt x="10882" y="4124"/>
                  <a:pt x="10903" y="4124"/>
                </a:cubicBezTo>
                <a:cubicBezTo>
                  <a:pt x="10907" y="4124"/>
                  <a:pt x="10912" y="4124"/>
                  <a:pt x="10916" y="4122"/>
                </a:cubicBezTo>
                <a:cubicBezTo>
                  <a:pt x="10941" y="4115"/>
                  <a:pt x="10956" y="4089"/>
                  <a:pt x="10949" y="4064"/>
                </a:cubicBezTo>
                <a:cubicBezTo>
                  <a:pt x="10943" y="4043"/>
                  <a:pt x="10924" y="4030"/>
                  <a:pt x="10903" y="4030"/>
                </a:cubicBezTo>
                <a:moveTo>
                  <a:pt x="365" y="3683"/>
                </a:moveTo>
                <a:cubicBezTo>
                  <a:pt x="345" y="3683"/>
                  <a:pt x="327" y="3695"/>
                  <a:pt x="320" y="3715"/>
                </a:cubicBezTo>
                <a:cubicBezTo>
                  <a:pt x="311" y="3739"/>
                  <a:pt x="324" y="3766"/>
                  <a:pt x="349" y="3775"/>
                </a:cubicBezTo>
                <a:cubicBezTo>
                  <a:pt x="354" y="3777"/>
                  <a:pt x="359" y="3778"/>
                  <a:pt x="365" y="3778"/>
                </a:cubicBezTo>
                <a:cubicBezTo>
                  <a:pt x="384" y="3778"/>
                  <a:pt x="402" y="3766"/>
                  <a:pt x="409" y="3746"/>
                </a:cubicBezTo>
                <a:cubicBezTo>
                  <a:pt x="418" y="3722"/>
                  <a:pt x="405" y="3695"/>
                  <a:pt x="381" y="3686"/>
                </a:cubicBezTo>
                <a:cubicBezTo>
                  <a:pt x="375" y="3684"/>
                  <a:pt x="370" y="3683"/>
                  <a:pt x="365" y="3683"/>
                </a:cubicBezTo>
                <a:moveTo>
                  <a:pt x="10788" y="3670"/>
                </a:moveTo>
                <a:cubicBezTo>
                  <a:pt x="10783" y="3670"/>
                  <a:pt x="10777" y="3671"/>
                  <a:pt x="10772" y="3673"/>
                </a:cubicBezTo>
                <a:cubicBezTo>
                  <a:pt x="10747" y="3682"/>
                  <a:pt x="10735" y="3709"/>
                  <a:pt x="10744" y="3733"/>
                </a:cubicBezTo>
                <a:cubicBezTo>
                  <a:pt x="10751" y="3752"/>
                  <a:pt x="10769" y="3764"/>
                  <a:pt x="10788" y="3764"/>
                </a:cubicBezTo>
                <a:cubicBezTo>
                  <a:pt x="10793" y="3764"/>
                  <a:pt x="10799" y="3764"/>
                  <a:pt x="10804" y="3762"/>
                </a:cubicBezTo>
                <a:cubicBezTo>
                  <a:pt x="10829" y="3753"/>
                  <a:pt x="10841" y="3726"/>
                  <a:pt x="10832" y="3701"/>
                </a:cubicBezTo>
                <a:cubicBezTo>
                  <a:pt x="10826" y="3682"/>
                  <a:pt x="10807" y="3670"/>
                  <a:pt x="10788" y="3670"/>
                </a:cubicBezTo>
                <a:moveTo>
                  <a:pt x="503" y="3332"/>
                </a:moveTo>
                <a:cubicBezTo>
                  <a:pt x="485" y="3332"/>
                  <a:pt x="468" y="3342"/>
                  <a:pt x="460" y="3360"/>
                </a:cubicBezTo>
                <a:cubicBezTo>
                  <a:pt x="450" y="3384"/>
                  <a:pt x="461" y="3412"/>
                  <a:pt x="484" y="3422"/>
                </a:cubicBezTo>
                <a:cubicBezTo>
                  <a:pt x="491" y="3425"/>
                  <a:pt x="497" y="3426"/>
                  <a:pt x="503" y="3426"/>
                </a:cubicBezTo>
                <a:cubicBezTo>
                  <a:pt x="522" y="3426"/>
                  <a:pt x="539" y="3416"/>
                  <a:pt x="547" y="3398"/>
                </a:cubicBezTo>
                <a:cubicBezTo>
                  <a:pt x="557" y="3374"/>
                  <a:pt x="546" y="3346"/>
                  <a:pt x="522" y="3336"/>
                </a:cubicBezTo>
                <a:cubicBezTo>
                  <a:pt x="516" y="3333"/>
                  <a:pt x="510" y="3332"/>
                  <a:pt x="503" y="3332"/>
                </a:cubicBezTo>
                <a:moveTo>
                  <a:pt x="10648" y="3320"/>
                </a:moveTo>
                <a:cubicBezTo>
                  <a:pt x="10642" y="3320"/>
                  <a:pt x="10636" y="3321"/>
                  <a:pt x="10630" y="3324"/>
                </a:cubicBezTo>
                <a:cubicBezTo>
                  <a:pt x="10606" y="3334"/>
                  <a:pt x="10595" y="3362"/>
                  <a:pt x="10605" y="3386"/>
                </a:cubicBezTo>
                <a:cubicBezTo>
                  <a:pt x="10613" y="3404"/>
                  <a:pt x="10631" y="3414"/>
                  <a:pt x="10649" y="3414"/>
                </a:cubicBezTo>
                <a:cubicBezTo>
                  <a:pt x="10655" y="3414"/>
                  <a:pt x="10661" y="3413"/>
                  <a:pt x="10668" y="3410"/>
                </a:cubicBezTo>
                <a:cubicBezTo>
                  <a:pt x="10692" y="3400"/>
                  <a:pt x="10702" y="3372"/>
                  <a:pt x="10692" y="3348"/>
                </a:cubicBezTo>
                <a:cubicBezTo>
                  <a:pt x="10684" y="3330"/>
                  <a:pt x="10667" y="3320"/>
                  <a:pt x="10648" y="3320"/>
                </a:cubicBezTo>
                <a:moveTo>
                  <a:pt x="666" y="2991"/>
                </a:moveTo>
                <a:cubicBezTo>
                  <a:pt x="649" y="2991"/>
                  <a:pt x="633" y="3000"/>
                  <a:pt x="624" y="3016"/>
                </a:cubicBezTo>
                <a:cubicBezTo>
                  <a:pt x="612" y="3039"/>
                  <a:pt x="621" y="3068"/>
                  <a:pt x="644" y="3080"/>
                </a:cubicBezTo>
                <a:cubicBezTo>
                  <a:pt x="651" y="3083"/>
                  <a:pt x="659" y="3085"/>
                  <a:pt x="666" y="3085"/>
                </a:cubicBezTo>
                <a:cubicBezTo>
                  <a:pt x="683" y="3085"/>
                  <a:pt x="699" y="3076"/>
                  <a:pt x="708" y="3059"/>
                </a:cubicBezTo>
                <a:cubicBezTo>
                  <a:pt x="720" y="3036"/>
                  <a:pt x="711" y="3008"/>
                  <a:pt x="688" y="2996"/>
                </a:cubicBezTo>
                <a:cubicBezTo>
                  <a:pt x="681" y="2992"/>
                  <a:pt x="673" y="2991"/>
                  <a:pt x="666" y="2991"/>
                </a:cubicBezTo>
                <a:moveTo>
                  <a:pt x="10486" y="2980"/>
                </a:moveTo>
                <a:cubicBezTo>
                  <a:pt x="10478" y="2980"/>
                  <a:pt x="10471" y="2981"/>
                  <a:pt x="10464" y="2985"/>
                </a:cubicBezTo>
                <a:cubicBezTo>
                  <a:pt x="10441" y="2997"/>
                  <a:pt x="10432" y="3026"/>
                  <a:pt x="10444" y="3049"/>
                </a:cubicBezTo>
                <a:cubicBezTo>
                  <a:pt x="10452" y="3065"/>
                  <a:pt x="10469" y="3074"/>
                  <a:pt x="10486" y="3074"/>
                </a:cubicBezTo>
                <a:cubicBezTo>
                  <a:pt x="10493" y="3074"/>
                  <a:pt x="10501" y="3072"/>
                  <a:pt x="10508" y="3069"/>
                </a:cubicBezTo>
                <a:cubicBezTo>
                  <a:pt x="10531" y="3057"/>
                  <a:pt x="10540" y="3028"/>
                  <a:pt x="10528" y="3005"/>
                </a:cubicBezTo>
                <a:cubicBezTo>
                  <a:pt x="10519" y="2989"/>
                  <a:pt x="10503" y="2980"/>
                  <a:pt x="10486" y="2980"/>
                </a:cubicBezTo>
                <a:moveTo>
                  <a:pt x="852" y="2661"/>
                </a:moveTo>
                <a:cubicBezTo>
                  <a:pt x="836" y="2661"/>
                  <a:pt x="820" y="2669"/>
                  <a:pt x="811" y="2684"/>
                </a:cubicBezTo>
                <a:cubicBezTo>
                  <a:pt x="798" y="2706"/>
                  <a:pt x="805" y="2735"/>
                  <a:pt x="827" y="2749"/>
                </a:cubicBezTo>
                <a:cubicBezTo>
                  <a:pt x="835" y="2753"/>
                  <a:pt x="843" y="2756"/>
                  <a:pt x="852" y="2756"/>
                </a:cubicBezTo>
                <a:cubicBezTo>
                  <a:pt x="867" y="2756"/>
                  <a:pt x="883" y="2748"/>
                  <a:pt x="892" y="2733"/>
                </a:cubicBezTo>
                <a:cubicBezTo>
                  <a:pt x="905" y="2711"/>
                  <a:pt x="898" y="2682"/>
                  <a:pt x="876" y="2668"/>
                </a:cubicBezTo>
                <a:cubicBezTo>
                  <a:pt x="868" y="2663"/>
                  <a:pt x="860" y="2661"/>
                  <a:pt x="852" y="2661"/>
                </a:cubicBezTo>
                <a:moveTo>
                  <a:pt x="10300" y="2651"/>
                </a:moveTo>
                <a:cubicBezTo>
                  <a:pt x="10291" y="2651"/>
                  <a:pt x="10283" y="2654"/>
                  <a:pt x="10275" y="2658"/>
                </a:cubicBezTo>
                <a:cubicBezTo>
                  <a:pt x="10253" y="2672"/>
                  <a:pt x="10246" y="2701"/>
                  <a:pt x="10260" y="2723"/>
                </a:cubicBezTo>
                <a:cubicBezTo>
                  <a:pt x="10269" y="2738"/>
                  <a:pt x="10284" y="2746"/>
                  <a:pt x="10300" y="2746"/>
                </a:cubicBezTo>
                <a:cubicBezTo>
                  <a:pt x="10308" y="2746"/>
                  <a:pt x="10317" y="2744"/>
                  <a:pt x="10325" y="2739"/>
                </a:cubicBezTo>
                <a:cubicBezTo>
                  <a:pt x="10347" y="2725"/>
                  <a:pt x="10354" y="2696"/>
                  <a:pt x="10340" y="2674"/>
                </a:cubicBezTo>
                <a:cubicBezTo>
                  <a:pt x="10331" y="2659"/>
                  <a:pt x="10316" y="2651"/>
                  <a:pt x="10300" y="2651"/>
                </a:cubicBezTo>
                <a:moveTo>
                  <a:pt x="1059" y="2346"/>
                </a:moveTo>
                <a:cubicBezTo>
                  <a:pt x="1044" y="2346"/>
                  <a:pt x="1030" y="2353"/>
                  <a:pt x="1020" y="2366"/>
                </a:cubicBezTo>
                <a:cubicBezTo>
                  <a:pt x="1005" y="2387"/>
                  <a:pt x="1010" y="2416"/>
                  <a:pt x="1032" y="2431"/>
                </a:cubicBezTo>
                <a:cubicBezTo>
                  <a:pt x="1040" y="2437"/>
                  <a:pt x="1050" y="2440"/>
                  <a:pt x="1059" y="2440"/>
                </a:cubicBezTo>
                <a:cubicBezTo>
                  <a:pt x="1074" y="2440"/>
                  <a:pt x="1088" y="2433"/>
                  <a:pt x="1097" y="2420"/>
                </a:cubicBezTo>
                <a:cubicBezTo>
                  <a:pt x="1113" y="2399"/>
                  <a:pt x="1108" y="2369"/>
                  <a:pt x="1086" y="2354"/>
                </a:cubicBezTo>
                <a:cubicBezTo>
                  <a:pt x="1078" y="2348"/>
                  <a:pt x="1069" y="2346"/>
                  <a:pt x="1059" y="2346"/>
                </a:cubicBezTo>
                <a:moveTo>
                  <a:pt x="10092" y="2337"/>
                </a:moveTo>
                <a:cubicBezTo>
                  <a:pt x="10083" y="2337"/>
                  <a:pt x="10073" y="2339"/>
                  <a:pt x="10065" y="2345"/>
                </a:cubicBezTo>
                <a:cubicBezTo>
                  <a:pt x="10043" y="2360"/>
                  <a:pt x="10038" y="2390"/>
                  <a:pt x="10053" y="2411"/>
                </a:cubicBezTo>
                <a:cubicBezTo>
                  <a:pt x="10063" y="2424"/>
                  <a:pt x="10077" y="2431"/>
                  <a:pt x="10092" y="2431"/>
                </a:cubicBezTo>
                <a:cubicBezTo>
                  <a:pt x="10101" y="2431"/>
                  <a:pt x="10111" y="2428"/>
                  <a:pt x="10119" y="2422"/>
                </a:cubicBezTo>
                <a:cubicBezTo>
                  <a:pt x="10141" y="2407"/>
                  <a:pt x="10145" y="2378"/>
                  <a:pt x="10131" y="2356"/>
                </a:cubicBezTo>
                <a:cubicBezTo>
                  <a:pt x="10121" y="2343"/>
                  <a:pt x="10107" y="2337"/>
                  <a:pt x="10092" y="2337"/>
                </a:cubicBezTo>
                <a:moveTo>
                  <a:pt x="1287" y="2045"/>
                </a:moveTo>
                <a:cubicBezTo>
                  <a:pt x="1274" y="2045"/>
                  <a:pt x="1260" y="2051"/>
                  <a:pt x="1251" y="2062"/>
                </a:cubicBezTo>
                <a:cubicBezTo>
                  <a:pt x="1234" y="2082"/>
                  <a:pt x="1237" y="2112"/>
                  <a:pt x="1257" y="2129"/>
                </a:cubicBezTo>
                <a:cubicBezTo>
                  <a:pt x="1266" y="2136"/>
                  <a:pt x="1277" y="2139"/>
                  <a:pt x="1287" y="2139"/>
                </a:cubicBezTo>
                <a:cubicBezTo>
                  <a:pt x="1301" y="2139"/>
                  <a:pt x="1315" y="2133"/>
                  <a:pt x="1324" y="2122"/>
                </a:cubicBezTo>
                <a:cubicBezTo>
                  <a:pt x="1340" y="2102"/>
                  <a:pt x="1337" y="2072"/>
                  <a:pt x="1317" y="2055"/>
                </a:cubicBezTo>
                <a:cubicBezTo>
                  <a:pt x="1308" y="2048"/>
                  <a:pt x="1298" y="2045"/>
                  <a:pt x="1287" y="2045"/>
                </a:cubicBezTo>
                <a:moveTo>
                  <a:pt x="9863" y="2036"/>
                </a:moveTo>
                <a:cubicBezTo>
                  <a:pt x="9853" y="2036"/>
                  <a:pt x="9842" y="2040"/>
                  <a:pt x="9833" y="2047"/>
                </a:cubicBezTo>
                <a:cubicBezTo>
                  <a:pt x="9813" y="2064"/>
                  <a:pt x="9810" y="2093"/>
                  <a:pt x="9826" y="2113"/>
                </a:cubicBezTo>
                <a:cubicBezTo>
                  <a:pt x="9836" y="2125"/>
                  <a:pt x="9849" y="2131"/>
                  <a:pt x="9863" y="2131"/>
                </a:cubicBezTo>
                <a:cubicBezTo>
                  <a:pt x="9874" y="2131"/>
                  <a:pt x="9884" y="2127"/>
                  <a:pt x="9893" y="2120"/>
                </a:cubicBezTo>
                <a:cubicBezTo>
                  <a:pt x="9913" y="2104"/>
                  <a:pt x="9916" y="2074"/>
                  <a:pt x="9900" y="2054"/>
                </a:cubicBezTo>
                <a:cubicBezTo>
                  <a:pt x="9890" y="2042"/>
                  <a:pt x="9877" y="2036"/>
                  <a:pt x="9863" y="2036"/>
                </a:cubicBezTo>
                <a:moveTo>
                  <a:pt x="1535" y="1760"/>
                </a:moveTo>
                <a:cubicBezTo>
                  <a:pt x="1523" y="1760"/>
                  <a:pt x="1510" y="1765"/>
                  <a:pt x="1501" y="1775"/>
                </a:cubicBezTo>
                <a:cubicBezTo>
                  <a:pt x="1483" y="1794"/>
                  <a:pt x="1484" y="1824"/>
                  <a:pt x="1503" y="1842"/>
                </a:cubicBezTo>
                <a:cubicBezTo>
                  <a:pt x="1512" y="1850"/>
                  <a:pt x="1524" y="1855"/>
                  <a:pt x="1535" y="1855"/>
                </a:cubicBezTo>
                <a:cubicBezTo>
                  <a:pt x="1548" y="1855"/>
                  <a:pt x="1561" y="1849"/>
                  <a:pt x="1570" y="1840"/>
                </a:cubicBezTo>
                <a:cubicBezTo>
                  <a:pt x="1588" y="1821"/>
                  <a:pt x="1587" y="1791"/>
                  <a:pt x="1568" y="1773"/>
                </a:cubicBezTo>
                <a:cubicBezTo>
                  <a:pt x="1558" y="1764"/>
                  <a:pt x="1547" y="1760"/>
                  <a:pt x="1535" y="1760"/>
                </a:cubicBezTo>
                <a:moveTo>
                  <a:pt x="9615" y="1752"/>
                </a:moveTo>
                <a:cubicBezTo>
                  <a:pt x="9603" y="1752"/>
                  <a:pt x="9591" y="1757"/>
                  <a:pt x="9582" y="1765"/>
                </a:cubicBezTo>
                <a:cubicBezTo>
                  <a:pt x="9563" y="1783"/>
                  <a:pt x="9562" y="1813"/>
                  <a:pt x="9580" y="1832"/>
                </a:cubicBezTo>
                <a:cubicBezTo>
                  <a:pt x="9589" y="1842"/>
                  <a:pt x="9602" y="1847"/>
                  <a:pt x="9615" y="1847"/>
                </a:cubicBezTo>
                <a:cubicBezTo>
                  <a:pt x="9626" y="1847"/>
                  <a:pt x="9638" y="1843"/>
                  <a:pt x="9647" y="1834"/>
                </a:cubicBezTo>
                <a:cubicBezTo>
                  <a:pt x="9666" y="1816"/>
                  <a:pt x="9667" y="1786"/>
                  <a:pt x="9649" y="1767"/>
                </a:cubicBezTo>
                <a:cubicBezTo>
                  <a:pt x="9640" y="1757"/>
                  <a:pt x="9627" y="1752"/>
                  <a:pt x="9615" y="1752"/>
                </a:cubicBezTo>
                <a:moveTo>
                  <a:pt x="1802" y="1493"/>
                </a:moveTo>
                <a:cubicBezTo>
                  <a:pt x="1791" y="1493"/>
                  <a:pt x="1779" y="1497"/>
                  <a:pt x="1770" y="1506"/>
                </a:cubicBezTo>
                <a:cubicBezTo>
                  <a:pt x="1751" y="1524"/>
                  <a:pt x="1750" y="1554"/>
                  <a:pt x="1768" y="1572"/>
                </a:cubicBezTo>
                <a:cubicBezTo>
                  <a:pt x="1777" y="1582"/>
                  <a:pt x="1789" y="1588"/>
                  <a:pt x="1802" y="1588"/>
                </a:cubicBezTo>
                <a:cubicBezTo>
                  <a:pt x="1814" y="1588"/>
                  <a:pt x="1825" y="1583"/>
                  <a:pt x="1835" y="1575"/>
                </a:cubicBezTo>
                <a:cubicBezTo>
                  <a:pt x="1853" y="1557"/>
                  <a:pt x="1855" y="1527"/>
                  <a:pt x="1837" y="1508"/>
                </a:cubicBezTo>
                <a:cubicBezTo>
                  <a:pt x="1827" y="1498"/>
                  <a:pt x="1815" y="1493"/>
                  <a:pt x="1802" y="1493"/>
                </a:cubicBezTo>
                <a:moveTo>
                  <a:pt x="9347" y="1486"/>
                </a:moveTo>
                <a:cubicBezTo>
                  <a:pt x="9335" y="1486"/>
                  <a:pt x="9322" y="1491"/>
                  <a:pt x="9313" y="1501"/>
                </a:cubicBezTo>
                <a:cubicBezTo>
                  <a:pt x="9295" y="1520"/>
                  <a:pt x="9296" y="1550"/>
                  <a:pt x="9315" y="1567"/>
                </a:cubicBezTo>
                <a:cubicBezTo>
                  <a:pt x="9324" y="1576"/>
                  <a:pt x="9336" y="1580"/>
                  <a:pt x="9347" y="1580"/>
                </a:cubicBezTo>
                <a:cubicBezTo>
                  <a:pt x="9360" y="1580"/>
                  <a:pt x="9372" y="1575"/>
                  <a:pt x="9382" y="1565"/>
                </a:cubicBezTo>
                <a:cubicBezTo>
                  <a:pt x="9400" y="1546"/>
                  <a:pt x="9399" y="1516"/>
                  <a:pt x="9379" y="1498"/>
                </a:cubicBezTo>
                <a:cubicBezTo>
                  <a:pt x="9370" y="1490"/>
                  <a:pt x="9359" y="1486"/>
                  <a:pt x="9347" y="1486"/>
                </a:cubicBezTo>
                <a:moveTo>
                  <a:pt x="2086" y="1245"/>
                </a:moveTo>
                <a:cubicBezTo>
                  <a:pt x="2076" y="1245"/>
                  <a:pt x="2065" y="1248"/>
                  <a:pt x="2056" y="1255"/>
                </a:cubicBezTo>
                <a:cubicBezTo>
                  <a:pt x="2056" y="1255"/>
                  <a:pt x="2056" y="1255"/>
                  <a:pt x="2056" y="1255"/>
                </a:cubicBezTo>
                <a:cubicBezTo>
                  <a:pt x="2036" y="1272"/>
                  <a:pt x="2034" y="1301"/>
                  <a:pt x="2050" y="1321"/>
                </a:cubicBezTo>
                <a:cubicBezTo>
                  <a:pt x="2059" y="1333"/>
                  <a:pt x="2073" y="1339"/>
                  <a:pt x="2086" y="1339"/>
                </a:cubicBezTo>
                <a:cubicBezTo>
                  <a:pt x="2097" y="1339"/>
                  <a:pt x="2108" y="1336"/>
                  <a:pt x="2116" y="1328"/>
                </a:cubicBezTo>
                <a:cubicBezTo>
                  <a:pt x="2136" y="1312"/>
                  <a:pt x="2140" y="1282"/>
                  <a:pt x="2123" y="1262"/>
                </a:cubicBezTo>
                <a:cubicBezTo>
                  <a:pt x="2114" y="1251"/>
                  <a:pt x="2100" y="1245"/>
                  <a:pt x="2086" y="1245"/>
                </a:cubicBezTo>
                <a:moveTo>
                  <a:pt x="9063" y="1238"/>
                </a:moveTo>
                <a:cubicBezTo>
                  <a:pt x="9049" y="1238"/>
                  <a:pt x="9035" y="1244"/>
                  <a:pt x="9026" y="1255"/>
                </a:cubicBezTo>
                <a:cubicBezTo>
                  <a:pt x="9009" y="1275"/>
                  <a:pt x="9012" y="1305"/>
                  <a:pt x="9033" y="1321"/>
                </a:cubicBezTo>
                <a:cubicBezTo>
                  <a:pt x="9042" y="1329"/>
                  <a:pt x="9052" y="1332"/>
                  <a:pt x="9062" y="1332"/>
                </a:cubicBezTo>
                <a:cubicBezTo>
                  <a:pt x="9076" y="1332"/>
                  <a:pt x="9090" y="1326"/>
                  <a:pt x="9099" y="1315"/>
                </a:cubicBezTo>
                <a:cubicBezTo>
                  <a:pt x="9116" y="1294"/>
                  <a:pt x="9112" y="1265"/>
                  <a:pt x="9092" y="1248"/>
                </a:cubicBezTo>
                <a:cubicBezTo>
                  <a:pt x="9084" y="1241"/>
                  <a:pt x="9073" y="1238"/>
                  <a:pt x="9063" y="1238"/>
                </a:cubicBezTo>
                <a:moveTo>
                  <a:pt x="2387" y="1016"/>
                </a:moveTo>
                <a:cubicBezTo>
                  <a:pt x="2377" y="1016"/>
                  <a:pt x="2368" y="1019"/>
                  <a:pt x="2359" y="1025"/>
                </a:cubicBezTo>
                <a:cubicBezTo>
                  <a:pt x="2338" y="1040"/>
                  <a:pt x="2333" y="1069"/>
                  <a:pt x="2348" y="1090"/>
                </a:cubicBezTo>
                <a:cubicBezTo>
                  <a:pt x="2357" y="1104"/>
                  <a:pt x="2372" y="1111"/>
                  <a:pt x="2387" y="1111"/>
                </a:cubicBezTo>
                <a:cubicBezTo>
                  <a:pt x="2396" y="1111"/>
                  <a:pt x="2406" y="1108"/>
                  <a:pt x="2414" y="1102"/>
                </a:cubicBezTo>
                <a:cubicBezTo>
                  <a:pt x="2435" y="1087"/>
                  <a:pt x="2440" y="1057"/>
                  <a:pt x="2425" y="1036"/>
                </a:cubicBezTo>
                <a:cubicBezTo>
                  <a:pt x="2416" y="1023"/>
                  <a:pt x="2401" y="1016"/>
                  <a:pt x="2387" y="1016"/>
                </a:cubicBezTo>
                <a:moveTo>
                  <a:pt x="8762" y="1010"/>
                </a:moveTo>
                <a:cubicBezTo>
                  <a:pt x="8747" y="1010"/>
                  <a:pt x="8732" y="1017"/>
                  <a:pt x="8723" y="1030"/>
                </a:cubicBezTo>
                <a:cubicBezTo>
                  <a:pt x="8708" y="1051"/>
                  <a:pt x="8713" y="1080"/>
                  <a:pt x="8734" y="1095"/>
                </a:cubicBezTo>
                <a:cubicBezTo>
                  <a:pt x="8742" y="1101"/>
                  <a:pt x="8752" y="1104"/>
                  <a:pt x="8762" y="1104"/>
                </a:cubicBezTo>
                <a:cubicBezTo>
                  <a:pt x="8776" y="1104"/>
                  <a:pt x="8791" y="1097"/>
                  <a:pt x="8800" y="1084"/>
                </a:cubicBezTo>
                <a:cubicBezTo>
                  <a:pt x="8815" y="1063"/>
                  <a:pt x="8810" y="1033"/>
                  <a:pt x="8789" y="1018"/>
                </a:cubicBezTo>
                <a:cubicBezTo>
                  <a:pt x="8780" y="1012"/>
                  <a:pt x="8771" y="1010"/>
                  <a:pt x="8762" y="1010"/>
                </a:cubicBezTo>
                <a:moveTo>
                  <a:pt x="2702" y="808"/>
                </a:moveTo>
                <a:cubicBezTo>
                  <a:pt x="2693" y="808"/>
                  <a:pt x="2685" y="811"/>
                  <a:pt x="2677" y="815"/>
                </a:cubicBezTo>
                <a:cubicBezTo>
                  <a:pt x="2655" y="829"/>
                  <a:pt x="2648" y="858"/>
                  <a:pt x="2662" y="880"/>
                </a:cubicBezTo>
                <a:cubicBezTo>
                  <a:pt x="2670" y="895"/>
                  <a:pt x="2686" y="903"/>
                  <a:pt x="2702" y="903"/>
                </a:cubicBezTo>
                <a:cubicBezTo>
                  <a:pt x="2710" y="903"/>
                  <a:pt x="2719" y="901"/>
                  <a:pt x="2727" y="896"/>
                </a:cubicBezTo>
                <a:cubicBezTo>
                  <a:pt x="2749" y="882"/>
                  <a:pt x="2756" y="853"/>
                  <a:pt x="2742" y="831"/>
                </a:cubicBezTo>
                <a:cubicBezTo>
                  <a:pt x="2733" y="816"/>
                  <a:pt x="2718" y="808"/>
                  <a:pt x="2702" y="808"/>
                </a:cubicBezTo>
                <a:moveTo>
                  <a:pt x="8446" y="802"/>
                </a:moveTo>
                <a:cubicBezTo>
                  <a:pt x="8430" y="802"/>
                  <a:pt x="8414" y="810"/>
                  <a:pt x="8405" y="825"/>
                </a:cubicBezTo>
                <a:cubicBezTo>
                  <a:pt x="8392" y="847"/>
                  <a:pt x="8399" y="876"/>
                  <a:pt x="8421" y="890"/>
                </a:cubicBezTo>
                <a:cubicBezTo>
                  <a:pt x="8429" y="895"/>
                  <a:pt x="8437" y="897"/>
                  <a:pt x="8446" y="897"/>
                </a:cubicBezTo>
                <a:cubicBezTo>
                  <a:pt x="8462" y="897"/>
                  <a:pt x="8477" y="889"/>
                  <a:pt x="8486" y="874"/>
                </a:cubicBezTo>
                <a:cubicBezTo>
                  <a:pt x="8500" y="852"/>
                  <a:pt x="8492" y="823"/>
                  <a:pt x="8470" y="809"/>
                </a:cubicBezTo>
                <a:cubicBezTo>
                  <a:pt x="8463" y="805"/>
                  <a:pt x="8454" y="802"/>
                  <a:pt x="8446" y="802"/>
                </a:cubicBezTo>
                <a:moveTo>
                  <a:pt x="3030" y="623"/>
                </a:moveTo>
                <a:cubicBezTo>
                  <a:pt x="3023" y="623"/>
                  <a:pt x="3015" y="624"/>
                  <a:pt x="3008" y="628"/>
                </a:cubicBezTo>
                <a:cubicBezTo>
                  <a:pt x="2985" y="640"/>
                  <a:pt x="2976" y="668"/>
                  <a:pt x="2988" y="692"/>
                </a:cubicBezTo>
                <a:cubicBezTo>
                  <a:pt x="2997" y="708"/>
                  <a:pt x="3013" y="717"/>
                  <a:pt x="3030" y="717"/>
                </a:cubicBezTo>
                <a:cubicBezTo>
                  <a:pt x="3038" y="717"/>
                  <a:pt x="3045" y="715"/>
                  <a:pt x="3052" y="712"/>
                </a:cubicBezTo>
                <a:cubicBezTo>
                  <a:pt x="3052" y="712"/>
                  <a:pt x="3052" y="712"/>
                  <a:pt x="3052" y="712"/>
                </a:cubicBezTo>
                <a:cubicBezTo>
                  <a:pt x="3075" y="700"/>
                  <a:pt x="3084" y="671"/>
                  <a:pt x="3072" y="648"/>
                </a:cubicBezTo>
                <a:cubicBezTo>
                  <a:pt x="3064" y="632"/>
                  <a:pt x="3047" y="623"/>
                  <a:pt x="3030" y="623"/>
                </a:cubicBezTo>
                <a:moveTo>
                  <a:pt x="8117" y="617"/>
                </a:moveTo>
                <a:cubicBezTo>
                  <a:pt x="8099" y="617"/>
                  <a:pt x="8083" y="626"/>
                  <a:pt x="8074" y="642"/>
                </a:cubicBezTo>
                <a:cubicBezTo>
                  <a:pt x="8062" y="666"/>
                  <a:pt x="8071" y="694"/>
                  <a:pt x="8094" y="706"/>
                </a:cubicBezTo>
                <a:cubicBezTo>
                  <a:pt x="8095" y="706"/>
                  <a:pt x="8095" y="706"/>
                  <a:pt x="8095" y="706"/>
                </a:cubicBezTo>
                <a:cubicBezTo>
                  <a:pt x="8102" y="710"/>
                  <a:pt x="8109" y="712"/>
                  <a:pt x="8116" y="712"/>
                </a:cubicBezTo>
                <a:cubicBezTo>
                  <a:pt x="8133" y="712"/>
                  <a:pt x="8150" y="702"/>
                  <a:pt x="8158" y="686"/>
                </a:cubicBezTo>
                <a:cubicBezTo>
                  <a:pt x="8170" y="663"/>
                  <a:pt x="8161" y="634"/>
                  <a:pt x="8138" y="622"/>
                </a:cubicBezTo>
                <a:cubicBezTo>
                  <a:pt x="8131" y="619"/>
                  <a:pt x="8124" y="617"/>
                  <a:pt x="8117" y="617"/>
                </a:cubicBezTo>
                <a:moveTo>
                  <a:pt x="3370" y="460"/>
                </a:moveTo>
                <a:cubicBezTo>
                  <a:pt x="3364" y="460"/>
                  <a:pt x="3358" y="461"/>
                  <a:pt x="3351" y="464"/>
                </a:cubicBezTo>
                <a:cubicBezTo>
                  <a:pt x="3328" y="474"/>
                  <a:pt x="3317" y="502"/>
                  <a:pt x="3327" y="526"/>
                </a:cubicBezTo>
                <a:cubicBezTo>
                  <a:pt x="3335" y="544"/>
                  <a:pt x="3352" y="554"/>
                  <a:pt x="3370" y="554"/>
                </a:cubicBezTo>
                <a:cubicBezTo>
                  <a:pt x="3377" y="554"/>
                  <a:pt x="3383" y="553"/>
                  <a:pt x="3389" y="550"/>
                </a:cubicBezTo>
                <a:cubicBezTo>
                  <a:pt x="3413" y="540"/>
                  <a:pt x="3424" y="512"/>
                  <a:pt x="3414" y="488"/>
                </a:cubicBezTo>
                <a:cubicBezTo>
                  <a:pt x="3406" y="470"/>
                  <a:pt x="3389" y="460"/>
                  <a:pt x="3370" y="460"/>
                </a:cubicBezTo>
                <a:moveTo>
                  <a:pt x="7775" y="455"/>
                </a:moveTo>
                <a:cubicBezTo>
                  <a:pt x="7757" y="455"/>
                  <a:pt x="7739" y="465"/>
                  <a:pt x="7732" y="483"/>
                </a:cubicBezTo>
                <a:cubicBezTo>
                  <a:pt x="7721" y="507"/>
                  <a:pt x="7732" y="535"/>
                  <a:pt x="7756" y="545"/>
                </a:cubicBezTo>
                <a:cubicBezTo>
                  <a:pt x="7763" y="548"/>
                  <a:pt x="7769" y="549"/>
                  <a:pt x="7775" y="549"/>
                </a:cubicBezTo>
                <a:cubicBezTo>
                  <a:pt x="7793" y="549"/>
                  <a:pt x="7811" y="538"/>
                  <a:pt x="7819" y="521"/>
                </a:cubicBezTo>
                <a:cubicBezTo>
                  <a:pt x="7829" y="497"/>
                  <a:pt x="7818" y="469"/>
                  <a:pt x="7794" y="458"/>
                </a:cubicBezTo>
                <a:cubicBezTo>
                  <a:pt x="7788" y="456"/>
                  <a:pt x="7782" y="455"/>
                  <a:pt x="7775" y="455"/>
                </a:cubicBezTo>
                <a:moveTo>
                  <a:pt x="3721" y="321"/>
                </a:moveTo>
                <a:cubicBezTo>
                  <a:pt x="3716" y="321"/>
                  <a:pt x="3710" y="321"/>
                  <a:pt x="3705" y="323"/>
                </a:cubicBezTo>
                <a:cubicBezTo>
                  <a:pt x="3680" y="332"/>
                  <a:pt x="3668" y="359"/>
                  <a:pt x="3676" y="384"/>
                </a:cubicBezTo>
                <a:cubicBezTo>
                  <a:pt x="3683" y="403"/>
                  <a:pt x="3701" y="415"/>
                  <a:pt x="3721" y="415"/>
                </a:cubicBezTo>
                <a:cubicBezTo>
                  <a:pt x="3726" y="415"/>
                  <a:pt x="3732" y="414"/>
                  <a:pt x="3737" y="412"/>
                </a:cubicBezTo>
                <a:cubicBezTo>
                  <a:pt x="3761" y="404"/>
                  <a:pt x="3774" y="377"/>
                  <a:pt x="3765" y="352"/>
                </a:cubicBezTo>
                <a:cubicBezTo>
                  <a:pt x="3758" y="333"/>
                  <a:pt x="3740" y="321"/>
                  <a:pt x="3721" y="321"/>
                </a:cubicBezTo>
                <a:moveTo>
                  <a:pt x="7424" y="316"/>
                </a:moveTo>
                <a:cubicBezTo>
                  <a:pt x="7404" y="316"/>
                  <a:pt x="7386" y="328"/>
                  <a:pt x="7379" y="348"/>
                </a:cubicBezTo>
                <a:cubicBezTo>
                  <a:pt x="7370" y="372"/>
                  <a:pt x="7383" y="399"/>
                  <a:pt x="7408" y="408"/>
                </a:cubicBezTo>
                <a:cubicBezTo>
                  <a:pt x="7413" y="410"/>
                  <a:pt x="7418" y="411"/>
                  <a:pt x="7424" y="411"/>
                </a:cubicBezTo>
                <a:cubicBezTo>
                  <a:pt x="7443" y="411"/>
                  <a:pt x="7461" y="399"/>
                  <a:pt x="7468" y="379"/>
                </a:cubicBezTo>
                <a:cubicBezTo>
                  <a:pt x="7477" y="355"/>
                  <a:pt x="7464" y="327"/>
                  <a:pt x="7439" y="319"/>
                </a:cubicBezTo>
                <a:cubicBezTo>
                  <a:pt x="7434" y="317"/>
                  <a:pt x="7429" y="316"/>
                  <a:pt x="7424" y="316"/>
                </a:cubicBezTo>
                <a:moveTo>
                  <a:pt x="4081" y="206"/>
                </a:moveTo>
                <a:cubicBezTo>
                  <a:pt x="4076" y="206"/>
                  <a:pt x="4072" y="207"/>
                  <a:pt x="4068" y="208"/>
                </a:cubicBezTo>
                <a:cubicBezTo>
                  <a:pt x="4067" y="208"/>
                  <a:pt x="4067" y="208"/>
                  <a:pt x="4067" y="208"/>
                </a:cubicBezTo>
                <a:cubicBezTo>
                  <a:pt x="4043" y="215"/>
                  <a:pt x="4028" y="241"/>
                  <a:pt x="4035" y="266"/>
                </a:cubicBezTo>
                <a:cubicBezTo>
                  <a:pt x="4041" y="287"/>
                  <a:pt x="4060" y="300"/>
                  <a:pt x="4080" y="300"/>
                </a:cubicBezTo>
                <a:cubicBezTo>
                  <a:pt x="4084" y="300"/>
                  <a:pt x="4089" y="300"/>
                  <a:pt x="4093" y="299"/>
                </a:cubicBezTo>
                <a:cubicBezTo>
                  <a:pt x="4118" y="292"/>
                  <a:pt x="4133" y="265"/>
                  <a:pt x="4126" y="240"/>
                </a:cubicBezTo>
                <a:cubicBezTo>
                  <a:pt x="4120" y="220"/>
                  <a:pt x="4101" y="206"/>
                  <a:pt x="4081" y="206"/>
                </a:cubicBezTo>
                <a:moveTo>
                  <a:pt x="7064" y="202"/>
                </a:moveTo>
                <a:cubicBezTo>
                  <a:pt x="7043" y="202"/>
                  <a:pt x="7024" y="216"/>
                  <a:pt x="7018" y="237"/>
                </a:cubicBezTo>
                <a:cubicBezTo>
                  <a:pt x="7011" y="262"/>
                  <a:pt x="7026" y="288"/>
                  <a:pt x="7051" y="295"/>
                </a:cubicBezTo>
                <a:cubicBezTo>
                  <a:pt x="7055" y="296"/>
                  <a:pt x="7059" y="297"/>
                  <a:pt x="7064" y="297"/>
                </a:cubicBezTo>
                <a:cubicBezTo>
                  <a:pt x="7084" y="297"/>
                  <a:pt x="7103" y="283"/>
                  <a:pt x="7109" y="262"/>
                </a:cubicBezTo>
                <a:cubicBezTo>
                  <a:pt x="7116" y="237"/>
                  <a:pt x="7101" y="211"/>
                  <a:pt x="7076" y="204"/>
                </a:cubicBezTo>
                <a:cubicBezTo>
                  <a:pt x="7072" y="203"/>
                  <a:pt x="7068" y="202"/>
                  <a:pt x="7064" y="202"/>
                </a:cubicBezTo>
                <a:moveTo>
                  <a:pt x="4447" y="116"/>
                </a:moveTo>
                <a:cubicBezTo>
                  <a:pt x="4444" y="116"/>
                  <a:pt x="4441" y="116"/>
                  <a:pt x="4437" y="117"/>
                </a:cubicBezTo>
                <a:cubicBezTo>
                  <a:pt x="4412" y="123"/>
                  <a:pt x="4396" y="147"/>
                  <a:pt x="4401" y="173"/>
                </a:cubicBezTo>
                <a:cubicBezTo>
                  <a:pt x="4405" y="195"/>
                  <a:pt x="4425" y="211"/>
                  <a:pt x="4447" y="211"/>
                </a:cubicBezTo>
                <a:cubicBezTo>
                  <a:pt x="4450" y="211"/>
                  <a:pt x="4453" y="210"/>
                  <a:pt x="4457" y="210"/>
                </a:cubicBezTo>
                <a:cubicBezTo>
                  <a:pt x="4482" y="204"/>
                  <a:pt x="4498" y="179"/>
                  <a:pt x="4493" y="154"/>
                </a:cubicBezTo>
                <a:cubicBezTo>
                  <a:pt x="4489" y="131"/>
                  <a:pt x="4469" y="116"/>
                  <a:pt x="4447" y="116"/>
                </a:cubicBezTo>
                <a:moveTo>
                  <a:pt x="6697" y="113"/>
                </a:moveTo>
                <a:cubicBezTo>
                  <a:pt x="6675" y="113"/>
                  <a:pt x="6655" y="129"/>
                  <a:pt x="6651" y="151"/>
                </a:cubicBezTo>
                <a:cubicBezTo>
                  <a:pt x="6645" y="177"/>
                  <a:pt x="6662" y="202"/>
                  <a:pt x="6687" y="207"/>
                </a:cubicBezTo>
                <a:cubicBezTo>
                  <a:pt x="6691" y="208"/>
                  <a:pt x="6694" y="208"/>
                  <a:pt x="6697" y="208"/>
                </a:cubicBezTo>
                <a:cubicBezTo>
                  <a:pt x="6719" y="208"/>
                  <a:pt x="6738" y="192"/>
                  <a:pt x="6743" y="170"/>
                </a:cubicBezTo>
                <a:cubicBezTo>
                  <a:pt x="6748" y="145"/>
                  <a:pt x="6732" y="119"/>
                  <a:pt x="6706" y="114"/>
                </a:cubicBezTo>
                <a:cubicBezTo>
                  <a:pt x="6703" y="114"/>
                  <a:pt x="6700" y="113"/>
                  <a:pt x="6697" y="113"/>
                </a:cubicBezTo>
                <a:moveTo>
                  <a:pt x="4819" y="52"/>
                </a:moveTo>
                <a:cubicBezTo>
                  <a:pt x="4817" y="52"/>
                  <a:pt x="4815" y="52"/>
                  <a:pt x="4812" y="52"/>
                </a:cubicBezTo>
                <a:cubicBezTo>
                  <a:pt x="4787" y="56"/>
                  <a:pt x="4769" y="80"/>
                  <a:pt x="4772" y="106"/>
                </a:cubicBezTo>
                <a:cubicBezTo>
                  <a:pt x="4776" y="129"/>
                  <a:pt x="4796" y="146"/>
                  <a:pt x="4819" y="146"/>
                </a:cubicBezTo>
                <a:cubicBezTo>
                  <a:pt x="4821" y="146"/>
                  <a:pt x="4823" y="146"/>
                  <a:pt x="4825" y="146"/>
                </a:cubicBezTo>
                <a:cubicBezTo>
                  <a:pt x="4851" y="142"/>
                  <a:pt x="4869" y="118"/>
                  <a:pt x="4866" y="93"/>
                </a:cubicBezTo>
                <a:cubicBezTo>
                  <a:pt x="4862" y="69"/>
                  <a:pt x="4842" y="52"/>
                  <a:pt x="4819" y="52"/>
                </a:cubicBezTo>
                <a:moveTo>
                  <a:pt x="6325" y="50"/>
                </a:moveTo>
                <a:cubicBezTo>
                  <a:pt x="6301" y="50"/>
                  <a:pt x="6281" y="67"/>
                  <a:pt x="6278" y="91"/>
                </a:cubicBezTo>
                <a:cubicBezTo>
                  <a:pt x="6274" y="117"/>
                  <a:pt x="6292" y="140"/>
                  <a:pt x="6318" y="144"/>
                </a:cubicBezTo>
                <a:cubicBezTo>
                  <a:pt x="6320" y="144"/>
                  <a:pt x="6322" y="144"/>
                  <a:pt x="6325" y="144"/>
                </a:cubicBezTo>
                <a:cubicBezTo>
                  <a:pt x="6348" y="144"/>
                  <a:pt x="6368" y="127"/>
                  <a:pt x="6371" y="104"/>
                </a:cubicBezTo>
                <a:cubicBezTo>
                  <a:pt x="6375" y="77"/>
                  <a:pt x="6357" y="54"/>
                  <a:pt x="6331" y="50"/>
                </a:cubicBezTo>
                <a:cubicBezTo>
                  <a:pt x="6329" y="50"/>
                  <a:pt x="6327" y="50"/>
                  <a:pt x="6325" y="50"/>
                </a:cubicBezTo>
                <a:moveTo>
                  <a:pt x="5195" y="13"/>
                </a:moveTo>
                <a:cubicBezTo>
                  <a:pt x="5194" y="13"/>
                  <a:pt x="5192" y="13"/>
                  <a:pt x="5191" y="13"/>
                </a:cubicBezTo>
                <a:cubicBezTo>
                  <a:pt x="5165" y="15"/>
                  <a:pt x="5146" y="37"/>
                  <a:pt x="5147" y="63"/>
                </a:cubicBezTo>
                <a:cubicBezTo>
                  <a:pt x="5149" y="89"/>
                  <a:pt x="5170" y="107"/>
                  <a:pt x="5194" y="107"/>
                </a:cubicBezTo>
                <a:cubicBezTo>
                  <a:pt x="5196" y="107"/>
                  <a:pt x="5197" y="107"/>
                  <a:pt x="5198" y="107"/>
                </a:cubicBezTo>
                <a:cubicBezTo>
                  <a:pt x="5224" y="106"/>
                  <a:pt x="5243" y="83"/>
                  <a:pt x="5242" y="57"/>
                </a:cubicBezTo>
                <a:cubicBezTo>
                  <a:pt x="5240" y="32"/>
                  <a:pt x="5219" y="13"/>
                  <a:pt x="5195" y="13"/>
                </a:cubicBezTo>
                <a:moveTo>
                  <a:pt x="5949" y="12"/>
                </a:moveTo>
                <a:cubicBezTo>
                  <a:pt x="5924" y="12"/>
                  <a:pt x="5904" y="31"/>
                  <a:pt x="5902" y="56"/>
                </a:cubicBezTo>
                <a:cubicBezTo>
                  <a:pt x="5900" y="82"/>
                  <a:pt x="5920" y="105"/>
                  <a:pt x="5946" y="106"/>
                </a:cubicBezTo>
                <a:cubicBezTo>
                  <a:pt x="5947" y="106"/>
                  <a:pt x="5948" y="106"/>
                  <a:pt x="5949" y="106"/>
                </a:cubicBezTo>
                <a:cubicBezTo>
                  <a:pt x="5974" y="106"/>
                  <a:pt x="5994" y="87"/>
                  <a:pt x="5996" y="62"/>
                </a:cubicBezTo>
                <a:cubicBezTo>
                  <a:pt x="5998" y="37"/>
                  <a:pt x="5978" y="14"/>
                  <a:pt x="5952" y="12"/>
                </a:cubicBezTo>
                <a:cubicBezTo>
                  <a:pt x="5951" y="12"/>
                  <a:pt x="5950" y="12"/>
                  <a:pt x="5949" y="12"/>
                </a:cubicBezTo>
                <a:moveTo>
                  <a:pt x="5572" y="0"/>
                </a:moveTo>
                <a:cubicBezTo>
                  <a:pt x="5546" y="0"/>
                  <a:pt x="5525" y="21"/>
                  <a:pt x="5525" y="47"/>
                </a:cubicBezTo>
                <a:cubicBezTo>
                  <a:pt x="5525" y="73"/>
                  <a:pt x="5546" y="94"/>
                  <a:pt x="5572" y="94"/>
                </a:cubicBezTo>
                <a:cubicBezTo>
                  <a:pt x="5598" y="94"/>
                  <a:pt x="5619" y="73"/>
                  <a:pt x="5619" y="47"/>
                </a:cubicBezTo>
                <a:cubicBezTo>
                  <a:pt x="5619" y="21"/>
                  <a:pt x="5598" y="0"/>
                  <a:pt x="5572" y="0"/>
                </a:cubicBezTo>
              </a:path>
            </a:pathLst>
          </a:custGeom>
          <a:solidFill>
            <a:schemeClr val="accent5"/>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89" name="任意多边形: 形状 35"/>
          <p:cNvSpPr>
            <a:spLocks noChangeArrowheads="1"/>
          </p:cNvSpPr>
          <p:nvPr/>
        </p:nvSpPr>
        <p:spPr bwMode="auto">
          <a:xfrm flipH="1">
            <a:off x="5453380" y="2396490"/>
            <a:ext cx="1220470" cy="1226185"/>
          </a:xfrm>
          <a:custGeom>
            <a:avLst/>
            <a:gdLst>
              <a:gd name="connsiteX0" fmla="*/ 2348887 w 4694357"/>
              <a:gd name="connsiteY0" fmla="*/ 4677273 h 4717133"/>
              <a:gd name="connsiteX1" fmla="*/ 2368817 w 4694357"/>
              <a:gd name="connsiteY1" fmla="*/ 4697203 h 4717133"/>
              <a:gd name="connsiteX2" fmla="*/ 2348887 w 4694357"/>
              <a:gd name="connsiteY2" fmla="*/ 4717133 h 4717133"/>
              <a:gd name="connsiteX3" fmla="*/ 2328957 w 4694357"/>
              <a:gd name="connsiteY3" fmla="*/ 4697203 h 4717133"/>
              <a:gd name="connsiteX4" fmla="*/ 2348887 w 4694357"/>
              <a:gd name="connsiteY4" fmla="*/ 4677273 h 4717133"/>
              <a:gd name="connsiteX5" fmla="*/ 2182045 w 4694357"/>
              <a:gd name="connsiteY5" fmla="*/ 4672717 h 4717133"/>
              <a:gd name="connsiteX6" fmla="*/ 2201406 w 4694357"/>
              <a:gd name="connsiteY6" fmla="*/ 4691509 h 4717133"/>
              <a:gd name="connsiteX7" fmla="*/ 2182045 w 4694357"/>
              <a:gd name="connsiteY7" fmla="*/ 4710301 h 4717133"/>
              <a:gd name="connsiteX8" fmla="*/ 2162684 w 4694357"/>
              <a:gd name="connsiteY8" fmla="*/ 4691509 h 4717133"/>
              <a:gd name="connsiteX9" fmla="*/ 2182045 w 4694357"/>
              <a:gd name="connsiteY9" fmla="*/ 4672717 h 4717133"/>
              <a:gd name="connsiteX10" fmla="*/ 2517438 w 4694357"/>
              <a:gd name="connsiteY10" fmla="*/ 4671578 h 4717133"/>
              <a:gd name="connsiteX11" fmla="*/ 2536230 w 4694357"/>
              <a:gd name="connsiteY11" fmla="*/ 4690939 h 4717133"/>
              <a:gd name="connsiteX12" fmla="*/ 2517438 w 4694357"/>
              <a:gd name="connsiteY12" fmla="*/ 4710300 h 4717133"/>
              <a:gd name="connsiteX13" fmla="*/ 2498646 w 4694357"/>
              <a:gd name="connsiteY13" fmla="*/ 4690939 h 4717133"/>
              <a:gd name="connsiteX14" fmla="*/ 2517438 w 4694357"/>
              <a:gd name="connsiteY14" fmla="*/ 4671578 h 4717133"/>
              <a:gd name="connsiteX15" fmla="*/ 2015772 w 4694357"/>
              <a:gd name="connsiteY15" fmla="*/ 4655634 h 4717133"/>
              <a:gd name="connsiteX16" fmla="*/ 2033994 w 4694357"/>
              <a:gd name="connsiteY16" fmla="*/ 4673856 h 4717133"/>
              <a:gd name="connsiteX17" fmla="*/ 2015772 w 4694357"/>
              <a:gd name="connsiteY17" fmla="*/ 4692078 h 4717133"/>
              <a:gd name="connsiteX18" fmla="*/ 1997550 w 4694357"/>
              <a:gd name="connsiteY18" fmla="*/ 4673856 h 4717133"/>
              <a:gd name="connsiteX19" fmla="*/ 2015772 w 4694357"/>
              <a:gd name="connsiteY19" fmla="*/ 4655634 h 4717133"/>
              <a:gd name="connsiteX20" fmla="*/ 2683710 w 4694357"/>
              <a:gd name="connsiteY20" fmla="*/ 4654496 h 4717133"/>
              <a:gd name="connsiteX21" fmla="*/ 2702502 w 4694357"/>
              <a:gd name="connsiteY21" fmla="*/ 4673288 h 4717133"/>
              <a:gd name="connsiteX22" fmla="*/ 2683710 w 4694357"/>
              <a:gd name="connsiteY22" fmla="*/ 4692080 h 4717133"/>
              <a:gd name="connsiteX23" fmla="*/ 2664918 w 4694357"/>
              <a:gd name="connsiteY23" fmla="*/ 4673288 h 4717133"/>
              <a:gd name="connsiteX24" fmla="*/ 2683710 w 4694357"/>
              <a:gd name="connsiteY24" fmla="*/ 4654496 h 4717133"/>
              <a:gd name="connsiteX25" fmla="*/ 1851777 w 4694357"/>
              <a:gd name="connsiteY25" fmla="*/ 4627163 h 4717133"/>
              <a:gd name="connsiteX26" fmla="*/ 1868860 w 4694357"/>
              <a:gd name="connsiteY26" fmla="*/ 4644246 h 4717133"/>
              <a:gd name="connsiteX27" fmla="*/ 1851777 w 4694357"/>
              <a:gd name="connsiteY27" fmla="*/ 4661329 h 4717133"/>
              <a:gd name="connsiteX28" fmla="*/ 1834694 w 4694357"/>
              <a:gd name="connsiteY28" fmla="*/ 4644246 h 4717133"/>
              <a:gd name="connsiteX29" fmla="*/ 1851777 w 4694357"/>
              <a:gd name="connsiteY29" fmla="*/ 4627163 h 4717133"/>
              <a:gd name="connsiteX30" fmla="*/ 2847705 w 4694357"/>
              <a:gd name="connsiteY30" fmla="*/ 4624885 h 4717133"/>
              <a:gd name="connsiteX31" fmla="*/ 2866497 w 4694357"/>
              <a:gd name="connsiteY31" fmla="*/ 4643677 h 4717133"/>
              <a:gd name="connsiteX32" fmla="*/ 2847705 w 4694357"/>
              <a:gd name="connsiteY32" fmla="*/ 4662469 h 4717133"/>
              <a:gd name="connsiteX33" fmla="*/ 2828913 w 4694357"/>
              <a:gd name="connsiteY33" fmla="*/ 4643677 h 4717133"/>
              <a:gd name="connsiteX34" fmla="*/ 2847705 w 4694357"/>
              <a:gd name="connsiteY34" fmla="*/ 4624885 h 4717133"/>
              <a:gd name="connsiteX35" fmla="*/ 1689491 w 4694357"/>
              <a:gd name="connsiteY35" fmla="*/ 4587303 h 4717133"/>
              <a:gd name="connsiteX36" fmla="*/ 1704866 w 4694357"/>
              <a:gd name="connsiteY36" fmla="*/ 4602678 h 4717133"/>
              <a:gd name="connsiteX37" fmla="*/ 1689491 w 4694357"/>
              <a:gd name="connsiteY37" fmla="*/ 4618053 h 4717133"/>
              <a:gd name="connsiteX38" fmla="*/ 1674116 w 4694357"/>
              <a:gd name="connsiteY38" fmla="*/ 4602678 h 4717133"/>
              <a:gd name="connsiteX39" fmla="*/ 1689491 w 4694357"/>
              <a:gd name="connsiteY39" fmla="*/ 4587303 h 4717133"/>
              <a:gd name="connsiteX40" fmla="*/ 3009992 w 4694357"/>
              <a:gd name="connsiteY40" fmla="*/ 4583887 h 4717133"/>
              <a:gd name="connsiteX41" fmla="*/ 3028214 w 4694357"/>
              <a:gd name="connsiteY41" fmla="*/ 4602109 h 4717133"/>
              <a:gd name="connsiteX42" fmla="*/ 3009992 w 4694357"/>
              <a:gd name="connsiteY42" fmla="*/ 4620331 h 4717133"/>
              <a:gd name="connsiteX43" fmla="*/ 2991770 w 4694357"/>
              <a:gd name="connsiteY43" fmla="*/ 4602109 h 4717133"/>
              <a:gd name="connsiteX44" fmla="*/ 3009992 w 4694357"/>
              <a:gd name="connsiteY44" fmla="*/ 4583887 h 4717133"/>
              <a:gd name="connsiteX45" fmla="*/ 2348886 w 4694357"/>
              <a:gd name="connsiteY45" fmla="*/ 4555415 h 4717133"/>
              <a:gd name="connsiteX46" fmla="*/ 2383621 w 4694357"/>
              <a:gd name="connsiteY46" fmla="*/ 4590720 h 4717133"/>
              <a:gd name="connsiteX47" fmla="*/ 2348886 w 4694357"/>
              <a:gd name="connsiteY47" fmla="*/ 4626025 h 4717133"/>
              <a:gd name="connsiteX48" fmla="*/ 2314151 w 4694357"/>
              <a:gd name="connsiteY48" fmla="*/ 4590720 h 4717133"/>
              <a:gd name="connsiteX49" fmla="*/ 2348886 w 4694357"/>
              <a:gd name="connsiteY49" fmla="*/ 4555415 h 4717133"/>
              <a:gd name="connsiteX50" fmla="*/ 2182045 w 4694357"/>
              <a:gd name="connsiteY50" fmla="*/ 4550860 h 4717133"/>
              <a:gd name="connsiteX51" fmla="*/ 2216211 w 4694357"/>
              <a:gd name="connsiteY51" fmla="*/ 4585026 h 4717133"/>
              <a:gd name="connsiteX52" fmla="*/ 2182045 w 4694357"/>
              <a:gd name="connsiteY52" fmla="*/ 4619192 h 4717133"/>
              <a:gd name="connsiteX53" fmla="*/ 2147879 w 4694357"/>
              <a:gd name="connsiteY53" fmla="*/ 4585026 h 4717133"/>
              <a:gd name="connsiteX54" fmla="*/ 2182045 w 4694357"/>
              <a:gd name="connsiteY54" fmla="*/ 4550860 h 4717133"/>
              <a:gd name="connsiteX55" fmla="*/ 2517437 w 4694357"/>
              <a:gd name="connsiteY55" fmla="*/ 4549721 h 4717133"/>
              <a:gd name="connsiteX56" fmla="*/ 2552172 w 4694357"/>
              <a:gd name="connsiteY56" fmla="*/ 4584456 h 4717133"/>
              <a:gd name="connsiteX57" fmla="*/ 2517437 w 4694357"/>
              <a:gd name="connsiteY57" fmla="*/ 4619191 h 4717133"/>
              <a:gd name="connsiteX58" fmla="*/ 2482702 w 4694357"/>
              <a:gd name="connsiteY58" fmla="*/ 4584456 h 4717133"/>
              <a:gd name="connsiteX59" fmla="*/ 2517437 w 4694357"/>
              <a:gd name="connsiteY59" fmla="*/ 4549721 h 4717133"/>
              <a:gd name="connsiteX60" fmla="*/ 1531190 w 4694357"/>
              <a:gd name="connsiteY60" fmla="*/ 4536055 h 4717133"/>
              <a:gd name="connsiteX61" fmla="*/ 1544287 w 4694357"/>
              <a:gd name="connsiteY61" fmla="*/ 4549721 h 4717133"/>
              <a:gd name="connsiteX62" fmla="*/ 1531190 w 4694357"/>
              <a:gd name="connsiteY62" fmla="*/ 4563387 h 4717133"/>
              <a:gd name="connsiteX63" fmla="*/ 1518093 w 4694357"/>
              <a:gd name="connsiteY63" fmla="*/ 4549721 h 4717133"/>
              <a:gd name="connsiteX64" fmla="*/ 1531190 w 4694357"/>
              <a:gd name="connsiteY64" fmla="*/ 4536055 h 4717133"/>
              <a:gd name="connsiteX65" fmla="*/ 2015772 w 4694357"/>
              <a:gd name="connsiteY65" fmla="*/ 4533777 h 4717133"/>
              <a:gd name="connsiteX66" fmla="*/ 2047660 w 4694357"/>
              <a:gd name="connsiteY66" fmla="*/ 4566235 h 4717133"/>
              <a:gd name="connsiteX67" fmla="*/ 2015772 w 4694357"/>
              <a:gd name="connsiteY67" fmla="*/ 4598693 h 4717133"/>
              <a:gd name="connsiteX68" fmla="*/ 1983884 w 4694357"/>
              <a:gd name="connsiteY68" fmla="*/ 4566235 h 4717133"/>
              <a:gd name="connsiteX69" fmla="*/ 2015772 w 4694357"/>
              <a:gd name="connsiteY69" fmla="*/ 4533777 h 4717133"/>
              <a:gd name="connsiteX70" fmla="*/ 3167723 w 4694357"/>
              <a:gd name="connsiteY70" fmla="*/ 4531499 h 4717133"/>
              <a:gd name="connsiteX71" fmla="*/ 3185376 w 4694357"/>
              <a:gd name="connsiteY71" fmla="*/ 4549152 h 4717133"/>
              <a:gd name="connsiteX72" fmla="*/ 3167723 w 4694357"/>
              <a:gd name="connsiteY72" fmla="*/ 4566805 h 4717133"/>
              <a:gd name="connsiteX73" fmla="*/ 3150070 w 4694357"/>
              <a:gd name="connsiteY73" fmla="*/ 4549152 h 4717133"/>
              <a:gd name="connsiteX74" fmla="*/ 3167723 w 4694357"/>
              <a:gd name="connsiteY74" fmla="*/ 4531499 h 4717133"/>
              <a:gd name="connsiteX75" fmla="*/ 2682571 w 4694357"/>
              <a:gd name="connsiteY75" fmla="*/ 4531499 h 4717133"/>
              <a:gd name="connsiteX76" fmla="*/ 2717306 w 4694357"/>
              <a:gd name="connsiteY76" fmla="*/ 4566234 h 4717133"/>
              <a:gd name="connsiteX77" fmla="*/ 2682571 w 4694357"/>
              <a:gd name="connsiteY77" fmla="*/ 4600969 h 4717133"/>
              <a:gd name="connsiteX78" fmla="*/ 2647836 w 4694357"/>
              <a:gd name="connsiteY78" fmla="*/ 4566234 h 4717133"/>
              <a:gd name="connsiteX79" fmla="*/ 2682571 w 4694357"/>
              <a:gd name="connsiteY79" fmla="*/ 4531499 h 4717133"/>
              <a:gd name="connsiteX80" fmla="*/ 1851777 w 4694357"/>
              <a:gd name="connsiteY80" fmla="*/ 4505305 h 4717133"/>
              <a:gd name="connsiteX81" fmla="*/ 1881387 w 4694357"/>
              <a:gd name="connsiteY81" fmla="*/ 4534915 h 4717133"/>
              <a:gd name="connsiteX82" fmla="*/ 1851777 w 4694357"/>
              <a:gd name="connsiteY82" fmla="*/ 4564525 h 4717133"/>
              <a:gd name="connsiteX83" fmla="*/ 1822167 w 4694357"/>
              <a:gd name="connsiteY83" fmla="*/ 4534915 h 4717133"/>
              <a:gd name="connsiteX84" fmla="*/ 1851777 w 4694357"/>
              <a:gd name="connsiteY84" fmla="*/ 4505305 h 4717133"/>
              <a:gd name="connsiteX85" fmla="*/ 2847135 w 4694357"/>
              <a:gd name="connsiteY85" fmla="*/ 4500750 h 4717133"/>
              <a:gd name="connsiteX86" fmla="*/ 2881301 w 4694357"/>
              <a:gd name="connsiteY86" fmla="*/ 4534916 h 4717133"/>
              <a:gd name="connsiteX87" fmla="*/ 2847135 w 4694357"/>
              <a:gd name="connsiteY87" fmla="*/ 4569082 h 4717133"/>
              <a:gd name="connsiteX88" fmla="*/ 2812969 w 4694357"/>
              <a:gd name="connsiteY88" fmla="*/ 4534916 h 4717133"/>
              <a:gd name="connsiteX89" fmla="*/ 2847135 w 4694357"/>
              <a:gd name="connsiteY89" fmla="*/ 4500750 h 4717133"/>
              <a:gd name="connsiteX90" fmla="*/ 2348318 w 4694357"/>
              <a:gd name="connsiteY90" fmla="*/ 4475695 h 4717133"/>
              <a:gd name="connsiteX91" fmla="*/ 2352875 w 4694357"/>
              <a:gd name="connsiteY91" fmla="*/ 4480251 h 4717133"/>
              <a:gd name="connsiteX92" fmla="*/ 2348318 w 4694357"/>
              <a:gd name="connsiteY92" fmla="*/ 4484808 h 4717133"/>
              <a:gd name="connsiteX93" fmla="*/ 2343762 w 4694357"/>
              <a:gd name="connsiteY93" fmla="*/ 4480251 h 4717133"/>
              <a:gd name="connsiteX94" fmla="*/ 2348318 w 4694357"/>
              <a:gd name="connsiteY94" fmla="*/ 4475695 h 4717133"/>
              <a:gd name="connsiteX95" fmla="*/ 1376875 w 4694357"/>
              <a:gd name="connsiteY95" fmla="*/ 4474557 h 4717133"/>
              <a:gd name="connsiteX96" fmla="*/ 1388264 w 4694357"/>
              <a:gd name="connsiteY96" fmla="*/ 4485946 h 4717133"/>
              <a:gd name="connsiteX97" fmla="*/ 1376875 w 4694357"/>
              <a:gd name="connsiteY97" fmla="*/ 4497335 h 4717133"/>
              <a:gd name="connsiteX98" fmla="*/ 1365486 w 4694357"/>
              <a:gd name="connsiteY98" fmla="*/ 4485946 h 4717133"/>
              <a:gd name="connsiteX99" fmla="*/ 1376875 w 4694357"/>
              <a:gd name="connsiteY99" fmla="*/ 4474557 h 4717133"/>
              <a:gd name="connsiteX100" fmla="*/ 2516298 w 4694357"/>
              <a:gd name="connsiteY100" fmla="*/ 4468862 h 4717133"/>
              <a:gd name="connsiteX101" fmla="*/ 2520284 w 4694357"/>
              <a:gd name="connsiteY101" fmla="*/ 4473418 h 4717133"/>
              <a:gd name="connsiteX102" fmla="*/ 2516298 w 4694357"/>
              <a:gd name="connsiteY102" fmla="*/ 4477975 h 4717133"/>
              <a:gd name="connsiteX103" fmla="*/ 2512312 w 4694357"/>
              <a:gd name="connsiteY103" fmla="*/ 4473418 h 4717133"/>
              <a:gd name="connsiteX104" fmla="*/ 2516298 w 4694357"/>
              <a:gd name="connsiteY104" fmla="*/ 4468862 h 4717133"/>
              <a:gd name="connsiteX105" fmla="*/ 3322037 w 4694357"/>
              <a:gd name="connsiteY105" fmla="*/ 4467724 h 4717133"/>
              <a:gd name="connsiteX106" fmla="*/ 3339120 w 4694357"/>
              <a:gd name="connsiteY106" fmla="*/ 4485377 h 4717133"/>
              <a:gd name="connsiteX107" fmla="*/ 3322037 w 4694357"/>
              <a:gd name="connsiteY107" fmla="*/ 4503030 h 4717133"/>
              <a:gd name="connsiteX108" fmla="*/ 3304954 w 4694357"/>
              <a:gd name="connsiteY108" fmla="*/ 4485377 h 4717133"/>
              <a:gd name="connsiteX109" fmla="*/ 3322037 w 4694357"/>
              <a:gd name="connsiteY109" fmla="*/ 4467724 h 4717133"/>
              <a:gd name="connsiteX110" fmla="*/ 2182045 w 4694357"/>
              <a:gd name="connsiteY110" fmla="*/ 4467724 h 4717133"/>
              <a:gd name="connsiteX111" fmla="*/ 2187740 w 4694357"/>
              <a:gd name="connsiteY111" fmla="*/ 4473419 h 4717133"/>
              <a:gd name="connsiteX112" fmla="*/ 2182045 w 4694357"/>
              <a:gd name="connsiteY112" fmla="*/ 4479114 h 4717133"/>
              <a:gd name="connsiteX113" fmla="*/ 2176350 w 4694357"/>
              <a:gd name="connsiteY113" fmla="*/ 4473419 h 4717133"/>
              <a:gd name="connsiteX114" fmla="*/ 2182045 w 4694357"/>
              <a:gd name="connsiteY114" fmla="*/ 4467724 h 4717133"/>
              <a:gd name="connsiteX115" fmla="*/ 1690629 w 4694357"/>
              <a:gd name="connsiteY115" fmla="*/ 4463168 h 4717133"/>
              <a:gd name="connsiteX116" fmla="*/ 1718531 w 4694357"/>
              <a:gd name="connsiteY116" fmla="*/ 4491640 h 4717133"/>
              <a:gd name="connsiteX117" fmla="*/ 1690629 w 4694357"/>
              <a:gd name="connsiteY117" fmla="*/ 4520112 h 4717133"/>
              <a:gd name="connsiteX118" fmla="*/ 1662727 w 4694357"/>
              <a:gd name="connsiteY118" fmla="*/ 4491640 h 4717133"/>
              <a:gd name="connsiteX119" fmla="*/ 1690629 w 4694357"/>
              <a:gd name="connsiteY119" fmla="*/ 4463168 h 4717133"/>
              <a:gd name="connsiteX120" fmla="*/ 3008284 w 4694357"/>
              <a:gd name="connsiteY120" fmla="*/ 4457474 h 4717133"/>
              <a:gd name="connsiteX121" fmla="*/ 3041881 w 4694357"/>
              <a:gd name="connsiteY121" fmla="*/ 4491640 h 4717133"/>
              <a:gd name="connsiteX122" fmla="*/ 3008284 w 4694357"/>
              <a:gd name="connsiteY122" fmla="*/ 4525806 h 4717133"/>
              <a:gd name="connsiteX123" fmla="*/ 2974687 w 4694357"/>
              <a:gd name="connsiteY123" fmla="*/ 4491640 h 4717133"/>
              <a:gd name="connsiteX124" fmla="*/ 3008284 w 4694357"/>
              <a:gd name="connsiteY124" fmla="*/ 4457474 h 4717133"/>
              <a:gd name="connsiteX125" fmla="*/ 2682002 w 4694357"/>
              <a:gd name="connsiteY125" fmla="*/ 4449502 h 4717133"/>
              <a:gd name="connsiteX126" fmla="*/ 2686559 w 4694357"/>
              <a:gd name="connsiteY126" fmla="*/ 4454058 h 4717133"/>
              <a:gd name="connsiteX127" fmla="*/ 2682002 w 4694357"/>
              <a:gd name="connsiteY127" fmla="*/ 4458615 h 4717133"/>
              <a:gd name="connsiteX128" fmla="*/ 2677446 w 4694357"/>
              <a:gd name="connsiteY128" fmla="*/ 4454058 h 4717133"/>
              <a:gd name="connsiteX129" fmla="*/ 2682002 w 4694357"/>
              <a:gd name="connsiteY129" fmla="*/ 4449502 h 4717133"/>
              <a:gd name="connsiteX130" fmla="*/ 2016911 w 4694357"/>
              <a:gd name="connsiteY130" fmla="*/ 4448363 h 4717133"/>
              <a:gd name="connsiteX131" fmla="*/ 2022606 w 4694357"/>
              <a:gd name="connsiteY131" fmla="*/ 4454058 h 4717133"/>
              <a:gd name="connsiteX132" fmla="*/ 2016911 w 4694357"/>
              <a:gd name="connsiteY132" fmla="*/ 4459753 h 4717133"/>
              <a:gd name="connsiteX133" fmla="*/ 2011216 w 4694357"/>
              <a:gd name="connsiteY133" fmla="*/ 4454058 h 4717133"/>
              <a:gd name="connsiteX134" fmla="*/ 2016911 w 4694357"/>
              <a:gd name="connsiteY134" fmla="*/ 4448363 h 4717133"/>
              <a:gd name="connsiteX135" fmla="*/ 2844858 w 4694357"/>
              <a:gd name="connsiteY135" fmla="*/ 4416475 h 4717133"/>
              <a:gd name="connsiteX136" fmla="*/ 2849415 w 4694357"/>
              <a:gd name="connsiteY136" fmla="*/ 4421031 h 4717133"/>
              <a:gd name="connsiteX137" fmla="*/ 2844858 w 4694357"/>
              <a:gd name="connsiteY137" fmla="*/ 4425588 h 4717133"/>
              <a:gd name="connsiteX138" fmla="*/ 2840302 w 4694357"/>
              <a:gd name="connsiteY138" fmla="*/ 4421031 h 4717133"/>
              <a:gd name="connsiteX139" fmla="*/ 2844858 w 4694357"/>
              <a:gd name="connsiteY139" fmla="*/ 4416475 h 4717133"/>
              <a:gd name="connsiteX140" fmla="*/ 1853486 w 4694357"/>
              <a:gd name="connsiteY140" fmla="*/ 4414197 h 4717133"/>
              <a:gd name="connsiteX141" fmla="*/ 1860889 w 4694357"/>
              <a:gd name="connsiteY141" fmla="*/ 4421600 h 4717133"/>
              <a:gd name="connsiteX142" fmla="*/ 1853486 w 4694357"/>
              <a:gd name="connsiteY142" fmla="*/ 4429003 h 4717133"/>
              <a:gd name="connsiteX143" fmla="*/ 1846083 w 4694357"/>
              <a:gd name="connsiteY143" fmla="*/ 4421600 h 4717133"/>
              <a:gd name="connsiteX144" fmla="*/ 1853486 w 4694357"/>
              <a:gd name="connsiteY144" fmla="*/ 4414197 h 4717133"/>
              <a:gd name="connsiteX145" fmla="*/ 1532898 w 4694357"/>
              <a:gd name="connsiteY145" fmla="*/ 4409642 h 4717133"/>
              <a:gd name="connsiteX146" fmla="*/ 1560231 w 4694357"/>
              <a:gd name="connsiteY146" fmla="*/ 4436405 h 4717133"/>
              <a:gd name="connsiteX147" fmla="*/ 1532898 w 4694357"/>
              <a:gd name="connsiteY147" fmla="*/ 4463168 h 4717133"/>
              <a:gd name="connsiteX148" fmla="*/ 1505565 w 4694357"/>
              <a:gd name="connsiteY148" fmla="*/ 4436405 h 4717133"/>
              <a:gd name="connsiteX149" fmla="*/ 1532898 w 4694357"/>
              <a:gd name="connsiteY149" fmla="*/ 4409642 h 4717133"/>
              <a:gd name="connsiteX150" fmla="*/ 3165445 w 4694357"/>
              <a:gd name="connsiteY150" fmla="*/ 4402809 h 4717133"/>
              <a:gd name="connsiteX151" fmla="*/ 3199042 w 4694357"/>
              <a:gd name="connsiteY151" fmla="*/ 4436406 h 4717133"/>
              <a:gd name="connsiteX152" fmla="*/ 3165445 w 4694357"/>
              <a:gd name="connsiteY152" fmla="*/ 4470003 h 4717133"/>
              <a:gd name="connsiteX153" fmla="*/ 3131848 w 4694357"/>
              <a:gd name="connsiteY153" fmla="*/ 4436406 h 4717133"/>
              <a:gd name="connsiteX154" fmla="*/ 3165445 w 4694357"/>
              <a:gd name="connsiteY154" fmla="*/ 4402809 h 4717133"/>
              <a:gd name="connsiteX155" fmla="*/ 1227685 w 4694357"/>
              <a:gd name="connsiteY155" fmla="*/ 4401670 h 4717133"/>
              <a:gd name="connsiteX156" fmla="*/ 1236796 w 4694357"/>
              <a:gd name="connsiteY156" fmla="*/ 4410781 h 4717133"/>
              <a:gd name="connsiteX157" fmla="*/ 1227685 w 4694357"/>
              <a:gd name="connsiteY157" fmla="*/ 4419892 h 4717133"/>
              <a:gd name="connsiteX158" fmla="*/ 1218574 w 4694357"/>
              <a:gd name="connsiteY158" fmla="*/ 4410781 h 4717133"/>
              <a:gd name="connsiteX159" fmla="*/ 1227685 w 4694357"/>
              <a:gd name="connsiteY159" fmla="*/ 4401670 h 4717133"/>
              <a:gd name="connsiteX160" fmla="*/ 3471227 w 4694357"/>
              <a:gd name="connsiteY160" fmla="*/ 4393698 h 4717133"/>
              <a:gd name="connsiteX161" fmla="*/ 3487171 w 4694357"/>
              <a:gd name="connsiteY161" fmla="*/ 4410212 h 4717133"/>
              <a:gd name="connsiteX162" fmla="*/ 3471227 w 4694357"/>
              <a:gd name="connsiteY162" fmla="*/ 4426726 h 4717133"/>
              <a:gd name="connsiteX163" fmla="*/ 3455283 w 4694357"/>
              <a:gd name="connsiteY163" fmla="*/ 4410212 h 4717133"/>
              <a:gd name="connsiteX164" fmla="*/ 3471227 w 4694357"/>
              <a:gd name="connsiteY164" fmla="*/ 4393698 h 4717133"/>
              <a:gd name="connsiteX165" fmla="*/ 3005437 w 4694357"/>
              <a:gd name="connsiteY165" fmla="*/ 4372060 h 4717133"/>
              <a:gd name="connsiteX166" fmla="*/ 3009994 w 4694357"/>
              <a:gd name="connsiteY166" fmla="*/ 4376046 h 4717133"/>
              <a:gd name="connsiteX167" fmla="*/ 3005437 w 4694357"/>
              <a:gd name="connsiteY167" fmla="*/ 4380032 h 4717133"/>
              <a:gd name="connsiteX168" fmla="*/ 3000881 w 4694357"/>
              <a:gd name="connsiteY168" fmla="*/ 4376046 h 4717133"/>
              <a:gd name="connsiteX169" fmla="*/ 3005437 w 4694357"/>
              <a:gd name="connsiteY169" fmla="*/ 4372060 h 4717133"/>
              <a:gd name="connsiteX170" fmla="*/ 1692908 w 4694357"/>
              <a:gd name="connsiteY170" fmla="*/ 4367504 h 4717133"/>
              <a:gd name="connsiteX171" fmla="*/ 1701450 w 4694357"/>
              <a:gd name="connsiteY171" fmla="*/ 4376615 h 4717133"/>
              <a:gd name="connsiteX172" fmla="*/ 1692908 w 4694357"/>
              <a:gd name="connsiteY172" fmla="*/ 4385726 h 4717133"/>
              <a:gd name="connsiteX173" fmla="*/ 1684366 w 4694357"/>
              <a:gd name="connsiteY173" fmla="*/ 4376615 h 4717133"/>
              <a:gd name="connsiteX174" fmla="*/ 1692908 w 4694357"/>
              <a:gd name="connsiteY174" fmla="*/ 4367504 h 4717133"/>
              <a:gd name="connsiteX175" fmla="*/ 2348888 w 4694357"/>
              <a:gd name="connsiteY175" fmla="*/ 4356116 h 4717133"/>
              <a:gd name="connsiteX176" fmla="*/ 2366541 w 4694357"/>
              <a:gd name="connsiteY176" fmla="*/ 4373769 h 4717133"/>
              <a:gd name="connsiteX177" fmla="*/ 2348888 w 4694357"/>
              <a:gd name="connsiteY177" fmla="*/ 4391422 h 4717133"/>
              <a:gd name="connsiteX178" fmla="*/ 2331235 w 4694357"/>
              <a:gd name="connsiteY178" fmla="*/ 4373769 h 4717133"/>
              <a:gd name="connsiteX179" fmla="*/ 2348888 w 4694357"/>
              <a:gd name="connsiteY179" fmla="*/ 4356116 h 4717133"/>
              <a:gd name="connsiteX180" fmla="*/ 2182044 w 4694357"/>
              <a:gd name="connsiteY180" fmla="*/ 4350421 h 4717133"/>
              <a:gd name="connsiteX181" fmla="*/ 2197988 w 4694357"/>
              <a:gd name="connsiteY181" fmla="*/ 4366935 h 4717133"/>
              <a:gd name="connsiteX182" fmla="*/ 2182044 w 4694357"/>
              <a:gd name="connsiteY182" fmla="*/ 4383449 h 4717133"/>
              <a:gd name="connsiteX183" fmla="*/ 2166100 w 4694357"/>
              <a:gd name="connsiteY183" fmla="*/ 4366935 h 4717133"/>
              <a:gd name="connsiteX184" fmla="*/ 2182044 w 4694357"/>
              <a:gd name="connsiteY184" fmla="*/ 4350421 h 4717133"/>
              <a:gd name="connsiteX185" fmla="*/ 2516299 w 4694357"/>
              <a:gd name="connsiteY185" fmla="*/ 4349283 h 4717133"/>
              <a:gd name="connsiteX186" fmla="*/ 2533952 w 4694357"/>
              <a:gd name="connsiteY186" fmla="*/ 4366936 h 4717133"/>
              <a:gd name="connsiteX187" fmla="*/ 2516299 w 4694357"/>
              <a:gd name="connsiteY187" fmla="*/ 4384589 h 4717133"/>
              <a:gd name="connsiteX188" fmla="*/ 2498646 w 4694357"/>
              <a:gd name="connsiteY188" fmla="*/ 4366936 h 4717133"/>
              <a:gd name="connsiteX189" fmla="*/ 2516299 w 4694357"/>
              <a:gd name="connsiteY189" fmla="*/ 4349283 h 4717133"/>
              <a:gd name="connsiteX190" fmla="*/ 1380292 w 4694357"/>
              <a:gd name="connsiteY190" fmla="*/ 4343588 h 4717133"/>
              <a:gd name="connsiteX191" fmla="*/ 1406486 w 4694357"/>
              <a:gd name="connsiteY191" fmla="*/ 4369782 h 4717133"/>
              <a:gd name="connsiteX192" fmla="*/ 1380292 w 4694357"/>
              <a:gd name="connsiteY192" fmla="*/ 4395976 h 4717133"/>
              <a:gd name="connsiteX193" fmla="*/ 1354098 w 4694357"/>
              <a:gd name="connsiteY193" fmla="*/ 4369782 h 4717133"/>
              <a:gd name="connsiteX194" fmla="*/ 1380292 w 4694357"/>
              <a:gd name="connsiteY194" fmla="*/ 4343588 h 4717133"/>
              <a:gd name="connsiteX195" fmla="*/ 3318621 w 4694357"/>
              <a:gd name="connsiteY195" fmla="*/ 4335617 h 4717133"/>
              <a:gd name="connsiteX196" fmla="*/ 3351648 w 4694357"/>
              <a:gd name="connsiteY196" fmla="*/ 4369214 h 4717133"/>
              <a:gd name="connsiteX197" fmla="*/ 3318621 w 4694357"/>
              <a:gd name="connsiteY197" fmla="*/ 4402811 h 4717133"/>
              <a:gd name="connsiteX198" fmla="*/ 3285594 w 4694357"/>
              <a:gd name="connsiteY198" fmla="*/ 4369214 h 4717133"/>
              <a:gd name="connsiteX199" fmla="*/ 3318621 w 4694357"/>
              <a:gd name="connsiteY199" fmla="*/ 4335617 h 4717133"/>
              <a:gd name="connsiteX200" fmla="*/ 2016910 w 4694357"/>
              <a:gd name="connsiteY200" fmla="*/ 4331061 h 4717133"/>
              <a:gd name="connsiteX201" fmla="*/ 2031715 w 4694357"/>
              <a:gd name="connsiteY201" fmla="*/ 4346436 h 4717133"/>
              <a:gd name="connsiteX202" fmla="*/ 2016910 w 4694357"/>
              <a:gd name="connsiteY202" fmla="*/ 4361811 h 4717133"/>
              <a:gd name="connsiteX203" fmla="*/ 2002105 w 4694357"/>
              <a:gd name="connsiteY203" fmla="*/ 4346436 h 4717133"/>
              <a:gd name="connsiteX204" fmla="*/ 2016910 w 4694357"/>
              <a:gd name="connsiteY204" fmla="*/ 4331061 h 4717133"/>
              <a:gd name="connsiteX205" fmla="*/ 2681433 w 4694357"/>
              <a:gd name="connsiteY205" fmla="*/ 4328783 h 4717133"/>
              <a:gd name="connsiteX206" fmla="*/ 2699086 w 4694357"/>
              <a:gd name="connsiteY206" fmla="*/ 4346436 h 4717133"/>
              <a:gd name="connsiteX207" fmla="*/ 2681433 w 4694357"/>
              <a:gd name="connsiteY207" fmla="*/ 4364089 h 4717133"/>
              <a:gd name="connsiteX208" fmla="*/ 2663780 w 4694357"/>
              <a:gd name="connsiteY208" fmla="*/ 4346436 h 4717133"/>
              <a:gd name="connsiteX209" fmla="*/ 2681433 w 4694357"/>
              <a:gd name="connsiteY209" fmla="*/ 4328783 h 4717133"/>
              <a:gd name="connsiteX210" fmla="*/ 1084189 w 4694357"/>
              <a:gd name="connsiteY210" fmla="*/ 4318533 h 4717133"/>
              <a:gd name="connsiteX211" fmla="*/ 1091022 w 4694357"/>
              <a:gd name="connsiteY211" fmla="*/ 4325366 h 4717133"/>
              <a:gd name="connsiteX212" fmla="*/ 1084189 w 4694357"/>
              <a:gd name="connsiteY212" fmla="*/ 4332199 h 4717133"/>
              <a:gd name="connsiteX213" fmla="*/ 1077356 w 4694357"/>
              <a:gd name="connsiteY213" fmla="*/ 4325366 h 4717133"/>
              <a:gd name="connsiteX214" fmla="*/ 1084189 w 4694357"/>
              <a:gd name="connsiteY214" fmla="*/ 4318533 h 4717133"/>
              <a:gd name="connsiteX215" fmla="*/ 3162028 w 4694357"/>
              <a:gd name="connsiteY215" fmla="*/ 4313978 h 4717133"/>
              <a:gd name="connsiteX216" fmla="*/ 3166014 w 4694357"/>
              <a:gd name="connsiteY216" fmla="*/ 4318534 h 4717133"/>
              <a:gd name="connsiteX217" fmla="*/ 3162028 w 4694357"/>
              <a:gd name="connsiteY217" fmla="*/ 4323091 h 4717133"/>
              <a:gd name="connsiteX218" fmla="*/ 3158042 w 4694357"/>
              <a:gd name="connsiteY218" fmla="*/ 4318534 h 4717133"/>
              <a:gd name="connsiteX219" fmla="*/ 3162028 w 4694357"/>
              <a:gd name="connsiteY219" fmla="*/ 4313978 h 4717133"/>
              <a:gd name="connsiteX220" fmla="*/ 3614723 w 4694357"/>
              <a:gd name="connsiteY220" fmla="*/ 4309423 h 4717133"/>
              <a:gd name="connsiteX221" fmla="*/ 3629528 w 4694357"/>
              <a:gd name="connsiteY221" fmla="*/ 4324798 h 4717133"/>
              <a:gd name="connsiteX222" fmla="*/ 3614723 w 4694357"/>
              <a:gd name="connsiteY222" fmla="*/ 4340173 h 4717133"/>
              <a:gd name="connsiteX223" fmla="*/ 3599918 w 4694357"/>
              <a:gd name="connsiteY223" fmla="*/ 4324798 h 4717133"/>
              <a:gd name="connsiteX224" fmla="*/ 3614723 w 4694357"/>
              <a:gd name="connsiteY224" fmla="*/ 4309423 h 4717133"/>
              <a:gd name="connsiteX225" fmla="*/ 1536885 w 4694357"/>
              <a:gd name="connsiteY225" fmla="*/ 4307145 h 4717133"/>
              <a:gd name="connsiteX226" fmla="*/ 1547705 w 4694357"/>
              <a:gd name="connsiteY226" fmla="*/ 4317965 h 4717133"/>
              <a:gd name="connsiteX227" fmla="*/ 1536885 w 4694357"/>
              <a:gd name="connsiteY227" fmla="*/ 4328785 h 4717133"/>
              <a:gd name="connsiteX228" fmla="*/ 1526065 w 4694357"/>
              <a:gd name="connsiteY228" fmla="*/ 4317965 h 4717133"/>
              <a:gd name="connsiteX229" fmla="*/ 1536885 w 4694357"/>
              <a:gd name="connsiteY229" fmla="*/ 4307145 h 4717133"/>
              <a:gd name="connsiteX230" fmla="*/ 1854054 w 4694357"/>
              <a:gd name="connsiteY230" fmla="*/ 4298034 h 4717133"/>
              <a:gd name="connsiteX231" fmla="*/ 1867720 w 4694357"/>
              <a:gd name="connsiteY231" fmla="*/ 4312270 h 4717133"/>
              <a:gd name="connsiteX232" fmla="*/ 1854054 w 4694357"/>
              <a:gd name="connsiteY232" fmla="*/ 4326506 h 4717133"/>
              <a:gd name="connsiteX233" fmla="*/ 1840388 w 4694357"/>
              <a:gd name="connsiteY233" fmla="*/ 4312270 h 4717133"/>
              <a:gd name="connsiteX234" fmla="*/ 1854054 w 4694357"/>
              <a:gd name="connsiteY234" fmla="*/ 4298034 h 4717133"/>
              <a:gd name="connsiteX235" fmla="*/ 2844858 w 4694357"/>
              <a:gd name="connsiteY235" fmla="*/ 4293479 h 4717133"/>
              <a:gd name="connsiteX236" fmla="*/ 2863080 w 4694357"/>
              <a:gd name="connsiteY236" fmla="*/ 4311701 h 4717133"/>
              <a:gd name="connsiteX237" fmla="*/ 2844858 w 4694357"/>
              <a:gd name="connsiteY237" fmla="*/ 4329923 h 4717133"/>
              <a:gd name="connsiteX238" fmla="*/ 2826636 w 4694357"/>
              <a:gd name="connsiteY238" fmla="*/ 4311701 h 4717133"/>
              <a:gd name="connsiteX239" fmla="*/ 2844858 w 4694357"/>
              <a:gd name="connsiteY239" fmla="*/ 4293479 h 4717133"/>
              <a:gd name="connsiteX240" fmla="*/ 1232810 w 4694357"/>
              <a:gd name="connsiteY240" fmla="*/ 4266146 h 4717133"/>
              <a:gd name="connsiteX241" fmla="*/ 1258435 w 4694357"/>
              <a:gd name="connsiteY241" fmla="*/ 4291771 h 4717133"/>
              <a:gd name="connsiteX242" fmla="*/ 1232810 w 4694357"/>
              <a:gd name="connsiteY242" fmla="*/ 4317396 h 4717133"/>
              <a:gd name="connsiteX243" fmla="*/ 1207185 w 4694357"/>
              <a:gd name="connsiteY243" fmla="*/ 4291771 h 4717133"/>
              <a:gd name="connsiteX244" fmla="*/ 1232810 w 4694357"/>
              <a:gd name="connsiteY244" fmla="*/ 4266146 h 4717133"/>
              <a:gd name="connsiteX245" fmla="*/ 3466103 w 4694357"/>
              <a:gd name="connsiteY245" fmla="*/ 4258174 h 4717133"/>
              <a:gd name="connsiteX246" fmla="*/ 3498561 w 4694357"/>
              <a:gd name="connsiteY246" fmla="*/ 4290632 h 4717133"/>
              <a:gd name="connsiteX247" fmla="*/ 3466103 w 4694357"/>
              <a:gd name="connsiteY247" fmla="*/ 4323090 h 4717133"/>
              <a:gd name="connsiteX248" fmla="*/ 3433645 w 4694357"/>
              <a:gd name="connsiteY248" fmla="*/ 4290632 h 4717133"/>
              <a:gd name="connsiteX249" fmla="*/ 3466103 w 4694357"/>
              <a:gd name="connsiteY249" fmla="*/ 4258174 h 4717133"/>
              <a:gd name="connsiteX250" fmla="*/ 1694046 w 4694357"/>
              <a:gd name="connsiteY250" fmla="*/ 4252480 h 4717133"/>
              <a:gd name="connsiteX251" fmla="*/ 1706004 w 4694357"/>
              <a:gd name="connsiteY251" fmla="*/ 4264438 h 4717133"/>
              <a:gd name="connsiteX252" fmla="*/ 1694046 w 4694357"/>
              <a:gd name="connsiteY252" fmla="*/ 4276396 h 4717133"/>
              <a:gd name="connsiteX253" fmla="*/ 1682088 w 4694357"/>
              <a:gd name="connsiteY253" fmla="*/ 4264438 h 4717133"/>
              <a:gd name="connsiteX254" fmla="*/ 1694046 w 4694357"/>
              <a:gd name="connsiteY254" fmla="*/ 4252480 h 4717133"/>
              <a:gd name="connsiteX255" fmla="*/ 3004867 w 4694357"/>
              <a:gd name="connsiteY255" fmla="*/ 4246786 h 4717133"/>
              <a:gd name="connsiteX256" fmla="*/ 3022520 w 4694357"/>
              <a:gd name="connsiteY256" fmla="*/ 4264439 h 4717133"/>
              <a:gd name="connsiteX257" fmla="*/ 3004867 w 4694357"/>
              <a:gd name="connsiteY257" fmla="*/ 4282092 h 4717133"/>
              <a:gd name="connsiteX258" fmla="*/ 2987214 w 4694357"/>
              <a:gd name="connsiteY258" fmla="*/ 4264439 h 4717133"/>
              <a:gd name="connsiteX259" fmla="*/ 3004867 w 4694357"/>
              <a:gd name="connsiteY259" fmla="*/ 4246786 h 4717133"/>
              <a:gd name="connsiteX260" fmla="*/ 3313496 w 4694357"/>
              <a:gd name="connsiteY260" fmla="*/ 4244508 h 4717133"/>
              <a:gd name="connsiteX261" fmla="*/ 3317482 w 4694357"/>
              <a:gd name="connsiteY261" fmla="*/ 4248494 h 4717133"/>
              <a:gd name="connsiteX262" fmla="*/ 3313496 w 4694357"/>
              <a:gd name="connsiteY262" fmla="*/ 4252480 h 4717133"/>
              <a:gd name="connsiteX263" fmla="*/ 3309510 w 4694357"/>
              <a:gd name="connsiteY263" fmla="*/ 4248494 h 4717133"/>
              <a:gd name="connsiteX264" fmla="*/ 3313496 w 4694357"/>
              <a:gd name="connsiteY264" fmla="*/ 4244508 h 4717133"/>
              <a:gd name="connsiteX265" fmla="*/ 1385417 w 4694357"/>
              <a:gd name="connsiteY265" fmla="*/ 4235397 h 4717133"/>
              <a:gd name="connsiteX266" fmla="*/ 1398514 w 4694357"/>
              <a:gd name="connsiteY266" fmla="*/ 4248494 h 4717133"/>
              <a:gd name="connsiteX267" fmla="*/ 1385417 w 4694357"/>
              <a:gd name="connsiteY267" fmla="*/ 4261591 h 4717133"/>
              <a:gd name="connsiteX268" fmla="*/ 1372320 w 4694357"/>
              <a:gd name="connsiteY268" fmla="*/ 4248494 h 4717133"/>
              <a:gd name="connsiteX269" fmla="*/ 1385417 w 4694357"/>
              <a:gd name="connsiteY269" fmla="*/ 4235397 h 4717133"/>
              <a:gd name="connsiteX270" fmla="*/ 946958 w 4694357"/>
              <a:gd name="connsiteY270" fmla="*/ 4225147 h 4717133"/>
              <a:gd name="connsiteX271" fmla="*/ 952083 w 4694357"/>
              <a:gd name="connsiteY271" fmla="*/ 4230272 h 4717133"/>
              <a:gd name="connsiteX272" fmla="*/ 946958 w 4694357"/>
              <a:gd name="connsiteY272" fmla="*/ 4235397 h 4717133"/>
              <a:gd name="connsiteX273" fmla="*/ 941833 w 4694357"/>
              <a:gd name="connsiteY273" fmla="*/ 4230272 h 4717133"/>
              <a:gd name="connsiteX274" fmla="*/ 946958 w 4694357"/>
              <a:gd name="connsiteY274" fmla="*/ 4225147 h 4717133"/>
              <a:gd name="connsiteX275" fmla="*/ 3751385 w 4694357"/>
              <a:gd name="connsiteY275" fmla="*/ 4214898 h 4717133"/>
              <a:gd name="connsiteX276" fmla="*/ 3765051 w 4694357"/>
              <a:gd name="connsiteY276" fmla="*/ 4229134 h 4717133"/>
              <a:gd name="connsiteX277" fmla="*/ 3751385 w 4694357"/>
              <a:gd name="connsiteY277" fmla="*/ 4243370 h 4717133"/>
              <a:gd name="connsiteX278" fmla="*/ 3737719 w 4694357"/>
              <a:gd name="connsiteY278" fmla="*/ 4229134 h 4717133"/>
              <a:gd name="connsiteX279" fmla="*/ 3751385 w 4694357"/>
              <a:gd name="connsiteY279" fmla="*/ 4214898 h 4717133"/>
              <a:gd name="connsiteX280" fmla="*/ 1539162 w 4694357"/>
              <a:gd name="connsiteY280" fmla="*/ 4194399 h 4717133"/>
              <a:gd name="connsiteX281" fmla="*/ 1548843 w 4694357"/>
              <a:gd name="connsiteY281" fmla="*/ 4204080 h 4717133"/>
              <a:gd name="connsiteX282" fmla="*/ 1539162 w 4694357"/>
              <a:gd name="connsiteY282" fmla="*/ 4213761 h 4717133"/>
              <a:gd name="connsiteX283" fmla="*/ 1529481 w 4694357"/>
              <a:gd name="connsiteY283" fmla="*/ 4204080 h 4717133"/>
              <a:gd name="connsiteX284" fmla="*/ 1539162 w 4694357"/>
              <a:gd name="connsiteY284" fmla="*/ 4194399 h 4717133"/>
              <a:gd name="connsiteX285" fmla="*/ 3159181 w 4694357"/>
              <a:gd name="connsiteY285" fmla="*/ 4186426 h 4717133"/>
              <a:gd name="connsiteX286" fmla="*/ 3176264 w 4694357"/>
              <a:gd name="connsiteY286" fmla="*/ 4204079 h 4717133"/>
              <a:gd name="connsiteX287" fmla="*/ 3159181 w 4694357"/>
              <a:gd name="connsiteY287" fmla="*/ 4221732 h 4717133"/>
              <a:gd name="connsiteX288" fmla="*/ 3142098 w 4694357"/>
              <a:gd name="connsiteY288" fmla="*/ 4204079 h 4717133"/>
              <a:gd name="connsiteX289" fmla="*/ 3159181 w 4694357"/>
              <a:gd name="connsiteY289" fmla="*/ 4186426 h 4717133"/>
              <a:gd name="connsiteX290" fmla="*/ 1091593 w 4694357"/>
              <a:gd name="connsiteY290" fmla="*/ 4178455 h 4717133"/>
              <a:gd name="connsiteX291" fmla="*/ 1116079 w 4694357"/>
              <a:gd name="connsiteY291" fmla="*/ 4202941 h 4717133"/>
              <a:gd name="connsiteX292" fmla="*/ 1091593 w 4694357"/>
              <a:gd name="connsiteY292" fmla="*/ 4227427 h 4717133"/>
              <a:gd name="connsiteX293" fmla="*/ 1067107 w 4694357"/>
              <a:gd name="connsiteY293" fmla="*/ 4202941 h 4717133"/>
              <a:gd name="connsiteX294" fmla="*/ 1091593 w 4694357"/>
              <a:gd name="connsiteY294" fmla="*/ 4178455 h 4717133"/>
              <a:gd name="connsiteX295" fmla="*/ 3607320 w 4694357"/>
              <a:gd name="connsiteY295" fmla="*/ 4170482 h 4717133"/>
              <a:gd name="connsiteX296" fmla="*/ 3638639 w 4694357"/>
              <a:gd name="connsiteY296" fmla="*/ 4201801 h 4717133"/>
              <a:gd name="connsiteX297" fmla="*/ 3607320 w 4694357"/>
              <a:gd name="connsiteY297" fmla="*/ 4233120 h 4717133"/>
              <a:gd name="connsiteX298" fmla="*/ 3576001 w 4694357"/>
              <a:gd name="connsiteY298" fmla="*/ 4201801 h 4717133"/>
              <a:gd name="connsiteX299" fmla="*/ 3607320 w 4694357"/>
              <a:gd name="connsiteY299" fmla="*/ 4170482 h 4717133"/>
              <a:gd name="connsiteX300" fmla="*/ 3458130 w 4694357"/>
              <a:gd name="connsiteY300" fmla="*/ 4162511 h 4717133"/>
              <a:gd name="connsiteX301" fmla="*/ 3462116 w 4694357"/>
              <a:gd name="connsiteY301" fmla="*/ 4166497 h 4717133"/>
              <a:gd name="connsiteX302" fmla="*/ 3458130 w 4694357"/>
              <a:gd name="connsiteY302" fmla="*/ 4170483 h 4717133"/>
              <a:gd name="connsiteX303" fmla="*/ 3454144 w 4694357"/>
              <a:gd name="connsiteY303" fmla="*/ 4166497 h 4717133"/>
              <a:gd name="connsiteX304" fmla="*/ 3458130 w 4694357"/>
              <a:gd name="connsiteY304" fmla="*/ 4162511 h 4717133"/>
              <a:gd name="connsiteX305" fmla="*/ 1240212 w 4694357"/>
              <a:gd name="connsiteY305" fmla="*/ 4152261 h 4717133"/>
              <a:gd name="connsiteX306" fmla="*/ 1255017 w 4694357"/>
              <a:gd name="connsiteY306" fmla="*/ 4167066 h 4717133"/>
              <a:gd name="connsiteX307" fmla="*/ 1240212 w 4694357"/>
              <a:gd name="connsiteY307" fmla="*/ 4181871 h 4717133"/>
              <a:gd name="connsiteX308" fmla="*/ 1225407 w 4694357"/>
              <a:gd name="connsiteY308" fmla="*/ 4167066 h 4717133"/>
              <a:gd name="connsiteX309" fmla="*/ 1240212 w 4694357"/>
              <a:gd name="connsiteY309" fmla="*/ 4152261 h 4717133"/>
              <a:gd name="connsiteX310" fmla="*/ 1389402 w 4694357"/>
              <a:gd name="connsiteY310" fmla="*/ 4122651 h 4717133"/>
              <a:gd name="connsiteX311" fmla="*/ 1397374 w 4694357"/>
              <a:gd name="connsiteY311" fmla="*/ 4130623 h 4717133"/>
              <a:gd name="connsiteX312" fmla="*/ 1389402 w 4694357"/>
              <a:gd name="connsiteY312" fmla="*/ 4138595 h 4717133"/>
              <a:gd name="connsiteX313" fmla="*/ 1381430 w 4694357"/>
              <a:gd name="connsiteY313" fmla="*/ 4130623 h 4717133"/>
              <a:gd name="connsiteX314" fmla="*/ 1389402 w 4694357"/>
              <a:gd name="connsiteY314" fmla="*/ 4122651 h 4717133"/>
              <a:gd name="connsiteX315" fmla="*/ 817128 w 4694357"/>
              <a:gd name="connsiteY315" fmla="*/ 4121512 h 4717133"/>
              <a:gd name="connsiteX316" fmla="*/ 821114 w 4694357"/>
              <a:gd name="connsiteY316" fmla="*/ 4125498 h 4717133"/>
              <a:gd name="connsiteX317" fmla="*/ 817128 w 4694357"/>
              <a:gd name="connsiteY317" fmla="*/ 4129484 h 4717133"/>
              <a:gd name="connsiteX318" fmla="*/ 813142 w 4694357"/>
              <a:gd name="connsiteY318" fmla="*/ 4125498 h 4717133"/>
              <a:gd name="connsiteX319" fmla="*/ 817128 w 4694357"/>
              <a:gd name="connsiteY319" fmla="*/ 4121512 h 4717133"/>
              <a:gd name="connsiteX320" fmla="*/ 3308941 w 4694357"/>
              <a:gd name="connsiteY320" fmla="*/ 4113540 h 4717133"/>
              <a:gd name="connsiteX321" fmla="*/ 3325455 w 4694357"/>
              <a:gd name="connsiteY321" fmla="*/ 4130054 h 4717133"/>
              <a:gd name="connsiteX322" fmla="*/ 3308941 w 4694357"/>
              <a:gd name="connsiteY322" fmla="*/ 4146568 h 4717133"/>
              <a:gd name="connsiteX323" fmla="*/ 3292427 w 4694357"/>
              <a:gd name="connsiteY323" fmla="*/ 4130054 h 4717133"/>
              <a:gd name="connsiteX324" fmla="*/ 3308941 w 4694357"/>
              <a:gd name="connsiteY324" fmla="*/ 4113540 h 4717133"/>
              <a:gd name="connsiteX325" fmla="*/ 3881215 w 4694357"/>
              <a:gd name="connsiteY325" fmla="*/ 4111262 h 4717133"/>
              <a:gd name="connsiteX326" fmla="*/ 3893743 w 4694357"/>
              <a:gd name="connsiteY326" fmla="*/ 4124359 h 4717133"/>
              <a:gd name="connsiteX327" fmla="*/ 3881215 w 4694357"/>
              <a:gd name="connsiteY327" fmla="*/ 4137456 h 4717133"/>
              <a:gd name="connsiteX328" fmla="*/ 3868687 w 4694357"/>
              <a:gd name="connsiteY328" fmla="*/ 4124359 h 4717133"/>
              <a:gd name="connsiteX329" fmla="*/ 3881215 w 4694357"/>
              <a:gd name="connsiteY329" fmla="*/ 4111262 h 4717133"/>
              <a:gd name="connsiteX330" fmla="*/ 957208 w 4694357"/>
              <a:gd name="connsiteY330" fmla="*/ 4079374 h 4717133"/>
              <a:gd name="connsiteX331" fmla="*/ 980555 w 4694357"/>
              <a:gd name="connsiteY331" fmla="*/ 4103290 h 4717133"/>
              <a:gd name="connsiteX332" fmla="*/ 957208 w 4694357"/>
              <a:gd name="connsiteY332" fmla="*/ 4127206 h 4717133"/>
              <a:gd name="connsiteX333" fmla="*/ 933861 w 4694357"/>
              <a:gd name="connsiteY333" fmla="*/ 4103290 h 4717133"/>
              <a:gd name="connsiteX334" fmla="*/ 957208 w 4694357"/>
              <a:gd name="connsiteY334" fmla="*/ 4079374 h 4717133"/>
              <a:gd name="connsiteX335" fmla="*/ 3741705 w 4694357"/>
              <a:gd name="connsiteY335" fmla="*/ 4071402 h 4717133"/>
              <a:gd name="connsiteX336" fmla="*/ 3773024 w 4694357"/>
              <a:gd name="connsiteY336" fmla="*/ 4102151 h 4717133"/>
              <a:gd name="connsiteX337" fmla="*/ 3741705 w 4694357"/>
              <a:gd name="connsiteY337" fmla="*/ 4132900 h 4717133"/>
              <a:gd name="connsiteX338" fmla="*/ 3710386 w 4694357"/>
              <a:gd name="connsiteY338" fmla="*/ 4102151 h 4717133"/>
              <a:gd name="connsiteX339" fmla="*/ 3741705 w 4694357"/>
              <a:gd name="connsiteY339" fmla="*/ 4071402 h 4717133"/>
              <a:gd name="connsiteX340" fmla="*/ 3597071 w 4694357"/>
              <a:gd name="connsiteY340" fmla="*/ 4070263 h 4717133"/>
              <a:gd name="connsiteX341" fmla="*/ 3601057 w 4694357"/>
              <a:gd name="connsiteY341" fmla="*/ 4074249 h 4717133"/>
              <a:gd name="connsiteX342" fmla="*/ 3597071 w 4694357"/>
              <a:gd name="connsiteY342" fmla="*/ 4078235 h 4717133"/>
              <a:gd name="connsiteX343" fmla="*/ 3593085 w 4694357"/>
              <a:gd name="connsiteY343" fmla="*/ 4074249 h 4717133"/>
              <a:gd name="connsiteX344" fmla="*/ 3597071 w 4694357"/>
              <a:gd name="connsiteY344" fmla="*/ 4070263 h 4717133"/>
              <a:gd name="connsiteX345" fmla="*/ 1101272 w 4694357"/>
              <a:gd name="connsiteY345" fmla="*/ 4056597 h 4717133"/>
              <a:gd name="connsiteX346" fmla="*/ 1118355 w 4694357"/>
              <a:gd name="connsiteY346" fmla="*/ 4074250 h 4717133"/>
              <a:gd name="connsiteX347" fmla="*/ 1101272 w 4694357"/>
              <a:gd name="connsiteY347" fmla="*/ 4091903 h 4717133"/>
              <a:gd name="connsiteX348" fmla="*/ 1084189 w 4694357"/>
              <a:gd name="connsiteY348" fmla="*/ 4074250 h 4717133"/>
              <a:gd name="connsiteX349" fmla="*/ 1101272 w 4694357"/>
              <a:gd name="connsiteY349" fmla="*/ 4056597 h 4717133"/>
              <a:gd name="connsiteX350" fmla="*/ 1246477 w 4694357"/>
              <a:gd name="connsiteY350" fmla="*/ 4039515 h 4717133"/>
              <a:gd name="connsiteX351" fmla="*/ 1252741 w 4694357"/>
              <a:gd name="connsiteY351" fmla="*/ 4045210 h 4717133"/>
              <a:gd name="connsiteX352" fmla="*/ 1246477 w 4694357"/>
              <a:gd name="connsiteY352" fmla="*/ 4050905 h 4717133"/>
              <a:gd name="connsiteX353" fmla="*/ 1240213 w 4694357"/>
              <a:gd name="connsiteY353" fmla="*/ 4045210 h 4717133"/>
              <a:gd name="connsiteX354" fmla="*/ 1246477 w 4694357"/>
              <a:gd name="connsiteY354" fmla="*/ 4039515 h 4717133"/>
              <a:gd name="connsiteX355" fmla="*/ 3451867 w 4694357"/>
              <a:gd name="connsiteY355" fmla="*/ 4028126 h 4717133"/>
              <a:gd name="connsiteX356" fmla="*/ 3467811 w 4694357"/>
              <a:gd name="connsiteY356" fmla="*/ 4044640 h 4717133"/>
              <a:gd name="connsiteX357" fmla="*/ 3451867 w 4694357"/>
              <a:gd name="connsiteY357" fmla="*/ 4061154 h 4717133"/>
              <a:gd name="connsiteX358" fmla="*/ 3435923 w 4694357"/>
              <a:gd name="connsiteY358" fmla="*/ 4044640 h 4717133"/>
              <a:gd name="connsiteX359" fmla="*/ 3451867 w 4694357"/>
              <a:gd name="connsiteY359" fmla="*/ 4028126 h 4717133"/>
              <a:gd name="connsiteX360" fmla="*/ 694702 w 4694357"/>
              <a:gd name="connsiteY360" fmla="*/ 4008765 h 4717133"/>
              <a:gd name="connsiteX361" fmla="*/ 698119 w 4694357"/>
              <a:gd name="connsiteY361" fmla="*/ 4011613 h 4717133"/>
              <a:gd name="connsiteX362" fmla="*/ 694702 w 4694357"/>
              <a:gd name="connsiteY362" fmla="*/ 4014461 h 4717133"/>
              <a:gd name="connsiteX363" fmla="*/ 691285 w 4694357"/>
              <a:gd name="connsiteY363" fmla="*/ 4011613 h 4717133"/>
              <a:gd name="connsiteX364" fmla="*/ 694702 w 4694357"/>
              <a:gd name="connsiteY364" fmla="*/ 4008765 h 4717133"/>
              <a:gd name="connsiteX365" fmla="*/ 4003641 w 4694357"/>
              <a:gd name="connsiteY365" fmla="*/ 3998516 h 4717133"/>
              <a:gd name="connsiteX366" fmla="*/ 4015599 w 4694357"/>
              <a:gd name="connsiteY366" fmla="*/ 4010474 h 4717133"/>
              <a:gd name="connsiteX367" fmla="*/ 4003641 w 4694357"/>
              <a:gd name="connsiteY367" fmla="*/ 4022432 h 4717133"/>
              <a:gd name="connsiteX368" fmla="*/ 3991683 w 4694357"/>
              <a:gd name="connsiteY368" fmla="*/ 4010474 h 4717133"/>
              <a:gd name="connsiteX369" fmla="*/ 4003641 w 4694357"/>
              <a:gd name="connsiteY369" fmla="*/ 3998516 h 4717133"/>
              <a:gd name="connsiteX370" fmla="*/ 830225 w 4694357"/>
              <a:gd name="connsiteY370" fmla="*/ 3971183 h 4717133"/>
              <a:gd name="connsiteX371" fmla="*/ 853002 w 4694357"/>
              <a:gd name="connsiteY371" fmla="*/ 3993960 h 4717133"/>
              <a:gd name="connsiteX372" fmla="*/ 830225 w 4694357"/>
              <a:gd name="connsiteY372" fmla="*/ 4016737 h 4717133"/>
              <a:gd name="connsiteX373" fmla="*/ 807448 w 4694357"/>
              <a:gd name="connsiteY373" fmla="*/ 3993960 h 4717133"/>
              <a:gd name="connsiteX374" fmla="*/ 830225 w 4694357"/>
              <a:gd name="connsiteY374" fmla="*/ 3971183 h 4717133"/>
              <a:gd name="connsiteX375" fmla="*/ 3726900 w 4694357"/>
              <a:gd name="connsiteY375" fmla="*/ 3966628 h 4717133"/>
              <a:gd name="connsiteX376" fmla="*/ 3730886 w 4694357"/>
              <a:gd name="connsiteY376" fmla="*/ 3970614 h 4717133"/>
              <a:gd name="connsiteX377" fmla="*/ 3726900 w 4694357"/>
              <a:gd name="connsiteY377" fmla="*/ 3974600 h 4717133"/>
              <a:gd name="connsiteX378" fmla="*/ 3722914 w 4694357"/>
              <a:gd name="connsiteY378" fmla="*/ 3970614 h 4717133"/>
              <a:gd name="connsiteX379" fmla="*/ 3726900 w 4694357"/>
              <a:gd name="connsiteY379" fmla="*/ 3966628 h 4717133"/>
              <a:gd name="connsiteX380" fmla="*/ 3868118 w 4694357"/>
              <a:gd name="connsiteY380" fmla="*/ 3963211 h 4717133"/>
              <a:gd name="connsiteX381" fmla="*/ 3898298 w 4694357"/>
              <a:gd name="connsiteY381" fmla="*/ 3993391 h 4717133"/>
              <a:gd name="connsiteX382" fmla="*/ 3868118 w 4694357"/>
              <a:gd name="connsiteY382" fmla="*/ 4023571 h 4717133"/>
              <a:gd name="connsiteX383" fmla="*/ 3837938 w 4694357"/>
              <a:gd name="connsiteY383" fmla="*/ 3993391 h 4717133"/>
              <a:gd name="connsiteX384" fmla="*/ 3868118 w 4694357"/>
              <a:gd name="connsiteY384" fmla="*/ 3963211 h 4717133"/>
              <a:gd name="connsiteX385" fmla="*/ 970874 w 4694357"/>
              <a:gd name="connsiteY385" fmla="*/ 3951822 h 4717133"/>
              <a:gd name="connsiteX386" fmla="*/ 989666 w 4694357"/>
              <a:gd name="connsiteY386" fmla="*/ 3971183 h 4717133"/>
              <a:gd name="connsiteX387" fmla="*/ 970874 w 4694357"/>
              <a:gd name="connsiteY387" fmla="*/ 3990544 h 4717133"/>
              <a:gd name="connsiteX388" fmla="*/ 952082 w 4694357"/>
              <a:gd name="connsiteY388" fmla="*/ 3971183 h 4717133"/>
              <a:gd name="connsiteX389" fmla="*/ 970874 w 4694357"/>
              <a:gd name="connsiteY389" fmla="*/ 3951822 h 4717133"/>
              <a:gd name="connsiteX390" fmla="*/ 1110952 w 4694357"/>
              <a:gd name="connsiteY390" fmla="*/ 3943851 h 4717133"/>
              <a:gd name="connsiteX391" fmla="*/ 1114938 w 4694357"/>
              <a:gd name="connsiteY391" fmla="*/ 3948407 h 4717133"/>
              <a:gd name="connsiteX392" fmla="*/ 1110952 w 4694357"/>
              <a:gd name="connsiteY392" fmla="*/ 3952964 h 4717133"/>
              <a:gd name="connsiteX393" fmla="*/ 1106966 w 4694357"/>
              <a:gd name="connsiteY393" fmla="*/ 3948407 h 4717133"/>
              <a:gd name="connsiteX394" fmla="*/ 1110952 w 4694357"/>
              <a:gd name="connsiteY394" fmla="*/ 3943851 h 4717133"/>
              <a:gd name="connsiteX395" fmla="*/ 3587390 w 4694357"/>
              <a:gd name="connsiteY395" fmla="*/ 3932462 h 4717133"/>
              <a:gd name="connsiteX396" fmla="*/ 3603334 w 4694357"/>
              <a:gd name="connsiteY396" fmla="*/ 3947837 h 4717133"/>
              <a:gd name="connsiteX397" fmla="*/ 3587390 w 4694357"/>
              <a:gd name="connsiteY397" fmla="*/ 3963212 h 4717133"/>
              <a:gd name="connsiteX398" fmla="*/ 3571446 w 4694357"/>
              <a:gd name="connsiteY398" fmla="*/ 3947837 h 4717133"/>
              <a:gd name="connsiteX399" fmla="*/ 3587390 w 4694357"/>
              <a:gd name="connsiteY399" fmla="*/ 3932462 h 4717133"/>
              <a:gd name="connsiteX400" fmla="*/ 581386 w 4694357"/>
              <a:gd name="connsiteY400" fmla="*/ 3886908 h 4717133"/>
              <a:gd name="connsiteX401" fmla="*/ 583095 w 4694357"/>
              <a:gd name="connsiteY401" fmla="*/ 3889186 h 4717133"/>
              <a:gd name="connsiteX402" fmla="*/ 581386 w 4694357"/>
              <a:gd name="connsiteY402" fmla="*/ 3891464 h 4717133"/>
              <a:gd name="connsiteX403" fmla="*/ 579677 w 4694357"/>
              <a:gd name="connsiteY403" fmla="*/ 3889186 h 4717133"/>
              <a:gd name="connsiteX404" fmla="*/ 581386 w 4694357"/>
              <a:gd name="connsiteY404" fmla="*/ 3886908 h 4717133"/>
              <a:gd name="connsiteX405" fmla="*/ 4117527 w 4694357"/>
              <a:gd name="connsiteY405" fmla="*/ 3877797 h 4717133"/>
              <a:gd name="connsiteX406" fmla="*/ 4128347 w 4694357"/>
              <a:gd name="connsiteY406" fmla="*/ 3888617 h 4717133"/>
              <a:gd name="connsiteX407" fmla="*/ 4117527 w 4694357"/>
              <a:gd name="connsiteY407" fmla="*/ 3899437 h 4717133"/>
              <a:gd name="connsiteX408" fmla="*/ 4106707 w 4694357"/>
              <a:gd name="connsiteY408" fmla="*/ 3888617 h 4717133"/>
              <a:gd name="connsiteX409" fmla="*/ 4117527 w 4694357"/>
              <a:gd name="connsiteY409" fmla="*/ 3877797 h 4717133"/>
              <a:gd name="connsiteX410" fmla="*/ 712923 w 4694357"/>
              <a:gd name="connsiteY410" fmla="*/ 3855020 h 4717133"/>
              <a:gd name="connsiteX411" fmla="*/ 734561 w 4694357"/>
              <a:gd name="connsiteY411" fmla="*/ 3876658 h 4717133"/>
              <a:gd name="connsiteX412" fmla="*/ 712923 w 4694357"/>
              <a:gd name="connsiteY412" fmla="*/ 3898296 h 4717133"/>
              <a:gd name="connsiteX413" fmla="*/ 691285 w 4694357"/>
              <a:gd name="connsiteY413" fmla="*/ 3876658 h 4717133"/>
              <a:gd name="connsiteX414" fmla="*/ 712923 w 4694357"/>
              <a:gd name="connsiteY414" fmla="*/ 3855020 h 4717133"/>
              <a:gd name="connsiteX415" fmla="*/ 3849896 w 4694357"/>
              <a:gd name="connsiteY415" fmla="*/ 3853881 h 4717133"/>
              <a:gd name="connsiteX416" fmla="*/ 3853882 w 4694357"/>
              <a:gd name="connsiteY416" fmla="*/ 3857867 h 4717133"/>
              <a:gd name="connsiteX417" fmla="*/ 3849896 w 4694357"/>
              <a:gd name="connsiteY417" fmla="*/ 3861853 h 4717133"/>
              <a:gd name="connsiteX418" fmla="*/ 3845910 w 4694357"/>
              <a:gd name="connsiteY418" fmla="*/ 3857867 h 4717133"/>
              <a:gd name="connsiteX419" fmla="*/ 3849896 w 4694357"/>
              <a:gd name="connsiteY419" fmla="*/ 3853881 h 4717133"/>
              <a:gd name="connsiteX420" fmla="*/ 3985989 w 4694357"/>
              <a:gd name="connsiteY420" fmla="*/ 3845909 h 4717133"/>
              <a:gd name="connsiteX421" fmla="*/ 4015599 w 4694357"/>
              <a:gd name="connsiteY421" fmla="*/ 3875519 h 4717133"/>
              <a:gd name="connsiteX422" fmla="*/ 3985989 w 4694357"/>
              <a:gd name="connsiteY422" fmla="*/ 3905129 h 4717133"/>
              <a:gd name="connsiteX423" fmla="*/ 3956379 w 4694357"/>
              <a:gd name="connsiteY423" fmla="*/ 3875519 h 4717133"/>
              <a:gd name="connsiteX424" fmla="*/ 3985989 w 4694357"/>
              <a:gd name="connsiteY424" fmla="*/ 3845909 h 4717133"/>
              <a:gd name="connsiteX425" fmla="*/ 983971 w 4694357"/>
              <a:gd name="connsiteY425" fmla="*/ 3837937 h 4717133"/>
              <a:gd name="connsiteX426" fmla="*/ 987388 w 4694357"/>
              <a:gd name="connsiteY426" fmla="*/ 3840785 h 4717133"/>
              <a:gd name="connsiteX427" fmla="*/ 983971 w 4694357"/>
              <a:gd name="connsiteY427" fmla="*/ 3843633 h 4717133"/>
              <a:gd name="connsiteX428" fmla="*/ 980554 w 4694357"/>
              <a:gd name="connsiteY428" fmla="*/ 3840785 h 4717133"/>
              <a:gd name="connsiteX429" fmla="*/ 983971 w 4694357"/>
              <a:gd name="connsiteY429" fmla="*/ 3837937 h 4717133"/>
              <a:gd name="connsiteX430" fmla="*/ 849016 w 4694357"/>
              <a:gd name="connsiteY430" fmla="*/ 3836799 h 4717133"/>
              <a:gd name="connsiteX431" fmla="*/ 870085 w 4694357"/>
              <a:gd name="connsiteY431" fmla="*/ 3857868 h 4717133"/>
              <a:gd name="connsiteX432" fmla="*/ 849016 w 4694357"/>
              <a:gd name="connsiteY432" fmla="*/ 3878937 h 4717133"/>
              <a:gd name="connsiteX433" fmla="*/ 827947 w 4694357"/>
              <a:gd name="connsiteY433" fmla="*/ 3857868 h 4717133"/>
              <a:gd name="connsiteX434" fmla="*/ 849016 w 4694357"/>
              <a:gd name="connsiteY434" fmla="*/ 3836799 h 4717133"/>
              <a:gd name="connsiteX435" fmla="*/ 3714942 w 4694357"/>
              <a:gd name="connsiteY435" fmla="*/ 3824271 h 4717133"/>
              <a:gd name="connsiteX436" fmla="*/ 3730886 w 4694357"/>
              <a:gd name="connsiteY436" fmla="*/ 3840215 h 4717133"/>
              <a:gd name="connsiteX437" fmla="*/ 3714942 w 4694357"/>
              <a:gd name="connsiteY437" fmla="*/ 3856159 h 4717133"/>
              <a:gd name="connsiteX438" fmla="*/ 3698998 w 4694357"/>
              <a:gd name="connsiteY438" fmla="*/ 3840215 h 4717133"/>
              <a:gd name="connsiteX439" fmla="*/ 3714942 w 4694357"/>
              <a:gd name="connsiteY439" fmla="*/ 3824271 h 4717133"/>
              <a:gd name="connsiteX440" fmla="*/ 476042 w 4694357"/>
              <a:gd name="connsiteY440" fmla="*/ 3758217 h 4717133"/>
              <a:gd name="connsiteX441" fmla="*/ 478320 w 4694357"/>
              <a:gd name="connsiteY441" fmla="*/ 3759926 h 4717133"/>
              <a:gd name="connsiteX442" fmla="*/ 476042 w 4694357"/>
              <a:gd name="connsiteY442" fmla="*/ 3761635 h 4717133"/>
              <a:gd name="connsiteX443" fmla="*/ 473764 w 4694357"/>
              <a:gd name="connsiteY443" fmla="*/ 3759926 h 4717133"/>
              <a:gd name="connsiteX444" fmla="*/ 476042 w 4694357"/>
              <a:gd name="connsiteY444" fmla="*/ 3758217 h 4717133"/>
              <a:gd name="connsiteX445" fmla="*/ 4222302 w 4694357"/>
              <a:gd name="connsiteY445" fmla="*/ 3749107 h 4717133"/>
              <a:gd name="connsiteX446" fmla="*/ 4231983 w 4694357"/>
              <a:gd name="connsiteY446" fmla="*/ 3758788 h 4717133"/>
              <a:gd name="connsiteX447" fmla="*/ 4222302 w 4694357"/>
              <a:gd name="connsiteY447" fmla="*/ 3768469 h 4717133"/>
              <a:gd name="connsiteX448" fmla="*/ 4212621 w 4694357"/>
              <a:gd name="connsiteY448" fmla="*/ 3758788 h 4717133"/>
              <a:gd name="connsiteX449" fmla="*/ 4222302 w 4694357"/>
              <a:gd name="connsiteY449" fmla="*/ 3749107 h 4717133"/>
              <a:gd name="connsiteX450" fmla="*/ 3962642 w 4694357"/>
              <a:gd name="connsiteY450" fmla="*/ 3730885 h 4717133"/>
              <a:gd name="connsiteX451" fmla="*/ 3966628 w 4694357"/>
              <a:gd name="connsiteY451" fmla="*/ 3735441 h 4717133"/>
              <a:gd name="connsiteX452" fmla="*/ 3962642 w 4694357"/>
              <a:gd name="connsiteY452" fmla="*/ 3739998 h 4717133"/>
              <a:gd name="connsiteX453" fmla="*/ 3958656 w 4694357"/>
              <a:gd name="connsiteY453" fmla="*/ 3735441 h 4717133"/>
              <a:gd name="connsiteX454" fmla="*/ 3962642 w 4694357"/>
              <a:gd name="connsiteY454" fmla="*/ 3730885 h 4717133"/>
              <a:gd name="connsiteX455" fmla="*/ 603594 w 4694357"/>
              <a:gd name="connsiteY455" fmla="*/ 3728607 h 4717133"/>
              <a:gd name="connsiteX456" fmla="*/ 624094 w 4694357"/>
              <a:gd name="connsiteY456" fmla="*/ 3749676 h 4717133"/>
              <a:gd name="connsiteX457" fmla="*/ 603594 w 4694357"/>
              <a:gd name="connsiteY457" fmla="*/ 3770745 h 4717133"/>
              <a:gd name="connsiteX458" fmla="*/ 583094 w 4694357"/>
              <a:gd name="connsiteY458" fmla="*/ 3749676 h 4717133"/>
              <a:gd name="connsiteX459" fmla="*/ 603594 w 4694357"/>
              <a:gd name="connsiteY459" fmla="*/ 3728607 h 4717133"/>
              <a:gd name="connsiteX460" fmla="*/ 4095320 w 4694357"/>
              <a:gd name="connsiteY460" fmla="*/ 3720636 h 4717133"/>
              <a:gd name="connsiteX461" fmla="*/ 4123792 w 4694357"/>
              <a:gd name="connsiteY461" fmla="*/ 3749108 h 4717133"/>
              <a:gd name="connsiteX462" fmla="*/ 4095320 w 4694357"/>
              <a:gd name="connsiteY462" fmla="*/ 3777580 h 4717133"/>
              <a:gd name="connsiteX463" fmla="*/ 4066848 w 4694357"/>
              <a:gd name="connsiteY463" fmla="*/ 3749108 h 4717133"/>
              <a:gd name="connsiteX464" fmla="*/ 4095320 w 4694357"/>
              <a:gd name="connsiteY464" fmla="*/ 3720636 h 4717133"/>
              <a:gd name="connsiteX465" fmla="*/ 865530 w 4694357"/>
              <a:gd name="connsiteY465" fmla="*/ 3720636 h 4717133"/>
              <a:gd name="connsiteX466" fmla="*/ 867808 w 4694357"/>
              <a:gd name="connsiteY466" fmla="*/ 3722914 h 4717133"/>
              <a:gd name="connsiteX467" fmla="*/ 865530 w 4694357"/>
              <a:gd name="connsiteY467" fmla="*/ 3725192 h 4717133"/>
              <a:gd name="connsiteX468" fmla="*/ 863252 w 4694357"/>
              <a:gd name="connsiteY468" fmla="*/ 3722914 h 4717133"/>
              <a:gd name="connsiteX469" fmla="*/ 865530 w 4694357"/>
              <a:gd name="connsiteY469" fmla="*/ 3720636 h 4717133"/>
              <a:gd name="connsiteX470" fmla="*/ 735700 w 4694357"/>
              <a:gd name="connsiteY470" fmla="*/ 3712663 h 4717133"/>
              <a:gd name="connsiteX471" fmla="*/ 758477 w 4694357"/>
              <a:gd name="connsiteY471" fmla="*/ 3735440 h 4717133"/>
              <a:gd name="connsiteX472" fmla="*/ 735700 w 4694357"/>
              <a:gd name="connsiteY472" fmla="*/ 3758217 h 4717133"/>
              <a:gd name="connsiteX473" fmla="*/ 712923 w 4694357"/>
              <a:gd name="connsiteY473" fmla="*/ 3735440 h 4717133"/>
              <a:gd name="connsiteX474" fmla="*/ 735700 w 4694357"/>
              <a:gd name="connsiteY474" fmla="*/ 3712663 h 4717133"/>
              <a:gd name="connsiteX475" fmla="*/ 3832244 w 4694357"/>
              <a:gd name="connsiteY475" fmla="*/ 3706969 h 4717133"/>
              <a:gd name="connsiteX476" fmla="*/ 3848188 w 4694357"/>
              <a:gd name="connsiteY476" fmla="*/ 3722913 h 4717133"/>
              <a:gd name="connsiteX477" fmla="*/ 3832244 w 4694357"/>
              <a:gd name="connsiteY477" fmla="*/ 3738857 h 4717133"/>
              <a:gd name="connsiteX478" fmla="*/ 3816300 w 4694357"/>
              <a:gd name="connsiteY478" fmla="*/ 3722913 h 4717133"/>
              <a:gd name="connsiteX479" fmla="*/ 3832244 w 4694357"/>
              <a:gd name="connsiteY479" fmla="*/ 3706969 h 4717133"/>
              <a:gd name="connsiteX480" fmla="*/ 380948 w 4694357"/>
              <a:gd name="connsiteY480" fmla="*/ 3620416 h 4717133"/>
              <a:gd name="connsiteX481" fmla="*/ 382657 w 4694357"/>
              <a:gd name="connsiteY481" fmla="*/ 3622694 h 4717133"/>
              <a:gd name="connsiteX482" fmla="*/ 380948 w 4694357"/>
              <a:gd name="connsiteY482" fmla="*/ 3624972 h 4717133"/>
              <a:gd name="connsiteX483" fmla="*/ 379239 w 4694357"/>
              <a:gd name="connsiteY483" fmla="*/ 3622694 h 4717133"/>
              <a:gd name="connsiteX484" fmla="*/ 380948 w 4694357"/>
              <a:gd name="connsiteY484" fmla="*/ 3620416 h 4717133"/>
              <a:gd name="connsiteX485" fmla="*/ 4317965 w 4694357"/>
              <a:gd name="connsiteY485" fmla="*/ 3613583 h 4717133"/>
              <a:gd name="connsiteX486" fmla="*/ 4326507 w 4694357"/>
              <a:gd name="connsiteY486" fmla="*/ 3622125 h 4717133"/>
              <a:gd name="connsiteX487" fmla="*/ 4317965 w 4694357"/>
              <a:gd name="connsiteY487" fmla="*/ 3630667 h 4717133"/>
              <a:gd name="connsiteX488" fmla="*/ 4309423 w 4694357"/>
              <a:gd name="connsiteY488" fmla="*/ 3622125 h 4717133"/>
              <a:gd name="connsiteX489" fmla="*/ 4317965 w 4694357"/>
              <a:gd name="connsiteY489" fmla="*/ 3613583 h 4717133"/>
              <a:gd name="connsiteX490" fmla="*/ 4066278 w 4694357"/>
              <a:gd name="connsiteY490" fmla="*/ 3599917 h 4717133"/>
              <a:gd name="connsiteX491" fmla="*/ 4071403 w 4694357"/>
              <a:gd name="connsiteY491" fmla="*/ 3604473 h 4717133"/>
              <a:gd name="connsiteX492" fmla="*/ 4066278 w 4694357"/>
              <a:gd name="connsiteY492" fmla="*/ 3609030 h 4717133"/>
              <a:gd name="connsiteX493" fmla="*/ 4061153 w 4694357"/>
              <a:gd name="connsiteY493" fmla="*/ 3604473 h 4717133"/>
              <a:gd name="connsiteX494" fmla="*/ 4066278 w 4694357"/>
              <a:gd name="connsiteY494" fmla="*/ 3599917 h 4717133"/>
              <a:gd name="connsiteX495" fmla="*/ 758478 w 4694357"/>
              <a:gd name="connsiteY495" fmla="*/ 3595362 h 4717133"/>
              <a:gd name="connsiteX496" fmla="*/ 759617 w 4694357"/>
              <a:gd name="connsiteY496" fmla="*/ 3596501 h 4717133"/>
              <a:gd name="connsiteX497" fmla="*/ 758478 w 4694357"/>
              <a:gd name="connsiteY497" fmla="*/ 3597640 h 4717133"/>
              <a:gd name="connsiteX498" fmla="*/ 757339 w 4694357"/>
              <a:gd name="connsiteY498" fmla="*/ 3596501 h 4717133"/>
              <a:gd name="connsiteX499" fmla="*/ 758478 w 4694357"/>
              <a:gd name="connsiteY499" fmla="*/ 3595362 h 4717133"/>
              <a:gd name="connsiteX500" fmla="*/ 503944 w 4694357"/>
              <a:gd name="connsiteY500" fmla="*/ 3595362 h 4717133"/>
              <a:gd name="connsiteX501" fmla="*/ 523874 w 4694357"/>
              <a:gd name="connsiteY501" fmla="*/ 3615862 h 4717133"/>
              <a:gd name="connsiteX502" fmla="*/ 503944 w 4694357"/>
              <a:gd name="connsiteY502" fmla="*/ 3636362 h 4717133"/>
              <a:gd name="connsiteX503" fmla="*/ 484014 w 4694357"/>
              <a:gd name="connsiteY503" fmla="*/ 3615862 h 4717133"/>
              <a:gd name="connsiteX504" fmla="*/ 503944 w 4694357"/>
              <a:gd name="connsiteY504" fmla="*/ 3595362 h 4717133"/>
              <a:gd name="connsiteX505" fmla="*/ 4194400 w 4694357"/>
              <a:gd name="connsiteY505" fmla="*/ 3587389 h 4717133"/>
              <a:gd name="connsiteX506" fmla="*/ 4221733 w 4694357"/>
              <a:gd name="connsiteY506" fmla="*/ 3615291 h 4717133"/>
              <a:gd name="connsiteX507" fmla="*/ 4194400 w 4694357"/>
              <a:gd name="connsiteY507" fmla="*/ 3643193 h 4717133"/>
              <a:gd name="connsiteX508" fmla="*/ 4167067 w 4694357"/>
              <a:gd name="connsiteY508" fmla="*/ 3615291 h 4717133"/>
              <a:gd name="connsiteX509" fmla="*/ 4194400 w 4694357"/>
              <a:gd name="connsiteY509" fmla="*/ 3587389 h 4717133"/>
              <a:gd name="connsiteX510" fmla="*/ 632064 w 4694357"/>
              <a:gd name="connsiteY510" fmla="*/ 3581695 h 4717133"/>
              <a:gd name="connsiteX511" fmla="*/ 655980 w 4694357"/>
              <a:gd name="connsiteY511" fmla="*/ 3605611 h 4717133"/>
              <a:gd name="connsiteX512" fmla="*/ 632064 w 4694357"/>
              <a:gd name="connsiteY512" fmla="*/ 3629527 h 4717133"/>
              <a:gd name="connsiteX513" fmla="*/ 608148 w 4694357"/>
              <a:gd name="connsiteY513" fmla="*/ 3605611 h 4717133"/>
              <a:gd name="connsiteX514" fmla="*/ 632064 w 4694357"/>
              <a:gd name="connsiteY514" fmla="*/ 3581695 h 4717133"/>
              <a:gd name="connsiteX515" fmla="*/ 3939866 w 4694357"/>
              <a:gd name="connsiteY515" fmla="*/ 3579418 h 4717133"/>
              <a:gd name="connsiteX516" fmla="*/ 3956380 w 4694357"/>
              <a:gd name="connsiteY516" fmla="*/ 3595362 h 4717133"/>
              <a:gd name="connsiteX517" fmla="*/ 3939866 w 4694357"/>
              <a:gd name="connsiteY517" fmla="*/ 3611306 h 4717133"/>
              <a:gd name="connsiteX518" fmla="*/ 3923352 w 4694357"/>
              <a:gd name="connsiteY518" fmla="*/ 3595362 h 4717133"/>
              <a:gd name="connsiteX519" fmla="*/ 3939866 w 4694357"/>
              <a:gd name="connsiteY519" fmla="*/ 3579418 h 4717133"/>
              <a:gd name="connsiteX520" fmla="*/ 294964 w 4694357"/>
              <a:gd name="connsiteY520" fmla="*/ 3476921 h 4717133"/>
              <a:gd name="connsiteX521" fmla="*/ 297242 w 4694357"/>
              <a:gd name="connsiteY521" fmla="*/ 3479199 h 4717133"/>
              <a:gd name="connsiteX522" fmla="*/ 294964 w 4694357"/>
              <a:gd name="connsiteY522" fmla="*/ 3481477 h 4717133"/>
              <a:gd name="connsiteX523" fmla="*/ 292686 w 4694357"/>
              <a:gd name="connsiteY523" fmla="*/ 3479199 h 4717133"/>
              <a:gd name="connsiteX524" fmla="*/ 294964 w 4694357"/>
              <a:gd name="connsiteY524" fmla="*/ 3476921 h 4717133"/>
              <a:gd name="connsiteX525" fmla="*/ 4403379 w 4694357"/>
              <a:gd name="connsiteY525" fmla="*/ 3471226 h 4717133"/>
              <a:gd name="connsiteX526" fmla="*/ 4410782 w 4694357"/>
              <a:gd name="connsiteY526" fmla="*/ 3478629 h 4717133"/>
              <a:gd name="connsiteX527" fmla="*/ 4403379 w 4694357"/>
              <a:gd name="connsiteY527" fmla="*/ 3486032 h 4717133"/>
              <a:gd name="connsiteX528" fmla="*/ 4395976 w 4694357"/>
              <a:gd name="connsiteY528" fmla="*/ 3478629 h 4717133"/>
              <a:gd name="connsiteX529" fmla="*/ 4403379 w 4694357"/>
              <a:gd name="connsiteY529" fmla="*/ 3471226 h 4717133"/>
              <a:gd name="connsiteX530" fmla="*/ 4159096 w 4694357"/>
              <a:gd name="connsiteY530" fmla="*/ 3460977 h 4717133"/>
              <a:gd name="connsiteX531" fmla="*/ 4164791 w 4694357"/>
              <a:gd name="connsiteY531" fmla="*/ 3466672 h 4717133"/>
              <a:gd name="connsiteX532" fmla="*/ 4159096 w 4694357"/>
              <a:gd name="connsiteY532" fmla="*/ 3472367 h 4717133"/>
              <a:gd name="connsiteX533" fmla="*/ 4153401 w 4694357"/>
              <a:gd name="connsiteY533" fmla="*/ 3466672 h 4717133"/>
              <a:gd name="connsiteX534" fmla="*/ 4159096 w 4694357"/>
              <a:gd name="connsiteY534" fmla="*/ 3460977 h 4717133"/>
              <a:gd name="connsiteX535" fmla="*/ 661106 w 4694357"/>
              <a:gd name="connsiteY535" fmla="*/ 3458699 h 4717133"/>
              <a:gd name="connsiteX536" fmla="*/ 662815 w 4694357"/>
              <a:gd name="connsiteY536" fmla="*/ 3460408 h 4717133"/>
              <a:gd name="connsiteX537" fmla="*/ 661106 w 4694357"/>
              <a:gd name="connsiteY537" fmla="*/ 3462117 h 4717133"/>
              <a:gd name="connsiteX538" fmla="*/ 659397 w 4694357"/>
              <a:gd name="connsiteY538" fmla="*/ 3460408 h 4717133"/>
              <a:gd name="connsiteX539" fmla="*/ 661106 w 4694357"/>
              <a:gd name="connsiteY539" fmla="*/ 3458699 h 4717133"/>
              <a:gd name="connsiteX540" fmla="*/ 414544 w 4694357"/>
              <a:gd name="connsiteY540" fmla="*/ 3455282 h 4717133"/>
              <a:gd name="connsiteX541" fmla="*/ 433905 w 4694357"/>
              <a:gd name="connsiteY541" fmla="*/ 3474643 h 4717133"/>
              <a:gd name="connsiteX542" fmla="*/ 414544 w 4694357"/>
              <a:gd name="connsiteY542" fmla="*/ 3494004 h 4717133"/>
              <a:gd name="connsiteX543" fmla="*/ 395183 w 4694357"/>
              <a:gd name="connsiteY543" fmla="*/ 3474643 h 4717133"/>
              <a:gd name="connsiteX544" fmla="*/ 414544 w 4694357"/>
              <a:gd name="connsiteY544" fmla="*/ 3455282 h 4717133"/>
              <a:gd name="connsiteX545" fmla="*/ 4283231 w 4694357"/>
              <a:gd name="connsiteY545" fmla="*/ 3447311 h 4717133"/>
              <a:gd name="connsiteX546" fmla="*/ 4310564 w 4694357"/>
              <a:gd name="connsiteY546" fmla="*/ 3474074 h 4717133"/>
              <a:gd name="connsiteX547" fmla="*/ 4283231 w 4694357"/>
              <a:gd name="connsiteY547" fmla="*/ 3500837 h 4717133"/>
              <a:gd name="connsiteX548" fmla="*/ 4255898 w 4694357"/>
              <a:gd name="connsiteY548" fmla="*/ 3474074 h 4717133"/>
              <a:gd name="connsiteX549" fmla="*/ 4283231 w 4694357"/>
              <a:gd name="connsiteY549" fmla="*/ 3447311 h 4717133"/>
              <a:gd name="connsiteX550" fmla="*/ 4037237 w 4694357"/>
              <a:gd name="connsiteY550" fmla="*/ 3442755 h 4717133"/>
              <a:gd name="connsiteX551" fmla="*/ 4054320 w 4694357"/>
              <a:gd name="connsiteY551" fmla="*/ 3459838 h 4717133"/>
              <a:gd name="connsiteX552" fmla="*/ 4037237 w 4694357"/>
              <a:gd name="connsiteY552" fmla="*/ 3476921 h 4717133"/>
              <a:gd name="connsiteX553" fmla="*/ 4020154 w 4694357"/>
              <a:gd name="connsiteY553" fmla="*/ 3459838 h 4717133"/>
              <a:gd name="connsiteX554" fmla="*/ 4037237 w 4694357"/>
              <a:gd name="connsiteY554" fmla="*/ 3442755 h 4717133"/>
              <a:gd name="connsiteX555" fmla="*/ 539248 w 4694357"/>
              <a:gd name="connsiteY555" fmla="*/ 3441616 h 4717133"/>
              <a:gd name="connsiteX556" fmla="*/ 563734 w 4694357"/>
              <a:gd name="connsiteY556" fmla="*/ 3466671 h 4717133"/>
              <a:gd name="connsiteX557" fmla="*/ 539248 w 4694357"/>
              <a:gd name="connsiteY557" fmla="*/ 3491726 h 4717133"/>
              <a:gd name="connsiteX558" fmla="*/ 514762 w 4694357"/>
              <a:gd name="connsiteY558" fmla="*/ 3466671 h 4717133"/>
              <a:gd name="connsiteX559" fmla="*/ 539248 w 4694357"/>
              <a:gd name="connsiteY559" fmla="*/ 3441616 h 4717133"/>
              <a:gd name="connsiteX560" fmla="*/ 220370 w 4694357"/>
              <a:gd name="connsiteY560" fmla="*/ 3327731 h 4717133"/>
              <a:gd name="connsiteX561" fmla="*/ 223218 w 4694357"/>
              <a:gd name="connsiteY561" fmla="*/ 3330579 h 4717133"/>
              <a:gd name="connsiteX562" fmla="*/ 220370 w 4694357"/>
              <a:gd name="connsiteY562" fmla="*/ 3333427 h 4717133"/>
              <a:gd name="connsiteX563" fmla="*/ 217522 w 4694357"/>
              <a:gd name="connsiteY563" fmla="*/ 3330579 h 4717133"/>
              <a:gd name="connsiteX564" fmla="*/ 220370 w 4694357"/>
              <a:gd name="connsiteY564" fmla="*/ 3327731 h 4717133"/>
              <a:gd name="connsiteX565" fmla="*/ 4477974 w 4694357"/>
              <a:gd name="connsiteY565" fmla="*/ 3322037 h 4717133"/>
              <a:gd name="connsiteX566" fmla="*/ 4484807 w 4694357"/>
              <a:gd name="connsiteY566" fmla="*/ 3328870 h 4717133"/>
              <a:gd name="connsiteX567" fmla="*/ 4477974 w 4694357"/>
              <a:gd name="connsiteY567" fmla="*/ 3335703 h 4717133"/>
              <a:gd name="connsiteX568" fmla="*/ 4471141 w 4694357"/>
              <a:gd name="connsiteY568" fmla="*/ 3328870 h 4717133"/>
              <a:gd name="connsiteX569" fmla="*/ 4477974 w 4694357"/>
              <a:gd name="connsiteY569" fmla="*/ 3322037 h 4717133"/>
              <a:gd name="connsiteX570" fmla="*/ 575692 w 4694357"/>
              <a:gd name="connsiteY570" fmla="*/ 3316342 h 4717133"/>
              <a:gd name="connsiteX571" fmla="*/ 577401 w 4694357"/>
              <a:gd name="connsiteY571" fmla="*/ 3317481 h 4717133"/>
              <a:gd name="connsiteX572" fmla="*/ 575692 w 4694357"/>
              <a:gd name="connsiteY572" fmla="*/ 3318620 h 4717133"/>
              <a:gd name="connsiteX573" fmla="*/ 573983 w 4694357"/>
              <a:gd name="connsiteY573" fmla="*/ 3317481 h 4717133"/>
              <a:gd name="connsiteX574" fmla="*/ 575692 w 4694357"/>
              <a:gd name="connsiteY574" fmla="*/ 3316342 h 4717133"/>
              <a:gd name="connsiteX575" fmla="*/ 4240523 w 4694357"/>
              <a:gd name="connsiteY575" fmla="*/ 3315204 h 4717133"/>
              <a:gd name="connsiteX576" fmla="*/ 4246787 w 4694357"/>
              <a:gd name="connsiteY576" fmla="*/ 3321468 h 4717133"/>
              <a:gd name="connsiteX577" fmla="*/ 4240523 w 4694357"/>
              <a:gd name="connsiteY577" fmla="*/ 3327732 h 4717133"/>
              <a:gd name="connsiteX578" fmla="*/ 4234259 w 4694357"/>
              <a:gd name="connsiteY578" fmla="*/ 3321468 h 4717133"/>
              <a:gd name="connsiteX579" fmla="*/ 4240523 w 4694357"/>
              <a:gd name="connsiteY579" fmla="*/ 3315204 h 4717133"/>
              <a:gd name="connsiteX580" fmla="*/ 336533 w 4694357"/>
              <a:gd name="connsiteY580" fmla="*/ 3308370 h 4717133"/>
              <a:gd name="connsiteX581" fmla="*/ 355325 w 4694357"/>
              <a:gd name="connsiteY581" fmla="*/ 3327162 h 4717133"/>
              <a:gd name="connsiteX582" fmla="*/ 336533 w 4694357"/>
              <a:gd name="connsiteY582" fmla="*/ 3345954 h 4717133"/>
              <a:gd name="connsiteX583" fmla="*/ 317741 w 4694357"/>
              <a:gd name="connsiteY583" fmla="*/ 3327162 h 4717133"/>
              <a:gd name="connsiteX584" fmla="*/ 336533 w 4694357"/>
              <a:gd name="connsiteY584" fmla="*/ 3308370 h 4717133"/>
              <a:gd name="connsiteX585" fmla="*/ 4361811 w 4694357"/>
              <a:gd name="connsiteY585" fmla="*/ 3300398 h 4717133"/>
              <a:gd name="connsiteX586" fmla="*/ 4388005 w 4694357"/>
              <a:gd name="connsiteY586" fmla="*/ 3326592 h 4717133"/>
              <a:gd name="connsiteX587" fmla="*/ 4361811 w 4694357"/>
              <a:gd name="connsiteY587" fmla="*/ 3352786 h 4717133"/>
              <a:gd name="connsiteX588" fmla="*/ 4335617 w 4694357"/>
              <a:gd name="connsiteY588" fmla="*/ 3326592 h 4717133"/>
              <a:gd name="connsiteX589" fmla="*/ 4361811 w 4694357"/>
              <a:gd name="connsiteY589" fmla="*/ 3300398 h 4717133"/>
              <a:gd name="connsiteX590" fmla="*/ 4122652 w 4694357"/>
              <a:gd name="connsiteY590" fmla="*/ 3299260 h 4717133"/>
              <a:gd name="connsiteX591" fmla="*/ 4140874 w 4694357"/>
              <a:gd name="connsiteY591" fmla="*/ 3317482 h 4717133"/>
              <a:gd name="connsiteX592" fmla="*/ 4122652 w 4694357"/>
              <a:gd name="connsiteY592" fmla="*/ 3335704 h 4717133"/>
              <a:gd name="connsiteX593" fmla="*/ 4104430 w 4694357"/>
              <a:gd name="connsiteY593" fmla="*/ 3317482 h 4717133"/>
              <a:gd name="connsiteX594" fmla="*/ 4122652 w 4694357"/>
              <a:gd name="connsiteY594" fmla="*/ 3299260 h 4717133"/>
              <a:gd name="connsiteX595" fmla="*/ 457820 w 4694357"/>
              <a:gd name="connsiteY595" fmla="*/ 3296982 h 4717133"/>
              <a:gd name="connsiteX596" fmla="*/ 482875 w 4694357"/>
              <a:gd name="connsiteY596" fmla="*/ 3322037 h 4717133"/>
              <a:gd name="connsiteX597" fmla="*/ 457820 w 4694357"/>
              <a:gd name="connsiteY597" fmla="*/ 3347092 h 4717133"/>
              <a:gd name="connsiteX598" fmla="*/ 432765 w 4694357"/>
              <a:gd name="connsiteY598" fmla="*/ 3322037 h 4717133"/>
              <a:gd name="connsiteX599" fmla="*/ 457820 w 4694357"/>
              <a:gd name="connsiteY599" fmla="*/ 3296982 h 4717133"/>
              <a:gd name="connsiteX600" fmla="*/ 156593 w 4694357"/>
              <a:gd name="connsiteY600" fmla="*/ 3172847 h 4717133"/>
              <a:gd name="connsiteX601" fmla="*/ 160579 w 4694357"/>
              <a:gd name="connsiteY601" fmla="*/ 3176833 h 4717133"/>
              <a:gd name="connsiteX602" fmla="*/ 156593 w 4694357"/>
              <a:gd name="connsiteY602" fmla="*/ 3180819 h 4717133"/>
              <a:gd name="connsiteX603" fmla="*/ 152607 w 4694357"/>
              <a:gd name="connsiteY603" fmla="*/ 3176833 h 4717133"/>
              <a:gd name="connsiteX604" fmla="*/ 156593 w 4694357"/>
              <a:gd name="connsiteY604" fmla="*/ 3172847 h 4717133"/>
              <a:gd name="connsiteX605" fmla="*/ 4541749 w 4694357"/>
              <a:gd name="connsiteY605" fmla="*/ 3168291 h 4717133"/>
              <a:gd name="connsiteX606" fmla="*/ 4548582 w 4694357"/>
              <a:gd name="connsiteY606" fmla="*/ 3175124 h 4717133"/>
              <a:gd name="connsiteX607" fmla="*/ 4541749 w 4694357"/>
              <a:gd name="connsiteY607" fmla="*/ 3181957 h 4717133"/>
              <a:gd name="connsiteX608" fmla="*/ 4534916 w 4694357"/>
              <a:gd name="connsiteY608" fmla="*/ 3175124 h 4717133"/>
              <a:gd name="connsiteX609" fmla="*/ 4541749 w 4694357"/>
              <a:gd name="connsiteY609" fmla="*/ 3168291 h 4717133"/>
              <a:gd name="connsiteX610" fmla="*/ 502236 w 4694357"/>
              <a:gd name="connsiteY610" fmla="*/ 3166013 h 4717133"/>
              <a:gd name="connsiteX611" fmla="*/ 504514 w 4694357"/>
              <a:gd name="connsiteY611" fmla="*/ 3168291 h 4717133"/>
              <a:gd name="connsiteX612" fmla="*/ 502236 w 4694357"/>
              <a:gd name="connsiteY612" fmla="*/ 3170569 h 4717133"/>
              <a:gd name="connsiteX613" fmla="*/ 499958 w 4694357"/>
              <a:gd name="connsiteY613" fmla="*/ 3168291 h 4717133"/>
              <a:gd name="connsiteX614" fmla="*/ 502236 w 4694357"/>
              <a:gd name="connsiteY614" fmla="*/ 3166013 h 4717133"/>
              <a:gd name="connsiteX615" fmla="*/ 4309993 w 4694357"/>
              <a:gd name="connsiteY615" fmla="*/ 3162597 h 4717133"/>
              <a:gd name="connsiteX616" fmla="*/ 4317396 w 4694357"/>
              <a:gd name="connsiteY616" fmla="*/ 3170000 h 4717133"/>
              <a:gd name="connsiteX617" fmla="*/ 4309993 w 4694357"/>
              <a:gd name="connsiteY617" fmla="*/ 3177403 h 4717133"/>
              <a:gd name="connsiteX618" fmla="*/ 4302590 w 4694357"/>
              <a:gd name="connsiteY618" fmla="*/ 3170000 h 4717133"/>
              <a:gd name="connsiteX619" fmla="*/ 4309993 w 4694357"/>
              <a:gd name="connsiteY619" fmla="*/ 3162597 h 4717133"/>
              <a:gd name="connsiteX620" fmla="*/ 269909 w 4694357"/>
              <a:gd name="connsiteY620" fmla="*/ 3155764 h 4717133"/>
              <a:gd name="connsiteX621" fmla="*/ 288131 w 4694357"/>
              <a:gd name="connsiteY621" fmla="*/ 3174556 h 4717133"/>
              <a:gd name="connsiteX622" fmla="*/ 269909 w 4694357"/>
              <a:gd name="connsiteY622" fmla="*/ 3193348 h 4717133"/>
              <a:gd name="connsiteX623" fmla="*/ 251687 w 4694357"/>
              <a:gd name="connsiteY623" fmla="*/ 3174556 h 4717133"/>
              <a:gd name="connsiteX624" fmla="*/ 269909 w 4694357"/>
              <a:gd name="connsiteY624" fmla="*/ 3155764 h 4717133"/>
              <a:gd name="connsiteX625" fmla="*/ 4427864 w 4694357"/>
              <a:gd name="connsiteY625" fmla="*/ 3147792 h 4717133"/>
              <a:gd name="connsiteX626" fmla="*/ 4452919 w 4694357"/>
              <a:gd name="connsiteY626" fmla="*/ 3173417 h 4717133"/>
              <a:gd name="connsiteX627" fmla="*/ 4427864 w 4694357"/>
              <a:gd name="connsiteY627" fmla="*/ 3199042 h 4717133"/>
              <a:gd name="connsiteX628" fmla="*/ 4402809 w 4694357"/>
              <a:gd name="connsiteY628" fmla="*/ 3173417 h 4717133"/>
              <a:gd name="connsiteX629" fmla="*/ 4427864 w 4694357"/>
              <a:gd name="connsiteY629" fmla="*/ 3147792 h 4717133"/>
              <a:gd name="connsiteX630" fmla="*/ 4195539 w 4694357"/>
              <a:gd name="connsiteY630" fmla="*/ 3147792 h 4717133"/>
              <a:gd name="connsiteX631" fmla="*/ 4216039 w 4694357"/>
              <a:gd name="connsiteY631" fmla="*/ 3167722 h 4717133"/>
              <a:gd name="connsiteX632" fmla="*/ 4195539 w 4694357"/>
              <a:gd name="connsiteY632" fmla="*/ 3187652 h 4717133"/>
              <a:gd name="connsiteX633" fmla="*/ 4175039 w 4694357"/>
              <a:gd name="connsiteY633" fmla="*/ 3167722 h 4717133"/>
              <a:gd name="connsiteX634" fmla="*/ 4195539 w 4694357"/>
              <a:gd name="connsiteY634" fmla="*/ 3147792 h 4717133"/>
              <a:gd name="connsiteX635" fmla="*/ 387781 w 4694357"/>
              <a:gd name="connsiteY635" fmla="*/ 3145514 h 4717133"/>
              <a:gd name="connsiteX636" fmla="*/ 413406 w 4694357"/>
              <a:gd name="connsiteY636" fmla="*/ 3170569 h 4717133"/>
              <a:gd name="connsiteX637" fmla="*/ 387781 w 4694357"/>
              <a:gd name="connsiteY637" fmla="*/ 3195624 h 4717133"/>
              <a:gd name="connsiteX638" fmla="*/ 362156 w 4694357"/>
              <a:gd name="connsiteY638" fmla="*/ 3170569 h 4717133"/>
              <a:gd name="connsiteX639" fmla="*/ 387781 w 4694357"/>
              <a:gd name="connsiteY639" fmla="*/ 3145514 h 4717133"/>
              <a:gd name="connsiteX640" fmla="*/ 103067 w 4694357"/>
              <a:gd name="connsiteY640" fmla="*/ 3013407 h 4717133"/>
              <a:gd name="connsiteX641" fmla="*/ 108192 w 4694357"/>
              <a:gd name="connsiteY641" fmla="*/ 3018532 h 4717133"/>
              <a:gd name="connsiteX642" fmla="*/ 103067 w 4694357"/>
              <a:gd name="connsiteY642" fmla="*/ 3023657 h 4717133"/>
              <a:gd name="connsiteX643" fmla="*/ 97942 w 4694357"/>
              <a:gd name="connsiteY643" fmla="*/ 3018532 h 4717133"/>
              <a:gd name="connsiteX644" fmla="*/ 103067 w 4694357"/>
              <a:gd name="connsiteY644" fmla="*/ 3013407 h 4717133"/>
              <a:gd name="connsiteX645" fmla="*/ 4594707 w 4694357"/>
              <a:gd name="connsiteY645" fmla="*/ 3009991 h 4717133"/>
              <a:gd name="connsiteX646" fmla="*/ 4600971 w 4694357"/>
              <a:gd name="connsiteY646" fmla="*/ 3016824 h 4717133"/>
              <a:gd name="connsiteX647" fmla="*/ 4594707 w 4694357"/>
              <a:gd name="connsiteY647" fmla="*/ 3023657 h 4717133"/>
              <a:gd name="connsiteX648" fmla="*/ 4588443 w 4694357"/>
              <a:gd name="connsiteY648" fmla="*/ 3016824 h 4717133"/>
              <a:gd name="connsiteX649" fmla="*/ 4594707 w 4694357"/>
              <a:gd name="connsiteY649" fmla="*/ 3009991 h 4717133"/>
              <a:gd name="connsiteX650" fmla="*/ 441307 w 4694357"/>
              <a:gd name="connsiteY650" fmla="*/ 3009991 h 4717133"/>
              <a:gd name="connsiteX651" fmla="*/ 444155 w 4694357"/>
              <a:gd name="connsiteY651" fmla="*/ 3013408 h 4717133"/>
              <a:gd name="connsiteX652" fmla="*/ 441307 w 4694357"/>
              <a:gd name="connsiteY652" fmla="*/ 3016825 h 4717133"/>
              <a:gd name="connsiteX653" fmla="*/ 438459 w 4694357"/>
              <a:gd name="connsiteY653" fmla="*/ 3013408 h 4717133"/>
              <a:gd name="connsiteX654" fmla="*/ 441307 w 4694357"/>
              <a:gd name="connsiteY654" fmla="*/ 3009991 h 4717133"/>
              <a:gd name="connsiteX655" fmla="*/ 4368075 w 4694357"/>
              <a:gd name="connsiteY655" fmla="*/ 3005435 h 4717133"/>
              <a:gd name="connsiteX656" fmla="*/ 4376617 w 4694357"/>
              <a:gd name="connsiteY656" fmla="*/ 3013977 h 4717133"/>
              <a:gd name="connsiteX657" fmla="*/ 4368075 w 4694357"/>
              <a:gd name="connsiteY657" fmla="*/ 3022519 h 4717133"/>
              <a:gd name="connsiteX658" fmla="*/ 4359533 w 4694357"/>
              <a:gd name="connsiteY658" fmla="*/ 3013977 h 4717133"/>
              <a:gd name="connsiteX659" fmla="*/ 4368075 w 4694357"/>
              <a:gd name="connsiteY659" fmla="*/ 3005435 h 4717133"/>
              <a:gd name="connsiteX660" fmla="*/ 214105 w 4694357"/>
              <a:gd name="connsiteY660" fmla="*/ 2998602 h 4717133"/>
              <a:gd name="connsiteX661" fmla="*/ 232327 w 4694357"/>
              <a:gd name="connsiteY661" fmla="*/ 3016824 h 4717133"/>
              <a:gd name="connsiteX662" fmla="*/ 214105 w 4694357"/>
              <a:gd name="connsiteY662" fmla="*/ 3035046 h 4717133"/>
              <a:gd name="connsiteX663" fmla="*/ 195883 w 4694357"/>
              <a:gd name="connsiteY663" fmla="*/ 3016824 h 4717133"/>
              <a:gd name="connsiteX664" fmla="*/ 214105 w 4694357"/>
              <a:gd name="connsiteY664" fmla="*/ 2998602 h 4717133"/>
              <a:gd name="connsiteX665" fmla="*/ 4483668 w 4694357"/>
              <a:gd name="connsiteY665" fmla="*/ 2991769 h 4717133"/>
              <a:gd name="connsiteX666" fmla="*/ 4507584 w 4694357"/>
              <a:gd name="connsiteY666" fmla="*/ 3016255 h 4717133"/>
              <a:gd name="connsiteX667" fmla="*/ 4483668 w 4694357"/>
              <a:gd name="connsiteY667" fmla="*/ 3040741 h 4717133"/>
              <a:gd name="connsiteX668" fmla="*/ 4459752 w 4694357"/>
              <a:gd name="connsiteY668" fmla="*/ 3016255 h 4717133"/>
              <a:gd name="connsiteX669" fmla="*/ 4483668 w 4694357"/>
              <a:gd name="connsiteY669" fmla="*/ 2991769 h 4717133"/>
              <a:gd name="connsiteX670" fmla="*/ 330268 w 4694357"/>
              <a:gd name="connsiteY670" fmla="*/ 2991769 h 4717133"/>
              <a:gd name="connsiteX671" fmla="*/ 353045 w 4694357"/>
              <a:gd name="connsiteY671" fmla="*/ 3014546 h 4717133"/>
              <a:gd name="connsiteX672" fmla="*/ 330268 w 4694357"/>
              <a:gd name="connsiteY672" fmla="*/ 3037323 h 4717133"/>
              <a:gd name="connsiteX673" fmla="*/ 307491 w 4694357"/>
              <a:gd name="connsiteY673" fmla="*/ 3014546 h 4717133"/>
              <a:gd name="connsiteX674" fmla="*/ 330268 w 4694357"/>
              <a:gd name="connsiteY674" fmla="*/ 2991769 h 4717133"/>
              <a:gd name="connsiteX675" fmla="*/ 4256467 w 4694357"/>
              <a:gd name="connsiteY675" fmla="*/ 2990630 h 4717133"/>
              <a:gd name="connsiteX676" fmla="*/ 4278675 w 4694357"/>
              <a:gd name="connsiteY676" fmla="*/ 3012838 h 4717133"/>
              <a:gd name="connsiteX677" fmla="*/ 4256467 w 4694357"/>
              <a:gd name="connsiteY677" fmla="*/ 3035046 h 4717133"/>
              <a:gd name="connsiteX678" fmla="*/ 4234259 w 4694357"/>
              <a:gd name="connsiteY678" fmla="*/ 3012838 h 4717133"/>
              <a:gd name="connsiteX679" fmla="*/ 4256467 w 4694357"/>
              <a:gd name="connsiteY679" fmla="*/ 2990630 h 4717133"/>
              <a:gd name="connsiteX680" fmla="*/ 62069 w 4694357"/>
              <a:gd name="connsiteY680" fmla="*/ 2850551 h 4717133"/>
              <a:gd name="connsiteX681" fmla="*/ 68333 w 4694357"/>
              <a:gd name="connsiteY681" fmla="*/ 2856246 h 4717133"/>
              <a:gd name="connsiteX682" fmla="*/ 62069 w 4694357"/>
              <a:gd name="connsiteY682" fmla="*/ 2861941 h 4717133"/>
              <a:gd name="connsiteX683" fmla="*/ 55805 w 4694357"/>
              <a:gd name="connsiteY683" fmla="*/ 2856246 h 4717133"/>
              <a:gd name="connsiteX684" fmla="*/ 62069 w 4694357"/>
              <a:gd name="connsiteY684" fmla="*/ 2850551 h 4717133"/>
              <a:gd name="connsiteX685" fmla="*/ 4636275 w 4694357"/>
              <a:gd name="connsiteY685" fmla="*/ 2849412 h 4717133"/>
              <a:gd name="connsiteX686" fmla="*/ 4641970 w 4694357"/>
              <a:gd name="connsiteY686" fmla="*/ 2855107 h 4717133"/>
              <a:gd name="connsiteX687" fmla="*/ 4636275 w 4694357"/>
              <a:gd name="connsiteY687" fmla="*/ 2860802 h 4717133"/>
              <a:gd name="connsiteX688" fmla="*/ 4630580 w 4694357"/>
              <a:gd name="connsiteY688" fmla="*/ 2855107 h 4717133"/>
              <a:gd name="connsiteX689" fmla="*/ 4636275 w 4694357"/>
              <a:gd name="connsiteY689" fmla="*/ 2849412 h 4717133"/>
              <a:gd name="connsiteX690" fmla="*/ 394044 w 4694357"/>
              <a:gd name="connsiteY690" fmla="*/ 2849412 h 4717133"/>
              <a:gd name="connsiteX691" fmla="*/ 398601 w 4694357"/>
              <a:gd name="connsiteY691" fmla="*/ 2853398 h 4717133"/>
              <a:gd name="connsiteX692" fmla="*/ 394044 w 4694357"/>
              <a:gd name="connsiteY692" fmla="*/ 2857384 h 4717133"/>
              <a:gd name="connsiteX693" fmla="*/ 389488 w 4694357"/>
              <a:gd name="connsiteY693" fmla="*/ 2853398 h 4717133"/>
              <a:gd name="connsiteX694" fmla="*/ 394044 w 4694357"/>
              <a:gd name="connsiteY694" fmla="*/ 2849412 h 4717133"/>
              <a:gd name="connsiteX695" fmla="*/ 4413060 w 4694357"/>
              <a:gd name="connsiteY695" fmla="*/ 2844857 h 4717133"/>
              <a:gd name="connsiteX696" fmla="*/ 4422171 w 4694357"/>
              <a:gd name="connsiteY696" fmla="*/ 2853968 h 4717133"/>
              <a:gd name="connsiteX697" fmla="*/ 4413060 w 4694357"/>
              <a:gd name="connsiteY697" fmla="*/ 2863079 h 4717133"/>
              <a:gd name="connsiteX698" fmla="*/ 4403949 w 4694357"/>
              <a:gd name="connsiteY698" fmla="*/ 2853968 h 4717133"/>
              <a:gd name="connsiteX699" fmla="*/ 4413060 w 4694357"/>
              <a:gd name="connsiteY699" fmla="*/ 2844857 h 4717133"/>
              <a:gd name="connsiteX700" fmla="*/ 284714 w 4694357"/>
              <a:gd name="connsiteY700" fmla="*/ 2838024 h 4717133"/>
              <a:gd name="connsiteX701" fmla="*/ 301797 w 4694357"/>
              <a:gd name="connsiteY701" fmla="*/ 2854538 h 4717133"/>
              <a:gd name="connsiteX702" fmla="*/ 284714 w 4694357"/>
              <a:gd name="connsiteY702" fmla="*/ 2871052 h 4717133"/>
              <a:gd name="connsiteX703" fmla="*/ 267631 w 4694357"/>
              <a:gd name="connsiteY703" fmla="*/ 2854538 h 4717133"/>
              <a:gd name="connsiteX704" fmla="*/ 284714 w 4694357"/>
              <a:gd name="connsiteY704" fmla="*/ 2838024 h 4717133"/>
              <a:gd name="connsiteX705" fmla="*/ 171399 w 4694357"/>
              <a:gd name="connsiteY705" fmla="*/ 2838024 h 4717133"/>
              <a:gd name="connsiteX706" fmla="*/ 189052 w 4694357"/>
              <a:gd name="connsiteY706" fmla="*/ 2856246 h 4717133"/>
              <a:gd name="connsiteX707" fmla="*/ 171399 w 4694357"/>
              <a:gd name="connsiteY707" fmla="*/ 2874468 h 4717133"/>
              <a:gd name="connsiteX708" fmla="*/ 153746 w 4694357"/>
              <a:gd name="connsiteY708" fmla="*/ 2856246 h 4717133"/>
              <a:gd name="connsiteX709" fmla="*/ 171399 w 4694357"/>
              <a:gd name="connsiteY709" fmla="*/ 2838024 h 4717133"/>
              <a:gd name="connsiteX710" fmla="*/ 4526945 w 4694357"/>
              <a:gd name="connsiteY710" fmla="*/ 2831190 h 4717133"/>
              <a:gd name="connsiteX711" fmla="*/ 4549722 w 4694357"/>
              <a:gd name="connsiteY711" fmla="*/ 2854537 h 4717133"/>
              <a:gd name="connsiteX712" fmla="*/ 4526945 w 4694357"/>
              <a:gd name="connsiteY712" fmla="*/ 2877884 h 4717133"/>
              <a:gd name="connsiteX713" fmla="*/ 4504168 w 4694357"/>
              <a:gd name="connsiteY713" fmla="*/ 2854537 h 4717133"/>
              <a:gd name="connsiteX714" fmla="*/ 4526945 w 4694357"/>
              <a:gd name="connsiteY714" fmla="*/ 2831190 h 4717133"/>
              <a:gd name="connsiteX715" fmla="*/ 4303729 w 4694357"/>
              <a:gd name="connsiteY715" fmla="*/ 2828913 h 4717133"/>
              <a:gd name="connsiteX716" fmla="*/ 4327645 w 4694357"/>
              <a:gd name="connsiteY716" fmla="*/ 2852829 h 4717133"/>
              <a:gd name="connsiteX717" fmla="*/ 4303729 w 4694357"/>
              <a:gd name="connsiteY717" fmla="*/ 2876745 h 4717133"/>
              <a:gd name="connsiteX718" fmla="*/ 4279813 w 4694357"/>
              <a:gd name="connsiteY718" fmla="*/ 2852829 h 4717133"/>
              <a:gd name="connsiteX719" fmla="*/ 4303729 w 4694357"/>
              <a:gd name="connsiteY719" fmla="*/ 2828913 h 4717133"/>
              <a:gd name="connsiteX720" fmla="*/ 4665885 w 4694357"/>
              <a:gd name="connsiteY720" fmla="*/ 2685417 h 4717133"/>
              <a:gd name="connsiteX721" fmla="*/ 4671580 w 4694357"/>
              <a:gd name="connsiteY721" fmla="*/ 2691112 h 4717133"/>
              <a:gd name="connsiteX722" fmla="*/ 4665885 w 4694357"/>
              <a:gd name="connsiteY722" fmla="*/ 2696807 h 4717133"/>
              <a:gd name="connsiteX723" fmla="*/ 4660190 w 4694357"/>
              <a:gd name="connsiteY723" fmla="*/ 2691112 h 4717133"/>
              <a:gd name="connsiteX724" fmla="*/ 4665885 w 4694357"/>
              <a:gd name="connsiteY724" fmla="*/ 2685417 h 4717133"/>
              <a:gd name="connsiteX725" fmla="*/ 360448 w 4694357"/>
              <a:gd name="connsiteY725" fmla="*/ 2685417 h 4717133"/>
              <a:gd name="connsiteX726" fmla="*/ 365573 w 4694357"/>
              <a:gd name="connsiteY726" fmla="*/ 2690542 h 4717133"/>
              <a:gd name="connsiteX727" fmla="*/ 360448 w 4694357"/>
              <a:gd name="connsiteY727" fmla="*/ 2695667 h 4717133"/>
              <a:gd name="connsiteX728" fmla="*/ 355323 w 4694357"/>
              <a:gd name="connsiteY728" fmla="*/ 2690542 h 4717133"/>
              <a:gd name="connsiteX729" fmla="*/ 360448 w 4694357"/>
              <a:gd name="connsiteY729" fmla="*/ 2685417 h 4717133"/>
              <a:gd name="connsiteX730" fmla="*/ 33027 w 4694357"/>
              <a:gd name="connsiteY730" fmla="*/ 2685417 h 4717133"/>
              <a:gd name="connsiteX731" fmla="*/ 39860 w 4694357"/>
              <a:gd name="connsiteY731" fmla="*/ 2692250 h 4717133"/>
              <a:gd name="connsiteX732" fmla="*/ 33027 w 4694357"/>
              <a:gd name="connsiteY732" fmla="*/ 2699083 h 4717133"/>
              <a:gd name="connsiteX733" fmla="*/ 26194 w 4694357"/>
              <a:gd name="connsiteY733" fmla="*/ 2692250 h 4717133"/>
              <a:gd name="connsiteX734" fmla="*/ 33027 w 4694357"/>
              <a:gd name="connsiteY734" fmla="*/ 2685417 h 4717133"/>
              <a:gd name="connsiteX735" fmla="*/ 252257 w 4694357"/>
              <a:gd name="connsiteY735" fmla="*/ 2682001 h 4717133"/>
              <a:gd name="connsiteX736" fmla="*/ 260799 w 4694357"/>
              <a:gd name="connsiteY736" fmla="*/ 2691112 h 4717133"/>
              <a:gd name="connsiteX737" fmla="*/ 252257 w 4694357"/>
              <a:gd name="connsiteY737" fmla="*/ 2700223 h 4717133"/>
              <a:gd name="connsiteX738" fmla="*/ 243715 w 4694357"/>
              <a:gd name="connsiteY738" fmla="*/ 2691112 h 4717133"/>
              <a:gd name="connsiteX739" fmla="*/ 252257 w 4694357"/>
              <a:gd name="connsiteY739" fmla="*/ 2682001 h 4717133"/>
              <a:gd name="connsiteX740" fmla="*/ 4446086 w 4694357"/>
              <a:gd name="connsiteY740" fmla="*/ 2679723 h 4717133"/>
              <a:gd name="connsiteX741" fmla="*/ 4456336 w 4694357"/>
              <a:gd name="connsiteY741" fmla="*/ 2689973 h 4717133"/>
              <a:gd name="connsiteX742" fmla="*/ 4446086 w 4694357"/>
              <a:gd name="connsiteY742" fmla="*/ 2700223 h 4717133"/>
              <a:gd name="connsiteX743" fmla="*/ 4435836 w 4694357"/>
              <a:gd name="connsiteY743" fmla="*/ 2689973 h 4717133"/>
              <a:gd name="connsiteX744" fmla="*/ 4446086 w 4694357"/>
              <a:gd name="connsiteY744" fmla="*/ 2679723 h 4717133"/>
              <a:gd name="connsiteX745" fmla="*/ 140080 w 4694357"/>
              <a:gd name="connsiteY745" fmla="*/ 2674029 h 4717133"/>
              <a:gd name="connsiteX746" fmla="*/ 158302 w 4694357"/>
              <a:gd name="connsiteY746" fmla="*/ 2692251 h 4717133"/>
              <a:gd name="connsiteX747" fmla="*/ 140080 w 4694357"/>
              <a:gd name="connsiteY747" fmla="*/ 2710473 h 4717133"/>
              <a:gd name="connsiteX748" fmla="*/ 121858 w 4694357"/>
              <a:gd name="connsiteY748" fmla="*/ 2692251 h 4717133"/>
              <a:gd name="connsiteX749" fmla="*/ 140080 w 4694357"/>
              <a:gd name="connsiteY749" fmla="*/ 2674029 h 4717133"/>
              <a:gd name="connsiteX750" fmla="*/ 4558264 w 4694357"/>
              <a:gd name="connsiteY750" fmla="*/ 2668335 h 4717133"/>
              <a:gd name="connsiteX751" fmla="*/ 4580472 w 4694357"/>
              <a:gd name="connsiteY751" fmla="*/ 2691112 h 4717133"/>
              <a:gd name="connsiteX752" fmla="*/ 4558264 w 4694357"/>
              <a:gd name="connsiteY752" fmla="*/ 2713889 h 4717133"/>
              <a:gd name="connsiteX753" fmla="*/ 4536056 w 4694357"/>
              <a:gd name="connsiteY753" fmla="*/ 2691112 h 4717133"/>
              <a:gd name="connsiteX754" fmla="*/ 4558264 w 4694357"/>
              <a:gd name="connsiteY754" fmla="*/ 2668335 h 4717133"/>
              <a:gd name="connsiteX755" fmla="*/ 4337895 w 4694357"/>
              <a:gd name="connsiteY755" fmla="*/ 2664918 h 4717133"/>
              <a:gd name="connsiteX756" fmla="*/ 4364089 w 4694357"/>
              <a:gd name="connsiteY756" fmla="*/ 2690543 h 4717133"/>
              <a:gd name="connsiteX757" fmla="*/ 4337895 w 4694357"/>
              <a:gd name="connsiteY757" fmla="*/ 2716168 h 4717133"/>
              <a:gd name="connsiteX758" fmla="*/ 4311701 w 4694357"/>
              <a:gd name="connsiteY758" fmla="*/ 2690543 h 4717133"/>
              <a:gd name="connsiteX759" fmla="*/ 4337895 w 4694357"/>
              <a:gd name="connsiteY759" fmla="*/ 2664918 h 4717133"/>
              <a:gd name="connsiteX760" fmla="*/ 232327 w 4694357"/>
              <a:gd name="connsiteY760" fmla="*/ 2522561 h 4717133"/>
              <a:gd name="connsiteX761" fmla="*/ 235744 w 4694357"/>
              <a:gd name="connsiteY761" fmla="*/ 2525978 h 4717133"/>
              <a:gd name="connsiteX762" fmla="*/ 232327 w 4694357"/>
              <a:gd name="connsiteY762" fmla="*/ 2529395 h 4717133"/>
              <a:gd name="connsiteX763" fmla="*/ 228910 w 4694357"/>
              <a:gd name="connsiteY763" fmla="*/ 2525978 h 4717133"/>
              <a:gd name="connsiteX764" fmla="*/ 232327 w 4694357"/>
              <a:gd name="connsiteY764" fmla="*/ 2522561 h 4717133"/>
              <a:gd name="connsiteX765" fmla="*/ 4682968 w 4694357"/>
              <a:gd name="connsiteY765" fmla="*/ 2519145 h 4717133"/>
              <a:gd name="connsiteX766" fmla="*/ 4688663 w 4694357"/>
              <a:gd name="connsiteY766" fmla="*/ 2524840 h 4717133"/>
              <a:gd name="connsiteX767" fmla="*/ 4682968 w 4694357"/>
              <a:gd name="connsiteY767" fmla="*/ 2530535 h 4717133"/>
              <a:gd name="connsiteX768" fmla="*/ 4677273 w 4694357"/>
              <a:gd name="connsiteY768" fmla="*/ 2524840 h 4717133"/>
              <a:gd name="connsiteX769" fmla="*/ 4682968 w 4694357"/>
              <a:gd name="connsiteY769" fmla="*/ 2519145 h 4717133"/>
              <a:gd name="connsiteX770" fmla="*/ 339380 w 4694357"/>
              <a:gd name="connsiteY770" fmla="*/ 2519145 h 4717133"/>
              <a:gd name="connsiteX771" fmla="*/ 345075 w 4694357"/>
              <a:gd name="connsiteY771" fmla="*/ 2525409 h 4717133"/>
              <a:gd name="connsiteX772" fmla="*/ 339380 w 4694357"/>
              <a:gd name="connsiteY772" fmla="*/ 2531673 h 4717133"/>
              <a:gd name="connsiteX773" fmla="*/ 333685 w 4694357"/>
              <a:gd name="connsiteY773" fmla="*/ 2525409 h 4717133"/>
              <a:gd name="connsiteX774" fmla="*/ 339380 w 4694357"/>
              <a:gd name="connsiteY774" fmla="*/ 2519145 h 4717133"/>
              <a:gd name="connsiteX775" fmla="*/ 14806 w 4694357"/>
              <a:gd name="connsiteY775" fmla="*/ 2519145 h 4717133"/>
              <a:gd name="connsiteX776" fmla="*/ 22778 w 4694357"/>
              <a:gd name="connsiteY776" fmla="*/ 2526548 h 4717133"/>
              <a:gd name="connsiteX777" fmla="*/ 14806 w 4694357"/>
              <a:gd name="connsiteY777" fmla="*/ 2533951 h 4717133"/>
              <a:gd name="connsiteX778" fmla="*/ 6834 w 4694357"/>
              <a:gd name="connsiteY778" fmla="*/ 2526548 h 4717133"/>
              <a:gd name="connsiteX779" fmla="*/ 14806 w 4694357"/>
              <a:gd name="connsiteY779" fmla="*/ 2519145 h 4717133"/>
              <a:gd name="connsiteX780" fmla="*/ 4464877 w 4694357"/>
              <a:gd name="connsiteY780" fmla="*/ 2513451 h 4717133"/>
              <a:gd name="connsiteX781" fmla="*/ 4476835 w 4694357"/>
              <a:gd name="connsiteY781" fmla="*/ 2524840 h 4717133"/>
              <a:gd name="connsiteX782" fmla="*/ 4464877 w 4694357"/>
              <a:gd name="connsiteY782" fmla="*/ 2536229 h 4717133"/>
              <a:gd name="connsiteX783" fmla="*/ 4452919 w 4694357"/>
              <a:gd name="connsiteY783" fmla="*/ 2524840 h 4717133"/>
              <a:gd name="connsiteX784" fmla="*/ 4464877 w 4694357"/>
              <a:gd name="connsiteY784" fmla="*/ 2513451 h 4717133"/>
              <a:gd name="connsiteX785" fmla="*/ 121289 w 4694357"/>
              <a:gd name="connsiteY785" fmla="*/ 2508895 h 4717133"/>
              <a:gd name="connsiteX786" fmla="*/ 138942 w 4694357"/>
              <a:gd name="connsiteY786" fmla="*/ 2526548 h 4717133"/>
              <a:gd name="connsiteX787" fmla="*/ 121289 w 4694357"/>
              <a:gd name="connsiteY787" fmla="*/ 2544201 h 4717133"/>
              <a:gd name="connsiteX788" fmla="*/ 103636 w 4694357"/>
              <a:gd name="connsiteY788" fmla="*/ 2526548 h 4717133"/>
              <a:gd name="connsiteX789" fmla="*/ 121289 w 4694357"/>
              <a:gd name="connsiteY789" fmla="*/ 2508895 h 4717133"/>
              <a:gd name="connsiteX790" fmla="*/ 4576485 w 4694357"/>
              <a:gd name="connsiteY790" fmla="*/ 2503201 h 4717133"/>
              <a:gd name="connsiteX791" fmla="*/ 4597554 w 4694357"/>
              <a:gd name="connsiteY791" fmla="*/ 2524839 h 4717133"/>
              <a:gd name="connsiteX792" fmla="*/ 4576485 w 4694357"/>
              <a:gd name="connsiteY792" fmla="*/ 2546477 h 4717133"/>
              <a:gd name="connsiteX793" fmla="*/ 4555416 w 4694357"/>
              <a:gd name="connsiteY793" fmla="*/ 2524839 h 4717133"/>
              <a:gd name="connsiteX794" fmla="*/ 4576485 w 4694357"/>
              <a:gd name="connsiteY794" fmla="*/ 2503201 h 4717133"/>
              <a:gd name="connsiteX795" fmla="*/ 4358394 w 4694357"/>
              <a:gd name="connsiteY795" fmla="*/ 2498645 h 4717133"/>
              <a:gd name="connsiteX796" fmla="*/ 4384588 w 4694357"/>
              <a:gd name="connsiteY796" fmla="*/ 2525408 h 4717133"/>
              <a:gd name="connsiteX797" fmla="*/ 4358394 w 4694357"/>
              <a:gd name="connsiteY797" fmla="*/ 2552171 h 4717133"/>
              <a:gd name="connsiteX798" fmla="*/ 4332200 w 4694357"/>
              <a:gd name="connsiteY798" fmla="*/ 2525408 h 4717133"/>
              <a:gd name="connsiteX799" fmla="*/ 4358394 w 4694357"/>
              <a:gd name="connsiteY799" fmla="*/ 2498645 h 4717133"/>
              <a:gd name="connsiteX800" fmla="*/ 226064 w 4694357"/>
              <a:gd name="connsiteY800" fmla="*/ 2357427 h 4717133"/>
              <a:gd name="connsiteX801" fmla="*/ 227773 w 4694357"/>
              <a:gd name="connsiteY801" fmla="*/ 2359136 h 4717133"/>
              <a:gd name="connsiteX802" fmla="*/ 226064 w 4694357"/>
              <a:gd name="connsiteY802" fmla="*/ 2360845 h 4717133"/>
              <a:gd name="connsiteX803" fmla="*/ 224355 w 4694357"/>
              <a:gd name="connsiteY803" fmla="*/ 2359136 h 4717133"/>
              <a:gd name="connsiteX804" fmla="*/ 226064 w 4694357"/>
              <a:gd name="connsiteY804" fmla="*/ 2357427 h 4717133"/>
              <a:gd name="connsiteX805" fmla="*/ 332546 w 4694357"/>
              <a:gd name="connsiteY805" fmla="*/ 2352872 h 4717133"/>
              <a:gd name="connsiteX806" fmla="*/ 339379 w 4694357"/>
              <a:gd name="connsiteY806" fmla="*/ 2359705 h 4717133"/>
              <a:gd name="connsiteX807" fmla="*/ 332546 w 4694357"/>
              <a:gd name="connsiteY807" fmla="*/ 2366538 h 4717133"/>
              <a:gd name="connsiteX808" fmla="*/ 325713 w 4694357"/>
              <a:gd name="connsiteY808" fmla="*/ 2359705 h 4717133"/>
              <a:gd name="connsiteX809" fmla="*/ 332546 w 4694357"/>
              <a:gd name="connsiteY809" fmla="*/ 2352872 h 4717133"/>
              <a:gd name="connsiteX810" fmla="*/ 4688662 w 4694357"/>
              <a:gd name="connsiteY810" fmla="*/ 2351733 h 4717133"/>
              <a:gd name="connsiteX811" fmla="*/ 4694357 w 4694357"/>
              <a:gd name="connsiteY811" fmla="*/ 2357997 h 4717133"/>
              <a:gd name="connsiteX812" fmla="*/ 4688662 w 4694357"/>
              <a:gd name="connsiteY812" fmla="*/ 2364261 h 4717133"/>
              <a:gd name="connsiteX813" fmla="*/ 4682967 w 4694357"/>
              <a:gd name="connsiteY813" fmla="*/ 2357997 h 4717133"/>
              <a:gd name="connsiteX814" fmla="*/ 4688662 w 4694357"/>
              <a:gd name="connsiteY814" fmla="*/ 2351733 h 4717133"/>
              <a:gd name="connsiteX815" fmla="*/ 8542 w 4694357"/>
              <a:gd name="connsiteY815" fmla="*/ 2350594 h 4717133"/>
              <a:gd name="connsiteX816" fmla="*/ 17084 w 4694357"/>
              <a:gd name="connsiteY816" fmla="*/ 2359705 h 4717133"/>
              <a:gd name="connsiteX817" fmla="*/ 8542 w 4694357"/>
              <a:gd name="connsiteY817" fmla="*/ 2368816 h 4717133"/>
              <a:gd name="connsiteX818" fmla="*/ 0 w 4694357"/>
              <a:gd name="connsiteY818" fmla="*/ 2359705 h 4717133"/>
              <a:gd name="connsiteX819" fmla="*/ 8542 w 4694357"/>
              <a:gd name="connsiteY819" fmla="*/ 2350594 h 4717133"/>
              <a:gd name="connsiteX820" fmla="*/ 4471711 w 4694357"/>
              <a:gd name="connsiteY820" fmla="*/ 2346039 h 4717133"/>
              <a:gd name="connsiteX821" fmla="*/ 4484808 w 4694357"/>
              <a:gd name="connsiteY821" fmla="*/ 2358567 h 4717133"/>
              <a:gd name="connsiteX822" fmla="*/ 4471711 w 4694357"/>
              <a:gd name="connsiteY822" fmla="*/ 2371095 h 4717133"/>
              <a:gd name="connsiteX823" fmla="*/ 4458614 w 4694357"/>
              <a:gd name="connsiteY823" fmla="*/ 2358567 h 4717133"/>
              <a:gd name="connsiteX824" fmla="*/ 4471711 w 4694357"/>
              <a:gd name="connsiteY824" fmla="*/ 2346039 h 4717133"/>
              <a:gd name="connsiteX825" fmla="*/ 115595 w 4694357"/>
              <a:gd name="connsiteY825" fmla="*/ 2341483 h 4717133"/>
              <a:gd name="connsiteX826" fmla="*/ 133248 w 4694357"/>
              <a:gd name="connsiteY826" fmla="*/ 2359136 h 4717133"/>
              <a:gd name="connsiteX827" fmla="*/ 115595 w 4694357"/>
              <a:gd name="connsiteY827" fmla="*/ 2376789 h 4717133"/>
              <a:gd name="connsiteX828" fmla="*/ 97942 w 4694357"/>
              <a:gd name="connsiteY828" fmla="*/ 2359136 h 4717133"/>
              <a:gd name="connsiteX829" fmla="*/ 115595 w 4694357"/>
              <a:gd name="connsiteY829" fmla="*/ 2341483 h 4717133"/>
              <a:gd name="connsiteX830" fmla="*/ 4582179 w 4694357"/>
              <a:gd name="connsiteY830" fmla="*/ 2336928 h 4717133"/>
              <a:gd name="connsiteX831" fmla="*/ 4603248 w 4694357"/>
              <a:gd name="connsiteY831" fmla="*/ 2357997 h 4717133"/>
              <a:gd name="connsiteX832" fmla="*/ 4582179 w 4694357"/>
              <a:gd name="connsiteY832" fmla="*/ 2379066 h 4717133"/>
              <a:gd name="connsiteX833" fmla="*/ 4561110 w 4694357"/>
              <a:gd name="connsiteY833" fmla="*/ 2357997 h 4717133"/>
              <a:gd name="connsiteX834" fmla="*/ 4582179 w 4694357"/>
              <a:gd name="connsiteY834" fmla="*/ 2336928 h 4717133"/>
              <a:gd name="connsiteX835" fmla="*/ 4365228 w 4694357"/>
              <a:gd name="connsiteY835" fmla="*/ 2331234 h 4717133"/>
              <a:gd name="connsiteX836" fmla="*/ 4392561 w 4694357"/>
              <a:gd name="connsiteY836" fmla="*/ 2358567 h 4717133"/>
              <a:gd name="connsiteX837" fmla="*/ 4365228 w 4694357"/>
              <a:gd name="connsiteY837" fmla="*/ 2385900 h 4717133"/>
              <a:gd name="connsiteX838" fmla="*/ 4337895 w 4694357"/>
              <a:gd name="connsiteY838" fmla="*/ 2358567 h 4717133"/>
              <a:gd name="connsiteX839" fmla="*/ 4365228 w 4694357"/>
              <a:gd name="connsiteY839" fmla="*/ 2331234 h 4717133"/>
              <a:gd name="connsiteX840" fmla="*/ 232897 w 4694357"/>
              <a:gd name="connsiteY840" fmla="*/ 2191155 h 4717133"/>
              <a:gd name="connsiteX841" fmla="*/ 234606 w 4694357"/>
              <a:gd name="connsiteY841" fmla="*/ 2192864 h 4717133"/>
              <a:gd name="connsiteX842" fmla="*/ 232897 w 4694357"/>
              <a:gd name="connsiteY842" fmla="*/ 2194573 h 4717133"/>
              <a:gd name="connsiteX843" fmla="*/ 231188 w 4694357"/>
              <a:gd name="connsiteY843" fmla="*/ 2192864 h 4717133"/>
              <a:gd name="connsiteX844" fmla="*/ 232897 w 4694357"/>
              <a:gd name="connsiteY844" fmla="*/ 2191155 h 4717133"/>
              <a:gd name="connsiteX845" fmla="*/ 339379 w 4694357"/>
              <a:gd name="connsiteY845" fmla="*/ 2185461 h 4717133"/>
              <a:gd name="connsiteX846" fmla="*/ 347351 w 4694357"/>
              <a:gd name="connsiteY846" fmla="*/ 2192864 h 4717133"/>
              <a:gd name="connsiteX847" fmla="*/ 339379 w 4694357"/>
              <a:gd name="connsiteY847" fmla="*/ 2200267 h 4717133"/>
              <a:gd name="connsiteX848" fmla="*/ 331407 w 4694357"/>
              <a:gd name="connsiteY848" fmla="*/ 2192864 h 4717133"/>
              <a:gd name="connsiteX849" fmla="*/ 339379 w 4694357"/>
              <a:gd name="connsiteY849" fmla="*/ 2185461 h 4717133"/>
              <a:gd name="connsiteX850" fmla="*/ 4682968 w 4694357"/>
              <a:gd name="connsiteY850" fmla="*/ 2184322 h 4717133"/>
              <a:gd name="connsiteX851" fmla="*/ 4690940 w 4694357"/>
              <a:gd name="connsiteY851" fmla="*/ 2191155 h 4717133"/>
              <a:gd name="connsiteX852" fmla="*/ 4682968 w 4694357"/>
              <a:gd name="connsiteY852" fmla="*/ 2197988 h 4717133"/>
              <a:gd name="connsiteX853" fmla="*/ 4674996 w 4694357"/>
              <a:gd name="connsiteY853" fmla="*/ 2191155 h 4717133"/>
              <a:gd name="connsiteX854" fmla="*/ 4682968 w 4694357"/>
              <a:gd name="connsiteY854" fmla="*/ 2184322 h 4717133"/>
              <a:gd name="connsiteX855" fmla="*/ 14237 w 4694357"/>
              <a:gd name="connsiteY855" fmla="*/ 2183183 h 4717133"/>
              <a:gd name="connsiteX856" fmla="*/ 23918 w 4694357"/>
              <a:gd name="connsiteY856" fmla="*/ 2192864 h 4717133"/>
              <a:gd name="connsiteX857" fmla="*/ 14237 w 4694357"/>
              <a:gd name="connsiteY857" fmla="*/ 2202545 h 4717133"/>
              <a:gd name="connsiteX858" fmla="*/ 4556 w 4694357"/>
              <a:gd name="connsiteY858" fmla="*/ 2192864 h 4717133"/>
              <a:gd name="connsiteX859" fmla="*/ 14237 w 4694357"/>
              <a:gd name="connsiteY859" fmla="*/ 2183183 h 4717133"/>
              <a:gd name="connsiteX860" fmla="*/ 121289 w 4694357"/>
              <a:gd name="connsiteY860" fmla="*/ 2178628 h 4717133"/>
              <a:gd name="connsiteX861" fmla="*/ 135525 w 4694357"/>
              <a:gd name="connsiteY861" fmla="*/ 2192864 h 4717133"/>
              <a:gd name="connsiteX862" fmla="*/ 121289 w 4694357"/>
              <a:gd name="connsiteY862" fmla="*/ 2207100 h 4717133"/>
              <a:gd name="connsiteX863" fmla="*/ 107053 w 4694357"/>
              <a:gd name="connsiteY863" fmla="*/ 2192864 h 4717133"/>
              <a:gd name="connsiteX864" fmla="*/ 121289 w 4694357"/>
              <a:gd name="connsiteY864" fmla="*/ 2178628 h 4717133"/>
              <a:gd name="connsiteX865" fmla="*/ 4464878 w 4694357"/>
              <a:gd name="connsiteY865" fmla="*/ 2176350 h 4717133"/>
              <a:gd name="connsiteX866" fmla="*/ 4480253 w 4694357"/>
              <a:gd name="connsiteY866" fmla="*/ 2191725 h 4717133"/>
              <a:gd name="connsiteX867" fmla="*/ 4464878 w 4694357"/>
              <a:gd name="connsiteY867" fmla="*/ 2207100 h 4717133"/>
              <a:gd name="connsiteX868" fmla="*/ 4449503 w 4694357"/>
              <a:gd name="connsiteY868" fmla="*/ 2191725 h 4717133"/>
              <a:gd name="connsiteX869" fmla="*/ 4464878 w 4694357"/>
              <a:gd name="connsiteY869" fmla="*/ 2176350 h 4717133"/>
              <a:gd name="connsiteX870" fmla="*/ 4576485 w 4694357"/>
              <a:gd name="connsiteY870" fmla="*/ 2170655 h 4717133"/>
              <a:gd name="connsiteX871" fmla="*/ 4597554 w 4694357"/>
              <a:gd name="connsiteY871" fmla="*/ 2191724 h 4717133"/>
              <a:gd name="connsiteX872" fmla="*/ 4576485 w 4694357"/>
              <a:gd name="connsiteY872" fmla="*/ 2212793 h 4717133"/>
              <a:gd name="connsiteX873" fmla="*/ 4555416 w 4694357"/>
              <a:gd name="connsiteY873" fmla="*/ 2191724 h 4717133"/>
              <a:gd name="connsiteX874" fmla="*/ 4576485 w 4694357"/>
              <a:gd name="connsiteY874" fmla="*/ 2170655 h 4717133"/>
              <a:gd name="connsiteX875" fmla="*/ 4358395 w 4694357"/>
              <a:gd name="connsiteY875" fmla="*/ 2163822 h 4717133"/>
              <a:gd name="connsiteX876" fmla="*/ 4386867 w 4694357"/>
              <a:gd name="connsiteY876" fmla="*/ 2191724 h 4717133"/>
              <a:gd name="connsiteX877" fmla="*/ 4358395 w 4694357"/>
              <a:gd name="connsiteY877" fmla="*/ 2219626 h 4717133"/>
              <a:gd name="connsiteX878" fmla="*/ 4329923 w 4694357"/>
              <a:gd name="connsiteY878" fmla="*/ 2191724 h 4717133"/>
              <a:gd name="connsiteX879" fmla="*/ 4358395 w 4694357"/>
              <a:gd name="connsiteY879" fmla="*/ 2163822 h 4717133"/>
              <a:gd name="connsiteX880" fmla="*/ 251688 w 4694357"/>
              <a:gd name="connsiteY880" fmla="*/ 2026021 h 4717133"/>
              <a:gd name="connsiteX881" fmla="*/ 253966 w 4694357"/>
              <a:gd name="connsiteY881" fmla="*/ 2027730 h 4717133"/>
              <a:gd name="connsiteX882" fmla="*/ 251688 w 4694357"/>
              <a:gd name="connsiteY882" fmla="*/ 2029439 h 4717133"/>
              <a:gd name="connsiteX883" fmla="*/ 249410 w 4694357"/>
              <a:gd name="connsiteY883" fmla="*/ 2027730 h 4717133"/>
              <a:gd name="connsiteX884" fmla="*/ 251688 w 4694357"/>
              <a:gd name="connsiteY884" fmla="*/ 2026021 h 4717133"/>
              <a:gd name="connsiteX885" fmla="*/ 359879 w 4694357"/>
              <a:gd name="connsiteY885" fmla="*/ 2020327 h 4717133"/>
              <a:gd name="connsiteX886" fmla="*/ 367851 w 4694357"/>
              <a:gd name="connsiteY886" fmla="*/ 2028299 h 4717133"/>
              <a:gd name="connsiteX887" fmla="*/ 359879 w 4694357"/>
              <a:gd name="connsiteY887" fmla="*/ 2036271 h 4717133"/>
              <a:gd name="connsiteX888" fmla="*/ 351907 w 4694357"/>
              <a:gd name="connsiteY888" fmla="*/ 2028299 h 4717133"/>
              <a:gd name="connsiteX889" fmla="*/ 359879 w 4694357"/>
              <a:gd name="connsiteY889" fmla="*/ 2020327 h 4717133"/>
              <a:gd name="connsiteX890" fmla="*/ 4664746 w 4694357"/>
              <a:gd name="connsiteY890" fmla="*/ 2016910 h 4717133"/>
              <a:gd name="connsiteX891" fmla="*/ 4673857 w 4694357"/>
              <a:gd name="connsiteY891" fmla="*/ 2025452 h 4717133"/>
              <a:gd name="connsiteX892" fmla="*/ 4664746 w 4694357"/>
              <a:gd name="connsiteY892" fmla="*/ 2033994 h 4717133"/>
              <a:gd name="connsiteX893" fmla="*/ 4655635 w 4694357"/>
              <a:gd name="connsiteY893" fmla="*/ 2025452 h 4717133"/>
              <a:gd name="connsiteX894" fmla="*/ 4664746 w 4694357"/>
              <a:gd name="connsiteY894" fmla="*/ 2016910 h 4717133"/>
              <a:gd name="connsiteX895" fmla="*/ 32459 w 4694357"/>
              <a:gd name="connsiteY895" fmla="*/ 2016910 h 4717133"/>
              <a:gd name="connsiteX896" fmla="*/ 43279 w 4694357"/>
              <a:gd name="connsiteY896" fmla="*/ 2027160 h 4717133"/>
              <a:gd name="connsiteX897" fmla="*/ 32459 w 4694357"/>
              <a:gd name="connsiteY897" fmla="*/ 2037410 h 4717133"/>
              <a:gd name="connsiteX898" fmla="*/ 21639 w 4694357"/>
              <a:gd name="connsiteY898" fmla="*/ 2027160 h 4717133"/>
              <a:gd name="connsiteX899" fmla="*/ 32459 w 4694357"/>
              <a:gd name="connsiteY899" fmla="*/ 2016910 h 4717133"/>
              <a:gd name="connsiteX900" fmla="*/ 139511 w 4694357"/>
              <a:gd name="connsiteY900" fmla="*/ 2011216 h 4717133"/>
              <a:gd name="connsiteX901" fmla="*/ 154886 w 4694357"/>
              <a:gd name="connsiteY901" fmla="*/ 2026591 h 4717133"/>
              <a:gd name="connsiteX902" fmla="*/ 139511 w 4694357"/>
              <a:gd name="connsiteY902" fmla="*/ 2041966 h 4717133"/>
              <a:gd name="connsiteX903" fmla="*/ 124136 w 4694357"/>
              <a:gd name="connsiteY903" fmla="*/ 2026591 h 4717133"/>
              <a:gd name="connsiteX904" fmla="*/ 139511 w 4694357"/>
              <a:gd name="connsiteY904" fmla="*/ 2011216 h 4717133"/>
              <a:gd name="connsiteX905" fmla="*/ 4445517 w 4694357"/>
              <a:gd name="connsiteY905" fmla="*/ 2005522 h 4717133"/>
              <a:gd name="connsiteX906" fmla="*/ 4466586 w 4694357"/>
              <a:gd name="connsiteY906" fmla="*/ 2026591 h 4717133"/>
              <a:gd name="connsiteX907" fmla="*/ 4445517 w 4694357"/>
              <a:gd name="connsiteY907" fmla="*/ 2047660 h 4717133"/>
              <a:gd name="connsiteX908" fmla="*/ 4424448 w 4694357"/>
              <a:gd name="connsiteY908" fmla="*/ 2026591 h 4717133"/>
              <a:gd name="connsiteX909" fmla="*/ 4445517 w 4694357"/>
              <a:gd name="connsiteY909" fmla="*/ 2005522 h 4717133"/>
              <a:gd name="connsiteX910" fmla="*/ 4557694 w 4694357"/>
              <a:gd name="connsiteY910" fmla="*/ 2004383 h 4717133"/>
              <a:gd name="connsiteX911" fmla="*/ 4579332 w 4694357"/>
              <a:gd name="connsiteY911" fmla="*/ 2026021 h 4717133"/>
              <a:gd name="connsiteX912" fmla="*/ 4557694 w 4694357"/>
              <a:gd name="connsiteY912" fmla="*/ 2047659 h 4717133"/>
              <a:gd name="connsiteX913" fmla="*/ 4536056 w 4694357"/>
              <a:gd name="connsiteY913" fmla="*/ 2026021 h 4717133"/>
              <a:gd name="connsiteX914" fmla="*/ 4557694 w 4694357"/>
              <a:gd name="connsiteY914" fmla="*/ 2004383 h 4717133"/>
              <a:gd name="connsiteX915" fmla="*/ 4337895 w 4694357"/>
              <a:gd name="connsiteY915" fmla="*/ 1998689 h 4717133"/>
              <a:gd name="connsiteX916" fmla="*/ 4366367 w 4694357"/>
              <a:gd name="connsiteY916" fmla="*/ 2027161 h 4717133"/>
              <a:gd name="connsiteX917" fmla="*/ 4337895 w 4694357"/>
              <a:gd name="connsiteY917" fmla="*/ 2055633 h 4717133"/>
              <a:gd name="connsiteX918" fmla="*/ 4309423 w 4694357"/>
              <a:gd name="connsiteY918" fmla="*/ 2027161 h 4717133"/>
              <a:gd name="connsiteX919" fmla="*/ 4337895 w 4694357"/>
              <a:gd name="connsiteY919" fmla="*/ 1998689 h 4717133"/>
              <a:gd name="connsiteX920" fmla="*/ 284714 w 4694357"/>
              <a:gd name="connsiteY920" fmla="*/ 1862026 h 4717133"/>
              <a:gd name="connsiteX921" fmla="*/ 286992 w 4694357"/>
              <a:gd name="connsiteY921" fmla="*/ 1864304 h 4717133"/>
              <a:gd name="connsiteX922" fmla="*/ 284714 w 4694357"/>
              <a:gd name="connsiteY922" fmla="*/ 1866582 h 4717133"/>
              <a:gd name="connsiteX923" fmla="*/ 282436 w 4694357"/>
              <a:gd name="connsiteY923" fmla="*/ 1864304 h 4717133"/>
              <a:gd name="connsiteX924" fmla="*/ 284714 w 4694357"/>
              <a:gd name="connsiteY924" fmla="*/ 1862026 h 4717133"/>
              <a:gd name="connsiteX925" fmla="*/ 394044 w 4694357"/>
              <a:gd name="connsiteY925" fmla="*/ 1856332 h 4717133"/>
              <a:gd name="connsiteX926" fmla="*/ 402016 w 4694357"/>
              <a:gd name="connsiteY926" fmla="*/ 1864874 h 4717133"/>
              <a:gd name="connsiteX927" fmla="*/ 394044 w 4694357"/>
              <a:gd name="connsiteY927" fmla="*/ 1873416 h 4717133"/>
              <a:gd name="connsiteX928" fmla="*/ 386072 w 4694357"/>
              <a:gd name="connsiteY928" fmla="*/ 1864874 h 4717133"/>
              <a:gd name="connsiteX929" fmla="*/ 394044 w 4694357"/>
              <a:gd name="connsiteY929" fmla="*/ 1856332 h 4717133"/>
              <a:gd name="connsiteX930" fmla="*/ 62069 w 4694357"/>
              <a:gd name="connsiteY930" fmla="*/ 1851776 h 4717133"/>
              <a:gd name="connsiteX931" fmla="*/ 72889 w 4694357"/>
              <a:gd name="connsiteY931" fmla="*/ 1862596 h 4717133"/>
              <a:gd name="connsiteX932" fmla="*/ 62069 w 4694357"/>
              <a:gd name="connsiteY932" fmla="*/ 1873416 h 4717133"/>
              <a:gd name="connsiteX933" fmla="*/ 51249 w 4694357"/>
              <a:gd name="connsiteY933" fmla="*/ 1862596 h 4717133"/>
              <a:gd name="connsiteX934" fmla="*/ 62069 w 4694357"/>
              <a:gd name="connsiteY934" fmla="*/ 1851776 h 4717133"/>
              <a:gd name="connsiteX935" fmla="*/ 4635136 w 4694357"/>
              <a:gd name="connsiteY935" fmla="*/ 1850638 h 4717133"/>
              <a:gd name="connsiteX936" fmla="*/ 4646525 w 4694357"/>
              <a:gd name="connsiteY936" fmla="*/ 1861458 h 4717133"/>
              <a:gd name="connsiteX937" fmla="*/ 4635136 w 4694357"/>
              <a:gd name="connsiteY937" fmla="*/ 1872278 h 4717133"/>
              <a:gd name="connsiteX938" fmla="*/ 4623747 w 4694357"/>
              <a:gd name="connsiteY938" fmla="*/ 1861458 h 4717133"/>
              <a:gd name="connsiteX939" fmla="*/ 4635136 w 4694357"/>
              <a:gd name="connsiteY939" fmla="*/ 1850638 h 4717133"/>
              <a:gd name="connsiteX940" fmla="*/ 170829 w 4694357"/>
              <a:gd name="connsiteY940" fmla="*/ 1846082 h 4717133"/>
              <a:gd name="connsiteX941" fmla="*/ 187912 w 4694357"/>
              <a:gd name="connsiteY941" fmla="*/ 1862596 h 4717133"/>
              <a:gd name="connsiteX942" fmla="*/ 170829 w 4694357"/>
              <a:gd name="connsiteY942" fmla="*/ 1879110 h 4717133"/>
              <a:gd name="connsiteX943" fmla="*/ 153746 w 4694357"/>
              <a:gd name="connsiteY943" fmla="*/ 1862596 h 4717133"/>
              <a:gd name="connsiteX944" fmla="*/ 170829 w 4694357"/>
              <a:gd name="connsiteY944" fmla="*/ 1846082 h 4717133"/>
              <a:gd name="connsiteX945" fmla="*/ 4526376 w 4694357"/>
              <a:gd name="connsiteY945" fmla="*/ 1840388 h 4717133"/>
              <a:gd name="connsiteX946" fmla="*/ 4548584 w 4694357"/>
              <a:gd name="connsiteY946" fmla="*/ 1862026 h 4717133"/>
              <a:gd name="connsiteX947" fmla="*/ 4526376 w 4694357"/>
              <a:gd name="connsiteY947" fmla="*/ 1883664 h 4717133"/>
              <a:gd name="connsiteX948" fmla="*/ 4504168 w 4694357"/>
              <a:gd name="connsiteY948" fmla="*/ 1862026 h 4717133"/>
              <a:gd name="connsiteX949" fmla="*/ 4526376 w 4694357"/>
              <a:gd name="connsiteY949" fmla="*/ 1840388 h 4717133"/>
              <a:gd name="connsiteX950" fmla="*/ 4303730 w 4694357"/>
              <a:gd name="connsiteY950" fmla="*/ 1836972 h 4717133"/>
              <a:gd name="connsiteX951" fmla="*/ 4331063 w 4694357"/>
              <a:gd name="connsiteY951" fmla="*/ 1864305 h 4717133"/>
              <a:gd name="connsiteX952" fmla="*/ 4303730 w 4694357"/>
              <a:gd name="connsiteY952" fmla="*/ 1891638 h 4717133"/>
              <a:gd name="connsiteX953" fmla="*/ 4276397 w 4694357"/>
              <a:gd name="connsiteY953" fmla="*/ 1864305 h 4717133"/>
              <a:gd name="connsiteX954" fmla="*/ 4303730 w 4694357"/>
              <a:gd name="connsiteY954" fmla="*/ 1836972 h 4717133"/>
              <a:gd name="connsiteX955" fmla="*/ 4413060 w 4694357"/>
              <a:gd name="connsiteY955" fmla="*/ 1835832 h 4717133"/>
              <a:gd name="connsiteX956" fmla="*/ 4441532 w 4694357"/>
              <a:gd name="connsiteY956" fmla="*/ 1863734 h 4717133"/>
              <a:gd name="connsiteX957" fmla="*/ 4413060 w 4694357"/>
              <a:gd name="connsiteY957" fmla="*/ 1891636 h 4717133"/>
              <a:gd name="connsiteX958" fmla="*/ 4384588 w 4694357"/>
              <a:gd name="connsiteY958" fmla="*/ 1863734 h 4717133"/>
              <a:gd name="connsiteX959" fmla="*/ 4413060 w 4694357"/>
              <a:gd name="connsiteY959" fmla="*/ 1835832 h 4717133"/>
              <a:gd name="connsiteX960" fmla="*/ 329700 w 4694357"/>
              <a:gd name="connsiteY960" fmla="*/ 1701448 h 4717133"/>
              <a:gd name="connsiteX961" fmla="*/ 332548 w 4694357"/>
              <a:gd name="connsiteY961" fmla="*/ 1704296 h 4717133"/>
              <a:gd name="connsiteX962" fmla="*/ 329700 w 4694357"/>
              <a:gd name="connsiteY962" fmla="*/ 1707144 h 4717133"/>
              <a:gd name="connsiteX963" fmla="*/ 326852 w 4694357"/>
              <a:gd name="connsiteY963" fmla="*/ 1704296 h 4717133"/>
              <a:gd name="connsiteX964" fmla="*/ 329700 w 4694357"/>
              <a:gd name="connsiteY964" fmla="*/ 1701448 h 4717133"/>
              <a:gd name="connsiteX965" fmla="*/ 441307 w 4694357"/>
              <a:gd name="connsiteY965" fmla="*/ 1696892 h 4717133"/>
              <a:gd name="connsiteX966" fmla="*/ 449849 w 4694357"/>
              <a:gd name="connsiteY966" fmla="*/ 1705434 h 4717133"/>
              <a:gd name="connsiteX967" fmla="*/ 441307 w 4694357"/>
              <a:gd name="connsiteY967" fmla="*/ 1713976 h 4717133"/>
              <a:gd name="connsiteX968" fmla="*/ 432765 w 4694357"/>
              <a:gd name="connsiteY968" fmla="*/ 1705434 h 4717133"/>
              <a:gd name="connsiteX969" fmla="*/ 441307 w 4694357"/>
              <a:gd name="connsiteY969" fmla="*/ 1696892 h 4717133"/>
              <a:gd name="connsiteX970" fmla="*/ 103637 w 4694357"/>
              <a:gd name="connsiteY970" fmla="*/ 1690059 h 4717133"/>
              <a:gd name="connsiteX971" fmla="*/ 115026 w 4694357"/>
              <a:gd name="connsiteY971" fmla="*/ 1700879 h 4717133"/>
              <a:gd name="connsiteX972" fmla="*/ 103637 w 4694357"/>
              <a:gd name="connsiteY972" fmla="*/ 1711699 h 4717133"/>
              <a:gd name="connsiteX973" fmla="*/ 92248 w 4694357"/>
              <a:gd name="connsiteY973" fmla="*/ 1700879 h 4717133"/>
              <a:gd name="connsiteX974" fmla="*/ 103637 w 4694357"/>
              <a:gd name="connsiteY974" fmla="*/ 1690059 h 4717133"/>
              <a:gd name="connsiteX975" fmla="*/ 4594137 w 4694357"/>
              <a:gd name="connsiteY975" fmla="*/ 1686643 h 4717133"/>
              <a:gd name="connsiteX976" fmla="*/ 4607803 w 4694357"/>
              <a:gd name="connsiteY976" fmla="*/ 1699740 h 4717133"/>
              <a:gd name="connsiteX977" fmla="*/ 4594137 w 4694357"/>
              <a:gd name="connsiteY977" fmla="*/ 1712837 h 4717133"/>
              <a:gd name="connsiteX978" fmla="*/ 4580471 w 4694357"/>
              <a:gd name="connsiteY978" fmla="*/ 1699740 h 4717133"/>
              <a:gd name="connsiteX979" fmla="*/ 4594137 w 4694357"/>
              <a:gd name="connsiteY979" fmla="*/ 1686643 h 4717133"/>
              <a:gd name="connsiteX980" fmla="*/ 214106 w 4694357"/>
              <a:gd name="connsiteY980" fmla="*/ 1682087 h 4717133"/>
              <a:gd name="connsiteX981" fmla="*/ 233467 w 4694357"/>
              <a:gd name="connsiteY981" fmla="*/ 1701448 h 4717133"/>
              <a:gd name="connsiteX982" fmla="*/ 214106 w 4694357"/>
              <a:gd name="connsiteY982" fmla="*/ 1720809 h 4717133"/>
              <a:gd name="connsiteX983" fmla="*/ 194745 w 4694357"/>
              <a:gd name="connsiteY983" fmla="*/ 1701448 h 4717133"/>
              <a:gd name="connsiteX984" fmla="*/ 214106 w 4694357"/>
              <a:gd name="connsiteY984" fmla="*/ 1682087 h 4717133"/>
              <a:gd name="connsiteX985" fmla="*/ 4483099 w 4694357"/>
              <a:gd name="connsiteY985" fmla="*/ 1678670 h 4717133"/>
              <a:gd name="connsiteX986" fmla="*/ 4505307 w 4694357"/>
              <a:gd name="connsiteY986" fmla="*/ 1700878 h 4717133"/>
              <a:gd name="connsiteX987" fmla="*/ 4483099 w 4694357"/>
              <a:gd name="connsiteY987" fmla="*/ 1723086 h 4717133"/>
              <a:gd name="connsiteX988" fmla="*/ 4460891 w 4694357"/>
              <a:gd name="connsiteY988" fmla="*/ 1700878 h 4717133"/>
              <a:gd name="connsiteX989" fmla="*/ 4483099 w 4694357"/>
              <a:gd name="connsiteY989" fmla="*/ 1678670 h 4717133"/>
              <a:gd name="connsiteX990" fmla="*/ 4255898 w 4694357"/>
              <a:gd name="connsiteY990" fmla="*/ 1677532 h 4717133"/>
              <a:gd name="connsiteX991" fmla="*/ 4283231 w 4694357"/>
              <a:gd name="connsiteY991" fmla="*/ 1704865 h 4717133"/>
              <a:gd name="connsiteX992" fmla="*/ 4255898 w 4694357"/>
              <a:gd name="connsiteY992" fmla="*/ 1732198 h 4717133"/>
              <a:gd name="connsiteX993" fmla="*/ 4228565 w 4694357"/>
              <a:gd name="connsiteY993" fmla="*/ 1704865 h 4717133"/>
              <a:gd name="connsiteX994" fmla="*/ 4255898 w 4694357"/>
              <a:gd name="connsiteY994" fmla="*/ 1677532 h 4717133"/>
              <a:gd name="connsiteX995" fmla="*/ 4367506 w 4694357"/>
              <a:gd name="connsiteY995" fmla="*/ 1669560 h 4717133"/>
              <a:gd name="connsiteX996" fmla="*/ 4401672 w 4694357"/>
              <a:gd name="connsiteY996" fmla="*/ 1703157 h 4717133"/>
              <a:gd name="connsiteX997" fmla="*/ 4367506 w 4694357"/>
              <a:gd name="connsiteY997" fmla="*/ 1736754 h 4717133"/>
              <a:gd name="connsiteX998" fmla="*/ 4333340 w 4694357"/>
              <a:gd name="connsiteY998" fmla="*/ 1703157 h 4717133"/>
              <a:gd name="connsiteX999" fmla="*/ 4367506 w 4694357"/>
              <a:gd name="connsiteY999" fmla="*/ 1669560 h 4717133"/>
              <a:gd name="connsiteX1000" fmla="*/ 387781 w 4694357"/>
              <a:gd name="connsiteY1000" fmla="*/ 1545425 h 4717133"/>
              <a:gd name="connsiteX1001" fmla="*/ 390629 w 4694357"/>
              <a:gd name="connsiteY1001" fmla="*/ 1548273 h 4717133"/>
              <a:gd name="connsiteX1002" fmla="*/ 387781 w 4694357"/>
              <a:gd name="connsiteY1002" fmla="*/ 1551121 h 4717133"/>
              <a:gd name="connsiteX1003" fmla="*/ 384933 w 4694357"/>
              <a:gd name="connsiteY1003" fmla="*/ 1548273 h 4717133"/>
              <a:gd name="connsiteX1004" fmla="*/ 387781 w 4694357"/>
              <a:gd name="connsiteY1004" fmla="*/ 1545425 h 4717133"/>
              <a:gd name="connsiteX1005" fmla="*/ 502235 w 4694357"/>
              <a:gd name="connsiteY1005" fmla="*/ 1540870 h 4717133"/>
              <a:gd name="connsiteX1006" fmla="*/ 511346 w 4694357"/>
              <a:gd name="connsiteY1006" fmla="*/ 1549981 h 4717133"/>
              <a:gd name="connsiteX1007" fmla="*/ 502235 w 4694357"/>
              <a:gd name="connsiteY1007" fmla="*/ 1559092 h 4717133"/>
              <a:gd name="connsiteX1008" fmla="*/ 493124 w 4694357"/>
              <a:gd name="connsiteY1008" fmla="*/ 1549981 h 4717133"/>
              <a:gd name="connsiteX1009" fmla="*/ 502235 w 4694357"/>
              <a:gd name="connsiteY1009" fmla="*/ 1540870 h 4717133"/>
              <a:gd name="connsiteX1010" fmla="*/ 156024 w 4694357"/>
              <a:gd name="connsiteY1010" fmla="*/ 1530620 h 4717133"/>
              <a:gd name="connsiteX1011" fmla="*/ 168552 w 4694357"/>
              <a:gd name="connsiteY1011" fmla="*/ 1542578 h 4717133"/>
              <a:gd name="connsiteX1012" fmla="*/ 156024 w 4694357"/>
              <a:gd name="connsiteY1012" fmla="*/ 1554536 h 4717133"/>
              <a:gd name="connsiteX1013" fmla="*/ 143496 w 4694357"/>
              <a:gd name="connsiteY1013" fmla="*/ 1542578 h 4717133"/>
              <a:gd name="connsiteX1014" fmla="*/ 156024 w 4694357"/>
              <a:gd name="connsiteY1014" fmla="*/ 1530620 h 4717133"/>
              <a:gd name="connsiteX1015" fmla="*/ 4541181 w 4694357"/>
              <a:gd name="connsiteY1015" fmla="*/ 1526064 h 4717133"/>
              <a:gd name="connsiteX1016" fmla="*/ 4556556 w 4694357"/>
              <a:gd name="connsiteY1016" fmla="*/ 1541439 h 4717133"/>
              <a:gd name="connsiteX1017" fmla="*/ 4541181 w 4694357"/>
              <a:gd name="connsiteY1017" fmla="*/ 1556814 h 4717133"/>
              <a:gd name="connsiteX1018" fmla="*/ 4525806 w 4694357"/>
              <a:gd name="connsiteY1018" fmla="*/ 1541439 h 4717133"/>
              <a:gd name="connsiteX1019" fmla="*/ 4541181 w 4694357"/>
              <a:gd name="connsiteY1019" fmla="*/ 1526064 h 4717133"/>
              <a:gd name="connsiteX1020" fmla="*/ 4195539 w 4694357"/>
              <a:gd name="connsiteY1020" fmla="*/ 1523786 h 4717133"/>
              <a:gd name="connsiteX1021" fmla="*/ 4221733 w 4694357"/>
              <a:gd name="connsiteY1021" fmla="*/ 1549980 h 4717133"/>
              <a:gd name="connsiteX1022" fmla="*/ 4195539 w 4694357"/>
              <a:gd name="connsiteY1022" fmla="*/ 1576174 h 4717133"/>
              <a:gd name="connsiteX1023" fmla="*/ 4169345 w 4694357"/>
              <a:gd name="connsiteY1023" fmla="*/ 1549980 h 4717133"/>
              <a:gd name="connsiteX1024" fmla="*/ 4195539 w 4694357"/>
              <a:gd name="connsiteY1024" fmla="*/ 1523786 h 4717133"/>
              <a:gd name="connsiteX1025" fmla="*/ 269340 w 4694357"/>
              <a:gd name="connsiteY1025" fmla="*/ 1522648 h 4717133"/>
              <a:gd name="connsiteX1026" fmla="*/ 290409 w 4694357"/>
              <a:gd name="connsiteY1026" fmla="*/ 1543717 h 4717133"/>
              <a:gd name="connsiteX1027" fmla="*/ 269340 w 4694357"/>
              <a:gd name="connsiteY1027" fmla="*/ 1564786 h 4717133"/>
              <a:gd name="connsiteX1028" fmla="*/ 248271 w 4694357"/>
              <a:gd name="connsiteY1028" fmla="*/ 1543717 h 4717133"/>
              <a:gd name="connsiteX1029" fmla="*/ 269340 w 4694357"/>
              <a:gd name="connsiteY1029" fmla="*/ 1522648 h 4717133"/>
              <a:gd name="connsiteX1030" fmla="*/ 4427864 w 4694357"/>
              <a:gd name="connsiteY1030" fmla="*/ 1521509 h 4717133"/>
              <a:gd name="connsiteX1031" fmla="*/ 4450641 w 4694357"/>
              <a:gd name="connsiteY1031" fmla="*/ 1543717 h 4717133"/>
              <a:gd name="connsiteX1032" fmla="*/ 4427864 w 4694357"/>
              <a:gd name="connsiteY1032" fmla="*/ 1565925 h 4717133"/>
              <a:gd name="connsiteX1033" fmla="*/ 4405087 w 4694357"/>
              <a:gd name="connsiteY1033" fmla="*/ 1543717 h 4717133"/>
              <a:gd name="connsiteX1034" fmla="*/ 4427864 w 4694357"/>
              <a:gd name="connsiteY1034" fmla="*/ 1521509 h 4717133"/>
              <a:gd name="connsiteX1035" fmla="*/ 4309993 w 4694357"/>
              <a:gd name="connsiteY1035" fmla="*/ 1511259 h 4717133"/>
              <a:gd name="connsiteX1036" fmla="*/ 4345867 w 4694357"/>
              <a:gd name="connsiteY1036" fmla="*/ 1547133 h 4717133"/>
              <a:gd name="connsiteX1037" fmla="*/ 4309993 w 4694357"/>
              <a:gd name="connsiteY1037" fmla="*/ 1583007 h 4717133"/>
              <a:gd name="connsiteX1038" fmla="*/ 4274119 w 4694357"/>
              <a:gd name="connsiteY1038" fmla="*/ 1547133 h 4717133"/>
              <a:gd name="connsiteX1039" fmla="*/ 4309993 w 4694357"/>
              <a:gd name="connsiteY1039" fmla="*/ 1511259 h 4717133"/>
              <a:gd name="connsiteX1040" fmla="*/ 457820 w 4694357"/>
              <a:gd name="connsiteY1040" fmla="*/ 1392819 h 4717133"/>
              <a:gd name="connsiteX1041" fmla="*/ 461237 w 4694357"/>
              <a:gd name="connsiteY1041" fmla="*/ 1396805 h 4717133"/>
              <a:gd name="connsiteX1042" fmla="*/ 457820 w 4694357"/>
              <a:gd name="connsiteY1042" fmla="*/ 1400791 h 4717133"/>
              <a:gd name="connsiteX1043" fmla="*/ 454403 w 4694357"/>
              <a:gd name="connsiteY1043" fmla="*/ 1396805 h 4717133"/>
              <a:gd name="connsiteX1044" fmla="*/ 457820 w 4694357"/>
              <a:gd name="connsiteY1044" fmla="*/ 1392819 h 4717133"/>
              <a:gd name="connsiteX1045" fmla="*/ 575692 w 4694357"/>
              <a:gd name="connsiteY1045" fmla="*/ 1391679 h 4717133"/>
              <a:gd name="connsiteX1046" fmla="*/ 585373 w 4694357"/>
              <a:gd name="connsiteY1046" fmla="*/ 1400790 h 4717133"/>
              <a:gd name="connsiteX1047" fmla="*/ 575692 w 4694357"/>
              <a:gd name="connsiteY1047" fmla="*/ 1409901 h 4717133"/>
              <a:gd name="connsiteX1048" fmla="*/ 566011 w 4694357"/>
              <a:gd name="connsiteY1048" fmla="*/ 1400790 h 4717133"/>
              <a:gd name="connsiteX1049" fmla="*/ 575692 w 4694357"/>
              <a:gd name="connsiteY1049" fmla="*/ 1391679 h 4717133"/>
              <a:gd name="connsiteX1050" fmla="*/ 219800 w 4694357"/>
              <a:gd name="connsiteY1050" fmla="*/ 1375735 h 4717133"/>
              <a:gd name="connsiteX1051" fmla="*/ 232328 w 4694357"/>
              <a:gd name="connsiteY1051" fmla="*/ 1388263 h 4717133"/>
              <a:gd name="connsiteX1052" fmla="*/ 219800 w 4694357"/>
              <a:gd name="connsiteY1052" fmla="*/ 1400791 h 4717133"/>
              <a:gd name="connsiteX1053" fmla="*/ 207272 w 4694357"/>
              <a:gd name="connsiteY1053" fmla="*/ 1388263 h 4717133"/>
              <a:gd name="connsiteX1054" fmla="*/ 219800 w 4694357"/>
              <a:gd name="connsiteY1054" fmla="*/ 1375735 h 4717133"/>
              <a:gd name="connsiteX1055" fmla="*/ 4122083 w 4694357"/>
              <a:gd name="connsiteY1055" fmla="*/ 1374597 h 4717133"/>
              <a:gd name="connsiteX1056" fmla="*/ 4147708 w 4694357"/>
              <a:gd name="connsiteY1056" fmla="*/ 1400222 h 4717133"/>
              <a:gd name="connsiteX1057" fmla="*/ 4122083 w 4694357"/>
              <a:gd name="connsiteY1057" fmla="*/ 1425847 h 4717133"/>
              <a:gd name="connsiteX1058" fmla="*/ 4096458 w 4694357"/>
              <a:gd name="connsiteY1058" fmla="*/ 1400222 h 4717133"/>
              <a:gd name="connsiteX1059" fmla="*/ 4122083 w 4694357"/>
              <a:gd name="connsiteY1059" fmla="*/ 1374597 h 4717133"/>
              <a:gd name="connsiteX1060" fmla="*/ 4477405 w 4694357"/>
              <a:gd name="connsiteY1060" fmla="*/ 1370041 h 4717133"/>
              <a:gd name="connsiteX1061" fmla="*/ 4495058 w 4694357"/>
              <a:gd name="connsiteY1061" fmla="*/ 1387694 h 4717133"/>
              <a:gd name="connsiteX1062" fmla="*/ 4477405 w 4694357"/>
              <a:gd name="connsiteY1062" fmla="*/ 1405347 h 4717133"/>
              <a:gd name="connsiteX1063" fmla="*/ 4459752 w 4694357"/>
              <a:gd name="connsiteY1063" fmla="*/ 1387694 h 4717133"/>
              <a:gd name="connsiteX1064" fmla="*/ 4477405 w 4694357"/>
              <a:gd name="connsiteY1064" fmla="*/ 1370041 h 4717133"/>
              <a:gd name="connsiteX1065" fmla="*/ 4360672 w 4694357"/>
              <a:gd name="connsiteY1065" fmla="*/ 1367764 h 4717133"/>
              <a:gd name="connsiteX1066" fmla="*/ 4383449 w 4694357"/>
              <a:gd name="connsiteY1066" fmla="*/ 1390541 h 4717133"/>
              <a:gd name="connsiteX1067" fmla="*/ 4360672 w 4694357"/>
              <a:gd name="connsiteY1067" fmla="*/ 1413318 h 4717133"/>
              <a:gd name="connsiteX1068" fmla="*/ 4337895 w 4694357"/>
              <a:gd name="connsiteY1068" fmla="*/ 1390541 h 4717133"/>
              <a:gd name="connsiteX1069" fmla="*/ 4360672 w 4694357"/>
              <a:gd name="connsiteY1069" fmla="*/ 1367764 h 4717133"/>
              <a:gd name="connsiteX1070" fmla="*/ 336533 w 4694357"/>
              <a:gd name="connsiteY1070" fmla="*/ 1367764 h 4717133"/>
              <a:gd name="connsiteX1071" fmla="*/ 359880 w 4694357"/>
              <a:gd name="connsiteY1071" fmla="*/ 1391111 h 4717133"/>
              <a:gd name="connsiteX1072" fmla="*/ 336533 w 4694357"/>
              <a:gd name="connsiteY1072" fmla="*/ 1414458 h 4717133"/>
              <a:gd name="connsiteX1073" fmla="*/ 313186 w 4694357"/>
              <a:gd name="connsiteY1073" fmla="*/ 1391111 h 4717133"/>
              <a:gd name="connsiteX1074" fmla="*/ 336533 w 4694357"/>
              <a:gd name="connsiteY1074" fmla="*/ 1367764 h 4717133"/>
              <a:gd name="connsiteX1075" fmla="*/ 4239954 w 4694357"/>
              <a:gd name="connsiteY1075" fmla="*/ 1359791 h 4717133"/>
              <a:gd name="connsiteX1076" fmla="*/ 4276398 w 4694357"/>
              <a:gd name="connsiteY1076" fmla="*/ 1395665 h 4717133"/>
              <a:gd name="connsiteX1077" fmla="*/ 4239954 w 4694357"/>
              <a:gd name="connsiteY1077" fmla="*/ 1431539 h 4717133"/>
              <a:gd name="connsiteX1078" fmla="*/ 4203510 w 4694357"/>
              <a:gd name="connsiteY1078" fmla="*/ 1395665 h 4717133"/>
              <a:gd name="connsiteX1079" fmla="*/ 4239954 w 4694357"/>
              <a:gd name="connsiteY1079" fmla="*/ 1359791 h 4717133"/>
              <a:gd name="connsiteX1080" fmla="*/ 661106 w 4694357"/>
              <a:gd name="connsiteY1080" fmla="*/ 1248184 h 4717133"/>
              <a:gd name="connsiteX1081" fmla="*/ 670787 w 4694357"/>
              <a:gd name="connsiteY1081" fmla="*/ 1257865 h 4717133"/>
              <a:gd name="connsiteX1082" fmla="*/ 661106 w 4694357"/>
              <a:gd name="connsiteY1082" fmla="*/ 1267546 h 4717133"/>
              <a:gd name="connsiteX1083" fmla="*/ 651425 w 4694357"/>
              <a:gd name="connsiteY1083" fmla="*/ 1257865 h 4717133"/>
              <a:gd name="connsiteX1084" fmla="*/ 661106 w 4694357"/>
              <a:gd name="connsiteY1084" fmla="*/ 1248184 h 4717133"/>
              <a:gd name="connsiteX1085" fmla="*/ 538679 w 4694357"/>
              <a:gd name="connsiteY1085" fmla="*/ 1247045 h 4717133"/>
              <a:gd name="connsiteX1086" fmla="*/ 543236 w 4694357"/>
              <a:gd name="connsiteY1086" fmla="*/ 1251601 h 4717133"/>
              <a:gd name="connsiteX1087" fmla="*/ 538679 w 4694357"/>
              <a:gd name="connsiteY1087" fmla="*/ 1256158 h 4717133"/>
              <a:gd name="connsiteX1088" fmla="*/ 534123 w 4694357"/>
              <a:gd name="connsiteY1088" fmla="*/ 1251601 h 4717133"/>
              <a:gd name="connsiteX1089" fmla="*/ 538679 w 4694357"/>
              <a:gd name="connsiteY1089" fmla="*/ 1247045 h 4717133"/>
              <a:gd name="connsiteX1090" fmla="*/ 4036099 w 4694357"/>
              <a:gd name="connsiteY1090" fmla="*/ 1232240 h 4717133"/>
              <a:gd name="connsiteX1091" fmla="*/ 4061154 w 4694357"/>
              <a:gd name="connsiteY1091" fmla="*/ 1257295 h 4717133"/>
              <a:gd name="connsiteX1092" fmla="*/ 4036099 w 4694357"/>
              <a:gd name="connsiteY1092" fmla="*/ 1282350 h 4717133"/>
              <a:gd name="connsiteX1093" fmla="*/ 4011044 w 4694357"/>
              <a:gd name="connsiteY1093" fmla="*/ 1257295 h 4717133"/>
              <a:gd name="connsiteX1094" fmla="*/ 4036099 w 4694357"/>
              <a:gd name="connsiteY1094" fmla="*/ 1232240 h 4717133"/>
              <a:gd name="connsiteX1095" fmla="*/ 295533 w 4694357"/>
              <a:gd name="connsiteY1095" fmla="*/ 1226546 h 4717133"/>
              <a:gd name="connsiteX1096" fmla="*/ 308630 w 4694357"/>
              <a:gd name="connsiteY1096" fmla="*/ 1239643 h 4717133"/>
              <a:gd name="connsiteX1097" fmla="*/ 295533 w 4694357"/>
              <a:gd name="connsiteY1097" fmla="*/ 1252740 h 4717133"/>
              <a:gd name="connsiteX1098" fmla="*/ 282436 w 4694357"/>
              <a:gd name="connsiteY1098" fmla="*/ 1239643 h 4717133"/>
              <a:gd name="connsiteX1099" fmla="*/ 295533 w 4694357"/>
              <a:gd name="connsiteY1099" fmla="*/ 1226546 h 4717133"/>
              <a:gd name="connsiteX1100" fmla="*/ 4282661 w 4694357"/>
              <a:gd name="connsiteY1100" fmla="*/ 1219713 h 4717133"/>
              <a:gd name="connsiteX1101" fmla="*/ 4306008 w 4694357"/>
              <a:gd name="connsiteY1101" fmla="*/ 1243060 h 4717133"/>
              <a:gd name="connsiteX1102" fmla="*/ 4282661 w 4694357"/>
              <a:gd name="connsiteY1102" fmla="*/ 1266407 h 4717133"/>
              <a:gd name="connsiteX1103" fmla="*/ 4259314 w 4694357"/>
              <a:gd name="connsiteY1103" fmla="*/ 1243060 h 4717133"/>
              <a:gd name="connsiteX1104" fmla="*/ 4282661 w 4694357"/>
              <a:gd name="connsiteY1104" fmla="*/ 1219713 h 4717133"/>
              <a:gd name="connsiteX1105" fmla="*/ 4402240 w 4694357"/>
              <a:gd name="connsiteY1105" fmla="*/ 1218574 h 4717133"/>
              <a:gd name="connsiteX1106" fmla="*/ 4422170 w 4694357"/>
              <a:gd name="connsiteY1106" fmla="*/ 1238504 h 4717133"/>
              <a:gd name="connsiteX1107" fmla="*/ 4402240 w 4694357"/>
              <a:gd name="connsiteY1107" fmla="*/ 1258434 h 4717133"/>
              <a:gd name="connsiteX1108" fmla="*/ 4382310 w 4694357"/>
              <a:gd name="connsiteY1108" fmla="*/ 1238504 h 4717133"/>
              <a:gd name="connsiteX1109" fmla="*/ 4402240 w 4694357"/>
              <a:gd name="connsiteY1109" fmla="*/ 1218574 h 4717133"/>
              <a:gd name="connsiteX1110" fmla="*/ 414543 w 4694357"/>
              <a:gd name="connsiteY1110" fmla="*/ 1218574 h 4717133"/>
              <a:gd name="connsiteX1111" fmla="*/ 439598 w 4694357"/>
              <a:gd name="connsiteY1111" fmla="*/ 1244199 h 4717133"/>
              <a:gd name="connsiteX1112" fmla="*/ 414543 w 4694357"/>
              <a:gd name="connsiteY1112" fmla="*/ 1269824 h 4717133"/>
              <a:gd name="connsiteX1113" fmla="*/ 389488 w 4694357"/>
              <a:gd name="connsiteY1113" fmla="*/ 1244199 h 4717133"/>
              <a:gd name="connsiteX1114" fmla="*/ 414543 w 4694357"/>
              <a:gd name="connsiteY1114" fmla="*/ 1218574 h 4717133"/>
              <a:gd name="connsiteX1115" fmla="*/ 4157957 w 4694357"/>
              <a:gd name="connsiteY1115" fmla="*/ 1215157 h 4717133"/>
              <a:gd name="connsiteX1116" fmla="*/ 4194401 w 4694357"/>
              <a:gd name="connsiteY1116" fmla="*/ 1251031 h 4717133"/>
              <a:gd name="connsiteX1117" fmla="*/ 4157957 w 4694357"/>
              <a:gd name="connsiteY1117" fmla="*/ 1286905 h 4717133"/>
              <a:gd name="connsiteX1118" fmla="*/ 4121513 w 4694357"/>
              <a:gd name="connsiteY1118" fmla="*/ 1251031 h 4717133"/>
              <a:gd name="connsiteX1119" fmla="*/ 4157957 w 4694357"/>
              <a:gd name="connsiteY1119" fmla="*/ 1215157 h 4717133"/>
              <a:gd name="connsiteX1120" fmla="*/ 758478 w 4694357"/>
              <a:gd name="connsiteY1120" fmla="*/ 1112661 h 4717133"/>
              <a:gd name="connsiteX1121" fmla="*/ 768728 w 4694357"/>
              <a:gd name="connsiteY1121" fmla="*/ 1122911 h 4717133"/>
              <a:gd name="connsiteX1122" fmla="*/ 758478 w 4694357"/>
              <a:gd name="connsiteY1122" fmla="*/ 1133161 h 4717133"/>
              <a:gd name="connsiteX1123" fmla="*/ 748228 w 4694357"/>
              <a:gd name="connsiteY1123" fmla="*/ 1122911 h 4717133"/>
              <a:gd name="connsiteX1124" fmla="*/ 758478 w 4694357"/>
              <a:gd name="connsiteY1124" fmla="*/ 1112661 h 4717133"/>
              <a:gd name="connsiteX1125" fmla="*/ 632065 w 4694357"/>
              <a:gd name="connsiteY1125" fmla="*/ 1108105 h 4717133"/>
              <a:gd name="connsiteX1126" fmla="*/ 637760 w 4694357"/>
              <a:gd name="connsiteY1126" fmla="*/ 1113800 h 4717133"/>
              <a:gd name="connsiteX1127" fmla="*/ 632065 w 4694357"/>
              <a:gd name="connsiteY1127" fmla="*/ 1119495 h 4717133"/>
              <a:gd name="connsiteX1128" fmla="*/ 626370 w 4694357"/>
              <a:gd name="connsiteY1128" fmla="*/ 1113800 h 4717133"/>
              <a:gd name="connsiteX1129" fmla="*/ 632065 w 4694357"/>
              <a:gd name="connsiteY1129" fmla="*/ 1108105 h 4717133"/>
              <a:gd name="connsiteX1130" fmla="*/ 3939296 w 4694357"/>
              <a:gd name="connsiteY1130" fmla="*/ 1097855 h 4717133"/>
              <a:gd name="connsiteX1131" fmla="*/ 3963212 w 4694357"/>
              <a:gd name="connsiteY1131" fmla="*/ 1121771 h 4717133"/>
              <a:gd name="connsiteX1132" fmla="*/ 3939296 w 4694357"/>
              <a:gd name="connsiteY1132" fmla="*/ 1145687 h 4717133"/>
              <a:gd name="connsiteX1133" fmla="*/ 3915380 w 4694357"/>
              <a:gd name="connsiteY1133" fmla="*/ 1121771 h 4717133"/>
              <a:gd name="connsiteX1134" fmla="*/ 3939296 w 4694357"/>
              <a:gd name="connsiteY1134" fmla="*/ 1097855 h 4717133"/>
              <a:gd name="connsiteX1135" fmla="*/ 380377 w 4694357"/>
              <a:gd name="connsiteY1135" fmla="*/ 1081911 h 4717133"/>
              <a:gd name="connsiteX1136" fmla="*/ 394043 w 4694357"/>
              <a:gd name="connsiteY1136" fmla="*/ 1095577 h 4717133"/>
              <a:gd name="connsiteX1137" fmla="*/ 380377 w 4694357"/>
              <a:gd name="connsiteY1137" fmla="*/ 1109243 h 4717133"/>
              <a:gd name="connsiteX1138" fmla="*/ 366711 w 4694357"/>
              <a:gd name="connsiteY1138" fmla="*/ 1095577 h 4717133"/>
              <a:gd name="connsiteX1139" fmla="*/ 380377 w 4694357"/>
              <a:gd name="connsiteY1139" fmla="*/ 1081911 h 4717133"/>
              <a:gd name="connsiteX1140" fmla="*/ 4193830 w 4694357"/>
              <a:gd name="connsiteY1140" fmla="*/ 1078495 h 4717133"/>
              <a:gd name="connsiteX1141" fmla="*/ 4217177 w 4694357"/>
              <a:gd name="connsiteY1141" fmla="*/ 1101842 h 4717133"/>
              <a:gd name="connsiteX1142" fmla="*/ 4193830 w 4694357"/>
              <a:gd name="connsiteY1142" fmla="*/ 1125189 h 4717133"/>
              <a:gd name="connsiteX1143" fmla="*/ 4170483 w 4694357"/>
              <a:gd name="connsiteY1143" fmla="*/ 1101842 h 4717133"/>
              <a:gd name="connsiteX1144" fmla="*/ 4193830 w 4694357"/>
              <a:gd name="connsiteY1144" fmla="*/ 1078495 h 4717133"/>
              <a:gd name="connsiteX1145" fmla="*/ 4065139 w 4694357"/>
              <a:gd name="connsiteY1145" fmla="*/ 1077356 h 4717133"/>
              <a:gd name="connsiteX1146" fmla="*/ 4101013 w 4694357"/>
              <a:gd name="connsiteY1146" fmla="*/ 1113230 h 4717133"/>
              <a:gd name="connsiteX1147" fmla="*/ 4065139 w 4694357"/>
              <a:gd name="connsiteY1147" fmla="*/ 1149104 h 4717133"/>
              <a:gd name="connsiteX1148" fmla="*/ 4029265 w 4694357"/>
              <a:gd name="connsiteY1148" fmla="*/ 1113230 h 4717133"/>
              <a:gd name="connsiteX1149" fmla="*/ 4065139 w 4694357"/>
              <a:gd name="connsiteY1149" fmla="*/ 1077356 h 4717133"/>
              <a:gd name="connsiteX1150" fmla="*/ 503944 w 4694357"/>
              <a:gd name="connsiteY1150" fmla="*/ 1076217 h 4717133"/>
              <a:gd name="connsiteX1151" fmla="*/ 530707 w 4694357"/>
              <a:gd name="connsiteY1151" fmla="*/ 1102980 h 4717133"/>
              <a:gd name="connsiteX1152" fmla="*/ 503944 w 4694357"/>
              <a:gd name="connsiteY1152" fmla="*/ 1129743 h 4717133"/>
              <a:gd name="connsiteX1153" fmla="*/ 477181 w 4694357"/>
              <a:gd name="connsiteY1153" fmla="*/ 1102980 h 4717133"/>
              <a:gd name="connsiteX1154" fmla="*/ 503944 w 4694357"/>
              <a:gd name="connsiteY1154" fmla="*/ 1076217 h 4717133"/>
              <a:gd name="connsiteX1155" fmla="*/ 4316257 w 4694357"/>
              <a:gd name="connsiteY1155" fmla="*/ 1072800 h 4717133"/>
              <a:gd name="connsiteX1156" fmla="*/ 4337895 w 4694357"/>
              <a:gd name="connsiteY1156" fmla="*/ 1094438 h 4717133"/>
              <a:gd name="connsiteX1157" fmla="*/ 4316257 w 4694357"/>
              <a:gd name="connsiteY1157" fmla="*/ 1116076 h 4717133"/>
              <a:gd name="connsiteX1158" fmla="*/ 4294619 w 4694357"/>
              <a:gd name="connsiteY1158" fmla="*/ 1094438 h 4717133"/>
              <a:gd name="connsiteX1159" fmla="*/ 4316257 w 4694357"/>
              <a:gd name="connsiteY1159" fmla="*/ 1072800 h 4717133"/>
              <a:gd name="connsiteX1160" fmla="*/ 866100 w 4694357"/>
              <a:gd name="connsiteY1160" fmla="*/ 985109 h 4717133"/>
              <a:gd name="connsiteX1161" fmla="*/ 876920 w 4694357"/>
              <a:gd name="connsiteY1161" fmla="*/ 995929 h 4717133"/>
              <a:gd name="connsiteX1162" fmla="*/ 866100 w 4694357"/>
              <a:gd name="connsiteY1162" fmla="*/ 1006749 h 4717133"/>
              <a:gd name="connsiteX1163" fmla="*/ 855280 w 4694357"/>
              <a:gd name="connsiteY1163" fmla="*/ 995929 h 4717133"/>
              <a:gd name="connsiteX1164" fmla="*/ 866100 w 4694357"/>
              <a:gd name="connsiteY1164" fmla="*/ 985109 h 4717133"/>
              <a:gd name="connsiteX1165" fmla="*/ 735700 w 4694357"/>
              <a:gd name="connsiteY1165" fmla="*/ 975998 h 4717133"/>
              <a:gd name="connsiteX1166" fmla="*/ 742533 w 4694357"/>
              <a:gd name="connsiteY1166" fmla="*/ 982831 h 4717133"/>
              <a:gd name="connsiteX1167" fmla="*/ 735700 w 4694357"/>
              <a:gd name="connsiteY1167" fmla="*/ 989664 h 4717133"/>
              <a:gd name="connsiteX1168" fmla="*/ 728867 w 4694357"/>
              <a:gd name="connsiteY1168" fmla="*/ 982831 h 4717133"/>
              <a:gd name="connsiteX1169" fmla="*/ 735700 w 4694357"/>
              <a:gd name="connsiteY1169" fmla="*/ 975998 h 4717133"/>
              <a:gd name="connsiteX1170" fmla="*/ 3831105 w 4694357"/>
              <a:gd name="connsiteY1170" fmla="*/ 971443 h 4717133"/>
              <a:gd name="connsiteX1171" fmla="*/ 3855021 w 4694357"/>
              <a:gd name="connsiteY1171" fmla="*/ 994790 h 4717133"/>
              <a:gd name="connsiteX1172" fmla="*/ 3831105 w 4694357"/>
              <a:gd name="connsiteY1172" fmla="*/ 1018137 h 4717133"/>
              <a:gd name="connsiteX1173" fmla="*/ 3807189 w 4694357"/>
              <a:gd name="connsiteY1173" fmla="*/ 994790 h 4717133"/>
              <a:gd name="connsiteX1174" fmla="*/ 3831105 w 4694357"/>
              <a:gd name="connsiteY1174" fmla="*/ 971443 h 4717133"/>
              <a:gd name="connsiteX1175" fmla="*/ 3961504 w 4694357"/>
              <a:gd name="connsiteY1175" fmla="*/ 946388 h 4717133"/>
              <a:gd name="connsiteX1176" fmla="*/ 3997378 w 4694357"/>
              <a:gd name="connsiteY1176" fmla="*/ 982262 h 4717133"/>
              <a:gd name="connsiteX1177" fmla="*/ 3961504 w 4694357"/>
              <a:gd name="connsiteY1177" fmla="*/ 1018136 h 4717133"/>
              <a:gd name="connsiteX1178" fmla="*/ 3925630 w 4694357"/>
              <a:gd name="connsiteY1178" fmla="*/ 982262 h 4717133"/>
              <a:gd name="connsiteX1179" fmla="*/ 3961504 w 4694357"/>
              <a:gd name="connsiteY1179" fmla="*/ 946388 h 4717133"/>
              <a:gd name="connsiteX1180" fmla="*/ 476042 w 4694357"/>
              <a:gd name="connsiteY1180" fmla="*/ 945249 h 4717133"/>
              <a:gd name="connsiteX1181" fmla="*/ 490847 w 4694357"/>
              <a:gd name="connsiteY1181" fmla="*/ 959485 h 4717133"/>
              <a:gd name="connsiteX1182" fmla="*/ 476042 w 4694357"/>
              <a:gd name="connsiteY1182" fmla="*/ 973721 h 4717133"/>
              <a:gd name="connsiteX1183" fmla="*/ 461237 w 4694357"/>
              <a:gd name="connsiteY1183" fmla="*/ 959485 h 4717133"/>
              <a:gd name="connsiteX1184" fmla="*/ 476042 w 4694357"/>
              <a:gd name="connsiteY1184" fmla="*/ 945249 h 4717133"/>
              <a:gd name="connsiteX1185" fmla="*/ 4094180 w 4694357"/>
              <a:gd name="connsiteY1185" fmla="*/ 944110 h 4717133"/>
              <a:gd name="connsiteX1186" fmla="*/ 4118096 w 4694357"/>
              <a:gd name="connsiteY1186" fmla="*/ 968026 h 4717133"/>
              <a:gd name="connsiteX1187" fmla="*/ 4094180 w 4694357"/>
              <a:gd name="connsiteY1187" fmla="*/ 991942 h 4717133"/>
              <a:gd name="connsiteX1188" fmla="*/ 4070264 w 4694357"/>
              <a:gd name="connsiteY1188" fmla="*/ 968026 h 4717133"/>
              <a:gd name="connsiteX1189" fmla="*/ 4094180 w 4694357"/>
              <a:gd name="connsiteY1189" fmla="*/ 944110 h 4717133"/>
              <a:gd name="connsiteX1190" fmla="*/ 602455 w 4694357"/>
              <a:gd name="connsiteY1190" fmla="*/ 941832 h 4717133"/>
              <a:gd name="connsiteX1191" fmla="*/ 629788 w 4694357"/>
              <a:gd name="connsiteY1191" fmla="*/ 969165 h 4717133"/>
              <a:gd name="connsiteX1192" fmla="*/ 602455 w 4694357"/>
              <a:gd name="connsiteY1192" fmla="*/ 996498 h 4717133"/>
              <a:gd name="connsiteX1193" fmla="*/ 575122 w 4694357"/>
              <a:gd name="connsiteY1193" fmla="*/ 969165 h 4717133"/>
              <a:gd name="connsiteX1194" fmla="*/ 602455 w 4694357"/>
              <a:gd name="connsiteY1194" fmla="*/ 941832 h 4717133"/>
              <a:gd name="connsiteX1195" fmla="*/ 4220593 w 4694357"/>
              <a:gd name="connsiteY1195" fmla="*/ 934999 h 4717133"/>
              <a:gd name="connsiteX1196" fmla="*/ 4243370 w 4694357"/>
              <a:gd name="connsiteY1196" fmla="*/ 957776 h 4717133"/>
              <a:gd name="connsiteX1197" fmla="*/ 4220593 w 4694357"/>
              <a:gd name="connsiteY1197" fmla="*/ 980553 h 4717133"/>
              <a:gd name="connsiteX1198" fmla="*/ 4197816 w 4694357"/>
              <a:gd name="connsiteY1198" fmla="*/ 957776 h 4717133"/>
              <a:gd name="connsiteX1199" fmla="*/ 4220593 w 4694357"/>
              <a:gd name="connsiteY1199" fmla="*/ 934999 h 4717133"/>
              <a:gd name="connsiteX1200" fmla="*/ 983971 w 4694357"/>
              <a:gd name="connsiteY1200" fmla="*/ 866668 h 4717133"/>
              <a:gd name="connsiteX1201" fmla="*/ 995360 w 4694357"/>
              <a:gd name="connsiteY1201" fmla="*/ 878057 h 4717133"/>
              <a:gd name="connsiteX1202" fmla="*/ 983971 w 4694357"/>
              <a:gd name="connsiteY1202" fmla="*/ 889446 h 4717133"/>
              <a:gd name="connsiteX1203" fmla="*/ 972582 w 4694357"/>
              <a:gd name="connsiteY1203" fmla="*/ 878057 h 4717133"/>
              <a:gd name="connsiteX1204" fmla="*/ 983971 w 4694357"/>
              <a:gd name="connsiteY1204" fmla="*/ 866668 h 4717133"/>
              <a:gd name="connsiteX1205" fmla="*/ 3713803 w 4694357"/>
              <a:gd name="connsiteY1205" fmla="*/ 854140 h 4717133"/>
              <a:gd name="connsiteX1206" fmla="*/ 3736580 w 4694357"/>
              <a:gd name="connsiteY1206" fmla="*/ 877487 h 4717133"/>
              <a:gd name="connsiteX1207" fmla="*/ 3713803 w 4694357"/>
              <a:gd name="connsiteY1207" fmla="*/ 900834 h 4717133"/>
              <a:gd name="connsiteX1208" fmla="*/ 3691026 w 4694357"/>
              <a:gd name="connsiteY1208" fmla="*/ 877487 h 4717133"/>
              <a:gd name="connsiteX1209" fmla="*/ 3713803 w 4694357"/>
              <a:gd name="connsiteY1209" fmla="*/ 854140 h 4717133"/>
              <a:gd name="connsiteX1210" fmla="*/ 848447 w 4694357"/>
              <a:gd name="connsiteY1210" fmla="*/ 853002 h 4717133"/>
              <a:gd name="connsiteX1211" fmla="*/ 856419 w 4694357"/>
              <a:gd name="connsiteY1211" fmla="*/ 860974 h 4717133"/>
              <a:gd name="connsiteX1212" fmla="*/ 848447 w 4694357"/>
              <a:gd name="connsiteY1212" fmla="*/ 868946 h 4717133"/>
              <a:gd name="connsiteX1213" fmla="*/ 840475 w 4694357"/>
              <a:gd name="connsiteY1213" fmla="*/ 860974 h 4717133"/>
              <a:gd name="connsiteX1214" fmla="*/ 848447 w 4694357"/>
              <a:gd name="connsiteY1214" fmla="*/ 853002 h 4717133"/>
              <a:gd name="connsiteX1215" fmla="*/ 3848757 w 4694357"/>
              <a:gd name="connsiteY1215" fmla="*/ 825669 h 4717133"/>
              <a:gd name="connsiteX1216" fmla="*/ 3883492 w 4694357"/>
              <a:gd name="connsiteY1216" fmla="*/ 859835 h 4717133"/>
              <a:gd name="connsiteX1217" fmla="*/ 3848757 w 4694357"/>
              <a:gd name="connsiteY1217" fmla="*/ 894001 h 4717133"/>
              <a:gd name="connsiteX1218" fmla="*/ 3814022 w 4694357"/>
              <a:gd name="connsiteY1218" fmla="*/ 859835 h 4717133"/>
              <a:gd name="connsiteX1219" fmla="*/ 3848757 w 4694357"/>
              <a:gd name="connsiteY1219" fmla="*/ 825669 h 4717133"/>
              <a:gd name="connsiteX1220" fmla="*/ 3984850 w 4694357"/>
              <a:gd name="connsiteY1220" fmla="*/ 817697 h 4717133"/>
              <a:gd name="connsiteX1221" fmla="*/ 4008766 w 4694357"/>
              <a:gd name="connsiteY1221" fmla="*/ 841613 h 4717133"/>
              <a:gd name="connsiteX1222" fmla="*/ 3984850 w 4694357"/>
              <a:gd name="connsiteY1222" fmla="*/ 865529 h 4717133"/>
              <a:gd name="connsiteX1223" fmla="*/ 3960934 w 4694357"/>
              <a:gd name="connsiteY1223" fmla="*/ 841613 h 4717133"/>
              <a:gd name="connsiteX1224" fmla="*/ 3984850 w 4694357"/>
              <a:gd name="connsiteY1224" fmla="*/ 817697 h 4717133"/>
              <a:gd name="connsiteX1225" fmla="*/ 711785 w 4694357"/>
              <a:gd name="connsiteY1225" fmla="*/ 815419 h 4717133"/>
              <a:gd name="connsiteX1226" fmla="*/ 739118 w 4694357"/>
              <a:gd name="connsiteY1226" fmla="*/ 842752 h 4717133"/>
              <a:gd name="connsiteX1227" fmla="*/ 711785 w 4694357"/>
              <a:gd name="connsiteY1227" fmla="*/ 870085 h 4717133"/>
              <a:gd name="connsiteX1228" fmla="*/ 684452 w 4694357"/>
              <a:gd name="connsiteY1228" fmla="*/ 842752 h 4717133"/>
              <a:gd name="connsiteX1229" fmla="*/ 711785 w 4694357"/>
              <a:gd name="connsiteY1229" fmla="*/ 815419 h 4717133"/>
              <a:gd name="connsiteX1230" fmla="*/ 580816 w 4694357"/>
              <a:gd name="connsiteY1230" fmla="*/ 814281 h 4717133"/>
              <a:gd name="connsiteX1231" fmla="*/ 595621 w 4694357"/>
              <a:gd name="connsiteY1231" fmla="*/ 829086 h 4717133"/>
              <a:gd name="connsiteX1232" fmla="*/ 580816 w 4694357"/>
              <a:gd name="connsiteY1232" fmla="*/ 843891 h 4717133"/>
              <a:gd name="connsiteX1233" fmla="*/ 566011 w 4694357"/>
              <a:gd name="connsiteY1233" fmla="*/ 829086 h 4717133"/>
              <a:gd name="connsiteX1234" fmla="*/ 580816 w 4694357"/>
              <a:gd name="connsiteY1234" fmla="*/ 814281 h 4717133"/>
              <a:gd name="connsiteX1235" fmla="*/ 4116388 w 4694357"/>
              <a:gd name="connsiteY1235" fmla="*/ 805170 h 4717133"/>
              <a:gd name="connsiteX1236" fmla="*/ 4139735 w 4694357"/>
              <a:gd name="connsiteY1236" fmla="*/ 828517 h 4717133"/>
              <a:gd name="connsiteX1237" fmla="*/ 4116388 w 4694357"/>
              <a:gd name="connsiteY1237" fmla="*/ 851864 h 4717133"/>
              <a:gd name="connsiteX1238" fmla="*/ 4093041 w 4694357"/>
              <a:gd name="connsiteY1238" fmla="*/ 828517 h 4717133"/>
              <a:gd name="connsiteX1239" fmla="*/ 4116388 w 4694357"/>
              <a:gd name="connsiteY1239" fmla="*/ 805170 h 4717133"/>
              <a:gd name="connsiteX1240" fmla="*/ 1110953 w 4694357"/>
              <a:gd name="connsiteY1240" fmla="*/ 758477 h 4717133"/>
              <a:gd name="connsiteX1241" fmla="*/ 1122911 w 4694357"/>
              <a:gd name="connsiteY1241" fmla="*/ 770435 h 4717133"/>
              <a:gd name="connsiteX1242" fmla="*/ 1110953 w 4694357"/>
              <a:gd name="connsiteY1242" fmla="*/ 782393 h 4717133"/>
              <a:gd name="connsiteX1243" fmla="*/ 1098995 w 4694357"/>
              <a:gd name="connsiteY1243" fmla="*/ 770435 h 4717133"/>
              <a:gd name="connsiteX1244" fmla="*/ 1110953 w 4694357"/>
              <a:gd name="connsiteY1244" fmla="*/ 758477 h 4717133"/>
              <a:gd name="connsiteX1245" fmla="*/ 3586821 w 4694357"/>
              <a:gd name="connsiteY1245" fmla="*/ 748227 h 4717133"/>
              <a:gd name="connsiteX1246" fmla="*/ 3609029 w 4694357"/>
              <a:gd name="connsiteY1246" fmla="*/ 769865 h 4717133"/>
              <a:gd name="connsiteX1247" fmla="*/ 3586821 w 4694357"/>
              <a:gd name="connsiteY1247" fmla="*/ 791503 h 4717133"/>
              <a:gd name="connsiteX1248" fmla="*/ 3564613 w 4694357"/>
              <a:gd name="connsiteY1248" fmla="*/ 769865 h 4717133"/>
              <a:gd name="connsiteX1249" fmla="*/ 3586821 w 4694357"/>
              <a:gd name="connsiteY1249" fmla="*/ 748227 h 4717133"/>
              <a:gd name="connsiteX1250" fmla="*/ 970874 w 4694357"/>
              <a:gd name="connsiteY1250" fmla="*/ 737977 h 4717133"/>
              <a:gd name="connsiteX1251" fmla="*/ 979416 w 4694357"/>
              <a:gd name="connsiteY1251" fmla="*/ 747088 h 4717133"/>
              <a:gd name="connsiteX1252" fmla="*/ 970874 w 4694357"/>
              <a:gd name="connsiteY1252" fmla="*/ 756199 h 4717133"/>
              <a:gd name="connsiteX1253" fmla="*/ 962332 w 4694357"/>
              <a:gd name="connsiteY1253" fmla="*/ 747088 h 4717133"/>
              <a:gd name="connsiteX1254" fmla="*/ 970874 w 4694357"/>
              <a:gd name="connsiteY1254" fmla="*/ 737977 h 4717133"/>
              <a:gd name="connsiteX1255" fmla="*/ 3726331 w 4694357"/>
              <a:gd name="connsiteY1255" fmla="*/ 714062 h 4717133"/>
              <a:gd name="connsiteX1256" fmla="*/ 3759358 w 4694357"/>
              <a:gd name="connsiteY1256" fmla="*/ 747089 h 4717133"/>
              <a:gd name="connsiteX1257" fmla="*/ 3726331 w 4694357"/>
              <a:gd name="connsiteY1257" fmla="*/ 780116 h 4717133"/>
              <a:gd name="connsiteX1258" fmla="*/ 3693304 w 4694357"/>
              <a:gd name="connsiteY1258" fmla="*/ 747089 h 4717133"/>
              <a:gd name="connsiteX1259" fmla="*/ 3726331 w 4694357"/>
              <a:gd name="connsiteY1259" fmla="*/ 714062 h 4717133"/>
              <a:gd name="connsiteX1260" fmla="*/ 3866979 w 4694357"/>
              <a:gd name="connsiteY1260" fmla="*/ 699256 h 4717133"/>
              <a:gd name="connsiteX1261" fmla="*/ 3891465 w 4694357"/>
              <a:gd name="connsiteY1261" fmla="*/ 723742 h 4717133"/>
              <a:gd name="connsiteX1262" fmla="*/ 3866979 w 4694357"/>
              <a:gd name="connsiteY1262" fmla="*/ 748228 h 4717133"/>
              <a:gd name="connsiteX1263" fmla="*/ 3842493 w 4694357"/>
              <a:gd name="connsiteY1263" fmla="*/ 723742 h 4717133"/>
              <a:gd name="connsiteX1264" fmla="*/ 3866979 w 4694357"/>
              <a:gd name="connsiteY1264" fmla="*/ 699256 h 4717133"/>
              <a:gd name="connsiteX1265" fmla="*/ 830226 w 4694357"/>
              <a:gd name="connsiteY1265" fmla="*/ 696979 h 4717133"/>
              <a:gd name="connsiteX1266" fmla="*/ 857559 w 4694357"/>
              <a:gd name="connsiteY1266" fmla="*/ 724312 h 4717133"/>
              <a:gd name="connsiteX1267" fmla="*/ 830226 w 4694357"/>
              <a:gd name="connsiteY1267" fmla="*/ 751645 h 4717133"/>
              <a:gd name="connsiteX1268" fmla="*/ 802893 w 4694357"/>
              <a:gd name="connsiteY1268" fmla="*/ 724312 h 4717133"/>
              <a:gd name="connsiteX1269" fmla="*/ 830226 w 4694357"/>
              <a:gd name="connsiteY1269" fmla="*/ 696979 h 4717133"/>
              <a:gd name="connsiteX1270" fmla="*/ 694701 w 4694357"/>
              <a:gd name="connsiteY1270" fmla="*/ 691285 h 4717133"/>
              <a:gd name="connsiteX1271" fmla="*/ 710645 w 4694357"/>
              <a:gd name="connsiteY1271" fmla="*/ 707229 h 4717133"/>
              <a:gd name="connsiteX1272" fmla="*/ 694701 w 4694357"/>
              <a:gd name="connsiteY1272" fmla="*/ 723173 h 4717133"/>
              <a:gd name="connsiteX1273" fmla="*/ 678757 w 4694357"/>
              <a:gd name="connsiteY1273" fmla="*/ 707229 h 4717133"/>
              <a:gd name="connsiteX1274" fmla="*/ 694701 w 4694357"/>
              <a:gd name="connsiteY1274" fmla="*/ 691285 h 4717133"/>
              <a:gd name="connsiteX1275" fmla="*/ 4002503 w 4694357"/>
              <a:gd name="connsiteY1275" fmla="*/ 683312 h 4717133"/>
              <a:gd name="connsiteX1276" fmla="*/ 4025850 w 4694357"/>
              <a:gd name="connsiteY1276" fmla="*/ 706089 h 4717133"/>
              <a:gd name="connsiteX1277" fmla="*/ 4002503 w 4694357"/>
              <a:gd name="connsiteY1277" fmla="*/ 728866 h 4717133"/>
              <a:gd name="connsiteX1278" fmla="*/ 3979156 w 4694357"/>
              <a:gd name="connsiteY1278" fmla="*/ 706089 h 4717133"/>
              <a:gd name="connsiteX1279" fmla="*/ 4002503 w 4694357"/>
              <a:gd name="connsiteY1279" fmla="*/ 683312 h 4717133"/>
              <a:gd name="connsiteX1280" fmla="*/ 1245907 w 4694357"/>
              <a:gd name="connsiteY1280" fmla="*/ 660535 h 4717133"/>
              <a:gd name="connsiteX1281" fmla="*/ 1258435 w 4694357"/>
              <a:gd name="connsiteY1281" fmla="*/ 673063 h 4717133"/>
              <a:gd name="connsiteX1282" fmla="*/ 1245907 w 4694357"/>
              <a:gd name="connsiteY1282" fmla="*/ 685591 h 4717133"/>
              <a:gd name="connsiteX1283" fmla="*/ 1233379 w 4694357"/>
              <a:gd name="connsiteY1283" fmla="*/ 673063 h 4717133"/>
              <a:gd name="connsiteX1284" fmla="*/ 1245907 w 4694357"/>
              <a:gd name="connsiteY1284" fmla="*/ 660535 h 4717133"/>
              <a:gd name="connsiteX1285" fmla="*/ 3450728 w 4694357"/>
              <a:gd name="connsiteY1285" fmla="*/ 651424 h 4717133"/>
              <a:gd name="connsiteX1286" fmla="*/ 3472366 w 4694357"/>
              <a:gd name="connsiteY1286" fmla="*/ 673062 h 4717133"/>
              <a:gd name="connsiteX1287" fmla="*/ 3450728 w 4694357"/>
              <a:gd name="connsiteY1287" fmla="*/ 694700 h 4717133"/>
              <a:gd name="connsiteX1288" fmla="*/ 3429090 w 4694357"/>
              <a:gd name="connsiteY1288" fmla="*/ 673062 h 4717133"/>
              <a:gd name="connsiteX1289" fmla="*/ 3450728 w 4694357"/>
              <a:gd name="connsiteY1289" fmla="*/ 651424 h 4717133"/>
              <a:gd name="connsiteX1290" fmla="*/ 1101272 w 4694357"/>
              <a:gd name="connsiteY1290" fmla="*/ 634342 h 4717133"/>
              <a:gd name="connsiteX1291" fmla="*/ 1111522 w 4694357"/>
              <a:gd name="connsiteY1291" fmla="*/ 644592 h 4717133"/>
              <a:gd name="connsiteX1292" fmla="*/ 1101272 w 4694357"/>
              <a:gd name="connsiteY1292" fmla="*/ 654842 h 4717133"/>
              <a:gd name="connsiteX1293" fmla="*/ 1091022 w 4694357"/>
              <a:gd name="connsiteY1293" fmla="*/ 644592 h 4717133"/>
              <a:gd name="connsiteX1294" fmla="*/ 1101272 w 4694357"/>
              <a:gd name="connsiteY1294" fmla="*/ 634342 h 4717133"/>
              <a:gd name="connsiteX1295" fmla="*/ 3595932 w 4694357"/>
              <a:gd name="connsiteY1295" fmla="*/ 611565 h 4717133"/>
              <a:gd name="connsiteX1296" fmla="*/ 3628390 w 4694357"/>
              <a:gd name="connsiteY1296" fmla="*/ 644023 h 4717133"/>
              <a:gd name="connsiteX1297" fmla="*/ 3595932 w 4694357"/>
              <a:gd name="connsiteY1297" fmla="*/ 676481 h 4717133"/>
              <a:gd name="connsiteX1298" fmla="*/ 3563474 w 4694357"/>
              <a:gd name="connsiteY1298" fmla="*/ 644023 h 4717133"/>
              <a:gd name="connsiteX1299" fmla="*/ 3595932 w 4694357"/>
              <a:gd name="connsiteY1299" fmla="*/ 611565 h 4717133"/>
              <a:gd name="connsiteX1300" fmla="*/ 3740567 w 4694357"/>
              <a:gd name="connsiteY1300" fmla="*/ 589926 h 4717133"/>
              <a:gd name="connsiteX1301" fmla="*/ 3765053 w 4694357"/>
              <a:gd name="connsiteY1301" fmla="*/ 614412 h 4717133"/>
              <a:gd name="connsiteX1302" fmla="*/ 3740567 w 4694357"/>
              <a:gd name="connsiteY1302" fmla="*/ 638898 h 4717133"/>
              <a:gd name="connsiteX1303" fmla="*/ 3716081 w 4694357"/>
              <a:gd name="connsiteY1303" fmla="*/ 614412 h 4717133"/>
              <a:gd name="connsiteX1304" fmla="*/ 3740567 w 4694357"/>
              <a:gd name="connsiteY1304" fmla="*/ 589926 h 4717133"/>
              <a:gd name="connsiteX1305" fmla="*/ 956638 w 4694357"/>
              <a:gd name="connsiteY1305" fmla="*/ 588788 h 4717133"/>
              <a:gd name="connsiteX1306" fmla="*/ 983971 w 4694357"/>
              <a:gd name="connsiteY1306" fmla="*/ 615551 h 4717133"/>
              <a:gd name="connsiteX1307" fmla="*/ 956638 w 4694357"/>
              <a:gd name="connsiteY1307" fmla="*/ 642314 h 4717133"/>
              <a:gd name="connsiteX1308" fmla="*/ 929305 w 4694357"/>
              <a:gd name="connsiteY1308" fmla="*/ 615551 h 4717133"/>
              <a:gd name="connsiteX1309" fmla="*/ 956638 w 4694357"/>
              <a:gd name="connsiteY1309" fmla="*/ 588788 h 4717133"/>
              <a:gd name="connsiteX1310" fmla="*/ 816559 w 4694357"/>
              <a:gd name="connsiteY1310" fmla="*/ 577399 h 4717133"/>
              <a:gd name="connsiteX1311" fmla="*/ 832503 w 4694357"/>
              <a:gd name="connsiteY1311" fmla="*/ 593343 h 4717133"/>
              <a:gd name="connsiteX1312" fmla="*/ 816559 w 4694357"/>
              <a:gd name="connsiteY1312" fmla="*/ 609287 h 4717133"/>
              <a:gd name="connsiteX1313" fmla="*/ 800615 w 4694357"/>
              <a:gd name="connsiteY1313" fmla="*/ 593343 h 4717133"/>
              <a:gd name="connsiteX1314" fmla="*/ 816559 w 4694357"/>
              <a:gd name="connsiteY1314" fmla="*/ 577399 h 4717133"/>
              <a:gd name="connsiteX1315" fmla="*/ 1389402 w 4694357"/>
              <a:gd name="connsiteY1315" fmla="*/ 573982 h 4717133"/>
              <a:gd name="connsiteX1316" fmla="*/ 1403068 w 4694357"/>
              <a:gd name="connsiteY1316" fmla="*/ 587648 h 4717133"/>
              <a:gd name="connsiteX1317" fmla="*/ 1389402 w 4694357"/>
              <a:gd name="connsiteY1317" fmla="*/ 601314 h 4717133"/>
              <a:gd name="connsiteX1318" fmla="*/ 1375736 w 4694357"/>
              <a:gd name="connsiteY1318" fmla="*/ 587648 h 4717133"/>
              <a:gd name="connsiteX1319" fmla="*/ 1389402 w 4694357"/>
              <a:gd name="connsiteY1319" fmla="*/ 573982 h 4717133"/>
              <a:gd name="connsiteX1320" fmla="*/ 3880076 w 4694357"/>
              <a:gd name="connsiteY1320" fmla="*/ 569427 h 4717133"/>
              <a:gd name="connsiteX1321" fmla="*/ 3902853 w 4694357"/>
              <a:gd name="connsiteY1321" fmla="*/ 592204 h 4717133"/>
              <a:gd name="connsiteX1322" fmla="*/ 3880076 w 4694357"/>
              <a:gd name="connsiteY1322" fmla="*/ 614981 h 4717133"/>
              <a:gd name="connsiteX1323" fmla="*/ 3857299 w 4694357"/>
              <a:gd name="connsiteY1323" fmla="*/ 592204 h 4717133"/>
              <a:gd name="connsiteX1324" fmla="*/ 3880076 w 4694357"/>
              <a:gd name="connsiteY1324" fmla="*/ 569427 h 4717133"/>
              <a:gd name="connsiteX1325" fmla="*/ 3307802 w 4694357"/>
              <a:gd name="connsiteY1325" fmla="*/ 566011 h 4717133"/>
              <a:gd name="connsiteX1326" fmla="*/ 3328871 w 4694357"/>
              <a:gd name="connsiteY1326" fmla="*/ 587080 h 4717133"/>
              <a:gd name="connsiteX1327" fmla="*/ 3307802 w 4694357"/>
              <a:gd name="connsiteY1327" fmla="*/ 608149 h 4717133"/>
              <a:gd name="connsiteX1328" fmla="*/ 3286733 w 4694357"/>
              <a:gd name="connsiteY1328" fmla="*/ 587080 h 4717133"/>
              <a:gd name="connsiteX1329" fmla="*/ 3307802 w 4694357"/>
              <a:gd name="connsiteY1329" fmla="*/ 566011 h 4717133"/>
              <a:gd name="connsiteX1330" fmla="*/ 1240213 w 4694357"/>
              <a:gd name="connsiteY1330" fmla="*/ 539817 h 4717133"/>
              <a:gd name="connsiteX1331" fmla="*/ 1251602 w 4694357"/>
              <a:gd name="connsiteY1331" fmla="*/ 551775 h 4717133"/>
              <a:gd name="connsiteX1332" fmla="*/ 1240213 w 4694357"/>
              <a:gd name="connsiteY1332" fmla="*/ 563733 h 4717133"/>
              <a:gd name="connsiteX1333" fmla="*/ 1228824 w 4694357"/>
              <a:gd name="connsiteY1333" fmla="*/ 551775 h 4717133"/>
              <a:gd name="connsiteX1334" fmla="*/ 1240213 w 4694357"/>
              <a:gd name="connsiteY1334" fmla="*/ 539817 h 4717133"/>
              <a:gd name="connsiteX1335" fmla="*/ 3457561 w 4694357"/>
              <a:gd name="connsiteY1335" fmla="*/ 520457 h 4717133"/>
              <a:gd name="connsiteX1336" fmla="*/ 3488310 w 4694357"/>
              <a:gd name="connsiteY1336" fmla="*/ 551206 h 4717133"/>
              <a:gd name="connsiteX1337" fmla="*/ 3457561 w 4694357"/>
              <a:gd name="connsiteY1337" fmla="*/ 581955 h 4717133"/>
              <a:gd name="connsiteX1338" fmla="*/ 3426812 w 4694357"/>
              <a:gd name="connsiteY1338" fmla="*/ 551206 h 4717133"/>
              <a:gd name="connsiteX1339" fmla="*/ 3457561 w 4694357"/>
              <a:gd name="connsiteY1339" fmla="*/ 520457 h 4717133"/>
              <a:gd name="connsiteX1340" fmla="*/ 1538592 w 4694357"/>
              <a:gd name="connsiteY1340" fmla="*/ 499957 h 4717133"/>
              <a:gd name="connsiteX1341" fmla="*/ 1552258 w 4694357"/>
              <a:gd name="connsiteY1341" fmla="*/ 514193 h 4717133"/>
              <a:gd name="connsiteX1342" fmla="*/ 1538592 w 4694357"/>
              <a:gd name="connsiteY1342" fmla="*/ 528429 h 4717133"/>
              <a:gd name="connsiteX1343" fmla="*/ 1524926 w 4694357"/>
              <a:gd name="connsiteY1343" fmla="*/ 514193 h 4717133"/>
              <a:gd name="connsiteX1344" fmla="*/ 1538592 w 4694357"/>
              <a:gd name="connsiteY1344" fmla="*/ 499957 h 4717133"/>
              <a:gd name="connsiteX1345" fmla="*/ 3158612 w 4694357"/>
              <a:gd name="connsiteY1345" fmla="*/ 494263 h 4717133"/>
              <a:gd name="connsiteX1346" fmla="*/ 3178542 w 4694357"/>
              <a:gd name="connsiteY1346" fmla="*/ 514193 h 4717133"/>
              <a:gd name="connsiteX1347" fmla="*/ 3158612 w 4694357"/>
              <a:gd name="connsiteY1347" fmla="*/ 534123 h 4717133"/>
              <a:gd name="connsiteX1348" fmla="*/ 3138682 w 4694357"/>
              <a:gd name="connsiteY1348" fmla="*/ 514193 h 4717133"/>
              <a:gd name="connsiteX1349" fmla="*/ 3158612 w 4694357"/>
              <a:gd name="connsiteY1349" fmla="*/ 494263 h 4717133"/>
              <a:gd name="connsiteX1350" fmla="*/ 3606182 w 4694357"/>
              <a:gd name="connsiteY1350" fmla="*/ 490846 h 4717133"/>
              <a:gd name="connsiteX1351" fmla="*/ 3630668 w 4694357"/>
              <a:gd name="connsiteY1351" fmla="*/ 515901 h 4717133"/>
              <a:gd name="connsiteX1352" fmla="*/ 3606182 w 4694357"/>
              <a:gd name="connsiteY1352" fmla="*/ 540956 h 4717133"/>
              <a:gd name="connsiteX1353" fmla="*/ 3581696 w 4694357"/>
              <a:gd name="connsiteY1353" fmla="*/ 515901 h 4717133"/>
              <a:gd name="connsiteX1354" fmla="*/ 3606182 w 4694357"/>
              <a:gd name="connsiteY1354" fmla="*/ 490846 h 4717133"/>
              <a:gd name="connsiteX1355" fmla="*/ 1091023 w 4694357"/>
              <a:gd name="connsiteY1355" fmla="*/ 489707 h 4717133"/>
              <a:gd name="connsiteX1356" fmla="*/ 1118356 w 4694357"/>
              <a:gd name="connsiteY1356" fmla="*/ 516470 h 4717133"/>
              <a:gd name="connsiteX1357" fmla="*/ 1091023 w 4694357"/>
              <a:gd name="connsiteY1357" fmla="*/ 543233 h 4717133"/>
              <a:gd name="connsiteX1358" fmla="*/ 1063690 w 4694357"/>
              <a:gd name="connsiteY1358" fmla="*/ 516470 h 4717133"/>
              <a:gd name="connsiteX1359" fmla="*/ 1091023 w 4694357"/>
              <a:gd name="connsiteY1359" fmla="*/ 489707 h 4717133"/>
              <a:gd name="connsiteX1360" fmla="*/ 946958 w 4694357"/>
              <a:gd name="connsiteY1360" fmla="*/ 472625 h 4717133"/>
              <a:gd name="connsiteX1361" fmla="*/ 963472 w 4694357"/>
              <a:gd name="connsiteY1361" fmla="*/ 489139 h 4717133"/>
              <a:gd name="connsiteX1362" fmla="*/ 946958 w 4694357"/>
              <a:gd name="connsiteY1362" fmla="*/ 505653 h 4717133"/>
              <a:gd name="connsiteX1363" fmla="*/ 930444 w 4694357"/>
              <a:gd name="connsiteY1363" fmla="*/ 489139 h 4717133"/>
              <a:gd name="connsiteX1364" fmla="*/ 946958 w 4694357"/>
              <a:gd name="connsiteY1364" fmla="*/ 472625 h 4717133"/>
              <a:gd name="connsiteX1365" fmla="*/ 3750246 w 4694357"/>
              <a:gd name="connsiteY1365" fmla="*/ 464652 h 4717133"/>
              <a:gd name="connsiteX1366" fmla="*/ 3773023 w 4694357"/>
              <a:gd name="connsiteY1366" fmla="*/ 487429 h 4717133"/>
              <a:gd name="connsiteX1367" fmla="*/ 3750246 w 4694357"/>
              <a:gd name="connsiteY1367" fmla="*/ 510206 h 4717133"/>
              <a:gd name="connsiteX1368" fmla="*/ 3727469 w 4694357"/>
              <a:gd name="connsiteY1368" fmla="*/ 487429 h 4717133"/>
              <a:gd name="connsiteX1369" fmla="*/ 3750246 w 4694357"/>
              <a:gd name="connsiteY1369" fmla="*/ 464652 h 4717133"/>
              <a:gd name="connsiteX1370" fmla="*/ 1385417 w 4694357"/>
              <a:gd name="connsiteY1370" fmla="*/ 456681 h 4717133"/>
              <a:gd name="connsiteX1371" fmla="*/ 1398514 w 4694357"/>
              <a:gd name="connsiteY1371" fmla="*/ 469778 h 4717133"/>
              <a:gd name="connsiteX1372" fmla="*/ 1385417 w 4694357"/>
              <a:gd name="connsiteY1372" fmla="*/ 482875 h 4717133"/>
              <a:gd name="connsiteX1373" fmla="*/ 1372320 w 4694357"/>
              <a:gd name="connsiteY1373" fmla="*/ 469778 h 4717133"/>
              <a:gd name="connsiteX1374" fmla="*/ 1385417 w 4694357"/>
              <a:gd name="connsiteY1374" fmla="*/ 456681 h 4717133"/>
              <a:gd name="connsiteX1375" fmla="*/ 3311787 w 4694357"/>
              <a:gd name="connsiteY1375" fmla="*/ 440737 h 4717133"/>
              <a:gd name="connsiteX1376" fmla="*/ 3341397 w 4694357"/>
              <a:gd name="connsiteY1376" fmla="*/ 469778 h 4717133"/>
              <a:gd name="connsiteX1377" fmla="*/ 3311787 w 4694357"/>
              <a:gd name="connsiteY1377" fmla="*/ 498819 h 4717133"/>
              <a:gd name="connsiteX1378" fmla="*/ 3282177 w 4694357"/>
              <a:gd name="connsiteY1378" fmla="*/ 469778 h 4717133"/>
              <a:gd name="connsiteX1379" fmla="*/ 3311787 w 4694357"/>
              <a:gd name="connsiteY1379" fmla="*/ 440737 h 4717133"/>
              <a:gd name="connsiteX1380" fmla="*/ 1694046 w 4694357"/>
              <a:gd name="connsiteY1380" fmla="*/ 439598 h 4717133"/>
              <a:gd name="connsiteX1381" fmla="*/ 1708282 w 4694357"/>
              <a:gd name="connsiteY1381" fmla="*/ 454403 h 4717133"/>
              <a:gd name="connsiteX1382" fmla="*/ 1694046 w 4694357"/>
              <a:gd name="connsiteY1382" fmla="*/ 469208 h 4717133"/>
              <a:gd name="connsiteX1383" fmla="*/ 1679810 w 4694357"/>
              <a:gd name="connsiteY1383" fmla="*/ 454403 h 4717133"/>
              <a:gd name="connsiteX1384" fmla="*/ 1694046 w 4694357"/>
              <a:gd name="connsiteY1384" fmla="*/ 439598 h 4717133"/>
              <a:gd name="connsiteX1385" fmla="*/ 3003158 w 4694357"/>
              <a:gd name="connsiteY1385" fmla="*/ 433904 h 4717133"/>
              <a:gd name="connsiteX1386" fmla="*/ 3022519 w 4694357"/>
              <a:gd name="connsiteY1386" fmla="*/ 453265 h 4717133"/>
              <a:gd name="connsiteX1387" fmla="*/ 3003158 w 4694357"/>
              <a:gd name="connsiteY1387" fmla="*/ 472626 h 4717133"/>
              <a:gd name="connsiteX1388" fmla="*/ 2983797 w 4694357"/>
              <a:gd name="connsiteY1388" fmla="*/ 453265 h 4717133"/>
              <a:gd name="connsiteX1389" fmla="*/ 3003158 w 4694357"/>
              <a:gd name="connsiteY1389" fmla="*/ 433904 h 4717133"/>
              <a:gd name="connsiteX1390" fmla="*/ 3464394 w 4694357"/>
              <a:gd name="connsiteY1390" fmla="*/ 402016 h 4717133"/>
              <a:gd name="connsiteX1391" fmla="*/ 3489449 w 4694357"/>
              <a:gd name="connsiteY1391" fmla="*/ 427071 h 4717133"/>
              <a:gd name="connsiteX1392" fmla="*/ 3464394 w 4694357"/>
              <a:gd name="connsiteY1392" fmla="*/ 452126 h 4717133"/>
              <a:gd name="connsiteX1393" fmla="*/ 3439339 w 4694357"/>
              <a:gd name="connsiteY1393" fmla="*/ 427071 h 4717133"/>
              <a:gd name="connsiteX1394" fmla="*/ 3464394 w 4694357"/>
              <a:gd name="connsiteY1394" fmla="*/ 402016 h 4717133"/>
              <a:gd name="connsiteX1395" fmla="*/ 1231671 w 4694357"/>
              <a:gd name="connsiteY1395" fmla="*/ 399738 h 4717133"/>
              <a:gd name="connsiteX1396" fmla="*/ 1258434 w 4694357"/>
              <a:gd name="connsiteY1396" fmla="*/ 427071 h 4717133"/>
              <a:gd name="connsiteX1397" fmla="*/ 1231671 w 4694357"/>
              <a:gd name="connsiteY1397" fmla="*/ 454404 h 4717133"/>
              <a:gd name="connsiteX1398" fmla="*/ 1204908 w 4694357"/>
              <a:gd name="connsiteY1398" fmla="*/ 427071 h 4717133"/>
              <a:gd name="connsiteX1399" fmla="*/ 1231671 w 4694357"/>
              <a:gd name="connsiteY1399" fmla="*/ 399738 h 4717133"/>
              <a:gd name="connsiteX1400" fmla="*/ 1853485 w 4694357"/>
              <a:gd name="connsiteY1400" fmla="*/ 390627 h 4717133"/>
              <a:gd name="connsiteX1401" fmla="*/ 1868860 w 4694357"/>
              <a:gd name="connsiteY1401" fmla="*/ 406002 h 4717133"/>
              <a:gd name="connsiteX1402" fmla="*/ 1853485 w 4694357"/>
              <a:gd name="connsiteY1402" fmla="*/ 421377 h 4717133"/>
              <a:gd name="connsiteX1403" fmla="*/ 1838110 w 4694357"/>
              <a:gd name="connsiteY1403" fmla="*/ 406002 h 4717133"/>
              <a:gd name="connsiteX1404" fmla="*/ 1853485 w 4694357"/>
              <a:gd name="connsiteY1404" fmla="*/ 390627 h 4717133"/>
              <a:gd name="connsiteX1405" fmla="*/ 2843150 w 4694357"/>
              <a:gd name="connsiteY1405" fmla="*/ 387210 h 4717133"/>
              <a:gd name="connsiteX1406" fmla="*/ 2861942 w 4694357"/>
              <a:gd name="connsiteY1406" fmla="*/ 406002 h 4717133"/>
              <a:gd name="connsiteX1407" fmla="*/ 2843150 w 4694357"/>
              <a:gd name="connsiteY1407" fmla="*/ 424794 h 4717133"/>
              <a:gd name="connsiteX1408" fmla="*/ 2824358 w 4694357"/>
              <a:gd name="connsiteY1408" fmla="*/ 406002 h 4717133"/>
              <a:gd name="connsiteX1409" fmla="*/ 2843150 w 4694357"/>
              <a:gd name="connsiteY1409" fmla="*/ 387210 h 4717133"/>
              <a:gd name="connsiteX1410" fmla="*/ 1536314 w 4694357"/>
              <a:gd name="connsiteY1410" fmla="*/ 386072 h 4717133"/>
              <a:gd name="connsiteX1411" fmla="*/ 1551119 w 4694357"/>
              <a:gd name="connsiteY1411" fmla="*/ 400308 h 4717133"/>
              <a:gd name="connsiteX1412" fmla="*/ 1536314 w 4694357"/>
              <a:gd name="connsiteY1412" fmla="*/ 414544 h 4717133"/>
              <a:gd name="connsiteX1413" fmla="*/ 1521509 w 4694357"/>
              <a:gd name="connsiteY1413" fmla="*/ 400308 h 4717133"/>
              <a:gd name="connsiteX1414" fmla="*/ 1536314 w 4694357"/>
              <a:gd name="connsiteY1414" fmla="*/ 386072 h 4717133"/>
              <a:gd name="connsiteX1415" fmla="*/ 1083621 w 4694357"/>
              <a:gd name="connsiteY1415" fmla="*/ 375822 h 4717133"/>
              <a:gd name="connsiteX1416" fmla="*/ 1101274 w 4694357"/>
              <a:gd name="connsiteY1416" fmla="*/ 392905 h 4717133"/>
              <a:gd name="connsiteX1417" fmla="*/ 1083621 w 4694357"/>
              <a:gd name="connsiteY1417" fmla="*/ 409988 h 4717133"/>
              <a:gd name="connsiteX1418" fmla="*/ 1065968 w 4694357"/>
              <a:gd name="connsiteY1418" fmla="*/ 392905 h 4717133"/>
              <a:gd name="connsiteX1419" fmla="*/ 1083621 w 4694357"/>
              <a:gd name="connsiteY1419" fmla="*/ 375822 h 4717133"/>
              <a:gd name="connsiteX1420" fmla="*/ 3160890 w 4694357"/>
              <a:gd name="connsiteY1420" fmla="*/ 372406 h 4717133"/>
              <a:gd name="connsiteX1421" fmla="*/ 3188792 w 4694357"/>
              <a:gd name="connsiteY1421" fmla="*/ 400308 h 4717133"/>
              <a:gd name="connsiteX1422" fmla="*/ 3160890 w 4694357"/>
              <a:gd name="connsiteY1422" fmla="*/ 428210 h 4717133"/>
              <a:gd name="connsiteX1423" fmla="*/ 3132988 w 4694357"/>
              <a:gd name="connsiteY1423" fmla="*/ 400308 h 4717133"/>
              <a:gd name="connsiteX1424" fmla="*/ 3160890 w 4694357"/>
              <a:gd name="connsiteY1424" fmla="*/ 372406 h 4717133"/>
              <a:gd name="connsiteX1425" fmla="*/ 3612445 w 4694357"/>
              <a:gd name="connsiteY1425" fmla="*/ 370128 h 4717133"/>
              <a:gd name="connsiteX1426" fmla="*/ 3635222 w 4694357"/>
              <a:gd name="connsiteY1426" fmla="*/ 392905 h 4717133"/>
              <a:gd name="connsiteX1427" fmla="*/ 3612445 w 4694357"/>
              <a:gd name="connsiteY1427" fmla="*/ 415682 h 4717133"/>
              <a:gd name="connsiteX1428" fmla="*/ 3589668 w 4694357"/>
              <a:gd name="connsiteY1428" fmla="*/ 392905 h 4717133"/>
              <a:gd name="connsiteX1429" fmla="*/ 3612445 w 4694357"/>
              <a:gd name="connsiteY1429" fmla="*/ 370128 h 4717133"/>
              <a:gd name="connsiteX1430" fmla="*/ 2016911 w 4694357"/>
              <a:gd name="connsiteY1430" fmla="*/ 356462 h 4717133"/>
              <a:gd name="connsiteX1431" fmla="*/ 2032855 w 4694357"/>
              <a:gd name="connsiteY1431" fmla="*/ 372406 h 4717133"/>
              <a:gd name="connsiteX1432" fmla="*/ 2016911 w 4694357"/>
              <a:gd name="connsiteY1432" fmla="*/ 388350 h 4717133"/>
              <a:gd name="connsiteX1433" fmla="*/ 2000967 w 4694357"/>
              <a:gd name="connsiteY1433" fmla="*/ 372406 h 4717133"/>
              <a:gd name="connsiteX1434" fmla="*/ 2016911 w 4694357"/>
              <a:gd name="connsiteY1434" fmla="*/ 356462 h 4717133"/>
              <a:gd name="connsiteX1435" fmla="*/ 2680294 w 4694357"/>
              <a:gd name="connsiteY1435" fmla="*/ 353045 h 4717133"/>
              <a:gd name="connsiteX1436" fmla="*/ 2699086 w 4694357"/>
              <a:gd name="connsiteY1436" fmla="*/ 371837 h 4717133"/>
              <a:gd name="connsiteX1437" fmla="*/ 2680294 w 4694357"/>
              <a:gd name="connsiteY1437" fmla="*/ 390629 h 4717133"/>
              <a:gd name="connsiteX1438" fmla="*/ 2661502 w 4694357"/>
              <a:gd name="connsiteY1438" fmla="*/ 371837 h 4717133"/>
              <a:gd name="connsiteX1439" fmla="*/ 2680294 w 4694357"/>
              <a:gd name="connsiteY1439" fmla="*/ 353045 h 4717133"/>
              <a:gd name="connsiteX1440" fmla="*/ 2181476 w 4694357"/>
              <a:gd name="connsiteY1440" fmla="*/ 334823 h 4717133"/>
              <a:gd name="connsiteX1441" fmla="*/ 2197990 w 4694357"/>
              <a:gd name="connsiteY1441" fmla="*/ 351337 h 4717133"/>
              <a:gd name="connsiteX1442" fmla="*/ 2181476 w 4694357"/>
              <a:gd name="connsiteY1442" fmla="*/ 367851 h 4717133"/>
              <a:gd name="connsiteX1443" fmla="*/ 2164962 w 4694357"/>
              <a:gd name="connsiteY1443" fmla="*/ 351337 h 4717133"/>
              <a:gd name="connsiteX1444" fmla="*/ 2181476 w 4694357"/>
              <a:gd name="connsiteY1444" fmla="*/ 334823 h 4717133"/>
              <a:gd name="connsiteX1445" fmla="*/ 2515160 w 4694357"/>
              <a:gd name="connsiteY1445" fmla="*/ 333685 h 4717133"/>
              <a:gd name="connsiteX1446" fmla="*/ 2532813 w 4694357"/>
              <a:gd name="connsiteY1446" fmla="*/ 351338 h 4717133"/>
              <a:gd name="connsiteX1447" fmla="*/ 2515160 w 4694357"/>
              <a:gd name="connsiteY1447" fmla="*/ 368991 h 4717133"/>
              <a:gd name="connsiteX1448" fmla="*/ 2497507 w 4694357"/>
              <a:gd name="connsiteY1448" fmla="*/ 351338 h 4717133"/>
              <a:gd name="connsiteX1449" fmla="*/ 2515160 w 4694357"/>
              <a:gd name="connsiteY1449" fmla="*/ 333685 h 4717133"/>
              <a:gd name="connsiteX1450" fmla="*/ 2348318 w 4694357"/>
              <a:gd name="connsiteY1450" fmla="*/ 327990 h 4717133"/>
              <a:gd name="connsiteX1451" fmla="*/ 2365401 w 4694357"/>
              <a:gd name="connsiteY1451" fmla="*/ 345073 h 4717133"/>
              <a:gd name="connsiteX1452" fmla="*/ 2348318 w 4694357"/>
              <a:gd name="connsiteY1452" fmla="*/ 362156 h 4717133"/>
              <a:gd name="connsiteX1453" fmla="*/ 2331235 w 4694357"/>
              <a:gd name="connsiteY1453" fmla="*/ 345073 h 4717133"/>
              <a:gd name="connsiteX1454" fmla="*/ 2348318 w 4694357"/>
              <a:gd name="connsiteY1454" fmla="*/ 327990 h 4717133"/>
              <a:gd name="connsiteX1455" fmla="*/ 1692907 w 4694357"/>
              <a:gd name="connsiteY1455" fmla="*/ 326851 h 4717133"/>
              <a:gd name="connsiteX1456" fmla="*/ 1708282 w 4694357"/>
              <a:gd name="connsiteY1456" fmla="*/ 342226 h 4717133"/>
              <a:gd name="connsiteX1457" fmla="*/ 1692907 w 4694357"/>
              <a:gd name="connsiteY1457" fmla="*/ 357601 h 4717133"/>
              <a:gd name="connsiteX1458" fmla="*/ 1677532 w 4694357"/>
              <a:gd name="connsiteY1458" fmla="*/ 342226 h 4717133"/>
              <a:gd name="connsiteX1459" fmla="*/ 1692907 w 4694357"/>
              <a:gd name="connsiteY1459" fmla="*/ 326851 h 4717133"/>
              <a:gd name="connsiteX1460" fmla="*/ 3316913 w 4694357"/>
              <a:gd name="connsiteY1460" fmla="*/ 323435 h 4717133"/>
              <a:gd name="connsiteX1461" fmla="*/ 3342538 w 4694357"/>
              <a:gd name="connsiteY1461" fmla="*/ 348490 h 4717133"/>
              <a:gd name="connsiteX1462" fmla="*/ 3316913 w 4694357"/>
              <a:gd name="connsiteY1462" fmla="*/ 373545 h 4717133"/>
              <a:gd name="connsiteX1463" fmla="*/ 3291288 w 4694357"/>
              <a:gd name="connsiteY1463" fmla="*/ 348490 h 4717133"/>
              <a:gd name="connsiteX1464" fmla="*/ 3316913 w 4694357"/>
              <a:gd name="connsiteY1464" fmla="*/ 323435 h 4717133"/>
              <a:gd name="connsiteX1465" fmla="*/ 1379722 w 4694357"/>
              <a:gd name="connsiteY1465" fmla="*/ 322296 h 4717133"/>
              <a:gd name="connsiteX1466" fmla="*/ 1406485 w 4694357"/>
              <a:gd name="connsiteY1466" fmla="*/ 349059 h 4717133"/>
              <a:gd name="connsiteX1467" fmla="*/ 1379722 w 4694357"/>
              <a:gd name="connsiteY1467" fmla="*/ 375822 h 4717133"/>
              <a:gd name="connsiteX1468" fmla="*/ 1352959 w 4694357"/>
              <a:gd name="connsiteY1468" fmla="*/ 349059 h 4717133"/>
              <a:gd name="connsiteX1469" fmla="*/ 1379722 w 4694357"/>
              <a:gd name="connsiteY1469" fmla="*/ 322296 h 4717133"/>
              <a:gd name="connsiteX1470" fmla="*/ 3004298 w 4694357"/>
              <a:gd name="connsiteY1470" fmla="*/ 316601 h 4717133"/>
              <a:gd name="connsiteX1471" fmla="*/ 3030492 w 4694357"/>
              <a:gd name="connsiteY1471" fmla="*/ 342226 h 4717133"/>
              <a:gd name="connsiteX1472" fmla="*/ 3004298 w 4694357"/>
              <a:gd name="connsiteY1472" fmla="*/ 367851 h 4717133"/>
              <a:gd name="connsiteX1473" fmla="*/ 2978104 w 4694357"/>
              <a:gd name="connsiteY1473" fmla="*/ 342226 h 4717133"/>
              <a:gd name="connsiteX1474" fmla="*/ 3004298 w 4694357"/>
              <a:gd name="connsiteY1474" fmla="*/ 316601 h 4717133"/>
              <a:gd name="connsiteX1475" fmla="*/ 1227116 w 4694357"/>
              <a:gd name="connsiteY1475" fmla="*/ 290408 h 4717133"/>
              <a:gd name="connsiteX1476" fmla="*/ 1244769 w 4694357"/>
              <a:gd name="connsiteY1476" fmla="*/ 308061 h 4717133"/>
              <a:gd name="connsiteX1477" fmla="*/ 1227116 w 4694357"/>
              <a:gd name="connsiteY1477" fmla="*/ 325714 h 4717133"/>
              <a:gd name="connsiteX1478" fmla="*/ 1209463 w 4694357"/>
              <a:gd name="connsiteY1478" fmla="*/ 308061 h 4717133"/>
              <a:gd name="connsiteX1479" fmla="*/ 1227116 w 4694357"/>
              <a:gd name="connsiteY1479" fmla="*/ 290408 h 4717133"/>
              <a:gd name="connsiteX1480" fmla="*/ 3468949 w 4694357"/>
              <a:gd name="connsiteY1480" fmla="*/ 284714 h 4717133"/>
              <a:gd name="connsiteX1481" fmla="*/ 3491726 w 4694357"/>
              <a:gd name="connsiteY1481" fmla="*/ 307491 h 4717133"/>
              <a:gd name="connsiteX1482" fmla="*/ 3468949 w 4694357"/>
              <a:gd name="connsiteY1482" fmla="*/ 330268 h 4717133"/>
              <a:gd name="connsiteX1483" fmla="*/ 3446172 w 4694357"/>
              <a:gd name="connsiteY1483" fmla="*/ 307491 h 4717133"/>
              <a:gd name="connsiteX1484" fmla="*/ 3468949 w 4694357"/>
              <a:gd name="connsiteY1484" fmla="*/ 284714 h 4717133"/>
              <a:gd name="connsiteX1485" fmla="*/ 1852916 w 4694357"/>
              <a:gd name="connsiteY1485" fmla="*/ 280158 h 4717133"/>
              <a:gd name="connsiteX1486" fmla="*/ 1869999 w 4694357"/>
              <a:gd name="connsiteY1486" fmla="*/ 297241 h 4717133"/>
              <a:gd name="connsiteX1487" fmla="*/ 1852916 w 4694357"/>
              <a:gd name="connsiteY1487" fmla="*/ 314324 h 4717133"/>
              <a:gd name="connsiteX1488" fmla="*/ 1835833 w 4694357"/>
              <a:gd name="connsiteY1488" fmla="*/ 297241 h 4717133"/>
              <a:gd name="connsiteX1489" fmla="*/ 1852916 w 4694357"/>
              <a:gd name="connsiteY1489" fmla="*/ 280158 h 4717133"/>
              <a:gd name="connsiteX1490" fmla="*/ 2843719 w 4694357"/>
              <a:gd name="connsiteY1490" fmla="*/ 272187 h 4717133"/>
              <a:gd name="connsiteX1491" fmla="*/ 2868774 w 4694357"/>
              <a:gd name="connsiteY1491" fmla="*/ 296673 h 4717133"/>
              <a:gd name="connsiteX1492" fmla="*/ 2843719 w 4694357"/>
              <a:gd name="connsiteY1492" fmla="*/ 321159 h 4717133"/>
              <a:gd name="connsiteX1493" fmla="*/ 2818664 w 4694357"/>
              <a:gd name="connsiteY1493" fmla="*/ 296673 h 4717133"/>
              <a:gd name="connsiteX1494" fmla="*/ 2843719 w 4694357"/>
              <a:gd name="connsiteY1494" fmla="*/ 272187 h 4717133"/>
              <a:gd name="connsiteX1495" fmla="*/ 3164307 w 4694357"/>
              <a:gd name="connsiteY1495" fmla="*/ 256243 h 4717133"/>
              <a:gd name="connsiteX1496" fmla="*/ 3189932 w 4694357"/>
              <a:gd name="connsiteY1496" fmla="*/ 281868 h 4717133"/>
              <a:gd name="connsiteX1497" fmla="*/ 3164307 w 4694357"/>
              <a:gd name="connsiteY1497" fmla="*/ 307493 h 4717133"/>
              <a:gd name="connsiteX1498" fmla="*/ 3138682 w 4694357"/>
              <a:gd name="connsiteY1498" fmla="*/ 281868 h 4717133"/>
              <a:gd name="connsiteX1499" fmla="*/ 3164307 w 4694357"/>
              <a:gd name="connsiteY1499" fmla="*/ 256243 h 4717133"/>
              <a:gd name="connsiteX1500" fmla="*/ 1532328 w 4694357"/>
              <a:gd name="connsiteY1500" fmla="*/ 255103 h 4717133"/>
              <a:gd name="connsiteX1501" fmla="*/ 1559091 w 4694357"/>
              <a:gd name="connsiteY1501" fmla="*/ 281866 h 4717133"/>
              <a:gd name="connsiteX1502" fmla="*/ 1532328 w 4694357"/>
              <a:gd name="connsiteY1502" fmla="*/ 308629 h 4717133"/>
              <a:gd name="connsiteX1503" fmla="*/ 1505565 w 4694357"/>
              <a:gd name="connsiteY1503" fmla="*/ 281866 h 4717133"/>
              <a:gd name="connsiteX1504" fmla="*/ 1532328 w 4694357"/>
              <a:gd name="connsiteY1504" fmla="*/ 255103 h 4717133"/>
              <a:gd name="connsiteX1505" fmla="*/ 2016911 w 4694357"/>
              <a:gd name="connsiteY1505" fmla="*/ 245993 h 4717133"/>
              <a:gd name="connsiteX1506" fmla="*/ 2035133 w 4694357"/>
              <a:gd name="connsiteY1506" fmla="*/ 264785 h 4717133"/>
              <a:gd name="connsiteX1507" fmla="*/ 2016911 w 4694357"/>
              <a:gd name="connsiteY1507" fmla="*/ 283577 h 4717133"/>
              <a:gd name="connsiteX1508" fmla="*/ 1998689 w 4694357"/>
              <a:gd name="connsiteY1508" fmla="*/ 264785 h 4717133"/>
              <a:gd name="connsiteX1509" fmla="*/ 2016911 w 4694357"/>
              <a:gd name="connsiteY1509" fmla="*/ 245993 h 4717133"/>
              <a:gd name="connsiteX1510" fmla="*/ 2680294 w 4694357"/>
              <a:gd name="connsiteY1510" fmla="*/ 241437 h 4717133"/>
              <a:gd name="connsiteX1511" fmla="*/ 2703641 w 4694357"/>
              <a:gd name="connsiteY1511" fmla="*/ 264784 h 4717133"/>
              <a:gd name="connsiteX1512" fmla="*/ 2680294 w 4694357"/>
              <a:gd name="connsiteY1512" fmla="*/ 288131 h 4717133"/>
              <a:gd name="connsiteX1513" fmla="*/ 2656947 w 4694357"/>
              <a:gd name="connsiteY1513" fmla="*/ 264784 h 4717133"/>
              <a:gd name="connsiteX1514" fmla="*/ 2680294 w 4694357"/>
              <a:gd name="connsiteY1514" fmla="*/ 241437 h 4717133"/>
              <a:gd name="connsiteX1515" fmla="*/ 2182045 w 4694357"/>
              <a:gd name="connsiteY1515" fmla="*/ 225493 h 4717133"/>
              <a:gd name="connsiteX1516" fmla="*/ 2201406 w 4694357"/>
              <a:gd name="connsiteY1516" fmla="*/ 244854 h 4717133"/>
              <a:gd name="connsiteX1517" fmla="*/ 2182045 w 4694357"/>
              <a:gd name="connsiteY1517" fmla="*/ 264215 h 4717133"/>
              <a:gd name="connsiteX1518" fmla="*/ 2162684 w 4694357"/>
              <a:gd name="connsiteY1518" fmla="*/ 244854 h 4717133"/>
              <a:gd name="connsiteX1519" fmla="*/ 2182045 w 4694357"/>
              <a:gd name="connsiteY1519" fmla="*/ 225493 h 4717133"/>
              <a:gd name="connsiteX1520" fmla="*/ 2515160 w 4694357"/>
              <a:gd name="connsiteY1520" fmla="*/ 223215 h 4717133"/>
              <a:gd name="connsiteX1521" fmla="*/ 2537368 w 4694357"/>
              <a:gd name="connsiteY1521" fmla="*/ 245423 h 4717133"/>
              <a:gd name="connsiteX1522" fmla="*/ 2515160 w 4694357"/>
              <a:gd name="connsiteY1522" fmla="*/ 267631 h 4717133"/>
              <a:gd name="connsiteX1523" fmla="*/ 2492952 w 4694357"/>
              <a:gd name="connsiteY1523" fmla="*/ 245423 h 4717133"/>
              <a:gd name="connsiteX1524" fmla="*/ 2515160 w 4694357"/>
              <a:gd name="connsiteY1524" fmla="*/ 223215 h 4717133"/>
              <a:gd name="connsiteX1525" fmla="*/ 2348318 w 4694357"/>
              <a:gd name="connsiteY1525" fmla="*/ 217522 h 4717133"/>
              <a:gd name="connsiteX1526" fmla="*/ 2368818 w 4694357"/>
              <a:gd name="connsiteY1526" fmla="*/ 238591 h 4717133"/>
              <a:gd name="connsiteX1527" fmla="*/ 2348318 w 4694357"/>
              <a:gd name="connsiteY1527" fmla="*/ 259660 h 4717133"/>
              <a:gd name="connsiteX1528" fmla="*/ 2327818 w 4694357"/>
              <a:gd name="connsiteY1528" fmla="*/ 238591 h 4717133"/>
              <a:gd name="connsiteX1529" fmla="*/ 2348318 w 4694357"/>
              <a:gd name="connsiteY1529" fmla="*/ 217522 h 4717133"/>
              <a:gd name="connsiteX1530" fmla="*/ 1376875 w 4694357"/>
              <a:gd name="connsiteY1530" fmla="*/ 214105 h 4717133"/>
              <a:gd name="connsiteX1531" fmla="*/ 1395097 w 4694357"/>
              <a:gd name="connsiteY1531" fmla="*/ 232897 h 4717133"/>
              <a:gd name="connsiteX1532" fmla="*/ 1376875 w 4694357"/>
              <a:gd name="connsiteY1532" fmla="*/ 251689 h 4717133"/>
              <a:gd name="connsiteX1533" fmla="*/ 1358653 w 4694357"/>
              <a:gd name="connsiteY1533" fmla="*/ 232897 h 4717133"/>
              <a:gd name="connsiteX1534" fmla="*/ 1376875 w 4694357"/>
              <a:gd name="connsiteY1534" fmla="*/ 214105 h 4717133"/>
              <a:gd name="connsiteX1535" fmla="*/ 3319760 w 4694357"/>
              <a:gd name="connsiteY1535" fmla="*/ 209549 h 4717133"/>
              <a:gd name="connsiteX1536" fmla="*/ 3342537 w 4694357"/>
              <a:gd name="connsiteY1536" fmla="*/ 232326 h 4717133"/>
              <a:gd name="connsiteX1537" fmla="*/ 3319760 w 4694357"/>
              <a:gd name="connsiteY1537" fmla="*/ 255103 h 4717133"/>
              <a:gd name="connsiteX1538" fmla="*/ 3296983 w 4694357"/>
              <a:gd name="connsiteY1538" fmla="*/ 232326 h 4717133"/>
              <a:gd name="connsiteX1539" fmla="*/ 3319760 w 4694357"/>
              <a:gd name="connsiteY1539" fmla="*/ 209549 h 4717133"/>
              <a:gd name="connsiteX1540" fmla="*/ 3006575 w 4694357"/>
              <a:gd name="connsiteY1540" fmla="*/ 200438 h 4717133"/>
              <a:gd name="connsiteX1541" fmla="*/ 3032769 w 4694357"/>
              <a:gd name="connsiteY1541" fmla="*/ 226632 h 4717133"/>
              <a:gd name="connsiteX1542" fmla="*/ 3006575 w 4694357"/>
              <a:gd name="connsiteY1542" fmla="*/ 252826 h 4717133"/>
              <a:gd name="connsiteX1543" fmla="*/ 2980381 w 4694357"/>
              <a:gd name="connsiteY1543" fmla="*/ 226632 h 4717133"/>
              <a:gd name="connsiteX1544" fmla="*/ 3006575 w 4694357"/>
              <a:gd name="connsiteY1544" fmla="*/ 200438 h 4717133"/>
              <a:gd name="connsiteX1545" fmla="*/ 1690629 w 4694357"/>
              <a:gd name="connsiteY1545" fmla="*/ 200438 h 4717133"/>
              <a:gd name="connsiteX1546" fmla="*/ 1717392 w 4694357"/>
              <a:gd name="connsiteY1546" fmla="*/ 227201 h 4717133"/>
              <a:gd name="connsiteX1547" fmla="*/ 1690629 w 4694357"/>
              <a:gd name="connsiteY1547" fmla="*/ 253964 h 4717133"/>
              <a:gd name="connsiteX1548" fmla="*/ 1663866 w 4694357"/>
              <a:gd name="connsiteY1548" fmla="*/ 227201 h 4717133"/>
              <a:gd name="connsiteX1549" fmla="*/ 1690629 w 4694357"/>
              <a:gd name="connsiteY1549" fmla="*/ 200438 h 4717133"/>
              <a:gd name="connsiteX1550" fmla="*/ 2845427 w 4694357"/>
              <a:gd name="connsiteY1550" fmla="*/ 157162 h 4717133"/>
              <a:gd name="connsiteX1551" fmla="*/ 2871052 w 4694357"/>
              <a:gd name="connsiteY1551" fmla="*/ 183356 h 4717133"/>
              <a:gd name="connsiteX1552" fmla="*/ 2845427 w 4694357"/>
              <a:gd name="connsiteY1552" fmla="*/ 209550 h 4717133"/>
              <a:gd name="connsiteX1553" fmla="*/ 2819802 w 4694357"/>
              <a:gd name="connsiteY1553" fmla="*/ 183356 h 4717133"/>
              <a:gd name="connsiteX1554" fmla="*/ 2845427 w 4694357"/>
              <a:gd name="connsiteY1554" fmla="*/ 157162 h 4717133"/>
              <a:gd name="connsiteX1555" fmla="*/ 1851207 w 4694357"/>
              <a:gd name="connsiteY1555" fmla="*/ 157162 h 4717133"/>
              <a:gd name="connsiteX1556" fmla="*/ 1877970 w 4694357"/>
              <a:gd name="connsiteY1556" fmla="*/ 183925 h 4717133"/>
              <a:gd name="connsiteX1557" fmla="*/ 1851207 w 4694357"/>
              <a:gd name="connsiteY1557" fmla="*/ 210688 h 4717133"/>
              <a:gd name="connsiteX1558" fmla="*/ 1824444 w 4694357"/>
              <a:gd name="connsiteY1558" fmla="*/ 183925 h 4717133"/>
              <a:gd name="connsiteX1559" fmla="*/ 1851207 w 4694357"/>
              <a:gd name="connsiteY1559" fmla="*/ 157162 h 4717133"/>
              <a:gd name="connsiteX1560" fmla="*/ 1530621 w 4694357"/>
              <a:gd name="connsiteY1560" fmla="*/ 150329 h 4717133"/>
              <a:gd name="connsiteX1561" fmla="*/ 1549982 w 4694357"/>
              <a:gd name="connsiteY1561" fmla="*/ 169121 h 4717133"/>
              <a:gd name="connsiteX1562" fmla="*/ 1530621 w 4694357"/>
              <a:gd name="connsiteY1562" fmla="*/ 187913 h 4717133"/>
              <a:gd name="connsiteX1563" fmla="*/ 1511260 w 4694357"/>
              <a:gd name="connsiteY1563" fmla="*/ 169121 h 4717133"/>
              <a:gd name="connsiteX1564" fmla="*/ 1530621 w 4694357"/>
              <a:gd name="connsiteY1564" fmla="*/ 150329 h 4717133"/>
              <a:gd name="connsiteX1565" fmla="*/ 3166014 w 4694357"/>
              <a:gd name="connsiteY1565" fmla="*/ 145773 h 4717133"/>
              <a:gd name="connsiteX1566" fmla="*/ 3188791 w 4694357"/>
              <a:gd name="connsiteY1566" fmla="*/ 168550 h 4717133"/>
              <a:gd name="connsiteX1567" fmla="*/ 3166014 w 4694357"/>
              <a:gd name="connsiteY1567" fmla="*/ 191327 h 4717133"/>
              <a:gd name="connsiteX1568" fmla="*/ 3143237 w 4694357"/>
              <a:gd name="connsiteY1568" fmla="*/ 168550 h 4717133"/>
              <a:gd name="connsiteX1569" fmla="*/ 3166014 w 4694357"/>
              <a:gd name="connsiteY1569" fmla="*/ 145773 h 4717133"/>
              <a:gd name="connsiteX1570" fmla="*/ 2681433 w 4694357"/>
              <a:gd name="connsiteY1570" fmla="*/ 126413 h 4717133"/>
              <a:gd name="connsiteX1571" fmla="*/ 2707058 w 4694357"/>
              <a:gd name="connsiteY1571" fmla="*/ 152607 h 4717133"/>
              <a:gd name="connsiteX1572" fmla="*/ 2681433 w 4694357"/>
              <a:gd name="connsiteY1572" fmla="*/ 178801 h 4717133"/>
              <a:gd name="connsiteX1573" fmla="*/ 2655808 w 4694357"/>
              <a:gd name="connsiteY1573" fmla="*/ 152607 h 4717133"/>
              <a:gd name="connsiteX1574" fmla="*/ 2681433 w 4694357"/>
              <a:gd name="connsiteY1574" fmla="*/ 126413 h 4717133"/>
              <a:gd name="connsiteX1575" fmla="*/ 2015202 w 4694357"/>
              <a:gd name="connsiteY1575" fmla="*/ 126413 h 4717133"/>
              <a:gd name="connsiteX1576" fmla="*/ 2041965 w 4694357"/>
              <a:gd name="connsiteY1576" fmla="*/ 152607 h 4717133"/>
              <a:gd name="connsiteX1577" fmla="*/ 2015202 w 4694357"/>
              <a:gd name="connsiteY1577" fmla="*/ 178801 h 4717133"/>
              <a:gd name="connsiteX1578" fmla="*/ 1988439 w 4694357"/>
              <a:gd name="connsiteY1578" fmla="*/ 152607 h 4717133"/>
              <a:gd name="connsiteX1579" fmla="*/ 2015202 w 4694357"/>
              <a:gd name="connsiteY1579" fmla="*/ 126413 h 4717133"/>
              <a:gd name="connsiteX1580" fmla="*/ 2515159 w 4694357"/>
              <a:gd name="connsiteY1580" fmla="*/ 108192 h 4717133"/>
              <a:gd name="connsiteX1581" fmla="*/ 2541922 w 4694357"/>
              <a:gd name="connsiteY1581" fmla="*/ 133817 h 4717133"/>
              <a:gd name="connsiteX1582" fmla="*/ 2515159 w 4694357"/>
              <a:gd name="connsiteY1582" fmla="*/ 159442 h 4717133"/>
              <a:gd name="connsiteX1583" fmla="*/ 2488396 w 4694357"/>
              <a:gd name="connsiteY1583" fmla="*/ 133817 h 4717133"/>
              <a:gd name="connsiteX1584" fmla="*/ 2515159 w 4694357"/>
              <a:gd name="connsiteY1584" fmla="*/ 108192 h 4717133"/>
              <a:gd name="connsiteX1585" fmla="*/ 2181475 w 4694357"/>
              <a:gd name="connsiteY1585" fmla="*/ 107052 h 4717133"/>
              <a:gd name="connsiteX1586" fmla="*/ 2208238 w 4694357"/>
              <a:gd name="connsiteY1586" fmla="*/ 133815 h 4717133"/>
              <a:gd name="connsiteX1587" fmla="*/ 2181475 w 4694357"/>
              <a:gd name="connsiteY1587" fmla="*/ 160578 h 4717133"/>
              <a:gd name="connsiteX1588" fmla="*/ 2154712 w 4694357"/>
              <a:gd name="connsiteY1588" fmla="*/ 133815 h 4717133"/>
              <a:gd name="connsiteX1589" fmla="*/ 2181475 w 4694357"/>
              <a:gd name="connsiteY1589" fmla="*/ 107052 h 4717133"/>
              <a:gd name="connsiteX1590" fmla="*/ 2348318 w 4694357"/>
              <a:gd name="connsiteY1590" fmla="*/ 101358 h 4717133"/>
              <a:gd name="connsiteX1591" fmla="*/ 2374512 w 4694357"/>
              <a:gd name="connsiteY1591" fmla="*/ 127552 h 4717133"/>
              <a:gd name="connsiteX1592" fmla="*/ 2348318 w 4694357"/>
              <a:gd name="connsiteY1592" fmla="*/ 153746 h 4717133"/>
              <a:gd name="connsiteX1593" fmla="*/ 2322124 w 4694357"/>
              <a:gd name="connsiteY1593" fmla="*/ 127552 h 4717133"/>
              <a:gd name="connsiteX1594" fmla="*/ 2348318 w 4694357"/>
              <a:gd name="connsiteY1594" fmla="*/ 101358 h 4717133"/>
              <a:gd name="connsiteX1595" fmla="*/ 1688921 w 4694357"/>
              <a:gd name="connsiteY1595" fmla="*/ 96803 h 4717133"/>
              <a:gd name="connsiteX1596" fmla="*/ 1708282 w 4694357"/>
              <a:gd name="connsiteY1596" fmla="*/ 116164 h 4717133"/>
              <a:gd name="connsiteX1597" fmla="*/ 1688921 w 4694357"/>
              <a:gd name="connsiteY1597" fmla="*/ 135525 h 4717133"/>
              <a:gd name="connsiteX1598" fmla="*/ 1669560 w 4694357"/>
              <a:gd name="connsiteY1598" fmla="*/ 116164 h 4717133"/>
              <a:gd name="connsiteX1599" fmla="*/ 1688921 w 4694357"/>
              <a:gd name="connsiteY1599" fmla="*/ 96803 h 4717133"/>
              <a:gd name="connsiteX1600" fmla="*/ 3007714 w 4694357"/>
              <a:gd name="connsiteY1600" fmla="*/ 93386 h 4717133"/>
              <a:gd name="connsiteX1601" fmla="*/ 3030491 w 4694357"/>
              <a:gd name="connsiteY1601" fmla="*/ 115594 h 4717133"/>
              <a:gd name="connsiteX1602" fmla="*/ 3007714 w 4694357"/>
              <a:gd name="connsiteY1602" fmla="*/ 137802 h 4717133"/>
              <a:gd name="connsiteX1603" fmla="*/ 2984937 w 4694357"/>
              <a:gd name="connsiteY1603" fmla="*/ 115594 h 4717133"/>
              <a:gd name="connsiteX1604" fmla="*/ 3007714 w 4694357"/>
              <a:gd name="connsiteY1604" fmla="*/ 93386 h 4717133"/>
              <a:gd name="connsiteX1605" fmla="*/ 1850638 w 4694357"/>
              <a:gd name="connsiteY1605" fmla="*/ 54665 h 4717133"/>
              <a:gd name="connsiteX1606" fmla="*/ 1869999 w 4694357"/>
              <a:gd name="connsiteY1606" fmla="*/ 74595 h 4717133"/>
              <a:gd name="connsiteX1607" fmla="*/ 1850638 w 4694357"/>
              <a:gd name="connsiteY1607" fmla="*/ 94525 h 4717133"/>
              <a:gd name="connsiteX1608" fmla="*/ 1831277 w 4694357"/>
              <a:gd name="connsiteY1608" fmla="*/ 74595 h 4717133"/>
              <a:gd name="connsiteX1609" fmla="*/ 1850638 w 4694357"/>
              <a:gd name="connsiteY1609" fmla="*/ 54665 h 4717133"/>
              <a:gd name="connsiteX1610" fmla="*/ 2845427 w 4694357"/>
              <a:gd name="connsiteY1610" fmla="*/ 52387 h 4717133"/>
              <a:gd name="connsiteX1611" fmla="*/ 2867635 w 4694357"/>
              <a:gd name="connsiteY1611" fmla="*/ 74595 h 4717133"/>
              <a:gd name="connsiteX1612" fmla="*/ 2845427 w 4694357"/>
              <a:gd name="connsiteY1612" fmla="*/ 96803 h 4717133"/>
              <a:gd name="connsiteX1613" fmla="*/ 2823219 w 4694357"/>
              <a:gd name="connsiteY1613" fmla="*/ 74595 h 4717133"/>
              <a:gd name="connsiteX1614" fmla="*/ 2845427 w 4694357"/>
              <a:gd name="connsiteY1614" fmla="*/ 52387 h 4717133"/>
              <a:gd name="connsiteX1615" fmla="*/ 2015202 w 4694357"/>
              <a:gd name="connsiteY1615" fmla="*/ 25055 h 4717133"/>
              <a:gd name="connsiteX1616" fmla="*/ 2035132 w 4694357"/>
              <a:gd name="connsiteY1616" fmla="*/ 44985 h 4717133"/>
              <a:gd name="connsiteX1617" fmla="*/ 2015202 w 4694357"/>
              <a:gd name="connsiteY1617" fmla="*/ 64915 h 4717133"/>
              <a:gd name="connsiteX1618" fmla="*/ 1995272 w 4694357"/>
              <a:gd name="connsiteY1618" fmla="*/ 44985 h 4717133"/>
              <a:gd name="connsiteX1619" fmla="*/ 2015202 w 4694357"/>
              <a:gd name="connsiteY1619" fmla="*/ 25055 h 4717133"/>
              <a:gd name="connsiteX1620" fmla="*/ 2680862 w 4694357"/>
              <a:gd name="connsiteY1620" fmla="*/ 22777 h 4717133"/>
              <a:gd name="connsiteX1621" fmla="*/ 2702500 w 4694357"/>
              <a:gd name="connsiteY1621" fmla="*/ 44985 h 4717133"/>
              <a:gd name="connsiteX1622" fmla="*/ 2680862 w 4694357"/>
              <a:gd name="connsiteY1622" fmla="*/ 67193 h 4717133"/>
              <a:gd name="connsiteX1623" fmla="*/ 2659224 w 4694357"/>
              <a:gd name="connsiteY1623" fmla="*/ 44985 h 4717133"/>
              <a:gd name="connsiteX1624" fmla="*/ 2680862 w 4694357"/>
              <a:gd name="connsiteY1624" fmla="*/ 22777 h 4717133"/>
              <a:gd name="connsiteX1625" fmla="*/ 2181475 w 4694357"/>
              <a:gd name="connsiteY1625" fmla="*/ 6833 h 4717133"/>
              <a:gd name="connsiteX1626" fmla="*/ 2202544 w 4694357"/>
              <a:gd name="connsiteY1626" fmla="*/ 27333 h 4717133"/>
              <a:gd name="connsiteX1627" fmla="*/ 2181475 w 4694357"/>
              <a:gd name="connsiteY1627" fmla="*/ 47833 h 4717133"/>
              <a:gd name="connsiteX1628" fmla="*/ 2160406 w 4694357"/>
              <a:gd name="connsiteY1628" fmla="*/ 27333 h 4717133"/>
              <a:gd name="connsiteX1629" fmla="*/ 2181475 w 4694357"/>
              <a:gd name="connsiteY1629" fmla="*/ 6833 h 4717133"/>
              <a:gd name="connsiteX1630" fmla="*/ 2515159 w 4694357"/>
              <a:gd name="connsiteY1630" fmla="*/ 5695 h 4717133"/>
              <a:gd name="connsiteX1631" fmla="*/ 2536228 w 4694357"/>
              <a:gd name="connsiteY1631" fmla="*/ 27333 h 4717133"/>
              <a:gd name="connsiteX1632" fmla="*/ 2515159 w 4694357"/>
              <a:gd name="connsiteY1632" fmla="*/ 48971 h 4717133"/>
              <a:gd name="connsiteX1633" fmla="*/ 2494090 w 4694357"/>
              <a:gd name="connsiteY1633" fmla="*/ 27333 h 4717133"/>
              <a:gd name="connsiteX1634" fmla="*/ 2515159 w 4694357"/>
              <a:gd name="connsiteY1634" fmla="*/ 5695 h 4717133"/>
              <a:gd name="connsiteX1635" fmla="*/ 2347748 w 4694357"/>
              <a:gd name="connsiteY1635" fmla="*/ 0 h 4717133"/>
              <a:gd name="connsiteX1636" fmla="*/ 2368817 w 4694357"/>
              <a:gd name="connsiteY1636" fmla="*/ 21069 h 4717133"/>
              <a:gd name="connsiteX1637" fmla="*/ 2347748 w 4694357"/>
              <a:gd name="connsiteY1637" fmla="*/ 42138 h 4717133"/>
              <a:gd name="connsiteX1638" fmla="*/ 2326679 w 4694357"/>
              <a:gd name="connsiteY1638" fmla="*/ 21069 h 4717133"/>
              <a:gd name="connsiteX1639" fmla="*/ 2347748 w 4694357"/>
              <a:gd name="connsiteY1639" fmla="*/ 0 h 4717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Lst>
            <a:rect l="l" t="t" r="r" b="b"/>
            <a:pathLst>
              <a:path w="1922" h="1931">
                <a:moveTo>
                  <a:pt x="962" y="1915"/>
                </a:moveTo>
                <a:lnTo>
                  <a:pt x="964" y="1915"/>
                </a:lnTo>
                <a:lnTo>
                  <a:pt x="965" y="1916"/>
                </a:lnTo>
                <a:lnTo>
                  <a:pt x="967" y="1916"/>
                </a:lnTo>
                <a:lnTo>
                  <a:pt x="968" y="1918"/>
                </a:lnTo>
                <a:lnTo>
                  <a:pt x="969" y="1919"/>
                </a:lnTo>
                <a:lnTo>
                  <a:pt x="970" y="1921"/>
                </a:lnTo>
                <a:lnTo>
                  <a:pt x="970" y="1923"/>
                </a:lnTo>
                <a:lnTo>
                  <a:pt x="970" y="1925"/>
                </a:lnTo>
                <a:lnTo>
                  <a:pt x="969" y="1926"/>
                </a:lnTo>
                <a:lnTo>
                  <a:pt x="968" y="1928"/>
                </a:lnTo>
                <a:lnTo>
                  <a:pt x="967" y="1929"/>
                </a:lnTo>
                <a:lnTo>
                  <a:pt x="965" y="1930"/>
                </a:lnTo>
                <a:lnTo>
                  <a:pt x="964" y="1931"/>
                </a:lnTo>
                <a:lnTo>
                  <a:pt x="962" y="1931"/>
                </a:lnTo>
                <a:lnTo>
                  <a:pt x="960" y="1931"/>
                </a:lnTo>
                <a:lnTo>
                  <a:pt x="958" y="1930"/>
                </a:lnTo>
                <a:lnTo>
                  <a:pt x="957" y="1929"/>
                </a:lnTo>
                <a:lnTo>
                  <a:pt x="955" y="1928"/>
                </a:lnTo>
                <a:lnTo>
                  <a:pt x="954" y="1926"/>
                </a:lnTo>
                <a:lnTo>
                  <a:pt x="954" y="1925"/>
                </a:lnTo>
                <a:lnTo>
                  <a:pt x="954" y="1923"/>
                </a:lnTo>
                <a:lnTo>
                  <a:pt x="954" y="1921"/>
                </a:lnTo>
                <a:lnTo>
                  <a:pt x="954" y="1919"/>
                </a:lnTo>
                <a:lnTo>
                  <a:pt x="955" y="1918"/>
                </a:lnTo>
                <a:lnTo>
                  <a:pt x="957" y="1916"/>
                </a:lnTo>
                <a:lnTo>
                  <a:pt x="958" y="1916"/>
                </a:lnTo>
                <a:lnTo>
                  <a:pt x="960" y="1915"/>
                </a:lnTo>
                <a:lnTo>
                  <a:pt x="962" y="1915"/>
                </a:lnTo>
                <a:close/>
                <a:moveTo>
                  <a:pt x="893" y="1913"/>
                </a:moveTo>
                <a:lnTo>
                  <a:pt x="895" y="1913"/>
                </a:lnTo>
                <a:lnTo>
                  <a:pt x="897" y="1914"/>
                </a:lnTo>
                <a:lnTo>
                  <a:pt x="898" y="1915"/>
                </a:lnTo>
                <a:lnTo>
                  <a:pt x="900" y="1916"/>
                </a:lnTo>
                <a:lnTo>
                  <a:pt x="901" y="1917"/>
                </a:lnTo>
                <a:lnTo>
                  <a:pt x="901" y="1919"/>
                </a:lnTo>
                <a:lnTo>
                  <a:pt x="901" y="1921"/>
                </a:lnTo>
                <a:lnTo>
                  <a:pt x="901" y="1922"/>
                </a:lnTo>
                <a:lnTo>
                  <a:pt x="901" y="1924"/>
                </a:lnTo>
                <a:lnTo>
                  <a:pt x="900" y="1925"/>
                </a:lnTo>
                <a:lnTo>
                  <a:pt x="898" y="1927"/>
                </a:lnTo>
                <a:lnTo>
                  <a:pt x="897" y="1927"/>
                </a:lnTo>
                <a:lnTo>
                  <a:pt x="895" y="1928"/>
                </a:lnTo>
                <a:lnTo>
                  <a:pt x="893" y="1928"/>
                </a:lnTo>
                <a:lnTo>
                  <a:pt x="892" y="1928"/>
                </a:lnTo>
                <a:lnTo>
                  <a:pt x="890" y="1927"/>
                </a:lnTo>
                <a:lnTo>
                  <a:pt x="888" y="1927"/>
                </a:lnTo>
                <a:lnTo>
                  <a:pt x="887" y="1925"/>
                </a:lnTo>
                <a:lnTo>
                  <a:pt x="886" y="1924"/>
                </a:lnTo>
                <a:lnTo>
                  <a:pt x="886" y="1922"/>
                </a:lnTo>
                <a:lnTo>
                  <a:pt x="885" y="1921"/>
                </a:lnTo>
                <a:lnTo>
                  <a:pt x="886" y="1919"/>
                </a:lnTo>
                <a:lnTo>
                  <a:pt x="886" y="1917"/>
                </a:lnTo>
                <a:lnTo>
                  <a:pt x="887" y="1916"/>
                </a:lnTo>
                <a:lnTo>
                  <a:pt x="888" y="1915"/>
                </a:lnTo>
                <a:lnTo>
                  <a:pt x="890" y="1914"/>
                </a:lnTo>
                <a:lnTo>
                  <a:pt x="892" y="1913"/>
                </a:lnTo>
                <a:lnTo>
                  <a:pt x="893" y="1913"/>
                </a:lnTo>
                <a:close/>
                <a:moveTo>
                  <a:pt x="1031" y="1912"/>
                </a:moveTo>
                <a:lnTo>
                  <a:pt x="1032" y="1913"/>
                </a:lnTo>
                <a:lnTo>
                  <a:pt x="1034" y="1913"/>
                </a:lnTo>
                <a:lnTo>
                  <a:pt x="1036" y="1914"/>
                </a:lnTo>
                <a:lnTo>
                  <a:pt x="1037" y="1915"/>
                </a:lnTo>
                <a:lnTo>
                  <a:pt x="1038" y="1917"/>
                </a:lnTo>
                <a:lnTo>
                  <a:pt x="1038" y="1918"/>
                </a:lnTo>
                <a:lnTo>
                  <a:pt x="1038" y="1920"/>
                </a:lnTo>
                <a:lnTo>
                  <a:pt x="1038" y="1922"/>
                </a:lnTo>
                <a:lnTo>
                  <a:pt x="1038" y="1924"/>
                </a:lnTo>
                <a:lnTo>
                  <a:pt x="1037" y="1925"/>
                </a:lnTo>
                <a:lnTo>
                  <a:pt x="1036" y="1926"/>
                </a:lnTo>
                <a:lnTo>
                  <a:pt x="1034" y="1927"/>
                </a:lnTo>
                <a:lnTo>
                  <a:pt x="1032" y="1928"/>
                </a:lnTo>
                <a:lnTo>
                  <a:pt x="1031" y="1928"/>
                </a:lnTo>
                <a:lnTo>
                  <a:pt x="1029" y="1928"/>
                </a:lnTo>
                <a:lnTo>
                  <a:pt x="1027" y="1927"/>
                </a:lnTo>
                <a:lnTo>
                  <a:pt x="1026" y="1926"/>
                </a:lnTo>
                <a:lnTo>
                  <a:pt x="1025" y="1925"/>
                </a:lnTo>
                <a:lnTo>
                  <a:pt x="1024" y="1924"/>
                </a:lnTo>
                <a:lnTo>
                  <a:pt x="1023" y="1922"/>
                </a:lnTo>
                <a:lnTo>
                  <a:pt x="1023" y="1920"/>
                </a:lnTo>
                <a:lnTo>
                  <a:pt x="1023" y="1918"/>
                </a:lnTo>
                <a:lnTo>
                  <a:pt x="1024" y="1917"/>
                </a:lnTo>
                <a:lnTo>
                  <a:pt x="1025" y="1915"/>
                </a:lnTo>
                <a:lnTo>
                  <a:pt x="1026" y="1914"/>
                </a:lnTo>
                <a:lnTo>
                  <a:pt x="1027" y="1913"/>
                </a:lnTo>
                <a:lnTo>
                  <a:pt x="1029" y="1913"/>
                </a:lnTo>
                <a:lnTo>
                  <a:pt x="1031" y="1912"/>
                </a:lnTo>
                <a:close/>
                <a:moveTo>
                  <a:pt x="825" y="1906"/>
                </a:moveTo>
                <a:lnTo>
                  <a:pt x="827" y="1906"/>
                </a:lnTo>
                <a:lnTo>
                  <a:pt x="829" y="1907"/>
                </a:lnTo>
                <a:lnTo>
                  <a:pt x="831" y="1908"/>
                </a:lnTo>
                <a:lnTo>
                  <a:pt x="832" y="1910"/>
                </a:lnTo>
                <a:lnTo>
                  <a:pt x="833" y="1911"/>
                </a:lnTo>
                <a:lnTo>
                  <a:pt x="833" y="1913"/>
                </a:lnTo>
                <a:lnTo>
                  <a:pt x="833" y="1915"/>
                </a:lnTo>
                <a:lnTo>
                  <a:pt x="832" y="1917"/>
                </a:lnTo>
                <a:lnTo>
                  <a:pt x="831" y="1919"/>
                </a:lnTo>
                <a:lnTo>
                  <a:pt x="829" y="1920"/>
                </a:lnTo>
                <a:lnTo>
                  <a:pt x="827" y="1920"/>
                </a:lnTo>
                <a:lnTo>
                  <a:pt x="825" y="1921"/>
                </a:lnTo>
                <a:lnTo>
                  <a:pt x="823" y="1920"/>
                </a:lnTo>
                <a:lnTo>
                  <a:pt x="822" y="1920"/>
                </a:lnTo>
                <a:lnTo>
                  <a:pt x="820" y="1919"/>
                </a:lnTo>
                <a:lnTo>
                  <a:pt x="819" y="1917"/>
                </a:lnTo>
                <a:lnTo>
                  <a:pt x="818" y="1915"/>
                </a:lnTo>
                <a:lnTo>
                  <a:pt x="818" y="1913"/>
                </a:lnTo>
                <a:lnTo>
                  <a:pt x="818" y="1911"/>
                </a:lnTo>
                <a:lnTo>
                  <a:pt x="819" y="1910"/>
                </a:lnTo>
                <a:lnTo>
                  <a:pt x="820" y="1908"/>
                </a:lnTo>
                <a:lnTo>
                  <a:pt x="822" y="1907"/>
                </a:lnTo>
                <a:lnTo>
                  <a:pt x="823" y="1906"/>
                </a:lnTo>
                <a:lnTo>
                  <a:pt x="825" y="1906"/>
                </a:lnTo>
                <a:close/>
                <a:moveTo>
                  <a:pt x="1099" y="1905"/>
                </a:moveTo>
                <a:lnTo>
                  <a:pt x="1101" y="1906"/>
                </a:lnTo>
                <a:lnTo>
                  <a:pt x="1102" y="1906"/>
                </a:lnTo>
                <a:lnTo>
                  <a:pt x="1104" y="1907"/>
                </a:lnTo>
                <a:lnTo>
                  <a:pt x="1105" y="1908"/>
                </a:lnTo>
                <a:lnTo>
                  <a:pt x="1106" y="1910"/>
                </a:lnTo>
                <a:lnTo>
                  <a:pt x="1106" y="1911"/>
                </a:lnTo>
                <a:lnTo>
                  <a:pt x="1106" y="1913"/>
                </a:lnTo>
                <a:lnTo>
                  <a:pt x="1106" y="1915"/>
                </a:lnTo>
                <a:lnTo>
                  <a:pt x="1106" y="1916"/>
                </a:lnTo>
                <a:lnTo>
                  <a:pt x="1105" y="1918"/>
                </a:lnTo>
                <a:lnTo>
                  <a:pt x="1104" y="1919"/>
                </a:lnTo>
                <a:lnTo>
                  <a:pt x="1102" y="1920"/>
                </a:lnTo>
                <a:lnTo>
                  <a:pt x="1101" y="1921"/>
                </a:lnTo>
                <a:lnTo>
                  <a:pt x="1099" y="1921"/>
                </a:lnTo>
                <a:lnTo>
                  <a:pt x="1097" y="1921"/>
                </a:lnTo>
                <a:lnTo>
                  <a:pt x="1095" y="1920"/>
                </a:lnTo>
                <a:lnTo>
                  <a:pt x="1094" y="1919"/>
                </a:lnTo>
                <a:lnTo>
                  <a:pt x="1093" y="1918"/>
                </a:lnTo>
                <a:lnTo>
                  <a:pt x="1092" y="1916"/>
                </a:lnTo>
                <a:lnTo>
                  <a:pt x="1091" y="1915"/>
                </a:lnTo>
                <a:lnTo>
                  <a:pt x="1091" y="1913"/>
                </a:lnTo>
                <a:lnTo>
                  <a:pt x="1091" y="1911"/>
                </a:lnTo>
                <a:lnTo>
                  <a:pt x="1092" y="1910"/>
                </a:lnTo>
                <a:lnTo>
                  <a:pt x="1093" y="1908"/>
                </a:lnTo>
                <a:lnTo>
                  <a:pt x="1094" y="1907"/>
                </a:lnTo>
                <a:lnTo>
                  <a:pt x="1095" y="1906"/>
                </a:lnTo>
                <a:lnTo>
                  <a:pt x="1097" y="1906"/>
                </a:lnTo>
                <a:lnTo>
                  <a:pt x="1099" y="1905"/>
                </a:lnTo>
                <a:close/>
                <a:moveTo>
                  <a:pt x="758" y="1894"/>
                </a:moveTo>
                <a:lnTo>
                  <a:pt x="760" y="1894"/>
                </a:lnTo>
                <a:lnTo>
                  <a:pt x="762" y="1895"/>
                </a:lnTo>
                <a:lnTo>
                  <a:pt x="763" y="1896"/>
                </a:lnTo>
                <a:lnTo>
                  <a:pt x="764" y="1898"/>
                </a:lnTo>
                <a:lnTo>
                  <a:pt x="765" y="1899"/>
                </a:lnTo>
                <a:lnTo>
                  <a:pt x="765" y="1901"/>
                </a:lnTo>
                <a:lnTo>
                  <a:pt x="765" y="1903"/>
                </a:lnTo>
                <a:lnTo>
                  <a:pt x="764" y="1905"/>
                </a:lnTo>
                <a:lnTo>
                  <a:pt x="763" y="1906"/>
                </a:lnTo>
                <a:lnTo>
                  <a:pt x="762" y="1907"/>
                </a:lnTo>
                <a:lnTo>
                  <a:pt x="760" y="1908"/>
                </a:lnTo>
                <a:lnTo>
                  <a:pt x="758" y="1908"/>
                </a:lnTo>
                <a:lnTo>
                  <a:pt x="756" y="1908"/>
                </a:lnTo>
                <a:lnTo>
                  <a:pt x="755" y="1907"/>
                </a:lnTo>
                <a:lnTo>
                  <a:pt x="753" y="1906"/>
                </a:lnTo>
                <a:lnTo>
                  <a:pt x="752" y="1905"/>
                </a:lnTo>
                <a:lnTo>
                  <a:pt x="751" y="1903"/>
                </a:lnTo>
                <a:lnTo>
                  <a:pt x="751" y="1901"/>
                </a:lnTo>
                <a:lnTo>
                  <a:pt x="751" y="1899"/>
                </a:lnTo>
                <a:lnTo>
                  <a:pt x="752" y="1898"/>
                </a:lnTo>
                <a:lnTo>
                  <a:pt x="753" y="1896"/>
                </a:lnTo>
                <a:lnTo>
                  <a:pt x="755" y="1895"/>
                </a:lnTo>
                <a:lnTo>
                  <a:pt x="756" y="1894"/>
                </a:lnTo>
                <a:lnTo>
                  <a:pt x="758" y="1894"/>
                </a:lnTo>
                <a:close/>
                <a:moveTo>
                  <a:pt x="1166" y="1893"/>
                </a:moveTo>
                <a:lnTo>
                  <a:pt x="1168" y="1893"/>
                </a:lnTo>
                <a:lnTo>
                  <a:pt x="1169" y="1894"/>
                </a:lnTo>
                <a:lnTo>
                  <a:pt x="1171" y="1895"/>
                </a:lnTo>
                <a:lnTo>
                  <a:pt x="1172" y="1896"/>
                </a:lnTo>
                <a:lnTo>
                  <a:pt x="1173" y="1898"/>
                </a:lnTo>
                <a:lnTo>
                  <a:pt x="1173" y="1899"/>
                </a:lnTo>
                <a:lnTo>
                  <a:pt x="1174" y="1901"/>
                </a:lnTo>
                <a:lnTo>
                  <a:pt x="1173" y="1903"/>
                </a:lnTo>
                <a:lnTo>
                  <a:pt x="1173" y="1904"/>
                </a:lnTo>
                <a:lnTo>
                  <a:pt x="1172" y="1906"/>
                </a:lnTo>
                <a:lnTo>
                  <a:pt x="1171" y="1907"/>
                </a:lnTo>
                <a:lnTo>
                  <a:pt x="1169" y="1908"/>
                </a:lnTo>
                <a:lnTo>
                  <a:pt x="1168" y="1908"/>
                </a:lnTo>
                <a:lnTo>
                  <a:pt x="1166" y="1909"/>
                </a:lnTo>
                <a:lnTo>
                  <a:pt x="1164" y="1908"/>
                </a:lnTo>
                <a:lnTo>
                  <a:pt x="1163" y="1908"/>
                </a:lnTo>
                <a:lnTo>
                  <a:pt x="1161" y="1907"/>
                </a:lnTo>
                <a:lnTo>
                  <a:pt x="1160" y="1906"/>
                </a:lnTo>
                <a:lnTo>
                  <a:pt x="1159" y="1904"/>
                </a:lnTo>
                <a:lnTo>
                  <a:pt x="1158" y="1903"/>
                </a:lnTo>
                <a:lnTo>
                  <a:pt x="1158" y="1901"/>
                </a:lnTo>
                <a:lnTo>
                  <a:pt x="1158" y="1899"/>
                </a:lnTo>
                <a:lnTo>
                  <a:pt x="1159" y="1898"/>
                </a:lnTo>
                <a:lnTo>
                  <a:pt x="1160" y="1896"/>
                </a:lnTo>
                <a:lnTo>
                  <a:pt x="1161" y="1895"/>
                </a:lnTo>
                <a:lnTo>
                  <a:pt x="1163" y="1894"/>
                </a:lnTo>
                <a:lnTo>
                  <a:pt x="1164" y="1893"/>
                </a:lnTo>
                <a:lnTo>
                  <a:pt x="1166" y="1893"/>
                </a:lnTo>
                <a:close/>
                <a:moveTo>
                  <a:pt x="692" y="1878"/>
                </a:moveTo>
                <a:lnTo>
                  <a:pt x="694" y="1878"/>
                </a:lnTo>
                <a:lnTo>
                  <a:pt x="695" y="1879"/>
                </a:lnTo>
                <a:lnTo>
                  <a:pt x="697" y="1880"/>
                </a:lnTo>
                <a:lnTo>
                  <a:pt x="698" y="1882"/>
                </a:lnTo>
                <a:lnTo>
                  <a:pt x="698" y="1884"/>
                </a:lnTo>
                <a:lnTo>
                  <a:pt x="698" y="1886"/>
                </a:lnTo>
                <a:lnTo>
                  <a:pt x="697" y="1888"/>
                </a:lnTo>
                <a:lnTo>
                  <a:pt x="695" y="1889"/>
                </a:lnTo>
                <a:lnTo>
                  <a:pt x="694" y="1890"/>
                </a:lnTo>
                <a:lnTo>
                  <a:pt x="692" y="1890"/>
                </a:lnTo>
                <a:lnTo>
                  <a:pt x="690" y="1890"/>
                </a:lnTo>
                <a:lnTo>
                  <a:pt x="688" y="1889"/>
                </a:lnTo>
                <a:lnTo>
                  <a:pt x="687" y="1888"/>
                </a:lnTo>
                <a:lnTo>
                  <a:pt x="686" y="1886"/>
                </a:lnTo>
                <a:lnTo>
                  <a:pt x="685" y="1884"/>
                </a:lnTo>
                <a:lnTo>
                  <a:pt x="686" y="1882"/>
                </a:lnTo>
                <a:lnTo>
                  <a:pt x="687" y="1880"/>
                </a:lnTo>
                <a:lnTo>
                  <a:pt x="688" y="1879"/>
                </a:lnTo>
                <a:lnTo>
                  <a:pt x="690" y="1878"/>
                </a:lnTo>
                <a:lnTo>
                  <a:pt x="692" y="1878"/>
                </a:lnTo>
                <a:close/>
                <a:moveTo>
                  <a:pt x="1232" y="1876"/>
                </a:moveTo>
                <a:lnTo>
                  <a:pt x="1234" y="1877"/>
                </a:lnTo>
                <a:lnTo>
                  <a:pt x="1236" y="1877"/>
                </a:lnTo>
                <a:lnTo>
                  <a:pt x="1238" y="1879"/>
                </a:lnTo>
                <a:lnTo>
                  <a:pt x="1239" y="1880"/>
                </a:lnTo>
                <a:lnTo>
                  <a:pt x="1240" y="1882"/>
                </a:lnTo>
                <a:lnTo>
                  <a:pt x="1240" y="1884"/>
                </a:lnTo>
                <a:lnTo>
                  <a:pt x="1240" y="1886"/>
                </a:lnTo>
                <a:lnTo>
                  <a:pt x="1239" y="1888"/>
                </a:lnTo>
                <a:lnTo>
                  <a:pt x="1238" y="1889"/>
                </a:lnTo>
                <a:lnTo>
                  <a:pt x="1236" y="1890"/>
                </a:lnTo>
                <a:lnTo>
                  <a:pt x="1234" y="1891"/>
                </a:lnTo>
                <a:lnTo>
                  <a:pt x="1232" y="1891"/>
                </a:lnTo>
                <a:lnTo>
                  <a:pt x="1230" y="1891"/>
                </a:lnTo>
                <a:lnTo>
                  <a:pt x="1229" y="1890"/>
                </a:lnTo>
                <a:lnTo>
                  <a:pt x="1227" y="1889"/>
                </a:lnTo>
                <a:lnTo>
                  <a:pt x="1226" y="1888"/>
                </a:lnTo>
                <a:lnTo>
                  <a:pt x="1225" y="1886"/>
                </a:lnTo>
                <a:lnTo>
                  <a:pt x="1225" y="1884"/>
                </a:lnTo>
                <a:lnTo>
                  <a:pt x="1225" y="1882"/>
                </a:lnTo>
                <a:lnTo>
                  <a:pt x="1226" y="1880"/>
                </a:lnTo>
                <a:lnTo>
                  <a:pt x="1227" y="1879"/>
                </a:lnTo>
                <a:lnTo>
                  <a:pt x="1229" y="1877"/>
                </a:lnTo>
                <a:lnTo>
                  <a:pt x="1230" y="1877"/>
                </a:lnTo>
                <a:lnTo>
                  <a:pt x="1232" y="1876"/>
                </a:lnTo>
                <a:close/>
                <a:moveTo>
                  <a:pt x="962" y="1865"/>
                </a:moveTo>
                <a:cubicBezTo>
                  <a:pt x="970" y="1864"/>
                  <a:pt x="977" y="1874"/>
                  <a:pt x="976" y="1879"/>
                </a:cubicBezTo>
                <a:cubicBezTo>
                  <a:pt x="977" y="1888"/>
                  <a:pt x="967" y="1895"/>
                  <a:pt x="962" y="1894"/>
                </a:cubicBezTo>
                <a:cubicBezTo>
                  <a:pt x="953" y="1895"/>
                  <a:pt x="947" y="1884"/>
                  <a:pt x="947" y="1879"/>
                </a:cubicBezTo>
                <a:cubicBezTo>
                  <a:pt x="947" y="1871"/>
                  <a:pt x="957" y="1864"/>
                  <a:pt x="962" y="1865"/>
                </a:cubicBezTo>
                <a:close/>
                <a:moveTo>
                  <a:pt x="893" y="1863"/>
                </a:moveTo>
                <a:cubicBezTo>
                  <a:pt x="902" y="1862"/>
                  <a:pt x="908" y="1872"/>
                  <a:pt x="907" y="1877"/>
                </a:cubicBezTo>
                <a:cubicBezTo>
                  <a:pt x="908" y="1885"/>
                  <a:pt x="898" y="1892"/>
                  <a:pt x="893" y="1891"/>
                </a:cubicBezTo>
                <a:cubicBezTo>
                  <a:pt x="885" y="1892"/>
                  <a:pt x="879" y="1882"/>
                  <a:pt x="879" y="1877"/>
                </a:cubicBezTo>
                <a:cubicBezTo>
                  <a:pt x="879" y="1869"/>
                  <a:pt x="889" y="1862"/>
                  <a:pt x="893" y="1863"/>
                </a:cubicBezTo>
                <a:close/>
                <a:moveTo>
                  <a:pt x="1031" y="1862"/>
                </a:moveTo>
                <a:cubicBezTo>
                  <a:pt x="1039" y="1862"/>
                  <a:pt x="1046" y="1872"/>
                  <a:pt x="1045" y="1877"/>
                </a:cubicBezTo>
                <a:cubicBezTo>
                  <a:pt x="1046" y="1885"/>
                  <a:pt x="1036" y="1892"/>
                  <a:pt x="1031" y="1891"/>
                </a:cubicBezTo>
                <a:cubicBezTo>
                  <a:pt x="1022" y="1892"/>
                  <a:pt x="1016" y="1882"/>
                  <a:pt x="1016" y="1877"/>
                </a:cubicBezTo>
                <a:cubicBezTo>
                  <a:pt x="1016" y="1868"/>
                  <a:pt x="1026" y="1862"/>
                  <a:pt x="1031" y="1862"/>
                </a:cubicBezTo>
                <a:close/>
                <a:moveTo>
                  <a:pt x="627" y="1857"/>
                </a:moveTo>
                <a:lnTo>
                  <a:pt x="629" y="1857"/>
                </a:lnTo>
                <a:lnTo>
                  <a:pt x="631" y="1859"/>
                </a:lnTo>
                <a:lnTo>
                  <a:pt x="632" y="1860"/>
                </a:lnTo>
                <a:lnTo>
                  <a:pt x="632" y="1862"/>
                </a:lnTo>
                <a:lnTo>
                  <a:pt x="632" y="1865"/>
                </a:lnTo>
                <a:lnTo>
                  <a:pt x="631" y="1866"/>
                </a:lnTo>
                <a:lnTo>
                  <a:pt x="629" y="1868"/>
                </a:lnTo>
                <a:lnTo>
                  <a:pt x="627" y="1868"/>
                </a:lnTo>
                <a:lnTo>
                  <a:pt x="625" y="1868"/>
                </a:lnTo>
                <a:lnTo>
                  <a:pt x="623" y="1866"/>
                </a:lnTo>
                <a:lnTo>
                  <a:pt x="622" y="1865"/>
                </a:lnTo>
                <a:lnTo>
                  <a:pt x="622" y="1862"/>
                </a:lnTo>
                <a:lnTo>
                  <a:pt x="622" y="1860"/>
                </a:lnTo>
                <a:lnTo>
                  <a:pt x="623" y="1859"/>
                </a:lnTo>
                <a:lnTo>
                  <a:pt x="625" y="1857"/>
                </a:lnTo>
                <a:lnTo>
                  <a:pt x="627" y="1857"/>
                </a:lnTo>
                <a:close/>
                <a:moveTo>
                  <a:pt x="825" y="1856"/>
                </a:moveTo>
                <a:cubicBezTo>
                  <a:pt x="833" y="1855"/>
                  <a:pt x="839" y="1865"/>
                  <a:pt x="838" y="1869"/>
                </a:cubicBezTo>
                <a:cubicBezTo>
                  <a:pt x="839" y="1877"/>
                  <a:pt x="830" y="1883"/>
                  <a:pt x="825" y="1883"/>
                </a:cubicBezTo>
                <a:cubicBezTo>
                  <a:pt x="817" y="1883"/>
                  <a:pt x="811" y="1874"/>
                  <a:pt x="812" y="1869"/>
                </a:cubicBezTo>
                <a:cubicBezTo>
                  <a:pt x="811" y="1861"/>
                  <a:pt x="821" y="1855"/>
                  <a:pt x="825" y="1856"/>
                </a:cubicBezTo>
                <a:close/>
                <a:moveTo>
                  <a:pt x="1297" y="1855"/>
                </a:moveTo>
                <a:lnTo>
                  <a:pt x="1299" y="1855"/>
                </a:lnTo>
                <a:lnTo>
                  <a:pt x="1301" y="1856"/>
                </a:lnTo>
                <a:lnTo>
                  <a:pt x="1302" y="1857"/>
                </a:lnTo>
                <a:lnTo>
                  <a:pt x="1303" y="1859"/>
                </a:lnTo>
                <a:lnTo>
                  <a:pt x="1304" y="1860"/>
                </a:lnTo>
                <a:lnTo>
                  <a:pt x="1304" y="1862"/>
                </a:lnTo>
                <a:lnTo>
                  <a:pt x="1304" y="1864"/>
                </a:lnTo>
                <a:lnTo>
                  <a:pt x="1303" y="1866"/>
                </a:lnTo>
                <a:lnTo>
                  <a:pt x="1302" y="1867"/>
                </a:lnTo>
                <a:lnTo>
                  <a:pt x="1301" y="1868"/>
                </a:lnTo>
                <a:lnTo>
                  <a:pt x="1299" y="1869"/>
                </a:lnTo>
                <a:lnTo>
                  <a:pt x="1297" y="1869"/>
                </a:lnTo>
                <a:lnTo>
                  <a:pt x="1295" y="1869"/>
                </a:lnTo>
                <a:lnTo>
                  <a:pt x="1293" y="1868"/>
                </a:lnTo>
                <a:lnTo>
                  <a:pt x="1292" y="1867"/>
                </a:lnTo>
                <a:lnTo>
                  <a:pt x="1291" y="1866"/>
                </a:lnTo>
                <a:lnTo>
                  <a:pt x="1290" y="1864"/>
                </a:lnTo>
                <a:lnTo>
                  <a:pt x="1290" y="1862"/>
                </a:lnTo>
                <a:lnTo>
                  <a:pt x="1290" y="1860"/>
                </a:lnTo>
                <a:lnTo>
                  <a:pt x="1291" y="1859"/>
                </a:lnTo>
                <a:lnTo>
                  <a:pt x="1292" y="1857"/>
                </a:lnTo>
                <a:lnTo>
                  <a:pt x="1293" y="1856"/>
                </a:lnTo>
                <a:lnTo>
                  <a:pt x="1295" y="1855"/>
                </a:lnTo>
                <a:lnTo>
                  <a:pt x="1297" y="1855"/>
                </a:lnTo>
                <a:close/>
                <a:moveTo>
                  <a:pt x="1098" y="1855"/>
                </a:moveTo>
                <a:cubicBezTo>
                  <a:pt x="1107" y="1854"/>
                  <a:pt x="1113" y="1864"/>
                  <a:pt x="1113" y="1869"/>
                </a:cubicBezTo>
                <a:cubicBezTo>
                  <a:pt x="1113" y="1878"/>
                  <a:pt x="1103" y="1884"/>
                  <a:pt x="1098" y="1883"/>
                </a:cubicBezTo>
                <a:cubicBezTo>
                  <a:pt x="1090" y="1884"/>
                  <a:pt x="1083" y="1874"/>
                  <a:pt x="1084" y="1869"/>
                </a:cubicBezTo>
                <a:cubicBezTo>
                  <a:pt x="1083" y="1861"/>
                  <a:pt x="1094" y="1854"/>
                  <a:pt x="1098" y="1855"/>
                </a:cubicBezTo>
                <a:close/>
                <a:moveTo>
                  <a:pt x="758" y="1844"/>
                </a:moveTo>
                <a:lnTo>
                  <a:pt x="760" y="1844"/>
                </a:lnTo>
                <a:lnTo>
                  <a:pt x="762" y="1845"/>
                </a:lnTo>
                <a:lnTo>
                  <a:pt x="763" y="1845"/>
                </a:lnTo>
                <a:lnTo>
                  <a:pt x="765" y="1846"/>
                </a:lnTo>
                <a:lnTo>
                  <a:pt x="766" y="1847"/>
                </a:lnTo>
                <a:lnTo>
                  <a:pt x="767" y="1848"/>
                </a:lnTo>
                <a:lnTo>
                  <a:pt x="768" y="1850"/>
                </a:lnTo>
                <a:lnTo>
                  <a:pt x="769" y="1851"/>
                </a:lnTo>
                <a:lnTo>
                  <a:pt x="770" y="1853"/>
                </a:lnTo>
                <a:lnTo>
                  <a:pt x="770" y="1855"/>
                </a:lnTo>
                <a:lnTo>
                  <a:pt x="770" y="1856"/>
                </a:lnTo>
                <a:lnTo>
                  <a:pt x="770" y="1858"/>
                </a:lnTo>
                <a:lnTo>
                  <a:pt x="770" y="1860"/>
                </a:lnTo>
                <a:lnTo>
                  <a:pt x="769" y="1862"/>
                </a:lnTo>
                <a:lnTo>
                  <a:pt x="768" y="1863"/>
                </a:lnTo>
                <a:lnTo>
                  <a:pt x="767" y="1864"/>
                </a:lnTo>
                <a:lnTo>
                  <a:pt x="766" y="1866"/>
                </a:lnTo>
                <a:lnTo>
                  <a:pt x="765" y="1867"/>
                </a:lnTo>
                <a:lnTo>
                  <a:pt x="763" y="1867"/>
                </a:lnTo>
                <a:lnTo>
                  <a:pt x="762" y="1868"/>
                </a:lnTo>
                <a:lnTo>
                  <a:pt x="760" y="1868"/>
                </a:lnTo>
                <a:lnTo>
                  <a:pt x="758" y="1869"/>
                </a:lnTo>
                <a:lnTo>
                  <a:pt x="756" y="1868"/>
                </a:lnTo>
                <a:lnTo>
                  <a:pt x="755" y="1868"/>
                </a:lnTo>
                <a:lnTo>
                  <a:pt x="753" y="1867"/>
                </a:lnTo>
                <a:lnTo>
                  <a:pt x="752" y="1867"/>
                </a:lnTo>
                <a:lnTo>
                  <a:pt x="750" y="1866"/>
                </a:lnTo>
                <a:lnTo>
                  <a:pt x="749" y="1864"/>
                </a:lnTo>
                <a:lnTo>
                  <a:pt x="748" y="1863"/>
                </a:lnTo>
                <a:lnTo>
                  <a:pt x="747" y="1862"/>
                </a:lnTo>
                <a:lnTo>
                  <a:pt x="747" y="1860"/>
                </a:lnTo>
                <a:lnTo>
                  <a:pt x="746" y="1858"/>
                </a:lnTo>
                <a:lnTo>
                  <a:pt x="746" y="1856"/>
                </a:lnTo>
                <a:lnTo>
                  <a:pt x="746" y="1855"/>
                </a:lnTo>
                <a:lnTo>
                  <a:pt x="747" y="1853"/>
                </a:lnTo>
                <a:lnTo>
                  <a:pt x="747" y="1851"/>
                </a:lnTo>
                <a:lnTo>
                  <a:pt x="748" y="1850"/>
                </a:lnTo>
                <a:lnTo>
                  <a:pt x="749" y="1848"/>
                </a:lnTo>
                <a:lnTo>
                  <a:pt x="750" y="1847"/>
                </a:lnTo>
                <a:lnTo>
                  <a:pt x="752" y="1846"/>
                </a:lnTo>
                <a:lnTo>
                  <a:pt x="753" y="1845"/>
                </a:lnTo>
                <a:lnTo>
                  <a:pt x="755" y="1845"/>
                </a:lnTo>
                <a:lnTo>
                  <a:pt x="756" y="1844"/>
                </a:lnTo>
                <a:lnTo>
                  <a:pt x="758" y="1844"/>
                </a:lnTo>
                <a:close/>
                <a:moveTo>
                  <a:pt x="1166" y="1842"/>
                </a:moveTo>
                <a:cubicBezTo>
                  <a:pt x="1174" y="1842"/>
                  <a:pt x="1181" y="1852"/>
                  <a:pt x="1180" y="1856"/>
                </a:cubicBezTo>
                <a:cubicBezTo>
                  <a:pt x="1181" y="1865"/>
                  <a:pt x="1170" y="1871"/>
                  <a:pt x="1166" y="1870"/>
                </a:cubicBezTo>
                <a:cubicBezTo>
                  <a:pt x="1157" y="1871"/>
                  <a:pt x="1151" y="1861"/>
                  <a:pt x="1152" y="1856"/>
                </a:cubicBezTo>
                <a:cubicBezTo>
                  <a:pt x="1151" y="1848"/>
                  <a:pt x="1161" y="1842"/>
                  <a:pt x="1166" y="1842"/>
                </a:cubicBezTo>
                <a:close/>
                <a:moveTo>
                  <a:pt x="564" y="1832"/>
                </a:moveTo>
                <a:lnTo>
                  <a:pt x="566" y="1832"/>
                </a:lnTo>
                <a:lnTo>
                  <a:pt x="568" y="1834"/>
                </a:lnTo>
                <a:lnTo>
                  <a:pt x="568" y="1836"/>
                </a:lnTo>
                <a:lnTo>
                  <a:pt x="568" y="1839"/>
                </a:lnTo>
                <a:lnTo>
                  <a:pt x="566" y="1840"/>
                </a:lnTo>
                <a:lnTo>
                  <a:pt x="564" y="1841"/>
                </a:lnTo>
                <a:lnTo>
                  <a:pt x="561" y="1840"/>
                </a:lnTo>
                <a:lnTo>
                  <a:pt x="560" y="1839"/>
                </a:lnTo>
                <a:lnTo>
                  <a:pt x="559" y="1836"/>
                </a:lnTo>
                <a:lnTo>
                  <a:pt x="560" y="1834"/>
                </a:lnTo>
                <a:lnTo>
                  <a:pt x="561" y="1832"/>
                </a:lnTo>
                <a:lnTo>
                  <a:pt x="564" y="1832"/>
                </a:lnTo>
                <a:close/>
                <a:moveTo>
                  <a:pt x="1360" y="1829"/>
                </a:moveTo>
                <a:lnTo>
                  <a:pt x="1362" y="1829"/>
                </a:lnTo>
                <a:lnTo>
                  <a:pt x="1364" y="1830"/>
                </a:lnTo>
                <a:lnTo>
                  <a:pt x="1365" y="1831"/>
                </a:lnTo>
                <a:lnTo>
                  <a:pt x="1366" y="1832"/>
                </a:lnTo>
                <a:lnTo>
                  <a:pt x="1367" y="1834"/>
                </a:lnTo>
                <a:lnTo>
                  <a:pt x="1367" y="1836"/>
                </a:lnTo>
                <a:lnTo>
                  <a:pt x="1367" y="1838"/>
                </a:lnTo>
                <a:lnTo>
                  <a:pt x="1366" y="1840"/>
                </a:lnTo>
                <a:lnTo>
                  <a:pt x="1365" y="1841"/>
                </a:lnTo>
                <a:lnTo>
                  <a:pt x="1364" y="1842"/>
                </a:lnTo>
                <a:lnTo>
                  <a:pt x="1362" y="1843"/>
                </a:lnTo>
                <a:lnTo>
                  <a:pt x="1360" y="1843"/>
                </a:lnTo>
                <a:lnTo>
                  <a:pt x="1358" y="1843"/>
                </a:lnTo>
                <a:lnTo>
                  <a:pt x="1357" y="1842"/>
                </a:lnTo>
                <a:lnTo>
                  <a:pt x="1355" y="1841"/>
                </a:lnTo>
                <a:lnTo>
                  <a:pt x="1354" y="1840"/>
                </a:lnTo>
                <a:lnTo>
                  <a:pt x="1353" y="1838"/>
                </a:lnTo>
                <a:lnTo>
                  <a:pt x="1353" y="1836"/>
                </a:lnTo>
                <a:lnTo>
                  <a:pt x="1353" y="1834"/>
                </a:lnTo>
                <a:lnTo>
                  <a:pt x="1354" y="1832"/>
                </a:lnTo>
                <a:lnTo>
                  <a:pt x="1355" y="1831"/>
                </a:lnTo>
                <a:lnTo>
                  <a:pt x="1357" y="1830"/>
                </a:lnTo>
                <a:lnTo>
                  <a:pt x="1358" y="1829"/>
                </a:lnTo>
                <a:lnTo>
                  <a:pt x="1360" y="1829"/>
                </a:lnTo>
                <a:close/>
                <a:moveTo>
                  <a:pt x="692" y="1827"/>
                </a:moveTo>
                <a:lnTo>
                  <a:pt x="694" y="1827"/>
                </a:lnTo>
                <a:lnTo>
                  <a:pt x="695" y="1828"/>
                </a:lnTo>
                <a:lnTo>
                  <a:pt x="697" y="1828"/>
                </a:lnTo>
                <a:cubicBezTo>
                  <a:pt x="700" y="1829"/>
                  <a:pt x="703" y="1833"/>
                  <a:pt x="703" y="1834"/>
                </a:cubicBezTo>
                <a:lnTo>
                  <a:pt x="703" y="1835"/>
                </a:lnTo>
                <a:lnTo>
                  <a:pt x="703" y="1837"/>
                </a:lnTo>
                <a:lnTo>
                  <a:pt x="704" y="1839"/>
                </a:lnTo>
                <a:lnTo>
                  <a:pt x="703" y="1840"/>
                </a:lnTo>
                <a:lnTo>
                  <a:pt x="703" y="1842"/>
                </a:lnTo>
                <a:lnTo>
                  <a:pt x="703" y="1844"/>
                </a:lnTo>
                <a:lnTo>
                  <a:pt x="702" y="1845"/>
                </a:lnTo>
                <a:lnTo>
                  <a:pt x="701" y="1846"/>
                </a:lnTo>
                <a:lnTo>
                  <a:pt x="700" y="1847"/>
                </a:lnTo>
                <a:lnTo>
                  <a:pt x="698" y="1848"/>
                </a:lnTo>
                <a:lnTo>
                  <a:pt x="697" y="1849"/>
                </a:lnTo>
                <a:lnTo>
                  <a:pt x="695" y="1850"/>
                </a:lnTo>
                <a:lnTo>
                  <a:pt x="694" y="1850"/>
                </a:lnTo>
                <a:lnTo>
                  <a:pt x="692" y="1850"/>
                </a:lnTo>
                <a:lnTo>
                  <a:pt x="691" y="1850"/>
                </a:lnTo>
                <a:lnTo>
                  <a:pt x="689" y="1850"/>
                </a:lnTo>
                <a:lnTo>
                  <a:pt x="687" y="1849"/>
                </a:lnTo>
                <a:cubicBezTo>
                  <a:pt x="685" y="1848"/>
                  <a:pt x="682" y="1844"/>
                  <a:pt x="682" y="1844"/>
                </a:cubicBezTo>
                <a:lnTo>
                  <a:pt x="681" y="1842"/>
                </a:lnTo>
                <a:lnTo>
                  <a:pt x="681" y="1840"/>
                </a:lnTo>
                <a:lnTo>
                  <a:pt x="681" y="1839"/>
                </a:lnTo>
                <a:lnTo>
                  <a:pt x="681" y="1837"/>
                </a:lnTo>
                <a:lnTo>
                  <a:pt x="681" y="1835"/>
                </a:lnTo>
                <a:lnTo>
                  <a:pt x="682" y="1834"/>
                </a:lnTo>
                <a:lnTo>
                  <a:pt x="683" y="1832"/>
                </a:lnTo>
                <a:lnTo>
                  <a:pt x="684" y="1831"/>
                </a:lnTo>
                <a:lnTo>
                  <a:pt x="685" y="1830"/>
                </a:lnTo>
                <a:lnTo>
                  <a:pt x="686" y="1829"/>
                </a:lnTo>
                <a:lnTo>
                  <a:pt x="687" y="1828"/>
                </a:lnTo>
                <a:lnTo>
                  <a:pt x="689" y="1828"/>
                </a:lnTo>
                <a:lnTo>
                  <a:pt x="691" y="1827"/>
                </a:lnTo>
                <a:lnTo>
                  <a:pt x="692" y="1827"/>
                </a:lnTo>
                <a:close/>
                <a:moveTo>
                  <a:pt x="1232" y="1825"/>
                </a:moveTo>
                <a:cubicBezTo>
                  <a:pt x="1240" y="1824"/>
                  <a:pt x="1246" y="1834"/>
                  <a:pt x="1245" y="1839"/>
                </a:cubicBezTo>
                <a:cubicBezTo>
                  <a:pt x="1246" y="1847"/>
                  <a:pt x="1236" y="1854"/>
                  <a:pt x="1232" y="1853"/>
                </a:cubicBezTo>
                <a:cubicBezTo>
                  <a:pt x="1223" y="1854"/>
                  <a:pt x="1217" y="1843"/>
                  <a:pt x="1218" y="1839"/>
                </a:cubicBezTo>
                <a:cubicBezTo>
                  <a:pt x="1217" y="1830"/>
                  <a:pt x="1227" y="1824"/>
                  <a:pt x="1232" y="1825"/>
                </a:cubicBezTo>
                <a:close/>
                <a:moveTo>
                  <a:pt x="827" y="1825"/>
                </a:moveTo>
                <a:lnTo>
                  <a:pt x="826" y="1826"/>
                </a:lnTo>
                <a:lnTo>
                  <a:pt x="824" y="1825"/>
                </a:lnTo>
                <a:lnTo>
                  <a:pt x="824" y="1824"/>
                </a:lnTo>
                <a:lnTo>
                  <a:pt x="827" y="1825"/>
                </a:lnTo>
                <a:close/>
                <a:moveTo>
                  <a:pt x="762" y="1810"/>
                </a:moveTo>
                <a:lnTo>
                  <a:pt x="761" y="1812"/>
                </a:lnTo>
                <a:lnTo>
                  <a:pt x="759" y="1813"/>
                </a:lnTo>
                <a:lnTo>
                  <a:pt x="757" y="1812"/>
                </a:lnTo>
                <a:lnTo>
                  <a:pt x="756" y="1810"/>
                </a:lnTo>
                <a:lnTo>
                  <a:pt x="756" y="1809"/>
                </a:lnTo>
                <a:lnTo>
                  <a:pt x="762" y="1810"/>
                </a:lnTo>
                <a:close/>
                <a:moveTo>
                  <a:pt x="628" y="1805"/>
                </a:moveTo>
                <a:lnTo>
                  <a:pt x="629" y="1805"/>
                </a:lnTo>
                <a:lnTo>
                  <a:pt x="631" y="1806"/>
                </a:lnTo>
                <a:lnTo>
                  <a:pt x="633" y="1806"/>
                </a:lnTo>
                <a:lnTo>
                  <a:pt x="634" y="1807"/>
                </a:lnTo>
                <a:lnTo>
                  <a:pt x="636" y="1808"/>
                </a:lnTo>
                <a:lnTo>
                  <a:pt x="637" y="1810"/>
                </a:lnTo>
                <a:lnTo>
                  <a:pt x="638" y="1811"/>
                </a:lnTo>
                <a:lnTo>
                  <a:pt x="638" y="1813"/>
                </a:lnTo>
                <a:lnTo>
                  <a:pt x="639" y="1814"/>
                </a:lnTo>
                <a:lnTo>
                  <a:pt x="639" y="1816"/>
                </a:lnTo>
                <a:lnTo>
                  <a:pt x="639" y="1818"/>
                </a:lnTo>
                <a:lnTo>
                  <a:pt x="638" y="1820"/>
                </a:lnTo>
                <a:lnTo>
                  <a:pt x="638" y="1821"/>
                </a:lnTo>
                <a:lnTo>
                  <a:pt x="637" y="1823"/>
                </a:lnTo>
                <a:lnTo>
                  <a:pt x="636" y="1824"/>
                </a:lnTo>
                <a:lnTo>
                  <a:pt x="634" y="1825"/>
                </a:lnTo>
                <a:lnTo>
                  <a:pt x="633" y="1826"/>
                </a:lnTo>
                <a:lnTo>
                  <a:pt x="631" y="1826"/>
                </a:lnTo>
                <a:lnTo>
                  <a:pt x="629" y="1827"/>
                </a:lnTo>
                <a:lnTo>
                  <a:pt x="628" y="1827"/>
                </a:lnTo>
                <a:lnTo>
                  <a:pt x="626" y="1827"/>
                </a:lnTo>
                <a:lnTo>
                  <a:pt x="624" y="1826"/>
                </a:lnTo>
                <a:lnTo>
                  <a:pt x="622" y="1826"/>
                </a:lnTo>
                <a:lnTo>
                  <a:pt x="621" y="1825"/>
                </a:lnTo>
                <a:lnTo>
                  <a:pt x="620" y="1824"/>
                </a:lnTo>
                <a:lnTo>
                  <a:pt x="619" y="1823"/>
                </a:lnTo>
                <a:lnTo>
                  <a:pt x="618" y="1821"/>
                </a:lnTo>
                <a:lnTo>
                  <a:pt x="617" y="1820"/>
                </a:lnTo>
                <a:lnTo>
                  <a:pt x="617" y="1818"/>
                </a:lnTo>
                <a:lnTo>
                  <a:pt x="616" y="1816"/>
                </a:lnTo>
                <a:lnTo>
                  <a:pt x="617" y="1814"/>
                </a:lnTo>
                <a:lnTo>
                  <a:pt x="617" y="1813"/>
                </a:lnTo>
                <a:lnTo>
                  <a:pt x="618" y="1811"/>
                </a:lnTo>
                <a:lnTo>
                  <a:pt x="619" y="1810"/>
                </a:lnTo>
                <a:lnTo>
                  <a:pt x="620" y="1808"/>
                </a:lnTo>
                <a:lnTo>
                  <a:pt x="621" y="1807"/>
                </a:lnTo>
                <a:lnTo>
                  <a:pt x="622" y="1806"/>
                </a:lnTo>
                <a:lnTo>
                  <a:pt x="624" y="1806"/>
                </a:lnTo>
                <a:lnTo>
                  <a:pt x="626" y="1805"/>
                </a:lnTo>
                <a:lnTo>
                  <a:pt x="628" y="1805"/>
                </a:lnTo>
                <a:close/>
                <a:moveTo>
                  <a:pt x="1296" y="1802"/>
                </a:moveTo>
                <a:cubicBezTo>
                  <a:pt x="1304" y="1801"/>
                  <a:pt x="1311" y="1811"/>
                  <a:pt x="1310" y="1816"/>
                </a:cubicBezTo>
                <a:cubicBezTo>
                  <a:pt x="1311" y="1824"/>
                  <a:pt x="1301" y="1831"/>
                  <a:pt x="1296" y="1830"/>
                </a:cubicBezTo>
                <a:cubicBezTo>
                  <a:pt x="1288" y="1831"/>
                  <a:pt x="1281" y="1821"/>
                  <a:pt x="1282" y="1816"/>
                </a:cubicBezTo>
                <a:cubicBezTo>
                  <a:pt x="1281" y="1808"/>
                  <a:pt x="1291" y="1802"/>
                  <a:pt x="1296" y="1802"/>
                </a:cubicBezTo>
                <a:close/>
                <a:moveTo>
                  <a:pt x="503" y="1802"/>
                </a:moveTo>
                <a:lnTo>
                  <a:pt x="505" y="1803"/>
                </a:lnTo>
                <a:lnTo>
                  <a:pt x="506" y="1806"/>
                </a:lnTo>
                <a:lnTo>
                  <a:pt x="505" y="1808"/>
                </a:lnTo>
                <a:lnTo>
                  <a:pt x="503" y="1809"/>
                </a:lnTo>
                <a:lnTo>
                  <a:pt x="500" y="1808"/>
                </a:lnTo>
                <a:lnTo>
                  <a:pt x="499" y="1806"/>
                </a:lnTo>
                <a:lnTo>
                  <a:pt x="500" y="1803"/>
                </a:lnTo>
                <a:lnTo>
                  <a:pt x="503" y="1802"/>
                </a:lnTo>
                <a:close/>
                <a:moveTo>
                  <a:pt x="1421" y="1799"/>
                </a:moveTo>
                <a:lnTo>
                  <a:pt x="1423" y="1799"/>
                </a:lnTo>
                <a:lnTo>
                  <a:pt x="1425" y="1800"/>
                </a:lnTo>
                <a:lnTo>
                  <a:pt x="1426" y="1801"/>
                </a:lnTo>
                <a:lnTo>
                  <a:pt x="1427" y="1802"/>
                </a:lnTo>
                <a:lnTo>
                  <a:pt x="1428" y="1804"/>
                </a:lnTo>
                <a:lnTo>
                  <a:pt x="1428" y="1805"/>
                </a:lnTo>
                <a:lnTo>
                  <a:pt x="1428" y="1807"/>
                </a:lnTo>
                <a:lnTo>
                  <a:pt x="1427" y="1809"/>
                </a:lnTo>
                <a:lnTo>
                  <a:pt x="1426" y="1810"/>
                </a:lnTo>
                <a:lnTo>
                  <a:pt x="1425" y="1811"/>
                </a:lnTo>
                <a:lnTo>
                  <a:pt x="1423" y="1812"/>
                </a:lnTo>
                <a:lnTo>
                  <a:pt x="1421" y="1812"/>
                </a:lnTo>
                <a:lnTo>
                  <a:pt x="1419" y="1812"/>
                </a:lnTo>
                <a:lnTo>
                  <a:pt x="1418" y="1811"/>
                </a:lnTo>
                <a:lnTo>
                  <a:pt x="1417" y="1810"/>
                </a:lnTo>
                <a:lnTo>
                  <a:pt x="1416" y="1809"/>
                </a:lnTo>
                <a:lnTo>
                  <a:pt x="1415" y="1807"/>
                </a:lnTo>
                <a:lnTo>
                  <a:pt x="1415" y="1805"/>
                </a:lnTo>
                <a:lnTo>
                  <a:pt x="1415" y="1804"/>
                </a:lnTo>
                <a:lnTo>
                  <a:pt x="1416" y="1802"/>
                </a:lnTo>
                <a:lnTo>
                  <a:pt x="1417" y="1801"/>
                </a:lnTo>
                <a:lnTo>
                  <a:pt x="1418" y="1800"/>
                </a:lnTo>
                <a:lnTo>
                  <a:pt x="1419" y="1799"/>
                </a:lnTo>
                <a:lnTo>
                  <a:pt x="1421" y="1799"/>
                </a:lnTo>
                <a:close/>
                <a:moveTo>
                  <a:pt x="696" y="1789"/>
                </a:moveTo>
                <a:lnTo>
                  <a:pt x="697" y="1792"/>
                </a:lnTo>
                <a:lnTo>
                  <a:pt x="696" y="1794"/>
                </a:lnTo>
                <a:lnTo>
                  <a:pt x="693" y="1795"/>
                </a:lnTo>
                <a:lnTo>
                  <a:pt x="691" y="1794"/>
                </a:lnTo>
                <a:lnTo>
                  <a:pt x="690" y="1792"/>
                </a:lnTo>
                <a:lnTo>
                  <a:pt x="691" y="1789"/>
                </a:lnTo>
                <a:lnTo>
                  <a:pt x="692" y="1788"/>
                </a:lnTo>
                <a:lnTo>
                  <a:pt x="696" y="1789"/>
                </a:lnTo>
                <a:close/>
                <a:moveTo>
                  <a:pt x="565" y="1778"/>
                </a:moveTo>
                <a:lnTo>
                  <a:pt x="567" y="1778"/>
                </a:lnTo>
                <a:lnTo>
                  <a:pt x="569" y="1779"/>
                </a:lnTo>
                <a:lnTo>
                  <a:pt x="570" y="1779"/>
                </a:lnTo>
                <a:lnTo>
                  <a:pt x="571" y="1780"/>
                </a:lnTo>
                <a:lnTo>
                  <a:pt x="573" y="1781"/>
                </a:lnTo>
                <a:lnTo>
                  <a:pt x="574" y="1782"/>
                </a:lnTo>
                <a:lnTo>
                  <a:pt x="575" y="1784"/>
                </a:lnTo>
                <a:lnTo>
                  <a:pt x="575" y="1785"/>
                </a:lnTo>
                <a:lnTo>
                  <a:pt x="576" y="1787"/>
                </a:lnTo>
                <a:lnTo>
                  <a:pt x="576" y="1789"/>
                </a:lnTo>
                <a:lnTo>
                  <a:pt x="576" y="1791"/>
                </a:lnTo>
                <a:lnTo>
                  <a:pt x="575" y="1792"/>
                </a:lnTo>
                <a:lnTo>
                  <a:pt x="575" y="1794"/>
                </a:lnTo>
                <a:lnTo>
                  <a:pt x="574" y="1795"/>
                </a:lnTo>
                <a:lnTo>
                  <a:pt x="573" y="1796"/>
                </a:lnTo>
                <a:lnTo>
                  <a:pt x="571" y="1797"/>
                </a:lnTo>
                <a:lnTo>
                  <a:pt x="570" y="1798"/>
                </a:lnTo>
                <a:lnTo>
                  <a:pt x="569" y="1799"/>
                </a:lnTo>
                <a:lnTo>
                  <a:pt x="567" y="1799"/>
                </a:lnTo>
                <a:lnTo>
                  <a:pt x="565" y="1800"/>
                </a:lnTo>
                <a:lnTo>
                  <a:pt x="563" y="1799"/>
                </a:lnTo>
                <a:lnTo>
                  <a:pt x="562" y="1799"/>
                </a:lnTo>
                <a:lnTo>
                  <a:pt x="560" y="1798"/>
                </a:lnTo>
                <a:lnTo>
                  <a:pt x="559" y="1797"/>
                </a:lnTo>
                <a:lnTo>
                  <a:pt x="558" y="1796"/>
                </a:lnTo>
                <a:lnTo>
                  <a:pt x="556" y="1795"/>
                </a:lnTo>
                <a:lnTo>
                  <a:pt x="556" y="1794"/>
                </a:lnTo>
                <a:lnTo>
                  <a:pt x="555" y="1792"/>
                </a:lnTo>
                <a:lnTo>
                  <a:pt x="555" y="1791"/>
                </a:lnTo>
                <a:lnTo>
                  <a:pt x="554" y="1789"/>
                </a:lnTo>
                <a:lnTo>
                  <a:pt x="555" y="1787"/>
                </a:lnTo>
                <a:lnTo>
                  <a:pt x="555" y="1785"/>
                </a:lnTo>
                <a:lnTo>
                  <a:pt x="556" y="1784"/>
                </a:lnTo>
                <a:lnTo>
                  <a:pt x="556" y="1782"/>
                </a:lnTo>
                <a:lnTo>
                  <a:pt x="558" y="1781"/>
                </a:lnTo>
                <a:lnTo>
                  <a:pt x="559" y="1780"/>
                </a:lnTo>
                <a:lnTo>
                  <a:pt x="560" y="1779"/>
                </a:lnTo>
                <a:lnTo>
                  <a:pt x="562" y="1779"/>
                </a:lnTo>
                <a:lnTo>
                  <a:pt x="563" y="1778"/>
                </a:lnTo>
                <a:lnTo>
                  <a:pt x="565" y="1778"/>
                </a:lnTo>
                <a:close/>
                <a:moveTo>
                  <a:pt x="1359" y="1775"/>
                </a:moveTo>
                <a:cubicBezTo>
                  <a:pt x="1367" y="1774"/>
                  <a:pt x="1373" y="1784"/>
                  <a:pt x="1372" y="1789"/>
                </a:cubicBezTo>
                <a:cubicBezTo>
                  <a:pt x="1373" y="1797"/>
                  <a:pt x="1363" y="1803"/>
                  <a:pt x="1359" y="1802"/>
                </a:cubicBezTo>
                <a:cubicBezTo>
                  <a:pt x="1351" y="1803"/>
                  <a:pt x="1344" y="1793"/>
                  <a:pt x="1345" y="1789"/>
                </a:cubicBezTo>
                <a:cubicBezTo>
                  <a:pt x="1344" y="1780"/>
                  <a:pt x="1354" y="1774"/>
                  <a:pt x="1359" y="1775"/>
                </a:cubicBezTo>
                <a:close/>
                <a:moveTo>
                  <a:pt x="444" y="1768"/>
                </a:moveTo>
                <a:lnTo>
                  <a:pt x="446" y="1769"/>
                </a:lnTo>
                <a:lnTo>
                  <a:pt x="447" y="1771"/>
                </a:lnTo>
                <a:lnTo>
                  <a:pt x="446" y="1773"/>
                </a:lnTo>
                <a:lnTo>
                  <a:pt x="444" y="1773"/>
                </a:lnTo>
                <a:lnTo>
                  <a:pt x="442" y="1773"/>
                </a:lnTo>
                <a:lnTo>
                  <a:pt x="441" y="1771"/>
                </a:lnTo>
                <a:lnTo>
                  <a:pt x="442" y="1769"/>
                </a:lnTo>
                <a:lnTo>
                  <a:pt x="444" y="1768"/>
                </a:lnTo>
                <a:close/>
                <a:moveTo>
                  <a:pt x="1480" y="1764"/>
                </a:moveTo>
                <a:lnTo>
                  <a:pt x="1482" y="1764"/>
                </a:lnTo>
                <a:lnTo>
                  <a:pt x="1484" y="1765"/>
                </a:lnTo>
                <a:lnTo>
                  <a:pt x="1485" y="1767"/>
                </a:lnTo>
                <a:lnTo>
                  <a:pt x="1486" y="1768"/>
                </a:lnTo>
                <a:lnTo>
                  <a:pt x="1486" y="1770"/>
                </a:lnTo>
                <a:lnTo>
                  <a:pt x="1486" y="1772"/>
                </a:lnTo>
                <a:lnTo>
                  <a:pt x="1485" y="1774"/>
                </a:lnTo>
                <a:lnTo>
                  <a:pt x="1484" y="1775"/>
                </a:lnTo>
                <a:lnTo>
                  <a:pt x="1482" y="1776"/>
                </a:lnTo>
                <a:lnTo>
                  <a:pt x="1480" y="1777"/>
                </a:lnTo>
                <a:lnTo>
                  <a:pt x="1478" y="1776"/>
                </a:lnTo>
                <a:lnTo>
                  <a:pt x="1476" y="1775"/>
                </a:lnTo>
                <a:lnTo>
                  <a:pt x="1475" y="1774"/>
                </a:lnTo>
                <a:lnTo>
                  <a:pt x="1474" y="1772"/>
                </a:lnTo>
                <a:lnTo>
                  <a:pt x="1474" y="1770"/>
                </a:lnTo>
                <a:lnTo>
                  <a:pt x="1474" y="1768"/>
                </a:lnTo>
                <a:lnTo>
                  <a:pt x="1475" y="1767"/>
                </a:lnTo>
                <a:lnTo>
                  <a:pt x="1476" y="1765"/>
                </a:lnTo>
                <a:lnTo>
                  <a:pt x="1478" y="1764"/>
                </a:lnTo>
                <a:lnTo>
                  <a:pt x="1480" y="1764"/>
                </a:lnTo>
                <a:close/>
                <a:moveTo>
                  <a:pt x="629" y="1763"/>
                </a:moveTo>
                <a:lnTo>
                  <a:pt x="631" y="1764"/>
                </a:lnTo>
                <a:lnTo>
                  <a:pt x="633" y="1765"/>
                </a:lnTo>
                <a:lnTo>
                  <a:pt x="634" y="1768"/>
                </a:lnTo>
                <a:lnTo>
                  <a:pt x="633" y="1770"/>
                </a:lnTo>
                <a:lnTo>
                  <a:pt x="631" y="1771"/>
                </a:lnTo>
                <a:lnTo>
                  <a:pt x="629" y="1772"/>
                </a:lnTo>
                <a:lnTo>
                  <a:pt x="627" y="1771"/>
                </a:lnTo>
                <a:lnTo>
                  <a:pt x="625" y="1770"/>
                </a:lnTo>
                <a:lnTo>
                  <a:pt x="625" y="1768"/>
                </a:lnTo>
                <a:lnTo>
                  <a:pt x="625" y="1765"/>
                </a:lnTo>
                <a:lnTo>
                  <a:pt x="627" y="1764"/>
                </a:lnTo>
                <a:lnTo>
                  <a:pt x="629" y="1763"/>
                </a:lnTo>
                <a:close/>
                <a:moveTo>
                  <a:pt x="505" y="1746"/>
                </a:moveTo>
                <a:lnTo>
                  <a:pt x="507" y="1747"/>
                </a:lnTo>
                <a:lnTo>
                  <a:pt x="508" y="1747"/>
                </a:lnTo>
                <a:lnTo>
                  <a:pt x="510" y="1748"/>
                </a:lnTo>
                <a:lnTo>
                  <a:pt x="512" y="1749"/>
                </a:lnTo>
                <a:lnTo>
                  <a:pt x="513" y="1750"/>
                </a:lnTo>
                <a:lnTo>
                  <a:pt x="514" y="1752"/>
                </a:lnTo>
                <a:lnTo>
                  <a:pt x="515" y="1753"/>
                </a:lnTo>
                <a:lnTo>
                  <a:pt x="515" y="1755"/>
                </a:lnTo>
                <a:lnTo>
                  <a:pt x="515" y="1757"/>
                </a:lnTo>
                <a:lnTo>
                  <a:pt x="515" y="1759"/>
                </a:lnTo>
                <a:lnTo>
                  <a:pt x="515" y="1761"/>
                </a:lnTo>
                <a:lnTo>
                  <a:pt x="514" y="1762"/>
                </a:lnTo>
                <a:lnTo>
                  <a:pt x="513" y="1764"/>
                </a:lnTo>
                <a:lnTo>
                  <a:pt x="512" y="1765"/>
                </a:lnTo>
                <a:lnTo>
                  <a:pt x="510" y="1766"/>
                </a:lnTo>
                <a:lnTo>
                  <a:pt x="508" y="1767"/>
                </a:lnTo>
                <a:lnTo>
                  <a:pt x="507" y="1767"/>
                </a:lnTo>
                <a:lnTo>
                  <a:pt x="505" y="1767"/>
                </a:lnTo>
                <a:lnTo>
                  <a:pt x="503" y="1767"/>
                </a:lnTo>
                <a:lnTo>
                  <a:pt x="501" y="1767"/>
                </a:lnTo>
                <a:lnTo>
                  <a:pt x="499" y="1766"/>
                </a:lnTo>
                <a:lnTo>
                  <a:pt x="498" y="1765"/>
                </a:lnTo>
                <a:lnTo>
                  <a:pt x="497" y="1764"/>
                </a:lnTo>
                <a:lnTo>
                  <a:pt x="496" y="1762"/>
                </a:lnTo>
                <a:lnTo>
                  <a:pt x="495" y="1761"/>
                </a:lnTo>
                <a:lnTo>
                  <a:pt x="494" y="1759"/>
                </a:lnTo>
                <a:lnTo>
                  <a:pt x="494" y="1757"/>
                </a:lnTo>
                <a:lnTo>
                  <a:pt x="494" y="1755"/>
                </a:lnTo>
                <a:lnTo>
                  <a:pt x="495" y="1753"/>
                </a:lnTo>
                <a:lnTo>
                  <a:pt x="496" y="1752"/>
                </a:lnTo>
                <a:lnTo>
                  <a:pt x="497" y="1750"/>
                </a:lnTo>
                <a:lnTo>
                  <a:pt x="498" y="1749"/>
                </a:lnTo>
                <a:lnTo>
                  <a:pt x="499" y="1748"/>
                </a:lnTo>
                <a:lnTo>
                  <a:pt x="501" y="1747"/>
                </a:lnTo>
                <a:lnTo>
                  <a:pt x="503" y="1747"/>
                </a:lnTo>
                <a:lnTo>
                  <a:pt x="505" y="1746"/>
                </a:lnTo>
                <a:close/>
                <a:moveTo>
                  <a:pt x="1419" y="1743"/>
                </a:moveTo>
                <a:cubicBezTo>
                  <a:pt x="1427" y="1742"/>
                  <a:pt x="1433" y="1752"/>
                  <a:pt x="1432" y="1756"/>
                </a:cubicBezTo>
                <a:cubicBezTo>
                  <a:pt x="1433" y="1764"/>
                  <a:pt x="1423" y="1771"/>
                  <a:pt x="1419" y="1770"/>
                </a:cubicBezTo>
                <a:cubicBezTo>
                  <a:pt x="1411" y="1771"/>
                  <a:pt x="1405" y="1761"/>
                  <a:pt x="1406" y="1756"/>
                </a:cubicBezTo>
                <a:cubicBezTo>
                  <a:pt x="1405" y="1748"/>
                  <a:pt x="1415" y="1742"/>
                  <a:pt x="1419" y="1743"/>
                </a:cubicBezTo>
                <a:close/>
                <a:moveTo>
                  <a:pt x="567" y="1734"/>
                </a:moveTo>
                <a:lnTo>
                  <a:pt x="569" y="1734"/>
                </a:lnTo>
                <a:lnTo>
                  <a:pt x="571" y="1735"/>
                </a:lnTo>
                <a:lnTo>
                  <a:pt x="572" y="1737"/>
                </a:lnTo>
                <a:lnTo>
                  <a:pt x="573" y="1739"/>
                </a:lnTo>
                <a:lnTo>
                  <a:pt x="572" y="1741"/>
                </a:lnTo>
                <a:lnTo>
                  <a:pt x="571" y="1743"/>
                </a:lnTo>
                <a:lnTo>
                  <a:pt x="569" y="1744"/>
                </a:lnTo>
                <a:lnTo>
                  <a:pt x="567" y="1745"/>
                </a:lnTo>
                <a:lnTo>
                  <a:pt x="565" y="1744"/>
                </a:lnTo>
                <a:lnTo>
                  <a:pt x="563" y="1743"/>
                </a:lnTo>
                <a:lnTo>
                  <a:pt x="562" y="1741"/>
                </a:lnTo>
                <a:lnTo>
                  <a:pt x="562" y="1739"/>
                </a:lnTo>
                <a:lnTo>
                  <a:pt x="562" y="1737"/>
                </a:lnTo>
                <a:lnTo>
                  <a:pt x="563" y="1735"/>
                </a:lnTo>
                <a:lnTo>
                  <a:pt x="565" y="1734"/>
                </a:lnTo>
                <a:lnTo>
                  <a:pt x="567" y="1734"/>
                </a:lnTo>
                <a:close/>
                <a:moveTo>
                  <a:pt x="388" y="1730"/>
                </a:moveTo>
                <a:lnTo>
                  <a:pt x="389" y="1730"/>
                </a:lnTo>
                <a:lnTo>
                  <a:pt x="390" y="1732"/>
                </a:lnTo>
                <a:lnTo>
                  <a:pt x="389" y="1733"/>
                </a:lnTo>
                <a:lnTo>
                  <a:pt x="388" y="1734"/>
                </a:lnTo>
                <a:lnTo>
                  <a:pt x="386" y="1733"/>
                </a:lnTo>
                <a:lnTo>
                  <a:pt x="386" y="1732"/>
                </a:lnTo>
                <a:lnTo>
                  <a:pt x="386" y="1730"/>
                </a:lnTo>
                <a:lnTo>
                  <a:pt x="388" y="1730"/>
                </a:lnTo>
                <a:close/>
                <a:moveTo>
                  <a:pt x="1536" y="1725"/>
                </a:moveTo>
                <a:lnTo>
                  <a:pt x="1538" y="1726"/>
                </a:lnTo>
                <a:lnTo>
                  <a:pt x="1539" y="1727"/>
                </a:lnTo>
                <a:lnTo>
                  <a:pt x="1540" y="1728"/>
                </a:lnTo>
                <a:lnTo>
                  <a:pt x="1541" y="1729"/>
                </a:lnTo>
                <a:lnTo>
                  <a:pt x="1542" y="1731"/>
                </a:lnTo>
                <a:lnTo>
                  <a:pt x="1541" y="1733"/>
                </a:lnTo>
                <a:lnTo>
                  <a:pt x="1540" y="1735"/>
                </a:lnTo>
                <a:lnTo>
                  <a:pt x="1539" y="1736"/>
                </a:lnTo>
                <a:lnTo>
                  <a:pt x="1538" y="1737"/>
                </a:lnTo>
                <a:lnTo>
                  <a:pt x="1536" y="1737"/>
                </a:lnTo>
                <a:lnTo>
                  <a:pt x="1534" y="1737"/>
                </a:lnTo>
                <a:lnTo>
                  <a:pt x="1533" y="1736"/>
                </a:lnTo>
                <a:lnTo>
                  <a:pt x="1531" y="1735"/>
                </a:lnTo>
                <a:lnTo>
                  <a:pt x="1531" y="1733"/>
                </a:lnTo>
                <a:lnTo>
                  <a:pt x="1530" y="1731"/>
                </a:lnTo>
                <a:lnTo>
                  <a:pt x="1531" y="1729"/>
                </a:lnTo>
                <a:lnTo>
                  <a:pt x="1531" y="1728"/>
                </a:lnTo>
                <a:lnTo>
                  <a:pt x="1533" y="1727"/>
                </a:lnTo>
                <a:lnTo>
                  <a:pt x="1534" y="1726"/>
                </a:lnTo>
                <a:lnTo>
                  <a:pt x="1536" y="1725"/>
                </a:lnTo>
                <a:close/>
                <a:moveTo>
                  <a:pt x="447" y="1710"/>
                </a:moveTo>
                <a:lnTo>
                  <a:pt x="449" y="1711"/>
                </a:lnTo>
                <a:lnTo>
                  <a:pt x="450" y="1711"/>
                </a:lnTo>
                <a:lnTo>
                  <a:pt x="452" y="1712"/>
                </a:lnTo>
                <a:lnTo>
                  <a:pt x="453" y="1713"/>
                </a:lnTo>
                <a:lnTo>
                  <a:pt x="455" y="1714"/>
                </a:lnTo>
                <a:lnTo>
                  <a:pt x="456" y="1715"/>
                </a:lnTo>
                <a:lnTo>
                  <a:pt x="456" y="1717"/>
                </a:lnTo>
                <a:lnTo>
                  <a:pt x="457" y="1719"/>
                </a:lnTo>
                <a:lnTo>
                  <a:pt x="457" y="1721"/>
                </a:lnTo>
                <a:lnTo>
                  <a:pt x="457" y="1722"/>
                </a:lnTo>
                <a:lnTo>
                  <a:pt x="456" y="1724"/>
                </a:lnTo>
                <a:lnTo>
                  <a:pt x="456" y="1726"/>
                </a:lnTo>
                <a:lnTo>
                  <a:pt x="455" y="1727"/>
                </a:lnTo>
                <a:lnTo>
                  <a:pt x="453" y="1728"/>
                </a:lnTo>
                <a:lnTo>
                  <a:pt x="452" y="1729"/>
                </a:lnTo>
                <a:lnTo>
                  <a:pt x="450" y="1730"/>
                </a:lnTo>
                <a:lnTo>
                  <a:pt x="449" y="1730"/>
                </a:lnTo>
                <a:lnTo>
                  <a:pt x="447" y="1731"/>
                </a:lnTo>
                <a:lnTo>
                  <a:pt x="445" y="1730"/>
                </a:lnTo>
                <a:lnTo>
                  <a:pt x="443" y="1730"/>
                </a:lnTo>
                <a:lnTo>
                  <a:pt x="442" y="1729"/>
                </a:lnTo>
                <a:lnTo>
                  <a:pt x="440" y="1728"/>
                </a:lnTo>
                <a:lnTo>
                  <a:pt x="439" y="1727"/>
                </a:lnTo>
                <a:lnTo>
                  <a:pt x="438" y="1726"/>
                </a:lnTo>
                <a:lnTo>
                  <a:pt x="438" y="1724"/>
                </a:lnTo>
                <a:lnTo>
                  <a:pt x="437" y="1722"/>
                </a:lnTo>
                <a:lnTo>
                  <a:pt x="437" y="1721"/>
                </a:lnTo>
                <a:lnTo>
                  <a:pt x="437" y="1719"/>
                </a:lnTo>
                <a:lnTo>
                  <a:pt x="438" y="1717"/>
                </a:lnTo>
                <a:lnTo>
                  <a:pt x="438" y="1715"/>
                </a:lnTo>
                <a:lnTo>
                  <a:pt x="439" y="1714"/>
                </a:lnTo>
                <a:lnTo>
                  <a:pt x="440" y="1713"/>
                </a:lnTo>
                <a:lnTo>
                  <a:pt x="442" y="1712"/>
                </a:lnTo>
                <a:lnTo>
                  <a:pt x="443" y="1711"/>
                </a:lnTo>
                <a:lnTo>
                  <a:pt x="445" y="1711"/>
                </a:lnTo>
                <a:lnTo>
                  <a:pt x="447" y="1710"/>
                </a:lnTo>
                <a:close/>
                <a:moveTo>
                  <a:pt x="1477" y="1707"/>
                </a:moveTo>
                <a:cubicBezTo>
                  <a:pt x="1485" y="1706"/>
                  <a:pt x="1491" y="1716"/>
                  <a:pt x="1490" y="1720"/>
                </a:cubicBezTo>
                <a:cubicBezTo>
                  <a:pt x="1491" y="1728"/>
                  <a:pt x="1481" y="1734"/>
                  <a:pt x="1477" y="1733"/>
                </a:cubicBezTo>
                <a:cubicBezTo>
                  <a:pt x="1469" y="1734"/>
                  <a:pt x="1463" y="1724"/>
                  <a:pt x="1464" y="1720"/>
                </a:cubicBezTo>
                <a:cubicBezTo>
                  <a:pt x="1463" y="1712"/>
                  <a:pt x="1473" y="1706"/>
                  <a:pt x="1477" y="1707"/>
                </a:cubicBezTo>
                <a:close/>
                <a:moveTo>
                  <a:pt x="508" y="1700"/>
                </a:moveTo>
                <a:lnTo>
                  <a:pt x="510" y="1700"/>
                </a:lnTo>
                <a:lnTo>
                  <a:pt x="511" y="1701"/>
                </a:lnTo>
                <a:lnTo>
                  <a:pt x="513" y="1702"/>
                </a:lnTo>
                <a:lnTo>
                  <a:pt x="514" y="1704"/>
                </a:lnTo>
                <a:lnTo>
                  <a:pt x="514" y="1706"/>
                </a:lnTo>
                <a:lnTo>
                  <a:pt x="514" y="1708"/>
                </a:lnTo>
                <a:lnTo>
                  <a:pt x="513" y="1709"/>
                </a:lnTo>
                <a:lnTo>
                  <a:pt x="511" y="1711"/>
                </a:lnTo>
                <a:lnTo>
                  <a:pt x="510" y="1712"/>
                </a:lnTo>
                <a:lnTo>
                  <a:pt x="508" y="1712"/>
                </a:lnTo>
                <a:lnTo>
                  <a:pt x="506" y="1712"/>
                </a:lnTo>
                <a:lnTo>
                  <a:pt x="504" y="1711"/>
                </a:lnTo>
                <a:lnTo>
                  <a:pt x="503" y="1709"/>
                </a:lnTo>
                <a:lnTo>
                  <a:pt x="502" y="1708"/>
                </a:lnTo>
                <a:lnTo>
                  <a:pt x="502" y="1706"/>
                </a:lnTo>
                <a:lnTo>
                  <a:pt x="502" y="1704"/>
                </a:lnTo>
                <a:lnTo>
                  <a:pt x="503" y="1702"/>
                </a:lnTo>
                <a:lnTo>
                  <a:pt x="504" y="1701"/>
                </a:lnTo>
                <a:lnTo>
                  <a:pt x="506" y="1700"/>
                </a:lnTo>
                <a:lnTo>
                  <a:pt x="508" y="1700"/>
                </a:lnTo>
                <a:close/>
                <a:moveTo>
                  <a:pt x="335" y="1687"/>
                </a:moveTo>
                <a:lnTo>
                  <a:pt x="336" y="1688"/>
                </a:lnTo>
                <a:lnTo>
                  <a:pt x="336" y="1689"/>
                </a:lnTo>
                <a:lnTo>
                  <a:pt x="336" y="1690"/>
                </a:lnTo>
                <a:lnTo>
                  <a:pt x="335" y="1690"/>
                </a:lnTo>
                <a:lnTo>
                  <a:pt x="333" y="1690"/>
                </a:lnTo>
                <a:lnTo>
                  <a:pt x="333" y="1689"/>
                </a:lnTo>
                <a:lnTo>
                  <a:pt x="333" y="1688"/>
                </a:lnTo>
                <a:lnTo>
                  <a:pt x="335" y="1687"/>
                </a:lnTo>
                <a:close/>
                <a:moveTo>
                  <a:pt x="1589" y="1683"/>
                </a:moveTo>
                <a:lnTo>
                  <a:pt x="1591" y="1683"/>
                </a:lnTo>
                <a:lnTo>
                  <a:pt x="1593" y="1685"/>
                </a:lnTo>
                <a:lnTo>
                  <a:pt x="1594" y="1686"/>
                </a:lnTo>
                <a:lnTo>
                  <a:pt x="1594" y="1688"/>
                </a:lnTo>
                <a:lnTo>
                  <a:pt x="1594" y="1690"/>
                </a:lnTo>
                <a:lnTo>
                  <a:pt x="1593" y="1692"/>
                </a:lnTo>
                <a:lnTo>
                  <a:pt x="1591" y="1693"/>
                </a:lnTo>
                <a:lnTo>
                  <a:pt x="1589" y="1694"/>
                </a:lnTo>
                <a:lnTo>
                  <a:pt x="1587" y="1693"/>
                </a:lnTo>
                <a:lnTo>
                  <a:pt x="1585" y="1692"/>
                </a:lnTo>
                <a:lnTo>
                  <a:pt x="1584" y="1690"/>
                </a:lnTo>
                <a:lnTo>
                  <a:pt x="1584" y="1688"/>
                </a:lnTo>
                <a:lnTo>
                  <a:pt x="1584" y="1686"/>
                </a:lnTo>
                <a:lnTo>
                  <a:pt x="1585" y="1685"/>
                </a:lnTo>
                <a:lnTo>
                  <a:pt x="1587" y="1683"/>
                </a:lnTo>
                <a:lnTo>
                  <a:pt x="1589" y="1683"/>
                </a:lnTo>
                <a:close/>
                <a:moveTo>
                  <a:pt x="392" y="1670"/>
                </a:moveTo>
                <a:lnTo>
                  <a:pt x="394" y="1670"/>
                </a:lnTo>
                <a:lnTo>
                  <a:pt x="395" y="1671"/>
                </a:lnTo>
                <a:lnTo>
                  <a:pt x="397" y="1671"/>
                </a:lnTo>
                <a:lnTo>
                  <a:pt x="398" y="1672"/>
                </a:lnTo>
                <a:lnTo>
                  <a:pt x="399" y="1673"/>
                </a:lnTo>
                <a:lnTo>
                  <a:pt x="400" y="1675"/>
                </a:lnTo>
                <a:lnTo>
                  <a:pt x="401" y="1676"/>
                </a:lnTo>
                <a:lnTo>
                  <a:pt x="401" y="1678"/>
                </a:lnTo>
                <a:lnTo>
                  <a:pt x="401" y="1680"/>
                </a:lnTo>
                <a:lnTo>
                  <a:pt x="401" y="1681"/>
                </a:lnTo>
                <a:lnTo>
                  <a:pt x="401" y="1683"/>
                </a:lnTo>
                <a:lnTo>
                  <a:pt x="400" y="1685"/>
                </a:lnTo>
                <a:lnTo>
                  <a:pt x="399" y="1686"/>
                </a:lnTo>
                <a:lnTo>
                  <a:pt x="398" y="1687"/>
                </a:lnTo>
                <a:lnTo>
                  <a:pt x="397" y="1688"/>
                </a:lnTo>
                <a:lnTo>
                  <a:pt x="395" y="1689"/>
                </a:lnTo>
                <a:lnTo>
                  <a:pt x="394" y="1689"/>
                </a:lnTo>
                <a:lnTo>
                  <a:pt x="392" y="1690"/>
                </a:lnTo>
                <a:lnTo>
                  <a:pt x="390" y="1689"/>
                </a:lnTo>
                <a:lnTo>
                  <a:pt x="389" y="1689"/>
                </a:lnTo>
                <a:lnTo>
                  <a:pt x="387" y="1688"/>
                </a:lnTo>
                <a:lnTo>
                  <a:pt x="386" y="1687"/>
                </a:lnTo>
                <a:lnTo>
                  <a:pt x="385" y="1686"/>
                </a:lnTo>
                <a:lnTo>
                  <a:pt x="384" y="1685"/>
                </a:lnTo>
                <a:lnTo>
                  <a:pt x="383" y="1683"/>
                </a:lnTo>
                <a:lnTo>
                  <a:pt x="383" y="1681"/>
                </a:lnTo>
                <a:lnTo>
                  <a:pt x="382" y="1680"/>
                </a:lnTo>
                <a:lnTo>
                  <a:pt x="383" y="1678"/>
                </a:lnTo>
                <a:lnTo>
                  <a:pt x="383" y="1676"/>
                </a:lnTo>
                <a:lnTo>
                  <a:pt x="384" y="1675"/>
                </a:lnTo>
                <a:lnTo>
                  <a:pt x="385" y="1673"/>
                </a:lnTo>
                <a:lnTo>
                  <a:pt x="386" y="1672"/>
                </a:lnTo>
                <a:lnTo>
                  <a:pt x="387" y="1671"/>
                </a:lnTo>
                <a:lnTo>
                  <a:pt x="389" y="1671"/>
                </a:lnTo>
                <a:lnTo>
                  <a:pt x="390" y="1670"/>
                </a:lnTo>
                <a:lnTo>
                  <a:pt x="392" y="1670"/>
                </a:lnTo>
                <a:close/>
                <a:moveTo>
                  <a:pt x="1532" y="1667"/>
                </a:moveTo>
                <a:cubicBezTo>
                  <a:pt x="1540" y="1666"/>
                  <a:pt x="1546" y="1675"/>
                  <a:pt x="1545" y="1679"/>
                </a:cubicBezTo>
                <a:cubicBezTo>
                  <a:pt x="1546" y="1687"/>
                  <a:pt x="1536" y="1693"/>
                  <a:pt x="1532" y="1692"/>
                </a:cubicBezTo>
                <a:cubicBezTo>
                  <a:pt x="1524" y="1693"/>
                  <a:pt x="1518" y="1683"/>
                  <a:pt x="1519" y="1679"/>
                </a:cubicBezTo>
                <a:cubicBezTo>
                  <a:pt x="1518" y="1672"/>
                  <a:pt x="1528" y="1666"/>
                  <a:pt x="1532" y="1667"/>
                </a:cubicBezTo>
                <a:close/>
                <a:moveTo>
                  <a:pt x="451" y="1661"/>
                </a:moveTo>
                <a:lnTo>
                  <a:pt x="453" y="1661"/>
                </a:lnTo>
                <a:lnTo>
                  <a:pt x="454" y="1662"/>
                </a:lnTo>
                <a:lnTo>
                  <a:pt x="456" y="1663"/>
                </a:lnTo>
                <a:lnTo>
                  <a:pt x="457" y="1664"/>
                </a:lnTo>
                <a:lnTo>
                  <a:pt x="458" y="1666"/>
                </a:lnTo>
                <a:lnTo>
                  <a:pt x="458" y="1668"/>
                </a:lnTo>
                <a:lnTo>
                  <a:pt x="458" y="1670"/>
                </a:lnTo>
                <a:lnTo>
                  <a:pt x="457" y="1671"/>
                </a:lnTo>
                <a:lnTo>
                  <a:pt x="456" y="1673"/>
                </a:lnTo>
                <a:lnTo>
                  <a:pt x="454" y="1674"/>
                </a:lnTo>
                <a:lnTo>
                  <a:pt x="453" y="1675"/>
                </a:lnTo>
                <a:lnTo>
                  <a:pt x="451" y="1675"/>
                </a:lnTo>
                <a:lnTo>
                  <a:pt x="449" y="1675"/>
                </a:lnTo>
                <a:lnTo>
                  <a:pt x="447" y="1674"/>
                </a:lnTo>
                <a:lnTo>
                  <a:pt x="446" y="1673"/>
                </a:lnTo>
                <a:lnTo>
                  <a:pt x="445" y="1671"/>
                </a:lnTo>
                <a:lnTo>
                  <a:pt x="444" y="1670"/>
                </a:lnTo>
                <a:lnTo>
                  <a:pt x="444" y="1668"/>
                </a:lnTo>
                <a:lnTo>
                  <a:pt x="444" y="1666"/>
                </a:lnTo>
                <a:lnTo>
                  <a:pt x="445" y="1664"/>
                </a:lnTo>
                <a:lnTo>
                  <a:pt x="446" y="1663"/>
                </a:lnTo>
                <a:lnTo>
                  <a:pt x="447" y="1662"/>
                </a:lnTo>
                <a:lnTo>
                  <a:pt x="449" y="1661"/>
                </a:lnTo>
                <a:lnTo>
                  <a:pt x="451" y="1661"/>
                </a:lnTo>
                <a:close/>
                <a:moveTo>
                  <a:pt x="284" y="1641"/>
                </a:moveTo>
                <a:lnTo>
                  <a:pt x="285" y="1641"/>
                </a:lnTo>
                <a:lnTo>
                  <a:pt x="286" y="1642"/>
                </a:lnTo>
                <a:lnTo>
                  <a:pt x="285" y="1643"/>
                </a:lnTo>
                <a:lnTo>
                  <a:pt x="284" y="1643"/>
                </a:lnTo>
                <a:lnTo>
                  <a:pt x="283" y="1643"/>
                </a:lnTo>
                <a:lnTo>
                  <a:pt x="283" y="1642"/>
                </a:lnTo>
                <a:lnTo>
                  <a:pt x="283" y="1641"/>
                </a:lnTo>
                <a:lnTo>
                  <a:pt x="284" y="1641"/>
                </a:lnTo>
                <a:close/>
                <a:moveTo>
                  <a:pt x="1639" y="1637"/>
                </a:moveTo>
                <a:lnTo>
                  <a:pt x="1641" y="1637"/>
                </a:lnTo>
                <a:lnTo>
                  <a:pt x="1643" y="1638"/>
                </a:lnTo>
                <a:lnTo>
                  <a:pt x="1644" y="1640"/>
                </a:lnTo>
                <a:lnTo>
                  <a:pt x="1644" y="1642"/>
                </a:lnTo>
                <a:lnTo>
                  <a:pt x="1644" y="1644"/>
                </a:lnTo>
                <a:lnTo>
                  <a:pt x="1643" y="1645"/>
                </a:lnTo>
                <a:lnTo>
                  <a:pt x="1641" y="1646"/>
                </a:lnTo>
                <a:lnTo>
                  <a:pt x="1639" y="1647"/>
                </a:lnTo>
                <a:lnTo>
                  <a:pt x="1637" y="1646"/>
                </a:lnTo>
                <a:lnTo>
                  <a:pt x="1636" y="1645"/>
                </a:lnTo>
                <a:lnTo>
                  <a:pt x="1635" y="1644"/>
                </a:lnTo>
                <a:lnTo>
                  <a:pt x="1634" y="1642"/>
                </a:lnTo>
                <a:lnTo>
                  <a:pt x="1635" y="1640"/>
                </a:lnTo>
                <a:lnTo>
                  <a:pt x="1636" y="1638"/>
                </a:lnTo>
                <a:lnTo>
                  <a:pt x="1637" y="1637"/>
                </a:lnTo>
                <a:lnTo>
                  <a:pt x="1639" y="1637"/>
                </a:lnTo>
                <a:close/>
                <a:moveTo>
                  <a:pt x="340" y="1626"/>
                </a:moveTo>
                <a:lnTo>
                  <a:pt x="342" y="1626"/>
                </a:lnTo>
                <a:lnTo>
                  <a:pt x="344" y="1626"/>
                </a:lnTo>
                <a:lnTo>
                  <a:pt x="345" y="1627"/>
                </a:lnTo>
                <a:lnTo>
                  <a:pt x="347" y="1628"/>
                </a:lnTo>
                <a:lnTo>
                  <a:pt x="348" y="1630"/>
                </a:lnTo>
                <a:lnTo>
                  <a:pt x="349" y="1631"/>
                </a:lnTo>
                <a:lnTo>
                  <a:pt x="349" y="1633"/>
                </a:lnTo>
                <a:lnTo>
                  <a:pt x="349" y="1635"/>
                </a:lnTo>
                <a:lnTo>
                  <a:pt x="349" y="1637"/>
                </a:lnTo>
                <a:lnTo>
                  <a:pt x="349" y="1639"/>
                </a:lnTo>
                <a:lnTo>
                  <a:pt x="348" y="1640"/>
                </a:lnTo>
                <a:lnTo>
                  <a:pt x="347" y="1642"/>
                </a:lnTo>
                <a:lnTo>
                  <a:pt x="345" y="1643"/>
                </a:lnTo>
                <a:lnTo>
                  <a:pt x="344" y="1644"/>
                </a:lnTo>
                <a:lnTo>
                  <a:pt x="342" y="1644"/>
                </a:lnTo>
                <a:lnTo>
                  <a:pt x="340" y="1644"/>
                </a:lnTo>
                <a:lnTo>
                  <a:pt x="338" y="1644"/>
                </a:lnTo>
                <a:lnTo>
                  <a:pt x="336" y="1644"/>
                </a:lnTo>
                <a:lnTo>
                  <a:pt x="335" y="1643"/>
                </a:lnTo>
                <a:lnTo>
                  <a:pt x="333" y="1642"/>
                </a:lnTo>
                <a:lnTo>
                  <a:pt x="332" y="1640"/>
                </a:lnTo>
                <a:lnTo>
                  <a:pt x="331" y="1639"/>
                </a:lnTo>
                <a:lnTo>
                  <a:pt x="331" y="1637"/>
                </a:lnTo>
                <a:lnTo>
                  <a:pt x="331" y="1635"/>
                </a:lnTo>
                <a:lnTo>
                  <a:pt x="331" y="1633"/>
                </a:lnTo>
                <a:lnTo>
                  <a:pt x="331" y="1631"/>
                </a:lnTo>
                <a:lnTo>
                  <a:pt x="332" y="1630"/>
                </a:lnTo>
                <a:lnTo>
                  <a:pt x="333" y="1628"/>
                </a:lnTo>
                <a:lnTo>
                  <a:pt x="335" y="1627"/>
                </a:lnTo>
                <a:lnTo>
                  <a:pt x="336" y="1626"/>
                </a:lnTo>
                <a:lnTo>
                  <a:pt x="338" y="1626"/>
                </a:lnTo>
                <a:lnTo>
                  <a:pt x="340" y="1626"/>
                </a:lnTo>
                <a:close/>
                <a:moveTo>
                  <a:pt x="1584" y="1622"/>
                </a:moveTo>
                <a:lnTo>
                  <a:pt x="1586" y="1623"/>
                </a:lnTo>
                <a:lnTo>
                  <a:pt x="1587" y="1623"/>
                </a:lnTo>
                <a:lnTo>
                  <a:pt x="1589" y="1624"/>
                </a:lnTo>
                <a:lnTo>
                  <a:pt x="1590" y="1624"/>
                </a:lnTo>
                <a:lnTo>
                  <a:pt x="1592" y="1625"/>
                </a:lnTo>
                <a:lnTo>
                  <a:pt x="1593" y="1627"/>
                </a:lnTo>
                <a:lnTo>
                  <a:pt x="1594" y="1628"/>
                </a:lnTo>
                <a:lnTo>
                  <a:pt x="1595" y="1630"/>
                </a:lnTo>
                <a:lnTo>
                  <a:pt x="1596" y="1631"/>
                </a:lnTo>
                <a:lnTo>
                  <a:pt x="1596" y="1633"/>
                </a:lnTo>
                <a:lnTo>
                  <a:pt x="1596" y="1635"/>
                </a:lnTo>
                <a:lnTo>
                  <a:pt x="1596" y="1637"/>
                </a:lnTo>
                <a:lnTo>
                  <a:pt x="1596" y="1638"/>
                </a:lnTo>
                <a:lnTo>
                  <a:pt x="1595" y="1640"/>
                </a:lnTo>
                <a:lnTo>
                  <a:pt x="1594" y="1641"/>
                </a:lnTo>
                <a:lnTo>
                  <a:pt x="1593" y="1643"/>
                </a:lnTo>
                <a:lnTo>
                  <a:pt x="1592" y="1644"/>
                </a:lnTo>
                <a:lnTo>
                  <a:pt x="1590" y="1645"/>
                </a:lnTo>
                <a:lnTo>
                  <a:pt x="1589" y="1646"/>
                </a:lnTo>
                <a:lnTo>
                  <a:pt x="1587" y="1647"/>
                </a:lnTo>
                <a:lnTo>
                  <a:pt x="1586" y="1647"/>
                </a:lnTo>
                <a:lnTo>
                  <a:pt x="1584" y="1647"/>
                </a:lnTo>
                <a:lnTo>
                  <a:pt x="1582" y="1647"/>
                </a:lnTo>
                <a:lnTo>
                  <a:pt x="1580" y="1647"/>
                </a:lnTo>
                <a:lnTo>
                  <a:pt x="1579" y="1646"/>
                </a:lnTo>
                <a:lnTo>
                  <a:pt x="1577" y="1645"/>
                </a:lnTo>
                <a:lnTo>
                  <a:pt x="1576" y="1644"/>
                </a:lnTo>
                <a:lnTo>
                  <a:pt x="1574" y="1643"/>
                </a:lnTo>
                <a:lnTo>
                  <a:pt x="1573" y="1641"/>
                </a:lnTo>
                <a:lnTo>
                  <a:pt x="1573" y="1640"/>
                </a:lnTo>
                <a:lnTo>
                  <a:pt x="1572" y="1638"/>
                </a:lnTo>
                <a:lnTo>
                  <a:pt x="1571" y="1637"/>
                </a:lnTo>
                <a:lnTo>
                  <a:pt x="1571" y="1635"/>
                </a:lnTo>
                <a:lnTo>
                  <a:pt x="1571" y="1633"/>
                </a:lnTo>
                <a:lnTo>
                  <a:pt x="1572" y="1631"/>
                </a:lnTo>
                <a:lnTo>
                  <a:pt x="1573" y="1630"/>
                </a:lnTo>
                <a:lnTo>
                  <a:pt x="1573" y="1628"/>
                </a:lnTo>
                <a:lnTo>
                  <a:pt x="1574" y="1627"/>
                </a:lnTo>
                <a:lnTo>
                  <a:pt x="1576" y="1625"/>
                </a:lnTo>
                <a:lnTo>
                  <a:pt x="1577" y="1624"/>
                </a:lnTo>
                <a:lnTo>
                  <a:pt x="1579" y="1624"/>
                </a:lnTo>
                <a:lnTo>
                  <a:pt x="1580" y="1623"/>
                </a:lnTo>
                <a:lnTo>
                  <a:pt x="1582" y="1623"/>
                </a:lnTo>
                <a:lnTo>
                  <a:pt x="1584" y="1622"/>
                </a:lnTo>
                <a:close/>
                <a:moveTo>
                  <a:pt x="398" y="1618"/>
                </a:moveTo>
                <a:lnTo>
                  <a:pt x="399" y="1618"/>
                </a:lnTo>
                <a:lnTo>
                  <a:pt x="401" y="1619"/>
                </a:lnTo>
                <a:lnTo>
                  <a:pt x="402" y="1619"/>
                </a:lnTo>
                <a:lnTo>
                  <a:pt x="404" y="1621"/>
                </a:lnTo>
                <a:lnTo>
                  <a:pt x="404" y="1622"/>
                </a:lnTo>
                <a:lnTo>
                  <a:pt x="405" y="1624"/>
                </a:lnTo>
                <a:lnTo>
                  <a:pt x="405" y="1626"/>
                </a:lnTo>
                <a:lnTo>
                  <a:pt x="405" y="1627"/>
                </a:lnTo>
                <a:lnTo>
                  <a:pt x="404" y="1629"/>
                </a:lnTo>
                <a:lnTo>
                  <a:pt x="404" y="1631"/>
                </a:lnTo>
                <a:lnTo>
                  <a:pt x="402" y="1632"/>
                </a:lnTo>
                <a:lnTo>
                  <a:pt x="401" y="1633"/>
                </a:lnTo>
                <a:lnTo>
                  <a:pt x="399" y="1633"/>
                </a:lnTo>
                <a:lnTo>
                  <a:pt x="398" y="1634"/>
                </a:lnTo>
                <a:lnTo>
                  <a:pt x="396" y="1633"/>
                </a:lnTo>
                <a:lnTo>
                  <a:pt x="394" y="1633"/>
                </a:lnTo>
                <a:lnTo>
                  <a:pt x="393" y="1632"/>
                </a:lnTo>
                <a:lnTo>
                  <a:pt x="391" y="1631"/>
                </a:lnTo>
                <a:lnTo>
                  <a:pt x="391" y="1629"/>
                </a:lnTo>
                <a:lnTo>
                  <a:pt x="390" y="1627"/>
                </a:lnTo>
                <a:lnTo>
                  <a:pt x="390" y="1626"/>
                </a:lnTo>
                <a:lnTo>
                  <a:pt x="390" y="1624"/>
                </a:lnTo>
                <a:lnTo>
                  <a:pt x="391" y="1622"/>
                </a:lnTo>
                <a:lnTo>
                  <a:pt x="391" y="1621"/>
                </a:lnTo>
                <a:lnTo>
                  <a:pt x="393" y="1619"/>
                </a:lnTo>
                <a:lnTo>
                  <a:pt x="394" y="1619"/>
                </a:lnTo>
                <a:lnTo>
                  <a:pt x="396" y="1618"/>
                </a:lnTo>
                <a:lnTo>
                  <a:pt x="398" y="1618"/>
                </a:lnTo>
                <a:close/>
                <a:moveTo>
                  <a:pt x="238" y="1591"/>
                </a:moveTo>
                <a:lnTo>
                  <a:pt x="239" y="1591"/>
                </a:lnTo>
                <a:lnTo>
                  <a:pt x="239" y="1592"/>
                </a:lnTo>
                <a:lnTo>
                  <a:pt x="239" y="1593"/>
                </a:lnTo>
                <a:lnTo>
                  <a:pt x="238" y="1593"/>
                </a:lnTo>
                <a:lnTo>
                  <a:pt x="238" y="1593"/>
                </a:lnTo>
                <a:lnTo>
                  <a:pt x="237" y="1592"/>
                </a:lnTo>
                <a:lnTo>
                  <a:pt x="238" y="1591"/>
                </a:lnTo>
                <a:lnTo>
                  <a:pt x="238" y="1591"/>
                </a:lnTo>
                <a:close/>
                <a:moveTo>
                  <a:pt x="1686" y="1587"/>
                </a:moveTo>
                <a:lnTo>
                  <a:pt x="1688" y="1588"/>
                </a:lnTo>
                <a:lnTo>
                  <a:pt x="1690" y="1590"/>
                </a:lnTo>
                <a:lnTo>
                  <a:pt x="1690" y="1592"/>
                </a:lnTo>
                <a:lnTo>
                  <a:pt x="1690" y="1594"/>
                </a:lnTo>
                <a:lnTo>
                  <a:pt x="1688" y="1596"/>
                </a:lnTo>
                <a:lnTo>
                  <a:pt x="1686" y="1596"/>
                </a:lnTo>
                <a:lnTo>
                  <a:pt x="1684" y="1596"/>
                </a:lnTo>
                <a:lnTo>
                  <a:pt x="1682" y="1594"/>
                </a:lnTo>
                <a:lnTo>
                  <a:pt x="1681" y="1592"/>
                </a:lnTo>
                <a:lnTo>
                  <a:pt x="1682" y="1590"/>
                </a:lnTo>
                <a:lnTo>
                  <a:pt x="1684" y="1588"/>
                </a:lnTo>
                <a:lnTo>
                  <a:pt x="1686" y="1587"/>
                </a:lnTo>
                <a:close/>
                <a:moveTo>
                  <a:pt x="292" y="1578"/>
                </a:moveTo>
                <a:lnTo>
                  <a:pt x="294" y="1578"/>
                </a:lnTo>
                <a:lnTo>
                  <a:pt x="295" y="1579"/>
                </a:lnTo>
                <a:lnTo>
                  <a:pt x="297" y="1580"/>
                </a:lnTo>
                <a:lnTo>
                  <a:pt x="298" y="1581"/>
                </a:lnTo>
                <a:lnTo>
                  <a:pt x="299" y="1582"/>
                </a:lnTo>
                <a:lnTo>
                  <a:pt x="300" y="1583"/>
                </a:lnTo>
                <a:lnTo>
                  <a:pt x="301" y="1585"/>
                </a:lnTo>
                <a:lnTo>
                  <a:pt x="301" y="1587"/>
                </a:lnTo>
                <a:lnTo>
                  <a:pt x="301" y="1589"/>
                </a:lnTo>
                <a:lnTo>
                  <a:pt x="300" y="1590"/>
                </a:lnTo>
                <a:lnTo>
                  <a:pt x="299" y="1592"/>
                </a:lnTo>
                <a:lnTo>
                  <a:pt x="298" y="1593"/>
                </a:lnTo>
                <a:lnTo>
                  <a:pt x="297" y="1594"/>
                </a:lnTo>
                <a:lnTo>
                  <a:pt x="295" y="1595"/>
                </a:lnTo>
                <a:lnTo>
                  <a:pt x="294" y="1596"/>
                </a:lnTo>
                <a:lnTo>
                  <a:pt x="292" y="1596"/>
                </a:lnTo>
                <a:lnTo>
                  <a:pt x="290" y="1596"/>
                </a:lnTo>
                <a:lnTo>
                  <a:pt x="288" y="1595"/>
                </a:lnTo>
                <a:lnTo>
                  <a:pt x="287" y="1594"/>
                </a:lnTo>
                <a:lnTo>
                  <a:pt x="286" y="1593"/>
                </a:lnTo>
                <a:lnTo>
                  <a:pt x="285" y="1592"/>
                </a:lnTo>
                <a:lnTo>
                  <a:pt x="284" y="1590"/>
                </a:lnTo>
                <a:lnTo>
                  <a:pt x="283" y="1589"/>
                </a:lnTo>
                <a:lnTo>
                  <a:pt x="283" y="1587"/>
                </a:lnTo>
                <a:lnTo>
                  <a:pt x="283" y="1585"/>
                </a:lnTo>
                <a:lnTo>
                  <a:pt x="284" y="1583"/>
                </a:lnTo>
                <a:lnTo>
                  <a:pt x="285" y="1582"/>
                </a:lnTo>
                <a:lnTo>
                  <a:pt x="286" y="1581"/>
                </a:lnTo>
                <a:lnTo>
                  <a:pt x="287" y="1580"/>
                </a:lnTo>
                <a:lnTo>
                  <a:pt x="288" y="1579"/>
                </a:lnTo>
                <a:lnTo>
                  <a:pt x="290" y="1578"/>
                </a:lnTo>
                <a:lnTo>
                  <a:pt x="292" y="1578"/>
                </a:lnTo>
                <a:close/>
                <a:moveTo>
                  <a:pt x="1632" y="1574"/>
                </a:moveTo>
                <a:lnTo>
                  <a:pt x="1634" y="1574"/>
                </a:lnTo>
                <a:lnTo>
                  <a:pt x="1635" y="1575"/>
                </a:lnTo>
                <a:lnTo>
                  <a:pt x="1637" y="1575"/>
                </a:lnTo>
                <a:lnTo>
                  <a:pt x="1639" y="1576"/>
                </a:lnTo>
                <a:lnTo>
                  <a:pt x="1640" y="1577"/>
                </a:lnTo>
                <a:lnTo>
                  <a:pt x="1641" y="1579"/>
                </a:lnTo>
                <a:lnTo>
                  <a:pt x="1642" y="1580"/>
                </a:lnTo>
                <a:lnTo>
                  <a:pt x="1643" y="1581"/>
                </a:lnTo>
                <a:lnTo>
                  <a:pt x="1644" y="1583"/>
                </a:lnTo>
                <a:lnTo>
                  <a:pt x="1644" y="1585"/>
                </a:lnTo>
                <a:lnTo>
                  <a:pt x="1644" y="1586"/>
                </a:lnTo>
                <a:lnTo>
                  <a:pt x="1644" y="1588"/>
                </a:lnTo>
                <a:lnTo>
                  <a:pt x="1644" y="1590"/>
                </a:lnTo>
                <a:lnTo>
                  <a:pt x="1643" y="1592"/>
                </a:lnTo>
                <a:lnTo>
                  <a:pt x="1642" y="1593"/>
                </a:lnTo>
                <a:lnTo>
                  <a:pt x="1641" y="1594"/>
                </a:lnTo>
                <a:lnTo>
                  <a:pt x="1640" y="1596"/>
                </a:lnTo>
                <a:lnTo>
                  <a:pt x="1639" y="1597"/>
                </a:lnTo>
                <a:lnTo>
                  <a:pt x="1637" y="1597"/>
                </a:lnTo>
                <a:lnTo>
                  <a:pt x="1635" y="1598"/>
                </a:lnTo>
                <a:lnTo>
                  <a:pt x="1634" y="1598"/>
                </a:lnTo>
                <a:lnTo>
                  <a:pt x="1632" y="1599"/>
                </a:lnTo>
                <a:lnTo>
                  <a:pt x="1630" y="1598"/>
                </a:lnTo>
                <a:lnTo>
                  <a:pt x="1628" y="1598"/>
                </a:lnTo>
                <a:lnTo>
                  <a:pt x="1627" y="1597"/>
                </a:lnTo>
                <a:lnTo>
                  <a:pt x="1625" y="1597"/>
                </a:lnTo>
                <a:lnTo>
                  <a:pt x="1624" y="1596"/>
                </a:lnTo>
                <a:lnTo>
                  <a:pt x="1623" y="1594"/>
                </a:lnTo>
                <a:lnTo>
                  <a:pt x="1622" y="1593"/>
                </a:lnTo>
                <a:lnTo>
                  <a:pt x="1621" y="1592"/>
                </a:lnTo>
                <a:lnTo>
                  <a:pt x="1620" y="1590"/>
                </a:lnTo>
                <a:lnTo>
                  <a:pt x="1620" y="1588"/>
                </a:lnTo>
                <a:lnTo>
                  <a:pt x="1620" y="1586"/>
                </a:lnTo>
                <a:lnTo>
                  <a:pt x="1620" y="1585"/>
                </a:lnTo>
                <a:lnTo>
                  <a:pt x="1620" y="1583"/>
                </a:lnTo>
                <a:lnTo>
                  <a:pt x="1621" y="1581"/>
                </a:lnTo>
                <a:lnTo>
                  <a:pt x="1622" y="1580"/>
                </a:lnTo>
                <a:lnTo>
                  <a:pt x="1623" y="1579"/>
                </a:lnTo>
                <a:lnTo>
                  <a:pt x="1624" y="1577"/>
                </a:lnTo>
                <a:lnTo>
                  <a:pt x="1625" y="1576"/>
                </a:lnTo>
                <a:lnTo>
                  <a:pt x="1627" y="1575"/>
                </a:lnTo>
                <a:lnTo>
                  <a:pt x="1628" y="1575"/>
                </a:lnTo>
                <a:lnTo>
                  <a:pt x="1630" y="1574"/>
                </a:lnTo>
                <a:lnTo>
                  <a:pt x="1632" y="1574"/>
                </a:lnTo>
                <a:close/>
                <a:moveTo>
                  <a:pt x="348" y="1571"/>
                </a:moveTo>
                <a:lnTo>
                  <a:pt x="349" y="1571"/>
                </a:lnTo>
                <a:lnTo>
                  <a:pt x="351" y="1571"/>
                </a:lnTo>
                <a:lnTo>
                  <a:pt x="352" y="1572"/>
                </a:lnTo>
                <a:lnTo>
                  <a:pt x="354" y="1573"/>
                </a:lnTo>
                <a:lnTo>
                  <a:pt x="355" y="1574"/>
                </a:lnTo>
                <a:lnTo>
                  <a:pt x="356" y="1576"/>
                </a:lnTo>
                <a:lnTo>
                  <a:pt x="356" y="1578"/>
                </a:lnTo>
                <a:lnTo>
                  <a:pt x="356" y="1579"/>
                </a:lnTo>
                <a:lnTo>
                  <a:pt x="356" y="1581"/>
                </a:lnTo>
                <a:lnTo>
                  <a:pt x="356" y="1583"/>
                </a:lnTo>
                <a:lnTo>
                  <a:pt x="355" y="1584"/>
                </a:lnTo>
                <a:lnTo>
                  <a:pt x="354" y="1585"/>
                </a:lnTo>
                <a:lnTo>
                  <a:pt x="352" y="1586"/>
                </a:lnTo>
                <a:lnTo>
                  <a:pt x="351" y="1587"/>
                </a:lnTo>
                <a:lnTo>
                  <a:pt x="349" y="1588"/>
                </a:lnTo>
                <a:lnTo>
                  <a:pt x="348" y="1588"/>
                </a:lnTo>
                <a:lnTo>
                  <a:pt x="346" y="1588"/>
                </a:lnTo>
                <a:lnTo>
                  <a:pt x="344" y="1587"/>
                </a:lnTo>
                <a:lnTo>
                  <a:pt x="343" y="1586"/>
                </a:lnTo>
                <a:lnTo>
                  <a:pt x="342" y="1585"/>
                </a:lnTo>
                <a:lnTo>
                  <a:pt x="340" y="1584"/>
                </a:lnTo>
                <a:lnTo>
                  <a:pt x="340" y="1583"/>
                </a:lnTo>
                <a:lnTo>
                  <a:pt x="339" y="1581"/>
                </a:lnTo>
                <a:lnTo>
                  <a:pt x="339" y="1579"/>
                </a:lnTo>
                <a:lnTo>
                  <a:pt x="339" y="1578"/>
                </a:lnTo>
                <a:lnTo>
                  <a:pt x="340" y="1576"/>
                </a:lnTo>
                <a:lnTo>
                  <a:pt x="340" y="1574"/>
                </a:lnTo>
                <a:lnTo>
                  <a:pt x="342" y="1573"/>
                </a:lnTo>
                <a:lnTo>
                  <a:pt x="343" y="1572"/>
                </a:lnTo>
                <a:lnTo>
                  <a:pt x="344" y="1571"/>
                </a:lnTo>
                <a:lnTo>
                  <a:pt x="346" y="1571"/>
                </a:lnTo>
                <a:lnTo>
                  <a:pt x="348" y="1571"/>
                </a:lnTo>
                <a:close/>
                <a:moveTo>
                  <a:pt x="195" y="1538"/>
                </a:moveTo>
                <a:lnTo>
                  <a:pt x="196" y="1539"/>
                </a:lnTo>
                <a:lnTo>
                  <a:pt x="196" y="1539"/>
                </a:lnTo>
                <a:lnTo>
                  <a:pt x="196" y="1540"/>
                </a:lnTo>
                <a:lnTo>
                  <a:pt x="195" y="1540"/>
                </a:lnTo>
                <a:lnTo>
                  <a:pt x="194" y="1540"/>
                </a:lnTo>
                <a:lnTo>
                  <a:pt x="194" y="1539"/>
                </a:lnTo>
                <a:lnTo>
                  <a:pt x="194" y="1539"/>
                </a:lnTo>
                <a:lnTo>
                  <a:pt x="195" y="1538"/>
                </a:lnTo>
                <a:close/>
                <a:moveTo>
                  <a:pt x="1729" y="1535"/>
                </a:moveTo>
                <a:lnTo>
                  <a:pt x="1731" y="1535"/>
                </a:lnTo>
                <a:lnTo>
                  <a:pt x="1732" y="1537"/>
                </a:lnTo>
                <a:lnTo>
                  <a:pt x="1733" y="1539"/>
                </a:lnTo>
                <a:lnTo>
                  <a:pt x="1732" y="1541"/>
                </a:lnTo>
                <a:lnTo>
                  <a:pt x="1731" y="1542"/>
                </a:lnTo>
                <a:lnTo>
                  <a:pt x="1729" y="1543"/>
                </a:lnTo>
                <a:lnTo>
                  <a:pt x="1727" y="1542"/>
                </a:lnTo>
                <a:lnTo>
                  <a:pt x="1725" y="1541"/>
                </a:lnTo>
                <a:lnTo>
                  <a:pt x="1725" y="1539"/>
                </a:lnTo>
                <a:lnTo>
                  <a:pt x="1725" y="1537"/>
                </a:lnTo>
                <a:lnTo>
                  <a:pt x="1727" y="1535"/>
                </a:lnTo>
                <a:lnTo>
                  <a:pt x="1729" y="1535"/>
                </a:lnTo>
                <a:close/>
                <a:moveTo>
                  <a:pt x="247" y="1526"/>
                </a:moveTo>
                <a:lnTo>
                  <a:pt x="249" y="1527"/>
                </a:lnTo>
                <a:lnTo>
                  <a:pt x="250" y="1527"/>
                </a:lnTo>
                <a:lnTo>
                  <a:pt x="252" y="1528"/>
                </a:lnTo>
                <a:lnTo>
                  <a:pt x="253" y="1529"/>
                </a:lnTo>
                <a:lnTo>
                  <a:pt x="254" y="1530"/>
                </a:lnTo>
                <a:lnTo>
                  <a:pt x="255" y="1532"/>
                </a:lnTo>
                <a:lnTo>
                  <a:pt x="255" y="1533"/>
                </a:lnTo>
                <a:lnTo>
                  <a:pt x="256" y="1535"/>
                </a:lnTo>
                <a:lnTo>
                  <a:pt x="255" y="1537"/>
                </a:lnTo>
                <a:lnTo>
                  <a:pt x="255" y="1538"/>
                </a:lnTo>
                <a:lnTo>
                  <a:pt x="254" y="1540"/>
                </a:lnTo>
                <a:lnTo>
                  <a:pt x="253" y="1541"/>
                </a:lnTo>
                <a:lnTo>
                  <a:pt x="252" y="1542"/>
                </a:lnTo>
                <a:lnTo>
                  <a:pt x="250" y="1543"/>
                </a:lnTo>
                <a:lnTo>
                  <a:pt x="249" y="1543"/>
                </a:lnTo>
                <a:lnTo>
                  <a:pt x="247" y="1544"/>
                </a:lnTo>
                <a:lnTo>
                  <a:pt x="245" y="1543"/>
                </a:lnTo>
                <a:lnTo>
                  <a:pt x="244" y="1543"/>
                </a:lnTo>
                <a:lnTo>
                  <a:pt x="242" y="1542"/>
                </a:lnTo>
                <a:lnTo>
                  <a:pt x="241" y="1541"/>
                </a:lnTo>
                <a:lnTo>
                  <a:pt x="240" y="1540"/>
                </a:lnTo>
                <a:lnTo>
                  <a:pt x="239" y="1538"/>
                </a:lnTo>
                <a:lnTo>
                  <a:pt x="239" y="1537"/>
                </a:lnTo>
                <a:lnTo>
                  <a:pt x="239" y="1535"/>
                </a:lnTo>
                <a:lnTo>
                  <a:pt x="239" y="1533"/>
                </a:lnTo>
                <a:lnTo>
                  <a:pt x="239" y="1532"/>
                </a:lnTo>
                <a:lnTo>
                  <a:pt x="240" y="1530"/>
                </a:lnTo>
                <a:lnTo>
                  <a:pt x="241" y="1529"/>
                </a:lnTo>
                <a:lnTo>
                  <a:pt x="242" y="1528"/>
                </a:lnTo>
                <a:lnTo>
                  <a:pt x="244" y="1527"/>
                </a:lnTo>
                <a:lnTo>
                  <a:pt x="245" y="1527"/>
                </a:lnTo>
                <a:lnTo>
                  <a:pt x="247" y="1526"/>
                </a:lnTo>
                <a:close/>
                <a:moveTo>
                  <a:pt x="1677" y="1523"/>
                </a:moveTo>
                <a:lnTo>
                  <a:pt x="1678" y="1523"/>
                </a:lnTo>
                <a:lnTo>
                  <a:pt x="1680" y="1524"/>
                </a:lnTo>
                <a:lnTo>
                  <a:pt x="1682" y="1524"/>
                </a:lnTo>
                <a:lnTo>
                  <a:pt x="1683" y="1525"/>
                </a:lnTo>
                <a:lnTo>
                  <a:pt x="1684" y="1526"/>
                </a:lnTo>
                <a:lnTo>
                  <a:pt x="1686" y="1527"/>
                </a:lnTo>
                <a:lnTo>
                  <a:pt x="1687" y="1528"/>
                </a:lnTo>
                <a:lnTo>
                  <a:pt x="1687" y="1530"/>
                </a:lnTo>
                <a:lnTo>
                  <a:pt x="1688" y="1531"/>
                </a:lnTo>
                <a:lnTo>
                  <a:pt x="1688" y="1533"/>
                </a:lnTo>
                <a:lnTo>
                  <a:pt x="1688" y="1535"/>
                </a:lnTo>
                <a:lnTo>
                  <a:pt x="1688" y="1536"/>
                </a:lnTo>
                <a:lnTo>
                  <a:pt x="1688" y="1538"/>
                </a:lnTo>
                <a:lnTo>
                  <a:pt x="1687" y="1540"/>
                </a:lnTo>
                <a:lnTo>
                  <a:pt x="1687" y="1541"/>
                </a:lnTo>
                <a:lnTo>
                  <a:pt x="1686" y="1542"/>
                </a:lnTo>
                <a:lnTo>
                  <a:pt x="1684" y="1544"/>
                </a:lnTo>
                <a:lnTo>
                  <a:pt x="1683" y="1545"/>
                </a:lnTo>
                <a:lnTo>
                  <a:pt x="1682" y="1545"/>
                </a:lnTo>
                <a:lnTo>
                  <a:pt x="1680" y="1546"/>
                </a:lnTo>
                <a:lnTo>
                  <a:pt x="1678" y="1546"/>
                </a:lnTo>
                <a:lnTo>
                  <a:pt x="1677" y="1546"/>
                </a:lnTo>
                <a:lnTo>
                  <a:pt x="1675" y="1546"/>
                </a:lnTo>
                <a:lnTo>
                  <a:pt x="1673" y="1546"/>
                </a:lnTo>
                <a:lnTo>
                  <a:pt x="1672" y="1545"/>
                </a:lnTo>
                <a:lnTo>
                  <a:pt x="1670" y="1545"/>
                </a:lnTo>
                <a:lnTo>
                  <a:pt x="1669" y="1544"/>
                </a:lnTo>
                <a:lnTo>
                  <a:pt x="1668" y="1542"/>
                </a:lnTo>
                <a:lnTo>
                  <a:pt x="1667" y="1541"/>
                </a:lnTo>
                <a:lnTo>
                  <a:pt x="1666" y="1540"/>
                </a:lnTo>
                <a:lnTo>
                  <a:pt x="1666" y="1538"/>
                </a:lnTo>
                <a:lnTo>
                  <a:pt x="1665" y="1536"/>
                </a:lnTo>
                <a:lnTo>
                  <a:pt x="1665" y="1535"/>
                </a:lnTo>
                <a:lnTo>
                  <a:pt x="1665" y="1533"/>
                </a:lnTo>
                <a:lnTo>
                  <a:pt x="1666" y="1531"/>
                </a:lnTo>
                <a:lnTo>
                  <a:pt x="1666" y="1530"/>
                </a:lnTo>
                <a:lnTo>
                  <a:pt x="1667" y="1528"/>
                </a:lnTo>
                <a:lnTo>
                  <a:pt x="1668" y="1527"/>
                </a:lnTo>
                <a:lnTo>
                  <a:pt x="1669" y="1526"/>
                </a:lnTo>
                <a:lnTo>
                  <a:pt x="1670" y="1525"/>
                </a:lnTo>
                <a:lnTo>
                  <a:pt x="1672" y="1524"/>
                </a:lnTo>
                <a:lnTo>
                  <a:pt x="1673" y="1524"/>
                </a:lnTo>
                <a:lnTo>
                  <a:pt x="1675" y="1523"/>
                </a:lnTo>
                <a:lnTo>
                  <a:pt x="1677" y="1523"/>
                </a:lnTo>
                <a:close/>
                <a:moveTo>
                  <a:pt x="301" y="1520"/>
                </a:moveTo>
                <a:lnTo>
                  <a:pt x="303" y="1520"/>
                </a:lnTo>
                <a:lnTo>
                  <a:pt x="305" y="1521"/>
                </a:lnTo>
                <a:lnTo>
                  <a:pt x="306" y="1521"/>
                </a:lnTo>
                <a:lnTo>
                  <a:pt x="308" y="1523"/>
                </a:lnTo>
                <a:lnTo>
                  <a:pt x="309" y="1524"/>
                </a:lnTo>
                <a:lnTo>
                  <a:pt x="310" y="1526"/>
                </a:lnTo>
                <a:lnTo>
                  <a:pt x="310" y="1527"/>
                </a:lnTo>
                <a:lnTo>
                  <a:pt x="311" y="1529"/>
                </a:lnTo>
                <a:lnTo>
                  <a:pt x="310" y="1531"/>
                </a:lnTo>
                <a:lnTo>
                  <a:pt x="310" y="1533"/>
                </a:lnTo>
                <a:lnTo>
                  <a:pt x="309" y="1534"/>
                </a:lnTo>
                <a:lnTo>
                  <a:pt x="308" y="1536"/>
                </a:lnTo>
                <a:lnTo>
                  <a:pt x="306" y="1537"/>
                </a:lnTo>
                <a:lnTo>
                  <a:pt x="305" y="1538"/>
                </a:lnTo>
                <a:lnTo>
                  <a:pt x="303" y="1538"/>
                </a:lnTo>
                <a:lnTo>
                  <a:pt x="301" y="1538"/>
                </a:lnTo>
                <a:lnTo>
                  <a:pt x="299" y="1538"/>
                </a:lnTo>
                <a:lnTo>
                  <a:pt x="298" y="1538"/>
                </a:lnTo>
                <a:lnTo>
                  <a:pt x="296" y="1537"/>
                </a:lnTo>
                <a:lnTo>
                  <a:pt x="295" y="1536"/>
                </a:lnTo>
                <a:lnTo>
                  <a:pt x="293" y="1534"/>
                </a:lnTo>
                <a:lnTo>
                  <a:pt x="293" y="1533"/>
                </a:lnTo>
                <a:lnTo>
                  <a:pt x="292" y="1531"/>
                </a:lnTo>
                <a:lnTo>
                  <a:pt x="292" y="1529"/>
                </a:lnTo>
                <a:lnTo>
                  <a:pt x="292" y="1527"/>
                </a:lnTo>
                <a:lnTo>
                  <a:pt x="293" y="1526"/>
                </a:lnTo>
                <a:lnTo>
                  <a:pt x="293" y="1524"/>
                </a:lnTo>
                <a:lnTo>
                  <a:pt x="295" y="1523"/>
                </a:lnTo>
                <a:lnTo>
                  <a:pt x="296" y="1521"/>
                </a:lnTo>
                <a:lnTo>
                  <a:pt x="298" y="1521"/>
                </a:lnTo>
                <a:lnTo>
                  <a:pt x="299" y="1520"/>
                </a:lnTo>
                <a:lnTo>
                  <a:pt x="301" y="1520"/>
                </a:lnTo>
                <a:close/>
                <a:moveTo>
                  <a:pt x="156" y="1482"/>
                </a:moveTo>
                <a:lnTo>
                  <a:pt x="156" y="1482"/>
                </a:lnTo>
                <a:lnTo>
                  <a:pt x="157" y="1483"/>
                </a:lnTo>
                <a:lnTo>
                  <a:pt x="156" y="1484"/>
                </a:lnTo>
                <a:lnTo>
                  <a:pt x="156" y="1484"/>
                </a:lnTo>
                <a:lnTo>
                  <a:pt x="155" y="1484"/>
                </a:lnTo>
                <a:lnTo>
                  <a:pt x="155" y="1483"/>
                </a:lnTo>
                <a:lnTo>
                  <a:pt x="155" y="1482"/>
                </a:lnTo>
                <a:lnTo>
                  <a:pt x="156" y="1482"/>
                </a:lnTo>
                <a:close/>
                <a:moveTo>
                  <a:pt x="1768" y="1479"/>
                </a:moveTo>
                <a:lnTo>
                  <a:pt x="1770" y="1480"/>
                </a:lnTo>
                <a:lnTo>
                  <a:pt x="1771" y="1483"/>
                </a:lnTo>
                <a:lnTo>
                  <a:pt x="1770" y="1485"/>
                </a:lnTo>
                <a:lnTo>
                  <a:pt x="1768" y="1486"/>
                </a:lnTo>
                <a:lnTo>
                  <a:pt x="1765" y="1485"/>
                </a:lnTo>
                <a:lnTo>
                  <a:pt x="1764" y="1483"/>
                </a:lnTo>
                <a:lnTo>
                  <a:pt x="1765" y="1480"/>
                </a:lnTo>
                <a:lnTo>
                  <a:pt x="1768" y="1479"/>
                </a:lnTo>
                <a:close/>
                <a:moveTo>
                  <a:pt x="206" y="1472"/>
                </a:moveTo>
                <a:lnTo>
                  <a:pt x="208" y="1472"/>
                </a:lnTo>
                <a:lnTo>
                  <a:pt x="210" y="1473"/>
                </a:lnTo>
                <a:lnTo>
                  <a:pt x="211" y="1474"/>
                </a:lnTo>
                <a:lnTo>
                  <a:pt x="213" y="1475"/>
                </a:lnTo>
                <a:lnTo>
                  <a:pt x="214" y="1476"/>
                </a:lnTo>
                <a:lnTo>
                  <a:pt x="214" y="1478"/>
                </a:lnTo>
                <a:lnTo>
                  <a:pt x="214" y="1480"/>
                </a:lnTo>
                <a:lnTo>
                  <a:pt x="214" y="1482"/>
                </a:lnTo>
                <a:lnTo>
                  <a:pt x="214" y="1484"/>
                </a:lnTo>
                <a:lnTo>
                  <a:pt x="213" y="1485"/>
                </a:lnTo>
                <a:lnTo>
                  <a:pt x="211" y="1487"/>
                </a:lnTo>
                <a:lnTo>
                  <a:pt x="210" y="1488"/>
                </a:lnTo>
                <a:lnTo>
                  <a:pt x="208" y="1488"/>
                </a:lnTo>
                <a:lnTo>
                  <a:pt x="206" y="1489"/>
                </a:lnTo>
                <a:lnTo>
                  <a:pt x="204" y="1488"/>
                </a:lnTo>
                <a:lnTo>
                  <a:pt x="203" y="1488"/>
                </a:lnTo>
                <a:lnTo>
                  <a:pt x="201" y="1487"/>
                </a:lnTo>
                <a:lnTo>
                  <a:pt x="200" y="1485"/>
                </a:lnTo>
                <a:lnTo>
                  <a:pt x="199" y="1484"/>
                </a:lnTo>
                <a:lnTo>
                  <a:pt x="198" y="1482"/>
                </a:lnTo>
                <a:lnTo>
                  <a:pt x="198" y="1480"/>
                </a:lnTo>
                <a:lnTo>
                  <a:pt x="198" y="1478"/>
                </a:lnTo>
                <a:lnTo>
                  <a:pt x="199" y="1476"/>
                </a:lnTo>
                <a:lnTo>
                  <a:pt x="200" y="1475"/>
                </a:lnTo>
                <a:lnTo>
                  <a:pt x="201" y="1474"/>
                </a:lnTo>
                <a:lnTo>
                  <a:pt x="203" y="1473"/>
                </a:lnTo>
                <a:lnTo>
                  <a:pt x="204" y="1472"/>
                </a:lnTo>
                <a:lnTo>
                  <a:pt x="206" y="1472"/>
                </a:lnTo>
                <a:close/>
                <a:moveTo>
                  <a:pt x="1717" y="1469"/>
                </a:moveTo>
                <a:lnTo>
                  <a:pt x="1719" y="1469"/>
                </a:lnTo>
                <a:lnTo>
                  <a:pt x="1721" y="1469"/>
                </a:lnTo>
                <a:lnTo>
                  <a:pt x="1722" y="1470"/>
                </a:lnTo>
                <a:lnTo>
                  <a:pt x="1724" y="1471"/>
                </a:lnTo>
                <a:lnTo>
                  <a:pt x="1725" y="1472"/>
                </a:lnTo>
                <a:lnTo>
                  <a:pt x="1726" y="1473"/>
                </a:lnTo>
                <a:lnTo>
                  <a:pt x="1727" y="1475"/>
                </a:lnTo>
                <a:lnTo>
                  <a:pt x="1728" y="1476"/>
                </a:lnTo>
                <a:lnTo>
                  <a:pt x="1728" y="1478"/>
                </a:lnTo>
                <a:lnTo>
                  <a:pt x="1728" y="1480"/>
                </a:lnTo>
                <a:lnTo>
                  <a:pt x="1728" y="1482"/>
                </a:lnTo>
                <a:lnTo>
                  <a:pt x="1728" y="1484"/>
                </a:lnTo>
                <a:lnTo>
                  <a:pt x="1727" y="1485"/>
                </a:lnTo>
                <a:lnTo>
                  <a:pt x="1726" y="1487"/>
                </a:lnTo>
                <a:lnTo>
                  <a:pt x="1725" y="1488"/>
                </a:lnTo>
                <a:lnTo>
                  <a:pt x="1724" y="1489"/>
                </a:lnTo>
                <a:lnTo>
                  <a:pt x="1722" y="1490"/>
                </a:lnTo>
                <a:lnTo>
                  <a:pt x="1721" y="1491"/>
                </a:lnTo>
                <a:lnTo>
                  <a:pt x="1719" y="1491"/>
                </a:lnTo>
                <a:lnTo>
                  <a:pt x="1717" y="1491"/>
                </a:lnTo>
                <a:lnTo>
                  <a:pt x="1715" y="1491"/>
                </a:lnTo>
                <a:lnTo>
                  <a:pt x="1714" y="1491"/>
                </a:lnTo>
                <a:lnTo>
                  <a:pt x="1712" y="1490"/>
                </a:lnTo>
                <a:lnTo>
                  <a:pt x="1711" y="1489"/>
                </a:lnTo>
                <a:lnTo>
                  <a:pt x="1709" y="1488"/>
                </a:lnTo>
                <a:lnTo>
                  <a:pt x="1708" y="1487"/>
                </a:lnTo>
                <a:lnTo>
                  <a:pt x="1707" y="1485"/>
                </a:lnTo>
                <a:lnTo>
                  <a:pt x="1707" y="1484"/>
                </a:lnTo>
                <a:lnTo>
                  <a:pt x="1706" y="1482"/>
                </a:lnTo>
                <a:lnTo>
                  <a:pt x="1706" y="1480"/>
                </a:lnTo>
                <a:lnTo>
                  <a:pt x="1706" y="1478"/>
                </a:lnTo>
                <a:lnTo>
                  <a:pt x="1707" y="1476"/>
                </a:lnTo>
                <a:lnTo>
                  <a:pt x="1707" y="1475"/>
                </a:lnTo>
                <a:lnTo>
                  <a:pt x="1708" y="1473"/>
                </a:lnTo>
                <a:lnTo>
                  <a:pt x="1709" y="1472"/>
                </a:lnTo>
                <a:lnTo>
                  <a:pt x="1711" y="1471"/>
                </a:lnTo>
                <a:lnTo>
                  <a:pt x="1712" y="1470"/>
                </a:lnTo>
                <a:lnTo>
                  <a:pt x="1714" y="1469"/>
                </a:lnTo>
                <a:lnTo>
                  <a:pt x="1715" y="1469"/>
                </a:lnTo>
                <a:lnTo>
                  <a:pt x="1717" y="1469"/>
                </a:lnTo>
                <a:close/>
                <a:moveTo>
                  <a:pt x="259" y="1466"/>
                </a:moveTo>
                <a:lnTo>
                  <a:pt x="261" y="1466"/>
                </a:lnTo>
                <a:lnTo>
                  <a:pt x="262" y="1467"/>
                </a:lnTo>
                <a:lnTo>
                  <a:pt x="264" y="1468"/>
                </a:lnTo>
                <a:lnTo>
                  <a:pt x="265" y="1469"/>
                </a:lnTo>
                <a:lnTo>
                  <a:pt x="266" y="1470"/>
                </a:lnTo>
                <a:lnTo>
                  <a:pt x="267" y="1471"/>
                </a:lnTo>
                <a:lnTo>
                  <a:pt x="268" y="1473"/>
                </a:lnTo>
                <a:lnTo>
                  <a:pt x="268" y="1474"/>
                </a:lnTo>
                <a:lnTo>
                  <a:pt x="269" y="1476"/>
                </a:lnTo>
                <a:lnTo>
                  <a:pt x="268" y="1478"/>
                </a:lnTo>
                <a:lnTo>
                  <a:pt x="268" y="1479"/>
                </a:lnTo>
                <a:lnTo>
                  <a:pt x="267" y="1481"/>
                </a:lnTo>
                <a:lnTo>
                  <a:pt x="266" y="1482"/>
                </a:lnTo>
                <a:lnTo>
                  <a:pt x="265" y="1483"/>
                </a:lnTo>
                <a:lnTo>
                  <a:pt x="264" y="1484"/>
                </a:lnTo>
                <a:lnTo>
                  <a:pt x="262" y="1485"/>
                </a:lnTo>
                <a:lnTo>
                  <a:pt x="261" y="1486"/>
                </a:lnTo>
                <a:lnTo>
                  <a:pt x="259" y="1486"/>
                </a:lnTo>
                <a:lnTo>
                  <a:pt x="257" y="1486"/>
                </a:lnTo>
                <a:lnTo>
                  <a:pt x="255" y="1485"/>
                </a:lnTo>
                <a:lnTo>
                  <a:pt x="254" y="1484"/>
                </a:lnTo>
                <a:lnTo>
                  <a:pt x="252" y="1483"/>
                </a:lnTo>
                <a:lnTo>
                  <a:pt x="251" y="1482"/>
                </a:lnTo>
                <a:lnTo>
                  <a:pt x="250" y="1481"/>
                </a:lnTo>
                <a:lnTo>
                  <a:pt x="250" y="1479"/>
                </a:lnTo>
                <a:lnTo>
                  <a:pt x="249" y="1478"/>
                </a:lnTo>
                <a:lnTo>
                  <a:pt x="249" y="1476"/>
                </a:lnTo>
                <a:lnTo>
                  <a:pt x="249" y="1474"/>
                </a:lnTo>
                <a:lnTo>
                  <a:pt x="250" y="1473"/>
                </a:lnTo>
                <a:lnTo>
                  <a:pt x="250" y="1471"/>
                </a:lnTo>
                <a:lnTo>
                  <a:pt x="251" y="1470"/>
                </a:lnTo>
                <a:lnTo>
                  <a:pt x="252" y="1469"/>
                </a:lnTo>
                <a:lnTo>
                  <a:pt x="254" y="1468"/>
                </a:lnTo>
                <a:lnTo>
                  <a:pt x="255" y="1467"/>
                </a:lnTo>
                <a:lnTo>
                  <a:pt x="257" y="1466"/>
                </a:lnTo>
                <a:lnTo>
                  <a:pt x="259" y="1466"/>
                </a:lnTo>
                <a:close/>
                <a:moveTo>
                  <a:pt x="121" y="1423"/>
                </a:moveTo>
                <a:lnTo>
                  <a:pt x="121" y="1424"/>
                </a:lnTo>
                <a:lnTo>
                  <a:pt x="122" y="1424"/>
                </a:lnTo>
                <a:lnTo>
                  <a:pt x="121" y="1425"/>
                </a:lnTo>
                <a:lnTo>
                  <a:pt x="121" y="1425"/>
                </a:lnTo>
                <a:lnTo>
                  <a:pt x="120" y="1425"/>
                </a:lnTo>
                <a:lnTo>
                  <a:pt x="120" y="1424"/>
                </a:lnTo>
                <a:lnTo>
                  <a:pt x="120" y="1424"/>
                </a:lnTo>
                <a:lnTo>
                  <a:pt x="121" y="1423"/>
                </a:lnTo>
                <a:close/>
                <a:moveTo>
                  <a:pt x="1803" y="1421"/>
                </a:moveTo>
                <a:lnTo>
                  <a:pt x="1805" y="1422"/>
                </a:lnTo>
                <a:lnTo>
                  <a:pt x="1806" y="1424"/>
                </a:lnTo>
                <a:lnTo>
                  <a:pt x="1805" y="1426"/>
                </a:lnTo>
                <a:lnTo>
                  <a:pt x="1803" y="1427"/>
                </a:lnTo>
                <a:lnTo>
                  <a:pt x="1801" y="1426"/>
                </a:lnTo>
                <a:lnTo>
                  <a:pt x="1800" y="1424"/>
                </a:lnTo>
                <a:lnTo>
                  <a:pt x="1801" y="1422"/>
                </a:lnTo>
                <a:lnTo>
                  <a:pt x="1803" y="1421"/>
                </a:lnTo>
                <a:close/>
                <a:moveTo>
                  <a:pt x="170" y="1414"/>
                </a:moveTo>
                <a:lnTo>
                  <a:pt x="172" y="1415"/>
                </a:lnTo>
                <a:lnTo>
                  <a:pt x="173" y="1415"/>
                </a:lnTo>
                <a:lnTo>
                  <a:pt x="175" y="1416"/>
                </a:lnTo>
                <a:lnTo>
                  <a:pt x="176" y="1417"/>
                </a:lnTo>
                <a:lnTo>
                  <a:pt x="177" y="1419"/>
                </a:lnTo>
                <a:lnTo>
                  <a:pt x="177" y="1421"/>
                </a:lnTo>
                <a:lnTo>
                  <a:pt x="178" y="1422"/>
                </a:lnTo>
                <a:lnTo>
                  <a:pt x="177" y="1424"/>
                </a:lnTo>
                <a:lnTo>
                  <a:pt x="177" y="1426"/>
                </a:lnTo>
                <a:lnTo>
                  <a:pt x="176" y="1427"/>
                </a:lnTo>
                <a:lnTo>
                  <a:pt x="175" y="1429"/>
                </a:lnTo>
                <a:lnTo>
                  <a:pt x="173" y="1429"/>
                </a:lnTo>
                <a:lnTo>
                  <a:pt x="172" y="1430"/>
                </a:lnTo>
                <a:lnTo>
                  <a:pt x="170" y="1430"/>
                </a:lnTo>
                <a:lnTo>
                  <a:pt x="168" y="1430"/>
                </a:lnTo>
                <a:lnTo>
                  <a:pt x="166" y="1429"/>
                </a:lnTo>
                <a:lnTo>
                  <a:pt x="165" y="1429"/>
                </a:lnTo>
                <a:lnTo>
                  <a:pt x="164" y="1427"/>
                </a:lnTo>
                <a:lnTo>
                  <a:pt x="163" y="1426"/>
                </a:lnTo>
                <a:lnTo>
                  <a:pt x="162" y="1424"/>
                </a:lnTo>
                <a:lnTo>
                  <a:pt x="162" y="1422"/>
                </a:lnTo>
                <a:lnTo>
                  <a:pt x="162" y="1421"/>
                </a:lnTo>
                <a:lnTo>
                  <a:pt x="163" y="1419"/>
                </a:lnTo>
                <a:lnTo>
                  <a:pt x="164" y="1417"/>
                </a:lnTo>
                <a:lnTo>
                  <a:pt x="165" y="1416"/>
                </a:lnTo>
                <a:lnTo>
                  <a:pt x="166" y="1415"/>
                </a:lnTo>
                <a:lnTo>
                  <a:pt x="168" y="1415"/>
                </a:lnTo>
                <a:lnTo>
                  <a:pt x="170" y="1414"/>
                </a:lnTo>
                <a:close/>
                <a:moveTo>
                  <a:pt x="1754" y="1411"/>
                </a:moveTo>
                <a:lnTo>
                  <a:pt x="1755" y="1411"/>
                </a:lnTo>
                <a:lnTo>
                  <a:pt x="1757" y="1412"/>
                </a:lnTo>
                <a:lnTo>
                  <a:pt x="1759" y="1412"/>
                </a:lnTo>
                <a:lnTo>
                  <a:pt x="1760" y="1413"/>
                </a:lnTo>
                <a:lnTo>
                  <a:pt x="1762" y="1414"/>
                </a:lnTo>
                <a:lnTo>
                  <a:pt x="1763" y="1416"/>
                </a:lnTo>
                <a:lnTo>
                  <a:pt x="1764" y="1417"/>
                </a:lnTo>
                <a:lnTo>
                  <a:pt x="1764" y="1419"/>
                </a:lnTo>
                <a:lnTo>
                  <a:pt x="1765" y="1420"/>
                </a:lnTo>
                <a:lnTo>
                  <a:pt x="1765" y="1422"/>
                </a:lnTo>
                <a:lnTo>
                  <a:pt x="1765" y="1424"/>
                </a:lnTo>
                <a:lnTo>
                  <a:pt x="1764" y="1426"/>
                </a:lnTo>
                <a:lnTo>
                  <a:pt x="1764" y="1427"/>
                </a:lnTo>
                <a:lnTo>
                  <a:pt x="1763" y="1429"/>
                </a:lnTo>
                <a:lnTo>
                  <a:pt x="1762" y="1430"/>
                </a:lnTo>
                <a:lnTo>
                  <a:pt x="1760" y="1431"/>
                </a:lnTo>
                <a:lnTo>
                  <a:pt x="1759" y="1432"/>
                </a:lnTo>
                <a:lnTo>
                  <a:pt x="1757" y="1433"/>
                </a:lnTo>
                <a:lnTo>
                  <a:pt x="1755" y="1433"/>
                </a:lnTo>
                <a:lnTo>
                  <a:pt x="1754" y="1433"/>
                </a:lnTo>
                <a:lnTo>
                  <a:pt x="1752" y="1433"/>
                </a:lnTo>
                <a:lnTo>
                  <a:pt x="1750" y="1433"/>
                </a:lnTo>
                <a:lnTo>
                  <a:pt x="1749" y="1432"/>
                </a:lnTo>
                <a:lnTo>
                  <a:pt x="1747" y="1431"/>
                </a:lnTo>
                <a:lnTo>
                  <a:pt x="1746" y="1430"/>
                </a:lnTo>
                <a:lnTo>
                  <a:pt x="1745" y="1429"/>
                </a:lnTo>
                <a:lnTo>
                  <a:pt x="1744" y="1427"/>
                </a:lnTo>
                <a:lnTo>
                  <a:pt x="1743" y="1426"/>
                </a:lnTo>
                <a:lnTo>
                  <a:pt x="1743" y="1424"/>
                </a:lnTo>
                <a:lnTo>
                  <a:pt x="1742" y="1422"/>
                </a:lnTo>
                <a:lnTo>
                  <a:pt x="1743" y="1420"/>
                </a:lnTo>
                <a:lnTo>
                  <a:pt x="1743" y="1419"/>
                </a:lnTo>
                <a:lnTo>
                  <a:pt x="1744" y="1417"/>
                </a:lnTo>
                <a:lnTo>
                  <a:pt x="1745" y="1416"/>
                </a:lnTo>
                <a:lnTo>
                  <a:pt x="1746" y="1414"/>
                </a:lnTo>
                <a:lnTo>
                  <a:pt x="1747" y="1413"/>
                </a:lnTo>
                <a:lnTo>
                  <a:pt x="1749" y="1412"/>
                </a:lnTo>
                <a:lnTo>
                  <a:pt x="1750" y="1412"/>
                </a:lnTo>
                <a:lnTo>
                  <a:pt x="1752" y="1411"/>
                </a:lnTo>
                <a:lnTo>
                  <a:pt x="1754" y="1411"/>
                </a:lnTo>
                <a:close/>
                <a:moveTo>
                  <a:pt x="221" y="1409"/>
                </a:moveTo>
                <a:lnTo>
                  <a:pt x="223" y="1409"/>
                </a:lnTo>
                <a:lnTo>
                  <a:pt x="224" y="1409"/>
                </a:lnTo>
                <a:lnTo>
                  <a:pt x="226" y="1410"/>
                </a:lnTo>
                <a:lnTo>
                  <a:pt x="227" y="1411"/>
                </a:lnTo>
                <a:lnTo>
                  <a:pt x="228" y="1413"/>
                </a:lnTo>
                <a:lnTo>
                  <a:pt x="229" y="1414"/>
                </a:lnTo>
                <a:lnTo>
                  <a:pt x="230" y="1416"/>
                </a:lnTo>
                <a:lnTo>
                  <a:pt x="231" y="1417"/>
                </a:lnTo>
                <a:lnTo>
                  <a:pt x="231" y="1419"/>
                </a:lnTo>
                <a:lnTo>
                  <a:pt x="231" y="1421"/>
                </a:lnTo>
                <a:lnTo>
                  <a:pt x="230" y="1423"/>
                </a:lnTo>
                <a:lnTo>
                  <a:pt x="229" y="1424"/>
                </a:lnTo>
                <a:lnTo>
                  <a:pt x="228" y="1426"/>
                </a:lnTo>
                <a:lnTo>
                  <a:pt x="227" y="1427"/>
                </a:lnTo>
                <a:lnTo>
                  <a:pt x="226" y="1428"/>
                </a:lnTo>
                <a:lnTo>
                  <a:pt x="224" y="1429"/>
                </a:lnTo>
                <a:lnTo>
                  <a:pt x="223" y="1429"/>
                </a:lnTo>
                <a:lnTo>
                  <a:pt x="221" y="1429"/>
                </a:lnTo>
                <a:lnTo>
                  <a:pt x="219" y="1429"/>
                </a:lnTo>
                <a:lnTo>
                  <a:pt x="217" y="1429"/>
                </a:lnTo>
                <a:lnTo>
                  <a:pt x="216" y="1428"/>
                </a:lnTo>
                <a:lnTo>
                  <a:pt x="214" y="1427"/>
                </a:lnTo>
                <a:lnTo>
                  <a:pt x="213" y="1426"/>
                </a:lnTo>
                <a:lnTo>
                  <a:pt x="212" y="1424"/>
                </a:lnTo>
                <a:lnTo>
                  <a:pt x="211" y="1423"/>
                </a:lnTo>
                <a:lnTo>
                  <a:pt x="211" y="1421"/>
                </a:lnTo>
                <a:lnTo>
                  <a:pt x="211" y="1419"/>
                </a:lnTo>
                <a:lnTo>
                  <a:pt x="211" y="1417"/>
                </a:lnTo>
                <a:lnTo>
                  <a:pt x="211" y="1416"/>
                </a:lnTo>
                <a:lnTo>
                  <a:pt x="212" y="1414"/>
                </a:lnTo>
                <a:lnTo>
                  <a:pt x="213" y="1413"/>
                </a:lnTo>
                <a:lnTo>
                  <a:pt x="214" y="1411"/>
                </a:lnTo>
                <a:lnTo>
                  <a:pt x="216" y="1410"/>
                </a:lnTo>
                <a:lnTo>
                  <a:pt x="217" y="1409"/>
                </a:lnTo>
                <a:lnTo>
                  <a:pt x="219" y="1409"/>
                </a:lnTo>
                <a:lnTo>
                  <a:pt x="221" y="1409"/>
                </a:lnTo>
                <a:close/>
                <a:moveTo>
                  <a:pt x="90" y="1362"/>
                </a:moveTo>
                <a:lnTo>
                  <a:pt x="91" y="1363"/>
                </a:lnTo>
                <a:lnTo>
                  <a:pt x="91" y="1363"/>
                </a:lnTo>
                <a:lnTo>
                  <a:pt x="91" y="1364"/>
                </a:lnTo>
                <a:lnTo>
                  <a:pt x="90" y="1365"/>
                </a:lnTo>
                <a:lnTo>
                  <a:pt x="89" y="1364"/>
                </a:lnTo>
                <a:lnTo>
                  <a:pt x="89" y="1363"/>
                </a:lnTo>
                <a:lnTo>
                  <a:pt x="89" y="1363"/>
                </a:lnTo>
                <a:lnTo>
                  <a:pt x="90" y="1362"/>
                </a:lnTo>
                <a:close/>
                <a:moveTo>
                  <a:pt x="1833" y="1360"/>
                </a:moveTo>
                <a:lnTo>
                  <a:pt x="1835" y="1361"/>
                </a:lnTo>
                <a:lnTo>
                  <a:pt x="1836" y="1363"/>
                </a:lnTo>
                <a:lnTo>
                  <a:pt x="1835" y="1365"/>
                </a:lnTo>
                <a:lnTo>
                  <a:pt x="1833" y="1365"/>
                </a:lnTo>
                <a:lnTo>
                  <a:pt x="1831" y="1365"/>
                </a:lnTo>
                <a:lnTo>
                  <a:pt x="1831" y="1363"/>
                </a:lnTo>
                <a:lnTo>
                  <a:pt x="1831" y="1361"/>
                </a:lnTo>
                <a:lnTo>
                  <a:pt x="1833" y="1360"/>
                </a:lnTo>
                <a:close/>
                <a:moveTo>
                  <a:pt x="138" y="1354"/>
                </a:moveTo>
                <a:lnTo>
                  <a:pt x="140" y="1355"/>
                </a:lnTo>
                <a:lnTo>
                  <a:pt x="141" y="1355"/>
                </a:lnTo>
                <a:lnTo>
                  <a:pt x="143" y="1356"/>
                </a:lnTo>
                <a:lnTo>
                  <a:pt x="144" y="1357"/>
                </a:lnTo>
                <a:lnTo>
                  <a:pt x="145" y="1359"/>
                </a:lnTo>
                <a:lnTo>
                  <a:pt x="145" y="1360"/>
                </a:lnTo>
                <a:lnTo>
                  <a:pt x="145" y="1362"/>
                </a:lnTo>
                <a:lnTo>
                  <a:pt x="145" y="1364"/>
                </a:lnTo>
                <a:lnTo>
                  <a:pt x="145" y="1365"/>
                </a:lnTo>
                <a:lnTo>
                  <a:pt x="144" y="1367"/>
                </a:lnTo>
                <a:lnTo>
                  <a:pt x="143" y="1368"/>
                </a:lnTo>
                <a:lnTo>
                  <a:pt x="141" y="1369"/>
                </a:lnTo>
                <a:lnTo>
                  <a:pt x="140" y="1369"/>
                </a:lnTo>
                <a:lnTo>
                  <a:pt x="138" y="1370"/>
                </a:lnTo>
                <a:lnTo>
                  <a:pt x="136" y="1369"/>
                </a:lnTo>
                <a:lnTo>
                  <a:pt x="134" y="1369"/>
                </a:lnTo>
                <a:lnTo>
                  <a:pt x="133" y="1368"/>
                </a:lnTo>
                <a:lnTo>
                  <a:pt x="132" y="1367"/>
                </a:lnTo>
                <a:lnTo>
                  <a:pt x="131" y="1365"/>
                </a:lnTo>
                <a:lnTo>
                  <a:pt x="130" y="1364"/>
                </a:lnTo>
                <a:lnTo>
                  <a:pt x="130" y="1362"/>
                </a:lnTo>
                <a:lnTo>
                  <a:pt x="130" y="1360"/>
                </a:lnTo>
                <a:lnTo>
                  <a:pt x="131" y="1359"/>
                </a:lnTo>
                <a:lnTo>
                  <a:pt x="132" y="1357"/>
                </a:lnTo>
                <a:lnTo>
                  <a:pt x="133" y="1356"/>
                </a:lnTo>
                <a:lnTo>
                  <a:pt x="134" y="1355"/>
                </a:lnTo>
                <a:lnTo>
                  <a:pt x="136" y="1355"/>
                </a:lnTo>
                <a:lnTo>
                  <a:pt x="138" y="1354"/>
                </a:lnTo>
                <a:close/>
                <a:moveTo>
                  <a:pt x="1786" y="1351"/>
                </a:moveTo>
                <a:lnTo>
                  <a:pt x="1788" y="1351"/>
                </a:lnTo>
                <a:lnTo>
                  <a:pt x="1789" y="1352"/>
                </a:lnTo>
                <a:lnTo>
                  <a:pt x="1791" y="1352"/>
                </a:lnTo>
                <a:lnTo>
                  <a:pt x="1792" y="1353"/>
                </a:lnTo>
                <a:lnTo>
                  <a:pt x="1793" y="1354"/>
                </a:lnTo>
                <a:lnTo>
                  <a:pt x="1795" y="1355"/>
                </a:lnTo>
                <a:lnTo>
                  <a:pt x="1795" y="1357"/>
                </a:lnTo>
                <a:lnTo>
                  <a:pt x="1796" y="1358"/>
                </a:lnTo>
                <a:lnTo>
                  <a:pt x="1796" y="1360"/>
                </a:lnTo>
                <a:lnTo>
                  <a:pt x="1797" y="1362"/>
                </a:lnTo>
                <a:lnTo>
                  <a:pt x="1796" y="1364"/>
                </a:lnTo>
                <a:lnTo>
                  <a:pt x="1796" y="1365"/>
                </a:lnTo>
                <a:lnTo>
                  <a:pt x="1795" y="1367"/>
                </a:lnTo>
                <a:lnTo>
                  <a:pt x="1795" y="1368"/>
                </a:lnTo>
                <a:lnTo>
                  <a:pt x="1793" y="1369"/>
                </a:lnTo>
                <a:lnTo>
                  <a:pt x="1792" y="1370"/>
                </a:lnTo>
                <a:lnTo>
                  <a:pt x="1791" y="1371"/>
                </a:lnTo>
                <a:lnTo>
                  <a:pt x="1789" y="1372"/>
                </a:lnTo>
                <a:lnTo>
                  <a:pt x="1788" y="1372"/>
                </a:lnTo>
                <a:lnTo>
                  <a:pt x="1786" y="1372"/>
                </a:lnTo>
                <a:lnTo>
                  <a:pt x="1784" y="1372"/>
                </a:lnTo>
                <a:lnTo>
                  <a:pt x="1782" y="1372"/>
                </a:lnTo>
                <a:lnTo>
                  <a:pt x="1781" y="1371"/>
                </a:lnTo>
                <a:lnTo>
                  <a:pt x="1780" y="1370"/>
                </a:lnTo>
                <a:lnTo>
                  <a:pt x="1778" y="1369"/>
                </a:lnTo>
                <a:lnTo>
                  <a:pt x="1777" y="1368"/>
                </a:lnTo>
                <a:lnTo>
                  <a:pt x="1776" y="1367"/>
                </a:lnTo>
                <a:lnTo>
                  <a:pt x="1776" y="1365"/>
                </a:lnTo>
                <a:lnTo>
                  <a:pt x="1775" y="1364"/>
                </a:lnTo>
                <a:lnTo>
                  <a:pt x="1775" y="1362"/>
                </a:lnTo>
                <a:lnTo>
                  <a:pt x="1775" y="1360"/>
                </a:lnTo>
                <a:lnTo>
                  <a:pt x="1776" y="1358"/>
                </a:lnTo>
                <a:lnTo>
                  <a:pt x="1776" y="1357"/>
                </a:lnTo>
                <a:lnTo>
                  <a:pt x="1777" y="1355"/>
                </a:lnTo>
                <a:lnTo>
                  <a:pt x="1778" y="1354"/>
                </a:lnTo>
                <a:lnTo>
                  <a:pt x="1780" y="1353"/>
                </a:lnTo>
                <a:lnTo>
                  <a:pt x="1781" y="1352"/>
                </a:lnTo>
                <a:lnTo>
                  <a:pt x="1782" y="1352"/>
                </a:lnTo>
                <a:lnTo>
                  <a:pt x="1784" y="1351"/>
                </a:lnTo>
                <a:lnTo>
                  <a:pt x="1786" y="1351"/>
                </a:lnTo>
                <a:close/>
                <a:moveTo>
                  <a:pt x="187" y="1350"/>
                </a:moveTo>
                <a:lnTo>
                  <a:pt x="189" y="1350"/>
                </a:lnTo>
                <a:lnTo>
                  <a:pt x="191" y="1350"/>
                </a:lnTo>
                <a:lnTo>
                  <a:pt x="193" y="1351"/>
                </a:lnTo>
                <a:lnTo>
                  <a:pt x="194" y="1352"/>
                </a:lnTo>
                <a:lnTo>
                  <a:pt x="195" y="1353"/>
                </a:lnTo>
                <a:lnTo>
                  <a:pt x="196" y="1355"/>
                </a:lnTo>
                <a:lnTo>
                  <a:pt x="197" y="1356"/>
                </a:lnTo>
                <a:lnTo>
                  <a:pt x="198" y="1358"/>
                </a:lnTo>
                <a:lnTo>
                  <a:pt x="198" y="1360"/>
                </a:lnTo>
                <a:lnTo>
                  <a:pt x="198" y="1362"/>
                </a:lnTo>
                <a:lnTo>
                  <a:pt x="197" y="1363"/>
                </a:lnTo>
                <a:lnTo>
                  <a:pt x="196" y="1365"/>
                </a:lnTo>
                <a:lnTo>
                  <a:pt x="195" y="1367"/>
                </a:lnTo>
                <a:lnTo>
                  <a:pt x="194" y="1368"/>
                </a:lnTo>
                <a:lnTo>
                  <a:pt x="193" y="1369"/>
                </a:lnTo>
                <a:lnTo>
                  <a:pt x="191" y="1370"/>
                </a:lnTo>
                <a:lnTo>
                  <a:pt x="189" y="1370"/>
                </a:lnTo>
                <a:lnTo>
                  <a:pt x="187" y="1370"/>
                </a:lnTo>
                <a:lnTo>
                  <a:pt x="186" y="1370"/>
                </a:lnTo>
                <a:lnTo>
                  <a:pt x="184" y="1370"/>
                </a:lnTo>
                <a:lnTo>
                  <a:pt x="182" y="1369"/>
                </a:lnTo>
                <a:lnTo>
                  <a:pt x="181" y="1368"/>
                </a:lnTo>
                <a:lnTo>
                  <a:pt x="180" y="1367"/>
                </a:lnTo>
                <a:lnTo>
                  <a:pt x="179" y="1365"/>
                </a:lnTo>
                <a:lnTo>
                  <a:pt x="178" y="1363"/>
                </a:lnTo>
                <a:lnTo>
                  <a:pt x="177" y="1362"/>
                </a:lnTo>
                <a:lnTo>
                  <a:pt x="177" y="1360"/>
                </a:lnTo>
                <a:lnTo>
                  <a:pt x="177" y="1358"/>
                </a:lnTo>
                <a:lnTo>
                  <a:pt x="178" y="1356"/>
                </a:lnTo>
                <a:lnTo>
                  <a:pt x="179" y="1355"/>
                </a:lnTo>
                <a:lnTo>
                  <a:pt x="180" y="1353"/>
                </a:lnTo>
                <a:lnTo>
                  <a:pt x="181" y="1352"/>
                </a:lnTo>
                <a:lnTo>
                  <a:pt x="182" y="1351"/>
                </a:lnTo>
                <a:lnTo>
                  <a:pt x="184" y="1350"/>
                </a:lnTo>
                <a:lnTo>
                  <a:pt x="186" y="1350"/>
                </a:lnTo>
                <a:lnTo>
                  <a:pt x="187" y="1350"/>
                </a:lnTo>
                <a:close/>
                <a:moveTo>
                  <a:pt x="64" y="1299"/>
                </a:moveTo>
                <a:lnTo>
                  <a:pt x="65" y="1299"/>
                </a:lnTo>
                <a:lnTo>
                  <a:pt x="66" y="1300"/>
                </a:lnTo>
                <a:lnTo>
                  <a:pt x="65" y="1302"/>
                </a:lnTo>
                <a:lnTo>
                  <a:pt x="64" y="1302"/>
                </a:lnTo>
                <a:lnTo>
                  <a:pt x="63" y="1302"/>
                </a:lnTo>
                <a:lnTo>
                  <a:pt x="62" y="1300"/>
                </a:lnTo>
                <a:lnTo>
                  <a:pt x="63" y="1299"/>
                </a:lnTo>
                <a:lnTo>
                  <a:pt x="64" y="1299"/>
                </a:lnTo>
                <a:close/>
                <a:moveTo>
                  <a:pt x="1860" y="1297"/>
                </a:moveTo>
                <a:lnTo>
                  <a:pt x="1861" y="1298"/>
                </a:lnTo>
                <a:lnTo>
                  <a:pt x="1862" y="1300"/>
                </a:lnTo>
                <a:lnTo>
                  <a:pt x="1861" y="1302"/>
                </a:lnTo>
                <a:lnTo>
                  <a:pt x="1860" y="1303"/>
                </a:lnTo>
                <a:lnTo>
                  <a:pt x="1858" y="1302"/>
                </a:lnTo>
                <a:lnTo>
                  <a:pt x="1857" y="1300"/>
                </a:lnTo>
                <a:lnTo>
                  <a:pt x="1858" y="1298"/>
                </a:lnTo>
                <a:lnTo>
                  <a:pt x="1860" y="1297"/>
                </a:lnTo>
                <a:close/>
                <a:moveTo>
                  <a:pt x="111" y="1292"/>
                </a:moveTo>
                <a:lnTo>
                  <a:pt x="112" y="1292"/>
                </a:lnTo>
                <a:lnTo>
                  <a:pt x="114" y="1293"/>
                </a:lnTo>
                <a:lnTo>
                  <a:pt x="115" y="1294"/>
                </a:lnTo>
                <a:lnTo>
                  <a:pt x="116" y="1295"/>
                </a:lnTo>
                <a:lnTo>
                  <a:pt x="117" y="1296"/>
                </a:lnTo>
                <a:lnTo>
                  <a:pt x="118" y="1298"/>
                </a:lnTo>
                <a:lnTo>
                  <a:pt x="118" y="1300"/>
                </a:lnTo>
                <a:lnTo>
                  <a:pt x="118" y="1301"/>
                </a:lnTo>
                <a:lnTo>
                  <a:pt x="117" y="1303"/>
                </a:lnTo>
                <a:lnTo>
                  <a:pt x="116" y="1304"/>
                </a:lnTo>
                <a:lnTo>
                  <a:pt x="115" y="1306"/>
                </a:lnTo>
                <a:lnTo>
                  <a:pt x="114" y="1306"/>
                </a:lnTo>
                <a:lnTo>
                  <a:pt x="112" y="1307"/>
                </a:lnTo>
                <a:lnTo>
                  <a:pt x="111" y="1307"/>
                </a:lnTo>
                <a:lnTo>
                  <a:pt x="109" y="1307"/>
                </a:lnTo>
                <a:lnTo>
                  <a:pt x="107" y="1306"/>
                </a:lnTo>
                <a:lnTo>
                  <a:pt x="106" y="1306"/>
                </a:lnTo>
                <a:lnTo>
                  <a:pt x="105" y="1304"/>
                </a:lnTo>
                <a:lnTo>
                  <a:pt x="104" y="1303"/>
                </a:lnTo>
                <a:lnTo>
                  <a:pt x="103" y="1301"/>
                </a:lnTo>
                <a:lnTo>
                  <a:pt x="103" y="1300"/>
                </a:lnTo>
                <a:lnTo>
                  <a:pt x="103" y="1298"/>
                </a:lnTo>
                <a:lnTo>
                  <a:pt x="104" y="1296"/>
                </a:lnTo>
                <a:lnTo>
                  <a:pt x="105" y="1295"/>
                </a:lnTo>
                <a:lnTo>
                  <a:pt x="106" y="1294"/>
                </a:lnTo>
                <a:lnTo>
                  <a:pt x="107" y="1293"/>
                </a:lnTo>
                <a:lnTo>
                  <a:pt x="109" y="1292"/>
                </a:lnTo>
                <a:lnTo>
                  <a:pt x="111" y="1292"/>
                </a:lnTo>
                <a:close/>
                <a:moveTo>
                  <a:pt x="1813" y="1289"/>
                </a:moveTo>
                <a:lnTo>
                  <a:pt x="1815" y="1289"/>
                </a:lnTo>
                <a:lnTo>
                  <a:pt x="1816" y="1289"/>
                </a:lnTo>
                <a:lnTo>
                  <a:pt x="1818" y="1290"/>
                </a:lnTo>
                <a:lnTo>
                  <a:pt x="1819" y="1291"/>
                </a:lnTo>
                <a:lnTo>
                  <a:pt x="1821" y="1292"/>
                </a:lnTo>
                <a:lnTo>
                  <a:pt x="1822" y="1294"/>
                </a:lnTo>
                <a:lnTo>
                  <a:pt x="1823" y="1295"/>
                </a:lnTo>
                <a:lnTo>
                  <a:pt x="1823" y="1297"/>
                </a:lnTo>
                <a:lnTo>
                  <a:pt x="1823" y="1299"/>
                </a:lnTo>
                <a:lnTo>
                  <a:pt x="1823" y="1301"/>
                </a:lnTo>
                <a:lnTo>
                  <a:pt x="1823" y="1303"/>
                </a:lnTo>
                <a:lnTo>
                  <a:pt x="1822" y="1304"/>
                </a:lnTo>
                <a:lnTo>
                  <a:pt x="1821" y="1306"/>
                </a:lnTo>
                <a:lnTo>
                  <a:pt x="1819" y="1307"/>
                </a:lnTo>
                <a:lnTo>
                  <a:pt x="1818" y="1308"/>
                </a:lnTo>
                <a:lnTo>
                  <a:pt x="1816" y="1309"/>
                </a:lnTo>
                <a:lnTo>
                  <a:pt x="1815" y="1309"/>
                </a:lnTo>
                <a:lnTo>
                  <a:pt x="1813" y="1310"/>
                </a:lnTo>
                <a:lnTo>
                  <a:pt x="1811" y="1309"/>
                </a:lnTo>
                <a:lnTo>
                  <a:pt x="1809" y="1309"/>
                </a:lnTo>
                <a:lnTo>
                  <a:pt x="1808" y="1308"/>
                </a:lnTo>
                <a:lnTo>
                  <a:pt x="1806" y="1307"/>
                </a:lnTo>
                <a:lnTo>
                  <a:pt x="1805" y="1306"/>
                </a:lnTo>
                <a:lnTo>
                  <a:pt x="1804" y="1304"/>
                </a:lnTo>
                <a:lnTo>
                  <a:pt x="1803" y="1303"/>
                </a:lnTo>
                <a:lnTo>
                  <a:pt x="1803" y="1301"/>
                </a:lnTo>
                <a:lnTo>
                  <a:pt x="1803" y="1299"/>
                </a:lnTo>
                <a:lnTo>
                  <a:pt x="1803" y="1297"/>
                </a:lnTo>
                <a:lnTo>
                  <a:pt x="1803" y="1295"/>
                </a:lnTo>
                <a:lnTo>
                  <a:pt x="1804" y="1294"/>
                </a:lnTo>
                <a:lnTo>
                  <a:pt x="1805" y="1292"/>
                </a:lnTo>
                <a:lnTo>
                  <a:pt x="1806" y="1291"/>
                </a:lnTo>
                <a:lnTo>
                  <a:pt x="1808" y="1290"/>
                </a:lnTo>
                <a:lnTo>
                  <a:pt x="1809" y="1289"/>
                </a:lnTo>
                <a:lnTo>
                  <a:pt x="1811" y="1289"/>
                </a:lnTo>
                <a:lnTo>
                  <a:pt x="1813" y="1289"/>
                </a:lnTo>
                <a:close/>
                <a:moveTo>
                  <a:pt x="159" y="1288"/>
                </a:moveTo>
                <a:lnTo>
                  <a:pt x="161" y="1288"/>
                </a:lnTo>
                <a:lnTo>
                  <a:pt x="162" y="1288"/>
                </a:lnTo>
                <a:lnTo>
                  <a:pt x="164" y="1289"/>
                </a:lnTo>
                <a:lnTo>
                  <a:pt x="166" y="1290"/>
                </a:lnTo>
                <a:lnTo>
                  <a:pt x="167" y="1291"/>
                </a:lnTo>
                <a:lnTo>
                  <a:pt x="168" y="1293"/>
                </a:lnTo>
                <a:lnTo>
                  <a:pt x="169" y="1294"/>
                </a:lnTo>
                <a:lnTo>
                  <a:pt x="169" y="1296"/>
                </a:lnTo>
                <a:lnTo>
                  <a:pt x="169" y="1298"/>
                </a:lnTo>
                <a:lnTo>
                  <a:pt x="169" y="1300"/>
                </a:lnTo>
                <a:lnTo>
                  <a:pt x="169" y="1301"/>
                </a:lnTo>
                <a:lnTo>
                  <a:pt x="168" y="1303"/>
                </a:lnTo>
                <a:lnTo>
                  <a:pt x="167" y="1305"/>
                </a:lnTo>
                <a:lnTo>
                  <a:pt x="166" y="1306"/>
                </a:lnTo>
                <a:lnTo>
                  <a:pt x="164" y="1307"/>
                </a:lnTo>
                <a:lnTo>
                  <a:pt x="162" y="1308"/>
                </a:lnTo>
                <a:lnTo>
                  <a:pt x="161" y="1308"/>
                </a:lnTo>
                <a:lnTo>
                  <a:pt x="159" y="1308"/>
                </a:lnTo>
                <a:lnTo>
                  <a:pt x="157" y="1308"/>
                </a:lnTo>
                <a:lnTo>
                  <a:pt x="155" y="1308"/>
                </a:lnTo>
                <a:lnTo>
                  <a:pt x="153" y="1307"/>
                </a:lnTo>
                <a:lnTo>
                  <a:pt x="152" y="1306"/>
                </a:lnTo>
                <a:lnTo>
                  <a:pt x="151" y="1305"/>
                </a:lnTo>
                <a:lnTo>
                  <a:pt x="150" y="1303"/>
                </a:lnTo>
                <a:lnTo>
                  <a:pt x="149" y="1301"/>
                </a:lnTo>
                <a:lnTo>
                  <a:pt x="148" y="1300"/>
                </a:lnTo>
                <a:lnTo>
                  <a:pt x="148" y="1298"/>
                </a:lnTo>
                <a:lnTo>
                  <a:pt x="148" y="1296"/>
                </a:lnTo>
                <a:lnTo>
                  <a:pt x="149" y="1294"/>
                </a:lnTo>
                <a:lnTo>
                  <a:pt x="150" y="1293"/>
                </a:lnTo>
                <a:lnTo>
                  <a:pt x="151" y="1291"/>
                </a:lnTo>
                <a:lnTo>
                  <a:pt x="152" y="1290"/>
                </a:lnTo>
                <a:lnTo>
                  <a:pt x="153" y="1289"/>
                </a:lnTo>
                <a:lnTo>
                  <a:pt x="155" y="1288"/>
                </a:lnTo>
                <a:lnTo>
                  <a:pt x="157" y="1288"/>
                </a:lnTo>
                <a:lnTo>
                  <a:pt x="159" y="1288"/>
                </a:lnTo>
                <a:close/>
                <a:moveTo>
                  <a:pt x="42" y="1234"/>
                </a:moveTo>
                <a:lnTo>
                  <a:pt x="44" y="1234"/>
                </a:lnTo>
                <a:lnTo>
                  <a:pt x="44" y="1236"/>
                </a:lnTo>
                <a:lnTo>
                  <a:pt x="44" y="1237"/>
                </a:lnTo>
                <a:lnTo>
                  <a:pt x="42" y="1238"/>
                </a:lnTo>
                <a:lnTo>
                  <a:pt x="41" y="1237"/>
                </a:lnTo>
                <a:lnTo>
                  <a:pt x="40" y="1236"/>
                </a:lnTo>
                <a:lnTo>
                  <a:pt x="41" y="1234"/>
                </a:lnTo>
                <a:lnTo>
                  <a:pt x="42" y="1234"/>
                </a:lnTo>
                <a:close/>
                <a:moveTo>
                  <a:pt x="1881" y="1232"/>
                </a:moveTo>
                <a:lnTo>
                  <a:pt x="1883" y="1233"/>
                </a:lnTo>
                <a:lnTo>
                  <a:pt x="1884" y="1235"/>
                </a:lnTo>
                <a:lnTo>
                  <a:pt x="1883" y="1237"/>
                </a:lnTo>
                <a:lnTo>
                  <a:pt x="1881" y="1238"/>
                </a:lnTo>
                <a:lnTo>
                  <a:pt x="1879" y="1237"/>
                </a:lnTo>
                <a:lnTo>
                  <a:pt x="1879" y="1235"/>
                </a:lnTo>
                <a:lnTo>
                  <a:pt x="1879" y="1233"/>
                </a:lnTo>
                <a:lnTo>
                  <a:pt x="1881" y="1232"/>
                </a:lnTo>
                <a:close/>
                <a:moveTo>
                  <a:pt x="88" y="1228"/>
                </a:moveTo>
                <a:lnTo>
                  <a:pt x="90" y="1228"/>
                </a:lnTo>
                <a:lnTo>
                  <a:pt x="91" y="1229"/>
                </a:lnTo>
                <a:lnTo>
                  <a:pt x="93" y="1230"/>
                </a:lnTo>
                <a:lnTo>
                  <a:pt x="94" y="1231"/>
                </a:lnTo>
                <a:lnTo>
                  <a:pt x="95" y="1233"/>
                </a:lnTo>
                <a:lnTo>
                  <a:pt x="95" y="1235"/>
                </a:lnTo>
                <a:lnTo>
                  <a:pt x="95" y="1237"/>
                </a:lnTo>
                <a:lnTo>
                  <a:pt x="94" y="1239"/>
                </a:lnTo>
                <a:lnTo>
                  <a:pt x="93" y="1240"/>
                </a:lnTo>
                <a:lnTo>
                  <a:pt x="91" y="1241"/>
                </a:lnTo>
                <a:lnTo>
                  <a:pt x="90" y="1242"/>
                </a:lnTo>
                <a:lnTo>
                  <a:pt x="88" y="1242"/>
                </a:lnTo>
                <a:lnTo>
                  <a:pt x="86" y="1242"/>
                </a:lnTo>
                <a:lnTo>
                  <a:pt x="84" y="1241"/>
                </a:lnTo>
                <a:lnTo>
                  <a:pt x="82" y="1240"/>
                </a:lnTo>
                <a:lnTo>
                  <a:pt x="81" y="1239"/>
                </a:lnTo>
                <a:lnTo>
                  <a:pt x="80" y="1237"/>
                </a:lnTo>
                <a:lnTo>
                  <a:pt x="80" y="1235"/>
                </a:lnTo>
                <a:lnTo>
                  <a:pt x="80" y="1233"/>
                </a:lnTo>
                <a:lnTo>
                  <a:pt x="81" y="1231"/>
                </a:lnTo>
                <a:lnTo>
                  <a:pt x="82" y="1230"/>
                </a:lnTo>
                <a:lnTo>
                  <a:pt x="84" y="1229"/>
                </a:lnTo>
                <a:lnTo>
                  <a:pt x="86" y="1228"/>
                </a:lnTo>
                <a:lnTo>
                  <a:pt x="88" y="1228"/>
                </a:lnTo>
                <a:close/>
                <a:moveTo>
                  <a:pt x="1836" y="1225"/>
                </a:moveTo>
                <a:lnTo>
                  <a:pt x="1837" y="1225"/>
                </a:lnTo>
                <a:lnTo>
                  <a:pt x="1839" y="1225"/>
                </a:lnTo>
                <a:lnTo>
                  <a:pt x="1841" y="1226"/>
                </a:lnTo>
                <a:lnTo>
                  <a:pt x="1842" y="1227"/>
                </a:lnTo>
                <a:lnTo>
                  <a:pt x="1843" y="1228"/>
                </a:lnTo>
                <a:lnTo>
                  <a:pt x="1844" y="1230"/>
                </a:lnTo>
                <a:lnTo>
                  <a:pt x="1845" y="1231"/>
                </a:lnTo>
                <a:lnTo>
                  <a:pt x="1845" y="1233"/>
                </a:lnTo>
                <a:lnTo>
                  <a:pt x="1846" y="1235"/>
                </a:lnTo>
                <a:lnTo>
                  <a:pt x="1845" y="1237"/>
                </a:lnTo>
                <a:lnTo>
                  <a:pt x="1845" y="1238"/>
                </a:lnTo>
                <a:lnTo>
                  <a:pt x="1844" y="1240"/>
                </a:lnTo>
                <a:lnTo>
                  <a:pt x="1843" y="1241"/>
                </a:lnTo>
                <a:lnTo>
                  <a:pt x="1842" y="1242"/>
                </a:lnTo>
                <a:lnTo>
                  <a:pt x="1841" y="1243"/>
                </a:lnTo>
                <a:lnTo>
                  <a:pt x="1839" y="1244"/>
                </a:lnTo>
                <a:lnTo>
                  <a:pt x="1837" y="1245"/>
                </a:lnTo>
                <a:lnTo>
                  <a:pt x="1836" y="1245"/>
                </a:lnTo>
                <a:lnTo>
                  <a:pt x="1834" y="1245"/>
                </a:lnTo>
                <a:lnTo>
                  <a:pt x="1832" y="1244"/>
                </a:lnTo>
                <a:lnTo>
                  <a:pt x="1831" y="1243"/>
                </a:lnTo>
                <a:lnTo>
                  <a:pt x="1829" y="1242"/>
                </a:lnTo>
                <a:lnTo>
                  <a:pt x="1828" y="1241"/>
                </a:lnTo>
                <a:lnTo>
                  <a:pt x="1827" y="1240"/>
                </a:lnTo>
                <a:lnTo>
                  <a:pt x="1827" y="1238"/>
                </a:lnTo>
                <a:lnTo>
                  <a:pt x="1826" y="1237"/>
                </a:lnTo>
                <a:lnTo>
                  <a:pt x="1826" y="1235"/>
                </a:lnTo>
                <a:lnTo>
                  <a:pt x="1826" y="1233"/>
                </a:lnTo>
                <a:lnTo>
                  <a:pt x="1827" y="1231"/>
                </a:lnTo>
                <a:lnTo>
                  <a:pt x="1827" y="1230"/>
                </a:lnTo>
                <a:lnTo>
                  <a:pt x="1828" y="1228"/>
                </a:lnTo>
                <a:lnTo>
                  <a:pt x="1829" y="1227"/>
                </a:lnTo>
                <a:lnTo>
                  <a:pt x="1831" y="1226"/>
                </a:lnTo>
                <a:lnTo>
                  <a:pt x="1832" y="1225"/>
                </a:lnTo>
                <a:lnTo>
                  <a:pt x="1834" y="1225"/>
                </a:lnTo>
                <a:lnTo>
                  <a:pt x="1836" y="1225"/>
                </a:lnTo>
                <a:close/>
                <a:moveTo>
                  <a:pt x="135" y="1225"/>
                </a:moveTo>
                <a:lnTo>
                  <a:pt x="137" y="1225"/>
                </a:lnTo>
                <a:lnTo>
                  <a:pt x="139" y="1225"/>
                </a:lnTo>
                <a:lnTo>
                  <a:pt x="140" y="1226"/>
                </a:lnTo>
                <a:lnTo>
                  <a:pt x="142" y="1227"/>
                </a:lnTo>
                <a:lnTo>
                  <a:pt x="143" y="1229"/>
                </a:lnTo>
                <a:lnTo>
                  <a:pt x="144" y="1230"/>
                </a:lnTo>
                <a:lnTo>
                  <a:pt x="144" y="1232"/>
                </a:lnTo>
                <a:lnTo>
                  <a:pt x="145" y="1234"/>
                </a:lnTo>
                <a:lnTo>
                  <a:pt x="144" y="1236"/>
                </a:lnTo>
                <a:lnTo>
                  <a:pt x="144" y="1238"/>
                </a:lnTo>
                <a:lnTo>
                  <a:pt x="143" y="1239"/>
                </a:lnTo>
                <a:lnTo>
                  <a:pt x="142" y="1241"/>
                </a:lnTo>
                <a:lnTo>
                  <a:pt x="140" y="1242"/>
                </a:lnTo>
                <a:lnTo>
                  <a:pt x="139" y="1243"/>
                </a:lnTo>
                <a:lnTo>
                  <a:pt x="137" y="1243"/>
                </a:lnTo>
                <a:lnTo>
                  <a:pt x="135" y="1243"/>
                </a:lnTo>
                <a:lnTo>
                  <a:pt x="133" y="1243"/>
                </a:lnTo>
                <a:lnTo>
                  <a:pt x="132" y="1243"/>
                </a:lnTo>
                <a:lnTo>
                  <a:pt x="130" y="1242"/>
                </a:lnTo>
                <a:lnTo>
                  <a:pt x="129" y="1241"/>
                </a:lnTo>
                <a:lnTo>
                  <a:pt x="127" y="1239"/>
                </a:lnTo>
                <a:lnTo>
                  <a:pt x="127" y="1238"/>
                </a:lnTo>
                <a:lnTo>
                  <a:pt x="126" y="1236"/>
                </a:lnTo>
                <a:lnTo>
                  <a:pt x="126" y="1234"/>
                </a:lnTo>
                <a:lnTo>
                  <a:pt x="126" y="1232"/>
                </a:lnTo>
                <a:lnTo>
                  <a:pt x="127" y="1230"/>
                </a:lnTo>
                <a:lnTo>
                  <a:pt x="127" y="1229"/>
                </a:lnTo>
                <a:lnTo>
                  <a:pt x="129" y="1227"/>
                </a:lnTo>
                <a:lnTo>
                  <a:pt x="130" y="1226"/>
                </a:lnTo>
                <a:lnTo>
                  <a:pt x="132" y="1225"/>
                </a:lnTo>
                <a:lnTo>
                  <a:pt x="133" y="1225"/>
                </a:lnTo>
                <a:lnTo>
                  <a:pt x="135" y="1225"/>
                </a:lnTo>
                <a:close/>
                <a:moveTo>
                  <a:pt x="25" y="1167"/>
                </a:moveTo>
                <a:lnTo>
                  <a:pt x="27" y="1168"/>
                </a:lnTo>
                <a:lnTo>
                  <a:pt x="28" y="1169"/>
                </a:lnTo>
                <a:lnTo>
                  <a:pt x="27" y="1171"/>
                </a:lnTo>
                <a:lnTo>
                  <a:pt x="25" y="1172"/>
                </a:lnTo>
                <a:lnTo>
                  <a:pt x="24" y="1171"/>
                </a:lnTo>
                <a:lnTo>
                  <a:pt x="23" y="1169"/>
                </a:lnTo>
                <a:lnTo>
                  <a:pt x="24" y="1168"/>
                </a:lnTo>
                <a:lnTo>
                  <a:pt x="25" y="1167"/>
                </a:lnTo>
                <a:close/>
                <a:moveTo>
                  <a:pt x="1898" y="1166"/>
                </a:moveTo>
                <a:lnTo>
                  <a:pt x="1900" y="1167"/>
                </a:lnTo>
                <a:lnTo>
                  <a:pt x="1901" y="1169"/>
                </a:lnTo>
                <a:lnTo>
                  <a:pt x="1900" y="1170"/>
                </a:lnTo>
                <a:lnTo>
                  <a:pt x="1898" y="1171"/>
                </a:lnTo>
                <a:lnTo>
                  <a:pt x="1897" y="1170"/>
                </a:lnTo>
                <a:lnTo>
                  <a:pt x="1896" y="1169"/>
                </a:lnTo>
                <a:lnTo>
                  <a:pt x="1897" y="1167"/>
                </a:lnTo>
                <a:lnTo>
                  <a:pt x="1898" y="1166"/>
                </a:lnTo>
                <a:close/>
                <a:moveTo>
                  <a:pt x="117" y="1162"/>
                </a:moveTo>
                <a:lnTo>
                  <a:pt x="118" y="1162"/>
                </a:lnTo>
                <a:lnTo>
                  <a:pt x="120" y="1163"/>
                </a:lnTo>
                <a:lnTo>
                  <a:pt x="122" y="1164"/>
                </a:lnTo>
                <a:lnTo>
                  <a:pt x="123" y="1165"/>
                </a:lnTo>
                <a:lnTo>
                  <a:pt x="123" y="1167"/>
                </a:lnTo>
                <a:lnTo>
                  <a:pt x="124" y="1169"/>
                </a:lnTo>
                <a:lnTo>
                  <a:pt x="123" y="1170"/>
                </a:lnTo>
                <a:lnTo>
                  <a:pt x="123" y="1172"/>
                </a:lnTo>
                <a:lnTo>
                  <a:pt x="122" y="1173"/>
                </a:lnTo>
                <a:lnTo>
                  <a:pt x="120" y="1174"/>
                </a:lnTo>
                <a:lnTo>
                  <a:pt x="118" y="1175"/>
                </a:lnTo>
                <a:lnTo>
                  <a:pt x="117" y="1175"/>
                </a:lnTo>
                <a:lnTo>
                  <a:pt x="115" y="1175"/>
                </a:lnTo>
                <a:lnTo>
                  <a:pt x="113" y="1174"/>
                </a:lnTo>
                <a:lnTo>
                  <a:pt x="112" y="1173"/>
                </a:lnTo>
                <a:lnTo>
                  <a:pt x="111" y="1172"/>
                </a:lnTo>
                <a:lnTo>
                  <a:pt x="110" y="1170"/>
                </a:lnTo>
                <a:lnTo>
                  <a:pt x="110" y="1169"/>
                </a:lnTo>
                <a:lnTo>
                  <a:pt x="110" y="1167"/>
                </a:lnTo>
                <a:lnTo>
                  <a:pt x="111" y="1165"/>
                </a:lnTo>
                <a:lnTo>
                  <a:pt x="112" y="1164"/>
                </a:lnTo>
                <a:lnTo>
                  <a:pt x="113" y="1163"/>
                </a:lnTo>
                <a:lnTo>
                  <a:pt x="115" y="1162"/>
                </a:lnTo>
                <a:lnTo>
                  <a:pt x="117" y="1162"/>
                </a:lnTo>
                <a:close/>
                <a:moveTo>
                  <a:pt x="70" y="1162"/>
                </a:moveTo>
                <a:lnTo>
                  <a:pt x="72" y="1162"/>
                </a:lnTo>
                <a:lnTo>
                  <a:pt x="74" y="1163"/>
                </a:lnTo>
                <a:lnTo>
                  <a:pt x="75" y="1164"/>
                </a:lnTo>
                <a:lnTo>
                  <a:pt x="76" y="1165"/>
                </a:lnTo>
                <a:lnTo>
                  <a:pt x="77" y="1167"/>
                </a:lnTo>
                <a:lnTo>
                  <a:pt x="77" y="1169"/>
                </a:lnTo>
                <a:lnTo>
                  <a:pt x="77" y="1171"/>
                </a:lnTo>
                <a:lnTo>
                  <a:pt x="76" y="1173"/>
                </a:lnTo>
                <a:lnTo>
                  <a:pt x="75" y="1175"/>
                </a:lnTo>
                <a:lnTo>
                  <a:pt x="74" y="1176"/>
                </a:lnTo>
                <a:lnTo>
                  <a:pt x="72" y="1176"/>
                </a:lnTo>
                <a:lnTo>
                  <a:pt x="70" y="1177"/>
                </a:lnTo>
                <a:lnTo>
                  <a:pt x="68" y="1176"/>
                </a:lnTo>
                <a:lnTo>
                  <a:pt x="67" y="1176"/>
                </a:lnTo>
                <a:lnTo>
                  <a:pt x="65" y="1175"/>
                </a:lnTo>
                <a:lnTo>
                  <a:pt x="64" y="1173"/>
                </a:lnTo>
                <a:lnTo>
                  <a:pt x="63" y="1171"/>
                </a:lnTo>
                <a:lnTo>
                  <a:pt x="63" y="1169"/>
                </a:lnTo>
                <a:lnTo>
                  <a:pt x="63" y="1167"/>
                </a:lnTo>
                <a:lnTo>
                  <a:pt x="64" y="1165"/>
                </a:lnTo>
                <a:lnTo>
                  <a:pt x="65" y="1164"/>
                </a:lnTo>
                <a:lnTo>
                  <a:pt x="67" y="1163"/>
                </a:lnTo>
                <a:lnTo>
                  <a:pt x="68" y="1162"/>
                </a:lnTo>
                <a:lnTo>
                  <a:pt x="70" y="1162"/>
                </a:lnTo>
                <a:close/>
                <a:moveTo>
                  <a:pt x="1853" y="1159"/>
                </a:moveTo>
                <a:lnTo>
                  <a:pt x="1855" y="1159"/>
                </a:lnTo>
                <a:lnTo>
                  <a:pt x="1857" y="1160"/>
                </a:lnTo>
                <a:lnTo>
                  <a:pt x="1858" y="1160"/>
                </a:lnTo>
                <a:lnTo>
                  <a:pt x="1859" y="1161"/>
                </a:lnTo>
                <a:lnTo>
                  <a:pt x="1861" y="1162"/>
                </a:lnTo>
                <a:lnTo>
                  <a:pt x="1862" y="1164"/>
                </a:lnTo>
                <a:lnTo>
                  <a:pt x="1862" y="1165"/>
                </a:lnTo>
                <a:lnTo>
                  <a:pt x="1863" y="1167"/>
                </a:lnTo>
                <a:lnTo>
                  <a:pt x="1863" y="1169"/>
                </a:lnTo>
                <a:lnTo>
                  <a:pt x="1863" y="1170"/>
                </a:lnTo>
                <a:lnTo>
                  <a:pt x="1862" y="1172"/>
                </a:lnTo>
                <a:lnTo>
                  <a:pt x="1862" y="1173"/>
                </a:lnTo>
                <a:lnTo>
                  <a:pt x="1861" y="1175"/>
                </a:lnTo>
                <a:lnTo>
                  <a:pt x="1859" y="1176"/>
                </a:lnTo>
                <a:lnTo>
                  <a:pt x="1858" y="1177"/>
                </a:lnTo>
                <a:lnTo>
                  <a:pt x="1857" y="1177"/>
                </a:lnTo>
                <a:lnTo>
                  <a:pt x="1855" y="1178"/>
                </a:lnTo>
                <a:lnTo>
                  <a:pt x="1853" y="1178"/>
                </a:lnTo>
                <a:lnTo>
                  <a:pt x="1852" y="1178"/>
                </a:lnTo>
                <a:lnTo>
                  <a:pt x="1850" y="1177"/>
                </a:lnTo>
                <a:lnTo>
                  <a:pt x="1849" y="1177"/>
                </a:lnTo>
                <a:lnTo>
                  <a:pt x="1847" y="1176"/>
                </a:lnTo>
                <a:lnTo>
                  <a:pt x="1846" y="1175"/>
                </a:lnTo>
                <a:lnTo>
                  <a:pt x="1845" y="1173"/>
                </a:lnTo>
                <a:lnTo>
                  <a:pt x="1845" y="1172"/>
                </a:lnTo>
                <a:lnTo>
                  <a:pt x="1844" y="1170"/>
                </a:lnTo>
                <a:lnTo>
                  <a:pt x="1844" y="1169"/>
                </a:lnTo>
                <a:lnTo>
                  <a:pt x="1844" y="1167"/>
                </a:lnTo>
                <a:lnTo>
                  <a:pt x="1845" y="1165"/>
                </a:lnTo>
                <a:lnTo>
                  <a:pt x="1845" y="1164"/>
                </a:lnTo>
                <a:lnTo>
                  <a:pt x="1846" y="1162"/>
                </a:lnTo>
                <a:lnTo>
                  <a:pt x="1847" y="1161"/>
                </a:lnTo>
                <a:lnTo>
                  <a:pt x="1849" y="1160"/>
                </a:lnTo>
                <a:lnTo>
                  <a:pt x="1850" y="1160"/>
                </a:lnTo>
                <a:lnTo>
                  <a:pt x="1852" y="1159"/>
                </a:lnTo>
                <a:lnTo>
                  <a:pt x="1853" y="1159"/>
                </a:lnTo>
                <a:close/>
                <a:moveTo>
                  <a:pt x="1910" y="1099"/>
                </a:moveTo>
                <a:lnTo>
                  <a:pt x="1912" y="1100"/>
                </a:lnTo>
                <a:lnTo>
                  <a:pt x="1913" y="1102"/>
                </a:lnTo>
                <a:lnTo>
                  <a:pt x="1912" y="1103"/>
                </a:lnTo>
                <a:lnTo>
                  <a:pt x="1910" y="1104"/>
                </a:lnTo>
                <a:lnTo>
                  <a:pt x="1909" y="1103"/>
                </a:lnTo>
                <a:lnTo>
                  <a:pt x="1908" y="1102"/>
                </a:lnTo>
                <a:lnTo>
                  <a:pt x="1909" y="1100"/>
                </a:lnTo>
                <a:lnTo>
                  <a:pt x="1910" y="1099"/>
                </a:lnTo>
                <a:close/>
                <a:moveTo>
                  <a:pt x="14" y="1099"/>
                </a:moveTo>
                <a:lnTo>
                  <a:pt x="16" y="1100"/>
                </a:lnTo>
                <a:lnTo>
                  <a:pt x="16" y="1102"/>
                </a:lnTo>
                <a:lnTo>
                  <a:pt x="16" y="1104"/>
                </a:lnTo>
                <a:lnTo>
                  <a:pt x="14" y="1105"/>
                </a:lnTo>
                <a:lnTo>
                  <a:pt x="12" y="1104"/>
                </a:lnTo>
                <a:lnTo>
                  <a:pt x="11" y="1102"/>
                </a:lnTo>
                <a:lnTo>
                  <a:pt x="12" y="1100"/>
                </a:lnTo>
                <a:lnTo>
                  <a:pt x="14" y="1099"/>
                </a:lnTo>
                <a:close/>
                <a:moveTo>
                  <a:pt x="103" y="1098"/>
                </a:moveTo>
                <a:lnTo>
                  <a:pt x="106" y="1099"/>
                </a:lnTo>
                <a:lnTo>
                  <a:pt x="107" y="1102"/>
                </a:lnTo>
                <a:lnTo>
                  <a:pt x="106" y="1104"/>
                </a:lnTo>
                <a:lnTo>
                  <a:pt x="103" y="1105"/>
                </a:lnTo>
                <a:lnTo>
                  <a:pt x="101" y="1104"/>
                </a:lnTo>
                <a:lnTo>
                  <a:pt x="100" y="1102"/>
                </a:lnTo>
                <a:lnTo>
                  <a:pt x="101" y="1099"/>
                </a:lnTo>
                <a:lnTo>
                  <a:pt x="103" y="1098"/>
                </a:lnTo>
                <a:close/>
                <a:moveTo>
                  <a:pt x="57" y="1095"/>
                </a:moveTo>
                <a:lnTo>
                  <a:pt x="59" y="1095"/>
                </a:lnTo>
                <a:lnTo>
                  <a:pt x="61" y="1096"/>
                </a:lnTo>
                <a:lnTo>
                  <a:pt x="63" y="1097"/>
                </a:lnTo>
                <a:lnTo>
                  <a:pt x="64" y="1098"/>
                </a:lnTo>
                <a:lnTo>
                  <a:pt x="65" y="1100"/>
                </a:lnTo>
                <a:lnTo>
                  <a:pt x="65" y="1102"/>
                </a:lnTo>
                <a:lnTo>
                  <a:pt x="65" y="1104"/>
                </a:lnTo>
                <a:lnTo>
                  <a:pt x="64" y="1106"/>
                </a:lnTo>
                <a:lnTo>
                  <a:pt x="63" y="1107"/>
                </a:lnTo>
                <a:lnTo>
                  <a:pt x="61" y="1109"/>
                </a:lnTo>
                <a:lnTo>
                  <a:pt x="59" y="1109"/>
                </a:lnTo>
                <a:lnTo>
                  <a:pt x="57" y="1110"/>
                </a:lnTo>
                <a:lnTo>
                  <a:pt x="55" y="1109"/>
                </a:lnTo>
                <a:lnTo>
                  <a:pt x="54" y="1109"/>
                </a:lnTo>
                <a:lnTo>
                  <a:pt x="52" y="1107"/>
                </a:lnTo>
                <a:lnTo>
                  <a:pt x="51" y="1106"/>
                </a:lnTo>
                <a:lnTo>
                  <a:pt x="50" y="1104"/>
                </a:lnTo>
                <a:lnTo>
                  <a:pt x="50" y="1102"/>
                </a:lnTo>
                <a:lnTo>
                  <a:pt x="50" y="1100"/>
                </a:lnTo>
                <a:lnTo>
                  <a:pt x="51" y="1098"/>
                </a:lnTo>
                <a:lnTo>
                  <a:pt x="52" y="1097"/>
                </a:lnTo>
                <a:lnTo>
                  <a:pt x="54" y="1096"/>
                </a:lnTo>
                <a:lnTo>
                  <a:pt x="55" y="1095"/>
                </a:lnTo>
                <a:lnTo>
                  <a:pt x="57" y="1095"/>
                </a:lnTo>
                <a:close/>
                <a:moveTo>
                  <a:pt x="1866" y="1092"/>
                </a:moveTo>
                <a:lnTo>
                  <a:pt x="1868" y="1092"/>
                </a:lnTo>
                <a:lnTo>
                  <a:pt x="1870" y="1093"/>
                </a:lnTo>
                <a:lnTo>
                  <a:pt x="1871" y="1094"/>
                </a:lnTo>
                <a:lnTo>
                  <a:pt x="1873" y="1095"/>
                </a:lnTo>
                <a:lnTo>
                  <a:pt x="1874" y="1096"/>
                </a:lnTo>
                <a:lnTo>
                  <a:pt x="1875" y="1098"/>
                </a:lnTo>
                <a:lnTo>
                  <a:pt x="1875" y="1100"/>
                </a:lnTo>
                <a:lnTo>
                  <a:pt x="1875" y="1102"/>
                </a:lnTo>
                <a:lnTo>
                  <a:pt x="1875" y="1104"/>
                </a:lnTo>
                <a:lnTo>
                  <a:pt x="1875" y="1105"/>
                </a:lnTo>
                <a:lnTo>
                  <a:pt x="1874" y="1107"/>
                </a:lnTo>
                <a:lnTo>
                  <a:pt x="1873" y="1108"/>
                </a:lnTo>
                <a:lnTo>
                  <a:pt x="1871" y="1109"/>
                </a:lnTo>
                <a:lnTo>
                  <a:pt x="1870" y="1110"/>
                </a:lnTo>
                <a:lnTo>
                  <a:pt x="1868" y="1111"/>
                </a:lnTo>
                <a:lnTo>
                  <a:pt x="1866" y="1111"/>
                </a:lnTo>
                <a:lnTo>
                  <a:pt x="1864" y="1111"/>
                </a:lnTo>
                <a:lnTo>
                  <a:pt x="1863" y="1110"/>
                </a:lnTo>
                <a:lnTo>
                  <a:pt x="1861" y="1109"/>
                </a:lnTo>
                <a:lnTo>
                  <a:pt x="1860" y="1108"/>
                </a:lnTo>
                <a:lnTo>
                  <a:pt x="1859" y="1107"/>
                </a:lnTo>
                <a:lnTo>
                  <a:pt x="1858" y="1105"/>
                </a:lnTo>
                <a:lnTo>
                  <a:pt x="1857" y="1104"/>
                </a:lnTo>
                <a:lnTo>
                  <a:pt x="1857" y="1102"/>
                </a:lnTo>
                <a:lnTo>
                  <a:pt x="1857" y="1100"/>
                </a:lnTo>
                <a:lnTo>
                  <a:pt x="1858" y="1098"/>
                </a:lnTo>
                <a:lnTo>
                  <a:pt x="1859" y="1096"/>
                </a:lnTo>
                <a:lnTo>
                  <a:pt x="1860" y="1095"/>
                </a:lnTo>
                <a:lnTo>
                  <a:pt x="1861" y="1094"/>
                </a:lnTo>
                <a:lnTo>
                  <a:pt x="1863" y="1093"/>
                </a:lnTo>
                <a:lnTo>
                  <a:pt x="1864" y="1092"/>
                </a:lnTo>
                <a:lnTo>
                  <a:pt x="1866" y="1092"/>
                </a:lnTo>
                <a:close/>
                <a:moveTo>
                  <a:pt x="95" y="1033"/>
                </a:moveTo>
                <a:lnTo>
                  <a:pt x="96" y="1033"/>
                </a:lnTo>
                <a:lnTo>
                  <a:pt x="97" y="1034"/>
                </a:lnTo>
                <a:lnTo>
                  <a:pt x="96" y="1035"/>
                </a:lnTo>
                <a:lnTo>
                  <a:pt x="95" y="1035"/>
                </a:lnTo>
                <a:lnTo>
                  <a:pt x="94" y="1035"/>
                </a:lnTo>
                <a:lnTo>
                  <a:pt x="94" y="1034"/>
                </a:lnTo>
                <a:lnTo>
                  <a:pt x="94" y="1033"/>
                </a:lnTo>
                <a:lnTo>
                  <a:pt x="95" y="1033"/>
                </a:lnTo>
                <a:close/>
                <a:moveTo>
                  <a:pt x="1917" y="1031"/>
                </a:moveTo>
                <a:lnTo>
                  <a:pt x="1919" y="1032"/>
                </a:lnTo>
                <a:lnTo>
                  <a:pt x="1920" y="1034"/>
                </a:lnTo>
                <a:lnTo>
                  <a:pt x="1919" y="1035"/>
                </a:lnTo>
                <a:lnTo>
                  <a:pt x="1917" y="1036"/>
                </a:lnTo>
                <a:lnTo>
                  <a:pt x="1916" y="1035"/>
                </a:lnTo>
                <a:lnTo>
                  <a:pt x="1915" y="1034"/>
                </a:lnTo>
                <a:lnTo>
                  <a:pt x="1916" y="1032"/>
                </a:lnTo>
                <a:lnTo>
                  <a:pt x="1917" y="1031"/>
                </a:lnTo>
                <a:close/>
                <a:moveTo>
                  <a:pt x="6" y="1031"/>
                </a:moveTo>
                <a:lnTo>
                  <a:pt x="8" y="1032"/>
                </a:lnTo>
                <a:lnTo>
                  <a:pt x="9" y="1034"/>
                </a:lnTo>
                <a:lnTo>
                  <a:pt x="8" y="1036"/>
                </a:lnTo>
                <a:lnTo>
                  <a:pt x="6" y="1037"/>
                </a:lnTo>
                <a:lnTo>
                  <a:pt x="4" y="1036"/>
                </a:lnTo>
                <a:lnTo>
                  <a:pt x="3" y="1034"/>
                </a:lnTo>
                <a:lnTo>
                  <a:pt x="4" y="1032"/>
                </a:lnTo>
                <a:lnTo>
                  <a:pt x="6" y="1031"/>
                </a:lnTo>
                <a:close/>
                <a:moveTo>
                  <a:pt x="50" y="1027"/>
                </a:moveTo>
                <a:lnTo>
                  <a:pt x="52" y="1027"/>
                </a:lnTo>
                <a:lnTo>
                  <a:pt x="53" y="1028"/>
                </a:lnTo>
                <a:lnTo>
                  <a:pt x="55" y="1029"/>
                </a:lnTo>
                <a:lnTo>
                  <a:pt x="56" y="1031"/>
                </a:lnTo>
                <a:lnTo>
                  <a:pt x="57" y="1032"/>
                </a:lnTo>
                <a:lnTo>
                  <a:pt x="57" y="1034"/>
                </a:lnTo>
                <a:lnTo>
                  <a:pt x="57" y="1036"/>
                </a:lnTo>
                <a:lnTo>
                  <a:pt x="56" y="1038"/>
                </a:lnTo>
                <a:lnTo>
                  <a:pt x="55" y="1039"/>
                </a:lnTo>
                <a:lnTo>
                  <a:pt x="53" y="1041"/>
                </a:lnTo>
                <a:lnTo>
                  <a:pt x="52" y="1041"/>
                </a:lnTo>
                <a:lnTo>
                  <a:pt x="50" y="1041"/>
                </a:lnTo>
                <a:lnTo>
                  <a:pt x="48" y="1041"/>
                </a:lnTo>
                <a:lnTo>
                  <a:pt x="46" y="1041"/>
                </a:lnTo>
                <a:lnTo>
                  <a:pt x="45" y="1039"/>
                </a:lnTo>
                <a:lnTo>
                  <a:pt x="43" y="1038"/>
                </a:lnTo>
                <a:lnTo>
                  <a:pt x="43" y="1036"/>
                </a:lnTo>
                <a:lnTo>
                  <a:pt x="42" y="1034"/>
                </a:lnTo>
                <a:lnTo>
                  <a:pt x="43" y="1032"/>
                </a:lnTo>
                <a:lnTo>
                  <a:pt x="43" y="1031"/>
                </a:lnTo>
                <a:lnTo>
                  <a:pt x="45" y="1029"/>
                </a:lnTo>
                <a:lnTo>
                  <a:pt x="46" y="1028"/>
                </a:lnTo>
                <a:lnTo>
                  <a:pt x="48" y="1027"/>
                </a:lnTo>
                <a:lnTo>
                  <a:pt x="50" y="1027"/>
                </a:lnTo>
                <a:close/>
                <a:moveTo>
                  <a:pt x="1874" y="1025"/>
                </a:moveTo>
                <a:lnTo>
                  <a:pt x="1875" y="1025"/>
                </a:lnTo>
                <a:lnTo>
                  <a:pt x="1877" y="1025"/>
                </a:lnTo>
                <a:lnTo>
                  <a:pt x="1879" y="1026"/>
                </a:lnTo>
                <a:lnTo>
                  <a:pt x="1880" y="1027"/>
                </a:lnTo>
                <a:lnTo>
                  <a:pt x="1881" y="1029"/>
                </a:lnTo>
                <a:lnTo>
                  <a:pt x="1882" y="1030"/>
                </a:lnTo>
                <a:lnTo>
                  <a:pt x="1882" y="1032"/>
                </a:lnTo>
                <a:lnTo>
                  <a:pt x="1882" y="1034"/>
                </a:lnTo>
                <a:lnTo>
                  <a:pt x="1882" y="1035"/>
                </a:lnTo>
                <a:lnTo>
                  <a:pt x="1882" y="1037"/>
                </a:lnTo>
                <a:lnTo>
                  <a:pt x="1881" y="1039"/>
                </a:lnTo>
                <a:lnTo>
                  <a:pt x="1880" y="1040"/>
                </a:lnTo>
                <a:lnTo>
                  <a:pt x="1879" y="1041"/>
                </a:lnTo>
                <a:lnTo>
                  <a:pt x="1877" y="1042"/>
                </a:lnTo>
                <a:lnTo>
                  <a:pt x="1875" y="1042"/>
                </a:lnTo>
                <a:lnTo>
                  <a:pt x="1874" y="1042"/>
                </a:lnTo>
                <a:lnTo>
                  <a:pt x="1872" y="1042"/>
                </a:lnTo>
                <a:lnTo>
                  <a:pt x="1870" y="1042"/>
                </a:lnTo>
                <a:lnTo>
                  <a:pt x="1869" y="1041"/>
                </a:lnTo>
                <a:lnTo>
                  <a:pt x="1868" y="1040"/>
                </a:lnTo>
                <a:lnTo>
                  <a:pt x="1867" y="1039"/>
                </a:lnTo>
                <a:lnTo>
                  <a:pt x="1866" y="1037"/>
                </a:lnTo>
                <a:lnTo>
                  <a:pt x="1865" y="1035"/>
                </a:lnTo>
                <a:lnTo>
                  <a:pt x="1865" y="1034"/>
                </a:lnTo>
                <a:lnTo>
                  <a:pt x="1865" y="1032"/>
                </a:lnTo>
                <a:lnTo>
                  <a:pt x="1866" y="1030"/>
                </a:lnTo>
                <a:lnTo>
                  <a:pt x="1867" y="1029"/>
                </a:lnTo>
                <a:lnTo>
                  <a:pt x="1868" y="1027"/>
                </a:lnTo>
                <a:lnTo>
                  <a:pt x="1869" y="1026"/>
                </a:lnTo>
                <a:lnTo>
                  <a:pt x="1870" y="1025"/>
                </a:lnTo>
                <a:lnTo>
                  <a:pt x="1872" y="1025"/>
                </a:lnTo>
                <a:lnTo>
                  <a:pt x="1874" y="1025"/>
                </a:lnTo>
                <a:close/>
                <a:moveTo>
                  <a:pt x="93" y="965"/>
                </a:moveTo>
                <a:lnTo>
                  <a:pt x="93" y="965"/>
                </a:lnTo>
                <a:lnTo>
                  <a:pt x="93" y="966"/>
                </a:lnTo>
                <a:lnTo>
                  <a:pt x="93" y="966"/>
                </a:lnTo>
                <a:lnTo>
                  <a:pt x="93" y="966"/>
                </a:lnTo>
                <a:lnTo>
                  <a:pt x="92" y="966"/>
                </a:lnTo>
                <a:lnTo>
                  <a:pt x="92" y="966"/>
                </a:lnTo>
                <a:lnTo>
                  <a:pt x="92" y="965"/>
                </a:lnTo>
                <a:lnTo>
                  <a:pt x="93" y="965"/>
                </a:lnTo>
                <a:close/>
                <a:moveTo>
                  <a:pt x="1920" y="963"/>
                </a:moveTo>
                <a:lnTo>
                  <a:pt x="1921" y="963"/>
                </a:lnTo>
                <a:lnTo>
                  <a:pt x="1922" y="965"/>
                </a:lnTo>
                <a:lnTo>
                  <a:pt x="1921" y="967"/>
                </a:lnTo>
                <a:lnTo>
                  <a:pt x="1920" y="968"/>
                </a:lnTo>
                <a:lnTo>
                  <a:pt x="1918" y="967"/>
                </a:lnTo>
                <a:lnTo>
                  <a:pt x="1917" y="965"/>
                </a:lnTo>
                <a:lnTo>
                  <a:pt x="1918" y="963"/>
                </a:lnTo>
                <a:lnTo>
                  <a:pt x="1920" y="963"/>
                </a:lnTo>
                <a:close/>
                <a:moveTo>
                  <a:pt x="3" y="962"/>
                </a:moveTo>
                <a:lnTo>
                  <a:pt x="6" y="963"/>
                </a:lnTo>
                <a:lnTo>
                  <a:pt x="7" y="966"/>
                </a:lnTo>
                <a:lnTo>
                  <a:pt x="6" y="969"/>
                </a:lnTo>
                <a:lnTo>
                  <a:pt x="3" y="970"/>
                </a:lnTo>
                <a:lnTo>
                  <a:pt x="1" y="969"/>
                </a:lnTo>
                <a:lnTo>
                  <a:pt x="0" y="966"/>
                </a:lnTo>
                <a:lnTo>
                  <a:pt x="1" y="963"/>
                </a:lnTo>
                <a:lnTo>
                  <a:pt x="3" y="962"/>
                </a:lnTo>
                <a:close/>
                <a:moveTo>
                  <a:pt x="47" y="959"/>
                </a:moveTo>
                <a:lnTo>
                  <a:pt x="49" y="959"/>
                </a:lnTo>
                <a:lnTo>
                  <a:pt x="51" y="959"/>
                </a:lnTo>
                <a:lnTo>
                  <a:pt x="52" y="961"/>
                </a:lnTo>
                <a:lnTo>
                  <a:pt x="54" y="962"/>
                </a:lnTo>
                <a:lnTo>
                  <a:pt x="54" y="964"/>
                </a:lnTo>
                <a:lnTo>
                  <a:pt x="55" y="966"/>
                </a:lnTo>
                <a:lnTo>
                  <a:pt x="54" y="968"/>
                </a:lnTo>
                <a:lnTo>
                  <a:pt x="54" y="969"/>
                </a:lnTo>
                <a:lnTo>
                  <a:pt x="52" y="971"/>
                </a:lnTo>
                <a:lnTo>
                  <a:pt x="51" y="972"/>
                </a:lnTo>
                <a:lnTo>
                  <a:pt x="49" y="973"/>
                </a:lnTo>
                <a:lnTo>
                  <a:pt x="47" y="973"/>
                </a:lnTo>
                <a:lnTo>
                  <a:pt x="45" y="973"/>
                </a:lnTo>
                <a:lnTo>
                  <a:pt x="44" y="972"/>
                </a:lnTo>
                <a:lnTo>
                  <a:pt x="42" y="971"/>
                </a:lnTo>
                <a:lnTo>
                  <a:pt x="41" y="969"/>
                </a:lnTo>
                <a:lnTo>
                  <a:pt x="40" y="968"/>
                </a:lnTo>
                <a:lnTo>
                  <a:pt x="40" y="966"/>
                </a:lnTo>
                <a:lnTo>
                  <a:pt x="40" y="964"/>
                </a:lnTo>
                <a:lnTo>
                  <a:pt x="41" y="962"/>
                </a:lnTo>
                <a:lnTo>
                  <a:pt x="42" y="961"/>
                </a:lnTo>
                <a:lnTo>
                  <a:pt x="44" y="959"/>
                </a:lnTo>
                <a:lnTo>
                  <a:pt x="45" y="959"/>
                </a:lnTo>
                <a:lnTo>
                  <a:pt x="47" y="959"/>
                </a:lnTo>
                <a:close/>
                <a:moveTo>
                  <a:pt x="1876" y="957"/>
                </a:moveTo>
                <a:lnTo>
                  <a:pt x="1878" y="957"/>
                </a:lnTo>
                <a:lnTo>
                  <a:pt x="1879" y="957"/>
                </a:lnTo>
                <a:lnTo>
                  <a:pt x="1881" y="958"/>
                </a:lnTo>
                <a:lnTo>
                  <a:pt x="1882" y="959"/>
                </a:lnTo>
                <a:lnTo>
                  <a:pt x="1883" y="960"/>
                </a:lnTo>
                <a:lnTo>
                  <a:pt x="1884" y="962"/>
                </a:lnTo>
                <a:lnTo>
                  <a:pt x="1885" y="964"/>
                </a:lnTo>
                <a:lnTo>
                  <a:pt x="1885" y="965"/>
                </a:lnTo>
                <a:lnTo>
                  <a:pt x="1885" y="967"/>
                </a:lnTo>
                <a:lnTo>
                  <a:pt x="1884" y="969"/>
                </a:lnTo>
                <a:lnTo>
                  <a:pt x="1883" y="970"/>
                </a:lnTo>
                <a:lnTo>
                  <a:pt x="1882" y="971"/>
                </a:lnTo>
                <a:lnTo>
                  <a:pt x="1881" y="972"/>
                </a:lnTo>
                <a:lnTo>
                  <a:pt x="1879" y="973"/>
                </a:lnTo>
                <a:lnTo>
                  <a:pt x="1878" y="974"/>
                </a:lnTo>
                <a:lnTo>
                  <a:pt x="1876" y="974"/>
                </a:lnTo>
                <a:lnTo>
                  <a:pt x="1874" y="974"/>
                </a:lnTo>
                <a:lnTo>
                  <a:pt x="1873" y="973"/>
                </a:lnTo>
                <a:lnTo>
                  <a:pt x="1871" y="972"/>
                </a:lnTo>
                <a:lnTo>
                  <a:pt x="1870" y="971"/>
                </a:lnTo>
                <a:lnTo>
                  <a:pt x="1869" y="970"/>
                </a:lnTo>
                <a:lnTo>
                  <a:pt x="1868" y="969"/>
                </a:lnTo>
                <a:lnTo>
                  <a:pt x="1868" y="967"/>
                </a:lnTo>
                <a:lnTo>
                  <a:pt x="1867" y="965"/>
                </a:lnTo>
                <a:lnTo>
                  <a:pt x="1868" y="964"/>
                </a:lnTo>
                <a:lnTo>
                  <a:pt x="1868" y="962"/>
                </a:lnTo>
                <a:lnTo>
                  <a:pt x="1869" y="960"/>
                </a:lnTo>
                <a:lnTo>
                  <a:pt x="1870" y="959"/>
                </a:lnTo>
                <a:lnTo>
                  <a:pt x="1871" y="958"/>
                </a:lnTo>
                <a:lnTo>
                  <a:pt x="1873" y="957"/>
                </a:lnTo>
                <a:lnTo>
                  <a:pt x="1874" y="957"/>
                </a:lnTo>
                <a:lnTo>
                  <a:pt x="1876" y="957"/>
                </a:lnTo>
                <a:close/>
                <a:moveTo>
                  <a:pt x="95" y="897"/>
                </a:moveTo>
                <a:lnTo>
                  <a:pt x="96" y="897"/>
                </a:lnTo>
                <a:lnTo>
                  <a:pt x="96" y="898"/>
                </a:lnTo>
                <a:lnTo>
                  <a:pt x="96" y="898"/>
                </a:lnTo>
                <a:lnTo>
                  <a:pt x="95" y="898"/>
                </a:lnTo>
                <a:lnTo>
                  <a:pt x="95" y="898"/>
                </a:lnTo>
                <a:lnTo>
                  <a:pt x="95" y="898"/>
                </a:lnTo>
                <a:lnTo>
                  <a:pt x="95" y="897"/>
                </a:lnTo>
                <a:lnTo>
                  <a:pt x="95" y="897"/>
                </a:lnTo>
                <a:close/>
                <a:moveTo>
                  <a:pt x="1917" y="894"/>
                </a:moveTo>
                <a:lnTo>
                  <a:pt x="1920" y="895"/>
                </a:lnTo>
                <a:lnTo>
                  <a:pt x="1921" y="897"/>
                </a:lnTo>
                <a:lnTo>
                  <a:pt x="1920" y="899"/>
                </a:lnTo>
                <a:lnTo>
                  <a:pt x="1917" y="900"/>
                </a:lnTo>
                <a:lnTo>
                  <a:pt x="1915" y="899"/>
                </a:lnTo>
                <a:lnTo>
                  <a:pt x="1914" y="897"/>
                </a:lnTo>
                <a:lnTo>
                  <a:pt x="1915" y="895"/>
                </a:lnTo>
                <a:lnTo>
                  <a:pt x="1917" y="894"/>
                </a:lnTo>
                <a:close/>
                <a:moveTo>
                  <a:pt x="6" y="894"/>
                </a:moveTo>
                <a:lnTo>
                  <a:pt x="8" y="894"/>
                </a:lnTo>
                <a:lnTo>
                  <a:pt x="9" y="896"/>
                </a:lnTo>
                <a:lnTo>
                  <a:pt x="10" y="898"/>
                </a:lnTo>
                <a:lnTo>
                  <a:pt x="9" y="900"/>
                </a:lnTo>
                <a:lnTo>
                  <a:pt x="8" y="901"/>
                </a:lnTo>
                <a:lnTo>
                  <a:pt x="6" y="902"/>
                </a:lnTo>
                <a:lnTo>
                  <a:pt x="4" y="901"/>
                </a:lnTo>
                <a:lnTo>
                  <a:pt x="2" y="900"/>
                </a:lnTo>
                <a:lnTo>
                  <a:pt x="2" y="898"/>
                </a:lnTo>
                <a:lnTo>
                  <a:pt x="2" y="896"/>
                </a:lnTo>
                <a:lnTo>
                  <a:pt x="4" y="894"/>
                </a:lnTo>
                <a:lnTo>
                  <a:pt x="6" y="894"/>
                </a:lnTo>
                <a:close/>
                <a:moveTo>
                  <a:pt x="50" y="892"/>
                </a:moveTo>
                <a:lnTo>
                  <a:pt x="52" y="892"/>
                </a:lnTo>
                <a:lnTo>
                  <a:pt x="53" y="893"/>
                </a:lnTo>
                <a:lnTo>
                  <a:pt x="54" y="894"/>
                </a:lnTo>
                <a:lnTo>
                  <a:pt x="55" y="896"/>
                </a:lnTo>
                <a:lnTo>
                  <a:pt x="55" y="898"/>
                </a:lnTo>
                <a:lnTo>
                  <a:pt x="55" y="900"/>
                </a:lnTo>
                <a:lnTo>
                  <a:pt x="54" y="901"/>
                </a:lnTo>
                <a:lnTo>
                  <a:pt x="53" y="902"/>
                </a:lnTo>
                <a:lnTo>
                  <a:pt x="52" y="903"/>
                </a:lnTo>
                <a:lnTo>
                  <a:pt x="50" y="903"/>
                </a:lnTo>
                <a:lnTo>
                  <a:pt x="48" y="903"/>
                </a:lnTo>
                <a:lnTo>
                  <a:pt x="46" y="902"/>
                </a:lnTo>
                <a:lnTo>
                  <a:pt x="45" y="901"/>
                </a:lnTo>
                <a:lnTo>
                  <a:pt x="44" y="900"/>
                </a:lnTo>
                <a:lnTo>
                  <a:pt x="44" y="898"/>
                </a:lnTo>
                <a:lnTo>
                  <a:pt x="44" y="896"/>
                </a:lnTo>
                <a:lnTo>
                  <a:pt x="45" y="894"/>
                </a:lnTo>
                <a:lnTo>
                  <a:pt x="46" y="893"/>
                </a:lnTo>
                <a:lnTo>
                  <a:pt x="48" y="892"/>
                </a:lnTo>
                <a:lnTo>
                  <a:pt x="50" y="892"/>
                </a:lnTo>
                <a:close/>
                <a:moveTo>
                  <a:pt x="1874" y="889"/>
                </a:moveTo>
                <a:lnTo>
                  <a:pt x="1875" y="889"/>
                </a:lnTo>
                <a:lnTo>
                  <a:pt x="1877" y="889"/>
                </a:lnTo>
                <a:lnTo>
                  <a:pt x="1879" y="890"/>
                </a:lnTo>
                <a:lnTo>
                  <a:pt x="1880" y="891"/>
                </a:lnTo>
                <a:lnTo>
                  <a:pt x="1881" y="892"/>
                </a:lnTo>
                <a:lnTo>
                  <a:pt x="1882" y="894"/>
                </a:lnTo>
                <a:lnTo>
                  <a:pt x="1882" y="895"/>
                </a:lnTo>
                <a:lnTo>
                  <a:pt x="1882" y="897"/>
                </a:lnTo>
                <a:lnTo>
                  <a:pt x="1882" y="899"/>
                </a:lnTo>
                <a:lnTo>
                  <a:pt x="1882" y="901"/>
                </a:lnTo>
                <a:lnTo>
                  <a:pt x="1881" y="902"/>
                </a:lnTo>
                <a:lnTo>
                  <a:pt x="1880" y="903"/>
                </a:lnTo>
                <a:lnTo>
                  <a:pt x="1879" y="904"/>
                </a:lnTo>
                <a:lnTo>
                  <a:pt x="1877" y="905"/>
                </a:lnTo>
                <a:lnTo>
                  <a:pt x="1875" y="906"/>
                </a:lnTo>
                <a:lnTo>
                  <a:pt x="1874" y="906"/>
                </a:lnTo>
                <a:lnTo>
                  <a:pt x="1872" y="906"/>
                </a:lnTo>
                <a:lnTo>
                  <a:pt x="1870" y="905"/>
                </a:lnTo>
                <a:lnTo>
                  <a:pt x="1869" y="904"/>
                </a:lnTo>
                <a:lnTo>
                  <a:pt x="1868" y="903"/>
                </a:lnTo>
                <a:lnTo>
                  <a:pt x="1867" y="902"/>
                </a:lnTo>
                <a:lnTo>
                  <a:pt x="1866" y="901"/>
                </a:lnTo>
                <a:lnTo>
                  <a:pt x="1865" y="899"/>
                </a:lnTo>
                <a:lnTo>
                  <a:pt x="1865" y="897"/>
                </a:lnTo>
                <a:lnTo>
                  <a:pt x="1865" y="895"/>
                </a:lnTo>
                <a:lnTo>
                  <a:pt x="1866" y="894"/>
                </a:lnTo>
                <a:lnTo>
                  <a:pt x="1867" y="892"/>
                </a:lnTo>
                <a:lnTo>
                  <a:pt x="1868" y="891"/>
                </a:lnTo>
                <a:lnTo>
                  <a:pt x="1869" y="890"/>
                </a:lnTo>
                <a:lnTo>
                  <a:pt x="1870" y="889"/>
                </a:lnTo>
                <a:lnTo>
                  <a:pt x="1872" y="889"/>
                </a:lnTo>
                <a:lnTo>
                  <a:pt x="1874" y="889"/>
                </a:lnTo>
                <a:close/>
                <a:moveTo>
                  <a:pt x="103" y="829"/>
                </a:moveTo>
                <a:lnTo>
                  <a:pt x="104" y="830"/>
                </a:lnTo>
                <a:lnTo>
                  <a:pt x="104" y="830"/>
                </a:lnTo>
                <a:lnTo>
                  <a:pt x="104" y="831"/>
                </a:lnTo>
                <a:lnTo>
                  <a:pt x="103" y="831"/>
                </a:lnTo>
                <a:lnTo>
                  <a:pt x="102" y="831"/>
                </a:lnTo>
                <a:lnTo>
                  <a:pt x="102" y="830"/>
                </a:lnTo>
                <a:lnTo>
                  <a:pt x="102" y="830"/>
                </a:lnTo>
                <a:lnTo>
                  <a:pt x="103" y="829"/>
                </a:lnTo>
                <a:close/>
                <a:moveTo>
                  <a:pt x="1910" y="826"/>
                </a:moveTo>
                <a:lnTo>
                  <a:pt x="1913" y="827"/>
                </a:lnTo>
                <a:lnTo>
                  <a:pt x="1914" y="829"/>
                </a:lnTo>
                <a:lnTo>
                  <a:pt x="1913" y="832"/>
                </a:lnTo>
                <a:lnTo>
                  <a:pt x="1910" y="833"/>
                </a:lnTo>
                <a:lnTo>
                  <a:pt x="1907" y="832"/>
                </a:lnTo>
                <a:lnTo>
                  <a:pt x="1906" y="829"/>
                </a:lnTo>
                <a:lnTo>
                  <a:pt x="1907" y="827"/>
                </a:lnTo>
                <a:lnTo>
                  <a:pt x="1910" y="826"/>
                </a:lnTo>
                <a:close/>
                <a:moveTo>
                  <a:pt x="13" y="826"/>
                </a:moveTo>
                <a:lnTo>
                  <a:pt x="16" y="826"/>
                </a:lnTo>
                <a:lnTo>
                  <a:pt x="17" y="828"/>
                </a:lnTo>
                <a:lnTo>
                  <a:pt x="18" y="830"/>
                </a:lnTo>
                <a:lnTo>
                  <a:pt x="17" y="832"/>
                </a:lnTo>
                <a:lnTo>
                  <a:pt x="16" y="833"/>
                </a:lnTo>
                <a:lnTo>
                  <a:pt x="13" y="834"/>
                </a:lnTo>
                <a:lnTo>
                  <a:pt x="11" y="833"/>
                </a:lnTo>
                <a:lnTo>
                  <a:pt x="9" y="832"/>
                </a:lnTo>
                <a:lnTo>
                  <a:pt x="9" y="830"/>
                </a:lnTo>
                <a:lnTo>
                  <a:pt x="9" y="828"/>
                </a:lnTo>
                <a:lnTo>
                  <a:pt x="11" y="826"/>
                </a:lnTo>
                <a:lnTo>
                  <a:pt x="13" y="826"/>
                </a:lnTo>
                <a:close/>
                <a:moveTo>
                  <a:pt x="57" y="823"/>
                </a:moveTo>
                <a:lnTo>
                  <a:pt x="59" y="824"/>
                </a:lnTo>
                <a:lnTo>
                  <a:pt x="61" y="825"/>
                </a:lnTo>
                <a:lnTo>
                  <a:pt x="62" y="826"/>
                </a:lnTo>
                <a:lnTo>
                  <a:pt x="63" y="828"/>
                </a:lnTo>
                <a:lnTo>
                  <a:pt x="63" y="830"/>
                </a:lnTo>
                <a:lnTo>
                  <a:pt x="63" y="832"/>
                </a:lnTo>
                <a:lnTo>
                  <a:pt x="62" y="833"/>
                </a:lnTo>
                <a:lnTo>
                  <a:pt x="61" y="835"/>
                </a:lnTo>
                <a:lnTo>
                  <a:pt x="59" y="836"/>
                </a:lnTo>
                <a:lnTo>
                  <a:pt x="57" y="836"/>
                </a:lnTo>
                <a:lnTo>
                  <a:pt x="55" y="836"/>
                </a:lnTo>
                <a:lnTo>
                  <a:pt x="53" y="835"/>
                </a:lnTo>
                <a:lnTo>
                  <a:pt x="52" y="833"/>
                </a:lnTo>
                <a:lnTo>
                  <a:pt x="51" y="832"/>
                </a:lnTo>
                <a:lnTo>
                  <a:pt x="51" y="830"/>
                </a:lnTo>
                <a:lnTo>
                  <a:pt x="51" y="828"/>
                </a:lnTo>
                <a:lnTo>
                  <a:pt x="52" y="826"/>
                </a:lnTo>
                <a:lnTo>
                  <a:pt x="53" y="825"/>
                </a:lnTo>
                <a:lnTo>
                  <a:pt x="55" y="824"/>
                </a:lnTo>
                <a:lnTo>
                  <a:pt x="57" y="823"/>
                </a:lnTo>
                <a:close/>
                <a:moveTo>
                  <a:pt x="1866" y="821"/>
                </a:moveTo>
                <a:lnTo>
                  <a:pt x="1868" y="821"/>
                </a:lnTo>
                <a:lnTo>
                  <a:pt x="1869" y="821"/>
                </a:lnTo>
                <a:lnTo>
                  <a:pt x="1871" y="822"/>
                </a:lnTo>
                <a:lnTo>
                  <a:pt x="1872" y="823"/>
                </a:lnTo>
                <a:lnTo>
                  <a:pt x="1873" y="824"/>
                </a:lnTo>
                <a:lnTo>
                  <a:pt x="1874" y="826"/>
                </a:lnTo>
                <a:lnTo>
                  <a:pt x="1875" y="828"/>
                </a:lnTo>
                <a:lnTo>
                  <a:pt x="1875" y="829"/>
                </a:lnTo>
                <a:lnTo>
                  <a:pt x="1875" y="831"/>
                </a:lnTo>
                <a:lnTo>
                  <a:pt x="1874" y="833"/>
                </a:lnTo>
                <a:lnTo>
                  <a:pt x="1873" y="834"/>
                </a:lnTo>
                <a:lnTo>
                  <a:pt x="1872" y="836"/>
                </a:lnTo>
                <a:lnTo>
                  <a:pt x="1871" y="837"/>
                </a:lnTo>
                <a:lnTo>
                  <a:pt x="1869" y="838"/>
                </a:lnTo>
                <a:lnTo>
                  <a:pt x="1868" y="838"/>
                </a:lnTo>
                <a:lnTo>
                  <a:pt x="1866" y="838"/>
                </a:lnTo>
                <a:lnTo>
                  <a:pt x="1864" y="838"/>
                </a:lnTo>
                <a:lnTo>
                  <a:pt x="1863" y="838"/>
                </a:lnTo>
                <a:lnTo>
                  <a:pt x="1861" y="837"/>
                </a:lnTo>
                <a:lnTo>
                  <a:pt x="1860" y="836"/>
                </a:lnTo>
                <a:lnTo>
                  <a:pt x="1859" y="834"/>
                </a:lnTo>
                <a:lnTo>
                  <a:pt x="1858" y="833"/>
                </a:lnTo>
                <a:lnTo>
                  <a:pt x="1857" y="831"/>
                </a:lnTo>
                <a:lnTo>
                  <a:pt x="1857" y="829"/>
                </a:lnTo>
                <a:lnTo>
                  <a:pt x="1857" y="828"/>
                </a:lnTo>
                <a:lnTo>
                  <a:pt x="1858" y="826"/>
                </a:lnTo>
                <a:lnTo>
                  <a:pt x="1859" y="824"/>
                </a:lnTo>
                <a:lnTo>
                  <a:pt x="1860" y="823"/>
                </a:lnTo>
                <a:lnTo>
                  <a:pt x="1861" y="822"/>
                </a:lnTo>
                <a:lnTo>
                  <a:pt x="1863" y="821"/>
                </a:lnTo>
                <a:lnTo>
                  <a:pt x="1864" y="821"/>
                </a:lnTo>
                <a:lnTo>
                  <a:pt x="1866" y="821"/>
                </a:lnTo>
                <a:close/>
                <a:moveTo>
                  <a:pt x="117" y="762"/>
                </a:moveTo>
                <a:lnTo>
                  <a:pt x="117" y="763"/>
                </a:lnTo>
                <a:lnTo>
                  <a:pt x="118" y="763"/>
                </a:lnTo>
                <a:lnTo>
                  <a:pt x="117" y="764"/>
                </a:lnTo>
                <a:lnTo>
                  <a:pt x="117" y="764"/>
                </a:lnTo>
                <a:lnTo>
                  <a:pt x="116" y="764"/>
                </a:lnTo>
                <a:lnTo>
                  <a:pt x="116" y="763"/>
                </a:lnTo>
                <a:lnTo>
                  <a:pt x="116" y="763"/>
                </a:lnTo>
                <a:lnTo>
                  <a:pt x="117" y="762"/>
                </a:lnTo>
                <a:close/>
                <a:moveTo>
                  <a:pt x="25" y="758"/>
                </a:moveTo>
                <a:lnTo>
                  <a:pt x="28" y="759"/>
                </a:lnTo>
                <a:lnTo>
                  <a:pt x="29" y="760"/>
                </a:lnTo>
                <a:lnTo>
                  <a:pt x="30" y="762"/>
                </a:lnTo>
                <a:lnTo>
                  <a:pt x="29" y="765"/>
                </a:lnTo>
                <a:lnTo>
                  <a:pt x="28" y="766"/>
                </a:lnTo>
                <a:lnTo>
                  <a:pt x="25" y="767"/>
                </a:lnTo>
                <a:lnTo>
                  <a:pt x="23" y="766"/>
                </a:lnTo>
                <a:lnTo>
                  <a:pt x="22" y="765"/>
                </a:lnTo>
                <a:lnTo>
                  <a:pt x="21" y="762"/>
                </a:lnTo>
                <a:lnTo>
                  <a:pt x="22" y="760"/>
                </a:lnTo>
                <a:lnTo>
                  <a:pt x="23" y="759"/>
                </a:lnTo>
                <a:lnTo>
                  <a:pt x="25" y="758"/>
                </a:lnTo>
                <a:close/>
                <a:moveTo>
                  <a:pt x="1898" y="758"/>
                </a:moveTo>
                <a:lnTo>
                  <a:pt x="1900" y="758"/>
                </a:lnTo>
                <a:lnTo>
                  <a:pt x="1902" y="760"/>
                </a:lnTo>
                <a:lnTo>
                  <a:pt x="1902" y="762"/>
                </a:lnTo>
                <a:lnTo>
                  <a:pt x="1902" y="764"/>
                </a:lnTo>
                <a:lnTo>
                  <a:pt x="1900" y="766"/>
                </a:lnTo>
                <a:lnTo>
                  <a:pt x="1898" y="766"/>
                </a:lnTo>
                <a:lnTo>
                  <a:pt x="1895" y="766"/>
                </a:lnTo>
                <a:lnTo>
                  <a:pt x="1894" y="764"/>
                </a:lnTo>
                <a:lnTo>
                  <a:pt x="1893" y="762"/>
                </a:lnTo>
                <a:lnTo>
                  <a:pt x="1894" y="760"/>
                </a:lnTo>
                <a:lnTo>
                  <a:pt x="1895" y="758"/>
                </a:lnTo>
                <a:lnTo>
                  <a:pt x="1898" y="758"/>
                </a:lnTo>
                <a:close/>
                <a:moveTo>
                  <a:pt x="70" y="756"/>
                </a:moveTo>
                <a:lnTo>
                  <a:pt x="72" y="756"/>
                </a:lnTo>
                <a:lnTo>
                  <a:pt x="73" y="757"/>
                </a:lnTo>
                <a:lnTo>
                  <a:pt x="75" y="758"/>
                </a:lnTo>
                <a:lnTo>
                  <a:pt x="76" y="759"/>
                </a:lnTo>
                <a:lnTo>
                  <a:pt x="77" y="761"/>
                </a:lnTo>
                <a:lnTo>
                  <a:pt x="77" y="762"/>
                </a:lnTo>
                <a:lnTo>
                  <a:pt x="77" y="764"/>
                </a:lnTo>
                <a:lnTo>
                  <a:pt x="76" y="766"/>
                </a:lnTo>
                <a:lnTo>
                  <a:pt x="75" y="767"/>
                </a:lnTo>
                <a:lnTo>
                  <a:pt x="73" y="768"/>
                </a:lnTo>
                <a:lnTo>
                  <a:pt x="72" y="769"/>
                </a:lnTo>
                <a:lnTo>
                  <a:pt x="70" y="769"/>
                </a:lnTo>
                <a:lnTo>
                  <a:pt x="68" y="769"/>
                </a:lnTo>
                <a:lnTo>
                  <a:pt x="66" y="768"/>
                </a:lnTo>
                <a:lnTo>
                  <a:pt x="65" y="767"/>
                </a:lnTo>
                <a:lnTo>
                  <a:pt x="64" y="766"/>
                </a:lnTo>
                <a:lnTo>
                  <a:pt x="63" y="764"/>
                </a:lnTo>
                <a:lnTo>
                  <a:pt x="63" y="762"/>
                </a:lnTo>
                <a:lnTo>
                  <a:pt x="63" y="761"/>
                </a:lnTo>
                <a:lnTo>
                  <a:pt x="64" y="759"/>
                </a:lnTo>
                <a:lnTo>
                  <a:pt x="65" y="758"/>
                </a:lnTo>
                <a:lnTo>
                  <a:pt x="66" y="757"/>
                </a:lnTo>
                <a:lnTo>
                  <a:pt x="68" y="756"/>
                </a:lnTo>
                <a:lnTo>
                  <a:pt x="70" y="756"/>
                </a:lnTo>
                <a:close/>
                <a:moveTo>
                  <a:pt x="1853" y="753"/>
                </a:moveTo>
                <a:lnTo>
                  <a:pt x="1855" y="754"/>
                </a:lnTo>
                <a:lnTo>
                  <a:pt x="1857" y="754"/>
                </a:lnTo>
                <a:lnTo>
                  <a:pt x="1858" y="755"/>
                </a:lnTo>
                <a:lnTo>
                  <a:pt x="1860" y="756"/>
                </a:lnTo>
                <a:lnTo>
                  <a:pt x="1861" y="757"/>
                </a:lnTo>
                <a:lnTo>
                  <a:pt x="1862" y="759"/>
                </a:lnTo>
                <a:lnTo>
                  <a:pt x="1862" y="760"/>
                </a:lnTo>
                <a:lnTo>
                  <a:pt x="1862" y="762"/>
                </a:lnTo>
                <a:lnTo>
                  <a:pt x="1862" y="764"/>
                </a:lnTo>
                <a:lnTo>
                  <a:pt x="1862" y="766"/>
                </a:lnTo>
                <a:lnTo>
                  <a:pt x="1861" y="767"/>
                </a:lnTo>
                <a:lnTo>
                  <a:pt x="1860" y="769"/>
                </a:lnTo>
                <a:lnTo>
                  <a:pt x="1858" y="770"/>
                </a:lnTo>
                <a:lnTo>
                  <a:pt x="1857" y="770"/>
                </a:lnTo>
                <a:lnTo>
                  <a:pt x="1855" y="771"/>
                </a:lnTo>
                <a:lnTo>
                  <a:pt x="1853" y="771"/>
                </a:lnTo>
                <a:lnTo>
                  <a:pt x="1851" y="771"/>
                </a:lnTo>
                <a:lnTo>
                  <a:pt x="1850" y="770"/>
                </a:lnTo>
                <a:lnTo>
                  <a:pt x="1848" y="770"/>
                </a:lnTo>
                <a:lnTo>
                  <a:pt x="1847" y="769"/>
                </a:lnTo>
                <a:lnTo>
                  <a:pt x="1846" y="767"/>
                </a:lnTo>
                <a:lnTo>
                  <a:pt x="1845" y="766"/>
                </a:lnTo>
                <a:lnTo>
                  <a:pt x="1844" y="764"/>
                </a:lnTo>
                <a:lnTo>
                  <a:pt x="1844" y="762"/>
                </a:lnTo>
                <a:lnTo>
                  <a:pt x="1844" y="760"/>
                </a:lnTo>
                <a:lnTo>
                  <a:pt x="1845" y="759"/>
                </a:lnTo>
                <a:lnTo>
                  <a:pt x="1846" y="757"/>
                </a:lnTo>
                <a:lnTo>
                  <a:pt x="1847" y="756"/>
                </a:lnTo>
                <a:lnTo>
                  <a:pt x="1848" y="755"/>
                </a:lnTo>
                <a:lnTo>
                  <a:pt x="1850" y="754"/>
                </a:lnTo>
                <a:lnTo>
                  <a:pt x="1851" y="754"/>
                </a:lnTo>
                <a:lnTo>
                  <a:pt x="1853" y="753"/>
                </a:lnTo>
                <a:close/>
                <a:moveTo>
                  <a:pt x="135" y="697"/>
                </a:moveTo>
                <a:lnTo>
                  <a:pt x="136" y="697"/>
                </a:lnTo>
                <a:lnTo>
                  <a:pt x="136" y="698"/>
                </a:lnTo>
                <a:lnTo>
                  <a:pt x="136" y="698"/>
                </a:lnTo>
                <a:lnTo>
                  <a:pt x="135" y="699"/>
                </a:lnTo>
                <a:lnTo>
                  <a:pt x="134" y="698"/>
                </a:lnTo>
                <a:lnTo>
                  <a:pt x="134" y="698"/>
                </a:lnTo>
                <a:lnTo>
                  <a:pt x="134" y="697"/>
                </a:lnTo>
                <a:lnTo>
                  <a:pt x="135" y="697"/>
                </a:lnTo>
                <a:close/>
                <a:moveTo>
                  <a:pt x="42" y="692"/>
                </a:moveTo>
                <a:lnTo>
                  <a:pt x="45" y="692"/>
                </a:lnTo>
                <a:lnTo>
                  <a:pt x="46" y="694"/>
                </a:lnTo>
                <a:lnTo>
                  <a:pt x="47" y="696"/>
                </a:lnTo>
                <a:lnTo>
                  <a:pt x="46" y="699"/>
                </a:lnTo>
                <a:lnTo>
                  <a:pt x="45" y="700"/>
                </a:lnTo>
                <a:lnTo>
                  <a:pt x="42" y="701"/>
                </a:lnTo>
                <a:lnTo>
                  <a:pt x="40" y="700"/>
                </a:lnTo>
                <a:lnTo>
                  <a:pt x="38" y="699"/>
                </a:lnTo>
                <a:lnTo>
                  <a:pt x="38" y="696"/>
                </a:lnTo>
                <a:lnTo>
                  <a:pt x="38" y="694"/>
                </a:lnTo>
                <a:lnTo>
                  <a:pt x="40" y="692"/>
                </a:lnTo>
                <a:lnTo>
                  <a:pt x="42" y="692"/>
                </a:lnTo>
                <a:close/>
                <a:moveTo>
                  <a:pt x="1881" y="690"/>
                </a:moveTo>
                <a:lnTo>
                  <a:pt x="1883" y="691"/>
                </a:lnTo>
                <a:lnTo>
                  <a:pt x="1885" y="692"/>
                </a:lnTo>
                <a:lnTo>
                  <a:pt x="1886" y="694"/>
                </a:lnTo>
                <a:lnTo>
                  <a:pt x="1887" y="696"/>
                </a:lnTo>
                <a:lnTo>
                  <a:pt x="1886" y="698"/>
                </a:lnTo>
                <a:lnTo>
                  <a:pt x="1885" y="700"/>
                </a:lnTo>
                <a:lnTo>
                  <a:pt x="1883" y="701"/>
                </a:lnTo>
                <a:lnTo>
                  <a:pt x="1881" y="701"/>
                </a:lnTo>
                <a:lnTo>
                  <a:pt x="1879" y="701"/>
                </a:lnTo>
                <a:lnTo>
                  <a:pt x="1877" y="700"/>
                </a:lnTo>
                <a:lnTo>
                  <a:pt x="1876" y="698"/>
                </a:lnTo>
                <a:lnTo>
                  <a:pt x="1875" y="696"/>
                </a:lnTo>
                <a:lnTo>
                  <a:pt x="1876" y="694"/>
                </a:lnTo>
                <a:lnTo>
                  <a:pt x="1877" y="692"/>
                </a:lnTo>
                <a:lnTo>
                  <a:pt x="1879" y="691"/>
                </a:lnTo>
                <a:lnTo>
                  <a:pt x="1881" y="690"/>
                </a:lnTo>
                <a:close/>
                <a:moveTo>
                  <a:pt x="88" y="689"/>
                </a:moveTo>
                <a:lnTo>
                  <a:pt x="89" y="689"/>
                </a:lnTo>
                <a:lnTo>
                  <a:pt x="91" y="689"/>
                </a:lnTo>
                <a:lnTo>
                  <a:pt x="93" y="690"/>
                </a:lnTo>
                <a:lnTo>
                  <a:pt x="94" y="692"/>
                </a:lnTo>
                <a:lnTo>
                  <a:pt x="95" y="693"/>
                </a:lnTo>
                <a:lnTo>
                  <a:pt x="95" y="695"/>
                </a:lnTo>
                <a:lnTo>
                  <a:pt x="96" y="697"/>
                </a:lnTo>
                <a:lnTo>
                  <a:pt x="95" y="698"/>
                </a:lnTo>
                <a:lnTo>
                  <a:pt x="95" y="700"/>
                </a:lnTo>
                <a:lnTo>
                  <a:pt x="94" y="701"/>
                </a:lnTo>
                <a:lnTo>
                  <a:pt x="93" y="703"/>
                </a:lnTo>
                <a:lnTo>
                  <a:pt x="91" y="704"/>
                </a:lnTo>
                <a:lnTo>
                  <a:pt x="89" y="704"/>
                </a:lnTo>
                <a:lnTo>
                  <a:pt x="88" y="704"/>
                </a:lnTo>
                <a:lnTo>
                  <a:pt x="86" y="704"/>
                </a:lnTo>
                <a:lnTo>
                  <a:pt x="84" y="704"/>
                </a:lnTo>
                <a:lnTo>
                  <a:pt x="83" y="703"/>
                </a:lnTo>
                <a:lnTo>
                  <a:pt x="81" y="701"/>
                </a:lnTo>
                <a:lnTo>
                  <a:pt x="81" y="700"/>
                </a:lnTo>
                <a:lnTo>
                  <a:pt x="80" y="698"/>
                </a:lnTo>
                <a:lnTo>
                  <a:pt x="80" y="697"/>
                </a:lnTo>
                <a:lnTo>
                  <a:pt x="80" y="695"/>
                </a:lnTo>
                <a:lnTo>
                  <a:pt x="81" y="693"/>
                </a:lnTo>
                <a:lnTo>
                  <a:pt x="81" y="692"/>
                </a:lnTo>
                <a:lnTo>
                  <a:pt x="83" y="690"/>
                </a:lnTo>
                <a:lnTo>
                  <a:pt x="84" y="689"/>
                </a:lnTo>
                <a:lnTo>
                  <a:pt x="86" y="689"/>
                </a:lnTo>
                <a:lnTo>
                  <a:pt x="88" y="689"/>
                </a:lnTo>
                <a:close/>
                <a:moveTo>
                  <a:pt x="1836" y="687"/>
                </a:moveTo>
                <a:lnTo>
                  <a:pt x="1837" y="687"/>
                </a:lnTo>
                <a:lnTo>
                  <a:pt x="1839" y="688"/>
                </a:lnTo>
                <a:lnTo>
                  <a:pt x="1841" y="689"/>
                </a:lnTo>
                <a:lnTo>
                  <a:pt x="1842" y="690"/>
                </a:lnTo>
                <a:lnTo>
                  <a:pt x="1843" y="691"/>
                </a:lnTo>
                <a:lnTo>
                  <a:pt x="1844" y="693"/>
                </a:lnTo>
                <a:lnTo>
                  <a:pt x="1844" y="694"/>
                </a:lnTo>
                <a:lnTo>
                  <a:pt x="1845" y="696"/>
                </a:lnTo>
                <a:lnTo>
                  <a:pt x="1844" y="698"/>
                </a:lnTo>
                <a:lnTo>
                  <a:pt x="1844" y="700"/>
                </a:lnTo>
                <a:lnTo>
                  <a:pt x="1843" y="701"/>
                </a:lnTo>
                <a:lnTo>
                  <a:pt x="1842" y="703"/>
                </a:lnTo>
                <a:lnTo>
                  <a:pt x="1841" y="704"/>
                </a:lnTo>
                <a:lnTo>
                  <a:pt x="1839" y="705"/>
                </a:lnTo>
                <a:lnTo>
                  <a:pt x="1837" y="705"/>
                </a:lnTo>
                <a:lnTo>
                  <a:pt x="1836" y="705"/>
                </a:lnTo>
                <a:lnTo>
                  <a:pt x="1834" y="705"/>
                </a:lnTo>
                <a:lnTo>
                  <a:pt x="1832" y="705"/>
                </a:lnTo>
                <a:lnTo>
                  <a:pt x="1830" y="704"/>
                </a:lnTo>
                <a:lnTo>
                  <a:pt x="1829" y="703"/>
                </a:lnTo>
                <a:lnTo>
                  <a:pt x="1828" y="701"/>
                </a:lnTo>
                <a:lnTo>
                  <a:pt x="1827" y="700"/>
                </a:lnTo>
                <a:lnTo>
                  <a:pt x="1827" y="698"/>
                </a:lnTo>
                <a:lnTo>
                  <a:pt x="1826" y="696"/>
                </a:lnTo>
                <a:lnTo>
                  <a:pt x="1827" y="694"/>
                </a:lnTo>
                <a:lnTo>
                  <a:pt x="1827" y="693"/>
                </a:lnTo>
                <a:lnTo>
                  <a:pt x="1828" y="691"/>
                </a:lnTo>
                <a:lnTo>
                  <a:pt x="1829" y="690"/>
                </a:lnTo>
                <a:lnTo>
                  <a:pt x="1830" y="689"/>
                </a:lnTo>
                <a:lnTo>
                  <a:pt x="1832" y="688"/>
                </a:lnTo>
                <a:lnTo>
                  <a:pt x="1834" y="687"/>
                </a:lnTo>
                <a:lnTo>
                  <a:pt x="1836" y="687"/>
                </a:lnTo>
                <a:close/>
                <a:moveTo>
                  <a:pt x="159" y="633"/>
                </a:moveTo>
                <a:lnTo>
                  <a:pt x="160" y="633"/>
                </a:lnTo>
                <a:lnTo>
                  <a:pt x="160" y="634"/>
                </a:lnTo>
                <a:lnTo>
                  <a:pt x="160" y="635"/>
                </a:lnTo>
                <a:lnTo>
                  <a:pt x="159" y="635"/>
                </a:lnTo>
                <a:lnTo>
                  <a:pt x="158" y="635"/>
                </a:lnTo>
                <a:lnTo>
                  <a:pt x="158" y="634"/>
                </a:lnTo>
                <a:lnTo>
                  <a:pt x="158" y="633"/>
                </a:lnTo>
                <a:lnTo>
                  <a:pt x="159" y="633"/>
                </a:lnTo>
                <a:close/>
                <a:moveTo>
                  <a:pt x="64" y="627"/>
                </a:moveTo>
                <a:lnTo>
                  <a:pt x="66" y="627"/>
                </a:lnTo>
                <a:lnTo>
                  <a:pt x="68" y="628"/>
                </a:lnTo>
                <a:lnTo>
                  <a:pt x="69" y="630"/>
                </a:lnTo>
                <a:lnTo>
                  <a:pt x="69" y="631"/>
                </a:lnTo>
                <a:lnTo>
                  <a:pt x="69" y="633"/>
                </a:lnTo>
                <a:lnTo>
                  <a:pt x="68" y="635"/>
                </a:lnTo>
                <a:lnTo>
                  <a:pt x="66" y="636"/>
                </a:lnTo>
                <a:lnTo>
                  <a:pt x="64" y="636"/>
                </a:lnTo>
                <a:lnTo>
                  <a:pt x="62" y="636"/>
                </a:lnTo>
                <a:lnTo>
                  <a:pt x="60" y="635"/>
                </a:lnTo>
                <a:lnTo>
                  <a:pt x="59" y="633"/>
                </a:lnTo>
                <a:lnTo>
                  <a:pt x="59" y="631"/>
                </a:lnTo>
                <a:lnTo>
                  <a:pt x="59" y="630"/>
                </a:lnTo>
                <a:lnTo>
                  <a:pt x="60" y="628"/>
                </a:lnTo>
                <a:lnTo>
                  <a:pt x="62" y="627"/>
                </a:lnTo>
                <a:lnTo>
                  <a:pt x="64" y="627"/>
                </a:lnTo>
                <a:close/>
                <a:moveTo>
                  <a:pt x="1859" y="625"/>
                </a:moveTo>
                <a:lnTo>
                  <a:pt x="1861" y="625"/>
                </a:lnTo>
                <a:lnTo>
                  <a:pt x="1863" y="626"/>
                </a:lnTo>
                <a:lnTo>
                  <a:pt x="1864" y="627"/>
                </a:lnTo>
                <a:lnTo>
                  <a:pt x="1865" y="629"/>
                </a:lnTo>
                <a:lnTo>
                  <a:pt x="1866" y="631"/>
                </a:lnTo>
                <a:lnTo>
                  <a:pt x="1865" y="633"/>
                </a:lnTo>
                <a:lnTo>
                  <a:pt x="1864" y="635"/>
                </a:lnTo>
                <a:lnTo>
                  <a:pt x="1863" y="636"/>
                </a:lnTo>
                <a:lnTo>
                  <a:pt x="1861" y="637"/>
                </a:lnTo>
                <a:lnTo>
                  <a:pt x="1859" y="637"/>
                </a:lnTo>
                <a:lnTo>
                  <a:pt x="1857" y="637"/>
                </a:lnTo>
                <a:lnTo>
                  <a:pt x="1856" y="636"/>
                </a:lnTo>
                <a:lnTo>
                  <a:pt x="1854" y="635"/>
                </a:lnTo>
                <a:lnTo>
                  <a:pt x="1853" y="633"/>
                </a:lnTo>
                <a:lnTo>
                  <a:pt x="1853" y="631"/>
                </a:lnTo>
                <a:lnTo>
                  <a:pt x="1853" y="629"/>
                </a:lnTo>
                <a:lnTo>
                  <a:pt x="1854" y="627"/>
                </a:lnTo>
                <a:lnTo>
                  <a:pt x="1856" y="626"/>
                </a:lnTo>
                <a:lnTo>
                  <a:pt x="1857" y="625"/>
                </a:lnTo>
                <a:lnTo>
                  <a:pt x="1859" y="625"/>
                </a:lnTo>
                <a:close/>
                <a:moveTo>
                  <a:pt x="110" y="623"/>
                </a:moveTo>
                <a:lnTo>
                  <a:pt x="112" y="623"/>
                </a:lnTo>
                <a:lnTo>
                  <a:pt x="114" y="624"/>
                </a:lnTo>
                <a:lnTo>
                  <a:pt x="115" y="625"/>
                </a:lnTo>
                <a:lnTo>
                  <a:pt x="116" y="626"/>
                </a:lnTo>
                <a:lnTo>
                  <a:pt x="117" y="627"/>
                </a:lnTo>
                <a:lnTo>
                  <a:pt x="118" y="629"/>
                </a:lnTo>
                <a:lnTo>
                  <a:pt x="119" y="630"/>
                </a:lnTo>
                <a:lnTo>
                  <a:pt x="119" y="632"/>
                </a:lnTo>
                <a:lnTo>
                  <a:pt x="119" y="634"/>
                </a:lnTo>
                <a:lnTo>
                  <a:pt x="118" y="635"/>
                </a:lnTo>
                <a:lnTo>
                  <a:pt x="117" y="637"/>
                </a:lnTo>
                <a:lnTo>
                  <a:pt x="116" y="638"/>
                </a:lnTo>
                <a:lnTo>
                  <a:pt x="115" y="639"/>
                </a:lnTo>
                <a:lnTo>
                  <a:pt x="114" y="640"/>
                </a:lnTo>
                <a:lnTo>
                  <a:pt x="112" y="640"/>
                </a:lnTo>
                <a:lnTo>
                  <a:pt x="110" y="641"/>
                </a:lnTo>
                <a:lnTo>
                  <a:pt x="109" y="640"/>
                </a:lnTo>
                <a:lnTo>
                  <a:pt x="107" y="640"/>
                </a:lnTo>
                <a:lnTo>
                  <a:pt x="105" y="639"/>
                </a:lnTo>
                <a:lnTo>
                  <a:pt x="104" y="638"/>
                </a:lnTo>
                <a:lnTo>
                  <a:pt x="103" y="637"/>
                </a:lnTo>
                <a:lnTo>
                  <a:pt x="102" y="635"/>
                </a:lnTo>
                <a:lnTo>
                  <a:pt x="102" y="634"/>
                </a:lnTo>
                <a:lnTo>
                  <a:pt x="102" y="632"/>
                </a:lnTo>
                <a:lnTo>
                  <a:pt x="102" y="630"/>
                </a:lnTo>
                <a:lnTo>
                  <a:pt x="102" y="629"/>
                </a:lnTo>
                <a:lnTo>
                  <a:pt x="103" y="627"/>
                </a:lnTo>
                <a:lnTo>
                  <a:pt x="104" y="626"/>
                </a:lnTo>
                <a:lnTo>
                  <a:pt x="105" y="625"/>
                </a:lnTo>
                <a:lnTo>
                  <a:pt x="107" y="624"/>
                </a:lnTo>
                <a:lnTo>
                  <a:pt x="109" y="623"/>
                </a:lnTo>
                <a:lnTo>
                  <a:pt x="110" y="623"/>
                </a:lnTo>
                <a:close/>
                <a:moveTo>
                  <a:pt x="1813" y="623"/>
                </a:moveTo>
                <a:lnTo>
                  <a:pt x="1815" y="623"/>
                </a:lnTo>
                <a:lnTo>
                  <a:pt x="1817" y="624"/>
                </a:lnTo>
                <a:lnTo>
                  <a:pt x="1818" y="624"/>
                </a:lnTo>
                <a:lnTo>
                  <a:pt x="1819" y="626"/>
                </a:lnTo>
                <a:lnTo>
                  <a:pt x="1821" y="627"/>
                </a:lnTo>
                <a:lnTo>
                  <a:pt x="1821" y="628"/>
                </a:lnTo>
                <a:lnTo>
                  <a:pt x="1822" y="630"/>
                </a:lnTo>
                <a:lnTo>
                  <a:pt x="1822" y="632"/>
                </a:lnTo>
                <a:lnTo>
                  <a:pt x="1822" y="634"/>
                </a:lnTo>
                <a:lnTo>
                  <a:pt x="1821" y="635"/>
                </a:lnTo>
                <a:lnTo>
                  <a:pt x="1821" y="637"/>
                </a:lnTo>
                <a:lnTo>
                  <a:pt x="1819" y="638"/>
                </a:lnTo>
                <a:lnTo>
                  <a:pt x="1818" y="639"/>
                </a:lnTo>
                <a:lnTo>
                  <a:pt x="1817" y="640"/>
                </a:lnTo>
                <a:lnTo>
                  <a:pt x="1815" y="641"/>
                </a:lnTo>
                <a:lnTo>
                  <a:pt x="1813" y="641"/>
                </a:lnTo>
                <a:lnTo>
                  <a:pt x="1811" y="641"/>
                </a:lnTo>
                <a:lnTo>
                  <a:pt x="1809" y="640"/>
                </a:lnTo>
                <a:lnTo>
                  <a:pt x="1808" y="639"/>
                </a:lnTo>
                <a:lnTo>
                  <a:pt x="1806" y="638"/>
                </a:lnTo>
                <a:lnTo>
                  <a:pt x="1805" y="637"/>
                </a:lnTo>
                <a:lnTo>
                  <a:pt x="1804" y="635"/>
                </a:lnTo>
                <a:lnTo>
                  <a:pt x="1804" y="634"/>
                </a:lnTo>
                <a:lnTo>
                  <a:pt x="1804" y="632"/>
                </a:lnTo>
                <a:lnTo>
                  <a:pt x="1804" y="630"/>
                </a:lnTo>
                <a:lnTo>
                  <a:pt x="1804" y="628"/>
                </a:lnTo>
                <a:lnTo>
                  <a:pt x="1805" y="627"/>
                </a:lnTo>
                <a:lnTo>
                  <a:pt x="1806" y="626"/>
                </a:lnTo>
                <a:lnTo>
                  <a:pt x="1808" y="624"/>
                </a:lnTo>
                <a:lnTo>
                  <a:pt x="1809" y="624"/>
                </a:lnTo>
                <a:lnTo>
                  <a:pt x="1811" y="623"/>
                </a:lnTo>
                <a:lnTo>
                  <a:pt x="1813" y="623"/>
                </a:lnTo>
                <a:close/>
                <a:moveTo>
                  <a:pt x="187" y="570"/>
                </a:moveTo>
                <a:lnTo>
                  <a:pt x="188" y="571"/>
                </a:lnTo>
                <a:lnTo>
                  <a:pt x="189" y="572"/>
                </a:lnTo>
                <a:lnTo>
                  <a:pt x="188" y="573"/>
                </a:lnTo>
                <a:lnTo>
                  <a:pt x="187" y="573"/>
                </a:lnTo>
                <a:lnTo>
                  <a:pt x="186" y="573"/>
                </a:lnTo>
                <a:lnTo>
                  <a:pt x="186" y="572"/>
                </a:lnTo>
                <a:lnTo>
                  <a:pt x="186" y="571"/>
                </a:lnTo>
                <a:lnTo>
                  <a:pt x="187" y="570"/>
                </a:lnTo>
                <a:close/>
                <a:moveTo>
                  <a:pt x="90" y="563"/>
                </a:moveTo>
                <a:lnTo>
                  <a:pt x="92" y="564"/>
                </a:lnTo>
                <a:lnTo>
                  <a:pt x="94" y="565"/>
                </a:lnTo>
                <a:lnTo>
                  <a:pt x="95" y="566"/>
                </a:lnTo>
                <a:lnTo>
                  <a:pt x="95" y="568"/>
                </a:lnTo>
                <a:lnTo>
                  <a:pt x="95" y="570"/>
                </a:lnTo>
                <a:lnTo>
                  <a:pt x="94" y="572"/>
                </a:lnTo>
                <a:lnTo>
                  <a:pt x="92" y="573"/>
                </a:lnTo>
                <a:lnTo>
                  <a:pt x="90" y="573"/>
                </a:lnTo>
                <a:lnTo>
                  <a:pt x="88" y="573"/>
                </a:lnTo>
                <a:lnTo>
                  <a:pt x="86" y="572"/>
                </a:lnTo>
                <a:lnTo>
                  <a:pt x="85" y="570"/>
                </a:lnTo>
                <a:lnTo>
                  <a:pt x="85" y="568"/>
                </a:lnTo>
                <a:lnTo>
                  <a:pt x="85" y="566"/>
                </a:lnTo>
                <a:lnTo>
                  <a:pt x="86" y="565"/>
                </a:lnTo>
                <a:lnTo>
                  <a:pt x="88" y="564"/>
                </a:lnTo>
                <a:lnTo>
                  <a:pt x="90" y="563"/>
                </a:lnTo>
                <a:close/>
                <a:moveTo>
                  <a:pt x="1833" y="561"/>
                </a:moveTo>
                <a:lnTo>
                  <a:pt x="1835" y="561"/>
                </a:lnTo>
                <a:lnTo>
                  <a:pt x="1837" y="562"/>
                </a:lnTo>
                <a:lnTo>
                  <a:pt x="1838" y="563"/>
                </a:lnTo>
                <a:lnTo>
                  <a:pt x="1839" y="564"/>
                </a:lnTo>
                <a:lnTo>
                  <a:pt x="1840" y="566"/>
                </a:lnTo>
                <a:lnTo>
                  <a:pt x="1840" y="568"/>
                </a:lnTo>
                <a:lnTo>
                  <a:pt x="1840" y="570"/>
                </a:lnTo>
                <a:lnTo>
                  <a:pt x="1839" y="572"/>
                </a:lnTo>
                <a:lnTo>
                  <a:pt x="1838" y="573"/>
                </a:lnTo>
                <a:lnTo>
                  <a:pt x="1837" y="574"/>
                </a:lnTo>
                <a:lnTo>
                  <a:pt x="1835" y="575"/>
                </a:lnTo>
                <a:lnTo>
                  <a:pt x="1833" y="575"/>
                </a:lnTo>
                <a:lnTo>
                  <a:pt x="1831" y="575"/>
                </a:lnTo>
                <a:lnTo>
                  <a:pt x="1830" y="574"/>
                </a:lnTo>
                <a:lnTo>
                  <a:pt x="1828" y="573"/>
                </a:lnTo>
                <a:lnTo>
                  <a:pt x="1827" y="572"/>
                </a:lnTo>
                <a:lnTo>
                  <a:pt x="1826" y="570"/>
                </a:lnTo>
                <a:lnTo>
                  <a:pt x="1826" y="568"/>
                </a:lnTo>
                <a:lnTo>
                  <a:pt x="1826" y="566"/>
                </a:lnTo>
                <a:lnTo>
                  <a:pt x="1827" y="564"/>
                </a:lnTo>
                <a:lnTo>
                  <a:pt x="1828" y="563"/>
                </a:lnTo>
                <a:lnTo>
                  <a:pt x="1830" y="562"/>
                </a:lnTo>
                <a:lnTo>
                  <a:pt x="1831" y="561"/>
                </a:lnTo>
                <a:lnTo>
                  <a:pt x="1833" y="561"/>
                </a:lnTo>
                <a:close/>
                <a:moveTo>
                  <a:pt x="1785" y="560"/>
                </a:moveTo>
                <a:lnTo>
                  <a:pt x="1787" y="560"/>
                </a:lnTo>
                <a:lnTo>
                  <a:pt x="1789" y="561"/>
                </a:lnTo>
                <a:lnTo>
                  <a:pt x="1791" y="561"/>
                </a:lnTo>
                <a:lnTo>
                  <a:pt x="1792" y="563"/>
                </a:lnTo>
                <a:lnTo>
                  <a:pt x="1793" y="564"/>
                </a:lnTo>
                <a:lnTo>
                  <a:pt x="1794" y="566"/>
                </a:lnTo>
                <a:lnTo>
                  <a:pt x="1795" y="567"/>
                </a:lnTo>
                <a:lnTo>
                  <a:pt x="1795" y="569"/>
                </a:lnTo>
                <a:lnTo>
                  <a:pt x="1795" y="571"/>
                </a:lnTo>
                <a:lnTo>
                  <a:pt x="1794" y="573"/>
                </a:lnTo>
                <a:lnTo>
                  <a:pt x="1793" y="574"/>
                </a:lnTo>
                <a:lnTo>
                  <a:pt x="1792" y="576"/>
                </a:lnTo>
                <a:lnTo>
                  <a:pt x="1791" y="577"/>
                </a:lnTo>
                <a:lnTo>
                  <a:pt x="1789" y="578"/>
                </a:lnTo>
                <a:lnTo>
                  <a:pt x="1787" y="578"/>
                </a:lnTo>
                <a:lnTo>
                  <a:pt x="1785" y="579"/>
                </a:lnTo>
                <a:lnTo>
                  <a:pt x="1784" y="578"/>
                </a:lnTo>
                <a:lnTo>
                  <a:pt x="1782" y="578"/>
                </a:lnTo>
                <a:lnTo>
                  <a:pt x="1780" y="577"/>
                </a:lnTo>
                <a:lnTo>
                  <a:pt x="1779" y="576"/>
                </a:lnTo>
                <a:lnTo>
                  <a:pt x="1778" y="574"/>
                </a:lnTo>
                <a:lnTo>
                  <a:pt x="1777" y="573"/>
                </a:lnTo>
                <a:lnTo>
                  <a:pt x="1776" y="571"/>
                </a:lnTo>
                <a:lnTo>
                  <a:pt x="1776" y="569"/>
                </a:lnTo>
                <a:lnTo>
                  <a:pt x="1776" y="567"/>
                </a:lnTo>
                <a:lnTo>
                  <a:pt x="1777" y="566"/>
                </a:lnTo>
                <a:lnTo>
                  <a:pt x="1778" y="564"/>
                </a:lnTo>
                <a:lnTo>
                  <a:pt x="1779" y="563"/>
                </a:lnTo>
                <a:lnTo>
                  <a:pt x="1780" y="561"/>
                </a:lnTo>
                <a:lnTo>
                  <a:pt x="1782" y="561"/>
                </a:lnTo>
                <a:lnTo>
                  <a:pt x="1784" y="560"/>
                </a:lnTo>
                <a:lnTo>
                  <a:pt x="1785" y="560"/>
                </a:lnTo>
                <a:close/>
                <a:moveTo>
                  <a:pt x="138" y="560"/>
                </a:moveTo>
                <a:lnTo>
                  <a:pt x="140" y="560"/>
                </a:lnTo>
                <a:lnTo>
                  <a:pt x="141" y="561"/>
                </a:lnTo>
                <a:lnTo>
                  <a:pt x="143" y="561"/>
                </a:lnTo>
                <a:lnTo>
                  <a:pt x="144" y="562"/>
                </a:lnTo>
                <a:lnTo>
                  <a:pt x="145" y="563"/>
                </a:lnTo>
                <a:lnTo>
                  <a:pt x="146" y="565"/>
                </a:lnTo>
                <a:lnTo>
                  <a:pt x="147" y="566"/>
                </a:lnTo>
                <a:lnTo>
                  <a:pt x="147" y="568"/>
                </a:lnTo>
                <a:lnTo>
                  <a:pt x="147" y="569"/>
                </a:lnTo>
                <a:lnTo>
                  <a:pt x="147" y="571"/>
                </a:lnTo>
                <a:lnTo>
                  <a:pt x="147" y="573"/>
                </a:lnTo>
                <a:lnTo>
                  <a:pt x="146" y="574"/>
                </a:lnTo>
                <a:lnTo>
                  <a:pt x="145" y="576"/>
                </a:lnTo>
                <a:lnTo>
                  <a:pt x="144" y="577"/>
                </a:lnTo>
                <a:lnTo>
                  <a:pt x="143" y="578"/>
                </a:lnTo>
                <a:lnTo>
                  <a:pt x="141" y="578"/>
                </a:lnTo>
                <a:lnTo>
                  <a:pt x="140" y="579"/>
                </a:lnTo>
                <a:lnTo>
                  <a:pt x="138" y="579"/>
                </a:lnTo>
                <a:lnTo>
                  <a:pt x="136" y="579"/>
                </a:lnTo>
                <a:lnTo>
                  <a:pt x="134" y="578"/>
                </a:lnTo>
                <a:lnTo>
                  <a:pt x="133" y="578"/>
                </a:lnTo>
                <a:lnTo>
                  <a:pt x="132" y="577"/>
                </a:lnTo>
                <a:lnTo>
                  <a:pt x="130" y="576"/>
                </a:lnTo>
                <a:lnTo>
                  <a:pt x="130" y="574"/>
                </a:lnTo>
                <a:lnTo>
                  <a:pt x="129" y="573"/>
                </a:lnTo>
                <a:lnTo>
                  <a:pt x="128" y="571"/>
                </a:lnTo>
                <a:lnTo>
                  <a:pt x="128" y="569"/>
                </a:lnTo>
                <a:lnTo>
                  <a:pt x="128" y="568"/>
                </a:lnTo>
                <a:lnTo>
                  <a:pt x="129" y="566"/>
                </a:lnTo>
                <a:lnTo>
                  <a:pt x="130" y="565"/>
                </a:lnTo>
                <a:lnTo>
                  <a:pt x="130" y="563"/>
                </a:lnTo>
                <a:lnTo>
                  <a:pt x="132" y="562"/>
                </a:lnTo>
                <a:lnTo>
                  <a:pt x="133" y="561"/>
                </a:lnTo>
                <a:lnTo>
                  <a:pt x="134" y="561"/>
                </a:lnTo>
                <a:lnTo>
                  <a:pt x="136" y="560"/>
                </a:lnTo>
                <a:lnTo>
                  <a:pt x="138" y="560"/>
                </a:lnTo>
                <a:close/>
                <a:moveTo>
                  <a:pt x="221" y="510"/>
                </a:moveTo>
                <a:lnTo>
                  <a:pt x="222" y="511"/>
                </a:lnTo>
                <a:lnTo>
                  <a:pt x="222" y="512"/>
                </a:lnTo>
                <a:lnTo>
                  <a:pt x="222" y="514"/>
                </a:lnTo>
                <a:lnTo>
                  <a:pt x="221" y="514"/>
                </a:lnTo>
                <a:lnTo>
                  <a:pt x="219" y="514"/>
                </a:lnTo>
                <a:lnTo>
                  <a:pt x="219" y="512"/>
                </a:lnTo>
                <a:lnTo>
                  <a:pt x="219" y="511"/>
                </a:lnTo>
                <a:lnTo>
                  <a:pt x="221" y="510"/>
                </a:lnTo>
                <a:close/>
                <a:moveTo>
                  <a:pt x="121" y="502"/>
                </a:moveTo>
                <a:lnTo>
                  <a:pt x="123" y="503"/>
                </a:lnTo>
                <a:lnTo>
                  <a:pt x="125" y="504"/>
                </a:lnTo>
                <a:lnTo>
                  <a:pt x="126" y="505"/>
                </a:lnTo>
                <a:lnTo>
                  <a:pt x="126" y="507"/>
                </a:lnTo>
                <a:lnTo>
                  <a:pt x="126" y="510"/>
                </a:lnTo>
                <a:lnTo>
                  <a:pt x="125" y="511"/>
                </a:lnTo>
                <a:lnTo>
                  <a:pt x="123" y="512"/>
                </a:lnTo>
                <a:lnTo>
                  <a:pt x="121" y="513"/>
                </a:lnTo>
                <a:lnTo>
                  <a:pt x="119" y="512"/>
                </a:lnTo>
                <a:lnTo>
                  <a:pt x="117" y="511"/>
                </a:lnTo>
                <a:lnTo>
                  <a:pt x="116" y="510"/>
                </a:lnTo>
                <a:lnTo>
                  <a:pt x="116" y="507"/>
                </a:lnTo>
                <a:lnTo>
                  <a:pt x="116" y="505"/>
                </a:lnTo>
                <a:lnTo>
                  <a:pt x="117" y="504"/>
                </a:lnTo>
                <a:lnTo>
                  <a:pt x="119" y="503"/>
                </a:lnTo>
                <a:lnTo>
                  <a:pt x="121" y="502"/>
                </a:lnTo>
                <a:close/>
                <a:moveTo>
                  <a:pt x="1753" y="499"/>
                </a:moveTo>
                <a:lnTo>
                  <a:pt x="1755" y="499"/>
                </a:lnTo>
                <a:lnTo>
                  <a:pt x="1757" y="500"/>
                </a:lnTo>
                <a:lnTo>
                  <a:pt x="1758" y="501"/>
                </a:lnTo>
                <a:lnTo>
                  <a:pt x="1760" y="502"/>
                </a:lnTo>
                <a:lnTo>
                  <a:pt x="1761" y="503"/>
                </a:lnTo>
                <a:lnTo>
                  <a:pt x="1762" y="504"/>
                </a:lnTo>
                <a:lnTo>
                  <a:pt x="1762" y="506"/>
                </a:lnTo>
                <a:lnTo>
                  <a:pt x="1763" y="507"/>
                </a:lnTo>
                <a:lnTo>
                  <a:pt x="1763" y="509"/>
                </a:lnTo>
                <a:lnTo>
                  <a:pt x="1763" y="511"/>
                </a:lnTo>
                <a:lnTo>
                  <a:pt x="1762" y="512"/>
                </a:lnTo>
                <a:lnTo>
                  <a:pt x="1762" y="514"/>
                </a:lnTo>
                <a:lnTo>
                  <a:pt x="1761" y="515"/>
                </a:lnTo>
                <a:lnTo>
                  <a:pt x="1760" y="516"/>
                </a:lnTo>
                <a:lnTo>
                  <a:pt x="1758" y="517"/>
                </a:lnTo>
                <a:lnTo>
                  <a:pt x="1757" y="518"/>
                </a:lnTo>
                <a:lnTo>
                  <a:pt x="1755" y="518"/>
                </a:lnTo>
                <a:lnTo>
                  <a:pt x="1753" y="518"/>
                </a:lnTo>
                <a:lnTo>
                  <a:pt x="1752" y="518"/>
                </a:lnTo>
                <a:lnTo>
                  <a:pt x="1750" y="518"/>
                </a:lnTo>
                <a:lnTo>
                  <a:pt x="1749" y="517"/>
                </a:lnTo>
                <a:lnTo>
                  <a:pt x="1747" y="516"/>
                </a:lnTo>
                <a:lnTo>
                  <a:pt x="1746" y="515"/>
                </a:lnTo>
                <a:lnTo>
                  <a:pt x="1745" y="514"/>
                </a:lnTo>
                <a:lnTo>
                  <a:pt x="1744" y="512"/>
                </a:lnTo>
                <a:lnTo>
                  <a:pt x="1744" y="511"/>
                </a:lnTo>
                <a:lnTo>
                  <a:pt x="1744" y="509"/>
                </a:lnTo>
                <a:lnTo>
                  <a:pt x="1744" y="507"/>
                </a:lnTo>
                <a:lnTo>
                  <a:pt x="1744" y="506"/>
                </a:lnTo>
                <a:lnTo>
                  <a:pt x="1745" y="504"/>
                </a:lnTo>
                <a:lnTo>
                  <a:pt x="1746" y="503"/>
                </a:lnTo>
                <a:lnTo>
                  <a:pt x="1747" y="502"/>
                </a:lnTo>
                <a:lnTo>
                  <a:pt x="1749" y="501"/>
                </a:lnTo>
                <a:lnTo>
                  <a:pt x="1750" y="500"/>
                </a:lnTo>
                <a:lnTo>
                  <a:pt x="1752" y="499"/>
                </a:lnTo>
                <a:lnTo>
                  <a:pt x="1753" y="499"/>
                </a:lnTo>
                <a:close/>
                <a:moveTo>
                  <a:pt x="1802" y="499"/>
                </a:moveTo>
                <a:lnTo>
                  <a:pt x="1804" y="499"/>
                </a:lnTo>
                <a:lnTo>
                  <a:pt x="1806" y="500"/>
                </a:lnTo>
                <a:lnTo>
                  <a:pt x="1808" y="501"/>
                </a:lnTo>
                <a:lnTo>
                  <a:pt x="1809" y="502"/>
                </a:lnTo>
                <a:lnTo>
                  <a:pt x="1810" y="503"/>
                </a:lnTo>
                <a:lnTo>
                  <a:pt x="1810" y="505"/>
                </a:lnTo>
                <a:lnTo>
                  <a:pt x="1811" y="507"/>
                </a:lnTo>
                <a:lnTo>
                  <a:pt x="1810" y="509"/>
                </a:lnTo>
                <a:lnTo>
                  <a:pt x="1810" y="511"/>
                </a:lnTo>
                <a:lnTo>
                  <a:pt x="1809" y="512"/>
                </a:lnTo>
                <a:lnTo>
                  <a:pt x="1808" y="513"/>
                </a:lnTo>
                <a:lnTo>
                  <a:pt x="1806" y="514"/>
                </a:lnTo>
                <a:lnTo>
                  <a:pt x="1804" y="515"/>
                </a:lnTo>
                <a:lnTo>
                  <a:pt x="1802" y="515"/>
                </a:lnTo>
                <a:lnTo>
                  <a:pt x="1801" y="515"/>
                </a:lnTo>
                <a:lnTo>
                  <a:pt x="1799" y="514"/>
                </a:lnTo>
                <a:lnTo>
                  <a:pt x="1797" y="513"/>
                </a:lnTo>
                <a:lnTo>
                  <a:pt x="1796" y="512"/>
                </a:lnTo>
                <a:lnTo>
                  <a:pt x="1795" y="511"/>
                </a:lnTo>
                <a:lnTo>
                  <a:pt x="1794" y="509"/>
                </a:lnTo>
                <a:lnTo>
                  <a:pt x="1794" y="507"/>
                </a:lnTo>
                <a:lnTo>
                  <a:pt x="1794" y="505"/>
                </a:lnTo>
                <a:lnTo>
                  <a:pt x="1795" y="503"/>
                </a:lnTo>
                <a:lnTo>
                  <a:pt x="1796" y="502"/>
                </a:lnTo>
                <a:lnTo>
                  <a:pt x="1797" y="501"/>
                </a:lnTo>
                <a:lnTo>
                  <a:pt x="1799" y="500"/>
                </a:lnTo>
                <a:lnTo>
                  <a:pt x="1801" y="499"/>
                </a:lnTo>
                <a:lnTo>
                  <a:pt x="1802" y="499"/>
                </a:lnTo>
                <a:close/>
                <a:moveTo>
                  <a:pt x="170" y="499"/>
                </a:moveTo>
                <a:lnTo>
                  <a:pt x="172" y="499"/>
                </a:lnTo>
                <a:lnTo>
                  <a:pt x="173" y="499"/>
                </a:lnTo>
                <a:lnTo>
                  <a:pt x="175" y="500"/>
                </a:lnTo>
                <a:lnTo>
                  <a:pt x="176" y="501"/>
                </a:lnTo>
                <a:lnTo>
                  <a:pt x="178" y="503"/>
                </a:lnTo>
                <a:lnTo>
                  <a:pt x="179" y="504"/>
                </a:lnTo>
                <a:lnTo>
                  <a:pt x="179" y="506"/>
                </a:lnTo>
                <a:lnTo>
                  <a:pt x="180" y="507"/>
                </a:lnTo>
                <a:lnTo>
                  <a:pt x="180" y="509"/>
                </a:lnTo>
                <a:lnTo>
                  <a:pt x="180" y="511"/>
                </a:lnTo>
                <a:lnTo>
                  <a:pt x="179" y="513"/>
                </a:lnTo>
                <a:lnTo>
                  <a:pt x="179" y="515"/>
                </a:lnTo>
                <a:lnTo>
                  <a:pt x="178" y="516"/>
                </a:lnTo>
                <a:lnTo>
                  <a:pt x="176" y="517"/>
                </a:lnTo>
                <a:lnTo>
                  <a:pt x="175" y="518"/>
                </a:lnTo>
                <a:lnTo>
                  <a:pt x="173" y="519"/>
                </a:lnTo>
                <a:lnTo>
                  <a:pt x="172" y="520"/>
                </a:lnTo>
                <a:lnTo>
                  <a:pt x="170" y="520"/>
                </a:lnTo>
                <a:lnTo>
                  <a:pt x="168" y="520"/>
                </a:lnTo>
                <a:lnTo>
                  <a:pt x="166" y="519"/>
                </a:lnTo>
                <a:lnTo>
                  <a:pt x="165" y="518"/>
                </a:lnTo>
                <a:lnTo>
                  <a:pt x="163" y="517"/>
                </a:lnTo>
                <a:lnTo>
                  <a:pt x="162" y="516"/>
                </a:lnTo>
                <a:lnTo>
                  <a:pt x="161" y="515"/>
                </a:lnTo>
                <a:lnTo>
                  <a:pt x="160" y="513"/>
                </a:lnTo>
                <a:lnTo>
                  <a:pt x="160" y="511"/>
                </a:lnTo>
                <a:lnTo>
                  <a:pt x="159" y="509"/>
                </a:lnTo>
                <a:lnTo>
                  <a:pt x="160" y="507"/>
                </a:lnTo>
                <a:lnTo>
                  <a:pt x="160" y="506"/>
                </a:lnTo>
                <a:lnTo>
                  <a:pt x="161" y="504"/>
                </a:lnTo>
                <a:lnTo>
                  <a:pt x="162" y="503"/>
                </a:lnTo>
                <a:lnTo>
                  <a:pt x="163" y="501"/>
                </a:lnTo>
                <a:lnTo>
                  <a:pt x="165" y="500"/>
                </a:lnTo>
                <a:lnTo>
                  <a:pt x="166" y="499"/>
                </a:lnTo>
                <a:lnTo>
                  <a:pt x="168" y="499"/>
                </a:lnTo>
                <a:lnTo>
                  <a:pt x="170" y="499"/>
                </a:lnTo>
                <a:close/>
                <a:moveTo>
                  <a:pt x="259" y="454"/>
                </a:moveTo>
                <a:lnTo>
                  <a:pt x="260" y="454"/>
                </a:lnTo>
                <a:lnTo>
                  <a:pt x="261" y="456"/>
                </a:lnTo>
                <a:lnTo>
                  <a:pt x="260" y="458"/>
                </a:lnTo>
                <a:lnTo>
                  <a:pt x="259" y="458"/>
                </a:lnTo>
                <a:lnTo>
                  <a:pt x="257" y="458"/>
                </a:lnTo>
                <a:lnTo>
                  <a:pt x="256" y="456"/>
                </a:lnTo>
                <a:lnTo>
                  <a:pt x="257" y="454"/>
                </a:lnTo>
                <a:lnTo>
                  <a:pt x="259" y="454"/>
                </a:lnTo>
                <a:close/>
                <a:moveTo>
                  <a:pt x="156" y="443"/>
                </a:moveTo>
                <a:lnTo>
                  <a:pt x="158" y="443"/>
                </a:lnTo>
                <a:lnTo>
                  <a:pt x="160" y="445"/>
                </a:lnTo>
                <a:lnTo>
                  <a:pt x="161" y="446"/>
                </a:lnTo>
                <a:lnTo>
                  <a:pt x="161" y="448"/>
                </a:lnTo>
                <a:lnTo>
                  <a:pt x="161" y="451"/>
                </a:lnTo>
                <a:lnTo>
                  <a:pt x="160" y="452"/>
                </a:lnTo>
                <a:lnTo>
                  <a:pt x="158" y="454"/>
                </a:lnTo>
                <a:lnTo>
                  <a:pt x="156" y="454"/>
                </a:lnTo>
                <a:lnTo>
                  <a:pt x="154" y="454"/>
                </a:lnTo>
                <a:lnTo>
                  <a:pt x="152" y="452"/>
                </a:lnTo>
                <a:lnTo>
                  <a:pt x="151" y="451"/>
                </a:lnTo>
                <a:lnTo>
                  <a:pt x="150" y="448"/>
                </a:lnTo>
                <a:lnTo>
                  <a:pt x="151" y="446"/>
                </a:lnTo>
                <a:lnTo>
                  <a:pt x="152" y="445"/>
                </a:lnTo>
                <a:lnTo>
                  <a:pt x="154" y="443"/>
                </a:lnTo>
                <a:lnTo>
                  <a:pt x="156" y="443"/>
                </a:lnTo>
                <a:close/>
                <a:moveTo>
                  <a:pt x="1717" y="441"/>
                </a:moveTo>
                <a:lnTo>
                  <a:pt x="1719" y="442"/>
                </a:lnTo>
                <a:lnTo>
                  <a:pt x="1720" y="442"/>
                </a:lnTo>
                <a:lnTo>
                  <a:pt x="1722" y="443"/>
                </a:lnTo>
                <a:lnTo>
                  <a:pt x="1723" y="444"/>
                </a:lnTo>
                <a:lnTo>
                  <a:pt x="1724" y="445"/>
                </a:lnTo>
                <a:lnTo>
                  <a:pt x="1725" y="446"/>
                </a:lnTo>
                <a:lnTo>
                  <a:pt x="1726" y="448"/>
                </a:lnTo>
                <a:lnTo>
                  <a:pt x="1726" y="449"/>
                </a:lnTo>
                <a:lnTo>
                  <a:pt x="1727" y="451"/>
                </a:lnTo>
                <a:lnTo>
                  <a:pt x="1726" y="453"/>
                </a:lnTo>
                <a:lnTo>
                  <a:pt x="1726" y="454"/>
                </a:lnTo>
                <a:lnTo>
                  <a:pt x="1725" y="456"/>
                </a:lnTo>
                <a:lnTo>
                  <a:pt x="1724" y="457"/>
                </a:lnTo>
                <a:lnTo>
                  <a:pt x="1723" y="458"/>
                </a:lnTo>
                <a:lnTo>
                  <a:pt x="1722" y="459"/>
                </a:lnTo>
                <a:lnTo>
                  <a:pt x="1720" y="460"/>
                </a:lnTo>
                <a:lnTo>
                  <a:pt x="1719" y="460"/>
                </a:lnTo>
                <a:lnTo>
                  <a:pt x="1717" y="461"/>
                </a:lnTo>
                <a:lnTo>
                  <a:pt x="1715" y="460"/>
                </a:lnTo>
                <a:lnTo>
                  <a:pt x="1714" y="460"/>
                </a:lnTo>
                <a:lnTo>
                  <a:pt x="1712" y="459"/>
                </a:lnTo>
                <a:lnTo>
                  <a:pt x="1711" y="458"/>
                </a:lnTo>
                <a:lnTo>
                  <a:pt x="1710" y="457"/>
                </a:lnTo>
                <a:lnTo>
                  <a:pt x="1709" y="456"/>
                </a:lnTo>
                <a:lnTo>
                  <a:pt x="1708" y="454"/>
                </a:lnTo>
                <a:lnTo>
                  <a:pt x="1708" y="453"/>
                </a:lnTo>
                <a:lnTo>
                  <a:pt x="1708" y="451"/>
                </a:lnTo>
                <a:lnTo>
                  <a:pt x="1708" y="449"/>
                </a:lnTo>
                <a:lnTo>
                  <a:pt x="1708" y="448"/>
                </a:lnTo>
                <a:lnTo>
                  <a:pt x="1709" y="446"/>
                </a:lnTo>
                <a:lnTo>
                  <a:pt x="1710" y="445"/>
                </a:lnTo>
                <a:lnTo>
                  <a:pt x="1711" y="444"/>
                </a:lnTo>
                <a:lnTo>
                  <a:pt x="1712" y="443"/>
                </a:lnTo>
                <a:lnTo>
                  <a:pt x="1714" y="442"/>
                </a:lnTo>
                <a:lnTo>
                  <a:pt x="1715" y="442"/>
                </a:lnTo>
                <a:lnTo>
                  <a:pt x="1717" y="441"/>
                </a:lnTo>
                <a:close/>
                <a:moveTo>
                  <a:pt x="206" y="441"/>
                </a:moveTo>
                <a:lnTo>
                  <a:pt x="208" y="441"/>
                </a:lnTo>
                <a:lnTo>
                  <a:pt x="210" y="441"/>
                </a:lnTo>
                <a:lnTo>
                  <a:pt x="211" y="442"/>
                </a:lnTo>
                <a:lnTo>
                  <a:pt x="213" y="443"/>
                </a:lnTo>
                <a:lnTo>
                  <a:pt x="214" y="444"/>
                </a:lnTo>
                <a:lnTo>
                  <a:pt x="215" y="445"/>
                </a:lnTo>
                <a:lnTo>
                  <a:pt x="216" y="446"/>
                </a:lnTo>
                <a:lnTo>
                  <a:pt x="217" y="448"/>
                </a:lnTo>
                <a:lnTo>
                  <a:pt x="217" y="450"/>
                </a:lnTo>
                <a:lnTo>
                  <a:pt x="217" y="452"/>
                </a:lnTo>
                <a:lnTo>
                  <a:pt x="217" y="453"/>
                </a:lnTo>
                <a:lnTo>
                  <a:pt x="217" y="455"/>
                </a:lnTo>
                <a:lnTo>
                  <a:pt x="216" y="457"/>
                </a:lnTo>
                <a:lnTo>
                  <a:pt x="215" y="458"/>
                </a:lnTo>
                <a:lnTo>
                  <a:pt x="214" y="459"/>
                </a:lnTo>
                <a:lnTo>
                  <a:pt x="213" y="460"/>
                </a:lnTo>
                <a:lnTo>
                  <a:pt x="211" y="461"/>
                </a:lnTo>
                <a:lnTo>
                  <a:pt x="210" y="462"/>
                </a:lnTo>
                <a:lnTo>
                  <a:pt x="208" y="462"/>
                </a:lnTo>
                <a:lnTo>
                  <a:pt x="206" y="462"/>
                </a:lnTo>
                <a:lnTo>
                  <a:pt x="205" y="462"/>
                </a:lnTo>
                <a:lnTo>
                  <a:pt x="203" y="462"/>
                </a:lnTo>
                <a:lnTo>
                  <a:pt x="201" y="461"/>
                </a:lnTo>
                <a:lnTo>
                  <a:pt x="200" y="460"/>
                </a:lnTo>
                <a:lnTo>
                  <a:pt x="199" y="459"/>
                </a:lnTo>
                <a:lnTo>
                  <a:pt x="197" y="458"/>
                </a:lnTo>
                <a:lnTo>
                  <a:pt x="197" y="457"/>
                </a:lnTo>
                <a:lnTo>
                  <a:pt x="196" y="455"/>
                </a:lnTo>
                <a:lnTo>
                  <a:pt x="196" y="453"/>
                </a:lnTo>
                <a:lnTo>
                  <a:pt x="195" y="452"/>
                </a:lnTo>
                <a:lnTo>
                  <a:pt x="196" y="450"/>
                </a:lnTo>
                <a:lnTo>
                  <a:pt x="196" y="448"/>
                </a:lnTo>
                <a:lnTo>
                  <a:pt x="197" y="446"/>
                </a:lnTo>
                <a:lnTo>
                  <a:pt x="197" y="445"/>
                </a:lnTo>
                <a:lnTo>
                  <a:pt x="199" y="444"/>
                </a:lnTo>
                <a:lnTo>
                  <a:pt x="200" y="443"/>
                </a:lnTo>
                <a:lnTo>
                  <a:pt x="201" y="442"/>
                </a:lnTo>
                <a:lnTo>
                  <a:pt x="203" y="441"/>
                </a:lnTo>
                <a:lnTo>
                  <a:pt x="205" y="441"/>
                </a:lnTo>
                <a:lnTo>
                  <a:pt x="206" y="441"/>
                </a:lnTo>
                <a:close/>
                <a:moveTo>
                  <a:pt x="1767" y="439"/>
                </a:moveTo>
                <a:lnTo>
                  <a:pt x="1769" y="439"/>
                </a:lnTo>
                <a:lnTo>
                  <a:pt x="1771" y="440"/>
                </a:lnTo>
                <a:lnTo>
                  <a:pt x="1772" y="441"/>
                </a:lnTo>
                <a:lnTo>
                  <a:pt x="1773" y="442"/>
                </a:lnTo>
                <a:lnTo>
                  <a:pt x="1775" y="443"/>
                </a:lnTo>
                <a:lnTo>
                  <a:pt x="1775" y="445"/>
                </a:lnTo>
                <a:lnTo>
                  <a:pt x="1776" y="446"/>
                </a:lnTo>
                <a:lnTo>
                  <a:pt x="1776" y="448"/>
                </a:lnTo>
                <a:lnTo>
                  <a:pt x="1776" y="450"/>
                </a:lnTo>
                <a:lnTo>
                  <a:pt x="1775" y="451"/>
                </a:lnTo>
                <a:lnTo>
                  <a:pt x="1775" y="453"/>
                </a:lnTo>
                <a:lnTo>
                  <a:pt x="1773" y="454"/>
                </a:lnTo>
                <a:lnTo>
                  <a:pt x="1772" y="455"/>
                </a:lnTo>
                <a:lnTo>
                  <a:pt x="1771" y="456"/>
                </a:lnTo>
                <a:lnTo>
                  <a:pt x="1769" y="457"/>
                </a:lnTo>
                <a:lnTo>
                  <a:pt x="1767" y="457"/>
                </a:lnTo>
                <a:lnTo>
                  <a:pt x="1765" y="457"/>
                </a:lnTo>
                <a:lnTo>
                  <a:pt x="1764" y="456"/>
                </a:lnTo>
                <a:lnTo>
                  <a:pt x="1762" y="455"/>
                </a:lnTo>
                <a:lnTo>
                  <a:pt x="1761" y="454"/>
                </a:lnTo>
                <a:lnTo>
                  <a:pt x="1760" y="453"/>
                </a:lnTo>
                <a:lnTo>
                  <a:pt x="1759" y="451"/>
                </a:lnTo>
                <a:lnTo>
                  <a:pt x="1759" y="450"/>
                </a:lnTo>
                <a:lnTo>
                  <a:pt x="1758" y="448"/>
                </a:lnTo>
                <a:lnTo>
                  <a:pt x="1759" y="446"/>
                </a:lnTo>
                <a:lnTo>
                  <a:pt x="1759" y="445"/>
                </a:lnTo>
                <a:lnTo>
                  <a:pt x="1760" y="443"/>
                </a:lnTo>
                <a:lnTo>
                  <a:pt x="1761" y="442"/>
                </a:lnTo>
                <a:lnTo>
                  <a:pt x="1762" y="441"/>
                </a:lnTo>
                <a:lnTo>
                  <a:pt x="1764" y="440"/>
                </a:lnTo>
                <a:lnTo>
                  <a:pt x="1765" y="439"/>
                </a:lnTo>
                <a:lnTo>
                  <a:pt x="1767" y="439"/>
                </a:lnTo>
                <a:close/>
                <a:moveTo>
                  <a:pt x="301" y="400"/>
                </a:moveTo>
                <a:lnTo>
                  <a:pt x="303" y="400"/>
                </a:lnTo>
                <a:lnTo>
                  <a:pt x="304" y="402"/>
                </a:lnTo>
                <a:lnTo>
                  <a:pt x="303" y="404"/>
                </a:lnTo>
                <a:lnTo>
                  <a:pt x="301" y="405"/>
                </a:lnTo>
                <a:lnTo>
                  <a:pt x="299" y="404"/>
                </a:lnTo>
                <a:lnTo>
                  <a:pt x="298" y="402"/>
                </a:lnTo>
                <a:lnTo>
                  <a:pt x="299" y="400"/>
                </a:lnTo>
                <a:lnTo>
                  <a:pt x="301" y="400"/>
                </a:lnTo>
                <a:close/>
                <a:moveTo>
                  <a:pt x="195" y="387"/>
                </a:moveTo>
                <a:lnTo>
                  <a:pt x="197" y="387"/>
                </a:lnTo>
                <a:lnTo>
                  <a:pt x="198" y="388"/>
                </a:lnTo>
                <a:lnTo>
                  <a:pt x="200" y="389"/>
                </a:lnTo>
                <a:lnTo>
                  <a:pt x="201" y="391"/>
                </a:lnTo>
                <a:lnTo>
                  <a:pt x="201" y="393"/>
                </a:lnTo>
                <a:lnTo>
                  <a:pt x="201" y="395"/>
                </a:lnTo>
                <a:lnTo>
                  <a:pt x="200" y="396"/>
                </a:lnTo>
                <a:lnTo>
                  <a:pt x="198" y="397"/>
                </a:lnTo>
                <a:lnTo>
                  <a:pt x="197" y="398"/>
                </a:lnTo>
                <a:lnTo>
                  <a:pt x="195" y="399"/>
                </a:lnTo>
                <a:lnTo>
                  <a:pt x="193" y="398"/>
                </a:lnTo>
                <a:lnTo>
                  <a:pt x="191" y="397"/>
                </a:lnTo>
                <a:lnTo>
                  <a:pt x="190" y="396"/>
                </a:lnTo>
                <a:lnTo>
                  <a:pt x="189" y="395"/>
                </a:lnTo>
                <a:lnTo>
                  <a:pt x="189" y="393"/>
                </a:lnTo>
                <a:lnTo>
                  <a:pt x="189" y="391"/>
                </a:lnTo>
                <a:lnTo>
                  <a:pt x="190" y="389"/>
                </a:lnTo>
                <a:lnTo>
                  <a:pt x="191" y="388"/>
                </a:lnTo>
                <a:lnTo>
                  <a:pt x="193" y="387"/>
                </a:lnTo>
                <a:lnTo>
                  <a:pt x="195" y="387"/>
                </a:lnTo>
                <a:close/>
                <a:moveTo>
                  <a:pt x="1676" y="386"/>
                </a:moveTo>
                <a:lnTo>
                  <a:pt x="1678" y="387"/>
                </a:lnTo>
                <a:lnTo>
                  <a:pt x="1680" y="387"/>
                </a:lnTo>
                <a:lnTo>
                  <a:pt x="1681" y="388"/>
                </a:lnTo>
                <a:lnTo>
                  <a:pt x="1683" y="389"/>
                </a:lnTo>
                <a:lnTo>
                  <a:pt x="1684" y="390"/>
                </a:lnTo>
                <a:lnTo>
                  <a:pt x="1685" y="391"/>
                </a:lnTo>
                <a:lnTo>
                  <a:pt x="1685" y="393"/>
                </a:lnTo>
                <a:lnTo>
                  <a:pt x="1686" y="395"/>
                </a:lnTo>
                <a:lnTo>
                  <a:pt x="1686" y="396"/>
                </a:lnTo>
                <a:lnTo>
                  <a:pt x="1686" y="398"/>
                </a:lnTo>
                <a:lnTo>
                  <a:pt x="1685" y="400"/>
                </a:lnTo>
                <a:lnTo>
                  <a:pt x="1685" y="401"/>
                </a:lnTo>
                <a:lnTo>
                  <a:pt x="1684" y="403"/>
                </a:lnTo>
                <a:lnTo>
                  <a:pt x="1683" y="404"/>
                </a:lnTo>
                <a:lnTo>
                  <a:pt x="1681" y="405"/>
                </a:lnTo>
                <a:lnTo>
                  <a:pt x="1680" y="405"/>
                </a:lnTo>
                <a:lnTo>
                  <a:pt x="1678" y="406"/>
                </a:lnTo>
                <a:lnTo>
                  <a:pt x="1676" y="406"/>
                </a:lnTo>
                <a:lnTo>
                  <a:pt x="1675" y="406"/>
                </a:lnTo>
                <a:lnTo>
                  <a:pt x="1673" y="405"/>
                </a:lnTo>
                <a:lnTo>
                  <a:pt x="1671" y="405"/>
                </a:lnTo>
                <a:lnTo>
                  <a:pt x="1670" y="404"/>
                </a:lnTo>
                <a:lnTo>
                  <a:pt x="1669" y="403"/>
                </a:lnTo>
                <a:lnTo>
                  <a:pt x="1668" y="401"/>
                </a:lnTo>
                <a:lnTo>
                  <a:pt x="1667" y="400"/>
                </a:lnTo>
                <a:lnTo>
                  <a:pt x="1667" y="398"/>
                </a:lnTo>
                <a:lnTo>
                  <a:pt x="1666" y="396"/>
                </a:lnTo>
                <a:lnTo>
                  <a:pt x="1667" y="395"/>
                </a:lnTo>
                <a:lnTo>
                  <a:pt x="1667" y="393"/>
                </a:lnTo>
                <a:lnTo>
                  <a:pt x="1668" y="391"/>
                </a:lnTo>
                <a:lnTo>
                  <a:pt x="1669" y="390"/>
                </a:lnTo>
                <a:lnTo>
                  <a:pt x="1670" y="389"/>
                </a:lnTo>
                <a:lnTo>
                  <a:pt x="1671" y="388"/>
                </a:lnTo>
                <a:lnTo>
                  <a:pt x="1673" y="387"/>
                </a:lnTo>
                <a:lnTo>
                  <a:pt x="1675" y="387"/>
                </a:lnTo>
                <a:lnTo>
                  <a:pt x="1676" y="386"/>
                </a:lnTo>
                <a:close/>
                <a:moveTo>
                  <a:pt x="247" y="386"/>
                </a:moveTo>
                <a:lnTo>
                  <a:pt x="248" y="386"/>
                </a:lnTo>
                <a:lnTo>
                  <a:pt x="250" y="386"/>
                </a:lnTo>
                <a:lnTo>
                  <a:pt x="252" y="387"/>
                </a:lnTo>
                <a:lnTo>
                  <a:pt x="253" y="388"/>
                </a:lnTo>
                <a:lnTo>
                  <a:pt x="255" y="389"/>
                </a:lnTo>
                <a:lnTo>
                  <a:pt x="256" y="390"/>
                </a:lnTo>
                <a:lnTo>
                  <a:pt x="257" y="392"/>
                </a:lnTo>
                <a:lnTo>
                  <a:pt x="257" y="393"/>
                </a:lnTo>
                <a:lnTo>
                  <a:pt x="258" y="395"/>
                </a:lnTo>
                <a:lnTo>
                  <a:pt x="258" y="397"/>
                </a:lnTo>
                <a:lnTo>
                  <a:pt x="258" y="399"/>
                </a:lnTo>
                <a:lnTo>
                  <a:pt x="257" y="400"/>
                </a:lnTo>
                <a:lnTo>
                  <a:pt x="257" y="402"/>
                </a:lnTo>
                <a:lnTo>
                  <a:pt x="256" y="403"/>
                </a:lnTo>
                <a:lnTo>
                  <a:pt x="255" y="405"/>
                </a:lnTo>
                <a:lnTo>
                  <a:pt x="253" y="406"/>
                </a:lnTo>
                <a:lnTo>
                  <a:pt x="252" y="407"/>
                </a:lnTo>
                <a:lnTo>
                  <a:pt x="250" y="407"/>
                </a:lnTo>
                <a:lnTo>
                  <a:pt x="248" y="408"/>
                </a:lnTo>
                <a:lnTo>
                  <a:pt x="247" y="408"/>
                </a:lnTo>
                <a:lnTo>
                  <a:pt x="245" y="408"/>
                </a:lnTo>
                <a:lnTo>
                  <a:pt x="243" y="407"/>
                </a:lnTo>
                <a:lnTo>
                  <a:pt x="242" y="407"/>
                </a:lnTo>
                <a:lnTo>
                  <a:pt x="240" y="406"/>
                </a:lnTo>
                <a:lnTo>
                  <a:pt x="239" y="405"/>
                </a:lnTo>
                <a:lnTo>
                  <a:pt x="238" y="403"/>
                </a:lnTo>
                <a:lnTo>
                  <a:pt x="237" y="402"/>
                </a:lnTo>
                <a:lnTo>
                  <a:pt x="236" y="400"/>
                </a:lnTo>
                <a:lnTo>
                  <a:pt x="236" y="399"/>
                </a:lnTo>
                <a:lnTo>
                  <a:pt x="235" y="397"/>
                </a:lnTo>
                <a:lnTo>
                  <a:pt x="236" y="395"/>
                </a:lnTo>
                <a:lnTo>
                  <a:pt x="236" y="393"/>
                </a:lnTo>
                <a:lnTo>
                  <a:pt x="237" y="392"/>
                </a:lnTo>
                <a:lnTo>
                  <a:pt x="238" y="390"/>
                </a:lnTo>
                <a:lnTo>
                  <a:pt x="239" y="389"/>
                </a:lnTo>
                <a:lnTo>
                  <a:pt x="240" y="388"/>
                </a:lnTo>
                <a:lnTo>
                  <a:pt x="242" y="387"/>
                </a:lnTo>
                <a:lnTo>
                  <a:pt x="243" y="386"/>
                </a:lnTo>
                <a:lnTo>
                  <a:pt x="245" y="386"/>
                </a:lnTo>
                <a:lnTo>
                  <a:pt x="247" y="386"/>
                </a:lnTo>
                <a:close/>
                <a:moveTo>
                  <a:pt x="1728" y="383"/>
                </a:moveTo>
                <a:lnTo>
                  <a:pt x="1730" y="383"/>
                </a:lnTo>
                <a:lnTo>
                  <a:pt x="1732" y="383"/>
                </a:lnTo>
                <a:lnTo>
                  <a:pt x="1733" y="384"/>
                </a:lnTo>
                <a:lnTo>
                  <a:pt x="1735" y="385"/>
                </a:lnTo>
                <a:lnTo>
                  <a:pt x="1736" y="387"/>
                </a:lnTo>
                <a:lnTo>
                  <a:pt x="1737" y="388"/>
                </a:lnTo>
                <a:lnTo>
                  <a:pt x="1737" y="390"/>
                </a:lnTo>
                <a:lnTo>
                  <a:pt x="1737" y="392"/>
                </a:lnTo>
                <a:lnTo>
                  <a:pt x="1737" y="394"/>
                </a:lnTo>
                <a:lnTo>
                  <a:pt x="1737" y="396"/>
                </a:lnTo>
                <a:lnTo>
                  <a:pt x="1736" y="397"/>
                </a:lnTo>
                <a:lnTo>
                  <a:pt x="1735" y="399"/>
                </a:lnTo>
                <a:lnTo>
                  <a:pt x="1733" y="400"/>
                </a:lnTo>
                <a:lnTo>
                  <a:pt x="1732" y="401"/>
                </a:lnTo>
                <a:lnTo>
                  <a:pt x="1730" y="401"/>
                </a:lnTo>
                <a:lnTo>
                  <a:pt x="1728" y="401"/>
                </a:lnTo>
                <a:lnTo>
                  <a:pt x="1726" y="401"/>
                </a:lnTo>
                <a:lnTo>
                  <a:pt x="1724" y="401"/>
                </a:lnTo>
                <a:lnTo>
                  <a:pt x="1723" y="400"/>
                </a:lnTo>
                <a:lnTo>
                  <a:pt x="1721" y="399"/>
                </a:lnTo>
                <a:lnTo>
                  <a:pt x="1720" y="397"/>
                </a:lnTo>
                <a:lnTo>
                  <a:pt x="1719" y="396"/>
                </a:lnTo>
                <a:lnTo>
                  <a:pt x="1719" y="394"/>
                </a:lnTo>
                <a:lnTo>
                  <a:pt x="1719" y="392"/>
                </a:lnTo>
                <a:lnTo>
                  <a:pt x="1719" y="390"/>
                </a:lnTo>
                <a:lnTo>
                  <a:pt x="1719" y="388"/>
                </a:lnTo>
                <a:lnTo>
                  <a:pt x="1720" y="387"/>
                </a:lnTo>
                <a:lnTo>
                  <a:pt x="1721" y="385"/>
                </a:lnTo>
                <a:lnTo>
                  <a:pt x="1723" y="384"/>
                </a:lnTo>
                <a:lnTo>
                  <a:pt x="1724" y="383"/>
                </a:lnTo>
                <a:lnTo>
                  <a:pt x="1726" y="383"/>
                </a:lnTo>
                <a:lnTo>
                  <a:pt x="1728" y="383"/>
                </a:lnTo>
                <a:close/>
                <a:moveTo>
                  <a:pt x="347" y="349"/>
                </a:moveTo>
                <a:lnTo>
                  <a:pt x="350" y="350"/>
                </a:lnTo>
                <a:lnTo>
                  <a:pt x="351" y="352"/>
                </a:lnTo>
                <a:lnTo>
                  <a:pt x="350" y="355"/>
                </a:lnTo>
                <a:lnTo>
                  <a:pt x="347" y="356"/>
                </a:lnTo>
                <a:lnTo>
                  <a:pt x="345" y="355"/>
                </a:lnTo>
                <a:lnTo>
                  <a:pt x="344" y="352"/>
                </a:lnTo>
                <a:lnTo>
                  <a:pt x="345" y="350"/>
                </a:lnTo>
                <a:lnTo>
                  <a:pt x="347" y="349"/>
                </a:lnTo>
                <a:close/>
                <a:moveTo>
                  <a:pt x="1632" y="335"/>
                </a:moveTo>
                <a:lnTo>
                  <a:pt x="1633" y="335"/>
                </a:lnTo>
                <a:lnTo>
                  <a:pt x="1635" y="335"/>
                </a:lnTo>
                <a:lnTo>
                  <a:pt x="1636" y="336"/>
                </a:lnTo>
                <a:lnTo>
                  <a:pt x="1638" y="337"/>
                </a:lnTo>
                <a:lnTo>
                  <a:pt x="1639" y="338"/>
                </a:lnTo>
                <a:lnTo>
                  <a:pt x="1640" y="340"/>
                </a:lnTo>
                <a:lnTo>
                  <a:pt x="1641" y="341"/>
                </a:lnTo>
                <a:lnTo>
                  <a:pt x="1641" y="343"/>
                </a:lnTo>
                <a:lnTo>
                  <a:pt x="1641" y="345"/>
                </a:lnTo>
                <a:lnTo>
                  <a:pt x="1641" y="346"/>
                </a:lnTo>
                <a:lnTo>
                  <a:pt x="1641" y="348"/>
                </a:lnTo>
                <a:lnTo>
                  <a:pt x="1640" y="349"/>
                </a:lnTo>
                <a:lnTo>
                  <a:pt x="1639" y="351"/>
                </a:lnTo>
                <a:lnTo>
                  <a:pt x="1638" y="352"/>
                </a:lnTo>
                <a:lnTo>
                  <a:pt x="1636" y="353"/>
                </a:lnTo>
                <a:lnTo>
                  <a:pt x="1635" y="354"/>
                </a:lnTo>
                <a:lnTo>
                  <a:pt x="1633" y="354"/>
                </a:lnTo>
                <a:lnTo>
                  <a:pt x="1632" y="354"/>
                </a:lnTo>
                <a:lnTo>
                  <a:pt x="1630" y="354"/>
                </a:lnTo>
                <a:lnTo>
                  <a:pt x="1628" y="354"/>
                </a:lnTo>
                <a:lnTo>
                  <a:pt x="1627" y="353"/>
                </a:lnTo>
                <a:lnTo>
                  <a:pt x="1625" y="352"/>
                </a:lnTo>
                <a:lnTo>
                  <a:pt x="1624" y="351"/>
                </a:lnTo>
                <a:lnTo>
                  <a:pt x="1623" y="349"/>
                </a:lnTo>
                <a:lnTo>
                  <a:pt x="1622" y="348"/>
                </a:lnTo>
                <a:lnTo>
                  <a:pt x="1622" y="346"/>
                </a:lnTo>
                <a:lnTo>
                  <a:pt x="1622" y="345"/>
                </a:lnTo>
                <a:lnTo>
                  <a:pt x="1622" y="343"/>
                </a:lnTo>
                <a:lnTo>
                  <a:pt x="1622" y="341"/>
                </a:lnTo>
                <a:lnTo>
                  <a:pt x="1623" y="340"/>
                </a:lnTo>
                <a:lnTo>
                  <a:pt x="1624" y="338"/>
                </a:lnTo>
                <a:lnTo>
                  <a:pt x="1625" y="337"/>
                </a:lnTo>
                <a:lnTo>
                  <a:pt x="1627" y="336"/>
                </a:lnTo>
                <a:lnTo>
                  <a:pt x="1628" y="335"/>
                </a:lnTo>
                <a:lnTo>
                  <a:pt x="1630" y="335"/>
                </a:lnTo>
                <a:lnTo>
                  <a:pt x="1632" y="335"/>
                </a:lnTo>
                <a:close/>
                <a:moveTo>
                  <a:pt x="291" y="334"/>
                </a:moveTo>
                <a:lnTo>
                  <a:pt x="293" y="334"/>
                </a:lnTo>
                <a:lnTo>
                  <a:pt x="295" y="334"/>
                </a:lnTo>
                <a:lnTo>
                  <a:pt x="297" y="335"/>
                </a:lnTo>
                <a:lnTo>
                  <a:pt x="298" y="336"/>
                </a:lnTo>
                <a:lnTo>
                  <a:pt x="299" y="337"/>
                </a:lnTo>
                <a:lnTo>
                  <a:pt x="300" y="338"/>
                </a:lnTo>
                <a:lnTo>
                  <a:pt x="301" y="340"/>
                </a:lnTo>
                <a:lnTo>
                  <a:pt x="302" y="341"/>
                </a:lnTo>
                <a:lnTo>
                  <a:pt x="302" y="343"/>
                </a:lnTo>
                <a:lnTo>
                  <a:pt x="303" y="345"/>
                </a:lnTo>
                <a:lnTo>
                  <a:pt x="302" y="347"/>
                </a:lnTo>
                <a:lnTo>
                  <a:pt x="302" y="349"/>
                </a:lnTo>
                <a:lnTo>
                  <a:pt x="301" y="350"/>
                </a:lnTo>
                <a:lnTo>
                  <a:pt x="300" y="352"/>
                </a:lnTo>
                <a:lnTo>
                  <a:pt x="299" y="353"/>
                </a:lnTo>
                <a:lnTo>
                  <a:pt x="298" y="354"/>
                </a:lnTo>
                <a:lnTo>
                  <a:pt x="297" y="355"/>
                </a:lnTo>
                <a:lnTo>
                  <a:pt x="295" y="356"/>
                </a:lnTo>
                <a:lnTo>
                  <a:pt x="293" y="356"/>
                </a:lnTo>
                <a:lnTo>
                  <a:pt x="291" y="356"/>
                </a:lnTo>
                <a:lnTo>
                  <a:pt x="290" y="356"/>
                </a:lnTo>
                <a:lnTo>
                  <a:pt x="288" y="356"/>
                </a:lnTo>
                <a:lnTo>
                  <a:pt x="286" y="355"/>
                </a:lnTo>
                <a:lnTo>
                  <a:pt x="285" y="354"/>
                </a:lnTo>
                <a:lnTo>
                  <a:pt x="284" y="353"/>
                </a:lnTo>
                <a:lnTo>
                  <a:pt x="282" y="352"/>
                </a:lnTo>
                <a:lnTo>
                  <a:pt x="281" y="350"/>
                </a:lnTo>
                <a:lnTo>
                  <a:pt x="281" y="349"/>
                </a:lnTo>
                <a:lnTo>
                  <a:pt x="280" y="347"/>
                </a:lnTo>
                <a:lnTo>
                  <a:pt x="280" y="345"/>
                </a:lnTo>
                <a:lnTo>
                  <a:pt x="280" y="343"/>
                </a:lnTo>
                <a:lnTo>
                  <a:pt x="281" y="341"/>
                </a:lnTo>
                <a:lnTo>
                  <a:pt x="281" y="340"/>
                </a:lnTo>
                <a:lnTo>
                  <a:pt x="282" y="338"/>
                </a:lnTo>
                <a:lnTo>
                  <a:pt x="284" y="337"/>
                </a:lnTo>
                <a:lnTo>
                  <a:pt x="285" y="336"/>
                </a:lnTo>
                <a:lnTo>
                  <a:pt x="286" y="335"/>
                </a:lnTo>
                <a:lnTo>
                  <a:pt x="288" y="334"/>
                </a:lnTo>
                <a:lnTo>
                  <a:pt x="290" y="334"/>
                </a:lnTo>
                <a:lnTo>
                  <a:pt x="291" y="334"/>
                </a:lnTo>
                <a:close/>
                <a:moveTo>
                  <a:pt x="238" y="333"/>
                </a:moveTo>
                <a:lnTo>
                  <a:pt x="240" y="334"/>
                </a:lnTo>
                <a:lnTo>
                  <a:pt x="241" y="335"/>
                </a:lnTo>
                <a:lnTo>
                  <a:pt x="243" y="336"/>
                </a:lnTo>
                <a:lnTo>
                  <a:pt x="244" y="337"/>
                </a:lnTo>
                <a:lnTo>
                  <a:pt x="244" y="339"/>
                </a:lnTo>
                <a:lnTo>
                  <a:pt x="244" y="341"/>
                </a:lnTo>
                <a:lnTo>
                  <a:pt x="243" y="343"/>
                </a:lnTo>
                <a:lnTo>
                  <a:pt x="241" y="344"/>
                </a:lnTo>
                <a:lnTo>
                  <a:pt x="240" y="345"/>
                </a:lnTo>
                <a:lnTo>
                  <a:pt x="238" y="345"/>
                </a:lnTo>
                <a:lnTo>
                  <a:pt x="236" y="345"/>
                </a:lnTo>
                <a:lnTo>
                  <a:pt x="234" y="344"/>
                </a:lnTo>
                <a:lnTo>
                  <a:pt x="233" y="343"/>
                </a:lnTo>
                <a:lnTo>
                  <a:pt x="232" y="341"/>
                </a:lnTo>
                <a:lnTo>
                  <a:pt x="232" y="339"/>
                </a:lnTo>
                <a:lnTo>
                  <a:pt x="232" y="337"/>
                </a:lnTo>
                <a:lnTo>
                  <a:pt x="233" y="336"/>
                </a:lnTo>
                <a:lnTo>
                  <a:pt x="234" y="335"/>
                </a:lnTo>
                <a:lnTo>
                  <a:pt x="236" y="334"/>
                </a:lnTo>
                <a:lnTo>
                  <a:pt x="238" y="333"/>
                </a:lnTo>
                <a:close/>
                <a:moveTo>
                  <a:pt x="1685" y="330"/>
                </a:moveTo>
                <a:lnTo>
                  <a:pt x="1687" y="330"/>
                </a:lnTo>
                <a:lnTo>
                  <a:pt x="1689" y="330"/>
                </a:lnTo>
                <a:lnTo>
                  <a:pt x="1690" y="331"/>
                </a:lnTo>
                <a:lnTo>
                  <a:pt x="1692" y="332"/>
                </a:lnTo>
                <a:lnTo>
                  <a:pt x="1693" y="333"/>
                </a:lnTo>
                <a:lnTo>
                  <a:pt x="1694" y="334"/>
                </a:lnTo>
                <a:lnTo>
                  <a:pt x="1694" y="336"/>
                </a:lnTo>
                <a:lnTo>
                  <a:pt x="1695" y="337"/>
                </a:lnTo>
                <a:lnTo>
                  <a:pt x="1695" y="339"/>
                </a:lnTo>
                <a:lnTo>
                  <a:pt x="1695" y="341"/>
                </a:lnTo>
                <a:lnTo>
                  <a:pt x="1694" y="342"/>
                </a:lnTo>
                <a:lnTo>
                  <a:pt x="1694" y="344"/>
                </a:lnTo>
                <a:lnTo>
                  <a:pt x="1693" y="345"/>
                </a:lnTo>
                <a:lnTo>
                  <a:pt x="1692" y="346"/>
                </a:lnTo>
                <a:lnTo>
                  <a:pt x="1690" y="347"/>
                </a:lnTo>
                <a:lnTo>
                  <a:pt x="1689" y="348"/>
                </a:lnTo>
                <a:lnTo>
                  <a:pt x="1687" y="349"/>
                </a:lnTo>
                <a:lnTo>
                  <a:pt x="1685" y="349"/>
                </a:lnTo>
                <a:lnTo>
                  <a:pt x="1684" y="349"/>
                </a:lnTo>
                <a:lnTo>
                  <a:pt x="1682" y="348"/>
                </a:lnTo>
                <a:lnTo>
                  <a:pt x="1681" y="347"/>
                </a:lnTo>
                <a:lnTo>
                  <a:pt x="1679" y="346"/>
                </a:lnTo>
                <a:lnTo>
                  <a:pt x="1678" y="345"/>
                </a:lnTo>
                <a:lnTo>
                  <a:pt x="1677" y="344"/>
                </a:lnTo>
                <a:lnTo>
                  <a:pt x="1676" y="342"/>
                </a:lnTo>
                <a:lnTo>
                  <a:pt x="1676" y="341"/>
                </a:lnTo>
                <a:lnTo>
                  <a:pt x="1676" y="339"/>
                </a:lnTo>
                <a:lnTo>
                  <a:pt x="1676" y="337"/>
                </a:lnTo>
                <a:lnTo>
                  <a:pt x="1676" y="336"/>
                </a:lnTo>
                <a:lnTo>
                  <a:pt x="1677" y="334"/>
                </a:lnTo>
                <a:lnTo>
                  <a:pt x="1678" y="333"/>
                </a:lnTo>
                <a:lnTo>
                  <a:pt x="1679" y="332"/>
                </a:lnTo>
                <a:lnTo>
                  <a:pt x="1681" y="331"/>
                </a:lnTo>
                <a:lnTo>
                  <a:pt x="1682" y="330"/>
                </a:lnTo>
                <a:lnTo>
                  <a:pt x="1684" y="330"/>
                </a:lnTo>
                <a:lnTo>
                  <a:pt x="1685" y="330"/>
                </a:lnTo>
                <a:close/>
                <a:moveTo>
                  <a:pt x="398" y="302"/>
                </a:moveTo>
                <a:lnTo>
                  <a:pt x="400" y="303"/>
                </a:lnTo>
                <a:lnTo>
                  <a:pt x="401" y="306"/>
                </a:lnTo>
                <a:lnTo>
                  <a:pt x="400" y="308"/>
                </a:lnTo>
                <a:lnTo>
                  <a:pt x="398" y="310"/>
                </a:lnTo>
                <a:lnTo>
                  <a:pt x="395" y="308"/>
                </a:lnTo>
                <a:lnTo>
                  <a:pt x="394" y="306"/>
                </a:lnTo>
                <a:lnTo>
                  <a:pt x="395" y="303"/>
                </a:lnTo>
                <a:lnTo>
                  <a:pt x="398" y="302"/>
                </a:lnTo>
                <a:close/>
                <a:moveTo>
                  <a:pt x="1583" y="286"/>
                </a:moveTo>
                <a:lnTo>
                  <a:pt x="1585" y="286"/>
                </a:lnTo>
                <a:lnTo>
                  <a:pt x="1587" y="287"/>
                </a:lnTo>
                <a:lnTo>
                  <a:pt x="1588" y="288"/>
                </a:lnTo>
                <a:lnTo>
                  <a:pt x="1590" y="289"/>
                </a:lnTo>
                <a:lnTo>
                  <a:pt x="1591" y="290"/>
                </a:lnTo>
                <a:lnTo>
                  <a:pt x="1592" y="291"/>
                </a:lnTo>
                <a:lnTo>
                  <a:pt x="1593" y="293"/>
                </a:lnTo>
                <a:lnTo>
                  <a:pt x="1593" y="294"/>
                </a:lnTo>
                <a:lnTo>
                  <a:pt x="1593" y="296"/>
                </a:lnTo>
                <a:lnTo>
                  <a:pt x="1593" y="298"/>
                </a:lnTo>
                <a:lnTo>
                  <a:pt x="1593" y="300"/>
                </a:lnTo>
                <a:lnTo>
                  <a:pt x="1592" y="301"/>
                </a:lnTo>
                <a:lnTo>
                  <a:pt x="1591" y="303"/>
                </a:lnTo>
                <a:lnTo>
                  <a:pt x="1590" y="304"/>
                </a:lnTo>
                <a:lnTo>
                  <a:pt x="1588" y="305"/>
                </a:lnTo>
                <a:lnTo>
                  <a:pt x="1587" y="306"/>
                </a:lnTo>
                <a:lnTo>
                  <a:pt x="1585" y="306"/>
                </a:lnTo>
                <a:lnTo>
                  <a:pt x="1583" y="306"/>
                </a:lnTo>
                <a:lnTo>
                  <a:pt x="1581" y="306"/>
                </a:lnTo>
                <a:lnTo>
                  <a:pt x="1580" y="306"/>
                </a:lnTo>
                <a:lnTo>
                  <a:pt x="1578" y="305"/>
                </a:lnTo>
                <a:lnTo>
                  <a:pt x="1577" y="304"/>
                </a:lnTo>
                <a:lnTo>
                  <a:pt x="1576" y="303"/>
                </a:lnTo>
                <a:lnTo>
                  <a:pt x="1575" y="301"/>
                </a:lnTo>
                <a:lnTo>
                  <a:pt x="1574" y="300"/>
                </a:lnTo>
                <a:lnTo>
                  <a:pt x="1573" y="298"/>
                </a:lnTo>
                <a:lnTo>
                  <a:pt x="1573" y="296"/>
                </a:lnTo>
                <a:lnTo>
                  <a:pt x="1573" y="294"/>
                </a:lnTo>
                <a:lnTo>
                  <a:pt x="1574" y="293"/>
                </a:lnTo>
                <a:lnTo>
                  <a:pt x="1575" y="291"/>
                </a:lnTo>
                <a:lnTo>
                  <a:pt x="1576" y="290"/>
                </a:lnTo>
                <a:lnTo>
                  <a:pt x="1577" y="289"/>
                </a:lnTo>
                <a:lnTo>
                  <a:pt x="1578" y="288"/>
                </a:lnTo>
                <a:lnTo>
                  <a:pt x="1580" y="287"/>
                </a:lnTo>
                <a:lnTo>
                  <a:pt x="1581" y="286"/>
                </a:lnTo>
                <a:lnTo>
                  <a:pt x="1583" y="286"/>
                </a:lnTo>
                <a:close/>
                <a:moveTo>
                  <a:pt x="340" y="285"/>
                </a:moveTo>
                <a:lnTo>
                  <a:pt x="342" y="285"/>
                </a:lnTo>
                <a:lnTo>
                  <a:pt x="343" y="286"/>
                </a:lnTo>
                <a:lnTo>
                  <a:pt x="345" y="287"/>
                </a:lnTo>
                <a:lnTo>
                  <a:pt x="347" y="287"/>
                </a:lnTo>
                <a:lnTo>
                  <a:pt x="348" y="289"/>
                </a:lnTo>
                <a:lnTo>
                  <a:pt x="349" y="290"/>
                </a:lnTo>
                <a:lnTo>
                  <a:pt x="350" y="291"/>
                </a:lnTo>
                <a:lnTo>
                  <a:pt x="351" y="293"/>
                </a:lnTo>
                <a:lnTo>
                  <a:pt x="351" y="295"/>
                </a:lnTo>
                <a:lnTo>
                  <a:pt x="351" y="297"/>
                </a:lnTo>
                <a:lnTo>
                  <a:pt x="351" y="298"/>
                </a:lnTo>
                <a:lnTo>
                  <a:pt x="351" y="300"/>
                </a:lnTo>
                <a:lnTo>
                  <a:pt x="350" y="302"/>
                </a:lnTo>
                <a:lnTo>
                  <a:pt x="349" y="303"/>
                </a:lnTo>
                <a:lnTo>
                  <a:pt x="348" y="304"/>
                </a:lnTo>
                <a:lnTo>
                  <a:pt x="347" y="306"/>
                </a:lnTo>
                <a:lnTo>
                  <a:pt x="345" y="306"/>
                </a:lnTo>
                <a:lnTo>
                  <a:pt x="343" y="307"/>
                </a:lnTo>
                <a:lnTo>
                  <a:pt x="342" y="308"/>
                </a:lnTo>
                <a:lnTo>
                  <a:pt x="340" y="308"/>
                </a:lnTo>
                <a:lnTo>
                  <a:pt x="338" y="308"/>
                </a:lnTo>
                <a:lnTo>
                  <a:pt x="336" y="307"/>
                </a:lnTo>
                <a:lnTo>
                  <a:pt x="335" y="306"/>
                </a:lnTo>
                <a:lnTo>
                  <a:pt x="333" y="306"/>
                </a:lnTo>
                <a:lnTo>
                  <a:pt x="332" y="304"/>
                </a:lnTo>
                <a:lnTo>
                  <a:pt x="331" y="303"/>
                </a:lnTo>
                <a:lnTo>
                  <a:pt x="330" y="302"/>
                </a:lnTo>
                <a:lnTo>
                  <a:pt x="329" y="300"/>
                </a:lnTo>
                <a:lnTo>
                  <a:pt x="329" y="298"/>
                </a:lnTo>
                <a:lnTo>
                  <a:pt x="329" y="297"/>
                </a:lnTo>
                <a:lnTo>
                  <a:pt x="329" y="295"/>
                </a:lnTo>
                <a:lnTo>
                  <a:pt x="329" y="293"/>
                </a:lnTo>
                <a:lnTo>
                  <a:pt x="330" y="291"/>
                </a:lnTo>
                <a:lnTo>
                  <a:pt x="331" y="290"/>
                </a:lnTo>
                <a:lnTo>
                  <a:pt x="332" y="289"/>
                </a:lnTo>
                <a:lnTo>
                  <a:pt x="333" y="287"/>
                </a:lnTo>
                <a:lnTo>
                  <a:pt x="335" y="287"/>
                </a:lnTo>
                <a:lnTo>
                  <a:pt x="336" y="286"/>
                </a:lnTo>
                <a:lnTo>
                  <a:pt x="338" y="285"/>
                </a:lnTo>
                <a:lnTo>
                  <a:pt x="340" y="285"/>
                </a:lnTo>
                <a:close/>
                <a:moveTo>
                  <a:pt x="284" y="283"/>
                </a:moveTo>
                <a:lnTo>
                  <a:pt x="286" y="283"/>
                </a:lnTo>
                <a:lnTo>
                  <a:pt x="288" y="284"/>
                </a:lnTo>
                <a:lnTo>
                  <a:pt x="290" y="286"/>
                </a:lnTo>
                <a:lnTo>
                  <a:pt x="291" y="287"/>
                </a:lnTo>
                <a:lnTo>
                  <a:pt x="291" y="290"/>
                </a:lnTo>
                <a:lnTo>
                  <a:pt x="291" y="292"/>
                </a:lnTo>
                <a:lnTo>
                  <a:pt x="290" y="293"/>
                </a:lnTo>
                <a:lnTo>
                  <a:pt x="288" y="295"/>
                </a:lnTo>
                <a:lnTo>
                  <a:pt x="286" y="296"/>
                </a:lnTo>
                <a:lnTo>
                  <a:pt x="284" y="296"/>
                </a:lnTo>
                <a:lnTo>
                  <a:pt x="282" y="296"/>
                </a:lnTo>
                <a:lnTo>
                  <a:pt x="281" y="295"/>
                </a:lnTo>
                <a:lnTo>
                  <a:pt x="279" y="293"/>
                </a:lnTo>
                <a:lnTo>
                  <a:pt x="278" y="292"/>
                </a:lnTo>
                <a:lnTo>
                  <a:pt x="278" y="290"/>
                </a:lnTo>
                <a:lnTo>
                  <a:pt x="278" y="287"/>
                </a:lnTo>
                <a:lnTo>
                  <a:pt x="279" y="286"/>
                </a:lnTo>
                <a:lnTo>
                  <a:pt x="281" y="284"/>
                </a:lnTo>
                <a:lnTo>
                  <a:pt x="282" y="283"/>
                </a:lnTo>
                <a:lnTo>
                  <a:pt x="284" y="283"/>
                </a:lnTo>
                <a:close/>
                <a:moveTo>
                  <a:pt x="1639" y="280"/>
                </a:moveTo>
                <a:lnTo>
                  <a:pt x="1640" y="280"/>
                </a:lnTo>
                <a:lnTo>
                  <a:pt x="1642" y="280"/>
                </a:lnTo>
                <a:lnTo>
                  <a:pt x="1644" y="281"/>
                </a:lnTo>
                <a:lnTo>
                  <a:pt x="1645" y="282"/>
                </a:lnTo>
                <a:lnTo>
                  <a:pt x="1646" y="283"/>
                </a:lnTo>
                <a:lnTo>
                  <a:pt x="1647" y="284"/>
                </a:lnTo>
                <a:lnTo>
                  <a:pt x="1648" y="286"/>
                </a:lnTo>
                <a:lnTo>
                  <a:pt x="1648" y="287"/>
                </a:lnTo>
                <a:lnTo>
                  <a:pt x="1648" y="289"/>
                </a:lnTo>
                <a:lnTo>
                  <a:pt x="1648" y="291"/>
                </a:lnTo>
                <a:lnTo>
                  <a:pt x="1648" y="292"/>
                </a:lnTo>
                <a:lnTo>
                  <a:pt x="1647" y="294"/>
                </a:lnTo>
                <a:lnTo>
                  <a:pt x="1646" y="295"/>
                </a:lnTo>
                <a:lnTo>
                  <a:pt x="1645" y="296"/>
                </a:lnTo>
                <a:lnTo>
                  <a:pt x="1644" y="297"/>
                </a:lnTo>
                <a:lnTo>
                  <a:pt x="1642" y="298"/>
                </a:lnTo>
                <a:lnTo>
                  <a:pt x="1640" y="298"/>
                </a:lnTo>
                <a:lnTo>
                  <a:pt x="1639" y="298"/>
                </a:lnTo>
                <a:lnTo>
                  <a:pt x="1637" y="298"/>
                </a:lnTo>
                <a:lnTo>
                  <a:pt x="1635" y="298"/>
                </a:lnTo>
                <a:lnTo>
                  <a:pt x="1634" y="297"/>
                </a:lnTo>
                <a:lnTo>
                  <a:pt x="1633" y="296"/>
                </a:lnTo>
                <a:lnTo>
                  <a:pt x="1631" y="295"/>
                </a:lnTo>
                <a:lnTo>
                  <a:pt x="1630" y="294"/>
                </a:lnTo>
                <a:lnTo>
                  <a:pt x="1630" y="292"/>
                </a:lnTo>
                <a:lnTo>
                  <a:pt x="1629" y="291"/>
                </a:lnTo>
                <a:lnTo>
                  <a:pt x="1629" y="289"/>
                </a:lnTo>
                <a:lnTo>
                  <a:pt x="1629" y="287"/>
                </a:lnTo>
                <a:lnTo>
                  <a:pt x="1630" y="286"/>
                </a:lnTo>
                <a:lnTo>
                  <a:pt x="1630" y="284"/>
                </a:lnTo>
                <a:lnTo>
                  <a:pt x="1631" y="283"/>
                </a:lnTo>
                <a:lnTo>
                  <a:pt x="1633" y="282"/>
                </a:lnTo>
                <a:lnTo>
                  <a:pt x="1634" y="281"/>
                </a:lnTo>
                <a:lnTo>
                  <a:pt x="1635" y="280"/>
                </a:lnTo>
                <a:lnTo>
                  <a:pt x="1637" y="280"/>
                </a:lnTo>
                <a:lnTo>
                  <a:pt x="1639" y="280"/>
                </a:lnTo>
                <a:close/>
                <a:moveTo>
                  <a:pt x="451" y="260"/>
                </a:moveTo>
                <a:lnTo>
                  <a:pt x="453" y="260"/>
                </a:lnTo>
                <a:lnTo>
                  <a:pt x="455" y="262"/>
                </a:lnTo>
                <a:lnTo>
                  <a:pt x="455" y="264"/>
                </a:lnTo>
                <a:lnTo>
                  <a:pt x="455" y="266"/>
                </a:lnTo>
                <a:lnTo>
                  <a:pt x="453" y="267"/>
                </a:lnTo>
                <a:lnTo>
                  <a:pt x="451" y="268"/>
                </a:lnTo>
                <a:lnTo>
                  <a:pt x="449" y="267"/>
                </a:lnTo>
                <a:lnTo>
                  <a:pt x="447" y="266"/>
                </a:lnTo>
                <a:lnTo>
                  <a:pt x="447" y="264"/>
                </a:lnTo>
                <a:lnTo>
                  <a:pt x="447" y="262"/>
                </a:lnTo>
                <a:lnTo>
                  <a:pt x="449" y="260"/>
                </a:lnTo>
                <a:lnTo>
                  <a:pt x="451" y="260"/>
                </a:lnTo>
                <a:close/>
                <a:moveTo>
                  <a:pt x="1531" y="241"/>
                </a:moveTo>
                <a:lnTo>
                  <a:pt x="1533" y="242"/>
                </a:lnTo>
                <a:lnTo>
                  <a:pt x="1535" y="242"/>
                </a:lnTo>
                <a:lnTo>
                  <a:pt x="1537" y="243"/>
                </a:lnTo>
                <a:lnTo>
                  <a:pt x="1538" y="244"/>
                </a:lnTo>
                <a:lnTo>
                  <a:pt x="1539" y="245"/>
                </a:lnTo>
                <a:lnTo>
                  <a:pt x="1540" y="246"/>
                </a:lnTo>
                <a:lnTo>
                  <a:pt x="1541" y="248"/>
                </a:lnTo>
                <a:lnTo>
                  <a:pt x="1541" y="250"/>
                </a:lnTo>
                <a:lnTo>
                  <a:pt x="1542" y="252"/>
                </a:lnTo>
                <a:lnTo>
                  <a:pt x="1541" y="253"/>
                </a:lnTo>
                <a:lnTo>
                  <a:pt x="1541" y="255"/>
                </a:lnTo>
                <a:lnTo>
                  <a:pt x="1540" y="257"/>
                </a:lnTo>
                <a:lnTo>
                  <a:pt x="1539" y="258"/>
                </a:lnTo>
                <a:lnTo>
                  <a:pt x="1538" y="259"/>
                </a:lnTo>
                <a:lnTo>
                  <a:pt x="1537" y="260"/>
                </a:lnTo>
                <a:lnTo>
                  <a:pt x="1535" y="261"/>
                </a:lnTo>
                <a:lnTo>
                  <a:pt x="1533" y="261"/>
                </a:lnTo>
                <a:lnTo>
                  <a:pt x="1531" y="262"/>
                </a:lnTo>
                <a:lnTo>
                  <a:pt x="1530" y="261"/>
                </a:lnTo>
                <a:lnTo>
                  <a:pt x="1528" y="261"/>
                </a:lnTo>
                <a:lnTo>
                  <a:pt x="1526" y="260"/>
                </a:lnTo>
                <a:lnTo>
                  <a:pt x="1525" y="259"/>
                </a:lnTo>
                <a:lnTo>
                  <a:pt x="1524" y="258"/>
                </a:lnTo>
                <a:lnTo>
                  <a:pt x="1523" y="257"/>
                </a:lnTo>
                <a:lnTo>
                  <a:pt x="1522" y="255"/>
                </a:lnTo>
                <a:lnTo>
                  <a:pt x="1522" y="253"/>
                </a:lnTo>
                <a:lnTo>
                  <a:pt x="1521" y="252"/>
                </a:lnTo>
                <a:lnTo>
                  <a:pt x="1522" y="250"/>
                </a:lnTo>
                <a:lnTo>
                  <a:pt x="1522" y="248"/>
                </a:lnTo>
                <a:lnTo>
                  <a:pt x="1523" y="246"/>
                </a:lnTo>
                <a:lnTo>
                  <a:pt x="1524" y="245"/>
                </a:lnTo>
                <a:lnTo>
                  <a:pt x="1525" y="244"/>
                </a:lnTo>
                <a:lnTo>
                  <a:pt x="1526" y="243"/>
                </a:lnTo>
                <a:lnTo>
                  <a:pt x="1528" y="242"/>
                </a:lnTo>
                <a:lnTo>
                  <a:pt x="1530" y="242"/>
                </a:lnTo>
                <a:lnTo>
                  <a:pt x="1531" y="241"/>
                </a:lnTo>
                <a:close/>
                <a:moveTo>
                  <a:pt x="392" y="241"/>
                </a:moveTo>
                <a:lnTo>
                  <a:pt x="393" y="241"/>
                </a:lnTo>
                <a:lnTo>
                  <a:pt x="395" y="242"/>
                </a:lnTo>
                <a:lnTo>
                  <a:pt x="397" y="242"/>
                </a:lnTo>
                <a:lnTo>
                  <a:pt x="398" y="243"/>
                </a:lnTo>
                <a:lnTo>
                  <a:pt x="400" y="244"/>
                </a:lnTo>
                <a:lnTo>
                  <a:pt x="401" y="246"/>
                </a:lnTo>
                <a:lnTo>
                  <a:pt x="402" y="247"/>
                </a:lnTo>
                <a:lnTo>
                  <a:pt x="402" y="249"/>
                </a:lnTo>
                <a:lnTo>
                  <a:pt x="403" y="250"/>
                </a:lnTo>
                <a:lnTo>
                  <a:pt x="403" y="252"/>
                </a:lnTo>
                <a:lnTo>
                  <a:pt x="403" y="254"/>
                </a:lnTo>
                <a:lnTo>
                  <a:pt x="402" y="255"/>
                </a:lnTo>
                <a:lnTo>
                  <a:pt x="402" y="257"/>
                </a:lnTo>
                <a:lnTo>
                  <a:pt x="401" y="258"/>
                </a:lnTo>
                <a:lnTo>
                  <a:pt x="400" y="260"/>
                </a:lnTo>
                <a:lnTo>
                  <a:pt x="398" y="261"/>
                </a:lnTo>
                <a:lnTo>
                  <a:pt x="397" y="262"/>
                </a:lnTo>
                <a:lnTo>
                  <a:pt x="395" y="262"/>
                </a:lnTo>
                <a:lnTo>
                  <a:pt x="393" y="263"/>
                </a:lnTo>
                <a:lnTo>
                  <a:pt x="392" y="263"/>
                </a:lnTo>
                <a:lnTo>
                  <a:pt x="390" y="263"/>
                </a:lnTo>
                <a:lnTo>
                  <a:pt x="388" y="262"/>
                </a:lnTo>
                <a:lnTo>
                  <a:pt x="387" y="262"/>
                </a:lnTo>
                <a:lnTo>
                  <a:pt x="385" y="261"/>
                </a:lnTo>
                <a:lnTo>
                  <a:pt x="384" y="260"/>
                </a:lnTo>
                <a:lnTo>
                  <a:pt x="383" y="258"/>
                </a:lnTo>
                <a:lnTo>
                  <a:pt x="382" y="257"/>
                </a:lnTo>
                <a:lnTo>
                  <a:pt x="381" y="255"/>
                </a:lnTo>
                <a:lnTo>
                  <a:pt x="381" y="254"/>
                </a:lnTo>
                <a:lnTo>
                  <a:pt x="380" y="252"/>
                </a:lnTo>
                <a:lnTo>
                  <a:pt x="381" y="250"/>
                </a:lnTo>
                <a:lnTo>
                  <a:pt x="381" y="249"/>
                </a:lnTo>
                <a:lnTo>
                  <a:pt x="382" y="247"/>
                </a:lnTo>
                <a:lnTo>
                  <a:pt x="383" y="246"/>
                </a:lnTo>
                <a:lnTo>
                  <a:pt x="384" y="244"/>
                </a:lnTo>
                <a:lnTo>
                  <a:pt x="385" y="243"/>
                </a:lnTo>
                <a:lnTo>
                  <a:pt x="387" y="242"/>
                </a:lnTo>
                <a:lnTo>
                  <a:pt x="388" y="242"/>
                </a:lnTo>
                <a:lnTo>
                  <a:pt x="390" y="241"/>
                </a:lnTo>
                <a:lnTo>
                  <a:pt x="392" y="241"/>
                </a:lnTo>
                <a:close/>
                <a:moveTo>
                  <a:pt x="334" y="236"/>
                </a:moveTo>
                <a:lnTo>
                  <a:pt x="336" y="237"/>
                </a:lnTo>
                <a:lnTo>
                  <a:pt x="338" y="238"/>
                </a:lnTo>
                <a:lnTo>
                  <a:pt x="340" y="239"/>
                </a:lnTo>
                <a:lnTo>
                  <a:pt x="341" y="241"/>
                </a:lnTo>
                <a:lnTo>
                  <a:pt x="341" y="243"/>
                </a:lnTo>
                <a:lnTo>
                  <a:pt x="341" y="245"/>
                </a:lnTo>
                <a:lnTo>
                  <a:pt x="340" y="247"/>
                </a:lnTo>
                <a:lnTo>
                  <a:pt x="338" y="248"/>
                </a:lnTo>
                <a:lnTo>
                  <a:pt x="336" y="249"/>
                </a:lnTo>
                <a:lnTo>
                  <a:pt x="334" y="249"/>
                </a:lnTo>
                <a:lnTo>
                  <a:pt x="332" y="249"/>
                </a:lnTo>
                <a:lnTo>
                  <a:pt x="330" y="248"/>
                </a:lnTo>
                <a:lnTo>
                  <a:pt x="329" y="247"/>
                </a:lnTo>
                <a:lnTo>
                  <a:pt x="328" y="245"/>
                </a:lnTo>
                <a:lnTo>
                  <a:pt x="328" y="243"/>
                </a:lnTo>
                <a:lnTo>
                  <a:pt x="328" y="241"/>
                </a:lnTo>
                <a:lnTo>
                  <a:pt x="329" y="239"/>
                </a:lnTo>
                <a:lnTo>
                  <a:pt x="330" y="238"/>
                </a:lnTo>
                <a:lnTo>
                  <a:pt x="332" y="237"/>
                </a:lnTo>
                <a:lnTo>
                  <a:pt x="334" y="236"/>
                </a:lnTo>
                <a:close/>
                <a:moveTo>
                  <a:pt x="1589" y="233"/>
                </a:moveTo>
                <a:lnTo>
                  <a:pt x="1590" y="233"/>
                </a:lnTo>
                <a:lnTo>
                  <a:pt x="1592" y="234"/>
                </a:lnTo>
                <a:lnTo>
                  <a:pt x="1594" y="235"/>
                </a:lnTo>
                <a:lnTo>
                  <a:pt x="1595" y="236"/>
                </a:lnTo>
                <a:lnTo>
                  <a:pt x="1596" y="237"/>
                </a:lnTo>
                <a:lnTo>
                  <a:pt x="1597" y="239"/>
                </a:lnTo>
                <a:lnTo>
                  <a:pt x="1598" y="241"/>
                </a:lnTo>
                <a:lnTo>
                  <a:pt x="1598" y="242"/>
                </a:lnTo>
                <a:lnTo>
                  <a:pt x="1598" y="244"/>
                </a:lnTo>
                <a:lnTo>
                  <a:pt x="1597" y="246"/>
                </a:lnTo>
                <a:lnTo>
                  <a:pt x="1596" y="248"/>
                </a:lnTo>
                <a:lnTo>
                  <a:pt x="1595" y="249"/>
                </a:lnTo>
                <a:lnTo>
                  <a:pt x="1594" y="250"/>
                </a:lnTo>
                <a:lnTo>
                  <a:pt x="1592" y="251"/>
                </a:lnTo>
                <a:lnTo>
                  <a:pt x="1590" y="252"/>
                </a:lnTo>
                <a:lnTo>
                  <a:pt x="1589" y="252"/>
                </a:lnTo>
                <a:lnTo>
                  <a:pt x="1587" y="252"/>
                </a:lnTo>
                <a:lnTo>
                  <a:pt x="1585" y="251"/>
                </a:lnTo>
                <a:lnTo>
                  <a:pt x="1583" y="250"/>
                </a:lnTo>
                <a:lnTo>
                  <a:pt x="1582" y="249"/>
                </a:lnTo>
                <a:lnTo>
                  <a:pt x="1581" y="248"/>
                </a:lnTo>
                <a:lnTo>
                  <a:pt x="1580" y="246"/>
                </a:lnTo>
                <a:lnTo>
                  <a:pt x="1579" y="244"/>
                </a:lnTo>
                <a:lnTo>
                  <a:pt x="1579" y="242"/>
                </a:lnTo>
                <a:lnTo>
                  <a:pt x="1579" y="241"/>
                </a:lnTo>
                <a:lnTo>
                  <a:pt x="1580" y="239"/>
                </a:lnTo>
                <a:lnTo>
                  <a:pt x="1581" y="237"/>
                </a:lnTo>
                <a:lnTo>
                  <a:pt x="1582" y="236"/>
                </a:lnTo>
                <a:lnTo>
                  <a:pt x="1583" y="235"/>
                </a:lnTo>
                <a:lnTo>
                  <a:pt x="1585" y="234"/>
                </a:lnTo>
                <a:lnTo>
                  <a:pt x="1587" y="233"/>
                </a:lnTo>
                <a:lnTo>
                  <a:pt x="1589" y="233"/>
                </a:lnTo>
                <a:close/>
                <a:moveTo>
                  <a:pt x="508" y="221"/>
                </a:moveTo>
                <a:lnTo>
                  <a:pt x="510" y="221"/>
                </a:lnTo>
                <a:lnTo>
                  <a:pt x="511" y="222"/>
                </a:lnTo>
                <a:lnTo>
                  <a:pt x="512" y="224"/>
                </a:lnTo>
                <a:lnTo>
                  <a:pt x="512" y="226"/>
                </a:lnTo>
                <a:lnTo>
                  <a:pt x="512" y="228"/>
                </a:lnTo>
                <a:lnTo>
                  <a:pt x="511" y="229"/>
                </a:lnTo>
                <a:lnTo>
                  <a:pt x="510" y="230"/>
                </a:lnTo>
                <a:lnTo>
                  <a:pt x="508" y="231"/>
                </a:lnTo>
                <a:lnTo>
                  <a:pt x="506" y="230"/>
                </a:lnTo>
                <a:lnTo>
                  <a:pt x="504" y="229"/>
                </a:lnTo>
                <a:lnTo>
                  <a:pt x="503" y="228"/>
                </a:lnTo>
                <a:lnTo>
                  <a:pt x="503" y="226"/>
                </a:lnTo>
                <a:lnTo>
                  <a:pt x="503" y="224"/>
                </a:lnTo>
                <a:lnTo>
                  <a:pt x="504" y="222"/>
                </a:lnTo>
                <a:lnTo>
                  <a:pt x="506" y="221"/>
                </a:lnTo>
                <a:lnTo>
                  <a:pt x="508" y="221"/>
                </a:lnTo>
                <a:close/>
                <a:moveTo>
                  <a:pt x="1476" y="201"/>
                </a:moveTo>
                <a:lnTo>
                  <a:pt x="1478" y="201"/>
                </a:lnTo>
                <a:lnTo>
                  <a:pt x="1480" y="202"/>
                </a:lnTo>
                <a:lnTo>
                  <a:pt x="1482" y="202"/>
                </a:lnTo>
                <a:lnTo>
                  <a:pt x="1483" y="203"/>
                </a:lnTo>
                <a:lnTo>
                  <a:pt x="1484" y="205"/>
                </a:lnTo>
                <a:lnTo>
                  <a:pt x="1485" y="206"/>
                </a:lnTo>
                <a:lnTo>
                  <a:pt x="1486" y="208"/>
                </a:lnTo>
                <a:lnTo>
                  <a:pt x="1486" y="209"/>
                </a:lnTo>
                <a:lnTo>
                  <a:pt x="1486" y="211"/>
                </a:lnTo>
                <a:lnTo>
                  <a:pt x="1486" y="213"/>
                </a:lnTo>
                <a:lnTo>
                  <a:pt x="1486" y="215"/>
                </a:lnTo>
                <a:lnTo>
                  <a:pt x="1485" y="216"/>
                </a:lnTo>
                <a:lnTo>
                  <a:pt x="1484" y="218"/>
                </a:lnTo>
                <a:lnTo>
                  <a:pt x="1483" y="219"/>
                </a:lnTo>
                <a:lnTo>
                  <a:pt x="1482" y="220"/>
                </a:lnTo>
                <a:lnTo>
                  <a:pt x="1480" y="221"/>
                </a:lnTo>
                <a:lnTo>
                  <a:pt x="1478" y="221"/>
                </a:lnTo>
                <a:lnTo>
                  <a:pt x="1476" y="221"/>
                </a:lnTo>
                <a:lnTo>
                  <a:pt x="1475" y="221"/>
                </a:lnTo>
                <a:lnTo>
                  <a:pt x="1473" y="221"/>
                </a:lnTo>
                <a:lnTo>
                  <a:pt x="1471" y="220"/>
                </a:lnTo>
                <a:lnTo>
                  <a:pt x="1470" y="219"/>
                </a:lnTo>
                <a:lnTo>
                  <a:pt x="1469" y="218"/>
                </a:lnTo>
                <a:lnTo>
                  <a:pt x="1468" y="216"/>
                </a:lnTo>
                <a:lnTo>
                  <a:pt x="1467" y="215"/>
                </a:lnTo>
                <a:lnTo>
                  <a:pt x="1467" y="213"/>
                </a:lnTo>
                <a:lnTo>
                  <a:pt x="1466" y="211"/>
                </a:lnTo>
                <a:lnTo>
                  <a:pt x="1467" y="209"/>
                </a:lnTo>
                <a:lnTo>
                  <a:pt x="1467" y="208"/>
                </a:lnTo>
                <a:lnTo>
                  <a:pt x="1468" y="206"/>
                </a:lnTo>
                <a:lnTo>
                  <a:pt x="1469" y="205"/>
                </a:lnTo>
                <a:lnTo>
                  <a:pt x="1470" y="203"/>
                </a:lnTo>
                <a:lnTo>
                  <a:pt x="1471" y="202"/>
                </a:lnTo>
                <a:lnTo>
                  <a:pt x="1473" y="202"/>
                </a:lnTo>
                <a:lnTo>
                  <a:pt x="1475" y="201"/>
                </a:lnTo>
                <a:lnTo>
                  <a:pt x="1476" y="201"/>
                </a:lnTo>
                <a:close/>
                <a:moveTo>
                  <a:pt x="447" y="200"/>
                </a:moveTo>
                <a:lnTo>
                  <a:pt x="449" y="201"/>
                </a:lnTo>
                <a:lnTo>
                  <a:pt x="450" y="201"/>
                </a:lnTo>
                <a:lnTo>
                  <a:pt x="452" y="202"/>
                </a:lnTo>
                <a:lnTo>
                  <a:pt x="453" y="203"/>
                </a:lnTo>
                <a:lnTo>
                  <a:pt x="455" y="204"/>
                </a:lnTo>
                <a:lnTo>
                  <a:pt x="456" y="205"/>
                </a:lnTo>
                <a:lnTo>
                  <a:pt x="457" y="206"/>
                </a:lnTo>
                <a:lnTo>
                  <a:pt x="457" y="208"/>
                </a:lnTo>
                <a:lnTo>
                  <a:pt x="458" y="210"/>
                </a:lnTo>
                <a:lnTo>
                  <a:pt x="458" y="211"/>
                </a:lnTo>
                <a:lnTo>
                  <a:pt x="458" y="213"/>
                </a:lnTo>
                <a:lnTo>
                  <a:pt x="457" y="215"/>
                </a:lnTo>
                <a:lnTo>
                  <a:pt x="457" y="216"/>
                </a:lnTo>
                <a:lnTo>
                  <a:pt x="456" y="218"/>
                </a:lnTo>
                <a:lnTo>
                  <a:pt x="455" y="219"/>
                </a:lnTo>
                <a:lnTo>
                  <a:pt x="453" y="220"/>
                </a:lnTo>
                <a:lnTo>
                  <a:pt x="452" y="221"/>
                </a:lnTo>
                <a:lnTo>
                  <a:pt x="450" y="222"/>
                </a:lnTo>
                <a:lnTo>
                  <a:pt x="449" y="222"/>
                </a:lnTo>
                <a:lnTo>
                  <a:pt x="447" y="222"/>
                </a:lnTo>
                <a:lnTo>
                  <a:pt x="445" y="222"/>
                </a:lnTo>
                <a:lnTo>
                  <a:pt x="443" y="222"/>
                </a:lnTo>
                <a:lnTo>
                  <a:pt x="442" y="221"/>
                </a:lnTo>
                <a:lnTo>
                  <a:pt x="440" y="220"/>
                </a:lnTo>
                <a:lnTo>
                  <a:pt x="439" y="219"/>
                </a:lnTo>
                <a:lnTo>
                  <a:pt x="438" y="218"/>
                </a:lnTo>
                <a:lnTo>
                  <a:pt x="437" y="216"/>
                </a:lnTo>
                <a:lnTo>
                  <a:pt x="436" y="215"/>
                </a:lnTo>
                <a:lnTo>
                  <a:pt x="436" y="213"/>
                </a:lnTo>
                <a:lnTo>
                  <a:pt x="436" y="211"/>
                </a:lnTo>
                <a:lnTo>
                  <a:pt x="436" y="210"/>
                </a:lnTo>
                <a:lnTo>
                  <a:pt x="436" y="208"/>
                </a:lnTo>
                <a:lnTo>
                  <a:pt x="437" y="206"/>
                </a:lnTo>
                <a:lnTo>
                  <a:pt x="438" y="205"/>
                </a:lnTo>
                <a:lnTo>
                  <a:pt x="439" y="204"/>
                </a:lnTo>
                <a:lnTo>
                  <a:pt x="440" y="203"/>
                </a:lnTo>
                <a:lnTo>
                  <a:pt x="442" y="202"/>
                </a:lnTo>
                <a:lnTo>
                  <a:pt x="443" y="201"/>
                </a:lnTo>
                <a:lnTo>
                  <a:pt x="445" y="201"/>
                </a:lnTo>
                <a:lnTo>
                  <a:pt x="447" y="200"/>
                </a:lnTo>
                <a:close/>
                <a:moveTo>
                  <a:pt x="388" y="193"/>
                </a:moveTo>
                <a:lnTo>
                  <a:pt x="390" y="194"/>
                </a:lnTo>
                <a:lnTo>
                  <a:pt x="391" y="194"/>
                </a:lnTo>
                <a:lnTo>
                  <a:pt x="392" y="195"/>
                </a:lnTo>
                <a:lnTo>
                  <a:pt x="394" y="197"/>
                </a:lnTo>
                <a:lnTo>
                  <a:pt x="394" y="198"/>
                </a:lnTo>
                <a:lnTo>
                  <a:pt x="394" y="200"/>
                </a:lnTo>
                <a:lnTo>
                  <a:pt x="394" y="202"/>
                </a:lnTo>
                <a:lnTo>
                  <a:pt x="394" y="204"/>
                </a:lnTo>
                <a:lnTo>
                  <a:pt x="392" y="205"/>
                </a:lnTo>
                <a:lnTo>
                  <a:pt x="391" y="206"/>
                </a:lnTo>
                <a:lnTo>
                  <a:pt x="390" y="207"/>
                </a:lnTo>
                <a:lnTo>
                  <a:pt x="388" y="207"/>
                </a:lnTo>
                <a:lnTo>
                  <a:pt x="386" y="207"/>
                </a:lnTo>
                <a:lnTo>
                  <a:pt x="384" y="206"/>
                </a:lnTo>
                <a:lnTo>
                  <a:pt x="383" y="205"/>
                </a:lnTo>
                <a:lnTo>
                  <a:pt x="382" y="204"/>
                </a:lnTo>
                <a:lnTo>
                  <a:pt x="381" y="202"/>
                </a:lnTo>
                <a:lnTo>
                  <a:pt x="381" y="200"/>
                </a:lnTo>
                <a:lnTo>
                  <a:pt x="381" y="198"/>
                </a:lnTo>
                <a:lnTo>
                  <a:pt x="382" y="197"/>
                </a:lnTo>
                <a:lnTo>
                  <a:pt x="383" y="195"/>
                </a:lnTo>
                <a:lnTo>
                  <a:pt x="384" y="194"/>
                </a:lnTo>
                <a:lnTo>
                  <a:pt x="386" y="194"/>
                </a:lnTo>
                <a:lnTo>
                  <a:pt x="388" y="193"/>
                </a:lnTo>
                <a:close/>
                <a:moveTo>
                  <a:pt x="1535" y="190"/>
                </a:moveTo>
                <a:lnTo>
                  <a:pt x="1537" y="190"/>
                </a:lnTo>
                <a:lnTo>
                  <a:pt x="1539" y="191"/>
                </a:lnTo>
                <a:lnTo>
                  <a:pt x="1541" y="192"/>
                </a:lnTo>
                <a:lnTo>
                  <a:pt x="1542" y="193"/>
                </a:lnTo>
                <a:lnTo>
                  <a:pt x="1543" y="194"/>
                </a:lnTo>
                <a:lnTo>
                  <a:pt x="1544" y="196"/>
                </a:lnTo>
                <a:lnTo>
                  <a:pt x="1545" y="198"/>
                </a:lnTo>
                <a:lnTo>
                  <a:pt x="1545" y="200"/>
                </a:lnTo>
                <a:lnTo>
                  <a:pt x="1545" y="201"/>
                </a:lnTo>
                <a:lnTo>
                  <a:pt x="1544" y="203"/>
                </a:lnTo>
                <a:lnTo>
                  <a:pt x="1543" y="205"/>
                </a:lnTo>
                <a:lnTo>
                  <a:pt x="1542" y="206"/>
                </a:lnTo>
                <a:lnTo>
                  <a:pt x="1541" y="207"/>
                </a:lnTo>
                <a:lnTo>
                  <a:pt x="1539" y="208"/>
                </a:lnTo>
                <a:lnTo>
                  <a:pt x="1537" y="209"/>
                </a:lnTo>
                <a:lnTo>
                  <a:pt x="1535" y="209"/>
                </a:lnTo>
                <a:lnTo>
                  <a:pt x="1534" y="209"/>
                </a:lnTo>
                <a:lnTo>
                  <a:pt x="1532" y="208"/>
                </a:lnTo>
                <a:lnTo>
                  <a:pt x="1530" y="207"/>
                </a:lnTo>
                <a:lnTo>
                  <a:pt x="1529" y="206"/>
                </a:lnTo>
                <a:lnTo>
                  <a:pt x="1528" y="205"/>
                </a:lnTo>
                <a:lnTo>
                  <a:pt x="1527" y="203"/>
                </a:lnTo>
                <a:lnTo>
                  <a:pt x="1526" y="201"/>
                </a:lnTo>
                <a:lnTo>
                  <a:pt x="1526" y="200"/>
                </a:lnTo>
                <a:lnTo>
                  <a:pt x="1526" y="198"/>
                </a:lnTo>
                <a:lnTo>
                  <a:pt x="1527" y="196"/>
                </a:lnTo>
                <a:lnTo>
                  <a:pt x="1528" y="194"/>
                </a:lnTo>
                <a:lnTo>
                  <a:pt x="1529" y="193"/>
                </a:lnTo>
                <a:lnTo>
                  <a:pt x="1530" y="192"/>
                </a:lnTo>
                <a:lnTo>
                  <a:pt x="1532" y="191"/>
                </a:lnTo>
                <a:lnTo>
                  <a:pt x="1534" y="190"/>
                </a:lnTo>
                <a:lnTo>
                  <a:pt x="1535" y="190"/>
                </a:lnTo>
                <a:close/>
                <a:moveTo>
                  <a:pt x="567" y="187"/>
                </a:moveTo>
                <a:lnTo>
                  <a:pt x="569" y="187"/>
                </a:lnTo>
                <a:lnTo>
                  <a:pt x="571" y="189"/>
                </a:lnTo>
                <a:lnTo>
                  <a:pt x="572" y="190"/>
                </a:lnTo>
                <a:lnTo>
                  <a:pt x="573" y="192"/>
                </a:lnTo>
                <a:lnTo>
                  <a:pt x="572" y="194"/>
                </a:lnTo>
                <a:lnTo>
                  <a:pt x="571" y="196"/>
                </a:lnTo>
                <a:lnTo>
                  <a:pt x="569" y="197"/>
                </a:lnTo>
                <a:lnTo>
                  <a:pt x="567" y="198"/>
                </a:lnTo>
                <a:lnTo>
                  <a:pt x="565" y="197"/>
                </a:lnTo>
                <a:lnTo>
                  <a:pt x="563" y="196"/>
                </a:lnTo>
                <a:lnTo>
                  <a:pt x="562" y="194"/>
                </a:lnTo>
                <a:lnTo>
                  <a:pt x="562" y="192"/>
                </a:lnTo>
                <a:lnTo>
                  <a:pt x="562" y="190"/>
                </a:lnTo>
                <a:lnTo>
                  <a:pt x="563" y="189"/>
                </a:lnTo>
                <a:lnTo>
                  <a:pt x="565" y="187"/>
                </a:lnTo>
                <a:lnTo>
                  <a:pt x="567" y="187"/>
                </a:lnTo>
                <a:close/>
                <a:moveTo>
                  <a:pt x="1418" y="165"/>
                </a:moveTo>
                <a:lnTo>
                  <a:pt x="1420" y="165"/>
                </a:lnTo>
                <a:lnTo>
                  <a:pt x="1422" y="165"/>
                </a:lnTo>
                <a:lnTo>
                  <a:pt x="1424" y="166"/>
                </a:lnTo>
                <a:lnTo>
                  <a:pt x="1425" y="167"/>
                </a:lnTo>
                <a:lnTo>
                  <a:pt x="1426" y="168"/>
                </a:lnTo>
                <a:lnTo>
                  <a:pt x="1427" y="170"/>
                </a:lnTo>
                <a:lnTo>
                  <a:pt x="1428" y="171"/>
                </a:lnTo>
                <a:lnTo>
                  <a:pt x="1429" y="173"/>
                </a:lnTo>
                <a:lnTo>
                  <a:pt x="1429" y="175"/>
                </a:lnTo>
                <a:lnTo>
                  <a:pt x="1429" y="177"/>
                </a:lnTo>
                <a:lnTo>
                  <a:pt x="1428" y="178"/>
                </a:lnTo>
                <a:lnTo>
                  <a:pt x="1427" y="180"/>
                </a:lnTo>
                <a:lnTo>
                  <a:pt x="1426" y="181"/>
                </a:lnTo>
                <a:lnTo>
                  <a:pt x="1425" y="183"/>
                </a:lnTo>
                <a:lnTo>
                  <a:pt x="1424" y="184"/>
                </a:lnTo>
                <a:lnTo>
                  <a:pt x="1422" y="184"/>
                </a:lnTo>
                <a:lnTo>
                  <a:pt x="1420" y="185"/>
                </a:lnTo>
                <a:lnTo>
                  <a:pt x="1418" y="185"/>
                </a:lnTo>
                <a:lnTo>
                  <a:pt x="1417" y="185"/>
                </a:lnTo>
                <a:lnTo>
                  <a:pt x="1415" y="184"/>
                </a:lnTo>
                <a:lnTo>
                  <a:pt x="1413" y="184"/>
                </a:lnTo>
                <a:lnTo>
                  <a:pt x="1412" y="183"/>
                </a:lnTo>
                <a:lnTo>
                  <a:pt x="1411" y="181"/>
                </a:lnTo>
                <a:lnTo>
                  <a:pt x="1410" y="180"/>
                </a:lnTo>
                <a:lnTo>
                  <a:pt x="1409" y="178"/>
                </a:lnTo>
                <a:lnTo>
                  <a:pt x="1408" y="177"/>
                </a:lnTo>
                <a:lnTo>
                  <a:pt x="1408" y="175"/>
                </a:lnTo>
                <a:lnTo>
                  <a:pt x="1408" y="173"/>
                </a:lnTo>
                <a:lnTo>
                  <a:pt x="1409" y="171"/>
                </a:lnTo>
                <a:lnTo>
                  <a:pt x="1410" y="170"/>
                </a:lnTo>
                <a:lnTo>
                  <a:pt x="1411" y="168"/>
                </a:lnTo>
                <a:lnTo>
                  <a:pt x="1412" y="167"/>
                </a:lnTo>
                <a:lnTo>
                  <a:pt x="1413" y="166"/>
                </a:lnTo>
                <a:lnTo>
                  <a:pt x="1415" y="165"/>
                </a:lnTo>
                <a:lnTo>
                  <a:pt x="1417" y="165"/>
                </a:lnTo>
                <a:lnTo>
                  <a:pt x="1418" y="165"/>
                </a:lnTo>
                <a:close/>
                <a:moveTo>
                  <a:pt x="504" y="164"/>
                </a:moveTo>
                <a:lnTo>
                  <a:pt x="506" y="164"/>
                </a:lnTo>
                <a:lnTo>
                  <a:pt x="508" y="164"/>
                </a:lnTo>
                <a:lnTo>
                  <a:pt x="509" y="165"/>
                </a:lnTo>
                <a:lnTo>
                  <a:pt x="511" y="166"/>
                </a:lnTo>
                <a:lnTo>
                  <a:pt x="512" y="167"/>
                </a:lnTo>
                <a:lnTo>
                  <a:pt x="513" y="168"/>
                </a:lnTo>
                <a:lnTo>
                  <a:pt x="514" y="170"/>
                </a:lnTo>
                <a:lnTo>
                  <a:pt x="515" y="171"/>
                </a:lnTo>
                <a:lnTo>
                  <a:pt x="515" y="173"/>
                </a:lnTo>
                <a:lnTo>
                  <a:pt x="515" y="175"/>
                </a:lnTo>
                <a:lnTo>
                  <a:pt x="515" y="177"/>
                </a:lnTo>
                <a:lnTo>
                  <a:pt x="515" y="178"/>
                </a:lnTo>
                <a:lnTo>
                  <a:pt x="514" y="180"/>
                </a:lnTo>
                <a:lnTo>
                  <a:pt x="513" y="181"/>
                </a:lnTo>
                <a:lnTo>
                  <a:pt x="512" y="183"/>
                </a:lnTo>
                <a:lnTo>
                  <a:pt x="511" y="184"/>
                </a:lnTo>
                <a:lnTo>
                  <a:pt x="509" y="185"/>
                </a:lnTo>
                <a:lnTo>
                  <a:pt x="508" y="185"/>
                </a:lnTo>
                <a:lnTo>
                  <a:pt x="506" y="186"/>
                </a:lnTo>
                <a:lnTo>
                  <a:pt x="504" y="186"/>
                </a:lnTo>
                <a:lnTo>
                  <a:pt x="503" y="186"/>
                </a:lnTo>
                <a:lnTo>
                  <a:pt x="501" y="185"/>
                </a:lnTo>
                <a:lnTo>
                  <a:pt x="499" y="185"/>
                </a:lnTo>
                <a:lnTo>
                  <a:pt x="498" y="184"/>
                </a:lnTo>
                <a:lnTo>
                  <a:pt x="497" y="183"/>
                </a:lnTo>
                <a:lnTo>
                  <a:pt x="495" y="181"/>
                </a:lnTo>
                <a:lnTo>
                  <a:pt x="495" y="180"/>
                </a:lnTo>
                <a:lnTo>
                  <a:pt x="494" y="178"/>
                </a:lnTo>
                <a:lnTo>
                  <a:pt x="493" y="177"/>
                </a:lnTo>
                <a:lnTo>
                  <a:pt x="493" y="175"/>
                </a:lnTo>
                <a:lnTo>
                  <a:pt x="493" y="173"/>
                </a:lnTo>
                <a:lnTo>
                  <a:pt x="494" y="171"/>
                </a:lnTo>
                <a:lnTo>
                  <a:pt x="495" y="170"/>
                </a:lnTo>
                <a:lnTo>
                  <a:pt x="495" y="168"/>
                </a:lnTo>
                <a:lnTo>
                  <a:pt x="497" y="167"/>
                </a:lnTo>
                <a:lnTo>
                  <a:pt x="498" y="166"/>
                </a:lnTo>
                <a:lnTo>
                  <a:pt x="499" y="165"/>
                </a:lnTo>
                <a:lnTo>
                  <a:pt x="501" y="164"/>
                </a:lnTo>
                <a:lnTo>
                  <a:pt x="503" y="164"/>
                </a:lnTo>
                <a:lnTo>
                  <a:pt x="504" y="164"/>
                </a:lnTo>
                <a:close/>
                <a:moveTo>
                  <a:pt x="629" y="158"/>
                </a:moveTo>
                <a:lnTo>
                  <a:pt x="631" y="158"/>
                </a:lnTo>
                <a:lnTo>
                  <a:pt x="633" y="159"/>
                </a:lnTo>
                <a:lnTo>
                  <a:pt x="634" y="160"/>
                </a:lnTo>
                <a:lnTo>
                  <a:pt x="635" y="162"/>
                </a:lnTo>
                <a:lnTo>
                  <a:pt x="635" y="164"/>
                </a:lnTo>
                <a:lnTo>
                  <a:pt x="635" y="166"/>
                </a:lnTo>
                <a:lnTo>
                  <a:pt x="634" y="167"/>
                </a:lnTo>
                <a:lnTo>
                  <a:pt x="633" y="169"/>
                </a:lnTo>
                <a:lnTo>
                  <a:pt x="631" y="169"/>
                </a:lnTo>
                <a:lnTo>
                  <a:pt x="629" y="170"/>
                </a:lnTo>
                <a:lnTo>
                  <a:pt x="627" y="169"/>
                </a:lnTo>
                <a:lnTo>
                  <a:pt x="625" y="169"/>
                </a:lnTo>
                <a:lnTo>
                  <a:pt x="624" y="167"/>
                </a:lnTo>
                <a:lnTo>
                  <a:pt x="623" y="166"/>
                </a:lnTo>
                <a:lnTo>
                  <a:pt x="623" y="164"/>
                </a:lnTo>
                <a:lnTo>
                  <a:pt x="623" y="162"/>
                </a:lnTo>
                <a:lnTo>
                  <a:pt x="624" y="160"/>
                </a:lnTo>
                <a:lnTo>
                  <a:pt x="625" y="159"/>
                </a:lnTo>
                <a:lnTo>
                  <a:pt x="627" y="158"/>
                </a:lnTo>
                <a:lnTo>
                  <a:pt x="629" y="158"/>
                </a:lnTo>
                <a:close/>
                <a:moveTo>
                  <a:pt x="444" y="154"/>
                </a:moveTo>
                <a:lnTo>
                  <a:pt x="446" y="154"/>
                </a:lnTo>
                <a:lnTo>
                  <a:pt x="447" y="155"/>
                </a:lnTo>
                <a:lnTo>
                  <a:pt x="449" y="156"/>
                </a:lnTo>
                <a:lnTo>
                  <a:pt x="450" y="157"/>
                </a:lnTo>
                <a:lnTo>
                  <a:pt x="451" y="159"/>
                </a:lnTo>
                <a:lnTo>
                  <a:pt x="451" y="161"/>
                </a:lnTo>
                <a:lnTo>
                  <a:pt x="451" y="163"/>
                </a:lnTo>
                <a:lnTo>
                  <a:pt x="450" y="164"/>
                </a:lnTo>
                <a:lnTo>
                  <a:pt x="449" y="166"/>
                </a:lnTo>
                <a:lnTo>
                  <a:pt x="447" y="167"/>
                </a:lnTo>
                <a:lnTo>
                  <a:pt x="446" y="168"/>
                </a:lnTo>
                <a:lnTo>
                  <a:pt x="444" y="168"/>
                </a:lnTo>
                <a:lnTo>
                  <a:pt x="442" y="168"/>
                </a:lnTo>
                <a:lnTo>
                  <a:pt x="440" y="167"/>
                </a:lnTo>
                <a:lnTo>
                  <a:pt x="439" y="166"/>
                </a:lnTo>
                <a:lnTo>
                  <a:pt x="437" y="164"/>
                </a:lnTo>
                <a:lnTo>
                  <a:pt x="437" y="163"/>
                </a:lnTo>
                <a:lnTo>
                  <a:pt x="436" y="161"/>
                </a:lnTo>
                <a:lnTo>
                  <a:pt x="437" y="159"/>
                </a:lnTo>
                <a:lnTo>
                  <a:pt x="437" y="157"/>
                </a:lnTo>
                <a:lnTo>
                  <a:pt x="439" y="156"/>
                </a:lnTo>
                <a:lnTo>
                  <a:pt x="440" y="155"/>
                </a:lnTo>
                <a:lnTo>
                  <a:pt x="442" y="154"/>
                </a:lnTo>
                <a:lnTo>
                  <a:pt x="444" y="154"/>
                </a:lnTo>
                <a:close/>
                <a:moveTo>
                  <a:pt x="1296" y="153"/>
                </a:moveTo>
                <a:lnTo>
                  <a:pt x="1296" y="153"/>
                </a:lnTo>
                <a:lnTo>
                  <a:pt x="1298" y="153"/>
                </a:lnTo>
                <a:lnTo>
                  <a:pt x="1299" y="154"/>
                </a:lnTo>
                <a:lnTo>
                  <a:pt x="1300" y="154"/>
                </a:lnTo>
                <a:lnTo>
                  <a:pt x="1296" y="153"/>
                </a:lnTo>
                <a:close/>
                <a:moveTo>
                  <a:pt x="1479" y="152"/>
                </a:moveTo>
                <a:lnTo>
                  <a:pt x="1481" y="152"/>
                </a:lnTo>
                <a:lnTo>
                  <a:pt x="1483" y="152"/>
                </a:lnTo>
                <a:lnTo>
                  <a:pt x="1484" y="153"/>
                </a:lnTo>
                <a:lnTo>
                  <a:pt x="1486" y="154"/>
                </a:lnTo>
                <a:lnTo>
                  <a:pt x="1487" y="156"/>
                </a:lnTo>
                <a:lnTo>
                  <a:pt x="1488" y="157"/>
                </a:lnTo>
                <a:lnTo>
                  <a:pt x="1488" y="159"/>
                </a:lnTo>
                <a:lnTo>
                  <a:pt x="1488" y="161"/>
                </a:lnTo>
                <a:lnTo>
                  <a:pt x="1488" y="163"/>
                </a:lnTo>
                <a:lnTo>
                  <a:pt x="1488" y="164"/>
                </a:lnTo>
                <a:lnTo>
                  <a:pt x="1487" y="166"/>
                </a:lnTo>
                <a:lnTo>
                  <a:pt x="1486" y="167"/>
                </a:lnTo>
                <a:lnTo>
                  <a:pt x="1484" y="169"/>
                </a:lnTo>
                <a:lnTo>
                  <a:pt x="1483" y="169"/>
                </a:lnTo>
                <a:lnTo>
                  <a:pt x="1481" y="170"/>
                </a:lnTo>
                <a:lnTo>
                  <a:pt x="1479" y="170"/>
                </a:lnTo>
                <a:lnTo>
                  <a:pt x="1477" y="170"/>
                </a:lnTo>
                <a:lnTo>
                  <a:pt x="1475" y="169"/>
                </a:lnTo>
                <a:lnTo>
                  <a:pt x="1474" y="169"/>
                </a:lnTo>
                <a:lnTo>
                  <a:pt x="1472" y="167"/>
                </a:lnTo>
                <a:lnTo>
                  <a:pt x="1471" y="166"/>
                </a:lnTo>
                <a:lnTo>
                  <a:pt x="1470" y="164"/>
                </a:lnTo>
                <a:lnTo>
                  <a:pt x="1470" y="163"/>
                </a:lnTo>
                <a:lnTo>
                  <a:pt x="1470" y="161"/>
                </a:lnTo>
                <a:lnTo>
                  <a:pt x="1470" y="159"/>
                </a:lnTo>
                <a:lnTo>
                  <a:pt x="1470" y="157"/>
                </a:lnTo>
                <a:lnTo>
                  <a:pt x="1471" y="156"/>
                </a:lnTo>
                <a:lnTo>
                  <a:pt x="1472" y="154"/>
                </a:lnTo>
                <a:lnTo>
                  <a:pt x="1474" y="153"/>
                </a:lnTo>
                <a:lnTo>
                  <a:pt x="1475" y="152"/>
                </a:lnTo>
                <a:lnTo>
                  <a:pt x="1477" y="152"/>
                </a:lnTo>
                <a:lnTo>
                  <a:pt x="1479" y="152"/>
                </a:lnTo>
                <a:close/>
                <a:moveTo>
                  <a:pt x="693" y="134"/>
                </a:moveTo>
                <a:lnTo>
                  <a:pt x="695" y="134"/>
                </a:lnTo>
                <a:lnTo>
                  <a:pt x="697" y="135"/>
                </a:lnTo>
                <a:lnTo>
                  <a:pt x="698" y="136"/>
                </a:lnTo>
                <a:lnTo>
                  <a:pt x="699" y="138"/>
                </a:lnTo>
                <a:lnTo>
                  <a:pt x="699" y="140"/>
                </a:lnTo>
                <a:lnTo>
                  <a:pt x="699" y="142"/>
                </a:lnTo>
                <a:lnTo>
                  <a:pt x="698" y="144"/>
                </a:lnTo>
                <a:lnTo>
                  <a:pt x="697" y="145"/>
                </a:lnTo>
                <a:lnTo>
                  <a:pt x="695" y="146"/>
                </a:lnTo>
                <a:lnTo>
                  <a:pt x="693" y="146"/>
                </a:lnTo>
                <a:lnTo>
                  <a:pt x="691" y="146"/>
                </a:lnTo>
                <a:lnTo>
                  <a:pt x="689" y="145"/>
                </a:lnTo>
                <a:lnTo>
                  <a:pt x="688" y="144"/>
                </a:lnTo>
                <a:lnTo>
                  <a:pt x="687" y="142"/>
                </a:lnTo>
                <a:lnTo>
                  <a:pt x="687" y="140"/>
                </a:lnTo>
                <a:lnTo>
                  <a:pt x="687" y="138"/>
                </a:lnTo>
                <a:lnTo>
                  <a:pt x="688" y="136"/>
                </a:lnTo>
                <a:lnTo>
                  <a:pt x="689" y="135"/>
                </a:lnTo>
                <a:lnTo>
                  <a:pt x="691" y="134"/>
                </a:lnTo>
                <a:lnTo>
                  <a:pt x="693" y="134"/>
                </a:lnTo>
                <a:close/>
                <a:moveTo>
                  <a:pt x="1358" y="132"/>
                </a:moveTo>
                <a:lnTo>
                  <a:pt x="1360" y="133"/>
                </a:lnTo>
                <a:lnTo>
                  <a:pt x="1362" y="133"/>
                </a:lnTo>
                <a:lnTo>
                  <a:pt x="1363" y="134"/>
                </a:lnTo>
                <a:lnTo>
                  <a:pt x="1365" y="135"/>
                </a:lnTo>
                <a:lnTo>
                  <a:pt x="1366" y="136"/>
                </a:lnTo>
                <a:lnTo>
                  <a:pt x="1367" y="137"/>
                </a:lnTo>
                <a:lnTo>
                  <a:pt x="1368" y="139"/>
                </a:lnTo>
                <a:lnTo>
                  <a:pt x="1368" y="141"/>
                </a:lnTo>
                <a:lnTo>
                  <a:pt x="1369" y="143"/>
                </a:lnTo>
                <a:lnTo>
                  <a:pt x="1368" y="145"/>
                </a:lnTo>
                <a:lnTo>
                  <a:pt x="1368" y="146"/>
                </a:lnTo>
                <a:lnTo>
                  <a:pt x="1367" y="148"/>
                </a:lnTo>
                <a:lnTo>
                  <a:pt x="1366" y="149"/>
                </a:lnTo>
                <a:lnTo>
                  <a:pt x="1365" y="151"/>
                </a:lnTo>
                <a:lnTo>
                  <a:pt x="1363" y="152"/>
                </a:lnTo>
                <a:lnTo>
                  <a:pt x="1362" y="152"/>
                </a:lnTo>
                <a:lnTo>
                  <a:pt x="1360" y="153"/>
                </a:lnTo>
                <a:lnTo>
                  <a:pt x="1358" y="153"/>
                </a:lnTo>
                <a:lnTo>
                  <a:pt x="1356" y="153"/>
                </a:lnTo>
                <a:lnTo>
                  <a:pt x="1354" y="152"/>
                </a:lnTo>
                <a:lnTo>
                  <a:pt x="1353" y="152"/>
                </a:lnTo>
                <a:lnTo>
                  <a:pt x="1351" y="151"/>
                </a:lnTo>
                <a:lnTo>
                  <a:pt x="1350" y="149"/>
                </a:lnTo>
                <a:lnTo>
                  <a:pt x="1349" y="148"/>
                </a:lnTo>
                <a:lnTo>
                  <a:pt x="1348" y="146"/>
                </a:lnTo>
                <a:lnTo>
                  <a:pt x="1348" y="145"/>
                </a:lnTo>
                <a:lnTo>
                  <a:pt x="1348" y="143"/>
                </a:lnTo>
                <a:lnTo>
                  <a:pt x="1348" y="141"/>
                </a:lnTo>
                <a:lnTo>
                  <a:pt x="1348" y="139"/>
                </a:lnTo>
                <a:lnTo>
                  <a:pt x="1349" y="137"/>
                </a:lnTo>
                <a:lnTo>
                  <a:pt x="1350" y="136"/>
                </a:lnTo>
                <a:lnTo>
                  <a:pt x="1351" y="135"/>
                </a:lnTo>
                <a:lnTo>
                  <a:pt x="1353" y="134"/>
                </a:lnTo>
                <a:lnTo>
                  <a:pt x="1354" y="133"/>
                </a:lnTo>
                <a:lnTo>
                  <a:pt x="1356" y="133"/>
                </a:lnTo>
                <a:lnTo>
                  <a:pt x="1358" y="132"/>
                </a:lnTo>
                <a:close/>
                <a:moveTo>
                  <a:pt x="565" y="132"/>
                </a:moveTo>
                <a:lnTo>
                  <a:pt x="567" y="132"/>
                </a:lnTo>
                <a:lnTo>
                  <a:pt x="568" y="132"/>
                </a:lnTo>
                <a:lnTo>
                  <a:pt x="570" y="133"/>
                </a:lnTo>
                <a:lnTo>
                  <a:pt x="571" y="134"/>
                </a:lnTo>
                <a:lnTo>
                  <a:pt x="573" y="135"/>
                </a:lnTo>
                <a:lnTo>
                  <a:pt x="574" y="136"/>
                </a:lnTo>
                <a:lnTo>
                  <a:pt x="575" y="138"/>
                </a:lnTo>
                <a:lnTo>
                  <a:pt x="575" y="139"/>
                </a:lnTo>
                <a:lnTo>
                  <a:pt x="576" y="141"/>
                </a:lnTo>
                <a:lnTo>
                  <a:pt x="576" y="143"/>
                </a:lnTo>
                <a:lnTo>
                  <a:pt x="576" y="145"/>
                </a:lnTo>
                <a:lnTo>
                  <a:pt x="575" y="146"/>
                </a:lnTo>
                <a:lnTo>
                  <a:pt x="575" y="148"/>
                </a:lnTo>
                <a:lnTo>
                  <a:pt x="574" y="149"/>
                </a:lnTo>
                <a:lnTo>
                  <a:pt x="573" y="151"/>
                </a:lnTo>
                <a:lnTo>
                  <a:pt x="571" y="152"/>
                </a:lnTo>
                <a:lnTo>
                  <a:pt x="570" y="153"/>
                </a:lnTo>
                <a:lnTo>
                  <a:pt x="568" y="153"/>
                </a:lnTo>
                <a:lnTo>
                  <a:pt x="567" y="154"/>
                </a:lnTo>
                <a:lnTo>
                  <a:pt x="565" y="154"/>
                </a:lnTo>
                <a:lnTo>
                  <a:pt x="563" y="154"/>
                </a:lnTo>
                <a:lnTo>
                  <a:pt x="561" y="153"/>
                </a:lnTo>
                <a:lnTo>
                  <a:pt x="560" y="153"/>
                </a:lnTo>
                <a:lnTo>
                  <a:pt x="558" y="152"/>
                </a:lnTo>
                <a:lnTo>
                  <a:pt x="557" y="151"/>
                </a:lnTo>
                <a:lnTo>
                  <a:pt x="556" y="149"/>
                </a:lnTo>
                <a:lnTo>
                  <a:pt x="555" y="148"/>
                </a:lnTo>
                <a:lnTo>
                  <a:pt x="554" y="146"/>
                </a:lnTo>
                <a:lnTo>
                  <a:pt x="554" y="145"/>
                </a:lnTo>
                <a:lnTo>
                  <a:pt x="554" y="143"/>
                </a:lnTo>
                <a:lnTo>
                  <a:pt x="554" y="141"/>
                </a:lnTo>
                <a:lnTo>
                  <a:pt x="554" y="139"/>
                </a:lnTo>
                <a:lnTo>
                  <a:pt x="555" y="138"/>
                </a:lnTo>
                <a:lnTo>
                  <a:pt x="556" y="136"/>
                </a:lnTo>
                <a:lnTo>
                  <a:pt x="557" y="135"/>
                </a:lnTo>
                <a:lnTo>
                  <a:pt x="558" y="134"/>
                </a:lnTo>
                <a:lnTo>
                  <a:pt x="560" y="133"/>
                </a:lnTo>
                <a:lnTo>
                  <a:pt x="561" y="132"/>
                </a:lnTo>
                <a:lnTo>
                  <a:pt x="563" y="132"/>
                </a:lnTo>
                <a:lnTo>
                  <a:pt x="565" y="132"/>
                </a:lnTo>
                <a:close/>
                <a:moveTo>
                  <a:pt x="1230" y="130"/>
                </a:moveTo>
                <a:lnTo>
                  <a:pt x="1232" y="130"/>
                </a:lnTo>
                <a:lnTo>
                  <a:pt x="1233" y="130"/>
                </a:lnTo>
                <a:lnTo>
                  <a:pt x="1235" y="131"/>
                </a:lnTo>
                <a:lnTo>
                  <a:pt x="1236" y="132"/>
                </a:lnTo>
                <a:lnTo>
                  <a:pt x="1238" y="133"/>
                </a:lnTo>
                <a:lnTo>
                  <a:pt x="1238" y="133"/>
                </a:lnTo>
                <a:lnTo>
                  <a:pt x="1231" y="131"/>
                </a:lnTo>
                <a:lnTo>
                  <a:pt x="1227" y="130"/>
                </a:lnTo>
                <a:lnTo>
                  <a:pt x="1228" y="130"/>
                </a:lnTo>
                <a:lnTo>
                  <a:pt x="1230" y="130"/>
                </a:lnTo>
                <a:close/>
                <a:moveTo>
                  <a:pt x="502" y="119"/>
                </a:moveTo>
                <a:lnTo>
                  <a:pt x="504" y="119"/>
                </a:lnTo>
                <a:lnTo>
                  <a:pt x="506" y="120"/>
                </a:lnTo>
                <a:lnTo>
                  <a:pt x="508" y="121"/>
                </a:lnTo>
                <a:lnTo>
                  <a:pt x="509" y="122"/>
                </a:lnTo>
                <a:lnTo>
                  <a:pt x="509" y="124"/>
                </a:lnTo>
                <a:lnTo>
                  <a:pt x="510" y="126"/>
                </a:lnTo>
                <a:lnTo>
                  <a:pt x="509" y="128"/>
                </a:lnTo>
                <a:lnTo>
                  <a:pt x="509" y="130"/>
                </a:lnTo>
                <a:lnTo>
                  <a:pt x="508" y="131"/>
                </a:lnTo>
                <a:lnTo>
                  <a:pt x="506" y="132"/>
                </a:lnTo>
                <a:lnTo>
                  <a:pt x="504" y="133"/>
                </a:lnTo>
                <a:lnTo>
                  <a:pt x="502" y="133"/>
                </a:lnTo>
                <a:lnTo>
                  <a:pt x="500" y="133"/>
                </a:lnTo>
                <a:lnTo>
                  <a:pt x="499" y="132"/>
                </a:lnTo>
                <a:lnTo>
                  <a:pt x="497" y="131"/>
                </a:lnTo>
                <a:lnTo>
                  <a:pt x="496" y="130"/>
                </a:lnTo>
                <a:lnTo>
                  <a:pt x="495" y="128"/>
                </a:lnTo>
                <a:lnTo>
                  <a:pt x="495" y="126"/>
                </a:lnTo>
                <a:lnTo>
                  <a:pt x="495" y="124"/>
                </a:lnTo>
                <a:lnTo>
                  <a:pt x="496" y="122"/>
                </a:lnTo>
                <a:lnTo>
                  <a:pt x="497" y="121"/>
                </a:lnTo>
                <a:lnTo>
                  <a:pt x="499" y="120"/>
                </a:lnTo>
                <a:lnTo>
                  <a:pt x="500" y="119"/>
                </a:lnTo>
                <a:lnTo>
                  <a:pt x="502" y="119"/>
                </a:lnTo>
                <a:close/>
                <a:moveTo>
                  <a:pt x="1420" y="117"/>
                </a:moveTo>
                <a:lnTo>
                  <a:pt x="1422" y="117"/>
                </a:lnTo>
                <a:lnTo>
                  <a:pt x="1424" y="117"/>
                </a:lnTo>
                <a:lnTo>
                  <a:pt x="1425" y="118"/>
                </a:lnTo>
                <a:lnTo>
                  <a:pt x="1427" y="119"/>
                </a:lnTo>
                <a:lnTo>
                  <a:pt x="1428" y="121"/>
                </a:lnTo>
                <a:lnTo>
                  <a:pt x="1429" y="122"/>
                </a:lnTo>
                <a:lnTo>
                  <a:pt x="1429" y="124"/>
                </a:lnTo>
                <a:lnTo>
                  <a:pt x="1430" y="126"/>
                </a:lnTo>
                <a:lnTo>
                  <a:pt x="1429" y="128"/>
                </a:lnTo>
                <a:lnTo>
                  <a:pt x="1429" y="130"/>
                </a:lnTo>
                <a:lnTo>
                  <a:pt x="1428" y="131"/>
                </a:lnTo>
                <a:lnTo>
                  <a:pt x="1427" y="132"/>
                </a:lnTo>
                <a:lnTo>
                  <a:pt x="1425" y="134"/>
                </a:lnTo>
                <a:lnTo>
                  <a:pt x="1424" y="134"/>
                </a:lnTo>
                <a:lnTo>
                  <a:pt x="1422" y="135"/>
                </a:lnTo>
                <a:lnTo>
                  <a:pt x="1420" y="135"/>
                </a:lnTo>
                <a:lnTo>
                  <a:pt x="1418" y="135"/>
                </a:lnTo>
                <a:lnTo>
                  <a:pt x="1417" y="134"/>
                </a:lnTo>
                <a:lnTo>
                  <a:pt x="1415" y="134"/>
                </a:lnTo>
                <a:lnTo>
                  <a:pt x="1414" y="132"/>
                </a:lnTo>
                <a:lnTo>
                  <a:pt x="1413" y="131"/>
                </a:lnTo>
                <a:lnTo>
                  <a:pt x="1412" y="130"/>
                </a:lnTo>
                <a:lnTo>
                  <a:pt x="1411" y="128"/>
                </a:lnTo>
                <a:lnTo>
                  <a:pt x="1411" y="126"/>
                </a:lnTo>
                <a:lnTo>
                  <a:pt x="1411" y="124"/>
                </a:lnTo>
                <a:lnTo>
                  <a:pt x="1412" y="122"/>
                </a:lnTo>
                <a:lnTo>
                  <a:pt x="1413" y="121"/>
                </a:lnTo>
                <a:lnTo>
                  <a:pt x="1414" y="119"/>
                </a:lnTo>
                <a:lnTo>
                  <a:pt x="1415" y="118"/>
                </a:lnTo>
                <a:lnTo>
                  <a:pt x="1417" y="117"/>
                </a:lnTo>
                <a:lnTo>
                  <a:pt x="1418" y="117"/>
                </a:lnTo>
                <a:lnTo>
                  <a:pt x="1420" y="117"/>
                </a:lnTo>
                <a:close/>
                <a:moveTo>
                  <a:pt x="759" y="115"/>
                </a:moveTo>
                <a:lnTo>
                  <a:pt x="760" y="115"/>
                </a:lnTo>
                <a:lnTo>
                  <a:pt x="762" y="116"/>
                </a:lnTo>
                <a:lnTo>
                  <a:pt x="764" y="117"/>
                </a:lnTo>
                <a:lnTo>
                  <a:pt x="765" y="118"/>
                </a:lnTo>
                <a:lnTo>
                  <a:pt x="765" y="120"/>
                </a:lnTo>
                <a:lnTo>
                  <a:pt x="766" y="122"/>
                </a:lnTo>
                <a:lnTo>
                  <a:pt x="765" y="124"/>
                </a:lnTo>
                <a:lnTo>
                  <a:pt x="765" y="125"/>
                </a:lnTo>
                <a:lnTo>
                  <a:pt x="764" y="126"/>
                </a:lnTo>
                <a:lnTo>
                  <a:pt x="757" y="128"/>
                </a:lnTo>
                <a:lnTo>
                  <a:pt x="755" y="128"/>
                </a:lnTo>
                <a:lnTo>
                  <a:pt x="754" y="127"/>
                </a:lnTo>
                <a:lnTo>
                  <a:pt x="753" y="125"/>
                </a:lnTo>
                <a:lnTo>
                  <a:pt x="752" y="124"/>
                </a:lnTo>
                <a:lnTo>
                  <a:pt x="752" y="122"/>
                </a:lnTo>
                <a:lnTo>
                  <a:pt x="752" y="120"/>
                </a:lnTo>
                <a:lnTo>
                  <a:pt x="753" y="118"/>
                </a:lnTo>
                <a:lnTo>
                  <a:pt x="754" y="117"/>
                </a:lnTo>
                <a:lnTo>
                  <a:pt x="755" y="116"/>
                </a:lnTo>
                <a:lnTo>
                  <a:pt x="757" y="115"/>
                </a:lnTo>
                <a:lnTo>
                  <a:pt x="759" y="115"/>
                </a:lnTo>
                <a:close/>
                <a:moveTo>
                  <a:pt x="1164" y="111"/>
                </a:moveTo>
                <a:lnTo>
                  <a:pt x="1166" y="112"/>
                </a:lnTo>
                <a:lnTo>
                  <a:pt x="1168" y="112"/>
                </a:lnTo>
                <a:lnTo>
                  <a:pt x="1169" y="113"/>
                </a:lnTo>
                <a:lnTo>
                  <a:pt x="1171" y="114"/>
                </a:lnTo>
                <a:lnTo>
                  <a:pt x="1172" y="115"/>
                </a:lnTo>
                <a:lnTo>
                  <a:pt x="1173" y="116"/>
                </a:lnTo>
                <a:lnTo>
                  <a:pt x="1173" y="117"/>
                </a:lnTo>
                <a:lnTo>
                  <a:pt x="1167" y="115"/>
                </a:lnTo>
                <a:lnTo>
                  <a:pt x="1158" y="113"/>
                </a:lnTo>
                <a:lnTo>
                  <a:pt x="1159" y="113"/>
                </a:lnTo>
                <a:lnTo>
                  <a:pt x="1161" y="112"/>
                </a:lnTo>
                <a:lnTo>
                  <a:pt x="1162" y="112"/>
                </a:lnTo>
                <a:lnTo>
                  <a:pt x="1164" y="111"/>
                </a:lnTo>
                <a:close/>
                <a:moveTo>
                  <a:pt x="1296" y="105"/>
                </a:moveTo>
                <a:lnTo>
                  <a:pt x="1297" y="105"/>
                </a:lnTo>
                <a:lnTo>
                  <a:pt x="1299" y="106"/>
                </a:lnTo>
                <a:lnTo>
                  <a:pt x="1301" y="106"/>
                </a:lnTo>
                <a:lnTo>
                  <a:pt x="1302" y="107"/>
                </a:lnTo>
                <a:lnTo>
                  <a:pt x="1304" y="109"/>
                </a:lnTo>
                <a:lnTo>
                  <a:pt x="1305" y="110"/>
                </a:lnTo>
                <a:lnTo>
                  <a:pt x="1305" y="112"/>
                </a:lnTo>
                <a:lnTo>
                  <a:pt x="1306" y="113"/>
                </a:lnTo>
                <a:lnTo>
                  <a:pt x="1306" y="115"/>
                </a:lnTo>
                <a:lnTo>
                  <a:pt x="1306" y="117"/>
                </a:lnTo>
                <a:lnTo>
                  <a:pt x="1305" y="119"/>
                </a:lnTo>
                <a:lnTo>
                  <a:pt x="1305" y="121"/>
                </a:lnTo>
                <a:lnTo>
                  <a:pt x="1304" y="122"/>
                </a:lnTo>
                <a:lnTo>
                  <a:pt x="1302" y="123"/>
                </a:lnTo>
                <a:lnTo>
                  <a:pt x="1301" y="124"/>
                </a:lnTo>
                <a:lnTo>
                  <a:pt x="1299" y="125"/>
                </a:lnTo>
                <a:lnTo>
                  <a:pt x="1297" y="126"/>
                </a:lnTo>
                <a:lnTo>
                  <a:pt x="1296" y="126"/>
                </a:lnTo>
                <a:lnTo>
                  <a:pt x="1294" y="126"/>
                </a:lnTo>
                <a:lnTo>
                  <a:pt x="1292" y="125"/>
                </a:lnTo>
                <a:lnTo>
                  <a:pt x="1290" y="124"/>
                </a:lnTo>
                <a:lnTo>
                  <a:pt x="1289" y="123"/>
                </a:lnTo>
                <a:lnTo>
                  <a:pt x="1288" y="122"/>
                </a:lnTo>
                <a:lnTo>
                  <a:pt x="1286" y="121"/>
                </a:lnTo>
                <a:lnTo>
                  <a:pt x="1286" y="119"/>
                </a:lnTo>
                <a:lnTo>
                  <a:pt x="1285" y="117"/>
                </a:lnTo>
                <a:lnTo>
                  <a:pt x="1285" y="115"/>
                </a:lnTo>
                <a:lnTo>
                  <a:pt x="1285" y="113"/>
                </a:lnTo>
                <a:lnTo>
                  <a:pt x="1286" y="112"/>
                </a:lnTo>
                <a:lnTo>
                  <a:pt x="1286" y="110"/>
                </a:lnTo>
                <a:lnTo>
                  <a:pt x="1288" y="109"/>
                </a:lnTo>
                <a:lnTo>
                  <a:pt x="1289" y="107"/>
                </a:lnTo>
                <a:lnTo>
                  <a:pt x="1290" y="106"/>
                </a:lnTo>
                <a:lnTo>
                  <a:pt x="1292" y="106"/>
                </a:lnTo>
                <a:lnTo>
                  <a:pt x="1294" y="105"/>
                </a:lnTo>
                <a:lnTo>
                  <a:pt x="1296" y="105"/>
                </a:lnTo>
                <a:close/>
                <a:moveTo>
                  <a:pt x="627" y="104"/>
                </a:moveTo>
                <a:lnTo>
                  <a:pt x="629" y="105"/>
                </a:lnTo>
                <a:lnTo>
                  <a:pt x="631" y="105"/>
                </a:lnTo>
                <a:lnTo>
                  <a:pt x="632" y="106"/>
                </a:lnTo>
                <a:lnTo>
                  <a:pt x="634" y="107"/>
                </a:lnTo>
                <a:lnTo>
                  <a:pt x="635" y="108"/>
                </a:lnTo>
                <a:lnTo>
                  <a:pt x="636" y="109"/>
                </a:lnTo>
                <a:lnTo>
                  <a:pt x="637" y="110"/>
                </a:lnTo>
                <a:lnTo>
                  <a:pt x="638" y="112"/>
                </a:lnTo>
                <a:lnTo>
                  <a:pt x="638" y="114"/>
                </a:lnTo>
                <a:lnTo>
                  <a:pt x="638" y="115"/>
                </a:lnTo>
                <a:lnTo>
                  <a:pt x="638" y="117"/>
                </a:lnTo>
                <a:lnTo>
                  <a:pt x="638" y="119"/>
                </a:lnTo>
                <a:lnTo>
                  <a:pt x="637" y="120"/>
                </a:lnTo>
                <a:lnTo>
                  <a:pt x="636" y="122"/>
                </a:lnTo>
                <a:lnTo>
                  <a:pt x="635" y="123"/>
                </a:lnTo>
                <a:lnTo>
                  <a:pt x="634" y="124"/>
                </a:lnTo>
                <a:lnTo>
                  <a:pt x="632" y="125"/>
                </a:lnTo>
                <a:lnTo>
                  <a:pt x="631" y="126"/>
                </a:lnTo>
                <a:lnTo>
                  <a:pt x="629" y="126"/>
                </a:lnTo>
                <a:lnTo>
                  <a:pt x="627" y="126"/>
                </a:lnTo>
                <a:lnTo>
                  <a:pt x="626" y="126"/>
                </a:lnTo>
                <a:lnTo>
                  <a:pt x="624" y="126"/>
                </a:lnTo>
                <a:lnTo>
                  <a:pt x="622" y="125"/>
                </a:lnTo>
                <a:lnTo>
                  <a:pt x="621" y="124"/>
                </a:lnTo>
                <a:lnTo>
                  <a:pt x="620" y="123"/>
                </a:lnTo>
                <a:lnTo>
                  <a:pt x="619" y="122"/>
                </a:lnTo>
                <a:lnTo>
                  <a:pt x="618" y="120"/>
                </a:lnTo>
                <a:lnTo>
                  <a:pt x="617" y="119"/>
                </a:lnTo>
                <a:lnTo>
                  <a:pt x="617" y="117"/>
                </a:lnTo>
                <a:lnTo>
                  <a:pt x="616" y="115"/>
                </a:lnTo>
                <a:lnTo>
                  <a:pt x="617" y="114"/>
                </a:lnTo>
                <a:lnTo>
                  <a:pt x="617" y="112"/>
                </a:lnTo>
                <a:lnTo>
                  <a:pt x="618" y="110"/>
                </a:lnTo>
                <a:lnTo>
                  <a:pt x="619" y="109"/>
                </a:lnTo>
                <a:lnTo>
                  <a:pt x="620" y="108"/>
                </a:lnTo>
                <a:lnTo>
                  <a:pt x="621" y="107"/>
                </a:lnTo>
                <a:lnTo>
                  <a:pt x="622" y="106"/>
                </a:lnTo>
                <a:lnTo>
                  <a:pt x="624" y="105"/>
                </a:lnTo>
                <a:lnTo>
                  <a:pt x="626" y="105"/>
                </a:lnTo>
                <a:lnTo>
                  <a:pt x="627" y="104"/>
                </a:lnTo>
                <a:close/>
                <a:moveTo>
                  <a:pt x="826" y="101"/>
                </a:moveTo>
                <a:lnTo>
                  <a:pt x="827" y="101"/>
                </a:lnTo>
                <a:lnTo>
                  <a:pt x="829" y="101"/>
                </a:lnTo>
                <a:lnTo>
                  <a:pt x="830" y="102"/>
                </a:lnTo>
                <a:lnTo>
                  <a:pt x="832" y="104"/>
                </a:lnTo>
                <a:lnTo>
                  <a:pt x="832" y="105"/>
                </a:lnTo>
                <a:lnTo>
                  <a:pt x="833" y="107"/>
                </a:lnTo>
                <a:lnTo>
                  <a:pt x="833" y="108"/>
                </a:lnTo>
                <a:lnTo>
                  <a:pt x="833" y="110"/>
                </a:lnTo>
                <a:lnTo>
                  <a:pt x="833" y="111"/>
                </a:lnTo>
                <a:lnTo>
                  <a:pt x="832" y="111"/>
                </a:lnTo>
                <a:lnTo>
                  <a:pt x="820" y="113"/>
                </a:lnTo>
                <a:lnTo>
                  <a:pt x="820" y="113"/>
                </a:lnTo>
                <a:lnTo>
                  <a:pt x="819" y="112"/>
                </a:lnTo>
                <a:lnTo>
                  <a:pt x="819" y="110"/>
                </a:lnTo>
                <a:lnTo>
                  <a:pt x="818" y="108"/>
                </a:lnTo>
                <a:lnTo>
                  <a:pt x="819" y="107"/>
                </a:lnTo>
                <a:lnTo>
                  <a:pt x="819" y="105"/>
                </a:lnTo>
                <a:lnTo>
                  <a:pt x="820" y="104"/>
                </a:lnTo>
                <a:lnTo>
                  <a:pt x="821" y="102"/>
                </a:lnTo>
                <a:lnTo>
                  <a:pt x="822" y="101"/>
                </a:lnTo>
                <a:lnTo>
                  <a:pt x="824" y="101"/>
                </a:lnTo>
                <a:lnTo>
                  <a:pt x="826" y="101"/>
                </a:lnTo>
                <a:close/>
                <a:moveTo>
                  <a:pt x="1097" y="99"/>
                </a:moveTo>
                <a:lnTo>
                  <a:pt x="1099" y="99"/>
                </a:lnTo>
                <a:lnTo>
                  <a:pt x="1101" y="99"/>
                </a:lnTo>
                <a:lnTo>
                  <a:pt x="1102" y="100"/>
                </a:lnTo>
                <a:lnTo>
                  <a:pt x="1104" y="101"/>
                </a:lnTo>
                <a:lnTo>
                  <a:pt x="1105" y="102"/>
                </a:lnTo>
                <a:lnTo>
                  <a:pt x="1106" y="104"/>
                </a:lnTo>
                <a:lnTo>
                  <a:pt x="1106" y="105"/>
                </a:lnTo>
                <a:lnTo>
                  <a:pt x="1102" y="104"/>
                </a:lnTo>
                <a:lnTo>
                  <a:pt x="1090" y="103"/>
                </a:lnTo>
                <a:lnTo>
                  <a:pt x="1090" y="102"/>
                </a:lnTo>
                <a:lnTo>
                  <a:pt x="1091" y="101"/>
                </a:lnTo>
                <a:lnTo>
                  <a:pt x="1093" y="100"/>
                </a:lnTo>
                <a:lnTo>
                  <a:pt x="1094" y="99"/>
                </a:lnTo>
                <a:lnTo>
                  <a:pt x="1096" y="99"/>
                </a:lnTo>
                <a:lnTo>
                  <a:pt x="1097" y="99"/>
                </a:lnTo>
                <a:close/>
                <a:moveTo>
                  <a:pt x="893" y="92"/>
                </a:moveTo>
                <a:lnTo>
                  <a:pt x="895" y="93"/>
                </a:lnTo>
                <a:lnTo>
                  <a:pt x="897" y="93"/>
                </a:lnTo>
                <a:lnTo>
                  <a:pt x="898" y="94"/>
                </a:lnTo>
                <a:lnTo>
                  <a:pt x="900" y="95"/>
                </a:lnTo>
                <a:lnTo>
                  <a:pt x="901" y="97"/>
                </a:lnTo>
                <a:lnTo>
                  <a:pt x="901" y="98"/>
                </a:lnTo>
                <a:lnTo>
                  <a:pt x="901" y="100"/>
                </a:lnTo>
                <a:lnTo>
                  <a:pt x="901" y="101"/>
                </a:lnTo>
                <a:lnTo>
                  <a:pt x="898" y="102"/>
                </a:lnTo>
                <a:lnTo>
                  <a:pt x="886" y="103"/>
                </a:lnTo>
                <a:lnTo>
                  <a:pt x="886" y="102"/>
                </a:lnTo>
                <a:lnTo>
                  <a:pt x="885" y="100"/>
                </a:lnTo>
                <a:lnTo>
                  <a:pt x="886" y="98"/>
                </a:lnTo>
                <a:lnTo>
                  <a:pt x="886" y="97"/>
                </a:lnTo>
                <a:lnTo>
                  <a:pt x="887" y="95"/>
                </a:lnTo>
                <a:lnTo>
                  <a:pt x="888" y="94"/>
                </a:lnTo>
                <a:lnTo>
                  <a:pt x="890" y="93"/>
                </a:lnTo>
                <a:lnTo>
                  <a:pt x="892" y="93"/>
                </a:lnTo>
                <a:lnTo>
                  <a:pt x="893" y="92"/>
                </a:lnTo>
                <a:close/>
                <a:moveTo>
                  <a:pt x="1030" y="91"/>
                </a:moveTo>
                <a:lnTo>
                  <a:pt x="1032" y="92"/>
                </a:lnTo>
                <a:lnTo>
                  <a:pt x="1033" y="92"/>
                </a:lnTo>
                <a:lnTo>
                  <a:pt x="1035" y="93"/>
                </a:lnTo>
                <a:lnTo>
                  <a:pt x="1036" y="94"/>
                </a:lnTo>
                <a:lnTo>
                  <a:pt x="1037" y="95"/>
                </a:lnTo>
                <a:lnTo>
                  <a:pt x="1038" y="97"/>
                </a:lnTo>
                <a:lnTo>
                  <a:pt x="1039" y="98"/>
                </a:lnTo>
                <a:lnTo>
                  <a:pt x="1035" y="98"/>
                </a:lnTo>
                <a:lnTo>
                  <a:pt x="1021" y="98"/>
                </a:lnTo>
                <a:lnTo>
                  <a:pt x="1021" y="97"/>
                </a:lnTo>
                <a:lnTo>
                  <a:pt x="1022" y="95"/>
                </a:lnTo>
                <a:lnTo>
                  <a:pt x="1023" y="94"/>
                </a:lnTo>
                <a:lnTo>
                  <a:pt x="1025" y="93"/>
                </a:lnTo>
                <a:lnTo>
                  <a:pt x="1026" y="92"/>
                </a:lnTo>
                <a:lnTo>
                  <a:pt x="1028" y="92"/>
                </a:lnTo>
                <a:lnTo>
                  <a:pt x="1030" y="91"/>
                </a:lnTo>
                <a:close/>
                <a:moveTo>
                  <a:pt x="961" y="89"/>
                </a:moveTo>
                <a:lnTo>
                  <a:pt x="963" y="89"/>
                </a:lnTo>
                <a:lnTo>
                  <a:pt x="965" y="90"/>
                </a:lnTo>
                <a:lnTo>
                  <a:pt x="966" y="91"/>
                </a:lnTo>
                <a:lnTo>
                  <a:pt x="967" y="92"/>
                </a:lnTo>
                <a:lnTo>
                  <a:pt x="968" y="93"/>
                </a:lnTo>
                <a:lnTo>
                  <a:pt x="969" y="94"/>
                </a:lnTo>
                <a:lnTo>
                  <a:pt x="970" y="96"/>
                </a:lnTo>
                <a:lnTo>
                  <a:pt x="970" y="97"/>
                </a:lnTo>
                <a:lnTo>
                  <a:pt x="966" y="97"/>
                </a:lnTo>
                <a:lnTo>
                  <a:pt x="953" y="98"/>
                </a:lnTo>
                <a:lnTo>
                  <a:pt x="953" y="98"/>
                </a:lnTo>
                <a:lnTo>
                  <a:pt x="953" y="96"/>
                </a:lnTo>
                <a:lnTo>
                  <a:pt x="954" y="94"/>
                </a:lnTo>
                <a:lnTo>
                  <a:pt x="955" y="93"/>
                </a:lnTo>
                <a:lnTo>
                  <a:pt x="956" y="92"/>
                </a:lnTo>
                <a:lnTo>
                  <a:pt x="957" y="91"/>
                </a:lnTo>
                <a:lnTo>
                  <a:pt x="958" y="90"/>
                </a:lnTo>
                <a:lnTo>
                  <a:pt x="960" y="89"/>
                </a:lnTo>
                <a:lnTo>
                  <a:pt x="961" y="89"/>
                </a:lnTo>
                <a:close/>
                <a:moveTo>
                  <a:pt x="564" y="88"/>
                </a:moveTo>
                <a:lnTo>
                  <a:pt x="565" y="88"/>
                </a:lnTo>
                <a:lnTo>
                  <a:pt x="567" y="88"/>
                </a:lnTo>
                <a:lnTo>
                  <a:pt x="568" y="89"/>
                </a:lnTo>
                <a:lnTo>
                  <a:pt x="570" y="91"/>
                </a:lnTo>
                <a:lnTo>
                  <a:pt x="570" y="92"/>
                </a:lnTo>
                <a:lnTo>
                  <a:pt x="571" y="94"/>
                </a:lnTo>
                <a:lnTo>
                  <a:pt x="571" y="95"/>
                </a:lnTo>
                <a:lnTo>
                  <a:pt x="571" y="97"/>
                </a:lnTo>
                <a:lnTo>
                  <a:pt x="570" y="99"/>
                </a:lnTo>
                <a:lnTo>
                  <a:pt x="570" y="100"/>
                </a:lnTo>
                <a:lnTo>
                  <a:pt x="568" y="101"/>
                </a:lnTo>
                <a:lnTo>
                  <a:pt x="567" y="102"/>
                </a:lnTo>
                <a:lnTo>
                  <a:pt x="565" y="103"/>
                </a:lnTo>
                <a:lnTo>
                  <a:pt x="564" y="103"/>
                </a:lnTo>
                <a:lnTo>
                  <a:pt x="562" y="103"/>
                </a:lnTo>
                <a:lnTo>
                  <a:pt x="560" y="102"/>
                </a:lnTo>
                <a:lnTo>
                  <a:pt x="559" y="101"/>
                </a:lnTo>
                <a:lnTo>
                  <a:pt x="558" y="100"/>
                </a:lnTo>
                <a:lnTo>
                  <a:pt x="557" y="99"/>
                </a:lnTo>
                <a:lnTo>
                  <a:pt x="556" y="97"/>
                </a:lnTo>
                <a:lnTo>
                  <a:pt x="556" y="95"/>
                </a:lnTo>
                <a:lnTo>
                  <a:pt x="556" y="94"/>
                </a:lnTo>
                <a:lnTo>
                  <a:pt x="557" y="92"/>
                </a:lnTo>
                <a:lnTo>
                  <a:pt x="558" y="91"/>
                </a:lnTo>
                <a:lnTo>
                  <a:pt x="559" y="89"/>
                </a:lnTo>
                <a:lnTo>
                  <a:pt x="560" y="88"/>
                </a:lnTo>
                <a:lnTo>
                  <a:pt x="562" y="88"/>
                </a:lnTo>
                <a:lnTo>
                  <a:pt x="564" y="88"/>
                </a:lnTo>
                <a:close/>
                <a:moveTo>
                  <a:pt x="1359" y="86"/>
                </a:moveTo>
                <a:lnTo>
                  <a:pt x="1361" y="86"/>
                </a:lnTo>
                <a:lnTo>
                  <a:pt x="1363" y="87"/>
                </a:lnTo>
                <a:lnTo>
                  <a:pt x="1364" y="87"/>
                </a:lnTo>
                <a:lnTo>
                  <a:pt x="1366" y="89"/>
                </a:lnTo>
                <a:lnTo>
                  <a:pt x="1367" y="90"/>
                </a:lnTo>
                <a:lnTo>
                  <a:pt x="1368" y="91"/>
                </a:lnTo>
                <a:lnTo>
                  <a:pt x="1368" y="93"/>
                </a:lnTo>
                <a:lnTo>
                  <a:pt x="1369" y="95"/>
                </a:lnTo>
                <a:lnTo>
                  <a:pt x="1368" y="97"/>
                </a:lnTo>
                <a:lnTo>
                  <a:pt x="1368" y="99"/>
                </a:lnTo>
                <a:lnTo>
                  <a:pt x="1367" y="100"/>
                </a:lnTo>
                <a:lnTo>
                  <a:pt x="1366" y="102"/>
                </a:lnTo>
                <a:lnTo>
                  <a:pt x="1364" y="103"/>
                </a:lnTo>
                <a:lnTo>
                  <a:pt x="1363" y="104"/>
                </a:lnTo>
                <a:lnTo>
                  <a:pt x="1361" y="104"/>
                </a:lnTo>
                <a:lnTo>
                  <a:pt x="1359" y="104"/>
                </a:lnTo>
                <a:lnTo>
                  <a:pt x="1357" y="104"/>
                </a:lnTo>
                <a:lnTo>
                  <a:pt x="1356" y="104"/>
                </a:lnTo>
                <a:lnTo>
                  <a:pt x="1354" y="103"/>
                </a:lnTo>
                <a:lnTo>
                  <a:pt x="1353" y="102"/>
                </a:lnTo>
                <a:lnTo>
                  <a:pt x="1351" y="100"/>
                </a:lnTo>
                <a:lnTo>
                  <a:pt x="1351" y="99"/>
                </a:lnTo>
                <a:lnTo>
                  <a:pt x="1350" y="97"/>
                </a:lnTo>
                <a:lnTo>
                  <a:pt x="1350" y="95"/>
                </a:lnTo>
                <a:lnTo>
                  <a:pt x="1350" y="93"/>
                </a:lnTo>
                <a:lnTo>
                  <a:pt x="1351" y="91"/>
                </a:lnTo>
                <a:lnTo>
                  <a:pt x="1351" y="90"/>
                </a:lnTo>
                <a:lnTo>
                  <a:pt x="1353" y="89"/>
                </a:lnTo>
                <a:lnTo>
                  <a:pt x="1354" y="87"/>
                </a:lnTo>
                <a:lnTo>
                  <a:pt x="1356" y="87"/>
                </a:lnTo>
                <a:lnTo>
                  <a:pt x="1357" y="86"/>
                </a:lnTo>
                <a:lnTo>
                  <a:pt x="1359" y="86"/>
                </a:lnTo>
                <a:close/>
                <a:moveTo>
                  <a:pt x="1231" y="82"/>
                </a:moveTo>
                <a:lnTo>
                  <a:pt x="1233" y="82"/>
                </a:lnTo>
                <a:lnTo>
                  <a:pt x="1234" y="83"/>
                </a:lnTo>
                <a:lnTo>
                  <a:pt x="1236" y="83"/>
                </a:lnTo>
                <a:lnTo>
                  <a:pt x="1237" y="84"/>
                </a:lnTo>
                <a:lnTo>
                  <a:pt x="1239" y="85"/>
                </a:lnTo>
                <a:lnTo>
                  <a:pt x="1240" y="86"/>
                </a:lnTo>
                <a:lnTo>
                  <a:pt x="1241" y="88"/>
                </a:lnTo>
                <a:lnTo>
                  <a:pt x="1241" y="89"/>
                </a:lnTo>
                <a:lnTo>
                  <a:pt x="1242" y="91"/>
                </a:lnTo>
                <a:lnTo>
                  <a:pt x="1242" y="93"/>
                </a:lnTo>
                <a:lnTo>
                  <a:pt x="1242" y="95"/>
                </a:lnTo>
                <a:lnTo>
                  <a:pt x="1241" y="96"/>
                </a:lnTo>
                <a:lnTo>
                  <a:pt x="1241" y="98"/>
                </a:lnTo>
                <a:lnTo>
                  <a:pt x="1240" y="99"/>
                </a:lnTo>
                <a:lnTo>
                  <a:pt x="1239" y="100"/>
                </a:lnTo>
                <a:lnTo>
                  <a:pt x="1237" y="101"/>
                </a:lnTo>
                <a:lnTo>
                  <a:pt x="1236" y="102"/>
                </a:lnTo>
                <a:lnTo>
                  <a:pt x="1234" y="103"/>
                </a:lnTo>
                <a:lnTo>
                  <a:pt x="1233" y="103"/>
                </a:lnTo>
                <a:lnTo>
                  <a:pt x="1231" y="103"/>
                </a:lnTo>
                <a:lnTo>
                  <a:pt x="1229" y="103"/>
                </a:lnTo>
                <a:lnTo>
                  <a:pt x="1228" y="103"/>
                </a:lnTo>
                <a:lnTo>
                  <a:pt x="1226" y="102"/>
                </a:lnTo>
                <a:lnTo>
                  <a:pt x="1225" y="101"/>
                </a:lnTo>
                <a:lnTo>
                  <a:pt x="1223" y="100"/>
                </a:lnTo>
                <a:lnTo>
                  <a:pt x="1222" y="99"/>
                </a:lnTo>
                <a:lnTo>
                  <a:pt x="1221" y="98"/>
                </a:lnTo>
                <a:lnTo>
                  <a:pt x="1221" y="96"/>
                </a:lnTo>
                <a:lnTo>
                  <a:pt x="1220" y="95"/>
                </a:lnTo>
                <a:lnTo>
                  <a:pt x="1220" y="93"/>
                </a:lnTo>
                <a:lnTo>
                  <a:pt x="1220" y="91"/>
                </a:lnTo>
                <a:lnTo>
                  <a:pt x="1221" y="89"/>
                </a:lnTo>
                <a:lnTo>
                  <a:pt x="1221" y="88"/>
                </a:lnTo>
                <a:lnTo>
                  <a:pt x="1222" y="86"/>
                </a:lnTo>
                <a:lnTo>
                  <a:pt x="1223" y="85"/>
                </a:lnTo>
                <a:lnTo>
                  <a:pt x="1225" y="84"/>
                </a:lnTo>
                <a:lnTo>
                  <a:pt x="1226" y="83"/>
                </a:lnTo>
                <a:lnTo>
                  <a:pt x="1228" y="83"/>
                </a:lnTo>
                <a:lnTo>
                  <a:pt x="1229" y="82"/>
                </a:lnTo>
                <a:lnTo>
                  <a:pt x="1231" y="82"/>
                </a:lnTo>
                <a:close/>
                <a:moveTo>
                  <a:pt x="692" y="82"/>
                </a:moveTo>
                <a:lnTo>
                  <a:pt x="694" y="82"/>
                </a:lnTo>
                <a:lnTo>
                  <a:pt x="696" y="83"/>
                </a:lnTo>
                <a:lnTo>
                  <a:pt x="697" y="83"/>
                </a:lnTo>
                <a:lnTo>
                  <a:pt x="699" y="84"/>
                </a:lnTo>
                <a:lnTo>
                  <a:pt x="700" y="85"/>
                </a:lnTo>
                <a:lnTo>
                  <a:pt x="701" y="87"/>
                </a:lnTo>
                <a:lnTo>
                  <a:pt x="702" y="88"/>
                </a:lnTo>
                <a:lnTo>
                  <a:pt x="703" y="90"/>
                </a:lnTo>
                <a:lnTo>
                  <a:pt x="703" y="91"/>
                </a:lnTo>
                <a:lnTo>
                  <a:pt x="703" y="93"/>
                </a:lnTo>
                <a:lnTo>
                  <a:pt x="703" y="95"/>
                </a:lnTo>
                <a:lnTo>
                  <a:pt x="703" y="96"/>
                </a:lnTo>
                <a:lnTo>
                  <a:pt x="702" y="98"/>
                </a:lnTo>
                <a:lnTo>
                  <a:pt x="701" y="99"/>
                </a:lnTo>
                <a:lnTo>
                  <a:pt x="700" y="101"/>
                </a:lnTo>
                <a:lnTo>
                  <a:pt x="699" y="102"/>
                </a:lnTo>
                <a:lnTo>
                  <a:pt x="697" y="103"/>
                </a:lnTo>
                <a:lnTo>
                  <a:pt x="696" y="103"/>
                </a:lnTo>
                <a:lnTo>
                  <a:pt x="694" y="104"/>
                </a:lnTo>
                <a:lnTo>
                  <a:pt x="692" y="104"/>
                </a:lnTo>
                <a:lnTo>
                  <a:pt x="690" y="104"/>
                </a:lnTo>
                <a:lnTo>
                  <a:pt x="689" y="103"/>
                </a:lnTo>
                <a:lnTo>
                  <a:pt x="687" y="103"/>
                </a:lnTo>
                <a:lnTo>
                  <a:pt x="686" y="102"/>
                </a:lnTo>
                <a:lnTo>
                  <a:pt x="684" y="101"/>
                </a:lnTo>
                <a:lnTo>
                  <a:pt x="683" y="99"/>
                </a:lnTo>
                <a:lnTo>
                  <a:pt x="682" y="98"/>
                </a:lnTo>
                <a:lnTo>
                  <a:pt x="682" y="96"/>
                </a:lnTo>
                <a:lnTo>
                  <a:pt x="681" y="95"/>
                </a:lnTo>
                <a:lnTo>
                  <a:pt x="681" y="93"/>
                </a:lnTo>
                <a:lnTo>
                  <a:pt x="681" y="91"/>
                </a:lnTo>
                <a:lnTo>
                  <a:pt x="682" y="90"/>
                </a:lnTo>
                <a:lnTo>
                  <a:pt x="682" y="88"/>
                </a:lnTo>
                <a:lnTo>
                  <a:pt x="683" y="87"/>
                </a:lnTo>
                <a:lnTo>
                  <a:pt x="684" y="85"/>
                </a:lnTo>
                <a:lnTo>
                  <a:pt x="686" y="84"/>
                </a:lnTo>
                <a:lnTo>
                  <a:pt x="687" y="83"/>
                </a:lnTo>
                <a:lnTo>
                  <a:pt x="689" y="83"/>
                </a:lnTo>
                <a:lnTo>
                  <a:pt x="690" y="82"/>
                </a:lnTo>
                <a:lnTo>
                  <a:pt x="692" y="82"/>
                </a:lnTo>
                <a:close/>
                <a:moveTo>
                  <a:pt x="1165" y="64"/>
                </a:moveTo>
                <a:lnTo>
                  <a:pt x="1167" y="64"/>
                </a:lnTo>
                <a:lnTo>
                  <a:pt x="1168" y="65"/>
                </a:lnTo>
                <a:lnTo>
                  <a:pt x="1170" y="66"/>
                </a:lnTo>
                <a:lnTo>
                  <a:pt x="1171" y="66"/>
                </a:lnTo>
                <a:lnTo>
                  <a:pt x="1172" y="67"/>
                </a:lnTo>
                <a:lnTo>
                  <a:pt x="1173" y="69"/>
                </a:lnTo>
                <a:lnTo>
                  <a:pt x="1174" y="70"/>
                </a:lnTo>
                <a:lnTo>
                  <a:pt x="1175" y="72"/>
                </a:lnTo>
                <a:lnTo>
                  <a:pt x="1175" y="73"/>
                </a:lnTo>
                <a:lnTo>
                  <a:pt x="1175" y="75"/>
                </a:lnTo>
                <a:lnTo>
                  <a:pt x="1175" y="77"/>
                </a:lnTo>
                <a:lnTo>
                  <a:pt x="1175" y="78"/>
                </a:lnTo>
                <a:lnTo>
                  <a:pt x="1174" y="80"/>
                </a:lnTo>
                <a:lnTo>
                  <a:pt x="1173" y="81"/>
                </a:lnTo>
                <a:lnTo>
                  <a:pt x="1172" y="83"/>
                </a:lnTo>
                <a:lnTo>
                  <a:pt x="1171" y="84"/>
                </a:lnTo>
                <a:lnTo>
                  <a:pt x="1170" y="85"/>
                </a:lnTo>
                <a:lnTo>
                  <a:pt x="1168" y="85"/>
                </a:lnTo>
                <a:lnTo>
                  <a:pt x="1167" y="86"/>
                </a:lnTo>
                <a:lnTo>
                  <a:pt x="1165" y="86"/>
                </a:lnTo>
                <a:lnTo>
                  <a:pt x="1163" y="86"/>
                </a:lnTo>
                <a:lnTo>
                  <a:pt x="1162" y="85"/>
                </a:lnTo>
                <a:lnTo>
                  <a:pt x="1160" y="85"/>
                </a:lnTo>
                <a:lnTo>
                  <a:pt x="1159" y="84"/>
                </a:lnTo>
                <a:lnTo>
                  <a:pt x="1158" y="83"/>
                </a:lnTo>
                <a:lnTo>
                  <a:pt x="1157" y="81"/>
                </a:lnTo>
                <a:lnTo>
                  <a:pt x="1156" y="80"/>
                </a:lnTo>
                <a:lnTo>
                  <a:pt x="1155" y="78"/>
                </a:lnTo>
                <a:lnTo>
                  <a:pt x="1155" y="77"/>
                </a:lnTo>
                <a:lnTo>
                  <a:pt x="1155" y="75"/>
                </a:lnTo>
                <a:lnTo>
                  <a:pt x="1155" y="73"/>
                </a:lnTo>
                <a:lnTo>
                  <a:pt x="1155" y="72"/>
                </a:lnTo>
                <a:lnTo>
                  <a:pt x="1156" y="70"/>
                </a:lnTo>
                <a:lnTo>
                  <a:pt x="1157" y="69"/>
                </a:lnTo>
                <a:lnTo>
                  <a:pt x="1158" y="67"/>
                </a:lnTo>
                <a:lnTo>
                  <a:pt x="1159" y="66"/>
                </a:lnTo>
                <a:lnTo>
                  <a:pt x="1160" y="66"/>
                </a:lnTo>
                <a:lnTo>
                  <a:pt x="1162" y="65"/>
                </a:lnTo>
                <a:lnTo>
                  <a:pt x="1163" y="64"/>
                </a:lnTo>
                <a:lnTo>
                  <a:pt x="1165" y="64"/>
                </a:lnTo>
                <a:close/>
                <a:moveTo>
                  <a:pt x="758" y="64"/>
                </a:moveTo>
                <a:lnTo>
                  <a:pt x="760" y="64"/>
                </a:lnTo>
                <a:lnTo>
                  <a:pt x="761" y="65"/>
                </a:lnTo>
                <a:lnTo>
                  <a:pt x="763" y="66"/>
                </a:lnTo>
                <a:lnTo>
                  <a:pt x="764" y="66"/>
                </a:lnTo>
                <a:lnTo>
                  <a:pt x="766" y="68"/>
                </a:lnTo>
                <a:lnTo>
                  <a:pt x="767" y="69"/>
                </a:lnTo>
                <a:lnTo>
                  <a:pt x="768" y="70"/>
                </a:lnTo>
                <a:lnTo>
                  <a:pt x="768" y="72"/>
                </a:lnTo>
                <a:lnTo>
                  <a:pt x="769" y="74"/>
                </a:lnTo>
                <a:lnTo>
                  <a:pt x="769" y="75"/>
                </a:lnTo>
                <a:lnTo>
                  <a:pt x="769" y="77"/>
                </a:lnTo>
                <a:lnTo>
                  <a:pt x="768" y="79"/>
                </a:lnTo>
                <a:lnTo>
                  <a:pt x="768" y="80"/>
                </a:lnTo>
                <a:lnTo>
                  <a:pt x="767" y="82"/>
                </a:lnTo>
                <a:lnTo>
                  <a:pt x="766" y="83"/>
                </a:lnTo>
                <a:lnTo>
                  <a:pt x="764" y="84"/>
                </a:lnTo>
                <a:lnTo>
                  <a:pt x="763" y="85"/>
                </a:lnTo>
                <a:lnTo>
                  <a:pt x="761" y="86"/>
                </a:lnTo>
                <a:lnTo>
                  <a:pt x="760" y="86"/>
                </a:lnTo>
                <a:lnTo>
                  <a:pt x="758" y="86"/>
                </a:lnTo>
                <a:lnTo>
                  <a:pt x="756" y="86"/>
                </a:lnTo>
                <a:lnTo>
                  <a:pt x="754" y="86"/>
                </a:lnTo>
                <a:lnTo>
                  <a:pt x="753" y="85"/>
                </a:lnTo>
                <a:lnTo>
                  <a:pt x="751" y="84"/>
                </a:lnTo>
                <a:lnTo>
                  <a:pt x="750" y="83"/>
                </a:lnTo>
                <a:lnTo>
                  <a:pt x="749" y="82"/>
                </a:lnTo>
                <a:lnTo>
                  <a:pt x="748" y="80"/>
                </a:lnTo>
                <a:lnTo>
                  <a:pt x="748" y="79"/>
                </a:lnTo>
                <a:lnTo>
                  <a:pt x="747" y="77"/>
                </a:lnTo>
                <a:lnTo>
                  <a:pt x="747" y="75"/>
                </a:lnTo>
                <a:lnTo>
                  <a:pt x="747" y="74"/>
                </a:lnTo>
                <a:lnTo>
                  <a:pt x="748" y="72"/>
                </a:lnTo>
                <a:lnTo>
                  <a:pt x="748" y="70"/>
                </a:lnTo>
                <a:lnTo>
                  <a:pt x="749" y="69"/>
                </a:lnTo>
                <a:lnTo>
                  <a:pt x="750" y="68"/>
                </a:lnTo>
                <a:lnTo>
                  <a:pt x="751" y="66"/>
                </a:lnTo>
                <a:lnTo>
                  <a:pt x="753" y="66"/>
                </a:lnTo>
                <a:lnTo>
                  <a:pt x="754" y="65"/>
                </a:lnTo>
                <a:lnTo>
                  <a:pt x="756" y="64"/>
                </a:lnTo>
                <a:lnTo>
                  <a:pt x="758" y="64"/>
                </a:lnTo>
                <a:close/>
                <a:moveTo>
                  <a:pt x="627" y="62"/>
                </a:moveTo>
                <a:lnTo>
                  <a:pt x="628" y="62"/>
                </a:lnTo>
                <a:lnTo>
                  <a:pt x="630" y="62"/>
                </a:lnTo>
                <a:lnTo>
                  <a:pt x="632" y="63"/>
                </a:lnTo>
                <a:lnTo>
                  <a:pt x="633" y="64"/>
                </a:lnTo>
                <a:lnTo>
                  <a:pt x="634" y="66"/>
                </a:lnTo>
                <a:lnTo>
                  <a:pt x="634" y="67"/>
                </a:lnTo>
                <a:lnTo>
                  <a:pt x="635" y="69"/>
                </a:lnTo>
                <a:lnTo>
                  <a:pt x="634" y="71"/>
                </a:lnTo>
                <a:lnTo>
                  <a:pt x="634" y="73"/>
                </a:lnTo>
                <a:lnTo>
                  <a:pt x="633" y="74"/>
                </a:lnTo>
                <a:lnTo>
                  <a:pt x="632" y="75"/>
                </a:lnTo>
                <a:lnTo>
                  <a:pt x="630" y="76"/>
                </a:lnTo>
                <a:lnTo>
                  <a:pt x="628" y="77"/>
                </a:lnTo>
                <a:lnTo>
                  <a:pt x="627" y="77"/>
                </a:lnTo>
                <a:lnTo>
                  <a:pt x="625" y="77"/>
                </a:lnTo>
                <a:lnTo>
                  <a:pt x="623" y="76"/>
                </a:lnTo>
                <a:lnTo>
                  <a:pt x="622" y="75"/>
                </a:lnTo>
                <a:lnTo>
                  <a:pt x="620" y="74"/>
                </a:lnTo>
                <a:lnTo>
                  <a:pt x="620" y="73"/>
                </a:lnTo>
                <a:lnTo>
                  <a:pt x="619" y="71"/>
                </a:lnTo>
                <a:lnTo>
                  <a:pt x="619" y="69"/>
                </a:lnTo>
                <a:lnTo>
                  <a:pt x="619" y="67"/>
                </a:lnTo>
                <a:lnTo>
                  <a:pt x="620" y="66"/>
                </a:lnTo>
                <a:lnTo>
                  <a:pt x="620" y="64"/>
                </a:lnTo>
                <a:lnTo>
                  <a:pt x="622" y="63"/>
                </a:lnTo>
                <a:lnTo>
                  <a:pt x="623" y="62"/>
                </a:lnTo>
                <a:lnTo>
                  <a:pt x="625" y="62"/>
                </a:lnTo>
                <a:lnTo>
                  <a:pt x="627" y="62"/>
                </a:lnTo>
                <a:close/>
                <a:moveTo>
                  <a:pt x="1296" y="60"/>
                </a:moveTo>
                <a:lnTo>
                  <a:pt x="1298" y="60"/>
                </a:lnTo>
                <a:lnTo>
                  <a:pt x="1300" y="60"/>
                </a:lnTo>
                <a:lnTo>
                  <a:pt x="1301" y="61"/>
                </a:lnTo>
                <a:lnTo>
                  <a:pt x="1303" y="62"/>
                </a:lnTo>
                <a:lnTo>
                  <a:pt x="1304" y="64"/>
                </a:lnTo>
                <a:lnTo>
                  <a:pt x="1305" y="65"/>
                </a:lnTo>
                <a:lnTo>
                  <a:pt x="1305" y="67"/>
                </a:lnTo>
                <a:lnTo>
                  <a:pt x="1306" y="69"/>
                </a:lnTo>
                <a:lnTo>
                  <a:pt x="1305" y="71"/>
                </a:lnTo>
                <a:lnTo>
                  <a:pt x="1305" y="73"/>
                </a:lnTo>
                <a:lnTo>
                  <a:pt x="1304" y="74"/>
                </a:lnTo>
                <a:lnTo>
                  <a:pt x="1303" y="76"/>
                </a:lnTo>
                <a:lnTo>
                  <a:pt x="1301" y="77"/>
                </a:lnTo>
                <a:lnTo>
                  <a:pt x="1300" y="78"/>
                </a:lnTo>
                <a:lnTo>
                  <a:pt x="1298" y="78"/>
                </a:lnTo>
                <a:lnTo>
                  <a:pt x="1296" y="78"/>
                </a:lnTo>
                <a:lnTo>
                  <a:pt x="1294" y="78"/>
                </a:lnTo>
                <a:lnTo>
                  <a:pt x="1293" y="78"/>
                </a:lnTo>
                <a:lnTo>
                  <a:pt x="1291" y="77"/>
                </a:lnTo>
                <a:lnTo>
                  <a:pt x="1290" y="76"/>
                </a:lnTo>
                <a:lnTo>
                  <a:pt x="1289" y="74"/>
                </a:lnTo>
                <a:lnTo>
                  <a:pt x="1288" y="73"/>
                </a:lnTo>
                <a:lnTo>
                  <a:pt x="1287" y="71"/>
                </a:lnTo>
                <a:lnTo>
                  <a:pt x="1287" y="69"/>
                </a:lnTo>
                <a:lnTo>
                  <a:pt x="1287" y="67"/>
                </a:lnTo>
                <a:lnTo>
                  <a:pt x="1288" y="65"/>
                </a:lnTo>
                <a:lnTo>
                  <a:pt x="1289" y="64"/>
                </a:lnTo>
                <a:lnTo>
                  <a:pt x="1290" y="62"/>
                </a:lnTo>
                <a:lnTo>
                  <a:pt x="1291" y="61"/>
                </a:lnTo>
                <a:lnTo>
                  <a:pt x="1293" y="60"/>
                </a:lnTo>
                <a:lnTo>
                  <a:pt x="1294" y="60"/>
                </a:lnTo>
                <a:lnTo>
                  <a:pt x="1296" y="60"/>
                </a:lnTo>
                <a:close/>
                <a:moveTo>
                  <a:pt x="1098" y="52"/>
                </a:moveTo>
                <a:lnTo>
                  <a:pt x="1100" y="52"/>
                </a:lnTo>
                <a:lnTo>
                  <a:pt x="1101" y="52"/>
                </a:lnTo>
                <a:lnTo>
                  <a:pt x="1103" y="53"/>
                </a:lnTo>
                <a:lnTo>
                  <a:pt x="1104" y="54"/>
                </a:lnTo>
                <a:lnTo>
                  <a:pt x="1105" y="55"/>
                </a:lnTo>
                <a:lnTo>
                  <a:pt x="1106" y="56"/>
                </a:lnTo>
                <a:lnTo>
                  <a:pt x="1107" y="58"/>
                </a:lnTo>
                <a:lnTo>
                  <a:pt x="1108" y="59"/>
                </a:lnTo>
                <a:lnTo>
                  <a:pt x="1108" y="61"/>
                </a:lnTo>
                <a:lnTo>
                  <a:pt x="1108" y="62"/>
                </a:lnTo>
                <a:lnTo>
                  <a:pt x="1108" y="64"/>
                </a:lnTo>
                <a:lnTo>
                  <a:pt x="1108" y="66"/>
                </a:lnTo>
                <a:lnTo>
                  <a:pt x="1107" y="67"/>
                </a:lnTo>
                <a:lnTo>
                  <a:pt x="1106" y="69"/>
                </a:lnTo>
                <a:lnTo>
                  <a:pt x="1105" y="70"/>
                </a:lnTo>
                <a:lnTo>
                  <a:pt x="1104" y="71"/>
                </a:lnTo>
                <a:lnTo>
                  <a:pt x="1103" y="72"/>
                </a:lnTo>
                <a:lnTo>
                  <a:pt x="1101" y="73"/>
                </a:lnTo>
                <a:lnTo>
                  <a:pt x="1100" y="73"/>
                </a:lnTo>
                <a:lnTo>
                  <a:pt x="1098" y="73"/>
                </a:lnTo>
                <a:lnTo>
                  <a:pt x="1096" y="73"/>
                </a:lnTo>
                <a:lnTo>
                  <a:pt x="1095" y="73"/>
                </a:lnTo>
                <a:lnTo>
                  <a:pt x="1093" y="72"/>
                </a:lnTo>
                <a:lnTo>
                  <a:pt x="1092" y="71"/>
                </a:lnTo>
                <a:lnTo>
                  <a:pt x="1090" y="70"/>
                </a:lnTo>
                <a:lnTo>
                  <a:pt x="1089" y="69"/>
                </a:lnTo>
                <a:lnTo>
                  <a:pt x="1089" y="67"/>
                </a:lnTo>
                <a:lnTo>
                  <a:pt x="1088" y="66"/>
                </a:lnTo>
                <a:lnTo>
                  <a:pt x="1087" y="64"/>
                </a:lnTo>
                <a:lnTo>
                  <a:pt x="1087" y="62"/>
                </a:lnTo>
                <a:lnTo>
                  <a:pt x="1087" y="61"/>
                </a:lnTo>
                <a:lnTo>
                  <a:pt x="1088" y="59"/>
                </a:lnTo>
                <a:lnTo>
                  <a:pt x="1089" y="58"/>
                </a:lnTo>
                <a:lnTo>
                  <a:pt x="1089" y="56"/>
                </a:lnTo>
                <a:lnTo>
                  <a:pt x="1090" y="55"/>
                </a:lnTo>
                <a:lnTo>
                  <a:pt x="1092" y="54"/>
                </a:lnTo>
                <a:lnTo>
                  <a:pt x="1093" y="53"/>
                </a:lnTo>
                <a:lnTo>
                  <a:pt x="1095" y="52"/>
                </a:lnTo>
                <a:lnTo>
                  <a:pt x="1096" y="52"/>
                </a:lnTo>
                <a:lnTo>
                  <a:pt x="1098" y="52"/>
                </a:lnTo>
                <a:close/>
                <a:moveTo>
                  <a:pt x="825" y="52"/>
                </a:moveTo>
                <a:lnTo>
                  <a:pt x="827" y="52"/>
                </a:lnTo>
                <a:lnTo>
                  <a:pt x="829" y="52"/>
                </a:lnTo>
                <a:lnTo>
                  <a:pt x="830" y="53"/>
                </a:lnTo>
                <a:lnTo>
                  <a:pt x="832" y="54"/>
                </a:lnTo>
                <a:lnTo>
                  <a:pt x="833" y="55"/>
                </a:lnTo>
                <a:lnTo>
                  <a:pt x="834" y="56"/>
                </a:lnTo>
                <a:lnTo>
                  <a:pt x="835" y="58"/>
                </a:lnTo>
                <a:lnTo>
                  <a:pt x="835" y="59"/>
                </a:lnTo>
                <a:lnTo>
                  <a:pt x="836" y="61"/>
                </a:lnTo>
                <a:lnTo>
                  <a:pt x="836" y="62"/>
                </a:lnTo>
                <a:lnTo>
                  <a:pt x="836" y="64"/>
                </a:lnTo>
                <a:lnTo>
                  <a:pt x="835" y="66"/>
                </a:lnTo>
                <a:lnTo>
                  <a:pt x="835" y="67"/>
                </a:lnTo>
                <a:lnTo>
                  <a:pt x="834" y="69"/>
                </a:lnTo>
                <a:lnTo>
                  <a:pt x="833" y="70"/>
                </a:lnTo>
                <a:lnTo>
                  <a:pt x="832" y="71"/>
                </a:lnTo>
                <a:lnTo>
                  <a:pt x="830" y="72"/>
                </a:lnTo>
                <a:lnTo>
                  <a:pt x="829" y="73"/>
                </a:lnTo>
                <a:lnTo>
                  <a:pt x="827" y="73"/>
                </a:lnTo>
                <a:lnTo>
                  <a:pt x="825" y="73"/>
                </a:lnTo>
                <a:lnTo>
                  <a:pt x="823" y="73"/>
                </a:lnTo>
                <a:lnTo>
                  <a:pt x="822" y="73"/>
                </a:lnTo>
                <a:lnTo>
                  <a:pt x="820" y="72"/>
                </a:lnTo>
                <a:lnTo>
                  <a:pt x="819" y="71"/>
                </a:lnTo>
                <a:lnTo>
                  <a:pt x="817" y="70"/>
                </a:lnTo>
                <a:lnTo>
                  <a:pt x="816" y="69"/>
                </a:lnTo>
                <a:lnTo>
                  <a:pt x="815" y="67"/>
                </a:lnTo>
                <a:lnTo>
                  <a:pt x="815" y="66"/>
                </a:lnTo>
                <a:lnTo>
                  <a:pt x="814" y="64"/>
                </a:lnTo>
                <a:lnTo>
                  <a:pt x="814" y="62"/>
                </a:lnTo>
                <a:lnTo>
                  <a:pt x="814" y="61"/>
                </a:lnTo>
                <a:lnTo>
                  <a:pt x="815" y="59"/>
                </a:lnTo>
                <a:lnTo>
                  <a:pt x="815" y="58"/>
                </a:lnTo>
                <a:lnTo>
                  <a:pt x="816" y="56"/>
                </a:lnTo>
                <a:lnTo>
                  <a:pt x="817" y="55"/>
                </a:lnTo>
                <a:lnTo>
                  <a:pt x="819" y="54"/>
                </a:lnTo>
                <a:lnTo>
                  <a:pt x="820" y="53"/>
                </a:lnTo>
                <a:lnTo>
                  <a:pt x="822" y="52"/>
                </a:lnTo>
                <a:lnTo>
                  <a:pt x="823" y="52"/>
                </a:lnTo>
                <a:lnTo>
                  <a:pt x="825" y="52"/>
                </a:lnTo>
                <a:close/>
                <a:moveTo>
                  <a:pt x="1030" y="44"/>
                </a:moveTo>
                <a:lnTo>
                  <a:pt x="1032" y="44"/>
                </a:lnTo>
                <a:lnTo>
                  <a:pt x="1033" y="45"/>
                </a:lnTo>
                <a:lnTo>
                  <a:pt x="1035" y="45"/>
                </a:lnTo>
                <a:lnTo>
                  <a:pt x="1036" y="46"/>
                </a:lnTo>
                <a:lnTo>
                  <a:pt x="1038" y="47"/>
                </a:lnTo>
                <a:lnTo>
                  <a:pt x="1039" y="49"/>
                </a:lnTo>
                <a:lnTo>
                  <a:pt x="1040" y="50"/>
                </a:lnTo>
                <a:lnTo>
                  <a:pt x="1040" y="51"/>
                </a:lnTo>
                <a:lnTo>
                  <a:pt x="1041" y="53"/>
                </a:lnTo>
                <a:lnTo>
                  <a:pt x="1041" y="55"/>
                </a:lnTo>
                <a:lnTo>
                  <a:pt x="1041" y="56"/>
                </a:lnTo>
                <a:lnTo>
                  <a:pt x="1040" y="58"/>
                </a:lnTo>
                <a:lnTo>
                  <a:pt x="1040" y="60"/>
                </a:lnTo>
                <a:lnTo>
                  <a:pt x="1039" y="61"/>
                </a:lnTo>
                <a:lnTo>
                  <a:pt x="1038" y="62"/>
                </a:lnTo>
                <a:lnTo>
                  <a:pt x="1036" y="63"/>
                </a:lnTo>
                <a:lnTo>
                  <a:pt x="1035" y="64"/>
                </a:lnTo>
                <a:lnTo>
                  <a:pt x="1033" y="65"/>
                </a:lnTo>
                <a:lnTo>
                  <a:pt x="1032" y="65"/>
                </a:lnTo>
                <a:lnTo>
                  <a:pt x="1030" y="65"/>
                </a:lnTo>
                <a:lnTo>
                  <a:pt x="1028" y="65"/>
                </a:lnTo>
                <a:lnTo>
                  <a:pt x="1026" y="65"/>
                </a:lnTo>
                <a:lnTo>
                  <a:pt x="1025" y="64"/>
                </a:lnTo>
                <a:lnTo>
                  <a:pt x="1023" y="63"/>
                </a:lnTo>
                <a:lnTo>
                  <a:pt x="1022" y="62"/>
                </a:lnTo>
                <a:lnTo>
                  <a:pt x="1021" y="61"/>
                </a:lnTo>
                <a:lnTo>
                  <a:pt x="1020" y="60"/>
                </a:lnTo>
                <a:lnTo>
                  <a:pt x="1019" y="58"/>
                </a:lnTo>
                <a:lnTo>
                  <a:pt x="1019" y="56"/>
                </a:lnTo>
                <a:lnTo>
                  <a:pt x="1019" y="55"/>
                </a:lnTo>
                <a:lnTo>
                  <a:pt x="1019" y="53"/>
                </a:lnTo>
                <a:lnTo>
                  <a:pt x="1019" y="51"/>
                </a:lnTo>
                <a:lnTo>
                  <a:pt x="1020" y="50"/>
                </a:lnTo>
                <a:lnTo>
                  <a:pt x="1021" y="49"/>
                </a:lnTo>
                <a:lnTo>
                  <a:pt x="1022" y="47"/>
                </a:lnTo>
                <a:lnTo>
                  <a:pt x="1023" y="46"/>
                </a:lnTo>
                <a:lnTo>
                  <a:pt x="1025" y="45"/>
                </a:lnTo>
                <a:lnTo>
                  <a:pt x="1026" y="45"/>
                </a:lnTo>
                <a:lnTo>
                  <a:pt x="1028" y="44"/>
                </a:lnTo>
                <a:lnTo>
                  <a:pt x="1030" y="44"/>
                </a:lnTo>
                <a:close/>
                <a:moveTo>
                  <a:pt x="893" y="44"/>
                </a:moveTo>
                <a:lnTo>
                  <a:pt x="895" y="44"/>
                </a:lnTo>
                <a:lnTo>
                  <a:pt x="897" y="44"/>
                </a:lnTo>
                <a:lnTo>
                  <a:pt x="898" y="45"/>
                </a:lnTo>
                <a:lnTo>
                  <a:pt x="900" y="46"/>
                </a:lnTo>
                <a:lnTo>
                  <a:pt x="901" y="47"/>
                </a:lnTo>
                <a:lnTo>
                  <a:pt x="902" y="48"/>
                </a:lnTo>
                <a:lnTo>
                  <a:pt x="903" y="50"/>
                </a:lnTo>
                <a:lnTo>
                  <a:pt x="904" y="51"/>
                </a:lnTo>
                <a:lnTo>
                  <a:pt x="904" y="53"/>
                </a:lnTo>
                <a:lnTo>
                  <a:pt x="904" y="55"/>
                </a:lnTo>
                <a:lnTo>
                  <a:pt x="904" y="57"/>
                </a:lnTo>
                <a:lnTo>
                  <a:pt x="904" y="58"/>
                </a:lnTo>
                <a:lnTo>
                  <a:pt x="903" y="60"/>
                </a:lnTo>
                <a:lnTo>
                  <a:pt x="902" y="61"/>
                </a:lnTo>
                <a:lnTo>
                  <a:pt x="901" y="63"/>
                </a:lnTo>
                <a:lnTo>
                  <a:pt x="900" y="64"/>
                </a:lnTo>
                <a:lnTo>
                  <a:pt x="898" y="65"/>
                </a:lnTo>
                <a:lnTo>
                  <a:pt x="897" y="65"/>
                </a:lnTo>
                <a:lnTo>
                  <a:pt x="895" y="66"/>
                </a:lnTo>
                <a:lnTo>
                  <a:pt x="893" y="66"/>
                </a:lnTo>
                <a:lnTo>
                  <a:pt x="891" y="66"/>
                </a:lnTo>
                <a:lnTo>
                  <a:pt x="890" y="65"/>
                </a:lnTo>
                <a:lnTo>
                  <a:pt x="888" y="65"/>
                </a:lnTo>
                <a:lnTo>
                  <a:pt x="887" y="64"/>
                </a:lnTo>
                <a:lnTo>
                  <a:pt x="885" y="63"/>
                </a:lnTo>
                <a:lnTo>
                  <a:pt x="884" y="61"/>
                </a:lnTo>
                <a:lnTo>
                  <a:pt x="883" y="60"/>
                </a:lnTo>
                <a:lnTo>
                  <a:pt x="883" y="58"/>
                </a:lnTo>
                <a:lnTo>
                  <a:pt x="882" y="57"/>
                </a:lnTo>
                <a:lnTo>
                  <a:pt x="882" y="55"/>
                </a:lnTo>
                <a:lnTo>
                  <a:pt x="882" y="53"/>
                </a:lnTo>
                <a:lnTo>
                  <a:pt x="883" y="51"/>
                </a:lnTo>
                <a:lnTo>
                  <a:pt x="883" y="50"/>
                </a:lnTo>
                <a:lnTo>
                  <a:pt x="884" y="48"/>
                </a:lnTo>
                <a:lnTo>
                  <a:pt x="885" y="47"/>
                </a:lnTo>
                <a:lnTo>
                  <a:pt x="887" y="46"/>
                </a:lnTo>
                <a:lnTo>
                  <a:pt x="888" y="45"/>
                </a:lnTo>
                <a:lnTo>
                  <a:pt x="890" y="44"/>
                </a:lnTo>
                <a:lnTo>
                  <a:pt x="891" y="44"/>
                </a:lnTo>
                <a:lnTo>
                  <a:pt x="893" y="44"/>
                </a:lnTo>
                <a:close/>
                <a:moveTo>
                  <a:pt x="961" y="41"/>
                </a:moveTo>
                <a:lnTo>
                  <a:pt x="963" y="42"/>
                </a:lnTo>
                <a:lnTo>
                  <a:pt x="965" y="42"/>
                </a:lnTo>
                <a:lnTo>
                  <a:pt x="966" y="43"/>
                </a:lnTo>
                <a:lnTo>
                  <a:pt x="968" y="44"/>
                </a:lnTo>
                <a:lnTo>
                  <a:pt x="969" y="45"/>
                </a:lnTo>
                <a:lnTo>
                  <a:pt x="970" y="46"/>
                </a:lnTo>
                <a:lnTo>
                  <a:pt x="971" y="47"/>
                </a:lnTo>
                <a:lnTo>
                  <a:pt x="972" y="49"/>
                </a:lnTo>
                <a:lnTo>
                  <a:pt x="972" y="50"/>
                </a:lnTo>
                <a:lnTo>
                  <a:pt x="972" y="52"/>
                </a:lnTo>
                <a:lnTo>
                  <a:pt x="972" y="54"/>
                </a:lnTo>
                <a:lnTo>
                  <a:pt x="972" y="56"/>
                </a:lnTo>
                <a:lnTo>
                  <a:pt x="971" y="57"/>
                </a:lnTo>
                <a:lnTo>
                  <a:pt x="970" y="59"/>
                </a:lnTo>
                <a:lnTo>
                  <a:pt x="969" y="60"/>
                </a:lnTo>
                <a:lnTo>
                  <a:pt x="968" y="61"/>
                </a:lnTo>
                <a:lnTo>
                  <a:pt x="966" y="62"/>
                </a:lnTo>
                <a:lnTo>
                  <a:pt x="965" y="62"/>
                </a:lnTo>
                <a:lnTo>
                  <a:pt x="963" y="63"/>
                </a:lnTo>
                <a:lnTo>
                  <a:pt x="961" y="63"/>
                </a:lnTo>
                <a:lnTo>
                  <a:pt x="960" y="63"/>
                </a:lnTo>
                <a:lnTo>
                  <a:pt x="958" y="62"/>
                </a:lnTo>
                <a:lnTo>
                  <a:pt x="957" y="62"/>
                </a:lnTo>
                <a:lnTo>
                  <a:pt x="955" y="61"/>
                </a:lnTo>
                <a:lnTo>
                  <a:pt x="954" y="60"/>
                </a:lnTo>
                <a:lnTo>
                  <a:pt x="953" y="59"/>
                </a:lnTo>
                <a:lnTo>
                  <a:pt x="952" y="57"/>
                </a:lnTo>
                <a:lnTo>
                  <a:pt x="951" y="56"/>
                </a:lnTo>
                <a:lnTo>
                  <a:pt x="951" y="54"/>
                </a:lnTo>
                <a:lnTo>
                  <a:pt x="951" y="52"/>
                </a:lnTo>
                <a:lnTo>
                  <a:pt x="951" y="50"/>
                </a:lnTo>
                <a:lnTo>
                  <a:pt x="951" y="49"/>
                </a:lnTo>
                <a:lnTo>
                  <a:pt x="952" y="47"/>
                </a:lnTo>
                <a:lnTo>
                  <a:pt x="953" y="46"/>
                </a:lnTo>
                <a:lnTo>
                  <a:pt x="954" y="45"/>
                </a:lnTo>
                <a:lnTo>
                  <a:pt x="955" y="44"/>
                </a:lnTo>
                <a:lnTo>
                  <a:pt x="957" y="43"/>
                </a:lnTo>
                <a:lnTo>
                  <a:pt x="958" y="42"/>
                </a:lnTo>
                <a:lnTo>
                  <a:pt x="960" y="42"/>
                </a:lnTo>
                <a:lnTo>
                  <a:pt x="961" y="41"/>
                </a:lnTo>
                <a:close/>
                <a:moveTo>
                  <a:pt x="691" y="40"/>
                </a:moveTo>
                <a:lnTo>
                  <a:pt x="693" y="40"/>
                </a:lnTo>
                <a:lnTo>
                  <a:pt x="695" y="40"/>
                </a:lnTo>
                <a:lnTo>
                  <a:pt x="696" y="41"/>
                </a:lnTo>
                <a:lnTo>
                  <a:pt x="698" y="43"/>
                </a:lnTo>
                <a:lnTo>
                  <a:pt x="699" y="44"/>
                </a:lnTo>
                <a:lnTo>
                  <a:pt x="699" y="46"/>
                </a:lnTo>
                <a:lnTo>
                  <a:pt x="699" y="48"/>
                </a:lnTo>
                <a:lnTo>
                  <a:pt x="699" y="49"/>
                </a:lnTo>
                <a:lnTo>
                  <a:pt x="699" y="51"/>
                </a:lnTo>
                <a:lnTo>
                  <a:pt x="698" y="53"/>
                </a:lnTo>
                <a:lnTo>
                  <a:pt x="696" y="54"/>
                </a:lnTo>
                <a:lnTo>
                  <a:pt x="695" y="55"/>
                </a:lnTo>
                <a:lnTo>
                  <a:pt x="693" y="55"/>
                </a:lnTo>
                <a:lnTo>
                  <a:pt x="691" y="55"/>
                </a:lnTo>
                <a:lnTo>
                  <a:pt x="690" y="55"/>
                </a:lnTo>
                <a:lnTo>
                  <a:pt x="688" y="55"/>
                </a:lnTo>
                <a:lnTo>
                  <a:pt x="687" y="54"/>
                </a:lnTo>
                <a:lnTo>
                  <a:pt x="685" y="53"/>
                </a:lnTo>
                <a:lnTo>
                  <a:pt x="684" y="51"/>
                </a:lnTo>
                <a:lnTo>
                  <a:pt x="684" y="49"/>
                </a:lnTo>
                <a:lnTo>
                  <a:pt x="684" y="48"/>
                </a:lnTo>
                <a:lnTo>
                  <a:pt x="684" y="46"/>
                </a:lnTo>
                <a:lnTo>
                  <a:pt x="684" y="44"/>
                </a:lnTo>
                <a:lnTo>
                  <a:pt x="685" y="43"/>
                </a:lnTo>
                <a:lnTo>
                  <a:pt x="687" y="41"/>
                </a:lnTo>
                <a:lnTo>
                  <a:pt x="688" y="40"/>
                </a:lnTo>
                <a:lnTo>
                  <a:pt x="690" y="40"/>
                </a:lnTo>
                <a:lnTo>
                  <a:pt x="691" y="40"/>
                </a:lnTo>
                <a:close/>
                <a:moveTo>
                  <a:pt x="1231" y="38"/>
                </a:moveTo>
                <a:lnTo>
                  <a:pt x="1233" y="38"/>
                </a:lnTo>
                <a:lnTo>
                  <a:pt x="1235" y="39"/>
                </a:lnTo>
                <a:lnTo>
                  <a:pt x="1237" y="40"/>
                </a:lnTo>
                <a:lnTo>
                  <a:pt x="1238" y="41"/>
                </a:lnTo>
                <a:lnTo>
                  <a:pt x="1239" y="42"/>
                </a:lnTo>
                <a:lnTo>
                  <a:pt x="1240" y="44"/>
                </a:lnTo>
                <a:lnTo>
                  <a:pt x="1241" y="45"/>
                </a:lnTo>
                <a:lnTo>
                  <a:pt x="1241" y="47"/>
                </a:lnTo>
                <a:lnTo>
                  <a:pt x="1241" y="49"/>
                </a:lnTo>
                <a:lnTo>
                  <a:pt x="1240" y="51"/>
                </a:lnTo>
                <a:lnTo>
                  <a:pt x="1239" y="52"/>
                </a:lnTo>
                <a:lnTo>
                  <a:pt x="1238" y="54"/>
                </a:lnTo>
                <a:lnTo>
                  <a:pt x="1237" y="55"/>
                </a:lnTo>
                <a:lnTo>
                  <a:pt x="1235" y="56"/>
                </a:lnTo>
                <a:lnTo>
                  <a:pt x="1233" y="56"/>
                </a:lnTo>
                <a:lnTo>
                  <a:pt x="1231" y="56"/>
                </a:lnTo>
                <a:lnTo>
                  <a:pt x="1230" y="56"/>
                </a:lnTo>
                <a:lnTo>
                  <a:pt x="1228" y="56"/>
                </a:lnTo>
                <a:lnTo>
                  <a:pt x="1226" y="55"/>
                </a:lnTo>
                <a:lnTo>
                  <a:pt x="1225" y="54"/>
                </a:lnTo>
                <a:lnTo>
                  <a:pt x="1224" y="52"/>
                </a:lnTo>
                <a:lnTo>
                  <a:pt x="1223" y="51"/>
                </a:lnTo>
                <a:lnTo>
                  <a:pt x="1222" y="49"/>
                </a:lnTo>
                <a:lnTo>
                  <a:pt x="1222" y="47"/>
                </a:lnTo>
                <a:lnTo>
                  <a:pt x="1222" y="45"/>
                </a:lnTo>
                <a:lnTo>
                  <a:pt x="1223" y="44"/>
                </a:lnTo>
                <a:lnTo>
                  <a:pt x="1224" y="42"/>
                </a:lnTo>
                <a:lnTo>
                  <a:pt x="1225" y="41"/>
                </a:lnTo>
                <a:lnTo>
                  <a:pt x="1226" y="40"/>
                </a:lnTo>
                <a:lnTo>
                  <a:pt x="1228" y="39"/>
                </a:lnTo>
                <a:lnTo>
                  <a:pt x="1230" y="38"/>
                </a:lnTo>
                <a:lnTo>
                  <a:pt x="1231" y="38"/>
                </a:lnTo>
                <a:close/>
                <a:moveTo>
                  <a:pt x="758" y="22"/>
                </a:moveTo>
                <a:lnTo>
                  <a:pt x="760" y="23"/>
                </a:lnTo>
                <a:lnTo>
                  <a:pt x="761" y="23"/>
                </a:lnTo>
                <a:lnTo>
                  <a:pt x="763" y="24"/>
                </a:lnTo>
                <a:lnTo>
                  <a:pt x="764" y="25"/>
                </a:lnTo>
                <a:lnTo>
                  <a:pt x="765" y="27"/>
                </a:lnTo>
                <a:lnTo>
                  <a:pt x="765" y="29"/>
                </a:lnTo>
                <a:lnTo>
                  <a:pt x="766" y="31"/>
                </a:lnTo>
                <a:lnTo>
                  <a:pt x="765" y="32"/>
                </a:lnTo>
                <a:lnTo>
                  <a:pt x="765" y="34"/>
                </a:lnTo>
                <a:lnTo>
                  <a:pt x="764" y="36"/>
                </a:lnTo>
                <a:lnTo>
                  <a:pt x="763" y="37"/>
                </a:lnTo>
                <a:lnTo>
                  <a:pt x="761" y="38"/>
                </a:lnTo>
                <a:lnTo>
                  <a:pt x="760" y="38"/>
                </a:lnTo>
                <a:lnTo>
                  <a:pt x="758" y="39"/>
                </a:lnTo>
                <a:lnTo>
                  <a:pt x="756" y="38"/>
                </a:lnTo>
                <a:lnTo>
                  <a:pt x="754" y="38"/>
                </a:lnTo>
                <a:lnTo>
                  <a:pt x="753" y="37"/>
                </a:lnTo>
                <a:lnTo>
                  <a:pt x="752" y="36"/>
                </a:lnTo>
                <a:lnTo>
                  <a:pt x="751" y="34"/>
                </a:lnTo>
                <a:lnTo>
                  <a:pt x="750" y="32"/>
                </a:lnTo>
                <a:lnTo>
                  <a:pt x="750" y="31"/>
                </a:lnTo>
                <a:lnTo>
                  <a:pt x="750" y="29"/>
                </a:lnTo>
                <a:lnTo>
                  <a:pt x="751" y="27"/>
                </a:lnTo>
                <a:lnTo>
                  <a:pt x="752" y="25"/>
                </a:lnTo>
                <a:lnTo>
                  <a:pt x="753" y="24"/>
                </a:lnTo>
                <a:lnTo>
                  <a:pt x="754" y="23"/>
                </a:lnTo>
                <a:lnTo>
                  <a:pt x="756" y="23"/>
                </a:lnTo>
                <a:lnTo>
                  <a:pt x="758" y="22"/>
                </a:lnTo>
                <a:close/>
                <a:moveTo>
                  <a:pt x="1165" y="21"/>
                </a:moveTo>
                <a:lnTo>
                  <a:pt x="1167" y="22"/>
                </a:lnTo>
                <a:lnTo>
                  <a:pt x="1169" y="22"/>
                </a:lnTo>
                <a:lnTo>
                  <a:pt x="1170" y="23"/>
                </a:lnTo>
                <a:lnTo>
                  <a:pt x="1171" y="24"/>
                </a:lnTo>
                <a:lnTo>
                  <a:pt x="1173" y="25"/>
                </a:lnTo>
                <a:lnTo>
                  <a:pt x="1173" y="27"/>
                </a:lnTo>
                <a:lnTo>
                  <a:pt x="1174" y="29"/>
                </a:lnTo>
                <a:lnTo>
                  <a:pt x="1174" y="31"/>
                </a:lnTo>
                <a:lnTo>
                  <a:pt x="1174" y="32"/>
                </a:lnTo>
                <a:lnTo>
                  <a:pt x="1173" y="34"/>
                </a:lnTo>
                <a:lnTo>
                  <a:pt x="1173" y="36"/>
                </a:lnTo>
                <a:lnTo>
                  <a:pt x="1171" y="37"/>
                </a:lnTo>
                <a:lnTo>
                  <a:pt x="1170" y="38"/>
                </a:lnTo>
                <a:lnTo>
                  <a:pt x="1169" y="39"/>
                </a:lnTo>
                <a:lnTo>
                  <a:pt x="1167" y="39"/>
                </a:lnTo>
                <a:lnTo>
                  <a:pt x="1165" y="40"/>
                </a:lnTo>
                <a:lnTo>
                  <a:pt x="1163" y="39"/>
                </a:lnTo>
                <a:lnTo>
                  <a:pt x="1161" y="39"/>
                </a:lnTo>
                <a:lnTo>
                  <a:pt x="1160" y="38"/>
                </a:lnTo>
                <a:lnTo>
                  <a:pt x="1159" y="37"/>
                </a:lnTo>
                <a:lnTo>
                  <a:pt x="1157" y="36"/>
                </a:lnTo>
                <a:lnTo>
                  <a:pt x="1157" y="34"/>
                </a:lnTo>
                <a:lnTo>
                  <a:pt x="1156" y="32"/>
                </a:lnTo>
                <a:lnTo>
                  <a:pt x="1156" y="31"/>
                </a:lnTo>
                <a:lnTo>
                  <a:pt x="1156" y="29"/>
                </a:lnTo>
                <a:lnTo>
                  <a:pt x="1157" y="27"/>
                </a:lnTo>
                <a:lnTo>
                  <a:pt x="1157" y="25"/>
                </a:lnTo>
                <a:lnTo>
                  <a:pt x="1159" y="24"/>
                </a:lnTo>
                <a:lnTo>
                  <a:pt x="1160" y="23"/>
                </a:lnTo>
                <a:lnTo>
                  <a:pt x="1161" y="22"/>
                </a:lnTo>
                <a:lnTo>
                  <a:pt x="1163" y="22"/>
                </a:lnTo>
                <a:lnTo>
                  <a:pt x="1165" y="21"/>
                </a:lnTo>
                <a:close/>
                <a:moveTo>
                  <a:pt x="825" y="10"/>
                </a:moveTo>
                <a:lnTo>
                  <a:pt x="827" y="10"/>
                </a:lnTo>
                <a:lnTo>
                  <a:pt x="829" y="11"/>
                </a:lnTo>
                <a:lnTo>
                  <a:pt x="830" y="12"/>
                </a:lnTo>
                <a:lnTo>
                  <a:pt x="831" y="13"/>
                </a:lnTo>
                <a:lnTo>
                  <a:pt x="832" y="15"/>
                </a:lnTo>
                <a:lnTo>
                  <a:pt x="833" y="17"/>
                </a:lnTo>
                <a:lnTo>
                  <a:pt x="833" y="18"/>
                </a:lnTo>
                <a:lnTo>
                  <a:pt x="833" y="20"/>
                </a:lnTo>
                <a:lnTo>
                  <a:pt x="832" y="22"/>
                </a:lnTo>
                <a:lnTo>
                  <a:pt x="831" y="24"/>
                </a:lnTo>
                <a:lnTo>
                  <a:pt x="830" y="25"/>
                </a:lnTo>
                <a:lnTo>
                  <a:pt x="829" y="26"/>
                </a:lnTo>
                <a:lnTo>
                  <a:pt x="827" y="26"/>
                </a:lnTo>
                <a:lnTo>
                  <a:pt x="825" y="27"/>
                </a:lnTo>
                <a:lnTo>
                  <a:pt x="823" y="26"/>
                </a:lnTo>
                <a:lnTo>
                  <a:pt x="821" y="26"/>
                </a:lnTo>
                <a:lnTo>
                  <a:pt x="820" y="25"/>
                </a:lnTo>
                <a:lnTo>
                  <a:pt x="819" y="24"/>
                </a:lnTo>
                <a:lnTo>
                  <a:pt x="818" y="22"/>
                </a:lnTo>
                <a:lnTo>
                  <a:pt x="817" y="20"/>
                </a:lnTo>
                <a:lnTo>
                  <a:pt x="817" y="18"/>
                </a:lnTo>
                <a:lnTo>
                  <a:pt x="817" y="17"/>
                </a:lnTo>
                <a:lnTo>
                  <a:pt x="818" y="15"/>
                </a:lnTo>
                <a:lnTo>
                  <a:pt x="819" y="13"/>
                </a:lnTo>
                <a:lnTo>
                  <a:pt x="820" y="12"/>
                </a:lnTo>
                <a:lnTo>
                  <a:pt x="821" y="11"/>
                </a:lnTo>
                <a:lnTo>
                  <a:pt x="823" y="10"/>
                </a:lnTo>
                <a:lnTo>
                  <a:pt x="825" y="10"/>
                </a:lnTo>
                <a:close/>
                <a:moveTo>
                  <a:pt x="1098" y="9"/>
                </a:moveTo>
                <a:lnTo>
                  <a:pt x="1099" y="10"/>
                </a:lnTo>
                <a:lnTo>
                  <a:pt x="1101" y="10"/>
                </a:lnTo>
                <a:lnTo>
                  <a:pt x="1103" y="11"/>
                </a:lnTo>
                <a:lnTo>
                  <a:pt x="1104" y="12"/>
                </a:lnTo>
                <a:lnTo>
                  <a:pt x="1105" y="13"/>
                </a:lnTo>
                <a:lnTo>
                  <a:pt x="1106" y="15"/>
                </a:lnTo>
                <a:lnTo>
                  <a:pt x="1106" y="17"/>
                </a:lnTo>
                <a:lnTo>
                  <a:pt x="1106" y="18"/>
                </a:lnTo>
                <a:lnTo>
                  <a:pt x="1106" y="20"/>
                </a:lnTo>
                <a:lnTo>
                  <a:pt x="1106" y="22"/>
                </a:lnTo>
                <a:lnTo>
                  <a:pt x="1105" y="23"/>
                </a:lnTo>
                <a:lnTo>
                  <a:pt x="1104" y="25"/>
                </a:lnTo>
                <a:lnTo>
                  <a:pt x="1103" y="26"/>
                </a:lnTo>
                <a:lnTo>
                  <a:pt x="1101" y="27"/>
                </a:lnTo>
                <a:lnTo>
                  <a:pt x="1099" y="27"/>
                </a:lnTo>
                <a:lnTo>
                  <a:pt x="1098" y="28"/>
                </a:lnTo>
                <a:lnTo>
                  <a:pt x="1096" y="27"/>
                </a:lnTo>
                <a:lnTo>
                  <a:pt x="1094" y="27"/>
                </a:lnTo>
                <a:lnTo>
                  <a:pt x="1093" y="26"/>
                </a:lnTo>
                <a:lnTo>
                  <a:pt x="1091" y="25"/>
                </a:lnTo>
                <a:lnTo>
                  <a:pt x="1090" y="23"/>
                </a:lnTo>
                <a:lnTo>
                  <a:pt x="1089" y="22"/>
                </a:lnTo>
                <a:lnTo>
                  <a:pt x="1089" y="20"/>
                </a:lnTo>
                <a:lnTo>
                  <a:pt x="1089" y="18"/>
                </a:lnTo>
                <a:lnTo>
                  <a:pt x="1089" y="17"/>
                </a:lnTo>
                <a:lnTo>
                  <a:pt x="1089" y="15"/>
                </a:lnTo>
                <a:lnTo>
                  <a:pt x="1090" y="13"/>
                </a:lnTo>
                <a:lnTo>
                  <a:pt x="1091" y="12"/>
                </a:lnTo>
                <a:lnTo>
                  <a:pt x="1093" y="11"/>
                </a:lnTo>
                <a:lnTo>
                  <a:pt x="1094" y="10"/>
                </a:lnTo>
                <a:lnTo>
                  <a:pt x="1096" y="10"/>
                </a:lnTo>
                <a:lnTo>
                  <a:pt x="1098" y="9"/>
                </a:lnTo>
                <a:close/>
                <a:moveTo>
                  <a:pt x="893" y="3"/>
                </a:moveTo>
                <a:lnTo>
                  <a:pt x="895" y="3"/>
                </a:lnTo>
                <a:lnTo>
                  <a:pt x="897" y="3"/>
                </a:lnTo>
                <a:lnTo>
                  <a:pt x="898" y="4"/>
                </a:lnTo>
                <a:lnTo>
                  <a:pt x="899" y="5"/>
                </a:lnTo>
                <a:lnTo>
                  <a:pt x="900" y="6"/>
                </a:lnTo>
                <a:lnTo>
                  <a:pt x="901" y="8"/>
                </a:lnTo>
                <a:lnTo>
                  <a:pt x="902" y="9"/>
                </a:lnTo>
                <a:lnTo>
                  <a:pt x="902" y="11"/>
                </a:lnTo>
                <a:lnTo>
                  <a:pt x="902" y="13"/>
                </a:lnTo>
                <a:lnTo>
                  <a:pt x="901" y="14"/>
                </a:lnTo>
                <a:lnTo>
                  <a:pt x="900" y="16"/>
                </a:lnTo>
                <a:lnTo>
                  <a:pt x="899" y="17"/>
                </a:lnTo>
                <a:lnTo>
                  <a:pt x="898" y="18"/>
                </a:lnTo>
                <a:lnTo>
                  <a:pt x="897" y="19"/>
                </a:lnTo>
                <a:lnTo>
                  <a:pt x="895" y="19"/>
                </a:lnTo>
                <a:lnTo>
                  <a:pt x="893" y="20"/>
                </a:lnTo>
                <a:lnTo>
                  <a:pt x="891" y="19"/>
                </a:lnTo>
                <a:lnTo>
                  <a:pt x="890" y="19"/>
                </a:lnTo>
                <a:lnTo>
                  <a:pt x="888" y="18"/>
                </a:lnTo>
                <a:lnTo>
                  <a:pt x="887" y="17"/>
                </a:lnTo>
                <a:lnTo>
                  <a:pt x="886" y="16"/>
                </a:lnTo>
                <a:lnTo>
                  <a:pt x="885" y="14"/>
                </a:lnTo>
                <a:lnTo>
                  <a:pt x="885" y="13"/>
                </a:lnTo>
                <a:lnTo>
                  <a:pt x="885" y="11"/>
                </a:lnTo>
                <a:lnTo>
                  <a:pt x="885" y="9"/>
                </a:lnTo>
                <a:lnTo>
                  <a:pt x="885" y="8"/>
                </a:lnTo>
                <a:lnTo>
                  <a:pt x="886" y="6"/>
                </a:lnTo>
                <a:lnTo>
                  <a:pt x="887" y="5"/>
                </a:lnTo>
                <a:lnTo>
                  <a:pt x="888" y="4"/>
                </a:lnTo>
                <a:lnTo>
                  <a:pt x="890" y="3"/>
                </a:lnTo>
                <a:lnTo>
                  <a:pt x="891" y="3"/>
                </a:lnTo>
                <a:lnTo>
                  <a:pt x="893" y="3"/>
                </a:lnTo>
                <a:close/>
                <a:moveTo>
                  <a:pt x="1030" y="2"/>
                </a:moveTo>
                <a:lnTo>
                  <a:pt x="1032" y="3"/>
                </a:lnTo>
                <a:lnTo>
                  <a:pt x="1033" y="3"/>
                </a:lnTo>
                <a:lnTo>
                  <a:pt x="1035" y="4"/>
                </a:lnTo>
                <a:lnTo>
                  <a:pt x="1036" y="5"/>
                </a:lnTo>
                <a:lnTo>
                  <a:pt x="1037" y="6"/>
                </a:lnTo>
                <a:lnTo>
                  <a:pt x="1038" y="8"/>
                </a:lnTo>
                <a:lnTo>
                  <a:pt x="1038" y="9"/>
                </a:lnTo>
                <a:lnTo>
                  <a:pt x="1038" y="11"/>
                </a:lnTo>
                <a:lnTo>
                  <a:pt x="1038" y="13"/>
                </a:lnTo>
                <a:lnTo>
                  <a:pt x="1038" y="15"/>
                </a:lnTo>
                <a:lnTo>
                  <a:pt x="1037" y="16"/>
                </a:lnTo>
                <a:lnTo>
                  <a:pt x="1036" y="17"/>
                </a:lnTo>
                <a:lnTo>
                  <a:pt x="1035" y="19"/>
                </a:lnTo>
                <a:lnTo>
                  <a:pt x="1033" y="19"/>
                </a:lnTo>
                <a:lnTo>
                  <a:pt x="1032" y="20"/>
                </a:lnTo>
                <a:lnTo>
                  <a:pt x="1030" y="20"/>
                </a:lnTo>
                <a:lnTo>
                  <a:pt x="1028" y="20"/>
                </a:lnTo>
                <a:lnTo>
                  <a:pt x="1026" y="19"/>
                </a:lnTo>
                <a:lnTo>
                  <a:pt x="1025" y="19"/>
                </a:lnTo>
                <a:lnTo>
                  <a:pt x="1024" y="17"/>
                </a:lnTo>
                <a:lnTo>
                  <a:pt x="1023" y="16"/>
                </a:lnTo>
                <a:lnTo>
                  <a:pt x="1022" y="15"/>
                </a:lnTo>
                <a:lnTo>
                  <a:pt x="1021" y="13"/>
                </a:lnTo>
                <a:lnTo>
                  <a:pt x="1021" y="11"/>
                </a:lnTo>
                <a:lnTo>
                  <a:pt x="1021" y="9"/>
                </a:lnTo>
                <a:lnTo>
                  <a:pt x="1022" y="8"/>
                </a:lnTo>
                <a:lnTo>
                  <a:pt x="1023" y="6"/>
                </a:lnTo>
                <a:lnTo>
                  <a:pt x="1024" y="5"/>
                </a:lnTo>
                <a:lnTo>
                  <a:pt x="1025" y="4"/>
                </a:lnTo>
                <a:lnTo>
                  <a:pt x="1026" y="3"/>
                </a:lnTo>
                <a:lnTo>
                  <a:pt x="1028" y="3"/>
                </a:lnTo>
                <a:lnTo>
                  <a:pt x="1030" y="2"/>
                </a:lnTo>
                <a:close/>
                <a:moveTo>
                  <a:pt x="961" y="0"/>
                </a:moveTo>
                <a:lnTo>
                  <a:pt x="963" y="0"/>
                </a:lnTo>
                <a:lnTo>
                  <a:pt x="965" y="1"/>
                </a:lnTo>
                <a:lnTo>
                  <a:pt x="966" y="1"/>
                </a:lnTo>
                <a:lnTo>
                  <a:pt x="967" y="3"/>
                </a:lnTo>
                <a:lnTo>
                  <a:pt x="968" y="4"/>
                </a:lnTo>
                <a:lnTo>
                  <a:pt x="969" y="5"/>
                </a:lnTo>
                <a:lnTo>
                  <a:pt x="970" y="7"/>
                </a:lnTo>
                <a:lnTo>
                  <a:pt x="970" y="9"/>
                </a:lnTo>
                <a:lnTo>
                  <a:pt x="970" y="10"/>
                </a:lnTo>
                <a:lnTo>
                  <a:pt x="969" y="12"/>
                </a:lnTo>
                <a:lnTo>
                  <a:pt x="968" y="13"/>
                </a:lnTo>
                <a:lnTo>
                  <a:pt x="967" y="15"/>
                </a:lnTo>
                <a:lnTo>
                  <a:pt x="966" y="16"/>
                </a:lnTo>
                <a:lnTo>
                  <a:pt x="965" y="17"/>
                </a:lnTo>
                <a:lnTo>
                  <a:pt x="963" y="17"/>
                </a:lnTo>
                <a:lnTo>
                  <a:pt x="961" y="17"/>
                </a:lnTo>
                <a:lnTo>
                  <a:pt x="959" y="17"/>
                </a:lnTo>
                <a:lnTo>
                  <a:pt x="958" y="17"/>
                </a:lnTo>
                <a:lnTo>
                  <a:pt x="956" y="16"/>
                </a:lnTo>
                <a:lnTo>
                  <a:pt x="955" y="15"/>
                </a:lnTo>
                <a:lnTo>
                  <a:pt x="954" y="13"/>
                </a:lnTo>
                <a:lnTo>
                  <a:pt x="953" y="12"/>
                </a:lnTo>
                <a:lnTo>
                  <a:pt x="953" y="10"/>
                </a:lnTo>
                <a:lnTo>
                  <a:pt x="953" y="9"/>
                </a:lnTo>
                <a:lnTo>
                  <a:pt x="953" y="7"/>
                </a:lnTo>
                <a:lnTo>
                  <a:pt x="953" y="5"/>
                </a:lnTo>
                <a:lnTo>
                  <a:pt x="954" y="4"/>
                </a:lnTo>
                <a:lnTo>
                  <a:pt x="955" y="3"/>
                </a:lnTo>
                <a:lnTo>
                  <a:pt x="956" y="1"/>
                </a:lnTo>
                <a:lnTo>
                  <a:pt x="958" y="1"/>
                </a:lnTo>
                <a:lnTo>
                  <a:pt x="959" y="0"/>
                </a:lnTo>
                <a:lnTo>
                  <a:pt x="961" y="0"/>
                </a:lnTo>
                <a:close/>
              </a:path>
            </a:pathLst>
          </a:custGeom>
          <a:solidFill>
            <a:schemeClr val="accent5"/>
          </a:soli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90" name="矩形: 圆角 32"/>
          <p:cNvSpPr/>
          <p:nvPr/>
        </p:nvSpPr>
        <p:spPr>
          <a:xfrm>
            <a:off x="5502910" y="2453640"/>
            <a:ext cx="1106805" cy="1106805"/>
          </a:xfrm>
          <a:prstGeom prst="roundRect">
            <a:avLst>
              <a:gd name="adj" fmla="val 50000"/>
            </a:avLst>
          </a:prstGeom>
          <a:solidFill>
            <a:schemeClr val="bg1">
              <a:alpha val="70000"/>
            </a:schemeClr>
          </a:solidFill>
          <a:ln w="63500">
            <a:noFill/>
          </a:ln>
          <a:effectLst>
            <a:outerShdw blurRad="254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2400" b="1" dirty="0">
              <a:solidFill>
                <a:srgbClr val="FFFF00"/>
              </a:solidFill>
              <a:latin typeface="微软雅黑" panose="020B0503020204020204" charset="-122"/>
              <a:ea typeface="微软雅黑" panose="020B0503020204020204" charset="-122"/>
              <a:cs typeface="微软雅黑" panose="020B0503020204020204" charset="-122"/>
            </a:endParaRPr>
          </a:p>
        </p:txBody>
      </p:sp>
      <p:grpSp>
        <p:nvGrpSpPr>
          <p:cNvPr id="591" name="组合 590"/>
          <p:cNvGrpSpPr/>
          <p:nvPr/>
        </p:nvGrpSpPr>
        <p:grpSpPr>
          <a:xfrm rot="0" flipH="1">
            <a:off x="6939915" y="3002915"/>
            <a:ext cx="251460" cy="96520"/>
            <a:chOff x="7651" y="4318"/>
            <a:chExt cx="396" cy="152"/>
          </a:xfrm>
        </p:grpSpPr>
        <p:sp>
          <p:nvSpPr>
            <p:cNvPr id="592" name="燕尾形 591"/>
            <p:cNvSpPr/>
            <p:nvPr/>
          </p:nvSpPr>
          <p:spPr>
            <a:xfrm>
              <a:off x="7895" y="4318"/>
              <a:ext cx="152" cy="152"/>
            </a:xfrm>
            <a:prstGeom prst="chevron">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93" name="燕尾形 592"/>
            <p:cNvSpPr/>
            <p:nvPr/>
          </p:nvSpPr>
          <p:spPr>
            <a:xfrm>
              <a:off x="7773" y="4318"/>
              <a:ext cx="152" cy="152"/>
            </a:xfrm>
            <a:prstGeom prst="chevron">
              <a:avLst/>
            </a:prstGeom>
            <a:solidFill>
              <a:schemeClr val="accent1">
                <a:lumMod val="60000"/>
                <a:lumOff val="4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94" name="燕尾形 593"/>
            <p:cNvSpPr/>
            <p:nvPr/>
          </p:nvSpPr>
          <p:spPr>
            <a:xfrm>
              <a:off x="7651" y="4318"/>
              <a:ext cx="152" cy="152"/>
            </a:xfrm>
            <a:prstGeom prst="chevron">
              <a:avLst/>
            </a:prstGeom>
            <a:solidFill>
              <a:schemeClr val="accent1">
                <a:lumMod val="60000"/>
                <a:lumOff val="40000"/>
                <a:alpha val="2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595" name="组合 594"/>
          <p:cNvGrpSpPr/>
          <p:nvPr/>
        </p:nvGrpSpPr>
        <p:grpSpPr>
          <a:xfrm rot="0">
            <a:off x="6942455" y="2810510"/>
            <a:ext cx="251460" cy="96520"/>
            <a:chOff x="7651" y="4318"/>
            <a:chExt cx="396" cy="152"/>
          </a:xfrm>
        </p:grpSpPr>
        <p:sp>
          <p:nvSpPr>
            <p:cNvPr id="596" name="燕尾形 595"/>
            <p:cNvSpPr/>
            <p:nvPr/>
          </p:nvSpPr>
          <p:spPr>
            <a:xfrm>
              <a:off x="7895" y="4318"/>
              <a:ext cx="152" cy="152"/>
            </a:xfrm>
            <a:prstGeom prst="chevron">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97" name="燕尾形 596"/>
            <p:cNvSpPr/>
            <p:nvPr/>
          </p:nvSpPr>
          <p:spPr>
            <a:xfrm>
              <a:off x="7773" y="4318"/>
              <a:ext cx="152" cy="152"/>
            </a:xfrm>
            <a:prstGeom prst="chevron">
              <a:avLst/>
            </a:prstGeom>
            <a:solidFill>
              <a:schemeClr val="accent1">
                <a:lumMod val="60000"/>
                <a:lumOff val="4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98" name="燕尾形 597"/>
            <p:cNvSpPr/>
            <p:nvPr/>
          </p:nvSpPr>
          <p:spPr>
            <a:xfrm>
              <a:off x="7651" y="4318"/>
              <a:ext cx="152" cy="152"/>
            </a:xfrm>
            <a:prstGeom prst="chevron">
              <a:avLst/>
            </a:prstGeom>
            <a:solidFill>
              <a:schemeClr val="accent1">
                <a:lumMod val="60000"/>
                <a:lumOff val="40000"/>
                <a:alpha val="2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sp>
        <p:nvSpPr>
          <p:cNvPr id="599" name="矩形: 圆角 32"/>
          <p:cNvSpPr/>
          <p:nvPr/>
        </p:nvSpPr>
        <p:spPr>
          <a:xfrm>
            <a:off x="5595620" y="2546350"/>
            <a:ext cx="921385" cy="921385"/>
          </a:xfrm>
          <a:prstGeom prst="roundRect">
            <a:avLst>
              <a:gd name="adj" fmla="val 50000"/>
            </a:avLst>
          </a:prstGeom>
          <a:gradFill flip="none" rotWithShape="1">
            <a:gsLst>
              <a:gs pos="22000">
                <a:schemeClr val="accent5"/>
              </a:gs>
              <a:gs pos="100000">
                <a:schemeClr val="accent5">
                  <a:lumMod val="60000"/>
                  <a:lumOff val="40000"/>
                </a:schemeClr>
              </a:gs>
            </a:gsLst>
            <a:lin ang="2700000"/>
          </a:gradFill>
          <a:ln w="63500">
            <a:noFill/>
          </a:ln>
          <a:effectLst>
            <a:outerShdw blurRad="254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lnSpc>
                <a:spcPct val="120000"/>
              </a:lnSpc>
            </a:pPr>
            <a:endParaRPr lang="zh-CN" altLang="en-US" sz="2400" b="1" dirty="0">
              <a:solidFill>
                <a:srgbClr val="FFFF00"/>
              </a:solidFill>
              <a:latin typeface="微软雅黑" panose="020B0503020204020204" charset="-122"/>
              <a:ea typeface="微软雅黑" panose="020B0503020204020204" charset="-122"/>
              <a:cs typeface="微软雅黑" panose="020B0503020204020204" charset="-122"/>
            </a:endParaRPr>
          </a:p>
        </p:txBody>
      </p:sp>
      <p:sp>
        <p:nvSpPr>
          <p:cNvPr id="600" name="矩形 599"/>
          <p:cNvSpPr/>
          <p:nvPr/>
        </p:nvSpPr>
        <p:spPr>
          <a:xfrm>
            <a:off x="5546090" y="2807970"/>
            <a:ext cx="1020445" cy="398780"/>
          </a:xfrm>
          <a:prstGeom prst="rect">
            <a:avLst/>
          </a:prstGeom>
        </p:spPr>
        <p:txBody>
          <a:bodyPr wrap="square">
            <a:spAutoFit/>
          </a:bodyPr>
          <a:lstStyle/>
          <a:p>
            <a:pPr algn="ctr"/>
            <a:r>
              <a:rPr lang="en-US" altLang="zh-CN" sz="2000" b="1" dirty="0">
                <a:solidFill>
                  <a:schemeClr val="bg1"/>
                </a:solidFill>
                <a:latin typeface="微软雅黑" panose="020B0503020204020204" charset="-122"/>
                <a:ea typeface="微软雅黑" panose="020B0503020204020204" charset="-122"/>
                <a:cs typeface="微软雅黑" panose="020B0503020204020204" charset="-122"/>
              </a:rPr>
              <a:t>AI</a:t>
            </a:r>
            <a:r>
              <a:rPr lang="zh-CN" altLang="en-US" sz="2000" b="1" dirty="0">
                <a:solidFill>
                  <a:schemeClr val="bg1"/>
                </a:solidFill>
                <a:latin typeface="微软雅黑" panose="020B0503020204020204" charset="-122"/>
                <a:ea typeface="微软雅黑" panose="020B0503020204020204" charset="-122"/>
                <a:cs typeface="微软雅黑" panose="020B0503020204020204" charset="-122"/>
              </a:rPr>
              <a:t>助手</a:t>
            </a:r>
            <a:endParaRPr lang="zh-CN" altLang="en-US" sz="20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601" name="等腰三角形 600"/>
          <p:cNvSpPr/>
          <p:nvPr/>
        </p:nvSpPr>
        <p:spPr>
          <a:xfrm>
            <a:off x="5260340" y="3670300"/>
            <a:ext cx="1592580" cy="312420"/>
          </a:xfrm>
          <a:prstGeom prst="triangle">
            <a:avLst/>
          </a:prstGeom>
          <a:noFill/>
          <a:ln>
            <a:gradFill>
              <a:gsLst>
                <a:gs pos="34000">
                  <a:schemeClr val="accent5">
                    <a:lumMod val="60000"/>
                    <a:lumOff val="40000"/>
                  </a:schemeClr>
                </a:gs>
                <a:gs pos="100000">
                  <a:schemeClr val="accent5">
                    <a:lumMod val="60000"/>
                    <a:lumOff val="40000"/>
                    <a:alpha val="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pic>
        <p:nvPicPr>
          <p:cNvPr id="602" name="图片 601" descr="任务 (1)"/>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637790" y="1394460"/>
            <a:ext cx="182880" cy="182880"/>
          </a:xfrm>
          <a:prstGeom prst="rect">
            <a:avLst/>
          </a:prstGeom>
        </p:spPr>
      </p:pic>
      <p:pic>
        <p:nvPicPr>
          <p:cNvPr id="603" name="图片 602" descr="沟通能力"/>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706620" y="1108710"/>
            <a:ext cx="227965" cy="227965"/>
          </a:xfrm>
          <a:prstGeom prst="rect">
            <a:avLst/>
          </a:prstGeom>
        </p:spPr>
      </p:pic>
      <p:pic>
        <p:nvPicPr>
          <p:cNvPr id="604" name="图片 603" descr="任务"/>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678555" y="1259840"/>
            <a:ext cx="179070" cy="179070"/>
          </a:xfrm>
          <a:prstGeom prst="rect">
            <a:avLst/>
          </a:prstGeom>
        </p:spPr>
      </p:pic>
      <p:pic>
        <p:nvPicPr>
          <p:cNvPr id="605" name="图片 604" descr="知识库管理"/>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273540" y="1413510"/>
            <a:ext cx="163830" cy="163830"/>
          </a:xfrm>
          <a:prstGeom prst="rect">
            <a:avLst/>
          </a:prstGeom>
        </p:spPr>
      </p:pic>
      <p:pic>
        <p:nvPicPr>
          <p:cNvPr id="606" name="图片 605" descr="决策"/>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343140" y="1123950"/>
            <a:ext cx="212725" cy="212725"/>
          </a:xfrm>
          <a:prstGeom prst="rect">
            <a:avLst/>
          </a:prstGeom>
        </p:spPr>
      </p:pic>
      <p:pic>
        <p:nvPicPr>
          <p:cNvPr id="607" name="图片 606" descr="流程"/>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8305165" y="1269365"/>
            <a:ext cx="191135" cy="191135"/>
          </a:xfrm>
          <a:prstGeom prst="rect">
            <a:avLst/>
          </a:prstGeom>
        </p:spPr>
      </p:pic>
      <p:grpSp>
        <p:nvGrpSpPr>
          <p:cNvPr id="3" name="组合 2"/>
          <p:cNvGrpSpPr/>
          <p:nvPr/>
        </p:nvGrpSpPr>
        <p:grpSpPr>
          <a:xfrm>
            <a:off x="8738235" y="348615"/>
            <a:ext cx="3219450" cy="332740"/>
            <a:chOff x="13761" y="549"/>
            <a:chExt cx="5070" cy="524"/>
          </a:xfrm>
        </p:grpSpPr>
        <p:pic>
          <p:nvPicPr>
            <p:cNvPr id="4" name="图片 3"/>
            <p:cNvPicPr>
              <a:picLocks noChangeAspect="1"/>
            </p:cNvPicPr>
            <p:nvPr userDrawn="1"/>
          </p:nvPicPr>
          <p:blipFill>
            <a:blip r:embed="rId23"/>
            <a:srcRect l="17002" t="-1765" r="56499" b="-1176"/>
            <a:stretch>
              <a:fillRect/>
            </a:stretch>
          </p:blipFill>
          <p:spPr>
            <a:xfrm>
              <a:off x="13761" y="549"/>
              <a:ext cx="1582" cy="525"/>
            </a:xfrm>
            <a:prstGeom prst="rect">
              <a:avLst/>
            </a:prstGeom>
          </p:spPr>
        </p:pic>
        <p:sp>
          <p:nvSpPr>
            <p:cNvPr id="2" name="文本框 1"/>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grpSp>
        <p:nvGrpSpPr>
          <p:cNvPr id="18" name="组合 17"/>
          <p:cNvGrpSpPr/>
          <p:nvPr/>
        </p:nvGrpSpPr>
        <p:grpSpPr>
          <a:xfrm>
            <a:off x="0" y="4959350"/>
            <a:ext cx="12192000" cy="1898650"/>
            <a:chOff x="0" y="7810"/>
            <a:chExt cx="19200" cy="2990"/>
          </a:xfrm>
        </p:grpSpPr>
        <p:sp>
          <p:nvSpPr>
            <p:cNvPr id="19" name="矩形 18"/>
            <p:cNvSpPr/>
            <p:nvPr/>
          </p:nvSpPr>
          <p:spPr>
            <a:xfrm>
              <a:off x="0" y="7810"/>
              <a:ext cx="19200" cy="2990"/>
            </a:xfrm>
            <a:prstGeom prst="rect">
              <a:avLst/>
            </a:prstGeom>
            <a:solidFill>
              <a:schemeClr val="accent1">
                <a:alpha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0" name="©显眼包PPT16"/>
            <p:cNvSpPr txBox="1"/>
            <p:nvPr/>
          </p:nvSpPr>
          <p:spPr>
            <a:xfrm>
              <a:off x="2990" y="8578"/>
              <a:ext cx="11508" cy="1454"/>
            </a:xfrm>
            <a:prstGeom prst="rect">
              <a:avLst/>
            </a:prstGeom>
            <a:noFill/>
            <a:extLst>
              <a:ext uri="{909E8E84-426E-40DD-AFC4-6F175D3DCCD1}">
                <a14:hiddenFill xmlns:a14="http://schemas.microsoft.com/office/drawing/2010/main">
                  <a:solidFill>
                    <a:schemeClr val="bg1"/>
                  </a:solidFill>
                </a14:hiddenFill>
              </a:ext>
            </a:ex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3000" b="1" i="0" u="none" strike="noStrike" kern="1200" cap="none" spc="0" normalizeH="0" baseline="0" noProof="0" dirty="0">
                  <a:ln w="3175">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j-ea"/>
                </a:rPr>
                <a:t>另一个配色效果供选择，删除本框即可！</a:t>
              </a:r>
              <a:endParaRPr kumimoji="0" lang="zh-CN" sz="3000" b="1" i="0" u="none" strike="noStrike" kern="1200" cap="none" spc="0" normalizeH="0" baseline="0" noProof="0" dirty="0">
                <a:ln w="3175">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j-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sz="3000" b="1" i="0" u="none" strike="noStrike" kern="1200" cap="none" spc="0" normalizeH="0" baseline="0" noProof="0" dirty="0">
                  <a:ln w="3175">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j-ea"/>
                </a:rPr>
                <a:t>本页不计入页面数量</a:t>
              </a:r>
              <a:endParaRPr kumimoji="0" lang="zh-CN" sz="3000" b="1" i="0" u="none" strike="noStrike" kern="1200" cap="none" spc="0" normalizeH="0" baseline="0" noProof="0" dirty="0">
                <a:ln w="3175">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j-ea"/>
              </a:endParaRPr>
            </a:p>
          </p:txBody>
        </p:sp>
      </p:grpSp>
    </p:spTree>
  </p:cSld>
  <p:clrMapOvr>
    <a:masterClrMapping/>
  </p:clrMapOvr>
  <p:timing>
    <p:tnLst>
      <p:par>
        <p:cTn id="1" dur="indefinite" restart="never" fill="hold"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30860" y="1007110"/>
            <a:ext cx="3238500" cy="3756660"/>
            <a:chOff x="836" y="1586"/>
            <a:chExt cx="5100" cy="5916"/>
          </a:xfrm>
        </p:grpSpPr>
        <p:sp>
          <p:nvSpPr>
            <p:cNvPr id="121" name="任意多边形: 形状 12"/>
            <p:cNvSpPr/>
            <p:nvPr/>
          </p:nvSpPr>
          <p:spPr>
            <a:xfrm>
              <a:off x="836" y="1586"/>
              <a:ext cx="5100" cy="5916"/>
            </a:xfrm>
            <a:custGeom>
              <a:avLst/>
              <a:gdLst>
                <a:gd name="connsiteX0" fmla="*/ 1538514 w 1538514"/>
                <a:gd name="connsiteY0" fmla="*/ 566057 h 2365829"/>
                <a:gd name="connsiteX1" fmla="*/ 14514 w 1538514"/>
                <a:gd name="connsiteY1" fmla="*/ 0 h 2365829"/>
                <a:gd name="connsiteX2" fmla="*/ 0 w 1538514"/>
                <a:gd name="connsiteY2" fmla="*/ 2365829 h 2365829"/>
                <a:gd name="connsiteX3" fmla="*/ 1436914 w 1538514"/>
                <a:gd name="connsiteY3" fmla="*/ 1959429 h 2365829"/>
                <a:gd name="connsiteX0-1" fmla="*/ 1538514 w 1538514"/>
                <a:gd name="connsiteY0-2" fmla="*/ 566057 h 2365829"/>
                <a:gd name="connsiteX1-3" fmla="*/ 14514 w 1538514"/>
                <a:gd name="connsiteY1-4" fmla="*/ 0 h 2365829"/>
                <a:gd name="connsiteX2-5" fmla="*/ 0 w 1538514"/>
                <a:gd name="connsiteY2-6" fmla="*/ 2365829 h 2365829"/>
                <a:gd name="connsiteX3-7" fmla="*/ 1494971 w 1538514"/>
                <a:gd name="connsiteY3-8" fmla="*/ 1959429 h 2365829"/>
                <a:gd name="connsiteX0-9" fmla="*/ 1538514 w 1538514"/>
                <a:gd name="connsiteY0-10" fmla="*/ 566057 h 2365829"/>
                <a:gd name="connsiteX1-11" fmla="*/ 14514 w 1538514"/>
                <a:gd name="connsiteY1-12" fmla="*/ 0 h 2365829"/>
                <a:gd name="connsiteX2-13" fmla="*/ 0 w 1538514"/>
                <a:gd name="connsiteY2-14" fmla="*/ 2365829 h 2365829"/>
                <a:gd name="connsiteX3-15" fmla="*/ 1494971 w 1538514"/>
                <a:gd name="connsiteY3-16" fmla="*/ 1915886 h 2365829"/>
                <a:gd name="connsiteX0-17" fmla="*/ 1538514 w 1538514"/>
                <a:gd name="connsiteY0-18" fmla="*/ 566057 h 2365829"/>
                <a:gd name="connsiteX1-19" fmla="*/ 14514 w 1538514"/>
                <a:gd name="connsiteY1-20" fmla="*/ 0 h 2365829"/>
                <a:gd name="connsiteX2-21" fmla="*/ 0 w 1538514"/>
                <a:gd name="connsiteY2-22" fmla="*/ 2365829 h 2365829"/>
                <a:gd name="connsiteX3-23" fmla="*/ 1524000 w 1538514"/>
                <a:gd name="connsiteY3-24" fmla="*/ 1857829 h 2365829"/>
                <a:gd name="connsiteX0-25" fmla="*/ 1538514 w 1567543"/>
                <a:gd name="connsiteY0-26" fmla="*/ 566057 h 2365829"/>
                <a:gd name="connsiteX1-27" fmla="*/ 14514 w 1567543"/>
                <a:gd name="connsiteY1-28" fmla="*/ 0 h 2365829"/>
                <a:gd name="connsiteX2-29" fmla="*/ 0 w 1567543"/>
                <a:gd name="connsiteY2-30" fmla="*/ 2365829 h 2365829"/>
                <a:gd name="connsiteX3-31" fmla="*/ 1567543 w 1567543"/>
                <a:gd name="connsiteY3-32" fmla="*/ 1843315 h 2365829"/>
                <a:gd name="connsiteX0-33" fmla="*/ 1538514 w 1538514"/>
                <a:gd name="connsiteY0-34" fmla="*/ 566057 h 2365829"/>
                <a:gd name="connsiteX1-35" fmla="*/ 14514 w 1538514"/>
                <a:gd name="connsiteY1-36" fmla="*/ 0 h 2365829"/>
                <a:gd name="connsiteX2-37" fmla="*/ 0 w 1538514"/>
                <a:gd name="connsiteY2-38" fmla="*/ 2365829 h 2365829"/>
                <a:gd name="connsiteX3-39" fmla="*/ 1524000 w 1538514"/>
                <a:gd name="connsiteY3-40" fmla="*/ 1872343 h 2365829"/>
              </a:gdLst>
              <a:ahLst/>
              <a:cxnLst>
                <a:cxn ang="0">
                  <a:pos x="connsiteX0-1" y="connsiteY0-2"/>
                </a:cxn>
                <a:cxn ang="0">
                  <a:pos x="connsiteX1-3" y="connsiteY1-4"/>
                </a:cxn>
                <a:cxn ang="0">
                  <a:pos x="connsiteX2-5" y="connsiteY2-6"/>
                </a:cxn>
                <a:cxn ang="0">
                  <a:pos x="connsiteX3-7" y="connsiteY3-8"/>
                </a:cxn>
              </a:cxnLst>
              <a:rect l="l" t="t" r="r" b="b"/>
              <a:pathLst>
                <a:path w="1538514" h="2365829">
                  <a:moveTo>
                    <a:pt x="1538514" y="566057"/>
                  </a:moveTo>
                  <a:lnTo>
                    <a:pt x="14514" y="0"/>
                  </a:lnTo>
                  <a:lnTo>
                    <a:pt x="0" y="2365829"/>
                  </a:lnTo>
                  <a:cubicBezTo>
                    <a:pt x="478971" y="2230362"/>
                    <a:pt x="1045029" y="2007810"/>
                    <a:pt x="1524000" y="1872343"/>
                  </a:cubicBezTo>
                </a:path>
              </a:pathLst>
            </a:custGeom>
            <a:noFill/>
            <a:ln>
              <a:gradFill flip="none" rotWithShape="1">
                <a:gsLst>
                  <a:gs pos="100000">
                    <a:schemeClr val="accent1"/>
                  </a:gs>
                  <a:gs pos="0">
                    <a:schemeClr val="accent1">
                      <a:lumMod val="20000"/>
                      <a:lumOff val="80000"/>
                      <a:alpha val="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22" name="任意多边形: 形状 13"/>
            <p:cNvSpPr/>
            <p:nvPr/>
          </p:nvSpPr>
          <p:spPr>
            <a:xfrm>
              <a:off x="1148" y="1972"/>
              <a:ext cx="4474" cy="5242"/>
            </a:xfrm>
            <a:custGeom>
              <a:avLst/>
              <a:gdLst>
                <a:gd name="connsiteX0" fmla="*/ 1538514 w 1538514"/>
                <a:gd name="connsiteY0" fmla="*/ 566057 h 2365829"/>
                <a:gd name="connsiteX1" fmla="*/ 14514 w 1538514"/>
                <a:gd name="connsiteY1" fmla="*/ 0 h 2365829"/>
                <a:gd name="connsiteX2" fmla="*/ 0 w 1538514"/>
                <a:gd name="connsiteY2" fmla="*/ 2365829 h 2365829"/>
                <a:gd name="connsiteX3" fmla="*/ 1436914 w 1538514"/>
                <a:gd name="connsiteY3" fmla="*/ 1959429 h 2365829"/>
                <a:gd name="connsiteX0-1" fmla="*/ 1538514 w 1538514"/>
                <a:gd name="connsiteY0-2" fmla="*/ 566057 h 2365829"/>
                <a:gd name="connsiteX1-3" fmla="*/ 14514 w 1538514"/>
                <a:gd name="connsiteY1-4" fmla="*/ 0 h 2365829"/>
                <a:gd name="connsiteX2-5" fmla="*/ 0 w 1538514"/>
                <a:gd name="connsiteY2-6" fmla="*/ 2365829 h 2365829"/>
                <a:gd name="connsiteX3-7" fmla="*/ 1494971 w 1538514"/>
                <a:gd name="connsiteY3-8" fmla="*/ 1959429 h 2365829"/>
                <a:gd name="connsiteX0-9" fmla="*/ 1538514 w 1538514"/>
                <a:gd name="connsiteY0-10" fmla="*/ 566057 h 2365829"/>
                <a:gd name="connsiteX1-11" fmla="*/ 14514 w 1538514"/>
                <a:gd name="connsiteY1-12" fmla="*/ 0 h 2365829"/>
                <a:gd name="connsiteX2-13" fmla="*/ 0 w 1538514"/>
                <a:gd name="connsiteY2-14" fmla="*/ 2365829 h 2365829"/>
                <a:gd name="connsiteX3-15" fmla="*/ 1494971 w 1538514"/>
                <a:gd name="connsiteY3-16" fmla="*/ 1915886 h 2365829"/>
                <a:gd name="connsiteX0-17" fmla="*/ 1538514 w 1538514"/>
                <a:gd name="connsiteY0-18" fmla="*/ 566057 h 2365829"/>
                <a:gd name="connsiteX1-19" fmla="*/ 14514 w 1538514"/>
                <a:gd name="connsiteY1-20" fmla="*/ 0 h 2365829"/>
                <a:gd name="connsiteX2-21" fmla="*/ 0 w 1538514"/>
                <a:gd name="connsiteY2-22" fmla="*/ 2365829 h 2365829"/>
                <a:gd name="connsiteX3-23" fmla="*/ 1524000 w 1538514"/>
                <a:gd name="connsiteY3-24" fmla="*/ 1857829 h 2365829"/>
                <a:gd name="connsiteX0-25" fmla="*/ 1538514 w 1567543"/>
                <a:gd name="connsiteY0-26" fmla="*/ 566057 h 2365829"/>
                <a:gd name="connsiteX1-27" fmla="*/ 14514 w 1567543"/>
                <a:gd name="connsiteY1-28" fmla="*/ 0 h 2365829"/>
                <a:gd name="connsiteX2-29" fmla="*/ 0 w 1567543"/>
                <a:gd name="connsiteY2-30" fmla="*/ 2365829 h 2365829"/>
                <a:gd name="connsiteX3-31" fmla="*/ 1567543 w 1567543"/>
                <a:gd name="connsiteY3-32" fmla="*/ 1843315 h 2365829"/>
                <a:gd name="connsiteX0-33" fmla="*/ 1538514 w 1538514"/>
                <a:gd name="connsiteY0-34" fmla="*/ 566057 h 2365829"/>
                <a:gd name="connsiteX1-35" fmla="*/ 14514 w 1538514"/>
                <a:gd name="connsiteY1-36" fmla="*/ 0 h 2365829"/>
                <a:gd name="connsiteX2-37" fmla="*/ 0 w 1538514"/>
                <a:gd name="connsiteY2-38" fmla="*/ 2365829 h 2365829"/>
                <a:gd name="connsiteX3-39" fmla="*/ 1524000 w 1538514"/>
                <a:gd name="connsiteY3-40" fmla="*/ 1872343 h 2365829"/>
              </a:gdLst>
              <a:ahLst/>
              <a:cxnLst>
                <a:cxn ang="0">
                  <a:pos x="connsiteX0-1" y="connsiteY0-2"/>
                </a:cxn>
                <a:cxn ang="0">
                  <a:pos x="connsiteX1-3" y="connsiteY1-4"/>
                </a:cxn>
                <a:cxn ang="0">
                  <a:pos x="connsiteX2-5" y="connsiteY2-6"/>
                </a:cxn>
                <a:cxn ang="0">
                  <a:pos x="connsiteX3-7" y="connsiteY3-8"/>
                </a:cxn>
              </a:cxnLst>
              <a:rect l="l" t="t" r="r" b="b"/>
              <a:pathLst>
                <a:path w="1538514" h="2365829">
                  <a:moveTo>
                    <a:pt x="1538514" y="566057"/>
                  </a:moveTo>
                  <a:lnTo>
                    <a:pt x="14514" y="0"/>
                  </a:lnTo>
                  <a:lnTo>
                    <a:pt x="0" y="2365829"/>
                  </a:lnTo>
                  <a:cubicBezTo>
                    <a:pt x="478971" y="2230362"/>
                    <a:pt x="1045029" y="2007810"/>
                    <a:pt x="1524000" y="1872343"/>
                  </a:cubicBezTo>
                </a:path>
              </a:pathLst>
            </a:custGeom>
            <a:gradFill>
              <a:gsLst>
                <a:gs pos="100000">
                  <a:schemeClr val="accent1">
                    <a:lumMod val="20000"/>
                    <a:lumOff val="80000"/>
                  </a:schemeClr>
                </a:gs>
                <a:gs pos="0">
                  <a:schemeClr val="accent1">
                    <a:lumMod val="20000"/>
                    <a:lumOff val="80000"/>
                    <a:alpha val="0"/>
                  </a:schemeClr>
                </a:gs>
              </a:gsLst>
              <a:lin ang="10800000" scaled="1"/>
            </a:gradFill>
            <a:ln>
              <a:gradFill flip="none" rotWithShape="1">
                <a:gsLst>
                  <a:gs pos="100000">
                    <a:schemeClr val="accent1"/>
                  </a:gs>
                  <a:gs pos="0">
                    <a:schemeClr val="accent1">
                      <a:lumMod val="20000"/>
                      <a:lumOff val="80000"/>
                      <a:alpha val="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139" name="组合 138"/>
          <p:cNvGrpSpPr/>
          <p:nvPr/>
        </p:nvGrpSpPr>
        <p:grpSpPr>
          <a:xfrm flipH="1">
            <a:off x="8024495" y="1007110"/>
            <a:ext cx="3703955" cy="3756660"/>
            <a:chOff x="1251" y="2458"/>
            <a:chExt cx="4791" cy="6422"/>
          </a:xfrm>
        </p:grpSpPr>
        <p:sp>
          <p:nvSpPr>
            <p:cNvPr id="140" name="任意多边形: 形状 12"/>
            <p:cNvSpPr/>
            <p:nvPr/>
          </p:nvSpPr>
          <p:spPr>
            <a:xfrm>
              <a:off x="1251" y="2458"/>
              <a:ext cx="4791" cy="6422"/>
            </a:xfrm>
            <a:custGeom>
              <a:avLst/>
              <a:gdLst>
                <a:gd name="connsiteX0" fmla="*/ 1538514 w 1538514"/>
                <a:gd name="connsiteY0" fmla="*/ 566057 h 2365829"/>
                <a:gd name="connsiteX1" fmla="*/ 14514 w 1538514"/>
                <a:gd name="connsiteY1" fmla="*/ 0 h 2365829"/>
                <a:gd name="connsiteX2" fmla="*/ 0 w 1538514"/>
                <a:gd name="connsiteY2" fmla="*/ 2365829 h 2365829"/>
                <a:gd name="connsiteX3" fmla="*/ 1436914 w 1538514"/>
                <a:gd name="connsiteY3" fmla="*/ 1959429 h 2365829"/>
                <a:gd name="connsiteX0-1" fmla="*/ 1538514 w 1538514"/>
                <a:gd name="connsiteY0-2" fmla="*/ 566057 h 2365829"/>
                <a:gd name="connsiteX1-3" fmla="*/ 14514 w 1538514"/>
                <a:gd name="connsiteY1-4" fmla="*/ 0 h 2365829"/>
                <a:gd name="connsiteX2-5" fmla="*/ 0 w 1538514"/>
                <a:gd name="connsiteY2-6" fmla="*/ 2365829 h 2365829"/>
                <a:gd name="connsiteX3-7" fmla="*/ 1494971 w 1538514"/>
                <a:gd name="connsiteY3-8" fmla="*/ 1959429 h 2365829"/>
                <a:gd name="connsiteX0-9" fmla="*/ 1538514 w 1538514"/>
                <a:gd name="connsiteY0-10" fmla="*/ 566057 h 2365829"/>
                <a:gd name="connsiteX1-11" fmla="*/ 14514 w 1538514"/>
                <a:gd name="connsiteY1-12" fmla="*/ 0 h 2365829"/>
                <a:gd name="connsiteX2-13" fmla="*/ 0 w 1538514"/>
                <a:gd name="connsiteY2-14" fmla="*/ 2365829 h 2365829"/>
                <a:gd name="connsiteX3-15" fmla="*/ 1494971 w 1538514"/>
                <a:gd name="connsiteY3-16" fmla="*/ 1915886 h 2365829"/>
                <a:gd name="connsiteX0-17" fmla="*/ 1538514 w 1538514"/>
                <a:gd name="connsiteY0-18" fmla="*/ 566057 h 2365829"/>
                <a:gd name="connsiteX1-19" fmla="*/ 14514 w 1538514"/>
                <a:gd name="connsiteY1-20" fmla="*/ 0 h 2365829"/>
                <a:gd name="connsiteX2-21" fmla="*/ 0 w 1538514"/>
                <a:gd name="connsiteY2-22" fmla="*/ 2365829 h 2365829"/>
                <a:gd name="connsiteX3-23" fmla="*/ 1524000 w 1538514"/>
                <a:gd name="connsiteY3-24" fmla="*/ 1857829 h 2365829"/>
                <a:gd name="connsiteX0-25" fmla="*/ 1538514 w 1567543"/>
                <a:gd name="connsiteY0-26" fmla="*/ 566057 h 2365829"/>
                <a:gd name="connsiteX1-27" fmla="*/ 14514 w 1567543"/>
                <a:gd name="connsiteY1-28" fmla="*/ 0 h 2365829"/>
                <a:gd name="connsiteX2-29" fmla="*/ 0 w 1567543"/>
                <a:gd name="connsiteY2-30" fmla="*/ 2365829 h 2365829"/>
                <a:gd name="connsiteX3-31" fmla="*/ 1567543 w 1567543"/>
                <a:gd name="connsiteY3-32" fmla="*/ 1843315 h 2365829"/>
                <a:gd name="connsiteX0-33" fmla="*/ 1538514 w 1538514"/>
                <a:gd name="connsiteY0-34" fmla="*/ 566057 h 2365829"/>
                <a:gd name="connsiteX1-35" fmla="*/ 14514 w 1538514"/>
                <a:gd name="connsiteY1-36" fmla="*/ 0 h 2365829"/>
                <a:gd name="connsiteX2-37" fmla="*/ 0 w 1538514"/>
                <a:gd name="connsiteY2-38" fmla="*/ 2365829 h 2365829"/>
                <a:gd name="connsiteX3-39" fmla="*/ 1524000 w 1538514"/>
                <a:gd name="connsiteY3-40" fmla="*/ 1872343 h 2365829"/>
              </a:gdLst>
              <a:ahLst/>
              <a:cxnLst>
                <a:cxn ang="0">
                  <a:pos x="connsiteX0-1" y="connsiteY0-2"/>
                </a:cxn>
                <a:cxn ang="0">
                  <a:pos x="connsiteX1-3" y="connsiteY1-4"/>
                </a:cxn>
                <a:cxn ang="0">
                  <a:pos x="connsiteX2-5" y="connsiteY2-6"/>
                </a:cxn>
                <a:cxn ang="0">
                  <a:pos x="connsiteX3-7" y="connsiteY3-8"/>
                </a:cxn>
              </a:cxnLst>
              <a:rect l="l" t="t" r="r" b="b"/>
              <a:pathLst>
                <a:path w="1538514" h="2365829">
                  <a:moveTo>
                    <a:pt x="1538514" y="566057"/>
                  </a:moveTo>
                  <a:lnTo>
                    <a:pt x="14514" y="0"/>
                  </a:lnTo>
                  <a:lnTo>
                    <a:pt x="0" y="2365829"/>
                  </a:lnTo>
                  <a:cubicBezTo>
                    <a:pt x="478971" y="2230362"/>
                    <a:pt x="1045029" y="2007810"/>
                    <a:pt x="1524000" y="1872343"/>
                  </a:cubicBezTo>
                </a:path>
              </a:pathLst>
            </a:custGeom>
            <a:noFill/>
            <a:ln>
              <a:gradFill flip="none" rotWithShape="1">
                <a:gsLst>
                  <a:gs pos="100000">
                    <a:schemeClr val="accent1"/>
                  </a:gs>
                  <a:gs pos="0">
                    <a:schemeClr val="accent1">
                      <a:lumMod val="20000"/>
                      <a:lumOff val="80000"/>
                      <a:alpha val="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41" name="任意多边形: 形状 13"/>
            <p:cNvSpPr/>
            <p:nvPr/>
          </p:nvSpPr>
          <p:spPr>
            <a:xfrm>
              <a:off x="1545" y="2873"/>
              <a:ext cx="4204" cy="5635"/>
            </a:xfrm>
            <a:custGeom>
              <a:avLst/>
              <a:gdLst>
                <a:gd name="connsiteX0" fmla="*/ 1538514 w 1538514"/>
                <a:gd name="connsiteY0" fmla="*/ 566057 h 2365829"/>
                <a:gd name="connsiteX1" fmla="*/ 14514 w 1538514"/>
                <a:gd name="connsiteY1" fmla="*/ 0 h 2365829"/>
                <a:gd name="connsiteX2" fmla="*/ 0 w 1538514"/>
                <a:gd name="connsiteY2" fmla="*/ 2365829 h 2365829"/>
                <a:gd name="connsiteX3" fmla="*/ 1436914 w 1538514"/>
                <a:gd name="connsiteY3" fmla="*/ 1959429 h 2365829"/>
                <a:gd name="connsiteX0-1" fmla="*/ 1538514 w 1538514"/>
                <a:gd name="connsiteY0-2" fmla="*/ 566057 h 2365829"/>
                <a:gd name="connsiteX1-3" fmla="*/ 14514 w 1538514"/>
                <a:gd name="connsiteY1-4" fmla="*/ 0 h 2365829"/>
                <a:gd name="connsiteX2-5" fmla="*/ 0 w 1538514"/>
                <a:gd name="connsiteY2-6" fmla="*/ 2365829 h 2365829"/>
                <a:gd name="connsiteX3-7" fmla="*/ 1494971 w 1538514"/>
                <a:gd name="connsiteY3-8" fmla="*/ 1959429 h 2365829"/>
                <a:gd name="connsiteX0-9" fmla="*/ 1538514 w 1538514"/>
                <a:gd name="connsiteY0-10" fmla="*/ 566057 h 2365829"/>
                <a:gd name="connsiteX1-11" fmla="*/ 14514 w 1538514"/>
                <a:gd name="connsiteY1-12" fmla="*/ 0 h 2365829"/>
                <a:gd name="connsiteX2-13" fmla="*/ 0 w 1538514"/>
                <a:gd name="connsiteY2-14" fmla="*/ 2365829 h 2365829"/>
                <a:gd name="connsiteX3-15" fmla="*/ 1494971 w 1538514"/>
                <a:gd name="connsiteY3-16" fmla="*/ 1915886 h 2365829"/>
                <a:gd name="connsiteX0-17" fmla="*/ 1538514 w 1538514"/>
                <a:gd name="connsiteY0-18" fmla="*/ 566057 h 2365829"/>
                <a:gd name="connsiteX1-19" fmla="*/ 14514 w 1538514"/>
                <a:gd name="connsiteY1-20" fmla="*/ 0 h 2365829"/>
                <a:gd name="connsiteX2-21" fmla="*/ 0 w 1538514"/>
                <a:gd name="connsiteY2-22" fmla="*/ 2365829 h 2365829"/>
                <a:gd name="connsiteX3-23" fmla="*/ 1524000 w 1538514"/>
                <a:gd name="connsiteY3-24" fmla="*/ 1857829 h 2365829"/>
                <a:gd name="connsiteX0-25" fmla="*/ 1538514 w 1567543"/>
                <a:gd name="connsiteY0-26" fmla="*/ 566057 h 2365829"/>
                <a:gd name="connsiteX1-27" fmla="*/ 14514 w 1567543"/>
                <a:gd name="connsiteY1-28" fmla="*/ 0 h 2365829"/>
                <a:gd name="connsiteX2-29" fmla="*/ 0 w 1567543"/>
                <a:gd name="connsiteY2-30" fmla="*/ 2365829 h 2365829"/>
                <a:gd name="connsiteX3-31" fmla="*/ 1567543 w 1567543"/>
                <a:gd name="connsiteY3-32" fmla="*/ 1843315 h 2365829"/>
                <a:gd name="connsiteX0-33" fmla="*/ 1538514 w 1538514"/>
                <a:gd name="connsiteY0-34" fmla="*/ 566057 h 2365829"/>
                <a:gd name="connsiteX1-35" fmla="*/ 14514 w 1538514"/>
                <a:gd name="connsiteY1-36" fmla="*/ 0 h 2365829"/>
                <a:gd name="connsiteX2-37" fmla="*/ 0 w 1538514"/>
                <a:gd name="connsiteY2-38" fmla="*/ 2365829 h 2365829"/>
                <a:gd name="connsiteX3-39" fmla="*/ 1524000 w 1538514"/>
                <a:gd name="connsiteY3-40" fmla="*/ 1872343 h 2365829"/>
              </a:gdLst>
              <a:ahLst/>
              <a:cxnLst>
                <a:cxn ang="0">
                  <a:pos x="connsiteX0-1" y="connsiteY0-2"/>
                </a:cxn>
                <a:cxn ang="0">
                  <a:pos x="connsiteX1-3" y="connsiteY1-4"/>
                </a:cxn>
                <a:cxn ang="0">
                  <a:pos x="connsiteX2-5" y="connsiteY2-6"/>
                </a:cxn>
                <a:cxn ang="0">
                  <a:pos x="connsiteX3-7" y="connsiteY3-8"/>
                </a:cxn>
              </a:cxnLst>
              <a:rect l="l" t="t" r="r" b="b"/>
              <a:pathLst>
                <a:path w="1538514" h="2365829">
                  <a:moveTo>
                    <a:pt x="1538514" y="566057"/>
                  </a:moveTo>
                  <a:lnTo>
                    <a:pt x="14514" y="0"/>
                  </a:lnTo>
                  <a:lnTo>
                    <a:pt x="0" y="2365829"/>
                  </a:lnTo>
                  <a:cubicBezTo>
                    <a:pt x="478971" y="2230362"/>
                    <a:pt x="1045029" y="2007810"/>
                    <a:pt x="1524000" y="1872343"/>
                  </a:cubicBezTo>
                </a:path>
              </a:pathLst>
            </a:custGeom>
            <a:gradFill>
              <a:gsLst>
                <a:gs pos="100000">
                  <a:schemeClr val="accent1">
                    <a:lumMod val="20000"/>
                    <a:lumOff val="80000"/>
                  </a:schemeClr>
                </a:gs>
                <a:gs pos="0">
                  <a:schemeClr val="accent1">
                    <a:lumMod val="20000"/>
                    <a:lumOff val="80000"/>
                    <a:alpha val="0"/>
                  </a:schemeClr>
                </a:gs>
              </a:gsLst>
              <a:lin ang="10800000" scaled="1"/>
            </a:gradFill>
            <a:ln>
              <a:gradFill flip="none" rotWithShape="1">
                <a:gsLst>
                  <a:gs pos="100000">
                    <a:schemeClr val="accent1"/>
                  </a:gs>
                  <a:gs pos="0">
                    <a:schemeClr val="accent1">
                      <a:lumMod val="20000"/>
                      <a:lumOff val="80000"/>
                      <a:alpha val="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158" name="组合 157"/>
          <p:cNvGrpSpPr/>
          <p:nvPr/>
        </p:nvGrpSpPr>
        <p:grpSpPr>
          <a:xfrm rot="0">
            <a:off x="991870" y="1800860"/>
            <a:ext cx="1675765" cy="246380"/>
            <a:chOff x="1727" y="3355"/>
            <a:chExt cx="2639" cy="388"/>
          </a:xfrm>
        </p:grpSpPr>
        <p:sp>
          <p:nvSpPr>
            <p:cNvPr id="156" name="矩形: 圆角 460"/>
            <p:cNvSpPr/>
            <p:nvPr>
              <p:custDataLst>
                <p:tags r:id="rId1"/>
              </p:custDataLst>
            </p:nvPr>
          </p:nvSpPr>
          <p:spPr>
            <a:xfrm>
              <a:off x="1727" y="3361"/>
              <a:ext cx="2639" cy="375"/>
            </a:xfrm>
            <a:prstGeom prst="roundRect">
              <a:avLst>
                <a:gd name="adj" fmla="val 50000"/>
              </a:avLst>
            </a:prstGeom>
            <a:gradFill flip="none" rotWithShape="1">
              <a:gsLst>
                <a:gs pos="23000">
                  <a:schemeClr val="accent1"/>
                </a:gs>
                <a:gs pos="100000">
                  <a:schemeClr val="accent1">
                    <a:lumMod val="60000"/>
                    <a:lumOff val="40000"/>
                  </a:schemeClr>
                </a:gs>
              </a:gsLst>
              <a:path path="circle">
                <a:fillToRect l="100000" t="100000"/>
              </a:path>
              <a:tileRect r="-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57" name="文本框 156"/>
            <p:cNvSpPr txBox="1"/>
            <p:nvPr/>
          </p:nvSpPr>
          <p:spPr>
            <a:xfrm>
              <a:off x="1928" y="3355"/>
              <a:ext cx="2235" cy="388"/>
            </a:xfrm>
            <a:prstGeom prst="rect">
              <a:avLst/>
            </a:prstGeom>
            <a:noFill/>
            <a:effectLst/>
          </p:spPr>
          <p:txBody>
            <a:bodyPr wrap="square" lIns="98755" tIns="49378" rIns="98755" bIns="49378" rtlCol="0">
              <a:spAutoFit/>
            </a:bodyPr>
            <a:lstStyle/>
            <a:p>
              <a:pPr algn="ctr"/>
              <a:r>
                <a:rPr lang="zh-CN" altLang="en-US" sz="970" b="1" dirty="0">
                  <a:solidFill>
                    <a:schemeClr val="bg1"/>
                  </a:solidFill>
                  <a:latin typeface="微软雅黑" panose="020B0503020204020204" charset="-122"/>
                  <a:ea typeface="微软雅黑" panose="020B0503020204020204" charset="-122"/>
                  <a:cs typeface="微软雅黑" panose="020B0503020204020204" charset="-122"/>
                </a:rPr>
                <a:t>产品与服务创新</a:t>
              </a:r>
              <a:endParaRPr lang="zh-CN" altLang="en-US" sz="970" b="1" dirty="0">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159" name="文本框 158"/>
          <p:cNvSpPr txBox="1"/>
          <p:nvPr/>
        </p:nvSpPr>
        <p:spPr>
          <a:xfrm>
            <a:off x="991870" y="2089150"/>
            <a:ext cx="2433955" cy="398780"/>
          </a:xfrm>
          <a:prstGeom prst="rect">
            <a:avLst/>
          </a:prstGeom>
          <a:noFill/>
        </p:spPr>
        <p:txBody>
          <a:bodyPr wrap="square">
            <a:spAutoFit/>
          </a:bodyPr>
          <a:lstStyle/>
          <a:p>
            <a:pPr>
              <a:lnSpc>
                <a:spcPct val="125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构建持续的价值驱动力。以市场需求为导向的创新孵化，构建分层化产品矩阵，精益落地与快速迭代。</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3" name="文本框 162"/>
          <p:cNvSpPr txBox="1"/>
          <p:nvPr/>
        </p:nvSpPr>
        <p:spPr>
          <a:xfrm>
            <a:off x="991870" y="2855219"/>
            <a:ext cx="2352040" cy="398780"/>
          </a:xfrm>
          <a:prstGeom prst="rect">
            <a:avLst/>
          </a:prstGeom>
          <a:noFill/>
        </p:spPr>
        <p:txBody>
          <a:bodyPr wrap="square">
            <a:spAutoFit/>
          </a:bodyPr>
          <a:lstStyle/>
          <a:p>
            <a:pPr>
              <a:lnSpc>
                <a:spcPct val="125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实现收入最大化。建立价值导向的定价基础，实施数据驱动的动态定价机制，差异化营销。</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278" name="组合 277"/>
          <p:cNvGrpSpPr/>
          <p:nvPr/>
        </p:nvGrpSpPr>
        <p:grpSpPr>
          <a:xfrm>
            <a:off x="991870" y="2606675"/>
            <a:ext cx="1675765" cy="246380"/>
            <a:chOff x="1772" y="4266"/>
            <a:chExt cx="2639" cy="388"/>
          </a:xfrm>
        </p:grpSpPr>
        <p:sp>
          <p:nvSpPr>
            <p:cNvPr id="161" name="矩形: 圆角 460"/>
            <p:cNvSpPr/>
            <p:nvPr>
              <p:custDataLst>
                <p:tags r:id="rId2"/>
              </p:custDataLst>
            </p:nvPr>
          </p:nvSpPr>
          <p:spPr>
            <a:xfrm>
              <a:off x="1772" y="4272"/>
              <a:ext cx="2639" cy="375"/>
            </a:xfrm>
            <a:prstGeom prst="roundRect">
              <a:avLst>
                <a:gd name="adj" fmla="val 50000"/>
              </a:avLst>
            </a:prstGeom>
            <a:gradFill flip="none" rotWithShape="1">
              <a:gsLst>
                <a:gs pos="23000">
                  <a:schemeClr val="accent1"/>
                </a:gs>
                <a:gs pos="100000">
                  <a:schemeClr val="accent1">
                    <a:lumMod val="60000"/>
                    <a:lumOff val="40000"/>
                  </a:schemeClr>
                </a:gs>
              </a:gsLst>
              <a:path path="circle">
                <a:fillToRect l="100000" t="100000"/>
              </a:path>
              <a:tileRect r="-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68" name="文本框 167"/>
            <p:cNvSpPr txBox="1"/>
            <p:nvPr/>
          </p:nvSpPr>
          <p:spPr>
            <a:xfrm>
              <a:off x="1850" y="4266"/>
              <a:ext cx="2444" cy="388"/>
            </a:xfrm>
            <a:prstGeom prst="rect">
              <a:avLst/>
            </a:prstGeom>
            <a:noFill/>
            <a:effectLst/>
          </p:spPr>
          <p:txBody>
            <a:bodyPr wrap="square" lIns="98755" tIns="49378" rIns="98755" bIns="49378" rtlCol="0">
              <a:spAutoFit/>
            </a:bodyPr>
            <a:lstStyle/>
            <a:p>
              <a:pPr algn="ctr"/>
              <a:r>
                <a:rPr lang="zh-CN" altLang="en-US" sz="970" b="1" dirty="0">
                  <a:solidFill>
                    <a:schemeClr val="bg1"/>
                  </a:solidFill>
                  <a:latin typeface="微软雅黑" panose="020B0503020204020204" charset="-122"/>
                  <a:ea typeface="微软雅黑" panose="020B0503020204020204" charset="-122"/>
                  <a:cs typeface="微软雅黑" panose="020B0503020204020204" charset="-122"/>
                </a:rPr>
                <a:t>定价策略动态调整</a:t>
              </a:r>
              <a:endParaRPr lang="zh-CN" altLang="en-US" sz="970" b="1" dirty="0">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167" name="文本框 166"/>
          <p:cNvSpPr txBox="1"/>
          <p:nvPr/>
        </p:nvSpPr>
        <p:spPr>
          <a:xfrm>
            <a:off x="991870" y="3646805"/>
            <a:ext cx="2273935" cy="398780"/>
          </a:xfrm>
          <a:prstGeom prst="rect">
            <a:avLst/>
          </a:prstGeom>
          <a:noFill/>
        </p:spPr>
        <p:txBody>
          <a:bodyPr wrap="square">
            <a:spAutoFit/>
          </a:bodyPr>
          <a:lstStyle/>
          <a:p>
            <a:pPr>
              <a:lnSpc>
                <a:spcPct val="125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最大化客户生命周期价值。识别与分级高价值客户，提供超预期的专属服务，驱动增换购。</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279" name="组合 278"/>
          <p:cNvGrpSpPr/>
          <p:nvPr/>
        </p:nvGrpSpPr>
        <p:grpSpPr>
          <a:xfrm>
            <a:off x="991870" y="3355340"/>
            <a:ext cx="1675765" cy="250190"/>
            <a:chOff x="1649" y="5457"/>
            <a:chExt cx="2639" cy="394"/>
          </a:xfrm>
        </p:grpSpPr>
        <p:sp>
          <p:nvSpPr>
            <p:cNvPr id="165" name="矩形: 圆角 460"/>
            <p:cNvSpPr/>
            <p:nvPr>
              <p:custDataLst>
                <p:tags r:id="rId3"/>
              </p:custDataLst>
            </p:nvPr>
          </p:nvSpPr>
          <p:spPr>
            <a:xfrm>
              <a:off x="1649" y="5457"/>
              <a:ext cx="2639" cy="375"/>
            </a:xfrm>
            <a:prstGeom prst="roundRect">
              <a:avLst>
                <a:gd name="adj" fmla="val 50000"/>
              </a:avLst>
            </a:prstGeom>
            <a:gradFill flip="none" rotWithShape="1">
              <a:gsLst>
                <a:gs pos="23000">
                  <a:schemeClr val="accent1"/>
                </a:gs>
                <a:gs pos="100000">
                  <a:schemeClr val="accent1">
                    <a:lumMod val="60000"/>
                    <a:lumOff val="40000"/>
                  </a:schemeClr>
                </a:gs>
              </a:gsLst>
              <a:path path="circle">
                <a:fillToRect l="100000" t="100000"/>
              </a:path>
              <a:tileRect r="-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69" name="文本框 168"/>
            <p:cNvSpPr txBox="1"/>
            <p:nvPr/>
          </p:nvSpPr>
          <p:spPr>
            <a:xfrm>
              <a:off x="1807" y="5463"/>
              <a:ext cx="2365" cy="388"/>
            </a:xfrm>
            <a:prstGeom prst="rect">
              <a:avLst/>
            </a:prstGeom>
            <a:noFill/>
            <a:effectLst/>
          </p:spPr>
          <p:txBody>
            <a:bodyPr wrap="square" lIns="98755" tIns="49378" rIns="98755" bIns="49378" rtlCol="0">
              <a:spAutoFit/>
            </a:bodyPr>
            <a:lstStyle/>
            <a:p>
              <a:pPr algn="ctr"/>
              <a:r>
                <a:rPr lang="zh-CN" altLang="en-US" sz="970" b="1" dirty="0">
                  <a:solidFill>
                    <a:schemeClr val="bg1"/>
                  </a:solidFill>
                  <a:latin typeface="微软雅黑" panose="020B0503020204020204" charset="-122"/>
                  <a:ea typeface="微软雅黑" panose="020B0503020204020204" charset="-122"/>
                  <a:cs typeface="微软雅黑" panose="020B0503020204020204" charset="-122"/>
                </a:rPr>
                <a:t>高价值客户深耕</a:t>
              </a:r>
              <a:endParaRPr lang="zh-CN" altLang="en-US" sz="970" b="1"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181" name="组合 180"/>
          <p:cNvGrpSpPr/>
          <p:nvPr/>
        </p:nvGrpSpPr>
        <p:grpSpPr>
          <a:xfrm>
            <a:off x="9008110" y="1800860"/>
            <a:ext cx="1675765" cy="246380"/>
            <a:chOff x="1727" y="3355"/>
            <a:chExt cx="2639" cy="388"/>
          </a:xfrm>
          <a:scene3d>
            <a:camera prst="perspectiveFront"/>
            <a:lightRig rig="threePt" dir="t"/>
          </a:scene3d>
        </p:grpSpPr>
        <p:sp>
          <p:nvSpPr>
            <p:cNvPr id="182" name="矩形: 圆角 460"/>
            <p:cNvSpPr/>
            <p:nvPr>
              <p:custDataLst>
                <p:tags r:id="rId4"/>
              </p:custDataLst>
            </p:nvPr>
          </p:nvSpPr>
          <p:spPr>
            <a:xfrm>
              <a:off x="1727" y="3361"/>
              <a:ext cx="2639" cy="375"/>
            </a:xfrm>
            <a:prstGeom prst="roundRect">
              <a:avLst>
                <a:gd name="adj" fmla="val 50000"/>
              </a:avLst>
            </a:prstGeom>
            <a:gradFill flip="none" rotWithShape="1">
              <a:gsLst>
                <a:gs pos="23000">
                  <a:schemeClr val="accent1"/>
                </a:gs>
                <a:gs pos="100000">
                  <a:schemeClr val="accent1">
                    <a:lumMod val="60000"/>
                    <a:lumOff val="40000"/>
                  </a:schemeClr>
                </a:gs>
              </a:gsLst>
              <a:path path="circle">
                <a:fillToRect l="100000" t="100000"/>
              </a:path>
              <a:tileRect r="-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83" name="文本框 182"/>
            <p:cNvSpPr txBox="1"/>
            <p:nvPr/>
          </p:nvSpPr>
          <p:spPr>
            <a:xfrm>
              <a:off x="1928" y="3355"/>
              <a:ext cx="2235" cy="388"/>
            </a:xfrm>
            <a:prstGeom prst="rect">
              <a:avLst/>
            </a:prstGeom>
            <a:noFill/>
            <a:effectLst/>
          </p:spPr>
          <p:txBody>
            <a:bodyPr wrap="square" lIns="98755" tIns="49378" rIns="98755" bIns="49378" rtlCol="0">
              <a:spAutoFit/>
            </a:bodyPr>
            <a:lstStyle/>
            <a:p>
              <a:pPr algn="ctr"/>
              <a:r>
                <a:rPr lang="zh-CN" altLang="en-US" sz="970" b="1" dirty="0">
                  <a:solidFill>
                    <a:schemeClr val="bg1"/>
                  </a:solidFill>
                  <a:latin typeface="微软雅黑" panose="020B0503020204020204" charset="-122"/>
                  <a:ea typeface="微软雅黑" panose="020B0503020204020204" charset="-122"/>
                  <a:cs typeface="微软雅黑" panose="020B0503020204020204" charset="-122"/>
                </a:rPr>
                <a:t>运营效率提升</a:t>
              </a:r>
              <a:endParaRPr lang="zh-CN" altLang="en-US" sz="970" b="1" dirty="0">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184" name="文本框 183"/>
          <p:cNvSpPr txBox="1"/>
          <p:nvPr/>
        </p:nvSpPr>
        <p:spPr>
          <a:xfrm>
            <a:off x="8841994" y="2089150"/>
            <a:ext cx="2377107" cy="398780"/>
          </a:xfrm>
          <a:prstGeom prst="rect">
            <a:avLst/>
          </a:prstGeom>
          <a:noFill/>
        </p:spPr>
        <p:txBody>
          <a:bodyPr wrap="square">
            <a:spAutoFit/>
          </a:bodyPr>
          <a:lstStyle/>
          <a:p>
            <a:pPr>
              <a:lnSpc>
                <a:spcPct val="125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消除内部浪费，释放资源价值。流程精益化与自动化，资产与资源效能最大化，效能革命。</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6" name="文本框 185"/>
          <p:cNvSpPr txBox="1"/>
          <p:nvPr/>
        </p:nvSpPr>
        <p:spPr>
          <a:xfrm>
            <a:off x="8920099" y="2855219"/>
            <a:ext cx="2377107" cy="398780"/>
          </a:xfrm>
          <a:prstGeom prst="rect">
            <a:avLst/>
          </a:prstGeom>
          <a:noFill/>
        </p:spPr>
        <p:txBody>
          <a:bodyPr wrap="square">
            <a:spAutoFit/>
          </a:bodyPr>
          <a:lstStyle/>
          <a:p>
            <a:pPr>
              <a:lnSpc>
                <a:spcPct val="125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协同外部网络，降低总拥有成本。采购成本优化，库存与物流精细化，供应链协同与韧性建设。</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8" name="文本框 187"/>
          <p:cNvSpPr txBox="1"/>
          <p:nvPr/>
        </p:nvSpPr>
        <p:spPr>
          <a:xfrm>
            <a:off x="8958199" y="3646805"/>
            <a:ext cx="2377107" cy="398780"/>
          </a:xfrm>
          <a:prstGeom prst="rect">
            <a:avLst/>
          </a:prstGeom>
          <a:noFill/>
        </p:spPr>
        <p:txBody>
          <a:bodyPr wrap="square">
            <a:spAutoFit/>
          </a:bodyPr>
          <a:lstStyle/>
          <a:p>
            <a:pPr>
              <a:lnSpc>
                <a:spcPct val="125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技术驱动效率，固化成本优势。核心业务系统</a:t>
            </a:r>
            <a:r>
              <a:rPr lang="en-US" altLang="zh-CN" sz="800" dirty="0">
                <a:solidFill>
                  <a:schemeClr val="tx2"/>
                </a:solidFill>
                <a:latin typeface="微软雅黑" panose="020B0503020204020204" charset="-122"/>
                <a:ea typeface="微软雅黑" panose="020B0503020204020204" charset="-122"/>
                <a:cs typeface="微软雅黑" panose="020B0503020204020204" charset="-122"/>
              </a:rPr>
              <a:t>SaaS</a:t>
            </a: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化，数据智能驱动决策优化，数字化赋能。</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9" name="组合 8"/>
          <p:cNvGrpSpPr/>
          <p:nvPr/>
        </p:nvGrpSpPr>
        <p:grpSpPr>
          <a:xfrm>
            <a:off x="9008110" y="2606675"/>
            <a:ext cx="1675765" cy="246380"/>
            <a:chOff x="14648" y="4197"/>
            <a:chExt cx="2639" cy="388"/>
          </a:xfrm>
        </p:grpSpPr>
        <p:sp>
          <p:nvSpPr>
            <p:cNvPr id="185" name="矩形: 圆角 460"/>
            <p:cNvSpPr/>
            <p:nvPr>
              <p:custDataLst>
                <p:tags r:id="rId5"/>
              </p:custDataLst>
            </p:nvPr>
          </p:nvSpPr>
          <p:spPr>
            <a:xfrm>
              <a:off x="14648" y="4203"/>
              <a:ext cx="2639" cy="375"/>
            </a:xfrm>
            <a:prstGeom prst="roundRect">
              <a:avLst>
                <a:gd name="adj" fmla="val 50000"/>
              </a:avLst>
            </a:prstGeom>
            <a:gradFill flip="none" rotWithShape="1">
              <a:gsLst>
                <a:gs pos="23000">
                  <a:schemeClr val="accent1"/>
                </a:gs>
                <a:gs pos="100000">
                  <a:schemeClr val="accent1">
                    <a:lumMod val="60000"/>
                    <a:lumOff val="40000"/>
                  </a:schemeClr>
                </a:gs>
              </a:gsLst>
              <a:path path="circle">
                <a:fillToRect l="100000" t="100000"/>
              </a:path>
              <a:tileRect r="-100000" b="-100000"/>
            </a:gradFill>
            <a:ln w="38100">
              <a:noFill/>
            </a:ln>
            <a:effectLst/>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89" name="文本框 188"/>
            <p:cNvSpPr txBox="1"/>
            <p:nvPr/>
          </p:nvSpPr>
          <p:spPr>
            <a:xfrm>
              <a:off x="14917" y="4197"/>
              <a:ext cx="2227" cy="388"/>
            </a:xfrm>
            <a:prstGeom prst="rect">
              <a:avLst/>
            </a:prstGeom>
            <a:noFill/>
            <a:effectLst/>
            <a:scene3d>
              <a:camera prst="orthographicFront">
                <a:rot lat="0" lon="0" rev="0"/>
              </a:camera>
              <a:lightRig rig="threePt" dir="t"/>
            </a:scene3d>
          </p:spPr>
          <p:txBody>
            <a:bodyPr wrap="square" lIns="98755" tIns="49378" rIns="98755" bIns="49378" rtlCol="0">
              <a:spAutoFit/>
            </a:bodyPr>
            <a:lstStyle/>
            <a:p>
              <a:pPr algn="ctr"/>
              <a:r>
                <a:rPr lang="zh-CN" altLang="en-US" sz="970" b="1" dirty="0">
                  <a:solidFill>
                    <a:schemeClr val="bg1"/>
                  </a:solidFill>
                  <a:latin typeface="微软雅黑" panose="020B0503020204020204" charset="-122"/>
                  <a:ea typeface="微软雅黑" panose="020B0503020204020204" charset="-122"/>
                  <a:cs typeface="微软雅黑" panose="020B0503020204020204" charset="-122"/>
                </a:rPr>
                <a:t>供应链优化</a:t>
              </a:r>
              <a:endParaRPr lang="zh-CN" altLang="en-US" sz="970" b="1"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10" name="组合 9"/>
          <p:cNvGrpSpPr/>
          <p:nvPr/>
        </p:nvGrpSpPr>
        <p:grpSpPr>
          <a:xfrm>
            <a:off x="9008110" y="3355340"/>
            <a:ext cx="1675765" cy="246380"/>
            <a:chOff x="14708" y="5671"/>
            <a:chExt cx="2639" cy="388"/>
          </a:xfrm>
        </p:grpSpPr>
        <p:sp>
          <p:nvSpPr>
            <p:cNvPr id="187" name="矩形: 圆角 460"/>
            <p:cNvSpPr/>
            <p:nvPr>
              <p:custDataLst>
                <p:tags r:id="rId6"/>
              </p:custDataLst>
            </p:nvPr>
          </p:nvSpPr>
          <p:spPr>
            <a:xfrm>
              <a:off x="14708" y="5677"/>
              <a:ext cx="2639" cy="375"/>
            </a:xfrm>
            <a:prstGeom prst="roundRect">
              <a:avLst>
                <a:gd name="adj" fmla="val 50000"/>
              </a:avLst>
            </a:prstGeom>
            <a:gradFill flip="none" rotWithShape="1">
              <a:gsLst>
                <a:gs pos="23000">
                  <a:schemeClr val="accent1"/>
                </a:gs>
                <a:gs pos="100000">
                  <a:schemeClr val="accent1">
                    <a:lumMod val="60000"/>
                    <a:lumOff val="40000"/>
                  </a:schemeClr>
                </a:gs>
              </a:gsLst>
              <a:path path="circle">
                <a:fillToRect l="100000" t="100000"/>
              </a:path>
              <a:tileRect r="-100000" b="-100000"/>
            </a:gradFill>
            <a:ln w="38100">
              <a:noFill/>
            </a:ln>
            <a:effectLst/>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90" name="文本框 189"/>
            <p:cNvSpPr txBox="1"/>
            <p:nvPr/>
          </p:nvSpPr>
          <p:spPr>
            <a:xfrm>
              <a:off x="14869" y="5671"/>
              <a:ext cx="2331" cy="388"/>
            </a:xfrm>
            <a:prstGeom prst="rect">
              <a:avLst/>
            </a:prstGeom>
            <a:noFill/>
            <a:effectLst/>
            <a:scene3d>
              <a:camera prst="orthographicFront">
                <a:rot lat="0" lon="0" rev="0"/>
              </a:camera>
              <a:lightRig rig="threePt" dir="t"/>
            </a:scene3d>
          </p:spPr>
          <p:txBody>
            <a:bodyPr wrap="square" lIns="98755" tIns="49378" rIns="98755" bIns="49378" rtlCol="0">
              <a:spAutoFit/>
            </a:bodyPr>
            <a:lstStyle/>
            <a:p>
              <a:pPr algn="ctr"/>
              <a:r>
                <a:rPr lang="zh-CN" altLang="en-US" sz="970" b="1" dirty="0">
                  <a:solidFill>
                    <a:schemeClr val="bg1"/>
                  </a:solidFill>
                  <a:latin typeface="微软雅黑" panose="020B0503020204020204" charset="-122"/>
                  <a:ea typeface="微软雅黑" panose="020B0503020204020204" charset="-122"/>
                  <a:cs typeface="微软雅黑" panose="020B0503020204020204" charset="-122"/>
                </a:rPr>
                <a:t>数字化转型降本</a:t>
              </a:r>
              <a:endParaRPr lang="zh-CN" altLang="en-US" sz="970" b="1" dirty="0">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191" name="椭圆 190"/>
          <p:cNvSpPr/>
          <p:nvPr/>
        </p:nvSpPr>
        <p:spPr>
          <a:xfrm>
            <a:off x="6345202" y="2062294"/>
            <a:ext cx="1765926" cy="1765926"/>
          </a:xfrm>
          <a:prstGeom prst="ellipse">
            <a:avLst/>
          </a:prstGeom>
          <a:noFill/>
          <a:ln>
            <a:solidFill>
              <a:schemeClr val="tx2">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92" name="椭圆 191"/>
          <p:cNvSpPr/>
          <p:nvPr/>
        </p:nvSpPr>
        <p:spPr>
          <a:xfrm>
            <a:off x="4080522" y="2062294"/>
            <a:ext cx="1765926" cy="1765926"/>
          </a:xfrm>
          <a:prstGeom prst="ellipse">
            <a:avLst/>
          </a:prstGeom>
          <a:noFill/>
          <a:ln>
            <a:solidFill>
              <a:schemeClr val="tx2">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93" name="椭圆 192"/>
          <p:cNvSpPr/>
          <p:nvPr/>
        </p:nvSpPr>
        <p:spPr>
          <a:xfrm>
            <a:off x="5133239" y="2069711"/>
            <a:ext cx="1868940" cy="1868940"/>
          </a:xfrm>
          <a:prstGeom prst="ellipse">
            <a:avLst/>
          </a:prstGeom>
          <a:gradFill flip="none" rotWithShape="1">
            <a:gsLst>
              <a:gs pos="23000">
                <a:schemeClr val="accent5"/>
              </a:gs>
              <a:gs pos="100000">
                <a:schemeClr val="accent5">
                  <a:lumMod val="60000"/>
                  <a:lumOff val="40000"/>
                </a:schemeClr>
              </a:gs>
            </a:gsLst>
            <a:path path="circle">
              <a:fillToRect l="100000" t="100000"/>
            </a:path>
            <a:tileRect r="-100000" b="-100000"/>
          </a:gradFill>
          <a:ln w="38100">
            <a:noFill/>
          </a:ln>
          <a:effectLst>
            <a:outerShdw blurRad="411480" dist="123444" dir="5400000" sx="108000" sy="108000" algn="ctr" rotWithShape="0">
              <a:schemeClr val="accent5">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94" name="椭圆 193"/>
          <p:cNvSpPr/>
          <p:nvPr/>
        </p:nvSpPr>
        <p:spPr>
          <a:xfrm>
            <a:off x="3441700" y="2394585"/>
            <a:ext cx="1040765" cy="1040765"/>
          </a:xfrm>
          <a:prstGeom prst="ellipse">
            <a:avLst/>
          </a:prstGeom>
          <a:gradFill flip="none" rotWithShape="1">
            <a:gsLst>
              <a:gs pos="0">
                <a:schemeClr val="accent1"/>
              </a:gs>
              <a:gs pos="100000">
                <a:schemeClr val="accent1">
                  <a:lumMod val="60000"/>
                  <a:lumOff val="40000"/>
                </a:schemeClr>
              </a:gs>
            </a:gsLst>
            <a:lin ang="0"/>
          </a:gradFill>
          <a:ln w="38100">
            <a:noFill/>
          </a:ln>
          <a:effectLst>
            <a:outerShdw blurRad="254000" dist="123444" dir="5400000" sx="99000" sy="99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99" name="任意多边形: 形状 15"/>
          <p:cNvSpPr/>
          <p:nvPr/>
        </p:nvSpPr>
        <p:spPr>
          <a:xfrm rot="16200000">
            <a:off x="7201235" y="3759653"/>
            <a:ext cx="149614" cy="12714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00" name="任意多边形: 形状 18"/>
          <p:cNvSpPr/>
          <p:nvPr/>
        </p:nvSpPr>
        <p:spPr>
          <a:xfrm rot="5400000">
            <a:off x="7192208" y="1997776"/>
            <a:ext cx="149614" cy="12714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01" name="任意多边形: 形状 22"/>
          <p:cNvSpPr/>
          <p:nvPr/>
        </p:nvSpPr>
        <p:spPr>
          <a:xfrm rot="5400000">
            <a:off x="4848983" y="3764280"/>
            <a:ext cx="149614" cy="127000"/>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02" name="任意多边形: 形状 23"/>
          <p:cNvSpPr/>
          <p:nvPr/>
        </p:nvSpPr>
        <p:spPr>
          <a:xfrm rot="16200000">
            <a:off x="4819143" y="2005517"/>
            <a:ext cx="149614" cy="12714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488" name="任意多边形: 形状 487"/>
          <p:cNvSpPr/>
          <p:nvPr/>
        </p:nvSpPr>
        <p:spPr>
          <a:xfrm>
            <a:off x="5399405" y="1277620"/>
            <a:ext cx="1367155" cy="129349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alpha val="0"/>
                </a:schemeClr>
              </a:gs>
              <a:gs pos="46000">
                <a:schemeClr val="accent5">
                  <a:alpha val="13000"/>
                </a:schemeClr>
              </a:gs>
              <a:gs pos="100000">
                <a:schemeClr val="accent5">
                  <a:alpha val="10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109" name="组合 108"/>
          <p:cNvGrpSpPr/>
          <p:nvPr/>
        </p:nvGrpSpPr>
        <p:grpSpPr>
          <a:xfrm>
            <a:off x="7528560" y="2394585"/>
            <a:ext cx="1040130" cy="1040130"/>
            <a:chOff x="11856" y="3884"/>
            <a:chExt cx="1638" cy="1638"/>
          </a:xfrm>
        </p:grpSpPr>
        <p:sp>
          <p:nvSpPr>
            <p:cNvPr id="195" name="椭圆 194"/>
            <p:cNvSpPr/>
            <p:nvPr/>
          </p:nvSpPr>
          <p:spPr>
            <a:xfrm>
              <a:off x="11856" y="3884"/>
              <a:ext cx="1639" cy="1639"/>
            </a:xfrm>
            <a:prstGeom prst="ellipse">
              <a:avLst/>
            </a:prstGeom>
            <a:gradFill flip="none" rotWithShape="1">
              <a:gsLst>
                <a:gs pos="0">
                  <a:schemeClr val="accent1"/>
                </a:gs>
                <a:gs pos="100000">
                  <a:schemeClr val="accent1">
                    <a:lumMod val="60000"/>
                    <a:lumOff val="40000"/>
                  </a:schemeClr>
                </a:gs>
              </a:gsLst>
              <a:lin ang="0"/>
            </a:gradFill>
            <a:ln w="38100">
              <a:noFill/>
            </a:ln>
            <a:effectLst>
              <a:outerShdw blurRad="254000" dist="123444" dir="5400000" sx="99000" sy="99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nvSpPr>
          <p:spPr>
            <a:xfrm>
              <a:off x="11948" y="4153"/>
              <a:ext cx="1536" cy="1101"/>
            </a:xfrm>
            <a:prstGeom prst="rect">
              <a:avLst/>
            </a:prstGeom>
            <a:noFill/>
          </p:spPr>
          <p:txBody>
            <a:bodyPr wrap="square" rtlCol="0" anchor="ctr" anchorCtr="0">
              <a:no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zh-CN" altLang="en-US" sz="2000" b="1" dirty="0">
                  <a:solidFill>
                    <a:schemeClr val="bg1"/>
                  </a:solidFill>
                  <a:latin typeface="微软雅黑" panose="020B0503020204020204" charset="-122"/>
                  <a:ea typeface="微软雅黑" panose="020B0503020204020204" charset="-122"/>
                  <a:cs typeface="微软雅黑" panose="020B0503020204020204" charset="-122"/>
                </a:rPr>
                <a:t>②</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成本控制策略</a:t>
              </a:r>
              <a:endParaRPr lang="en-US" altLang="zh-CN" sz="14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106" name="文本框 105"/>
          <p:cNvSpPr txBox="1"/>
          <p:nvPr/>
        </p:nvSpPr>
        <p:spPr>
          <a:xfrm>
            <a:off x="5234940" y="2588260"/>
            <a:ext cx="1656080" cy="922020"/>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zh-CN" altLang="en-US" b="1" dirty="0">
                <a:solidFill>
                  <a:schemeClr val="bg1"/>
                </a:solidFill>
                <a:latin typeface="微软雅黑" panose="020B0503020204020204" charset="-122"/>
                <a:ea typeface="微软雅黑" panose="020B0503020204020204" charset="-122"/>
                <a:cs typeface="微软雅黑" panose="020B0503020204020204" charset="-122"/>
              </a:rPr>
              <a:t>实现可持续、高质量盈利</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b="1" dirty="0">
                <a:solidFill>
                  <a:schemeClr val="bg1"/>
                </a:solidFill>
                <a:latin typeface="微软雅黑" panose="020B0503020204020204" charset="-122"/>
                <a:ea typeface="微软雅黑" panose="020B0503020204020204" charset="-122"/>
                <a:cs typeface="微软雅黑" panose="020B0503020204020204" charset="-122"/>
              </a:rPr>
              <a:t>的目标</a:t>
            </a:r>
            <a:endParaRPr lang="zh-CN" altLang="en-US" sz="1600" dirty="0">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244" name="直接连接符 243"/>
          <p:cNvCxnSpPr/>
          <p:nvPr/>
        </p:nvCxnSpPr>
        <p:spPr>
          <a:xfrm>
            <a:off x="2967355" y="4366260"/>
            <a:ext cx="0" cy="396240"/>
          </a:xfrm>
          <a:prstGeom prst="line">
            <a:avLst/>
          </a:prstGeom>
          <a:ln w="19050" cap="rnd">
            <a:gradFill>
              <a:gsLst>
                <a:gs pos="0">
                  <a:schemeClr val="accent5">
                    <a:lumMod val="60000"/>
                    <a:lumOff val="40000"/>
                    <a:alpha val="55000"/>
                  </a:schemeClr>
                </a:gs>
                <a:gs pos="100000">
                  <a:schemeClr val="accent5">
                    <a:lumMod val="60000"/>
                    <a:lumOff val="40000"/>
                    <a:alpha val="0"/>
                  </a:schemeClr>
                </a:gs>
              </a:gsLst>
              <a:lin ang="5400000" scaled="1"/>
            </a:gradFill>
          </a:ln>
        </p:spPr>
        <p:style>
          <a:lnRef idx="1">
            <a:srgbClr val="3045A6"/>
          </a:lnRef>
          <a:fillRef idx="0">
            <a:srgbClr val="3045A6"/>
          </a:fillRef>
          <a:effectRef idx="0">
            <a:srgbClr val="3045A6"/>
          </a:effectRef>
          <a:fontRef idx="minor">
            <a:srgbClr val="FFFFFF"/>
          </a:fontRef>
        </p:style>
      </p:cxnSp>
      <p:cxnSp>
        <p:nvCxnSpPr>
          <p:cNvPr id="328" name="直接连接符 327"/>
          <p:cNvCxnSpPr/>
          <p:nvPr/>
        </p:nvCxnSpPr>
        <p:spPr>
          <a:xfrm>
            <a:off x="3637280" y="4148455"/>
            <a:ext cx="0" cy="396240"/>
          </a:xfrm>
          <a:prstGeom prst="line">
            <a:avLst/>
          </a:prstGeom>
          <a:ln w="19050" cap="rnd">
            <a:gradFill>
              <a:gsLst>
                <a:gs pos="0">
                  <a:schemeClr val="accent5">
                    <a:lumMod val="60000"/>
                    <a:lumOff val="40000"/>
                    <a:alpha val="55000"/>
                  </a:schemeClr>
                </a:gs>
                <a:gs pos="100000">
                  <a:schemeClr val="accent5">
                    <a:lumMod val="60000"/>
                    <a:lumOff val="40000"/>
                    <a:alpha val="0"/>
                  </a:schemeClr>
                </a:gs>
              </a:gsLst>
              <a:lin ang="5400000" scaled="1"/>
            </a:gradFill>
          </a:ln>
        </p:spPr>
        <p:style>
          <a:lnRef idx="1">
            <a:srgbClr val="3045A6"/>
          </a:lnRef>
          <a:fillRef idx="0">
            <a:srgbClr val="3045A6"/>
          </a:fillRef>
          <a:effectRef idx="0">
            <a:srgbClr val="3045A6"/>
          </a:effectRef>
          <a:fontRef idx="minor">
            <a:srgbClr val="FFFFFF"/>
          </a:fontRef>
        </p:style>
      </p:cxnSp>
      <p:cxnSp>
        <p:nvCxnSpPr>
          <p:cNvPr id="333" name="直接连接符 332"/>
          <p:cNvCxnSpPr/>
          <p:nvPr/>
        </p:nvCxnSpPr>
        <p:spPr>
          <a:xfrm>
            <a:off x="4284980" y="4004945"/>
            <a:ext cx="0" cy="396240"/>
          </a:xfrm>
          <a:prstGeom prst="line">
            <a:avLst/>
          </a:prstGeom>
          <a:ln w="19050" cap="rnd">
            <a:gradFill>
              <a:gsLst>
                <a:gs pos="0">
                  <a:schemeClr val="accent5">
                    <a:lumMod val="60000"/>
                    <a:lumOff val="40000"/>
                    <a:alpha val="55000"/>
                  </a:schemeClr>
                </a:gs>
                <a:gs pos="100000">
                  <a:schemeClr val="accent5">
                    <a:lumMod val="60000"/>
                    <a:lumOff val="40000"/>
                    <a:alpha val="0"/>
                  </a:schemeClr>
                </a:gs>
              </a:gsLst>
              <a:lin ang="5400000" scaled="1"/>
            </a:gradFill>
          </a:ln>
        </p:spPr>
        <p:style>
          <a:lnRef idx="1">
            <a:srgbClr val="3045A6"/>
          </a:lnRef>
          <a:fillRef idx="0">
            <a:srgbClr val="3045A6"/>
          </a:fillRef>
          <a:effectRef idx="0">
            <a:srgbClr val="3045A6"/>
          </a:effectRef>
          <a:fontRef idx="minor">
            <a:srgbClr val="FFFFFF"/>
          </a:fontRef>
        </p:style>
      </p:cxnSp>
      <p:grpSp>
        <p:nvGrpSpPr>
          <p:cNvPr id="335" name="组合 334"/>
          <p:cNvGrpSpPr/>
          <p:nvPr/>
        </p:nvGrpSpPr>
        <p:grpSpPr>
          <a:xfrm flipH="1">
            <a:off x="7969885" y="4057015"/>
            <a:ext cx="1317625" cy="757555"/>
            <a:chOff x="5030" y="6194"/>
            <a:chExt cx="2075" cy="1193"/>
          </a:xfrm>
        </p:grpSpPr>
        <p:cxnSp>
          <p:nvCxnSpPr>
            <p:cNvPr id="336" name="直接连接符 335"/>
            <p:cNvCxnSpPr/>
            <p:nvPr/>
          </p:nvCxnSpPr>
          <p:spPr>
            <a:xfrm>
              <a:off x="5030" y="6763"/>
              <a:ext cx="0" cy="624"/>
            </a:xfrm>
            <a:prstGeom prst="line">
              <a:avLst/>
            </a:prstGeom>
            <a:ln w="19050" cap="rnd">
              <a:gradFill>
                <a:gsLst>
                  <a:gs pos="0">
                    <a:schemeClr val="accent5">
                      <a:lumMod val="60000"/>
                      <a:lumOff val="40000"/>
                      <a:alpha val="55000"/>
                    </a:schemeClr>
                  </a:gs>
                  <a:gs pos="100000">
                    <a:schemeClr val="accent5">
                      <a:lumMod val="60000"/>
                      <a:lumOff val="40000"/>
                      <a:alpha val="0"/>
                    </a:schemeClr>
                  </a:gs>
                </a:gsLst>
                <a:lin ang="5400000" scaled="1"/>
              </a:gradFill>
            </a:ln>
          </p:spPr>
          <p:style>
            <a:lnRef idx="1">
              <a:srgbClr val="3045A6"/>
            </a:lnRef>
            <a:fillRef idx="0">
              <a:srgbClr val="3045A6"/>
            </a:fillRef>
            <a:effectRef idx="0">
              <a:srgbClr val="3045A6"/>
            </a:effectRef>
            <a:fontRef idx="minor">
              <a:srgbClr val="FFFFFF"/>
            </a:fontRef>
          </p:style>
        </p:cxnSp>
        <p:cxnSp>
          <p:nvCxnSpPr>
            <p:cNvPr id="337" name="直接连接符 336"/>
            <p:cNvCxnSpPr/>
            <p:nvPr/>
          </p:nvCxnSpPr>
          <p:spPr>
            <a:xfrm>
              <a:off x="6085" y="6420"/>
              <a:ext cx="0" cy="624"/>
            </a:xfrm>
            <a:prstGeom prst="line">
              <a:avLst/>
            </a:prstGeom>
            <a:ln w="19050" cap="rnd">
              <a:gradFill>
                <a:gsLst>
                  <a:gs pos="0">
                    <a:schemeClr val="accent5">
                      <a:lumMod val="60000"/>
                      <a:lumOff val="40000"/>
                      <a:alpha val="55000"/>
                    </a:schemeClr>
                  </a:gs>
                  <a:gs pos="100000">
                    <a:schemeClr val="accent5">
                      <a:lumMod val="60000"/>
                      <a:lumOff val="40000"/>
                      <a:alpha val="0"/>
                    </a:schemeClr>
                  </a:gs>
                </a:gsLst>
                <a:lin ang="5400000" scaled="1"/>
              </a:gradFill>
            </a:ln>
          </p:spPr>
          <p:style>
            <a:lnRef idx="1">
              <a:srgbClr val="3045A6"/>
            </a:lnRef>
            <a:fillRef idx="0">
              <a:srgbClr val="3045A6"/>
            </a:fillRef>
            <a:effectRef idx="0">
              <a:srgbClr val="3045A6"/>
            </a:effectRef>
            <a:fontRef idx="minor">
              <a:srgbClr val="FFFFFF"/>
            </a:fontRef>
          </p:style>
        </p:cxnSp>
        <p:cxnSp>
          <p:nvCxnSpPr>
            <p:cNvPr id="338" name="直接连接符 337"/>
            <p:cNvCxnSpPr/>
            <p:nvPr/>
          </p:nvCxnSpPr>
          <p:spPr>
            <a:xfrm>
              <a:off x="7105" y="6194"/>
              <a:ext cx="0" cy="624"/>
            </a:xfrm>
            <a:prstGeom prst="line">
              <a:avLst/>
            </a:prstGeom>
            <a:ln w="19050" cap="rnd">
              <a:gradFill>
                <a:gsLst>
                  <a:gs pos="0">
                    <a:schemeClr val="accent5">
                      <a:lumMod val="60000"/>
                      <a:lumOff val="40000"/>
                      <a:alpha val="55000"/>
                    </a:schemeClr>
                  </a:gs>
                  <a:gs pos="100000">
                    <a:schemeClr val="accent5">
                      <a:lumMod val="60000"/>
                      <a:lumOff val="40000"/>
                      <a:alpha val="0"/>
                    </a:schemeClr>
                  </a:gs>
                </a:gsLst>
                <a:lin ang="5400000" scaled="1"/>
              </a:gradFill>
            </a:ln>
          </p:spPr>
          <p:style>
            <a:lnRef idx="1">
              <a:srgbClr val="3045A6"/>
            </a:lnRef>
            <a:fillRef idx="0">
              <a:srgbClr val="3045A6"/>
            </a:fillRef>
            <a:effectRef idx="0">
              <a:srgbClr val="3045A6"/>
            </a:effectRef>
            <a:fontRef idx="minor">
              <a:srgbClr val="FFFFFF"/>
            </a:fontRef>
          </p:style>
        </p:cxnSp>
      </p:grpSp>
      <p:grpSp>
        <p:nvGrpSpPr>
          <p:cNvPr id="133" name="@显眼包PPT1"/>
          <p:cNvGrpSpPr/>
          <p:nvPr/>
        </p:nvGrpSpPr>
        <p:grpSpPr>
          <a:xfrm>
            <a:off x="355917" y="5284673"/>
            <a:ext cx="11522075" cy="474980"/>
            <a:chOff x="334962" y="5996408"/>
            <a:chExt cx="11522075" cy="474980"/>
          </a:xfrm>
        </p:grpSpPr>
        <p:sp>
          <p:nvSpPr>
            <p:cNvPr id="25" name="@显眼包PPT1-1"/>
            <p:cNvSpPr/>
            <p:nvPr/>
          </p:nvSpPr>
          <p:spPr>
            <a:xfrm>
              <a:off x="334962" y="5996408"/>
              <a:ext cx="11522075" cy="330360"/>
            </a:xfrm>
            <a:prstGeom prst="trapezoid">
              <a:avLst>
                <a:gd name="adj" fmla="val 152137"/>
              </a:avLst>
            </a:prstGeom>
            <a:gradFill flip="none" rotWithShape="1">
              <a:gsLst>
                <a:gs pos="0">
                  <a:schemeClr val="accent1">
                    <a:lumMod val="40000"/>
                    <a:lumOff val="60000"/>
                    <a:alpha val="0"/>
                  </a:schemeClr>
                </a:gs>
                <a:gs pos="100000">
                  <a:schemeClr val="accent1">
                    <a:lumMod val="40000"/>
                    <a:lumOff val="60000"/>
                    <a:alpha val="41000"/>
                  </a:schemeClr>
                </a:gs>
              </a:gsLst>
              <a:lin ang="5400000" scaled="1"/>
              <a:tileRect/>
            </a:gradFill>
            <a:ln>
              <a:gradFill>
                <a:gsLst>
                  <a:gs pos="0">
                    <a:schemeClr val="accent1">
                      <a:lumMod val="60000"/>
                      <a:lumOff val="40000"/>
                      <a:alpha val="0"/>
                    </a:schemeClr>
                  </a:gs>
                  <a:gs pos="100000">
                    <a:schemeClr val="accent1">
                      <a:lumMod val="60000"/>
                      <a:lumOff val="4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6" name="@显眼包PPT1-2"/>
            <p:cNvSpPr/>
            <p:nvPr/>
          </p:nvSpPr>
          <p:spPr>
            <a:xfrm>
              <a:off x="334962" y="6326608"/>
              <a:ext cx="11522075" cy="144780"/>
            </a:xfrm>
            <a:prstGeom prst="rect">
              <a:avLst/>
            </a:prstGeom>
            <a:gradFill flip="none" rotWithShape="1">
              <a:gsLst>
                <a:gs pos="0">
                  <a:schemeClr val="accent1">
                    <a:lumMod val="60000"/>
                    <a:lumOff val="40000"/>
                  </a:schemeClr>
                </a:gs>
                <a:gs pos="97273">
                  <a:schemeClr val="accent1">
                    <a:lumMod val="60000"/>
                    <a:lumOff val="40000"/>
                  </a:schemeClr>
                </a:gs>
                <a:gs pos="50000">
                  <a:schemeClr val="accent1"/>
                </a:gs>
              </a:gsLst>
              <a:lin ang="0" scaled="1"/>
              <a:tileRect/>
            </a:gradFill>
            <a:ln>
              <a:noFill/>
            </a:ln>
            <a:effectLst>
              <a:reflection blurRad="50800" stA="41000" endPos="38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37" name="组合 36"/>
          <p:cNvGrpSpPr/>
          <p:nvPr/>
        </p:nvGrpSpPr>
        <p:grpSpPr>
          <a:xfrm rot="0">
            <a:off x="1891665" y="4415790"/>
            <a:ext cx="952500" cy="751205"/>
            <a:chOff x="1879619" y="4432848"/>
            <a:chExt cx="952481" cy="751001"/>
          </a:xfrm>
        </p:grpSpPr>
        <p:sp>
          <p:nvSpPr>
            <p:cNvPr id="17" name="不完整圆 235"/>
            <p:cNvSpPr/>
            <p:nvPr/>
          </p:nvSpPr>
          <p:spPr>
            <a:xfrm>
              <a:off x="1879619" y="5064397"/>
              <a:ext cx="952481" cy="11945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38100">
              <a:gradFill flip="none" rotWithShape="1">
                <a:gsLst>
                  <a:gs pos="0">
                    <a:schemeClr val="accent1">
                      <a:lumMod val="0"/>
                      <a:lumOff val="100000"/>
                    </a:schemeClr>
                  </a:gs>
                  <a:gs pos="100000">
                    <a:schemeClr val="accent5"/>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36" name="椭圆 35"/>
            <p:cNvSpPr/>
            <p:nvPr>
              <p:custDataLst>
                <p:tags r:id="rId7"/>
              </p:custDataLst>
            </p:nvPr>
          </p:nvSpPr>
          <p:spPr>
            <a:xfrm flipH="1">
              <a:off x="2020774" y="4432848"/>
              <a:ext cx="670170" cy="670170"/>
            </a:xfrm>
            <a:prstGeom prst="ellipse">
              <a:avLst/>
            </a:prstGeom>
            <a:gradFill flip="none" rotWithShape="1">
              <a:gsLst>
                <a:gs pos="23000">
                  <a:schemeClr val="accent5"/>
                </a:gs>
                <a:gs pos="100000">
                  <a:schemeClr val="accent5">
                    <a:lumMod val="60000"/>
                    <a:lumOff val="40000"/>
                  </a:schemeClr>
                </a:gs>
              </a:gsLst>
              <a:path path="circle">
                <a:fillToRect l="100000" t="100000"/>
              </a:path>
              <a:tileRect r="-100000" b="-100000"/>
            </a:gradFill>
            <a:ln w="38100">
              <a:noFill/>
            </a:ln>
            <a:effectLst>
              <a:outerShdw blurRad="411480" dist="123444" dir="5400000" sx="108000" sy="108000" algn="ctr" rotWithShape="0">
                <a:schemeClr val="accent5">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grpSp>
      <p:grpSp>
        <p:nvGrpSpPr>
          <p:cNvPr id="21" name="组合 20"/>
          <p:cNvGrpSpPr/>
          <p:nvPr/>
        </p:nvGrpSpPr>
        <p:grpSpPr>
          <a:xfrm rot="0">
            <a:off x="3757930" y="4415790"/>
            <a:ext cx="952500" cy="751205"/>
            <a:chOff x="1879619" y="4432848"/>
            <a:chExt cx="952481" cy="751001"/>
          </a:xfrm>
        </p:grpSpPr>
        <p:sp>
          <p:nvSpPr>
            <p:cNvPr id="22" name="不完整圆 235"/>
            <p:cNvSpPr/>
            <p:nvPr/>
          </p:nvSpPr>
          <p:spPr>
            <a:xfrm>
              <a:off x="1879619" y="5064397"/>
              <a:ext cx="952481" cy="11945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38100">
              <a:gradFill flip="none" rotWithShape="1">
                <a:gsLst>
                  <a:gs pos="0">
                    <a:schemeClr val="accent1">
                      <a:lumMod val="0"/>
                      <a:lumOff val="100000"/>
                    </a:schemeClr>
                  </a:gs>
                  <a:gs pos="100000">
                    <a:schemeClr val="accent5"/>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24" name="椭圆 23"/>
            <p:cNvSpPr/>
            <p:nvPr>
              <p:custDataLst>
                <p:tags r:id="rId8"/>
              </p:custDataLst>
            </p:nvPr>
          </p:nvSpPr>
          <p:spPr>
            <a:xfrm flipH="1">
              <a:off x="2020774" y="4432848"/>
              <a:ext cx="670170" cy="670170"/>
            </a:xfrm>
            <a:prstGeom prst="ellipse">
              <a:avLst/>
            </a:prstGeom>
            <a:gradFill flip="none" rotWithShape="1">
              <a:gsLst>
                <a:gs pos="23000">
                  <a:schemeClr val="accent5"/>
                </a:gs>
                <a:gs pos="100000">
                  <a:schemeClr val="accent5">
                    <a:lumMod val="60000"/>
                    <a:lumOff val="40000"/>
                  </a:schemeClr>
                </a:gs>
              </a:gsLst>
              <a:path path="circle">
                <a:fillToRect l="100000" t="100000"/>
              </a:path>
              <a:tileRect r="-100000" b="-100000"/>
            </a:gradFill>
            <a:ln w="38100">
              <a:noFill/>
            </a:ln>
            <a:effectLst>
              <a:outerShdw blurRad="411480" dist="123444" dir="5400000" sx="108000" sy="108000" algn="ctr" rotWithShape="0">
                <a:schemeClr val="accent5">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grpSp>
      <p:grpSp>
        <p:nvGrpSpPr>
          <p:cNvPr id="29" name="组合 28"/>
          <p:cNvGrpSpPr/>
          <p:nvPr/>
        </p:nvGrpSpPr>
        <p:grpSpPr>
          <a:xfrm rot="0">
            <a:off x="5624195" y="4415790"/>
            <a:ext cx="952500" cy="751205"/>
            <a:chOff x="1879619" y="4432848"/>
            <a:chExt cx="952481" cy="751001"/>
          </a:xfrm>
        </p:grpSpPr>
        <p:sp>
          <p:nvSpPr>
            <p:cNvPr id="31" name="不完整圆 235"/>
            <p:cNvSpPr/>
            <p:nvPr/>
          </p:nvSpPr>
          <p:spPr>
            <a:xfrm>
              <a:off x="1879619" y="5064397"/>
              <a:ext cx="952481" cy="11945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38100">
              <a:gradFill flip="none" rotWithShape="1">
                <a:gsLst>
                  <a:gs pos="0">
                    <a:schemeClr val="accent1">
                      <a:lumMod val="0"/>
                      <a:lumOff val="100000"/>
                    </a:schemeClr>
                  </a:gs>
                  <a:gs pos="100000">
                    <a:schemeClr val="accent5"/>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32" name="椭圆 31"/>
            <p:cNvSpPr/>
            <p:nvPr>
              <p:custDataLst>
                <p:tags r:id="rId9"/>
              </p:custDataLst>
            </p:nvPr>
          </p:nvSpPr>
          <p:spPr>
            <a:xfrm flipH="1">
              <a:off x="2020774" y="4432848"/>
              <a:ext cx="670170" cy="670170"/>
            </a:xfrm>
            <a:prstGeom prst="ellipse">
              <a:avLst/>
            </a:prstGeom>
            <a:gradFill flip="none" rotWithShape="1">
              <a:gsLst>
                <a:gs pos="23000">
                  <a:schemeClr val="accent5"/>
                </a:gs>
                <a:gs pos="100000">
                  <a:schemeClr val="accent5">
                    <a:lumMod val="60000"/>
                    <a:lumOff val="40000"/>
                  </a:schemeClr>
                </a:gs>
              </a:gsLst>
              <a:path path="circle">
                <a:fillToRect l="100000" t="100000"/>
              </a:path>
              <a:tileRect r="-100000" b="-100000"/>
            </a:gradFill>
            <a:ln w="38100">
              <a:noFill/>
            </a:ln>
            <a:effectLst>
              <a:outerShdw blurRad="411480" dist="123444" dir="5400000" sx="108000" sy="108000" algn="ctr" rotWithShape="0">
                <a:schemeClr val="accent5">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grpSp>
      <p:grpSp>
        <p:nvGrpSpPr>
          <p:cNvPr id="34" name="组合 33"/>
          <p:cNvGrpSpPr/>
          <p:nvPr/>
        </p:nvGrpSpPr>
        <p:grpSpPr>
          <a:xfrm>
            <a:off x="7490460" y="4415790"/>
            <a:ext cx="952500" cy="750570"/>
            <a:chOff x="1856" y="7553"/>
            <a:chExt cx="1500" cy="1182"/>
          </a:xfrm>
        </p:grpSpPr>
        <p:grpSp>
          <p:nvGrpSpPr>
            <p:cNvPr id="35" name="组合 34"/>
            <p:cNvGrpSpPr/>
            <p:nvPr/>
          </p:nvGrpSpPr>
          <p:grpSpPr>
            <a:xfrm>
              <a:off x="1856" y="7553"/>
              <a:ext cx="1500" cy="1183"/>
              <a:chOff x="1879619" y="4432848"/>
              <a:chExt cx="952481" cy="751001"/>
            </a:xfrm>
          </p:grpSpPr>
          <p:sp>
            <p:nvSpPr>
              <p:cNvPr id="38" name="不完整圆 235"/>
              <p:cNvSpPr/>
              <p:nvPr/>
            </p:nvSpPr>
            <p:spPr>
              <a:xfrm>
                <a:off x="1879619" y="5064397"/>
                <a:ext cx="952481" cy="11945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38100">
                <a:gradFill flip="none" rotWithShape="1">
                  <a:gsLst>
                    <a:gs pos="0">
                      <a:schemeClr val="accent1">
                        <a:lumMod val="0"/>
                        <a:lumOff val="100000"/>
                      </a:schemeClr>
                    </a:gs>
                    <a:gs pos="100000">
                      <a:schemeClr val="accent5"/>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40" name="椭圆 39"/>
              <p:cNvSpPr/>
              <p:nvPr>
                <p:custDataLst>
                  <p:tags r:id="rId10"/>
                </p:custDataLst>
              </p:nvPr>
            </p:nvSpPr>
            <p:spPr>
              <a:xfrm flipH="1">
                <a:off x="2020774" y="4432848"/>
                <a:ext cx="670170" cy="670170"/>
              </a:xfrm>
              <a:prstGeom prst="ellipse">
                <a:avLst/>
              </a:prstGeom>
              <a:gradFill flip="none" rotWithShape="1">
                <a:gsLst>
                  <a:gs pos="23000">
                    <a:schemeClr val="accent5"/>
                  </a:gs>
                  <a:gs pos="100000">
                    <a:schemeClr val="accent5">
                      <a:lumMod val="60000"/>
                      <a:lumOff val="40000"/>
                    </a:schemeClr>
                  </a:gs>
                </a:gsLst>
                <a:path path="circle">
                  <a:fillToRect l="100000" t="100000"/>
                </a:path>
                <a:tileRect r="-100000" b="-100000"/>
              </a:gradFill>
              <a:ln w="38100">
                <a:noFill/>
              </a:ln>
              <a:effectLst>
                <a:outerShdw blurRad="411480" dist="123444" dir="5400000" sx="108000" sy="108000" algn="ctr" rotWithShape="0">
                  <a:schemeClr val="accent5">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r>
                  <a:rPr lang="en-US" altLang="zh-CN"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rPr>
                  <a:t> </a:t>
                </a:r>
                <a:endParaRPr lang="en-US" altLang="zh-CN"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grpSp>
        <p:pic>
          <p:nvPicPr>
            <p:cNvPr id="42" name="图形 12"/>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233" y="7643"/>
              <a:ext cx="783" cy="783"/>
            </a:xfrm>
            <a:prstGeom prst="rect">
              <a:avLst/>
            </a:prstGeom>
          </p:spPr>
        </p:pic>
      </p:grpSp>
      <p:grpSp>
        <p:nvGrpSpPr>
          <p:cNvPr id="45" name="组合 44"/>
          <p:cNvGrpSpPr/>
          <p:nvPr/>
        </p:nvGrpSpPr>
        <p:grpSpPr>
          <a:xfrm rot="0">
            <a:off x="9356725" y="4415790"/>
            <a:ext cx="952500" cy="751205"/>
            <a:chOff x="1879619" y="4432848"/>
            <a:chExt cx="952481" cy="751001"/>
          </a:xfrm>
        </p:grpSpPr>
        <p:sp>
          <p:nvSpPr>
            <p:cNvPr id="47" name="不完整圆 235"/>
            <p:cNvSpPr/>
            <p:nvPr/>
          </p:nvSpPr>
          <p:spPr>
            <a:xfrm>
              <a:off x="1879619" y="5064397"/>
              <a:ext cx="952481" cy="11945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38100">
              <a:gradFill flip="none" rotWithShape="1">
                <a:gsLst>
                  <a:gs pos="0">
                    <a:schemeClr val="accent1">
                      <a:lumMod val="0"/>
                      <a:lumOff val="100000"/>
                    </a:schemeClr>
                  </a:gs>
                  <a:gs pos="100000">
                    <a:schemeClr val="accent5"/>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48" name="椭圆 47"/>
            <p:cNvSpPr/>
            <p:nvPr>
              <p:custDataLst>
                <p:tags r:id="rId12"/>
              </p:custDataLst>
            </p:nvPr>
          </p:nvSpPr>
          <p:spPr>
            <a:xfrm flipH="1">
              <a:off x="2020774" y="4432848"/>
              <a:ext cx="670170" cy="670170"/>
            </a:xfrm>
            <a:prstGeom prst="ellipse">
              <a:avLst/>
            </a:prstGeom>
            <a:gradFill flip="none" rotWithShape="1">
              <a:gsLst>
                <a:gs pos="23000">
                  <a:schemeClr val="accent5"/>
                </a:gs>
                <a:gs pos="100000">
                  <a:schemeClr val="accent5">
                    <a:lumMod val="60000"/>
                    <a:lumOff val="40000"/>
                  </a:schemeClr>
                </a:gs>
              </a:gsLst>
              <a:path path="circle">
                <a:fillToRect l="100000" t="100000"/>
              </a:path>
              <a:tileRect r="-100000" b="-100000"/>
            </a:gradFill>
            <a:ln w="38100">
              <a:noFill/>
            </a:ln>
            <a:effectLst>
              <a:outerShdw blurRad="411480" dist="123444" dir="5400000" sx="108000" sy="108000" algn="ctr" rotWithShape="0">
                <a:schemeClr val="accent5">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grpSp>
      <p:sp>
        <p:nvSpPr>
          <p:cNvPr id="2" name="标题 2"/>
          <p:cNvSpPr>
            <a:spLocks noGrp="1"/>
          </p:cNvSpPr>
          <p:nvPr/>
        </p:nvSpPr>
        <p:spPr>
          <a:xfrm>
            <a:off x="1105535" y="348298"/>
            <a:ext cx="7352665"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多层平台架构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年度运营工作规划框架</a:t>
            </a:r>
            <a:endPar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nvGrpSpPr>
          <p:cNvPr id="52" name="组合 51"/>
          <p:cNvGrpSpPr/>
          <p:nvPr/>
        </p:nvGrpSpPr>
        <p:grpSpPr>
          <a:xfrm>
            <a:off x="358775" y="5847080"/>
            <a:ext cx="3505200" cy="751840"/>
            <a:chOff x="565" y="9208"/>
            <a:chExt cx="5520" cy="1184"/>
          </a:xfrm>
        </p:grpSpPr>
        <p:sp>
          <p:nvSpPr>
            <p:cNvPr id="7" name="矩形 6"/>
            <p:cNvSpPr/>
            <p:nvPr/>
          </p:nvSpPr>
          <p:spPr>
            <a:xfrm>
              <a:off x="565" y="9208"/>
              <a:ext cx="5520" cy="1184"/>
            </a:xfrm>
            <a:prstGeom prst="rect">
              <a:avLst/>
            </a:prstGeom>
            <a:gradFill flip="none" rotWithShape="1">
              <a:gsLst>
                <a:gs pos="95000">
                  <a:schemeClr val="accent1">
                    <a:lumMod val="60000"/>
                    <a:lumOff val="40000"/>
                  </a:schemeClr>
                </a:gs>
                <a:gs pos="0">
                  <a:schemeClr val="accent1">
                    <a:lumMod val="60000"/>
                    <a:lumOff val="40000"/>
                  </a:schemeClr>
                </a:gs>
                <a:gs pos="0">
                  <a:schemeClr val="accent1"/>
                </a:gs>
              </a:gsLst>
              <a:path path="circle">
                <a:fillToRect l="100000" t="100000"/>
              </a:path>
              <a:tileRect r="-100000" b="-100000"/>
            </a:gradFill>
            <a:ln>
              <a:noFill/>
            </a:ln>
            <a:effectLst>
              <a:outerShdw blurRad="165100" dist="38100" dir="5400000" algn="t" rotWithShape="0">
                <a:schemeClr val="accent1">
                  <a:lumMod val="60000"/>
                  <a:lumOff val="40000"/>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4" name="文本框 13"/>
            <p:cNvSpPr txBox="1"/>
            <p:nvPr/>
          </p:nvSpPr>
          <p:spPr>
            <a:xfrm>
              <a:off x="754" y="9824"/>
              <a:ext cx="5142" cy="507"/>
            </a:xfrm>
            <a:prstGeom prst="rect">
              <a:avLst/>
            </a:prstGeom>
            <a:noFill/>
          </p:spPr>
          <p:txBody>
            <a:bodyPr wrap="square">
              <a:spAutoFit/>
            </a:bodyPr>
            <a:lstStyle/>
            <a:p>
              <a:pPr algn="ctr">
                <a:lnSpc>
                  <a:spcPct val="125000"/>
                </a:lnSpc>
              </a:pPr>
              <a:r>
                <a:rPr lang="zh-CN" sz="1200" dirty="0">
                  <a:solidFill>
                    <a:schemeClr val="bg1"/>
                  </a:solidFill>
                  <a:latin typeface="微软雅黑" panose="020B0503020204020204" charset="-122"/>
                  <a:ea typeface="微软雅黑" panose="020B0503020204020204" charset="-122"/>
                  <a:cs typeface="微软雅黑" panose="020B0503020204020204" charset="-122"/>
                </a:rPr>
                <a:t>绩效与激励对齐，盈利导向，岗位能力提升</a:t>
              </a:r>
              <a:endParaRPr lang="zh-CN"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5" name="圆角矩形 14"/>
            <p:cNvSpPr/>
            <p:nvPr/>
          </p:nvSpPr>
          <p:spPr>
            <a:xfrm>
              <a:off x="2021" y="9348"/>
              <a:ext cx="2608" cy="464"/>
            </a:xfrm>
            <a:prstGeom prst="roundRect">
              <a:avLst/>
            </a:prstGeom>
            <a:solidFill>
              <a:schemeClr val="accent1">
                <a:lumMod val="20000"/>
                <a:lumOff val="80000"/>
                <a:alpha val="7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1" name="文本框 50"/>
            <p:cNvSpPr txBox="1"/>
            <p:nvPr/>
          </p:nvSpPr>
          <p:spPr>
            <a:xfrm>
              <a:off x="1454" y="9264"/>
              <a:ext cx="3743" cy="568"/>
            </a:xfrm>
            <a:prstGeom prst="rect">
              <a:avLst/>
            </a:prstGeom>
            <a:noFill/>
          </p:spPr>
          <p:txBody>
            <a:bodyPr wrap="square">
              <a:spAutoFit/>
            </a:bodyPr>
            <a:lstStyle/>
            <a:p>
              <a:pPr algn="ctr">
                <a:lnSpc>
                  <a:spcPct val="125000"/>
                </a:lnSpc>
              </a:pPr>
              <a:r>
                <a:rPr lang="zh-CN" sz="1400" b="1" dirty="0">
                  <a:solidFill>
                    <a:schemeClr val="bg1"/>
                  </a:solidFill>
                  <a:latin typeface="微软雅黑" panose="020B0503020204020204" charset="-122"/>
                  <a:ea typeface="微软雅黑" panose="020B0503020204020204" charset="-122"/>
                  <a:cs typeface="微软雅黑" panose="020B0503020204020204" charset="-122"/>
                </a:rPr>
                <a:t>组织与人才建设</a:t>
              </a:r>
              <a:endParaRPr lang="zh-CN" altLang="zh-CN" sz="14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53" name="组合 52"/>
          <p:cNvGrpSpPr/>
          <p:nvPr/>
        </p:nvGrpSpPr>
        <p:grpSpPr>
          <a:xfrm>
            <a:off x="4357370" y="5847080"/>
            <a:ext cx="3505200" cy="751840"/>
            <a:chOff x="565" y="9208"/>
            <a:chExt cx="5520" cy="1184"/>
          </a:xfrm>
        </p:grpSpPr>
        <p:sp>
          <p:nvSpPr>
            <p:cNvPr id="54" name="矩形 53"/>
            <p:cNvSpPr/>
            <p:nvPr/>
          </p:nvSpPr>
          <p:spPr>
            <a:xfrm>
              <a:off x="565" y="9208"/>
              <a:ext cx="5520" cy="1184"/>
            </a:xfrm>
            <a:prstGeom prst="rect">
              <a:avLst/>
            </a:prstGeom>
            <a:gradFill flip="none" rotWithShape="1">
              <a:gsLst>
                <a:gs pos="95000">
                  <a:schemeClr val="accent1">
                    <a:lumMod val="60000"/>
                    <a:lumOff val="40000"/>
                  </a:schemeClr>
                </a:gs>
                <a:gs pos="0">
                  <a:schemeClr val="accent1">
                    <a:lumMod val="60000"/>
                    <a:lumOff val="40000"/>
                  </a:schemeClr>
                </a:gs>
                <a:gs pos="0">
                  <a:schemeClr val="accent1"/>
                </a:gs>
              </a:gsLst>
              <a:path path="circle">
                <a:fillToRect l="100000" t="100000"/>
              </a:path>
              <a:tileRect r="-100000" b="-100000"/>
            </a:gradFill>
            <a:ln>
              <a:noFill/>
            </a:ln>
            <a:effectLst>
              <a:outerShdw blurRad="165100" dist="38100" dir="5400000" algn="t" rotWithShape="0">
                <a:schemeClr val="accent1">
                  <a:lumMod val="60000"/>
                  <a:lumOff val="40000"/>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5" name="文本框 54"/>
            <p:cNvSpPr txBox="1"/>
            <p:nvPr/>
          </p:nvSpPr>
          <p:spPr>
            <a:xfrm>
              <a:off x="754" y="9824"/>
              <a:ext cx="5142" cy="507"/>
            </a:xfrm>
            <a:prstGeom prst="rect">
              <a:avLst/>
            </a:prstGeom>
            <a:noFill/>
          </p:spPr>
          <p:txBody>
            <a:bodyPr wrap="square">
              <a:spAutoFit/>
            </a:bodyPr>
            <a:lstStyle/>
            <a:p>
              <a:pPr algn="ctr">
                <a:lnSpc>
                  <a:spcPct val="125000"/>
                </a:lnSpc>
              </a:pPr>
              <a:r>
                <a:rPr lang="zh-CN" sz="1200" dirty="0">
                  <a:solidFill>
                    <a:schemeClr val="bg1"/>
                  </a:solidFill>
                  <a:latin typeface="微软雅黑" panose="020B0503020204020204" charset="-122"/>
                  <a:ea typeface="微软雅黑" panose="020B0503020204020204" charset="-122"/>
                  <a:cs typeface="微软雅黑" panose="020B0503020204020204" charset="-122"/>
                </a:rPr>
                <a:t>系统整合，数据分析平台建设，自动化应用</a:t>
              </a:r>
              <a:endParaRPr lang="zh-CN"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6" name="圆角矩形 55"/>
            <p:cNvSpPr/>
            <p:nvPr/>
          </p:nvSpPr>
          <p:spPr>
            <a:xfrm>
              <a:off x="2021" y="9348"/>
              <a:ext cx="2608" cy="464"/>
            </a:xfrm>
            <a:prstGeom prst="roundRect">
              <a:avLst/>
            </a:prstGeom>
            <a:solidFill>
              <a:schemeClr val="accent1">
                <a:lumMod val="20000"/>
                <a:lumOff val="80000"/>
                <a:alpha val="7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7" name="文本框 56"/>
            <p:cNvSpPr txBox="1"/>
            <p:nvPr/>
          </p:nvSpPr>
          <p:spPr>
            <a:xfrm>
              <a:off x="1454" y="9264"/>
              <a:ext cx="3743" cy="568"/>
            </a:xfrm>
            <a:prstGeom prst="rect">
              <a:avLst/>
            </a:prstGeom>
            <a:noFill/>
          </p:spPr>
          <p:txBody>
            <a:bodyPr wrap="square">
              <a:spAutoFit/>
            </a:bodyPr>
            <a:lstStyle/>
            <a:p>
              <a:pPr algn="ctr">
                <a:lnSpc>
                  <a:spcPct val="125000"/>
                </a:lnSpc>
              </a:pP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技术与系统支持</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59" name="组合 58"/>
          <p:cNvGrpSpPr/>
          <p:nvPr/>
        </p:nvGrpSpPr>
        <p:grpSpPr>
          <a:xfrm>
            <a:off x="8355965" y="5847080"/>
            <a:ext cx="3505200" cy="751840"/>
            <a:chOff x="565" y="9208"/>
            <a:chExt cx="5520" cy="1184"/>
          </a:xfrm>
        </p:grpSpPr>
        <p:sp>
          <p:nvSpPr>
            <p:cNvPr id="60" name="矩形 59"/>
            <p:cNvSpPr/>
            <p:nvPr/>
          </p:nvSpPr>
          <p:spPr>
            <a:xfrm>
              <a:off x="565" y="9208"/>
              <a:ext cx="5520" cy="1184"/>
            </a:xfrm>
            <a:prstGeom prst="rect">
              <a:avLst/>
            </a:prstGeom>
            <a:gradFill flip="none" rotWithShape="1">
              <a:gsLst>
                <a:gs pos="95000">
                  <a:schemeClr val="accent1">
                    <a:lumMod val="60000"/>
                    <a:lumOff val="40000"/>
                  </a:schemeClr>
                </a:gs>
                <a:gs pos="0">
                  <a:schemeClr val="accent1">
                    <a:lumMod val="60000"/>
                    <a:lumOff val="40000"/>
                  </a:schemeClr>
                </a:gs>
                <a:gs pos="0">
                  <a:schemeClr val="accent1"/>
                </a:gs>
              </a:gsLst>
              <a:path path="circle">
                <a:fillToRect l="100000" t="100000"/>
              </a:path>
              <a:tileRect r="-100000" b="-100000"/>
            </a:gradFill>
            <a:ln>
              <a:noFill/>
            </a:ln>
            <a:effectLst>
              <a:outerShdw blurRad="165100" dist="38100" dir="5400000" algn="t" rotWithShape="0">
                <a:schemeClr val="accent1">
                  <a:lumMod val="60000"/>
                  <a:lumOff val="40000"/>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61" name="文本框 60"/>
            <p:cNvSpPr txBox="1"/>
            <p:nvPr/>
          </p:nvSpPr>
          <p:spPr>
            <a:xfrm>
              <a:off x="665" y="9824"/>
              <a:ext cx="5384" cy="507"/>
            </a:xfrm>
            <a:prstGeom prst="rect">
              <a:avLst/>
            </a:prstGeom>
            <a:noFill/>
          </p:spPr>
          <p:txBody>
            <a:bodyPr wrap="square">
              <a:spAutoFit/>
            </a:bodyPr>
            <a:lstStyle/>
            <a:p>
              <a:pPr algn="ctr">
                <a:lnSpc>
                  <a:spcPct val="125000"/>
                </a:lnSpc>
              </a:pPr>
              <a:r>
                <a:rPr lang="zh-CN" sz="1200" dirty="0">
                  <a:solidFill>
                    <a:schemeClr val="bg1"/>
                  </a:solidFill>
                  <a:latin typeface="微软雅黑" panose="020B0503020204020204" charset="-122"/>
                  <a:ea typeface="微软雅黑" panose="020B0503020204020204" charset="-122"/>
                  <a:cs typeface="微软雅黑" panose="020B0503020204020204" charset="-122"/>
                </a:rPr>
                <a:t>资金流动性管理，资源动态调配，投资回报监控</a:t>
              </a:r>
              <a:endParaRPr lang="zh-CN"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62" name="圆角矩形 61"/>
            <p:cNvSpPr/>
            <p:nvPr/>
          </p:nvSpPr>
          <p:spPr>
            <a:xfrm>
              <a:off x="2021" y="9348"/>
              <a:ext cx="2608" cy="464"/>
            </a:xfrm>
            <a:prstGeom prst="roundRect">
              <a:avLst/>
            </a:prstGeom>
            <a:solidFill>
              <a:schemeClr val="accent1">
                <a:lumMod val="20000"/>
                <a:lumOff val="80000"/>
                <a:alpha val="7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63" name="文本框 62"/>
            <p:cNvSpPr txBox="1"/>
            <p:nvPr/>
          </p:nvSpPr>
          <p:spPr>
            <a:xfrm>
              <a:off x="1454" y="9264"/>
              <a:ext cx="3743" cy="568"/>
            </a:xfrm>
            <a:prstGeom prst="rect">
              <a:avLst/>
            </a:prstGeom>
            <a:noFill/>
          </p:spPr>
          <p:txBody>
            <a:bodyPr wrap="square">
              <a:spAutoFit/>
            </a:bodyPr>
            <a:lstStyle/>
            <a:p>
              <a:pPr algn="ctr">
                <a:lnSpc>
                  <a:spcPct val="125000"/>
                </a:lnSpc>
              </a:pPr>
              <a:r>
                <a:rPr lang="zh-CN" sz="1400" b="1" dirty="0">
                  <a:solidFill>
                    <a:schemeClr val="bg1"/>
                  </a:solidFill>
                  <a:latin typeface="微软雅黑" panose="020B0503020204020204" charset="-122"/>
                  <a:ea typeface="微软雅黑" panose="020B0503020204020204" charset="-122"/>
                  <a:cs typeface="微软雅黑" panose="020B0503020204020204" charset="-122"/>
                </a:rPr>
                <a:t>资金与资源保障</a:t>
              </a:r>
              <a:endParaRPr lang="zh-CN" altLang="zh-CN" sz="14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64" name="文本框 63"/>
          <p:cNvSpPr txBox="1"/>
          <p:nvPr/>
        </p:nvSpPr>
        <p:spPr>
          <a:xfrm>
            <a:off x="1519555" y="5215890"/>
            <a:ext cx="1720215" cy="321945"/>
          </a:xfrm>
          <a:prstGeom prst="rect">
            <a:avLst/>
          </a:prstGeom>
          <a:noFill/>
        </p:spPr>
        <p:txBody>
          <a:bodyPr wrap="square">
            <a:spAutoFit/>
          </a:bodyPr>
          <a:lstStyle/>
          <a:p>
            <a:pPr algn="ctr">
              <a:lnSpc>
                <a:spcPct val="125000"/>
              </a:lnSpc>
            </a:pP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rPr>
              <a:t>销售流程精细化</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65" name="文本框 64"/>
          <p:cNvSpPr txBox="1"/>
          <p:nvPr/>
        </p:nvSpPr>
        <p:spPr>
          <a:xfrm>
            <a:off x="3300095" y="5215890"/>
            <a:ext cx="1720215" cy="321945"/>
          </a:xfrm>
          <a:prstGeom prst="rect">
            <a:avLst/>
          </a:prstGeom>
          <a:noFill/>
        </p:spPr>
        <p:txBody>
          <a:bodyPr wrap="square">
            <a:spAutoFit/>
          </a:bodyPr>
          <a:lstStyle/>
          <a:p>
            <a:pPr algn="ctr">
              <a:lnSpc>
                <a:spcPct val="125000"/>
              </a:lnSpc>
            </a:pP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rPr>
              <a:t>项目管理标准化</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66" name="文本框 65"/>
          <p:cNvSpPr txBox="1"/>
          <p:nvPr/>
        </p:nvSpPr>
        <p:spPr>
          <a:xfrm>
            <a:off x="5217795" y="5215890"/>
            <a:ext cx="1720215" cy="321945"/>
          </a:xfrm>
          <a:prstGeom prst="rect">
            <a:avLst/>
          </a:prstGeom>
          <a:noFill/>
        </p:spPr>
        <p:txBody>
          <a:bodyPr wrap="square">
            <a:spAutoFit/>
          </a:bodyPr>
          <a:lstStyle/>
          <a:p>
            <a:pPr algn="ctr">
              <a:lnSpc>
                <a:spcPct val="125000"/>
              </a:lnSpc>
            </a:pP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rPr>
              <a:t>盈利模型迭代</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67" name="文本框 66"/>
          <p:cNvSpPr txBox="1"/>
          <p:nvPr/>
        </p:nvSpPr>
        <p:spPr>
          <a:xfrm>
            <a:off x="7121525" y="5215890"/>
            <a:ext cx="1720215" cy="321945"/>
          </a:xfrm>
          <a:prstGeom prst="rect">
            <a:avLst/>
          </a:prstGeom>
          <a:noFill/>
        </p:spPr>
        <p:txBody>
          <a:bodyPr wrap="square">
            <a:spAutoFit/>
          </a:bodyPr>
          <a:lstStyle/>
          <a:p>
            <a:pPr algn="ctr">
              <a:lnSpc>
                <a:spcPct val="125000"/>
              </a:lnSpc>
            </a:pP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rPr>
              <a:t>实时经营看板</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69" name="文本框 68"/>
          <p:cNvSpPr txBox="1"/>
          <p:nvPr/>
        </p:nvSpPr>
        <p:spPr>
          <a:xfrm>
            <a:off x="8963660" y="5215890"/>
            <a:ext cx="1720215" cy="321945"/>
          </a:xfrm>
          <a:prstGeom prst="rect">
            <a:avLst/>
          </a:prstGeom>
          <a:noFill/>
        </p:spPr>
        <p:txBody>
          <a:bodyPr wrap="square">
            <a:spAutoFit/>
          </a:bodyPr>
          <a:lstStyle/>
          <a:p>
            <a:pPr algn="ctr">
              <a:lnSpc>
                <a:spcPct val="125000"/>
              </a:lnSpc>
            </a:pP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rPr>
              <a:t>预测与预警分析</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3474403" y="2565400"/>
            <a:ext cx="975360" cy="699135"/>
          </a:xfrm>
          <a:prstGeom prst="rect">
            <a:avLst/>
          </a:prstGeom>
          <a:noFill/>
        </p:spPr>
        <p:txBody>
          <a:bodyPr wrap="square" rtlCol="0" anchor="ctr" anchorCtr="0">
            <a:no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zh-CN" altLang="en-US" sz="2000" b="1" dirty="0">
                <a:solidFill>
                  <a:schemeClr val="bg1"/>
                </a:solidFill>
                <a:latin typeface="微软雅黑" panose="020B0503020204020204" charset="-122"/>
                <a:ea typeface="微软雅黑" panose="020B0503020204020204" charset="-122"/>
                <a:cs typeface="微软雅黑" panose="020B0503020204020204" charset="-122"/>
              </a:rPr>
              <a:t>①</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收入增长策略</a:t>
            </a:r>
            <a:endParaRPr lang="en-US" altLang="zh-CN" sz="1400" b="1" dirty="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16" name="图片 15" descr="盈利预测"/>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925820" y="4572635"/>
            <a:ext cx="349250" cy="349250"/>
          </a:xfrm>
          <a:prstGeom prst="rect">
            <a:avLst/>
          </a:prstGeom>
        </p:spPr>
      </p:pic>
      <p:pic>
        <p:nvPicPr>
          <p:cNvPr id="23" name="图片 22" descr="icon_预警"/>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661525" y="4552315"/>
            <a:ext cx="369570" cy="369570"/>
          </a:xfrm>
          <a:prstGeom prst="rect">
            <a:avLst/>
          </a:prstGeom>
        </p:spPr>
      </p:pic>
      <p:pic>
        <p:nvPicPr>
          <p:cNvPr id="50" name="图片 49" descr="商场"/>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188210" y="4544695"/>
            <a:ext cx="405765" cy="405765"/>
          </a:xfrm>
          <a:prstGeom prst="rect">
            <a:avLst/>
          </a:prstGeom>
        </p:spPr>
      </p:pic>
      <p:sp>
        <p:nvSpPr>
          <p:cNvPr id="28" name="文本框 27"/>
          <p:cNvSpPr txBox="1"/>
          <p:nvPr/>
        </p:nvSpPr>
        <p:spPr>
          <a:xfrm>
            <a:off x="6623050" y="1866265"/>
            <a:ext cx="1401445" cy="292735"/>
          </a:xfrm>
          <a:prstGeom prst="rect">
            <a:avLst/>
          </a:prstGeom>
          <a:noFill/>
        </p:spPr>
        <p:txBody>
          <a:bodyPr wrap="square" rtlCol="0" anchor="ctr" anchorCtr="0">
            <a:prstTxWarp prst="textArchUp">
              <a:avLst/>
            </a:prstTxWarp>
            <a:no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避免影响业务增长</a:t>
            </a:r>
            <a:endPar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p:txBody>
      </p:sp>
      <p:sp>
        <p:nvSpPr>
          <p:cNvPr id="30" name="文本框 29"/>
          <p:cNvSpPr txBox="1"/>
          <p:nvPr/>
        </p:nvSpPr>
        <p:spPr>
          <a:xfrm>
            <a:off x="4222750" y="1843405"/>
            <a:ext cx="1401445" cy="292735"/>
          </a:xfrm>
          <a:prstGeom prst="rect">
            <a:avLst/>
          </a:prstGeom>
          <a:noFill/>
        </p:spPr>
        <p:txBody>
          <a:bodyPr wrap="square" rtlCol="0" anchor="ctr" anchorCtr="0">
            <a:prstTxWarp prst="textArchUp">
              <a:avLst/>
            </a:prstTxWarp>
            <a:no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驱动内部精益化提升</a:t>
            </a:r>
            <a:endPar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p:txBody>
      </p:sp>
      <p:sp>
        <p:nvSpPr>
          <p:cNvPr id="33" name="文本框 32"/>
          <p:cNvSpPr txBox="1"/>
          <p:nvPr/>
        </p:nvSpPr>
        <p:spPr>
          <a:xfrm>
            <a:off x="6576695" y="3752850"/>
            <a:ext cx="1401445" cy="292735"/>
          </a:xfrm>
          <a:prstGeom prst="rect">
            <a:avLst/>
          </a:prstGeom>
          <a:noFill/>
        </p:spPr>
        <p:txBody>
          <a:bodyPr wrap="square" rtlCol="0" anchor="ctr" anchorCtr="0">
            <a:prstTxWarp prst="textArchDown">
              <a:avLst/>
            </a:prstTxWarp>
            <a:no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避免影响业务增长</a:t>
            </a:r>
            <a:endPar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p:txBody>
      </p:sp>
      <p:sp>
        <p:nvSpPr>
          <p:cNvPr id="39" name="文本框 38"/>
          <p:cNvSpPr txBox="1"/>
          <p:nvPr/>
        </p:nvSpPr>
        <p:spPr>
          <a:xfrm>
            <a:off x="4222750" y="3719830"/>
            <a:ext cx="1401445" cy="292735"/>
          </a:xfrm>
          <a:prstGeom prst="rect">
            <a:avLst/>
          </a:prstGeom>
          <a:noFill/>
        </p:spPr>
        <p:txBody>
          <a:bodyPr wrap="square" rtlCol="0" anchor="ctr" anchorCtr="0">
            <a:prstTxWarp prst="textArchDown">
              <a:avLst/>
            </a:prstTxWarp>
            <a:no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持续驱动创新孵化</a:t>
            </a:r>
            <a:endPar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p:txBody>
      </p:sp>
      <p:sp>
        <p:nvSpPr>
          <p:cNvPr id="148" name="显眼包PPT14-2"/>
          <p:cNvSpPr/>
          <p:nvPr/>
        </p:nvSpPr>
        <p:spPr>
          <a:xfrm rot="16200000" flipV="1">
            <a:off x="4997833" y="4243727"/>
            <a:ext cx="327707" cy="240877"/>
          </a:xfrm>
          <a:custGeom>
            <a:avLst/>
            <a:gdLst>
              <a:gd name="connsiteX0" fmla="*/ 335544 w 556593"/>
              <a:gd name="connsiteY0" fmla="*/ -84 h 464599"/>
              <a:gd name="connsiteX1" fmla="*/ 335544 w 556593"/>
              <a:gd name="connsiteY1" fmla="*/ 102172 h 464599"/>
              <a:gd name="connsiteX2" fmla="*/ -87 w 556593"/>
              <a:gd name="connsiteY2" fmla="*/ 102172 h 464599"/>
              <a:gd name="connsiteX3" fmla="*/ -87 w 556593"/>
              <a:gd name="connsiteY3" fmla="*/ 362259 h 464599"/>
              <a:gd name="connsiteX4" fmla="*/ 335544 w 556593"/>
              <a:gd name="connsiteY4" fmla="*/ 362259 h 464599"/>
              <a:gd name="connsiteX5" fmla="*/ 335544 w 556593"/>
              <a:gd name="connsiteY5" fmla="*/ 464515 h 464599"/>
              <a:gd name="connsiteX6" fmla="*/ 556506 w 556593"/>
              <a:gd name="connsiteY6" fmla="*/ 232222 h 464599"/>
              <a:gd name="connsiteX7" fmla="*/ 335544 w 556593"/>
              <a:gd name="connsiteY7" fmla="*/ -84 h 464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593" h="464599">
                <a:moveTo>
                  <a:pt x="335544" y="-84"/>
                </a:moveTo>
                <a:lnTo>
                  <a:pt x="335544" y="102172"/>
                </a:lnTo>
                <a:lnTo>
                  <a:pt x="-87" y="102172"/>
                </a:lnTo>
                <a:lnTo>
                  <a:pt x="-87" y="362259"/>
                </a:lnTo>
                <a:lnTo>
                  <a:pt x="335544" y="362259"/>
                </a:lnTo>
                <a:lnTo>
                  <a:pt x="335544" y="464515"/>
                </a:lnTo>
                <a:cubicBezTo>
                  <a:pt x="335544" y="464515"/>
                  <a:pt x="399342" y="299945"/>
                  <a:pt x="556506" y="232222"/>
                </a:cubicBezTo>
                <a:cubicBezTo>
                  <a:pt x="399314" y="164486"/>
                  <a:pt x="335544" y="-84"/>
                  <a:pt x="335544" y="-84"/>
                </a:cubicBezTo>
                <a:close/>
              </a:path>
            </a:pathLst>
          </a:custGeom>
          <a:gradFill flip="none" rotWithShape="1">
            <a:gsLst>
              <a:gs pos="0">
                <a:schemeClr val="accent5">
                  <a:alpha val="0"/>
                </a:schemeClr>
              </a:gs>
              <a:gs pos="24000">
                <a:schemeClr val="accent5">
                  <a:alpha val="13000"/>
                </a:schemeClr>
              </a:gs>
              <a:gs pos="100000">
                <a:schemeClr val="accent5">
                  <a:alpha val="10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3" name="显眼包PPT14-2"/>
          <p:cNvSpPr/>
          <p:nvPr/>
        </p:nvSpPr>
        <p:spPr>
          <a:xfrm rot="16200000" flipV="1">
            <a:off x="6837428" y="4243727"/>
            <a:ext cx="327707" cy="240877"/>
          </a:xfrm>
          <a:custGeom>
            <a:avLst/>
            <a:gdLst>
              <a:gd name="connsiteX0" fmla="*/ 335544 w 556593"/>
              <a:gd name="connsiteY0" fmla="*/ -84 h 464599"/>
              <a:gd name="connsiteX1" fmla="*/ 335544 w 556593"/>
              <a:gd name="connsiteY1" fmla="*/ 102172 h 464599"/>
              <a:gd name="connsiteX2" fmla="*/ -87 w 556593"/>
              <a:gd name="connsiteY2" fmla="*/ 102172 h 464599"/>
              <a:gd name="connsiteX3" fmla="*/ -87 w 556593"/>
              <a:gd name="connsiteY3" fmla="*/ 362259 h 464599"/>
              <a:gd name="connsiteX4" fmla="*/ 335544 w 556593"/>
              <a:gd name="connsiteY4" fmla="*/ 362259 h 464599"/>
              <a:gd name="connsiteX5" fmla="*/ 335544 w 556593"/>
              <a:gd name="connsiteY5" fmla="*/ 464515 h 464599"/>
              <a:gd name="connsiteX6" fmla="*/ 556506 w 556593"/>
              <a:gd name="connsiteY6" fmla="*/ 232222 h 464599"/>
              <a:gd name="connsiteX7" fmla="*/ 335544 w 556593"/>
              <a:gd name="connsiteY7" fmla="*/ -84 h 464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6593" h="464599">
                <a:moveTo>
                  <a:pt x="335544" y="-84"/>
                </a:moveTo>
                <a:lnTo>
                  <a:pt x="335544" y="102172"/>
                </a:lnTo>
                <a:lnTo>
                  <a:pt x="-87" y="102172"/>
                </a:lnTo>
                <a:lnTo>
                  <a:pt x="-87" y="362259"/>
                </a:lnTo>
                <a:lnTo>
                  <a:pt x="335544" y="362259"/>
                </a:lnTo>
                <a:lnTo>
                  <a:pt x="335544" y="464515"/>
                </a:lnTo>
                <a:cubicBezTo>
                  <a:pt x="335544" y="464515"/>
                  <a:pt x="399342" y="299945"/>
                  <a:pt x="556506" y="232222"/>
                </a:cubicBezTo>
                <a:cubicBezTo>
                  <a:pt x="399314" y="164486"/>
                  <a:pt x="335544" y="-84"/>
                  <a:pt x="335544" y="-84"/>
                </a:cubicBezTo>
                <a:close/>
              </a:path>
            </a:pathLst>
          </a:custGeom>
          <a:gradFill flip="none" rotWithShape="1">
            <a:gsLst>
              <a:gs pos="0">
                <a:schemeClr val="accent5">
                  <a:alpha val="0"/>
                </a:schemeClr>
              </a:gs>
              <a:gs pos="24000">
                <a:schemeClr val="accent5">
                  <a:alpha val="13000"/>
                </a:schemeClr>
              </a:gs>
              <a:gs pos="100000">
                <a:schemeClr val="accent5">
                  <a:alpha val="10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pic>
        <p:nvPicPr>
          <p:cNvPr id="74" name="显眼包PPT-5"/>
          <p:cNvPicPr>
            <a:picLocks noChangeAspect="1"/>
          </p:cNvPicPr>
          <p:nvPr>
            <p:custDataLst>
              <p:tags r:id="rId19"/>
            </p:custDataLst>
          </p:nvPr>
        </p:nvPicPr>
        <p:blipFill>
          <a:blip r:embed="rId20" cstate="print">
            <a:extLst>
              <a:ext uri="{28A0092B-C50C-407E-A947-70E740481C1C}">
                <a14:useLocalDpi xmlns:a14="http://schemas.microsoft.com/office/drawing/2010/main" val="0"/>
              </a:ext>
            </a:extLst>
          </a:blip>
          <a:stretch>
            <a:fillRect/>
          </a:stretch>
        </p:blipFill>
        <p:spPr>
          <a:xfrm>
            <a:off x="5041232" y="1994848"/>
            <a:ext cx="2045335" cy="2035175"/>
          </a:xfrm>
          <a:prstGeom prst="rect">
            <a:avLst/>
          </a:prstGeom>
          <a:effectLst>
            <a:outerShdw blurRad="393700" sx="102000" sy="102000" algn="ctr" rotWithShape="0">
              <a:schemeClr val="accent2">
                <a:alpha val="37000"/>
              </a:schemeClr>
            </a:outerShdw>
          </a:effectLst>
        </p:spPr>
      </p:pic>
      <p:pic>
        <p:nvPicPr>
          <p:cNvPr id="3" name="图片 2" descr="屋顶资源管理"/>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355600" y="186055"/>
            <a:ext cx="549910" cy="549910"/>
          </a:xfrm>
          <a:prstGeom prst="rect">
            <a:avLst/>
          </a:prstGeom>
        </p:spPr>
      </p:pic>
      <p:pic>
        <p:nvPicPr>
          <p:cNvPr id="6" name="图片 5" descr="项目管理-面性"/>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008120" y="4528185"/>
            <a:ext cx="441960" cy="441960"/>
          </a:xfrm>
          <a:prstGeom prst="rect">
            <a:avLst/>
          </a:prstGeom>
        </p:spPr>
      </p:pic>
      <p:grpSp>
        <p:nvGrpSpPr>
          <p:cNvPr id="12" name="组合 11"/>
          <p:cNvGrpSpPr/>
          <p:nvPr/>
        </p:nvGrpSpPr>
        <p:grpSpPr>
          <a:xfrm>
            <a:off x="8738235" y="348615"/>
            <a:ext cx="3219450" cy="332740"/>
            <a:chOff x="13761" y="549"/>
            <a:chExt cx="5070" cy="524"/>
          </a:xfrm>
        </p:grpSpPr>
        <p:pic>
          <p:nvPicPr>
            <p:cNvPr id="13" name="图片 12"/>
            <p:cNvPicPr>
              <a:picLocks noChangeAspect="1"/>
            </p:cNvPicPr>
            <p:nvPr userDrawn="1"/>
          </p:nvPicPr>
          <p:blipFill>
            <a:blip r:embed="rId25"/>
            <a:srcRect l="17002" t="-1765" r="56499" b="-1176"/>
            <a:stretch>
              <a:fillRect/>
            </a:stretch>
          </p:blipFill>
          <p:spPr>
            <a:xfrm>
              <a:off x="13761" y="549"/>
              <a:ext cx="1582" cy="525"/>
            </a:xfrm>
            <a:prstGeom prst="rect">
              <a:avLst/>
            </a:prstGeom>
          </p:spPr>
        </p:pic>
        <p:sp>
          <p:nvSpPr>
            <p:cNvPr id="18" name="文本框 17"/>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0" name="图片 20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4" name="组合 3"/>
          <p:cNvGrpSpPr/>
          <p:nvPr/>
        </p:nvGrpSpPr>
        <p:grpSpPr>
          <a:xfrm>
            <a:off x="530860" y="1007110"/>
            <a:ext cx="3238500" cy="3756660"/>
            <a:chOff x="836" y="1586"/>
            <a:chExt cx="5100" cy="5916"/>
          </a:xfrm>
        </p:grpSpPr>
        <p:sp>
          <p:nvSpPr>
            <p:cNvPr id="121" name="任意多边形: 形状 12"/>
            <p:cNvSpPr/>
            <p:nvPr/>
          </p:nvSpPr>
          <p:spPr>
            <a:xfrm>
              <a:off x="836" y="1586"/>
              <a:ext cx="5100" cy="5916"/>
            </a:xfrm>
            <a:custGeom>
              <a:avLst/>
              <a:gdLst>
                <a:gd name="connsiteX0" fmla="*/ 1538514 w 1538514"/>
                <a:gd name="connsiteY0" fmla="*/ 566057 h 2365829"/>
                <a:gd name="connsiteX1" fmla="*/ 14514 w 1538514"/>
                <a:gd name="connsiteY1" fmla="*/ 0 h 2365829"/>
                <a:gd name="connsiteX2" fmla="*/ 0 w 1538514"/>
                <a:gd name="connsiteY2" fmla="*/ 2365829 h 2365829"/>
                <a:gd name="connsiteX3" fmla="*/ 1436914 w 1538514"/>
                <a:gd name="connsiteY3" fmla="*/ 1959429 h 2365829"/>
                <a:gd name="connsiteX0-1" fmla="*/ 1538514 w 1538514"/>
                <a:gd name="connsiteY0-2" fmla="*/ 566057 h 2365829"/>
                <a:gd name="connsiteX1-3" fmla="*/ 14514 w 1538514"/>
                <a:gd name="connsiteY1-4" fmla="*/ 0 h 2365829"/>
                <a:gd name="connsiteX2-5" fmla="*/ 0 w 1538514"/>
                <a:gd name="connsiteY2-6" fmla="*/ 2365829 h 2365829"/>
                <a:gd name="connsiteX3-7" fmla="*/ 1494971 w 1538514"/>
                <a:gd name="connsiteY3-8" fmla="*/ 1959429 h 2365829"/>
                <a:gd name="connsiteX0-9" fmla="*/ 1538514 w 1538514"/>
                <a:gd name="connsiteY0-10" fmla="*/ 566057 h 2365829"/>
                <a:gd name="connsiteX1-11" fmla="*/ 14514 w 1538514"/>
                <a:gd name="connsiteY1-12" fmla="*/ 0 h 2365829"/>
                <a:gd name="connsiteX2-13" fmla="*/ 0 w 1538514"/>
                <a:gd name="connsiteY2-14" fmla="*/ 2365829 h 2365829"/>
                <a:gd name="connsiteX3-15" fmla="*/ 1494971 w 1538514"/>
                <a:gd name="connsiteY3-16" fmla="*/ 1915886 h 2365829"/>
                <a:gd name="connsiteX0-17" fmla="*/ 1538514 w 1538514"/>
                <a:gd name="connsiteY0-18" fmla="*/ 566057 h 2365829"/>
                <a:gd name="connsiteX1-19" fmla="*/ 14514 w 1538514"/>
                <a:gd name="connsiteY1-20" fmla="*/ 0 h 2365829"/>
                <a:gd name="connsiteX2-21" fmla="*/ 0 w 1538514"/>
                <a:gd name="connsiteY2-22" fmla="*/ 2365829 h 2365829"/>
                <a:gd name="connsiteX3-23" fmla="*/ 1524000 w 1538514"/>
                <a:gd name="connsiteY3-24" fmla="*/ 1857829 h 2365829"/>
                <a:gd name="connsiteX0-25" fmla="*/ 1538514 w 1567543"/>
                <a:gd name="connsiteY0-26" fmla="*/ 566057 h 2365829"/>
                <a:gd name="connsiteX1-27" fmla="*/ 14514 w 1567543"/>
                <a:gd name="connsiteY1-28" fmla="*/ 0 h 2365829"/>
                <a:gd name="connsiteX2-29" fmla="*/ 0 w 1567543"/>
                <a:gd name="connsiteY2-30" fmla="*/ 2365829 h 2365829"/>
                <a:gd name="connsiteX3-31" fmla="*/ 1567543 w 1567543"/>
                <a:gd name="connsiteY3-32" fmla="*/ 1843315 h 2365829"/>
                <a:gd name="connsiteX0-33" fmla="*/ 1538514 w 1538514"/>
                <a:gd name="connsiteY0-34" fmla="*/ 566057 h 2365829"/>
                <a:gd name="connsiteX1-35" fmla="*/ 14514 w 1538514"/>
                <a:gd name="connsiteY1-36" fmla="*/ 0 h 2365829"/>
                <a:gd name="connsiteX2-37" fmla="*/ 0 w 1538514"/>
                <a:gd name="connsiteY2-38" fmla="*/ 2365829 h 2365829"/>
                <a:gd name="connsiteX3-39" fmla="*/ 1524000 w 1538514"/>
                <a:gd name="connsiteY3-40" fmla="*/ 1872343 h 2365829"/>
              </a:gdLst>
              <a:ahLst/>
              <a:cxnLst>
                <a:cxn ang="0">
                  <a:pos x="connsiteX0-1" y="connsiteY0-2"/>
                </a:cxn>
                <a:cxn ang="0">
                  <a:pos x="connsiteX1-3" y="connsiteY1-4"/>
                </a:cxn>
                <a:cxn ang="0">
                  <a:pos x="connsiteX2-5" y="connsiteY2-6"/>
                </a:cxn>
                <a:cxn ang="0">
                  <a:pos x="connsiteX3-7" y="connsiteY3-8"/>
                </a:cxn>
              </a:cxnLst>
              <a:rect l="l" t="t" r="r" b="b"/>
              <a:pathLst>
                <a:path w="1538514" h="2365829">
                  <a:moveTo>
                    <a:pt x="1538514" y="566057"/>
                  </a:moveTo>
                  <a:lnTo>
                    <a:pt x="14514" y="0"/>
                  </a:lnTo>
                  <a:lnTo>
                    <a:pt x="0" y="2365829"/>
                  </a:lnTo>
                  <a:cubicBezTo>
                    <a:pt x="478971" y="2230362"/>
                    <a:pt x="1045029" y="2007810"/>
                    <a:pt x="1524000" y="1872343"/>
                  </a:cubicBezTo>
                </a:path>
              </a:pathLst>
            </a:custGeom>
            <a:noFill/>
            <a:ln>
              <a:gradFill flip="none" rotWithShape="1">
                <a:gsLst>
                  <a:gs pos="100000">
                    <a:schemeClr val="accent5"/>
                  </a:gs>
                  <a:gs pos="0">
                    <a:schemeClr val="accent5">
                      <a:lumMod val="20000"/>
                      <a:lumOff val="80000"/>
                      <a:alpha val="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22" name="任意多边形: 形状 13"/>
            <p:cNvSpPr/>
            <p:nvPr/>
          </p:nvSpPr>
          <p:spPr>
            <a:xfrm>
              <a:off x="1148" y="1972"/>
              <a:ext cx="4474" cy="5242"/>
            </a:xfrm>
            <a:custGeom>
              <a:avLst/>
              <a:gdLst>
                <a:gd name="connsiteX0" fmla="*/ 1538514 w 1538514"/>
                <a:gd name="connsiteY0" fmla="*/ 566057 h 2365829"/>
                <a:gd name="connsiteX1" fmla="*/ 14514 w 1538514"/>
                <a:gd name="connsiteY1" fmla="*/ 0 h 2365829"/>
                <a:gd name="connsiteX2" fmla="*/ 0 w 1538514"/>
                <a:gd name="connsiteY2" fmla="*/ 2365829 h 2365829"/>
                <a:gd name="connsiteX3" fmla="*/ 1436914 w 1538514"/>
                <a:gd name="connsiteY3" fmla="*/ 1959429 h 2365829"/>
                <a:gd name="connsiteX0-1" fmla="*/ 1538514 w 1538514"/>
                <a:gd name="connsiteY0-2" fmla="*/ 566057 h 2365829"/>
                <a:gd name="connsiteX1-3" fmla="*/ 14514 w 1538514"/>
                <a:gd name="connsiteY1-4" fmla="*/ 0 h 2365829"/>
                <a:gd name="connsiteX2-5" fmla="*/ 0 w 1538514"/>
                <a:gd name="connsiteY2-6" fmla="*/ 2365829 h 2365829"/>
                <a:gd name="connsiteX3-7" fmla="*/ 1494971 w 1538514"/>
                <a:gd name="connsiteY3-8" fmla="*/ 1959429 h 2365829"/>
                <a:gd name="connsiteX0-9" fmla="*/ 1538514 w 1538514"/>
                <a:gd name="connsiteY0-10" fmla="*/ 566057 h 2365829"/>
                <a:gd name="connsiteX1-11" fmla="*/ 14514 w 1538514"/>
                <a:gd name="connsiteY1-12" fmla="*/ 0 h 2365829"/>
                <a:gd name="connsiteX2-13" fmla="*/ 0 w 1538514"/>
                <a:gd name="connsiteY2-14" fmla="*/ 2365829 h 2365829"/>
                <a:gd name="connsiteX3-15" fmla="*/ 1494971 w 1538514"/>
                <a:gd name="connsiteY3-16" fmla="*/ 1915886 h 2365829"/>
                <a:gd name="connsiteX0-17" fmla="*/ 1538514 w 1538514"/>
                <a:gd name="connsiteY0-18" fmla="*/ 566057 h 2365829"/>
                <a:gd name="connsiteX1-19" fmla="*/ 14514 w 1538514"/>
                <a:gd name="connsiteY1-20" fmla="*/ 0 h 2365829"/>
                <a:gd name="connsiteX2-21" fmla="*/ 0 w 1538514"/>
                <a:gd name="connsiteY2-22" fmla="*/ 2365829 h 2365829"/>
                <a:gd name="connsiteX3-23" fmla="*/ 1524000 w 1538514"/>
                <a:gd name="connsiteY3-24" fmla="*/ 1857829 h 2365829"/>
                <a:gd name="connsiteX0-25" fmla="*/ 1538514 w 1567543"/>
                <a:gd name="connsiteY0-26" fmla="*/ 566057 h 2365829"/>
                <a:gd name="connsiteX1-27" fmla="*/ 14514 w 1567543"/>
                <a:gd name="connsiteY1-28" fmla="*/ 0 h 2365829"/>
                <a:gd name="connsiteX2-29" fmla="*/ 0 w 1567543"/>
                <a:gd name="connsiteY2-30" fmla="*/ 2365829 h 2365829"/>
                <a:gd name="connsiteX3-31" fmla="*/ 1567543 w 1567543"/>
                <a:gd name="connsiteY3-32" fmla="*/ 1843315 h 2365829"/>
                <a:gd name="connsiteX0-33" fmla="*/ 1538514 w 1538514"/>
                <a:gd name="connsiteY0-34" fmla="*/ 566057 h 2365829"/>
                <a:gd name="connsiteX1-35" fmla="*/ 14514 w 1538514"/>
                <a:gd name="connsiteY1-36" fmla="*/ 0 h 2365829"/>
                <a:gd name="connsiteX2-37" fmla="*/ 0 w 1538514"/>
                <a:gd name="connsiteY2-38" fmla="*/ 2365829 h 2365829"/>
                <a:gd name="connsiteX3-39" fmla="*/ 1524000 w 1538514"/>
                <a:gd name="connsiteY3-40" fmla="*/ 1872343 h 2365829"/>
              </a:gdLst>
              <a:ahLst/>
              <a:cxnLst>
                <a:cxn ang="0">
                  <a:pos x="connsiteX0-1" y="connsiteY0-2"/>
                </a:cxn>
                <a:cxn ang="0">
                  <a:pos x="connsiteX1-3" y="connsiteY1-4"/>
                </a:cxn>
                <a:cxn ang="0">
                  <a:pos x="connsiteX2-5" y="connsiteY2-6"/>
                </a:cxn>
                <a:cxn ang="0">
                  <a:pos x="connsiteX3-7" y="connsiteY3-8"/>
                </a:cxn>
              </a:cxnLst>
              <a:rect l="l" t="t" r="r" b="b"/>
              <a:pathLst>
                <a:path w="1538514" h="2365829">
                  <a:moveTo>
                    <a:pt x="1538514" y="566057"/>
                  </a:moveTo>
                  <a:lnTo>
                    <a:pt x="14514" y="0"/>
                  </a:lnTo>
                  <a:lnTo>
                    <a:pt x="0" y="2365829"/>
                  </a:lnTo>
                  <a:cubicBezTo>
                    <a:pt x="478971" y="2230362"/>
                    <a:pt x="1045029" y="2007810"/>
                    <a:pt x="1524000" y="1872343"/>
                  </a:cubicBezTo>
                </a:path>
              </a:pathLst>
            </a:custGeom>
            <a:gradFill>
              <a:gsLst>
                <a:gs pos="100000">
                  <a:schemeClr val="accent5">
                    <a:lumMod val="20000"/>
                    <a:lumOff val="80000"/>
                  </a:schemeClr>
                </a:gs>
                <a:gs pos="0">
                  <a:schemeClr val="accent5">
                    <a:lumMod val="20000"/>
                    <a:lumOff val="80000"/>
                    <a:alpha val="0"/>
                  </a:schemeClr>
                </a:gs>
              </a:gsLst>
              <a:lin ang="10800000" scaled="1"/>
            </a:gradFill>
            <a:ln>
              <a:gradFill flip="none" rotWithShape="1">
                <a:gsLst>
                  <a:gs pos="100000">
                    <a:schemeClr val="accent5"/>
                  </a:gs>
                  <a:gs pos="0">
                    <a:schemeClr val="accent5">
                      <a:lumMod val="20000"/>
                      <a:lumOff val="80000"/>
                      <a:alpha val="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139" name="组合 138"/>
          <p:cNvGrpSpPr/>
          <p:nvPr/>
        </p:nvGrpSpPr>
        <p:grpSpPr>
          <a:xfrm flipH="1">
            <a:off x="8024495" y="1007110"/>
            <a:ext cx="3703955" cy="3756660"/>
            <a:chOff x="1251" y="2458"/>
            <a:chExt cx="4791" cy="6422"/>
          </a:xfrm>
        </p:grpSpPr>
        <p:sp>
          <p:nvSpPr>
            <p:cNvPr id="140" name="任意多边形: 形状 12"/>
            <p:cNvSpPr/>
            <p:nvPr/>
          </p:nvSpPr>
          <p:spPr>
            <a:xfrm>
              <a:off x="1251" y="2458"/>
              <a:ext cx="4791" cy="6422"/>
            </a:xfrm>
            <a:custGeom>
              <a:avLst/>
              <a:gdLst>
                <a:gd name="connsiteX0" fmla="*/ 1538514 w 1538514"/>
                <a:gd name="connsiteY0" fmla="*/ 566057 h 2365829"/>
                <a:gd name="connsiteX1" fmla="*/ 14514 w 1538514"/>
                <a:gd name="connsiteY1" fmla="*/ 0 h 2365829"/>
                <a:gd name="connsiteX2" fmla="*/ 0 w 1538514"/>
                <a:gd name="connsiteY2" fmla="*/ 2365829 h 2365829"/>
                <a:gd name="connsiteX3" fmla="*/ 1436914 w 1538514"/>
                <a:gd name="connsiteY3" fmla="*/ 1959429 h 2365829"/>
                <a:gd name="connsiteX0-1" fmla="*/ 1538514 w 1538514"/>
                <a:gd name="connsiteY0-2" fmla="*/ 566057 h 2365829"/>
                <a:gd name="connsiteX1-3" fmla="*/ 14514 w 1538514"/>
                <a:gd name="connsiteY1-4" fmla="*/ 0 h 2365829"/>
                <a:gd name="connsiteX2-5" fmla="*/ 0 w 1538514"/>
                <a:gd name="connsiteY2-6" fmla="*/ 2365829 h 2365829"/>
                <a:gd name="connsiteX3-7" fmla="*/ 1494971 w 1538514"/>
                <a:gd name="connsiteY3-8" fmla="*/ 1959429 h 2365829"/>
                <a:gd name="connsiteX0-9" fmla="*/ 1538514 w 1538514"/>
                <a:gd name="connsiteY0-10" fmla="*/ 566057 h 2365829"/>
                <a:gd name="connsiteX1-11" fmla="*/ 14514 w 1538514"/>
                <a:gd name="connsiteY1-12" fmla="*/ 0 h 2365829"/>
                <a:gd name="connsiteX2-13" fmla="*/ 0 w 1538514"/>
                <a:gd name="connsiteY2-14" fmla="*/ 2365829 h 2365829"/>
                <a:gd name="connsiteX3-15" fmla="*/ 1494971 w 1538514"/>
                <a:gd name="connsiteY3-16" fmla="*/ 1915886 h 2365829"/>
                <a:gd name="connsiteX0-17" fmla="*/ 1538514 w 1538514"/>
                <a:gd name="connsiteY0-18" fmla="*/ 566057 h 2365829"/>
                <a:gd name="connsiteX1-19" fmla="*/ 14514 w 1538514"/>
                <a:gd name="connsiteY1-20" fmla="*/ 0 h 2365829"/>
                <a:gd name="connsiteX2-21" fmla="*/ 0 w 1538514"/>
                <a:gd name="connsiteY2-22" fmla="*/ 2365829 h 2365829"/>
                <a:gd name="connsiteX3-23" fmla="*/ 1524000 w 1538514"/>
                <a:gd name="connsiteY3-24" fmla="*/ 1857829 h 2365829"/>
                <a:gd name="connsiteX0-25" fmla="*/ 1538514 w 1567543"/>
                <a:gd name="connsiteY0-26" fmla="*/ 566057 h 2365829"/>
                <a:gd name="connsiteX1-27" fmla="*/ 14514 w 1567543"/>
                <a:gd name="connsiteY1-28" fmla="*/ 0 h 2365829"/>
                <a:gd name="connsiteX2-29" fmla="*/ 0 w 1567543"/>
                <a:gd name="connsiteY2-30" fmla="*/ 2365829 h 2365829"/>
                <a:gd name="connsiteX3-31" fmla="*/ 1567543 w 1567543"/>
                <a:gd name="connsiteY3-32" fmla="*/ 1843315 h 2365829"/>
                <a:gd name="connsiteX0-33" fmla="*/ 1538514 w 1538514"/>
                <a:gd name="connsiteY0-34" fmla="*/ 566057 h 2365829"/>
                <a:gd name="connsiteX1-35" fmla="*/ 14514 w 1538514"/>
                <a:gd name="connsiteY1-36" fmla="*/ 0 h 2365829"/>
                <a:gd name="connsiteX2-37" fmla="*/ 0 w 1538514"/>
                <a:gd name="connsiteY2-38" fmla="*/ 2365829 h 2365829"/>
                <a:gd name="connsiteX3-39" fmla="*/ 1524000 w 1538514"/>
                <a:gd name="connsiteY3-40" fmla="*/ 1872343 h 2365829"/>
              </a:gdLst>
              <a:ahLst/>
              <a:cxnLst>
                <a:cxn ang="0">
                  <a:pos x="connsiteX0-1" y="connsiteY0-2"/>
                </a:cxn>
                <a:cxn ang="0">
                  <a:pos x="connsiteX1-3" y="connsiteY1-4"/>
                </a:cxn>
                <a:cxn ang="0">
                  <a:pos x="connsiteX2-5" y="connsiteY2-6"/>
                </a:cxn>
                <a:cxn ang="0">
                  <a:pos x="connsiteX3-7" y="connsiteY3-8"/>
                </a:cxn>
              </a:cxnLst>
              <a:rect l="l" t="t" r="r" b="b"/>
              <a:pathLst>
                <a:path w="1538514" h="2365829">
                  <a:moveTo>
                    <a:pt x="1538514" y="566057"/>
                  </a:moveTo>
                  <a:lnTo>
                    <a:pt x="14514" y="0"/>
                  </a:lnTo>
                  <a:lnTo>
                    <a:pt x="0" y="2365829"/>
                  </a:lnTo>
                  <a:cubicBezTo>
                    <a:pt x="478971" y="2230362"/>
                    <a:pt x="1045029" y="2007810"/>
                    <a:pt x="1524000" y="1872343"/>
                  </a:cubicBezTo>
                </a:path>
              </a:pathLst>
            </a:custGeom>
            <a:noFill/>
            <a:ln>
              <a:gradFill flip="none" rotWithShape="1">
                <a:gsLst>
                  <a:gs pos="100000">
                    <a:schemeClr val="accent5"/>
                  </a:gs>
                  <a:gs pos="0">
                    <a:schemeClr val="accent5">
                      <a:lumMod val="20000"/>
                      <a:lumOff val="80000"/>
                      <a:alpha val="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41" name="任意多边形: 形状 13"/>
            <p:cNvSpPr/>
            <p:nvPr/>
          </p:nvSpPr>
          <p:spPr>
            <a:xfrm>
              <a:off x="1545" y="2873"/>
              <a:ext cx="4204" cy="5635"/>
            </a:xfrm>
            <a:custGeom>
              <a:avLst/>
              <a:gdLst>
                <a:gd name="connsiteX0" fmla="*/ 1538514 w 1538514"/>
                <a:gd name="connsiteY0" fmla="*/ 566057 h 2365829"/>
                <a:gd name="connsiteX1" fmla="*/ 14514 w 1538514"/>
                <a:gd name="connsiteY1" fmla="*/ 0 h 2365829"/>
                <a:gd name="connsiteX2" fmla="*/ 0 w 1538514"/>
                <a:gd name="connsiteY2" fmla="*/ 2365829 h 2365829"/>
                <a:gd name="connsiteX3" fmla="*/ 1436914 w 1538514"/>
                <a:gd name="connsiteY3" fmla="*/ 1959429 h 2365829"/>
                <a:gd name="connsiteX0-1" fmla="*/ 1538514 w 1538514"/>
                <a:gd name="connsiteY0-2" fmla="*/ 566057 h 2365829"/>
                <a:gd name="connsiteX1-3" fmla="*/ 14514 w 1538514"/>
                <a:gd name="connsiteY1-4" fmla="*/ 0 h 2365829"/>
                <a:gd name="connsiteX2-5" fmla="*/ 0 w 1538514"/>
                <a:gd name="connsiteY2-6" fmla="*/ 2365829 h 2365829"/>
                <a:gd name="connsiteX3-7" fmla="*/ 1494971 w 1538514"/>
                <a:gd name="connsiteY3-8" fmla="*/ 1959429 h 2365829"/>
                <a:gd name="connsiteX0-9" fmla="*/ 1538514 w 1538514"/>
                <a:gd name="connsiteY0-10" fmla="*/ 566057 h 2365829"/>
                <a:gd name="connsiteX1-11" fmla="*/ 14514 w 1538514"/>
                <a:gd name="connsiteY1-12" fmla="*/ 0 h 2365829"/>
                <a:gd name="connsiteX2-13" fmla="*/ 0 w 1538514"/>
                <a:gd name="connsiteY2-14" fmla="*/ 2365829 h 2365829"/>
                <a:gd name="connsiteX3-15" fmla="*/ 1494971 w 1538514"/>
                <a:gd name="connsiteY3-16" fmla="*/ 1915886 h 2365829"/>
                <a:gd name="connsiteX0-17" fmla="*/ 1538514 w 1538514"/>
                <a:gd name="connsiteY0-18" fmla="*/ 566057 h 2365829"/>
                <a:gd name="connsiteX1-19" fmla="*/ 14514 w 1538514"/>
                <a:gd name="connsiteY1-20" fmla="*/ 0 h 2365829"/>
                <a:gd name="connsiteX2-21" fmla="*/ 0 w 1538514"/>
                <a:gd name="connsiteY2-22" fmla="*/ 2365829 h 2365829"/>
                <a:gd name="connsiteX3-23" fmla="*/ 1524000 w 1538514"/>
                <a:gd name="connsiteY3-24" fmla="*/ 1857829 h 2365829"/>
                <a:gd name="connsiteX0-25" fmla="*/ 1538514 w 1567543"/>
                <a:gd name="connsiteY0-26" fmla="*/ 566057 h 2365829"/>
                <a:gd name="connsiteX1-27" fmla="*/ 14514 w 1567543"/>
                <a:gd name="connsiteY1-28" fmla="*/ 0 h 2365829"/>
                <a:gd name="connsiteX2-29" fmla="*/ 0 w 1567543"/>
                <a:gd name="connsiteY2-30" fmla="*/ 2365829 h 2365829"/>
                <a:gd name="connsiteX3-31" fmla="*/ 1567543 w 1567543"/>
                <a:gd name="connsiteY3-32" fmla="*/ 1843315 h 2365829"/>
                <a:gd name="connsiteX0-33" fmla="*/ 1538514 w 1538514"/>
                <a:gd name="connsiteY0-34" fmla="*/ 566057 h 2365829"/>
                <a:gd name="connsiteX1-35" fmla="*/ 14514 w 1538514"/>
                <a:gd name="connsiteY1-36" fmla="*/ 0 h 2365829"/>
                <a:gd name="connsiteX2-37" fmla="*/ 0 w 1538514"/>
                <a:gd name="connsiteY2-38" fmla="*/ 2365829 h 2365829"/>
                <a:gd name="connsiteX3-39" fmla="*/ 1524000 w 1538514"/>
                <a:gd name="connsiteY3-40" fmla="*/ 1872343 h 2365829"/>
              </a:gdLst>
              <a:ahLst/>
              <a:cxnLst>
                <a:cxn ang="0">
                  <a:pos x="connsiteX0-1" y="connsiteY0-2"/>
                </a:cxn>
                <a:cxn ang="0">
                  <a:pos x="connsiteX1-3" y="connsiteY1-4"/>
                </a:cxn>
                <a:cxn ang="0">
                  <a:pos x="connsiteX2-5" y="connsiteY2-6"/>
                </a:cxn>
                <a:cxn ang="0">
                  <a:pos x="connsiteX3-7" y="connsiteY3-8"/>
                </a:cxn>
              </a:cxnLst>
              <a:rect l="l" t="t" r="r" b="b"/>
              <a:pathLst>
                <a:path w="1538514" h="2365829">
                  <a:moveTo>
                    <a:pt x="1538514" y="566057"/>
                  </a:moveTo>
                  <a:lnTo>
                    <a:pt x="14514" y="0"/>
                  </a:lnTo>
                  <a:lnTo>
                    <a:pt x="0" y="2365829"/>
                  </a:lnTo>
                  <a:cubicBezTo>
                    <a:pt x="478971" y="2230362"/>
                    <a:pt x="1045029" y="2007810"/>
                    <a:pt x="1524000" y="1872343"/>
                  </a:cubicBezTo>
                </a:path>
              </a:pathLst>
            </a:custGeom>
            <a:gradFill>
              <a:gsLst>
                <a:gs pos="100000">
                  <a:schemeClr val="accent5">
                    <a:lumMod val="20000"/>
                    <a:lumOff val="80000"/>
                  </a:schemeClr>
                </a:gs>
                <a:gs pos="0">
                  <a:schemeClr val="accent5">
                    <a:lumMod val="20000"/>
                    <a:lumOff val="80000"/>
                    <a:alpha val="0"/>
                  </a:schemeClr>
                </a:gs>
              </a:gsLst>
              <a:lin ang="10800000" scaled="1"/>
            </a:gradFill>
            <a:ln>
              <a:gradFill flip="none" rotWithShape="1">
                <a:gsLst>
                  <a:gs pos="100000">
                    <a:schemeClr val="accent5"/>
                  </a:gs>
                  <a:gs pos="0">
                    <a:schemeClr val="accent5">
                      <a:lumMod val="20000"/>
                      <a:lumOff val="80000"/>
                      <a:alpha val="0"/>
                    </a:schemeClr>
                  </a:gs>
                </a:gsLst>
                <a:lin ang="108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158" name="组合 157"/>
          <p:cNvGrpSpPr/>
          <p:nvPr/>
        </p:nvGrpSpPr>
        <p:grpSpPr>
          <a:xfrm rot="0">
            <a:off x="991870" y="1800860"/>
            <a:ext cx="1675765" cy="246380"/>
            <a:chOff x="1727" y="3355"/>
            <a:chExt cx="2639" cy="388"/>
          </a:xfrm>
        </p:grpSpPr>
        <p:sp>
          <p:nvSpPr>
            <p:cNvPr id="156" name="矩形: 圆角 460"/>
            <p:cNvSpPr/>
            <p:nvPr>
              <p:custDataLst>
                <p:tags r:id="rId3"/>
              </p:custDataLst>
            </p:nvPr>
          </p:nvSpPr>
          <p:spPr>
            <a:xfrm>
              <a:off x="1727" y="3361"/>
              <a:ext cx="2639" cy="375"/>
            </a:xfrm>
            <a:prstGeom prst="roundRect">
              <a:avLst>
                <a:gd name="adj" fmla="val 50000"/>
              </a:avLst>
            </a:prstGeom>
            <a:gradFill flip="none" rotWithShape="1">
              <a:gsLst>
                <a:gs pos="23000">
                  <a:schemeClr val="accent5"/>
                </a:gs>
                <a:gs pos="100000">
                  <a:schemeClr val="accent5">
                    <a:lumMod val="60000"/>
                    <a:lumOff val="40000"/>
                  </a:schemeClr>
                </a:gs>
              </a:gsLst>
              <a:path path="circle">
                <a:fillToRect l="100000" t="100000"/>
              </a:path>
              <a:tileRect r="-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57" name="文本框 156"/>
            <p:cNvSpPr txBox="1"/>
            <p:nvPr/>
          </p:nvSpPr>
          <p:spPr>
            <a:xfrm>
              <a:off x="1928" y="3355"/>
              <a:ext cx="2235" cy="388"/>
            </a:xfrm>
            <a:prstGeom prst="rect">
              <a:avLst/>
            </a:prstGeom>
            <a:noFill/>
            <a:effectLst/>
          </p:spPr>
          <p:txBody>
            <a:bodyPr wrap="square" lIns="98755" tIns="49378" rIns="98755" bIns="49378" rtlCol="0">
              <a:spAutoFit/>
            </a:bodyPr>
            <a:lstStyle/>
            <a:p>
              <a:pPr algn="ctr"/>
              <a:r>
                <a:rPr lang="zh-CN" altLang="en-US" sz="970" b="1" dirty="0">
                  <a:solidFill>
                    <a:schemeClr val="bg1"/>
                  </a:solidFill>
                  <a:latin typeface="微软雅黑" panose="020B0503020204020204" charset="-122"/>
                  <a:ea typeface="微软雅黑" panose="020B0503020204020204" charset="-122"/>
                  <a:cs typeface="微软雅黑" panose="020B0503020204020204" charset="-122"/>
                </a:rPr>
                <a:t>产品与服务创新</a:t>
              </a:r>
              <a:endParaRPr lang="zh-CN" altLang="en-US" sz="970" b="1" dirty="0">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159" name="文本框 158"/>
          <p:cNvSpPr txBox="1"/>
          <p:nvPr/>
        </p:nvSpPr>
        <p:spPr>
          <a:xfrm>
            <a:off x="991870" y="2089150"/>
            <a:ext cx="2433955" cy="398780"/>
          </a:xfrm>
          <a:prstGeom prst="rect">
            <a:avLst/>
          </a:prstGeom>
          <a:noFill/>
        </p:spPr>
        <p:txBody>
          <a:bodyPr wrap="square">
            <a:spAutoFit/>
          </a:bodyPr>
          <a:lstStyle/>
          <a:p>
            <a:pPr>
              <a:lnSpc>
                <a:spcPct val="125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构建持续的价值驱动力。以市场需求为导向的创新孵化，构建分层化产品矩阵，精益落地与快速迭代。</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3" name="文本框 162"/>
          <p:cNvSpPr txBox="1"/>
          <p:nvPr/>
        </p:nvSpPr>
        <p:spPr>
          <a:xfrm>
            <a:off x="991870" y="2855219"/>
            <a:ext cx="2352040" cy="398780"/>
          </a:xfrm>
          <a:prstGeom prst="rect">
            <a:avLst/>
          </a:prstGeom>
          <a:noFill/>
        </p:spPr>
        <p:txBody>
          <a:bodyPr wrap="square">
            <a:spAutoFit/>
          </a:bodyPr>
          <a:lstStyle/>
          <a:p>
            <a:pPr>
              <a:lnSpc>
                <a:spcPct val="125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实现收入最大化。建立价值导向的定价基础，实施数据驱动的动态定价机制，差异化营销。</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278" name="组合 277"/>
          <p:cNvGrpSpPr/>
          <p:nvPr/>
        </p:nvGrpSpPr>
        <p:grpSpPr>
          <a:xfrm>
            <a:off x="991870" y="2606675"/>
            <a:ext cx="1675765" cy="246380"/>
            <a:chOff x="1772" y="4266"/>
            <a:chExt cx="2639" cy="388"/>
          </a:xfrm>
        </p:grpSpPr>
        <p:sp>
          <p:nvSpPr>
            <p:cNvPr id="161" name="矩形: 圆角 460"/>
            <p:cNvSpPr/>
            <p:nvPr>
              <p:custDataLst>
                <p:tags r:id="rId4"/>
              </p:custDataLst>
            </p:nvPr>
          </p:nvSpPr>
          <p:spPr>
            <a:xfrm>
              <a:off x="1772" y="4272"/>
              <a:ext cx="2639" cy="375"/>
            </a:xfrm>
            <a:prstGeom prst="roundRect">
              <a:avLst>
                <a:gd name="adj" fmla="val 50000"/>
              </a:avLst>
            </a:prstGeom>
            <a:gradFill flip="none" rotWithShape="1">
              <a:gsLst>
                <a:gs pos="23000">
                  <a:schemeClr val="accent5"/>
                </a:gs>
                <a:gs pos="100000">
                  <a:schemeClr val="accent5">
                    <a:lumMod val="60000"/>
                    <a:lumOff val="40000"/>
                  </a:schemeClr>
                </a:gs>
              </a:gsLst>
              <a:path path="circle">
                <a:fillToRect l="100000" t="100000"/>
              </a:path>
              <a:tileRect r="-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68" name="文本框 167"/>
            <p:cNvSpPr txBox="1"/>
            <p:nvPr/>
          </p:nvSpPr>
          <p:spPr>
            <a:xfrm>
              <a:off x="1850" y="4266"/>
              <a:ext cx="2444" cy="388"/>
            </a:xfrm>
            <a:prstGeom prst="rect">
              <a:avLst/>
            </a:prstGeom>
            <a:noFill/>
            <a:effectLst/>
          </p:spPr>
          <p:txBody>
            <a:bodyPr wrap="square" lIns="98755" tIns="49378" rIns="98755" bIns="49378" rtlCol="0">
              <a:spAutoFit/>
            </a:bodyPr>
            <a:lstStyle/>
            <a:p>
              <a:pPr algn="ctr"/>
              <a:r>
                <a:rPr lang="zh-CN" altLang="en-US" sz="970" b="1" dirty="0">
                  <a:solidFill>
                    <a:schemeClr val="bg1"/>
                  </a:solidFill>
                  <a:latin typeface="微软雅黑" panose="020B0503020204020204" charset="-122"/>
                  <a:ea typeface="微软雅黑" panose="020B0503020204020204" charset="-122"/>
                  <a:cs typeface="微软雅黑" panose="020B0503020204020204" charset="-122"/>
                </a:rPr>
                <a:t>定价策略动态调整</a:t>
              </a:r>
              <a:endParaRPr lang="zh-CN" altLang="en-US" sz="970" b="1" dirty="0">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167" name="文本框 166"/>
          <p:cNvSpPr txBox="1"/>
          <p:nvPr/>
        </p:nvSpPr>
        <p:spPr>
          <a:xfrm>
            <a:off x="991870" y="3646805"/>
            <a:ext cx="2273935" cy="398780"/>
          </a:xfrm>
          <a:prstGeom prst="rect">
            <a:avLst/>
          </a:prstGeom>
          <a:noFill/>
        </p:spPr>
        <p:txBody>
          <a:bodyPr wrap="square">
            <a:spAutoFit/>
          </a:bodyPr>
          <a:lstStyle/>
          <a:p>
            <a:pPr>
              <a:lnSpc>
                <a:spcPct val="125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最大化客户生命周期价值。识别与分级高价值客户，提供超预期的专属服务，驱动增换购。</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279" name="组合 278"/>
          <p:cNvGrpSpPr/>
          <p:nvPr/>
        </p:nvGrpSpPr>
        <p:grpSpPr>
          <a:xfrm>
            <a:off x="991870" y="3355340"/>
            <a:ext cx="1675765" cy="250190"/>
            <a:chOff x="1649" y="5457"/>
            <a:chExt cx="2639" cy="394"/>
          </a:xfrm>
        </p:grpSpPr>
        <p:sp>
          <p:nvSpPr>
            <p:cNvPr id="165" name="矩形: 圆角 460"/>
            <p:cNvSpPr/>
            <p:nvPr>
              <p:custDataLst>
                <p:tags r:id="rId5"/>
              </p:custDataLst>
            </p:nvPr>
          </p:nvSpPr>
          <p:spPr>
            <a:xfrm>
              <a:off x="1649" y="5457"/>
              <a:ext cx="2639" cy="375"/>
            </a:xfrm>
            <a:prstGeom prst="roundRect">
              <a:avLst>
                <a:gd name="adj" fmla="val 50000"/>
              </a:avLst>
            </a:prstGeom>
            <a:gradFill flip="none" rotWithShape="1">
              <a:gsLst>
                <a:gs pos="23000">
                  <a:schemeClr val="accent5"/>
                </a:gs>
                <a:gs pos="100000">
                  <a:schemeClr val="accent5">
                    <a:lumMod val="60000"/>
                    <a:lumOff val="40000"/>
                  </a:schemeClr>
                </a:gs>
              </a:gsLst>
              <a:path path="circle">
                <a:fillToRect l="100000" t="100000"/>
              </a:path>
              <a:tileRect r="-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69" name="文本框 168"/>
            <p:cNvSpPr txBox="1"/>
            <p:nvPr/>
          </p:nvSpPr>
          <p:spPr>
            <a:xfrm>
              <a:off x="1807" y="5463"/>
              <a:ext cx="2365" cy="388"/>
            </a:xfrm>
            <a:prstGeom prst="rect">
              <a:avLst/>
            </a:prstGeom>
            <a:noFill/>
            <a:effectLst/>
          </p:spPr>
          <p:txBody>
            <a:bodyPr wrap="square" lIns="98755" tIns="49378" rIns="98755" bIns="49378" rtlCol="0">
              <a:spAutoFit/>
            </a:bodyPr>
            <a:lstStyle/>
            <a:p>
              <a:pPr algn="ctr"/>
              <a:r>
                <a:rPr lang="zh-CN" altLang="en-US" sz="970" b="1" dirty="0">
                  <a:solidFill>
                    <a:schemeClr val="bg1"/>
                  </a:solidFill>
                  <a:latin typeface="微软雅黑" panose="020B0503020204020204" charset="-122"/>
                  <a:ea typeface="微软雅黑" panose="020B0503020204020204" charset="-122"/>
                  <a:cs typeface="微软雅黑" panose="020B0503020204020204" charset="-122"/>
                </a:rPr>
                <a:t>高价值客户深耕</a:t>
              </a:r>
              <a:endParaRPr lang="zh-CN" altLang="en-US" sz="970" b="1"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181" name="组合 180"/>
          <p:cNvGrpSpPr/>
          <p:nvPr/>
        </p:nvGrpSpPr>
        <p:grpSpPr>
          <a:xfrm>
            <a:off x="9008110" y="1800860"/>
            <a:ext cx="1675765" cy="246380"/>
            <a:chOff x="1727" y="3355"/>
            <a:chExt cx="2639" cy="388"/>
          </a:xfrm>
          <a:scene3d>
            <a:camera prst="perspectiveFront"/>
            <a:lightRig rig="threePt" dir="t"/>
          </a:scene3d>
        </p:grpSpPr>
        <p:sp>
          <p:nvSpPr>
            <p:cNvPr id="182" name="矩形: 圆角 460"/>
            <p:cNvSpPr/>
            <p:nvPr>
              <p:custDataLst>
                <p:tags r:id="rId6"/>
              </p:custDataLst>
            </p:nvPr>
          </p:nvSpPr>
          <p:spPr>
            <a:xfrm>
              <a:off x="1727" y="3361"/>
              <a:ext cx="2639" cy="375"/>
            </a:xfrm>
            <a:prstGeom prst="roundRect">
              <a:avLst>
                <a:gd name="adj" fmla="val 50000"/>
              </a:avLst>
            </a:prstGeom>
            <a:gradFill flip="none" rotWithShape="1">
              <a:gsLst>
                <a:gs pos="23000">
                  <a:schemeClr val="accent5"/>
                </a:gs>
                <a:gs pos="100000">
                  <a:schemeClr val="accent5">
                    <a:lumMod val="60000"/>
                    <a:lumOff val="40000"/>
                  </a:schemeClr>
                </a:gs>
              </a:gsLst>
              <a:path path="circle">
                <a:fillToRect l="100000" t="100000"/>
              </a:path>
              <a:tileRect r="-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83" name="文本框 182"/>
            <p:cNvSpPr txBox="1"/>
            <p:nvPr/>
          </p:nvSpPr>
          <p:spPr>
            <a:xfrm>
              <a:off x="1928" y="3355"/>
              <a:ext cx="2235" cy="388"/>
            </a:xfrm>
            <a:prstGeom prst="rect">
              <a:avLst/>
            </a:prstGeom>
            <a:noFill/>
            <a:effectLst/>
          </p:spPr>
          <p:txBody>
            <a:bodyPr wrap="square" lIns="98755" tIns="49378" rIns="98755" bIns="49378" rtlCol="0">
              <a:spAutoFit/>
            </a:bodyPr>
            <a:lstStyle/>
            <a:p>
              <a:pPr algn="ctr"/>
              <a:r>
                <a:rPr lang="zh-CN" altLang="en-US" sz="970" b="1" dirty="0">
                  <a:solidFill>
                    <a:schemeClr val="bg1"/>
                  </a:solidFill>
                  <a:latin typeface="微软雅黑" panose="020B0503020204020204" charset="-122"/>
                  <a:ea typeface="微软雅黑" panose="020B0503020204020204" charset="-122"/>
                  <a:cs typeface="微软雅黑" panose="020B0503020204020204" charset="-122"/>
                </a:rPr>
                <a:t>运营效率提升</a:t>
              </a:r>
              <a:endParaRPr lang="zh-CN" altLang="en-US" sz="970" b="1" dirty="0">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184" name="文本框 183"/>
          <p:cNvSpPr txBox="1"/>
          <p:nvPr/>
        </p:nvSpPr>
        <p:spPr>
          <a:xfrm>
            <a:off x="8841994" y="2089150"/>
            <a:ext cx="2377107" cy="398780"/>
          </a:xfrm>
          <a:prstGeom prst="rect">
            <a:avLst/>
          </a:prstGeom>
          <a:noFill/>
        </p:spPr>
        <p:txBody>
          <a:bodyPr wrap="square">
            <a:spAutoFit/>
          </a:bodyPr>
          <a:lstStyle/>
          <a:p>
            <a:pPr>
              <a:lnSpc>
                <a:spcPct val="125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消除内部浪费，释放资源价值。流程精益化与自动化，资产与资源效能最大化，效能革命。</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6" name="文本框 185"/>
          <p:cNvSpPr txBox="1"/>
          <p:nvPr/>
        </p:nvSpPr>
        <p:spPr>
          <a:xfrm>
            <a:off x="8920099" y="2855219"/>
            <a:ext cx="2377107" cy="398780"/>
          </a:xfrm>
          <a:prstGeom prst="rect">
            <a:avLst/>
          </a:prstGeom>
          <a:noFill/>
        </p:spPr>
        <p:txBody>
          <a:bodyPr wrap="square">
            <a:spAutoFit/>
          </a:bodyPr>
          <a:lstStyle/>
          <a:p>
            <a:pPr>
              <a:lnSpc>
                <a:spcPct val="125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协同外部网络，降低总拥有成本。采购成本优化，库存与物流精细化，供应链协同与韧性建设。</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8" name="文本框 187"/>
          <p:cNvSpPr txBox="1"/>
          <p:nvPr/>
        </p:nvSpPr>
        <p:spPr>
          <a:xfrm>
            <a:off x="8958199" y="3646805"/>
            <a:ext cx="2377107" cy="398780"/>
          </a:xfrm>
          <a:prstGeom prst="rect">
            <a:avLst/>
          </a:prstGeom>
          <a:noFill/>
        </p:spPr>
        <p:txBody>
          <a:bodyPr wrap="square">
            <a:spAutoFit/>
          </a:bodyPr>
          <a:lstStyle/>
          <a:p>
            <a:pPr>
              <a:lnSpc>
                <a:spcPct val="125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技术驱动效率，固化成本优势。核心业务系统</a:t>
            </a:r>
            <a:r>
              <a:rPr lang="en-US" altLang="zh-CN" sz="800" dirty="0">
                <a:solidFill>
                  <a:schemeClr val="tx2"/>
                </a:solidFill>
                <a:latin typeface="微软雅黑" panose="020B0503020204020204" charset="-122"/>
                <a:ea typeface="微软雅黑" panose="020B0503020204020204" charset="-122"/>
                <a:cs typeface="微软雅黑" panose="020B0503020204020204" charset="-122"/>
              </a:rPr>
              <a:t>SaaS</a:t>
            </a: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化，数据智能驱动决策优化，数字化赋能。</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9" name="组合 8"/>
          <p:cNvGrpSpPr/>
          <p:nvPr/>
        </p:nvGrpSpPr>
        <p:grpSpPr>
          <a:xfrm>
            <a:off x="9008110" y="2606675"/>
            <a:ext cx="1675765" cy="246380"/>
            <a:chOff x="14648" y="4197"/>
            <a:chExt cx="2639" cy="388"/>
          </a:xfrm>
        </p:grpSpPr>
        <p:sp>
          <p:nvSpPr>
            <p:cNvPr id="185" name="矩形: 圆角 460"/>
            <p:cNvSpPr/>
            <p:nvPr>
              <p:custDataLst>
                <p:tags r:id="rId7"/>
              </p:custDataLst>
            </p:nvPr>
          </p:nvSpPr>
          <p:spPr>
            <a:xfrm>
              <a:off x="14648" y="4203"/>
              <a:ext cx="2639" cy="375"/>
            </a:xfrm>
            <a:prstGeom prst="roundRect">
              <a:avLst>
                <a:gd name="adj" fmla="val 50000"/>
              </a:avLst>
            </a:prstGeom>
            <a:gradFill flip="none" rotWithShape="1">
              <a:gsLst>
                <a:gs pos="23000">
                  <a:schemeClr val="accent5"/>
                </a:gs>
                <a:gs pos="100000">
                  <a:schemeClr val="accent5">
                    <a:lumMod val="60000"/>
                    <a:lumOff val="40000"/>
                  </a:schemeClr>
                </a:gs>
              </a:gsLst>
              <a:path path="circle">
                <a:fillToRect l="100000" t="100000"/>
              </a:path>
              <a:tileRect r="-100000" b="-100000"/>
            </a:gradFill>
            <a:ln w="38100">
              <a:noFill/>
            </a:ln>
            <a:effectLst/>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89" name="文本框 188"/>
            <p:cNvSpPr txBox="1"/>
            <p:nvPr/>
          </p:nvSpPr>
          <p:spPr>
            <a:xfrm>
              <a:off x="14917" y="4197"/>
              <a:ext cx="2227" cy="388"/>
            </a:xfrm>
            <a:prstGeom prst="rect">
              <a:avLst/>
            </a:prstGeom>
            <a:noFill/>
            <a:effectLst/>
            <a:scene3d>
              <a:camera prst="orthographicFront">
                <a:rot lat="0" lon="0" rev="0"/>
              </a:camera>
              <a:lightRig rig="threePt" dir="t"/>
            </a:scene3d>
          </p:spPr>
          <p:txBody>
            <a:bodyPr wrap="square" lIns="98755" tIns="49378" rIns="98755" bIns="49378" rtlCol="0">
              <a:spAutoFit/>
            </a:bodyPr>
            <a:lstStyle/>
            <a:p>
              <a:pPr algn="ctr"/>
              <a:r>
                <a:rPr lang="zh-CN" altLang="en-US" sz="970" b="1" dirty="0">
                  <a:solidFill>
                    <a:schemeClr val="bg1"/>
                  </a:solidFill>
                  <a:latin typeface="微软雅黑" panose="020B0503020204020204" charset="-122"/>
                  <a:ea typeface="微软雅黑" panose="020B0503020204020204" charset="-122"/>
                  <a:cs typeface="微软雅黑" panose="020B0503020204020204" charset="-122"/>
                </a:rPr>
                <a:t>供应链优化</a:t>
              </a:r>
              <a:endParaRPr lang="zh-CN" altLang="en-US" sz="970" b="1"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10" name="组合 9"/>
          <p:cNvGrpSpPr/>
          <p:nvPr/>
        </p:nvGrpSpPr>
        <p:grpSpPr>
          <a:xfrm>
            <a:off x="9008110" y="3355340"/>
            <a:ext cx="1675765" cy="246380"/>
            <a:chOff x="14708" y="5671"/>
            <a:chExt cx="2639" cy="388"/>
          </a:xfrm>
        </p:grpSpPr>
        <p:sp>
          <p:nvSpPr>
            <p:cNvPr id="187" name="矩形: 圆角 460"/>
            <p:cNvSpPr/>
            <p:nvPr>
              <p:custDataLst>
                <p:tags r:id="rId8"/>
              </p:custDataLst>
            </p:nvPr>
          </p:nvSpPr>
          <p:spPr>
            <a:xfrm>
              <a:off x="14708" y="5677"/>
              <a:ext cx="2639" cy="375"/>
            </a:xfrm>
            <a:prstGeom prst="roundRect">
              <a:avLst>
                <a:gd name="adj" fmla="val 50000"/>
              </a:avLst>
            </a:prstGeom>
            <a:gradFill flip="none" rotWithShape="1">
              <a:gsLst>
                <a:gs pos="23000">
                  <a:schemeClr val="accent5"/>
                </a:gs>
                <a:gs pos="100000">
                  <a:schemeClr val="accent5">
                    <a:lumMod val="60000"/>
                    <a:lumOff val="40000"/>
                  </a:schemeClr>
                </a:gs>
              </a:gsLst>
              <a:path path="circle">
                <a:fillToRect l="100000" t="100000"/>
              </a:path>
              <a:tileRect r="-100000" b="-100000"/>
            </a:gradFill>
            <a:ln w="38100">
              <a:noFill/>
            </a:ln>
            <a:effectLst/>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90" name="文本框 189"/>
            <p:cNvSpPr txBox="1"/>
            <p:nvPr/>
          </p:nvSpPr>
          <p:spPr>
            <a:xfrm>
              <a:off x="14869" y="5671"/>
              <a:ext cx="2331" cy="388"/>
            </a:xfrm>
            <a:prstGeom prst="rect">
              <a:avLst/>
            </a:prstGeom>
            <a:noFill/>
            <a:effectLst/>
            <a:scene3d>
              <a:camera prst="orthographicFront">
                <a:rot lat="0" lon="0" rev="0"/>
              </a:camera>
              <a:lightRig rig="threePt" dir="t"/>
            </a:scene3d>
          </p:spPr>
          <p:txBody>
            <a:bodyPr wrap="square" lIns="98755" tIns="49378" rIns="98755" bIns="49378" rtlCol="0">
              <a:spAutoFit/>
            </a:bodyPr>
            <a:lstStyle/>
            <a:p>
              <a:pPr algn="ctr"/>
              <a:r>
                <a:rPr lang="zh-CN" altLang="en-US" sz="970" b="1" dirty="0">
                  <a:solidFill>
                    <a:schemeClr val="bg1"/>
                  </a:solidFill>
                  <a:latin typeface="微软雅黑" panose="020B0503020204020204" charset="-122"/>
                  <a:ea typeface="微软雅黑" panose="020B0503020204020204" charset="-122"/>
                  <a:cs typeface="微软雅黑" panose="020B0503020204020204" charset="-122"/>
                </a:rPr>
                <a:t>数字化转型降本</a:t>
              </a:r>
              <a:endParaRPr lang="zh-CN" altLang="en-US" sz="970" b="1" dirty="0">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191" name="椭圆 190"/>
          <p:cNvSpPr/>
          <p:nvPr/>
        </p:nvSpPr>
        <p:spPr>
          <a:xfrm>
            <a:off x="6345202" y="2062294"/>
            <a:ext cx="1765926" cy="1765926"/>
          </a:xfrm>
          <a:prstGeom prst="ellipse">
            <a:avLst/>
          </a:prstGeom>
          <a:noFill/>
          <a:ln>
            <a:solidFill>
              <a:schemeClr val="tx2">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92" name="椭圆 191"/>
          <p:cNvSpPr/>
          <p:nvPr/>
        </p:nvSpPr>
        <p:spPr>
          <a:xfrm>
            <a:off x="4080522" y="2062294"/>
            <a:ext cx="1765926" cy="1765926"/>
          </a:xfrm>
          <a:prstGeom prst="ellipse">
            <a:avLst/>
          </a:prstGeom>
          <a:noFill/>
          <a:ln>
            <a:solidFill>
              <a:schemeClr val="tx2">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93" name="椭圆 192"/>
          <p:cNvSpPr/>
          <p:nvPr/>
        </p:nvSpPr>
        <p:spPr>
          <a:xfrm>
            <a:off x="5133239" y="2069711"/>
            <a:ext cx="1868940" cy="1868940"/>
          </a:xfrm>
          <a:prstGeom prst="ellipse">
            <a:avLst/>
          </a:prstGeom>
          <a:gradFill flip="none" rotWithShape="1">
            <a:gsLst>
              <a:gs pos="23000">
                <a:schemeClr val="accent1"/>
              </a:gs>
              <a:gs pos="100000">
                <a:schemeClr val="accent1">
                  <a:lumMod val="60000"/>
                  <a:lumOff val="40000"/>
                </a:schemeClr>
              </a:gs>
            </a:gsLst>
            <a:path path="circle">
              <a:fillToRect l="100000" t="100000"/>
            </a:path>
            <a:tileRect r="-100000" b="-100000"/>
          </a:gra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94" name="椭圆 193"/>
          <p:cNvSpPr/>
          <p:nvPr/>
        </p:nvSpPr>
        <p:spPr>
          <a:xfrm>
            <a:off x="3441700" y="2394585"/>
            <a:ext cx="1040765" cy="1040765"/>
          </a:xfrm>
          <a:prstGeom prst="ellipse">
            <a:avLst/>
          </a:prstGeom>
          <a:gradFill flip="none" rotWithShape="1">
            <a:gsLst>
              <a:gs pos="0">
                <a:schemeClr val="accent5"/>
              </a:gs>
              <a:gs pos="100000">
                <a:schemeClr val="accent5">
                  <a:lumMod val="60000"/>
                  <a:lumOff val="40000"/>
                </a:schemeClr>
              </a:gs>
            </a:gsLst>
            <a:lin ang="0"/>
          </a:gradFill>
          <a:ln w="38100">
            <a:noFill/>
          </a:ln>
          <a:effectLst>
            <a:outerShdw blurRad="254000" dist="123444" dir="5400000" sx="99000" sy="99000" algn="ctr" rotWithShape="0">
              <a:schemeClr val="accent5">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99" name="任意多边形: 形状 15"/>
          <p:cNvSpPr/>
          <p:nvPr/>
        </p:nvSpPr>
        <p:spPr>
          <a:xfrm rot="16200000">
            <a:off x="7201235" y="3759653"/>
            <a:ext cx="149614" cy="12714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00" name="任意多边形: 形状 18"/>
          <p:cNvSpPr/>
          <p:nvPr/>
        </p:nvSpPr>
        <p:spPr>
          <a:xfrm rot="5400000">
            <a:off x="7192208" y="1997776"/>
            <a:ext cx="149614" cy="12714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01" name="任意多边形: 形状 22"/>
          <p:cNvSpPr/>
          <p:nvPr/>
        </p:nvSpPr>
        <p:spPr>
          <a:xfrm rot="5400000">
            <a:off x="4887723" y="3742611"/>
            <a:ext cx="149614" cy="12714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02" name="任意多边形: 形状 23"/>
          <p:cNvSpPr/>
          <p:nvPr/>
        </p:nvSpPr>
        <p:spPr>
          <a:xfrm rot="16200000">
            <a:off x="4887723" y="2020757"/>
            <a:ext cx="149614" cy="12714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488" name="任意多边形: 形状 487"/>
          <p:cNvSpPr/>
          <p:nvPr/>
        </p:nvSpPr>
        <p:spPr>
          <a:xfrm>
            <a:off x="5399405" y="1277620"/>
            <a:ext cx="1367155" cy="129349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alpha val="0"/>
                </a:schemeClr>
              </a:gs>
              <a:gs pos="46000">
                <a:schemeClr val="accent1">
                  <a:alpha val="13000"/>
                </a:schemeClr>
              </a:gs>
              <a:gs pos="100000">
                <a:schemeClr val="accent1">
                  <a:alpha val="44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109" name="组合 108"/>
          <p:cNvGrpSpPr/>
          <p:nvPr/>
        </p:nvGrpSpPr>
        <p:grpSpPr>
          <a:xfrm>
            <a:off x="7528560" y="2394585"/>
            <a:ext cx="1040130" cy="1040130"/>
            <a:chOff x="11856" y="3884"/>
            <a:chExt cx="1638" cy="1638"/>
          </a:xfrm>
        </p:grpSpPr>
        <p:sp>
          <p:nvSpPr>
            <p:cNvPr id="195" name="椭圆 194"/>
            <p:cNvSpPr/>
            <p:nvPr/>
          </p:nvSpPr>
          <p:spPr>
            <a:xfrm>
              <a:off x="11856" y="3884"/>
              <a:ext cx="1639" cy="1639"/>
            </a:xfrm>
            <a:prstGeom prst="ellipse">
              <a:avLst/>
            </a:prstGeom>
            <a:gradFill flip="none" rotWithShape="1">
              <a:gsLst>
                <a:gs pos="0">
                  <a:schemeClr val="accent5"/>
                </a:gs>
                <a:gs pos="100000">
                  <a:schemeClr val="accent5">
                    <a:lumMod val="60000"/>
                    <a:lumOff val="40000"/>
                  </a:schemeClr>
                </a:gs>
              </a:gsLst>
              <a:lin ang="0"/>
            </a:gradFill>
            <a:ln w="38100">
              <a:noFill/>
            </a:ln>
            <a:effectLst>
              <a:outerShdw blurRad="254000" dist="123444" dir="5400000" sx="99000" sy="99000" algn="ctr" rotWithShape="0">
                <a:schemeClr val="accent5">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nvSpPr>
          <p:spPr>
            <a:xfrm>
              <a:off x="11948" y="4153"/>
              <a:ext cx="1536" cy="1101"/>
            </a:xfrm>
            <a:prstGeom prst="rect">
              <a:avLst/>
            </a:prstGeom>
            <a:noFill/>
          </p:spPr>
          <p:txBody>
            <a:bodyPr wrap="square" rtlCol="0" anchor="ctr" anchorCtr="0">
              <a:no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zh-CN" altLang="en-US" sz="2000" b="1" dirty="0">
                  <a:solidFill>
                    <a:schemeClr val="bg1"/>
                  </a:solidFill>
                  <a:latin typeface="微软雅黑" panose="020B0503020204020204" charset="-122"/>
                  <a:ea typeface="微软雅黑" panose="020B0503020204020204" charset="-122"/>
                  <a:cs typeface="微软雅黑" panose="020B0503020204020204" charset="-122"/>
                </a:rPr>
                <a:t>②</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成本控制策略</a:t>
              </a:r>
              <a:endParaRPr lang="en-US" altLang="zh-CN" sz="14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106" name="文本框 105"/>
          <p:cNvSpPr txBox="1"/>
          <p:nvPr/>
        </p:nvSpPr>
        <p:spPr>
          <a:xfrm>
            <a:off x="5234940" y="2588260"/>
            <a:ext cx="1656080" cy="922020"/>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zh-CN" altLang="en-US" b="1" dirty="0">
                <a:solidFill>
                  <a:schemeClr val="bg1"/>
                </a:solidFill>
                <a:latin typeface="微软雅黑" panose="020B0503020204020204" charset="-122"/>
                <a:ea typeface="微软雅黑" panose="020B0503020204020204" charset="-122"/>
                <a:cs typeface="微软雅黑" panose="020B0503020204020204" charset="-122"/>
              </a:rPr>
              <a:t>实现可持续、高质量盈利</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b="1" dirty="0">
                <a:solidFill>
                  <a:schemeClr val="bg1"/>
                </a:solidFill>
                <a:latin typeface="微软雅黑" panose="020B0503020204020204" charset="-122"/>
                <a:ea typeface="微软雅黑" panose="020B0503020204020204" charset="-122"/>
                <a:cs typeface="微软雅黑" panose="020B0503020204020204" charset="-122"/>
              </a:rPr>
              <a:t>的目标</a:t>
            </a:r>
            <a:endParaRPr lang="zh-CN" altLang="en-US" sz="1600" dirty="0">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334" name="组合 333"/>
          <p:cNvGrpSpPr/>
          <p:nvPr/>
        </p:nvGrpSpPr>
        <p:grpSpPr>
          <a:xfrm>
            <a:off x="3194050" y="3933190"/>
            <a:ext cx="1317625" cy="757555"/>
            <a:chOff x="5030" y="6194"/>
            <a:chExt cx="2075" cy="1193"/>
          </a:xfrm>
        </p:grpSpPr>
        <p:cxnSp>
          <p:nvCxnSpPr>
            <p:cNvPr id="244" name="直接连接符 243"/>
            <p:cNvCxnSpPr/>
            <p:nvPr/>
          </p:nvCxnSpPr>
          <p:spPr>
            <a:xfrm>
              <a:off x="5030" y="6763"/>
              <a:ext cx="0" cy="624"/>
            </a:xfrm>
            <a:prstGeom prst="line">
              <a:avLst/>
            </a:prstGeom>
            <a:ln w="19050" cap="rnd">
              <a:gradFill>
                <a:gsLst>
                  <a:gs pos="0">
                    <a:schemeClr val="accent1">
                      <a:lumMod val="60000"/>
                      <a:lumOff val="40000"/>
                      <a:alpha val="55000"/>
                    </a:schemeClr>
                  </a:gs>
                  <a:gs pos="100000">
                    <a:schemeClr val="accent1">
                      <a:lumMod val="60000"/>
                      <a:lumOff val="40000"/>
                      <a:alpha val="0"/>
                    </a:schemeClr>
                  </a:gs>
                </a:gsLst>
                <a:lin ang="5400000" scaled="1"/>
              </a:gradFill>
            </a:ln>
          </p:spPr>
          <p:style>
            <a:lnRef idx="1">
              <a:srgbClr val="3045A6"/>
            </a:lnRef>
            <a:fillRef idx="0">
              <a:srgbClr val="3045A6"/>
            </a:fillRef>
            <a:effectRef idx="0">
              <a:srgbClr val="3045A6"/>
            </a:effectRef>
            <a:fontRef idx="minor">
              <a:srgbClr val="FFFFFF"/>
            </a:fontRef>
          </p:style>
        </p:cxnSp>
        <p:cxnSp>
          <p:nvCxnSpPr>
            <p:cNvPr id="328" name="直接连接符 327"/>
            <p:cNvCxnSpPr/>
            <p:nvPr/>
          </p:nvCxnSpPr>
          <p:spPr>
            <a:xfrm>
              <a:off x="6085" y="6420"/>
              <a:ext cx="0" cy="624"/>
            </a:xfrm>
            <a:prstGeom prst="line">
              <a:avLst/>
            </a:prstGeom>
            <a:ln w="19050" cap="rnd">
              <a:gradFill>
                <a:gsLst>
                  <a:gs pos="0">
                    <a:schemeClr val="accent1">
                      <a:lumMod val="60000"/>
                      <a:lumOff val="40000"/>
                      <a:alpha val="55000"/>
                    </a:schemeClr>
                  </a:gs>
                  <a:gs pos="100000">
                    <a:schemeClr val="accent1">
                      <a:lumMod val="60000"/>
                      <a:lumOff val="40000"/>
                      <a:alpha val="0"/>
                    </a:schemeClr>
                  </a:gs>
                </a:gsLst>
                <a:lin ang="5400000" scaled="1"/>
              </a:gradFill>
            </a:ln>
          </p:spPr>
          <p:style>
            <a:lnRef idx="1">
              <a:srgbClr val="3045A6"/>
            </a:lnRef>
            <a:fillRef idx="0">
              <a:srgbClr val="3045A6"/>
            </a:fillRef>
            <a:effectRef idx="0">
              <a:srgbClr val="3045A6"/>
            </a:effectRef>
            <a:fontRef idx="minor">
              <a:srgbClr val="FFFFFF"/>
            </a:fontRef>
          </p:style>
        </p:cxnSp>
        <p:cxnSp>
          <p:nvCxnSpPr>
            <p:cNvPr id="333" name="直接连接符 332"/>
            <p:cNvCxnSpPr/>
            <p:nvPr/>
          </p:nvCxnSpPr>
          <p:spPr>
            <a:xfrm>
              <a:off x="7105" y="6194"/>
              <a:ext cx="0" cy="624"/>
            </a:xfrm>
            <a:prstGeom prst="line">
              <a:avLst/>
            </a:prstGeom>
            <a:ln w="19050" cap="rnd">
              <a:gradFill>
                <a:gsLst>
                  <a:gs pos="0">
                    <a:schemeClr val="accent1">
                      <a:lumMod val="60000"/>
                      <a:lumOff val="40000"/>
                      <a:alpha val="55000"/>
                    </a:schemeClr>
                  </a:gs>
                  <a:gs pos="100000">
                    <a:schemeClr val="accent1">
                      <a:lumMod val="60000"/>
                      <a:lumOff val="40000"/>
                      <a:alpha val="0"/>
                    </a:schemeClr>
                  </a:gs>
                </a:gsLst>
                <a:lin ang="5400000" scaled="1"/>
              </a:gradFill>
            </a:ln>
          </p:spPr>
          <p:style>
            <a:lnRef idx="1">
              <a:srgbClr val="3045A6"/>
            </a:lnRef>
            <a:fillRef idx="0">
              <a:srgbClr val="3045A6"/>
            </a:fillRef>
            <a:effectRef idx="0">
              <a:srgbClr val="3045A6"/>
            </a:effectRef>
            <a:fontRef idx="minor">
              <a:srgbClr val="FFFFFF"/>
            </a:fontRef>
          </p:style>
        </p:cxnSp>
      </p:grpSp>
      <p:grpSp>
        <p:nvGrpSpPr>
          <p:cNvPr id="335" name="组合 334"/>
          <p:cNvGrpSpPr/>
          <p:nvPr/>
        </p:nvGrpSpPr>
        <p:grpSpPr>
          <a:xfrm flipH="1">
            <a:off x="7896225" y="4004945"/>
            <a:ext cx="1317625" cy="757555"/>
            <a:chOff x="5030" y="6194"/>
            <a:chExt cx="2075" cy="1193"/>
          </a:xfrm>
        </p:grpSpPr>
        <p:cxnSp>
          <p:nvCxnSpPr>
            <p:cNvPr id="336" name="直接连接符 335"/>
            <p:cNvCxnSpPr/>
            <p:nvPr/>
          </p:nvCxnSpPr>
          <p:spPr>
            <a:xfrm>
              <a:off x="5030" y="6763"/>
              <a:ext cx="0" cy="624"/>
            </a:xfrm>
            <a:prstGeom prst="line">
              <a:avLst/>
            </a:prstGeom>
            <a:ln w="19050" cap="rnd">
              <a:gradFill>
                <a:gsLst>
                  <a:gs pos="0">
                    <a:schemeClr val="accent1">
                      <a:lumMod val="60000"/>
                      <a:lumOff val="40000"/>
                      <a:alpha val="55000"/>
                    </a:schemeClr>
                  </a:gs>
                  <a:gs pos="100000">
                    <a:schemeClr val="accent1">
                      <a:lumMod val="60000"/>
                      <a:lumOff val="40000"/>
                      <a:alpha val="0"/>
                    </a:schemeClr>
                  </a:gs>
                </a:gsLst>
                <a:lin ang="5400000" scaled="1"/>
              </a:gradFill>
            </a:ln>
          </p:spPr>
          <p:style>
            <a:lnRef idx="1">
              <a:srgbClr val="3045A6"/>
            </a:lnRef>
            <a:fillRef idx="0">
              <a:srgbClr val="3045A6"/>
            </a:fillRef>
            <a:effectRef idx="0">
              <a:srgbClr val="3045A6"/>
            </a:effectRef>
            <a:fontRef idx="minor">
              <a:srgbClr val="FFFFFF"/>
            </a:fontRef>
          </p:style>
        </p:cxnSp>
        <p:cxnSp>
          <p:nvCxnSpPr>
            <p:cNvPr id="337" name="直接连接符 336"/>
            <p:cNvCxnSpPr/>
            <p:nvPr/>
          </p:nvCxnSpPr>
          <p:spPr>
            <a:xfrm>
              <a:off x="6085" y="6420"/>
              <a:ext cx="0" cy="624"/>
            </a:xfrm>
            <a:prstGeom prst="line">
              <a:avLst/>
            </a:prstGeom>
            <a:ln w="19050" cap="rnd">
              <a:gradFill>
                <a:gsLst>
                  <a:gs pos="0">
                    <a:schemeClr val="accent1">
                      <a:lumMod val="60000"/>
                      <a:lumOff val="40000"/>
                      <a:alpha val="55000"/>
                    </a:schemeClr>
                  </a:gs>
                  <a:gs pos="100000">
                    <a:schemeClr val="accent1">
                      <a:lumMod val="60000"/>
                      <a:lumOff val="40000"/>
                      <a:alpha val="0"/>
                    </a:schemeClr>
                  </a:gs>
                </a:gsLst>
                <a:lin ang="5400000" scaled="1"/>
              </a:gradFill>
            </a:ln>
          </p:spPr>
          <p:style>
            <a:lnRef idx="1">
              <a:srgbClr val="3045A6"/>
            </a:lnRef>
            <a:fillRef idx="0">
              <a:srgbClr val="3045A6"/>
            </a:fillRef>
            <a:effectRef idx="0">
              <a:srgbClr val="3045A6"/>
            </a:effectRef>
            <a:fontRef idx="minor">
              <a:srgbClr val="FFFFFF"/>
            </a:fontRef>
          </p:style>
        </p:cxnSp>
        <p:cxnSp>
          <p:nvCxnSpPr>
            <p:cNvPr id="338" name="直接连接符 337"/>
            <p:cNvCxnSpPr/>
            <p:nvPr/>
          </p:nvCxnSpPr>
          <p:spPr>
            <a:xfrm>
              <a:off x="7105" y="6194"/>
              <a:ext cx="0" cy="624"/>
            </a:xfrm>
            <a:prstGeom prst="line">
              <a:avLst/>
            </a:prstGeom>
            <a:ln w="19050" cap="rnd">
              <a:gradFill>
                <a:gsLst>
                  <a:gs pos="0">
                    <a:schemeClr val="accent1">
                      <a:lumMod val="60000"/>
                      <a:lumOff val="40000"/>
                      <a:alpha val="55000"/>
                    </a:schemeClr>
                  </a:gs>
                  <a:gs pos="100000">
                    <a:schemeClr val="accent1">
                      <a:lumMod val="60000"/>
                      <a:lumOff val="40000"/>
                      <a:alpha val="0"/>
                    </a:schemeClr>
                  </a:gs>
                </a:gsLst>
                <a:lin ang="5400000" scaled="1"/>
              </a:gradFill>
            </a:ln>
          </p:spPr>
          <p:style>
            <a:lnRef idx="1">
              <a:srgbClr val="3045A6"/>
            </a:lnRef>
            <a:fillRef idx="0">
              <a:srgbClr val="3045A6"/>
            </a:fillRef>
            <a:effectRef idx="0">
              <a:srgbClr val="3045A6"/>
            </a:effectRef>
            <a:fontRef idx="minor">
              <a:srgbClr val="FFFFFF"/>
            </a:fontRef>
          </p:style>
        </p:cxnSp>
      </p:grpSp>
      <p:grpSp>
        <p:nvGrpSpPr>
          <p:cNvPr id="133" name="@显眼包PPT1"/>
          <p:cNvGrpSpPr/>
          <p:nvPr/>
        </p:nvGrpSpPr>
        <p:grpSpPr>
          <a:xfrm>
            <a:off x="355917" y="5284673"/>
            <a:ext cx="11522075" cy="474980"/>
            <a:chOff x="334962" y="5996408"/>
            <a:chExt cx="11522075" cy="474980"/>
          </a:xfrm>
        </p:grpSpPr>
        <p:sp>
          <p:nvSpPr>
            <p:cNvPr id="25" name="@显眼包PPT1-1"/>
            <p:cNvSpPr/>
            <p:nvPr/>
          </p:nvSpPr>
          <p:spPr>
            <a:xfrm>
              <a:off x="334962" y="5996408"/>
              <a:ext cx="11522075" cy="330360"/>
            </a:xfrm>
            <a:prstGeom prst="trapezoid">
              <a:avLst>
                <a:gd name="adj" fmla="val 152137"/>
              </a:avLst>
            </a:prstGeom>
            <a:gradFill flip="none" rotWithShape="1">
              <a:gsLst>
                <a:gs pos="0">
                  <a:schemeClr val="accent1">
                    <a:lumMod val="40000"/>
                    <a:lumOff val="60000"/>
                    <a:alpha val="0"/>
                  </a:schemeClr>
                </a:gs>
                <a:gs pos="100000">
                  <a:schemeClr val="accent1">
                    <a:lumMod val="40000"/>
                    <a:lumOff val="60000"/>
                    <a:alpha val="41000"/>
                  </a:schemeClr>
                </a:gs>
              </a:gsLst>
              <a:lin ang="5400000" scaled="1"/>
              <a:tileRect/>
            </a:gradFill>
            <a:ln>
              <a:gradFill>
                <a:gsLst>
                  <a:gs pos="0">
                    <a:schemeClr val="accent1">
                      <a:lumMod val="60000"/>
                      <a:lumOff val="40000"/>
                      <a:alpha val="0"/>
                    </a:schemeClr>
                  </a:gs>
                  <a:gs pos="100000">
                    <a:schemeClr val="accent1">
                      <a:lumMod val="60000"/>
                      <a:lumOff val="4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6" name="@显眼包PPT1-2"/>
            <p:cNvSpPr/>
            <p:nvPr/>
          </p:nvSpPr>
          <p:spPr>
            <a:xfrm>
              <a:off x="334962" y="6326608"/>
              <a:ext cx="11522075" cy="144780"/>
            </a:xfrm>
            <a:prstGeom prst="rect">
              <a:avLst/>
            </a:prstGeom>
            <a:gradFill flip="none" rotWithShape="1">
              <a:gsLst>
                <a:gs pos="0">
                  <a:schemeClr val="accent1">
                    <a:lumMod val="60000"/>
                    <a:lumOff val="40000"/>
                  </a:schemeClr>
                </a:gs>
                <a:gs pos="97273">
                  <a:schemeClr val="accent1">
                    <a:lumMod val="60000"/>
                    <a:lumOff val="40000"/>
                  </a:schemeClr>
                </a:gs>
                <a:gs pos="50000">
                  <a:schemeClr val="accent1"/>
                </a:gs>
              </a:gsLst>
              <a:lin ang="0" scaled="1"/>
              <a:tileRect/>
            </a:gradFill>
            <a:ln>
              <a:noFill/>
            </a:ln>
            <a:effectLst>
              <a:reflection blurRad="50800" stA="41000" endPos="38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37" name="组合 36"/>
          <p:cNvGrpSpPr/>
          <p:nvPr/>
        </p:nvGrpSpPr>
        <p:grpSpPr>
          <a:xfrm rot="0">
            <a:off x="1891665" y="4415790"/>
            <a:ext cx="952500" cy="751205"/>
            <a:chOff x="1879619" y="4432848"/>
            <a:chExt cx="952481" cy="751001"/>
          </a:xfrm>
        </p:grpSpPr>
        <p:sp>
          <p:nvSpPr>
            <p:cNvPr id="17" name="不完整圆 235"/>
            <p:cNvSpPr/>
            <p:nvPr/>
          </p:nvSpPr>
          <p:spPr>
            <a:xfrm>
              <a:off x="1879619" y="5064397"/>
              <a:ext cx="952481" cy="11945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38100">
              <a:gradFill flip="none" rotWithShape="1">
                <a:gsLst>
                  <a:gs pos="0">
                    <a:schemeClr val="accent1">
                      <a:lumMod val="0"/>
                      <a:lumOff val="100000"/>
                    </a:schemeClr>
                  </a:gs>
                  <a:gs pos="100000">
                    <a:schemeClr val="accent1"/>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36" name="椭圆 35"/>
            <p:cNvSpPr/>
            <p:nvPr>
              <p:custDataLst>
                <p:tags r:id="rId9"/>
              </p:custDataLst>
            </p:nvPr>
          </p:nvSpPr>
          <p:spPr>
            <a:xfrm flipH="1">
              <a:off x="2020774" y="4432848"/>
              <a:ext cx="670170" cy="670170"/>
            </a:xfrm>
            <a:prstGeom prst="ellipse">
              <a:avLst/>
            </a:prstGeom>
            <a:gradFill flip="none" rotWithShape="1">
              <a:gsLst>
                <a:gs pos="23000">
                  <a:schemeClr val="accent1"/>
                </a:gs>
                <a:gs pos="100000">
                  <a:schemeClr val="accent1">
                    <a:lumMod val="80000"/>
                    <a:lumOff val="20000"/>
                  </a:schemeClr>
                </a:gs>
              </a:gsLst>
              <a:path path="circle">
                <a:fillToRect l="100000" t="100000"/>
              </a:path>
              <a:tileRect r="-100000" b="-100000"/>
            </a:gra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grpSp>
      <p:grpSp>
        <p:nvGrpSpPr>
          <p:cNvPr id="21" name="组合 20"/>
          <p:cNvGrpSpPr/>
          <p:nvPr/>
        </p:nvGrpSpPr>
        <p:grpSpPr>
          <a:xfrm rot="0">
            <a:off x="3757930" y="4415790"/>
            <a:ext cx="952500" cy="751205"/>
            <a:chOff x="1879619" y="4432848"/>
            <a:chExt cx="952481" cy="751001"/>
          </a:xfrm>
        </p:grpSpPr>
        <p:sp>
          <p:nvSpPr>
            <p:cNvPr id="22" name="不完整圆 235"/>
            <p:cNvSpPr/>
            <p:nvPr/>
          </p:nvSpPr>
          <p:spPr>
            <a:xfrm>
              <a:off x="1879619" y="5064397"/>
              <a:ext cx="952481" cy="11945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38100">
              <a:gradFill flip="none" rotWithShape="1">
                <a:gsLst>
                  <a:gs pos="0">
                    <a:schemeClr val="accent1">
                      <a:lumMod val="0"/>
                      <a:lumOff val="100000"/>
                    </a:schemeClr>
                  </a:gs>
                  <a:gs pos="100000">
                    <a:schemeClr val="accent1"/>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24" name="椭圆 23"/>
            <p:cNvSpPr/>
            <p:nvPr>
              <p:custDataLst>
                <p:tags r:id="rId10"/>
              </p:custDataLst>
            </p:nvPr>
          </p:nvSpPr>
          <p:spPr>
            <a:xfrm flipH="1">
              <a:off x="2020774" y="4432848"/>
              <a:ext cx="670170" cy="670170"/>
            </a:xfrm>
            <a:prstGeom prst="ellipse">
              <a:avLst/>
            </a:prstGeom>
            <a:gradFill flip="none" rotWithShape="1">
              <a:gsLst>
                <a:gs pos="23000">
                  <a:schemeClr val="accent1"/>
                </a:gs>
                <a:gs pos="100000">
                  <a:schemeClr val="accent1">
                    <a:lumMod val="80000"/>
                    <a:lumOff val="20000"/>
                  </a:schemeClr>
                </a:gs>
              </a:gsLst>
              <a:path path="circle">
                <a:fillToRect l="100000" t="100000"/>
              </a:path>
              <a:tileRect r="-100000" b="-100000"/>
            </a:gra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grpSp>
      <p:grpSp>
        <p:nvGrpSpPr>
          <p:cNvPr id="29" name="组合 28"/>
          <p:cNvGrpSpPr/>
          <p:nvPr/>
        </p:nvGrpSpPr>
        <p:grpSpPr>
          <a:xfrm rot="0">
            <a:off x="5624195" y="4415790"/>
            <a:ext cx="952500" cy="751205"/>
            <a:chOff x="1879619" y="4432848"/>
            <a:chExt cx="952481" cy="751001"/>
          </a:xfrm>
        </p:grpSpPr>
        <p:sp>
          <p:nvSpPr>
            <p:cNvPr id="31" name="不完整圆 235"/>
            <p:cNvSpPr/>
            <p:nvPr/>
          </p:nvSpPr>
          <p:spPr>
            <a:xfrm>
              <a:off x="1879619" y="5064397"/>
              <a:ext cx="952481" cy="11945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38100">
              <a:gradFill flip="none" rotWithShape="1">
                <a:gsLst>
                  <a:gs pos="0">
                    <a:schemeClr val="accent1">
                      <a:lumMod val="0"/>
                      <a:lumOff val="100000"/>
                    </a:schemeClr>
                  </a:gs>
                  <a:gs pos="100000">
                    <a:schemeClr val="accent1"/>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32" name="椭圆 31"/>
            <p:cNvSpPr/>
            <p:nvPr>
              <p:custDataLst>
                <p:tags r:id="rId11"/>
              </p:custDataLst>
            </p:nvPr>
          </p:nvSpPr>
          <p:spPr>
            <a:xfrm flipH="1">
              <a:off x="2020774" y="4432848"/>
              <a:ext cx="670170" cy="670170"/>
            </a:xfrm>
            <a:prstGeom prst="ellipse">
              <a:avLst/>
            </a:prstGeom>
            <a:gradFill flip="none" rotWithShape="1">
              <a:gsLst>
                <a:gs pos="23000">
                  <a:schemeClr val="accent1"/>
                </a:gs>
                <a:gs pos="100000">
                  <a:schemeClr val="accent1">
                    <a:lumMod val="80000"/>
                    <a:lumOff val="20000"/>
                  </a:schemeClr>
                </a:gs>
              </a:gsLst>
              <a:path path="circle">
                <a:fillToRect l="100000" t="100000"/>
              </a:path>
              <a:tileRect r="-100000" b="-100000"/>
            </a:gra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grpSp>
      <p:grpSp>
        <p:nvGrpSpPr>
          <p:cNvPr id="34" name="组合 33"/>
          <p:cNvGrpSpPr/>
          <p:nvPr/>
        </p:nvGrpSpPr>
        <p:grpSpPr>
          <a:xfrm>
            <a:off x="7490460" y="4415790"/>
            <a:ext cx="952500" cy="750570"/>
            <a:chOff x="1856" y="7553"/>
            <a:chExt cx="1500" cy="1182"/>
          </a:xfrm>
        </p:grpSpPr>
        <p:grpSp>
          <p:nvGrpSpPr>
            <p:cNvPr id="35" name="组合 34"/>
            <p:cNvGrpSpPr/>
            <p:nvPr/>
          </p:nvGrpSpPr>
          <p:grpSpPr>
            <a:xfrm>
              <a:off x="1856" y="7553"/>
              <a:ext cx="1500" cy="1183"/>
              <a:chOff x="1879619" y="4432848"/>
              <a:chExt cx="952481" cy="751001"/>
            </a:xfrm>
          </p:grpSpPr>
          <p:sp>
            <p:nvSpPr>
              <p:cNvPr id="38" name="不完整圆 235"/>
              <p:cNvSpPr/>
              <p:nvPr/>
            </p:nvSpPr>
            <p:spPr>
              <a:xfrm>
                <a:off x="1879619" y="5064397"/>
                <a:ext cx="952481" cy="11945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38100">
                <a:gradFill flip="none" rotWithShape="1">
                  <a:gsLst>
                    <a:gs pos="0">
                      <a:schemeClr val="accent1">
                        <a:lumMod val="0"/>
                        <a:lumOff val="100000"/>
                      </a:schemeClr>
                    </a:gs>
                    <a:gs pos="100000">
                      <a:schemeClr val="accent1"/>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40" name="椭圆 39"/>
              <p:cNvSpPr/>
              <p:nvPr>
                <p:custDataLst>
                  <p:tags r:id="rId12"/>
                </p:custDataLst>
              </p:nvPr>
            </p:nvSpPr>
            <p:spPr>
              <a:xfrm flipH="1">
                <a:off x="2020774" y="4432848"/>
                <a:ext cx="670170" cy="670170"/>
              </a:xfrm>
              <a:prstGeom prst="ellipse">
                <a:avLst/>
              </a:prstGeom>
              <a:gradFill flip="none" rotWithShape="1">
                <a:gsLst>
                  <a:gs pos="23000">
                    <a:schemeClr val="accent1"/>
                  </a:gs>
                  <a:gs pos="100000">
                    <a:schemeClr val="accent1">
                      <a:lumMod val="80000"/>
                      <a:lumOff val="20000"/>
                    </a:schemeClr>
                  </a:gs>
                </a:gsLst>
                <a:path path="circle">
                  <a:fillToRect l="100000" t="100000"/>
                </a:path>
                <a:tileRect r="-100000" b="-100000"/>
              </a:gra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grpSp>
        <p:pic>
          <p:nvPicPr>
            <p:cNvPr id="42" name="图形 12"/>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233" y="7643"/>
              <a:ext cx="783" cy="783"/>
            </a:xfrm>
            <a:prstGeom prst="rect">
              <a:avLst/>
            </a:prstGeom>
          </p:spPr>
        </p:pic>
      </p:grpSp>
      <p:grpSp>
        <p:nvGrpSpPr>
          <p:cNvPr id="45" name="组合 44"/>
          <p:cNvGrpSpPr/>
          <p:nvPr/>
        </p:nvGrpSpPr>
        <p:grpSpPr>
          <a:xfrm rot="0">
            <a:off x="9356725" y="4415790"/>
            <a:ext cx="952500" cy="751205"/>
            <a:chOff x="1879619" y="4432848"/>
            <a:chExt cx="952481" cy="751001"/>
          </a:xfrm>
        </p:grpSpPr>
        <p:sp>
          <p:nvSpPr>
            <p:cNvPr id="47" name="不完整圆 235"/>
            <p:cNvSpPr/>
            <p:nvPr/>
          </p:nvSpPr>
          <p:spPr>
            <a:xfrm>
              <a:off x="1879619" y="5064397"/>
              <a:ext cx="952481" cy="11945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38100">
              <a:gradFill flip="none" rotWithShape="1">
                <a:gsLst>
                  <a:gs pos="0">
                    <a:schemeClr val="accent1">
                      <a:lumMod val="0"/>
                      <a:lumOff val="100000"/>
                    </a:schemeClr>
                  </a:gs>
                  <a:gs pos="100000">
                    <a:schemeClr val="accent1"/>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48" name="椭圆 47"/>
            <p:cNvSpPr/>
            <p:nvPr>
              <p:custDataLst>
                <p:tags r:id="rId14"/>
              </p:custDataLst>
            </p:nvPr>
          </p:nvSpPr>
          <p:spPr>
            <a:xfrm flipH="1">
              <a:off x="2020774" y="4432848"/>
              <a:ext cx="670170" cy="670170"/>
            </a:xfrm>
            <a:prstGeom prst="ellipse">
              <a:avLst/>
            </a:prstGeom>
            <a:gradFill flip="none" rotWithShape="1">
              <a:gsLst>
                <a:gs pos="23000">
                  <a:schemeClr val="accent1"/>
                </a:gs>
                <a:gs pos="100000">
                  <a:schemeClr val="accent1">
                    <a:lumMod val="80000"/>
                    <a:lumOff val="20000"/>
                  </a:schemeClr>
                </a:gs>
              </a:gsLst>
              <a:path path="circle">
                <a:fillToRect l="100000" t="100000"/>
              </a:path>
              <a:tileRect r="-100000" b="-100000"/>
            </a:gra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grpSp>
      <p:sp>
        <p:nvSpPr>
          <p:cNvPr id="2" name="标题 2"/>
          <p:cNvSpPr>
            <a:spLocks noGrp="1"/>
          </p:cNvSpPr>
          <p:nvPr/>
        </p:nvSpPr>
        <p:spPr>
          <a:xfrm>
            <a:off x="1105535" y="348298"/>
            <a:ext cx="7352665"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多层平台架构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年度运营工作规划框架</a:t>
            </a:r>
            <a:endPar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nvGrpSpPr>
          <p:cNvPr id="52" name="组合 51"/>
          <p:cNvGrpSpPr/>
          <p:nvPr/>
        </p:nvGrpSpPr>
        <p:grpSpPr>
          <a:xfrm>
            <a:off x="358775" y="5847080"/>
            <a:ext cx="3505200" cy="751840"/>
            <a:chOff x="565" y="9208"/>
            <a:chExt cx="5520" cy="1184"/>
          </a:xfrm>
        </p:grpSpPr>
        <p:sp>
          <p:nvSpPr>
            <p:cNvPr id="7" name="矩形 6"/>
            <p:cNvSpPr/>
            <p:nvPr/>
          </p:nvSpPr>
          <p:spPr>
            <a:xfrm>
              <a:off x="565" y="9208"/>
              <a:ext cx="5520" cy="1184"/>
            </a:xfrm>
            <a:prstGeom prst="rect">
              <a:avLst/>
            </a:prstGeom>
            <a:gradFill flip="none" rotWithShape="1">
              <a:gsLst>
                <a:gs pos="95000">
                  <a:schemeClr val="accent1">
                    <a:lumMod val="60000"/>
                    <a:lumOff val="40000"/>
                  </a:schemeClr>
                </a:gs>
                <a:gs pos="0">
                  <a:schemeClr val="accent1">
                    <a:lumMod val="60000"/>
                    <a:lumOff val="40000"/>
                  </a:schemeClr>
                </a:gs>
                <a:gs pos="0">
                  <a:schemeClr val="accent1"/>
                </a:gs>
              </a:gsLst>
              <a:path path="circle">
                <a:fillToRect l="100000" t="100000"/>
              </a:path>
              <a:tileRect r="-100000" b="-100000"/>
            </a:gradFill>
            <a:ln>
              <a:noFill/>
            </a:ln>
            <a:effectLst>
              <a:outerShdw blurRad="165100" dist="38100" dir="5400000" algn="t" rotWithShape="0">
                <a:schemeClr val="accent1">
                  <a:lumMod val="60000"/>
                  <a:lumOff val="40000"/>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4" name="文本框 13"/>
            <p:cNvSpPr txBox="1"/>
            <p:nvPr/>
          </p:nvSpPr>
          <p:spPr>
            <a:xfrm>
              <a:off x="754" y="9824"/>
              <a:ext cx="5142" cy="507"/>
            </a:xfrm>
            <a:prstGeom prst="rect">
              <a:avLst/>
            </a:prstGeom>
            <a:noFill/>
          </p:spPr>
          <p:txBody>
            <a:bodyPr wrap="square">
              <a:spAutoFit/>
            </a:bodyPr>
            <a:lstStyle/>
            <a:p>
              <a:pPr algn="ctr">
                <a:lnSpc>
                  <a:spcPct val="125000"/>
                </a:lnSpc>
              </a:pPr>
              <a:r>
                <a:rPr lang="zh-CN" sz="1200" dirty="0">
                  <a:solidFill>
                    <a:schemeClr val="bg1"/>
                  </a:solidFill>
                  <a:latin typeface="微软雅黑" panose="020B0503020204020204" charset="-122"/>
                  <a:ea typeface="微软雅黑" panose="020B0503020204020204" charset="-122"/>
                  <a:cs typeface="微软雅黑" panose="020B0503020204020204" charset="-122"/>
                </a:rPr>
                <a:t>绩效与激励对齐，盈利导向，岗位能力提升</a:t>
              </a:r>
              <a:endParaRPr lang="zh-CN"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5" name="圆角矩形 14"/>
            <p:cNvSpPr/>
            <p:nvPr/>
          </p:nvSpPr>
          <p:spPr>
            <a:xfrm>
              <a:off x="2021" y="9348"/>
              <a:ext cx="2608" cy="464"/>
            </a:xfrm>
            <a:prstGeom prst="roundRect">
              <a:avLst/>
            </a:prstGeom>
            <a:solidFill>
              <a:schemeClr val="accent1">
                <a:lumMod val="20000"/>
                <a:lumOff val="80000"/>
                <a:alpha val="7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1" name="文本框 50"/>
            <p:cNvSpPr txBox="1"/>
            <p:nvPr/>
          </p:nvSpPr>
          <p:spPr>
            <a:xfrm>
              <a:off x="1454" y="9264"/>
              <a:ext cx="3743" cy="568"/>
            </a:xfrm>
            <a:prstGeom prst="rect">
              <a:avLst/>
            </a:prstGeom>
            <a:noFill/>
          </p:spPr>
          <p:txBody>
            <a:bodyPr wrap="square">
              <a:spAutoFit/>
            </a:bodyPr>
            <a:lstStyle/>
            <a:p>
              <a:pPr algn="ctr">
                <a:lnSpc>
                  <a:spcPct val="125000"/>
                </a:lnSpc>
              </a:pPr>
              <a:r>
                <a:rPr lang="zh-CN" sz="1400" b="1" dirty="0">
                  <a:solidFill>
                    <a:schemeClr val="bg1"/>
                  </a:solidFill>
                  <a:latin typeface="微软雅黑" panose="020B0503020204020204" charset="-122"/>
                  <a:ea typeface="微软雅黑" panose="020B0503020204020204" charset="-122"/>
                  <a:cs typeface="微软雅黑" panose="020B0503020204020204" charset="-122"/>
                </a:rPr>
                <a:t>组织与人才建设</a:t>
              </a:r>
              <a:endParaRPr lang="zh-CN" altLang="zh-CN" sz="14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53" name="组合 52"/>
          <p:cNvGrpSpPr/>
          <p:nvPr/>
        </p:nvGrpSpPr>
        <p:grpSpPr>
          <a:xfrm>
            <a:off x="4357370" y="5847080"/>
            <a:ext cx="3505200" cy="751840"/>
            <a:chOff x="565" y="9208"/>
            <a:chExt cx="5520" cy="1184"/>
          </a:xfrm>
        </p:grpSpPr>
        <p:sp>
          <p:nvSpPr>
            <p:cNvPr id="54" name="矩形 53"/>
            <p:cNvSpPr/>
            <p:nvPr/>
          </p:nvSpPr>
          <p:spPr>
            <a:xfrm>
              <a:off x="565" y="9208"/>
              <a:ext cx="5520" cy="1184"/>
            </a:xfrm>
            <a:prstGeom prst="rect">
              <a:avLst/>
            </a:prstGeom>
            <a:gradFill flip="none" rotWithShape="1">
              <a:gsLst>
                <a:gs pos="95000">
                  <a:schemeClr val="accent1">
                    <a:lumMod val="60000"/>
                    <a:lumOff val="40000"/>
                  </a:schemeClr>
                </a:gs>
                <a:gs pos="0">
                  <a:schemeClr val="accent1">
                    <a:lumMod val="60000"/>
                    <a:lumOff val="40000"/>
                  </a:schemeClr>
                </a:gs>
                <a:gs pos="0">
                  <a:schemeClr val="accent1"/>
                </a:gs>
              </a:gsLst>
              <a:path path="circle">
                <a:fillToRect l="100000" t="100000"/>
              </a:path>
              <a:tileRect r="-100000" b="-100000"/>
            </a:gradFill>
            <a:ln>
              <a:noFill/>
            </a:ln>
            <a:effectLst>
              <a:outerShdw blurRad="165100" dist="38100" dir="5400000" algn="t" rotWithShape="0">
                <a:schemeClr val="accent1">
                  <a:lumMod val="60000"/>
                  <a:lumOff val="40000"/>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5" name="文本框 54"/>
            <p:cNvSpPr txBox="1"/>
            <p:nvPr/>
          </p:nvSpPr>
          <p:spPr>
            <a:xfrm>
              <a:off x="754" y="9824"/>
              <a:ext cx="5142" cy="507"/>
            </a:xfrm>
            <a:prstGeom prst="rect">
              <a:avLst/>
            </a:prstGeom>
            <a:noFill/>
          </p:spPr>
          <p:txBody>
            <a:bodyPr wrap="square">
              <a:spAutoFit/>
            </a:bodyPr>
            <a:lstStyle/>
            <a:p>
              <a:pPr algn="ctr">
                <a:lnSpc>
                  <a:spcPct val="125000"/>
                </a:lnSpc>
              </a:pPr>
              <a:r>
                <a:rPr lang="zh-CN" sz="1200" dirty="0">
                  <a:solidFill>
                    <a:schemeClr val="bg1"/>
                  </a:solidFill>
                  <a:latin typeface="微软雅黑" panose="020B0503020204020204" charset="-122"/>
                  <a:ea typeface="微软雅黑" panose="020B0503020204020204" charset="-122"/>
                  <a:cs typeface="微软雅黑" panose="020B0503020204020204" charset="-122"/>
                </a:rPr>
                <a:t>系统整合，数据分析平台建设，自动化应用</a:t>
              </a:r>
              <a:endParaRPr lang="zh-CN"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6" name="圆角矩形 55"/>
            <p:cNvSpPr/>
            <p:nvPr/>
          </p:nvSpPr>
          <p:spPr>
            <a:xfrm>
              <a:off x="2021" y="9348"/>
              <a:ext cx="2608" cy="464"/>
            </a:xfrm>
            <a:prstGeom prst="roundRect">
              <a:avLst/>
            </a:prstGeom>
            <a:solidFill>
              <a:schemeClr val="accent1">
                <a:lumMod val="20000"/>
                <a:lumOff val="80000"/>
                <a:alpha val="7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7" name="文本框 56"/>
            <p:cNvSpPr txBox="1"/>
            <p:nvPr/>
          </p:nvSpPr>
          <p:spPr>
            <a:xfrm>
              <a:off x="1454" y="9264"/>
              <a:ext cx="3743" cy="568"/>
            </a:xfrm>
            <a:prstGeom prst="rect">
              <a:avLst/>
            </a:prstGeom>
            <a:noFill/>
          </p:spPr>
          <p:txBody>
            <a:bodyPr wrap="square">
              <a:spAutoFit/>
            </a:bodyPr>
            <a:lstStyle/>
            <a:p>
              <a:pPr algn="ctr">
                <a:lnSpc>
                  <a:spcPct val="125000"/>
                </a:lnSpc>
              </a:pP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技术与系统支持</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59" name="组合 58"/>
          <p:cNvGrpSpPr/>
          <p:nvPr/>
        </p:nvGrpSpPr>
        <p:grpSpPr>
          <a:xfrm>
            <a:off x="8355965" y="5847080"/>
            <a:ext cx="3505200" cy="751840"/>
            <a:chOff x="565" y="9208"/>
            <a:chExt cx="5520" cy="1184"/>
          </a:xfrm>
        </p:grpSpPr>
        <p:sp>
          <p:nvSpPr>
            <p:cNvPr id="60" name="矩形 59"/>
            <p:cNvSpPr/>
            <p:nvPr/>
          </p:nvSpPr>
          <p:spPr>
            <a:xfrm>
              <a:off x="565" y="9208"/>
              <a:ext cx="5520" cy="1184"/>
            </a:xfrm>
            <a:prstGeom prst="rect">
              <a:avLst/>
            </a:prstGeom>
            <a:gradFill flip="none" rotWithShape="1">
              <a:gsLst>
                <a:gs pos="95000">
                  <a:schemeClr val="accent1">
                    <a:lumMod val="60000"/>
                    <a:lumOff val="40000"/>
                  </a:schemeClr>
                </a:gs>
                <a:gs pos="0">
                  <a:schemeClr val="accent1">
                    <a:lumMod val="60000"/>
                    <a:lumOff val="40000"/>
                  </a:schemeClr>
                </a:gs>
                <a:gs pos="0">
                  <a:schemeClr val="accent1"/>
                </a:gs>
              </a:gsLst>
              <a:path path="circle">
                <a:fillToRect l="100000" t="100000"/>
              </a:path>
              <a:tileRect r="-100000" b="-100000"/>
            </a:gradFill>
            <a:ln>
              <a:noFill/>
            </a:ln>
            <a:effectLst>
              <a:outerShdw blurRad="165100" dist="38100" dir="5400000" algn="t" rotWithShape="0">
                <a:schemeClr val="accent1">
                  <a:lumMod val="60000"/>
                  <a:lumOff val="40000"/>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61" name="文本框 60"/>
            <p:cNvSpPr txBox="1"/>
            <p:nvPr/>
          </p:nvSpPr>
          <p:spPr>
            <a:xfrm>
              <a:off x="665" y="9824"/>
              <a:ext cx="5384" cy="507"/>
            </a:xfrm>
            <a:prstGeom prst="rect">
              <a:avLst/>
            </a:prstGeom>
            <a:noFill/>
          </p:spPr>
          <p:txBody>
            <a:bodyPr wrap="square">
              <a:spAutoFit/>
            </a:bodyPr>
            <a:lstStyle/>
            <a:p>
              <a:pPr algn="ctr">
                <a:lnSpc>
                  <a:spcPct val="125000"/>
                </a:lnSpc>
              </a:pPr>
              <a:r>
                <a:rPr lang="zh-CN" sz="1200" dirty="0">
                  <a:solidFill>
                    <a:schemeClr val="bg1"/>
                  </a:solidFill>
                  <a:latin typeface="微软雅黑" panose="020B0503020204020204" charset="-122"/>
                  <a:ea typeface="微软雅黑" panose="020B0503020204020204" charset="-122"/>
                  <a:cs typeface="微软雅黑" panose="020B0503020204020204" charset="-122"/>
                </a:rPr>
                <a:t>资金流动性管理，资源动态调配，投资回报监控</a:t>
              </a:r>
              <a:endParaRPr lang="zh-CN"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62" name="圆角矩形 61"/>
            <p:cNvSpPr/>
            <p:nvPr/>
          </p:nvSpPr>
          <p:spPr>
            <a:xfrm>
              <a:off x="2021" y="9348"/>
              <a:ext cx="2608" cy="464"/>
            </a:xfrm>
            <a:prstGeom prst="roundRect">
              <a:avLst/>
            </a:prstGeom>
            <a:solidFill>
              <a:schemeClr val="accent1">
                <a:lumMod val="20000"/>
                <a:lumOff val="80000"/>
                <a:alpha val="7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63" name="文本框 62"/>
            <p:cNvSpPr txBox="1"/>
            <p:nvPr/>
          </p:nvSpPr>
          <p:spPr>
            <a:xfrm>
              <a:off x="1454" y="9264"/>
              <a:ext cx="3743" cy="568"/>
            </a:xfrm>
            <a:prstGeom prst="rect">
              <a:avLst/>
            </a:prstGeom>
            <a:noFill/>
          </p:spPr>
          <p:txBody>
            <a:bodyPr wrap="square">
              <a:spAutoFit/>
            </a:bodyPr>
            <a:lstStyle/>
            <a:p>
              <a:pPr algn="ctr">
                <a:lnSpc>
                  <a:spcPct val="125000"/>
                </a:lnSpc>
              </a:pPr>
              <a:r>
                <a:rPr lang="zh-CN" sz="1400" b="1" dirty="0">
                  <a:solidFill>
                    <a:schemeClr val="bg1"/>
                  </a:solidFill>
                  <a:latin typeface="微软雅黑" panose="020B0503020204020204" charset="-122"/>
                  <a:ea typeface="微软雅黑" panose="020B0503020204020204" charset="-122"/>
                  <a:cs typeface="微软雅黑" panose="020B0503020204020204" charset="-122"/>
                </a:rPr>
                <a:t>资金与资源保障</a:t>
              </a:r>
              <a:endParaRPr lang="zh-CN" altLang="zh-CN" sz="14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64" name="文本框 63"/>
          <p:cNvSpPr txBox="1"/>
          <p:nvPr/>
        </p:nvSpPr>
        <p:spPr>
          <a:xfrm>
            <a:off x="1519555" y="5215890"/>
            <a:ext cx="1720215" cy="321945"/>
          </a:xfrm>
          <a:prstGeom prst="rect">
            <a:avLst/>
          </a:prstGeom>
          <a:noFill/>
        </p:spPr>
        <p:txBody>
          <a:bodyPr wrap="square">
            <a:spAutoFit/>
          </a:bodyPr>
          <a:lstStyle/>
          <a:p>
            <a:pPr algn="ctr">
              <a:lnSpc>
                <a:spcPct val="125000"/>
              </a:lnSpc>
            </a:pPr>
            <a:r>
              <a:rPr lang="zh-CN" altLang="en-US" sz="1200" b="1" dirty="0">
                <a:solidFill>
                  <a:schemeClr val="tx2"/>
                </a:solidFill>
                <a:latin typeface="微软雅黑" panose="020B0503020204020204" charset="-122"/>
                <a:ea typeface="微软雅黑" panose="020B0503020204020204" charset="-122"/>
                <a:cs typeface="微软雅黑" panose="020B0503020204020204" charset="-122"/>
              </a:rPr>
              <a:t>销售流程精细化</a:t>
            </a:r>
            <a:endParaRPr lang="zh-CN" altLang="en-US" sz="12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5" name="文本框 64"/>
          <p:cNvSpPr txBox="1"/>
          <p:nvPr/>
        </p:nvSpPr>
        <p:spPr>
          <a:xfrm>
            <a:off x="3300095" y="5166995"/>
            <a:ext cx="1720215" cy="321945"/>
          </a:xfrm>
          <a:prstGeom prst="rect">
            <a:avLst/>
          </a:prstGeom>
          <a:noFill/>
        </p:spPr>
        <p:txBody>
          <a:bodyPr wrap="square">
            <a:spAutoFit/>
          </a:bodyPr>
          <a:lstStyle/>
          <a:p>
            <a:pPr algn="ctr">
              <a:lnSpc>
                <a:spcPct val="125000"/>
              </a:lnSpc>
            </a:pPr>
            <a:r>
              <a:rPr lang="zh-CN" altLang="en-US" sz="1200" b="1" dirty="0">
                <a:solidFill>
                  <a:schemeClr val="tx2"/>
                </a:solidFill>
                <a:latin typeface="微软雅黑" panose="020B0503020204020204" charset="-122"/>
                <a:ea typeface="微软雅黑" panose="020B0503020204020204" charset="-122"/>
                <a:cs typeface="微软雅黑" panose="020B0503020204020204" charset="-122"/>
              </a:rPr>
              <a:t>项目管理标准化</a:t>
            </a:r>
            <a:endParaRPr lang="zh-CN" altLang="en-US" sz="12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6" name="文本框 65"/>
          <p:cNvSpPr txBox="1"/>
          <p:nvPr/>
        </p:nvSpPr>
        <p:spPr>
          <a:xfrm>
            <a:off x="5217795" y="5215890"/>
            <a:ext cx="1720215" cy="321945"/>
          </a:xfrm>
          <a:prstGeom prst="rect">
            <a:avLst/>
          </a:prstGeom>
          <a:noFill/>
        </p:spPr>
        <p:txBody>
          <a:bodyPr wrap="square">
            <a:spAutoFit/>
          </a:bodyPr>
          <a:lstStyle/>
          <a:p>
            <a:pPr algn="ctr">
              <a:lnSpc>
                <a:spcPct val="125000"/>
              </a:lnSpc>
            </a:pPr>
            <a:r>
              <a:rPr lang="zh-CN" altLang="en-US" sz="1200" b="1" dirty="0">
                <a:solidFill>
                  <a:schemeClr val="tx2"/>
                </a:solidFill>
                <a:latin typeface="微软雅黑" panose="020B0503020204020204" charset="-122"/>
                <a:ea typeface="微软雅黑" panose="020B0503020204020204" charset="-122"/>
                <a:cs typeface="微软雅黑" panose="020B0503020204020204" charset="-122"/>
              </a:rPr>
              <a:t>盈利模型迭代</a:t>
            </a:r>
            <a:endParaRPr lang="zh-CN" altLang="en-US" sz="12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7" name="文本框 66"/>
          <p:cNvSpPr txBox="1"/>
          <p:nvPr/>
        </p:nvSpPr>
        <p:spPr>
          <a:xfrm>
            <a:off x="7121525" y="5166995"/>
            <a:ext cx="1720215" cy="321945"/>
          </a:xfrm>
          <a:prstGeom prst="rect">
            <a:avLst/>
          </a:prstGeom>
          <a:noFill/>
        </p:spPr>
        <p:txBody>
          <a:bodyPr wrap="square">
            <a:spAutoFit/>
          </a:bodyPr>
          <a:lstStyle/>
          <a:p>
            <a:pPr algn="ctr">
              <a:lnSpc>
                <a:spcPct val="125000"/>
              </a:lnSpc>
            </a:pPr>
            <a:r>
              <a:rPr lang="zh-CN" altLang="en-US" sz="1200" b="1" dirty="0">
                <a:solidFill>
                  <a:schemeClr val="tx2"/>
                </a:solidFill>
                <a:latin typeface="微软雅黑" panose="020B0503020204020204" charset="-122"/>
                <a:ea typeface="微软雅黑" panose="020B0503020204020204" charset="-122"/>
                <a:cs typeface="微软雅黑" panose="020B0503020204020204" charset="-122"/>
              </a:rPr>
              <a:t>实时经营看板</a:t>
            </a:r>
            <a:endParaRPr lang="zh-CN" altLang="en-US" sz="12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9" name="文本框 68"/>
          <p:cNvSpPr txBox="1"/>
          <p:nvPr/>
        </p:nvSpPr>
        <p:spPr>
          <a:xfrm>
            <a:off x="8963660" y="5166995"/>
            <a:ext cx="1720215" cy="321945"/>
          </a:xfrm>
          <a:prstGeom prst="rect">
            <a:avLst/>
          </a:prstGeom>
          <a:noFill/>
        </p:spPr>
        <p:txBody>
          <a:bodyPr wrap="square">
            <a:spAutoFit/>
          </a:bodyPr>
          <a:lstStyle/>
          <a:p>
            <a:pPr algn="ctr">
              <a:lnSpc>
                <a:spcPct val="125000"/>
              </a:lnSpc>
            </a:pPr>
            <a:r>
              <a:rPr lang="zh-CN" altLang="en-US" sz="1200" b="1" dirty="0">
                <a:solidFill>
                  <a:schemeClr val="tx2"/>
                </a:solidFill>
                <a:latin typeface="微软雅黑" panose="020B0503020204020204" charset="-122"/>
                <a:ea typeface="微软雅黑" panose="020B0503020204020204" charset="-122"/>
                <a:cs typeface="微软雅黑" panose="020B0503020204020204" charset="-122"/>
              </a:rPr>
              <a:t>预测与预警分析</a:t>
            </a:r>
            <a:endParaRPr lang="zh-CN" altLang="en-US" sz="12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3474403" y="2565400"/>
            <a:ext cx="975360" cy="699135"/>
          </a:xfrm>
          <a:prstGeom prst="rect">
            <a:avLst/>
          </a:prstGeom>
          <a:noFill/>
        </p:spPr>
        <p:txBody>
          <a:bodyPr wrap="square" rtlCol="0" anchor="ctr" anchorCtr="0">
            <a:no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zh-CN" altLang="en-US" sz="2000" b="1" dirty="0">
                <a:solidFill>
                  <a:schemeClr val="bg1"/>
                </a:solidFill>
                <a:latin typeface="微软雅黑" panose="020B0503020204020204" charset="-122"/>
                <a:ea typeface="微软雅黑" panose="020B0503020204020204" charset="-122"/>
                <a:cs typeface="微软雅黑" panose="020B0503020204020204" charset="-122"/>
              </a:rPr>
              <a:t>①</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收入增长策略</a:t>
            </a:r>
            <a:endParaRPr lang="en-US" altLang="zh-CN" sz="1400" b="1" dirty="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13" name="图片 12" descr="项目管理-面性"/>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008120" y="4528185"/>
            <a:ext cx="441960" cy="441960"/>
          </a:xfrm>
          <a:prstGeom prst="rect">
            <a:avLst/>
          </a:prstGeom>
        </p:spPr>
      </p:pic>
      <p:pic>
        <p:nvPicPr>
          <p:cNvPr id="16" name="图片 15" descr="盈利预测"/>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925820" y="4572635"/>
            <a:ext cx="349250" cy="349250"/>
          </a:xfrm>
          <a:prstGeom prst="rect">
            <a:avLst/>
          </a:prstGeom>
        </p:spPr>
      </p:pic>
      <p:pic>
        <p:nvPicPr>
          <p:cNvPr id="23" name="图片 22" descr="icon_预警"/>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661525" y="4552315"/>
            <a:ext cx="369570" cy="369570"/>
          </a:xfrm>
          <a:prstGeom prst="rect">
            <a:avLst/>
          </a:prstGeom>
        </p:spPr>
      </p:pic>
      <p:pic>
        <p:nvPicPr>
          <p:cNvPr id="50" name="图片 49" descr="商场"/>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188210" y="4544695"/>
            <a:ext cx="405765" cy="405765"/>
          </a:xfrm>
          <a:prstGeom prst="rect">
            <a:avLst/>
          </a:prstGeom>
        </p:spPr>
      </p:pic>
      <p:grpSp>
        <p:nvGrpSpPr>
          <p:cNvPr id="3" name="组合 2"/>
          <p:cNvGrpSpPr/>
          <p:nvPr/>
        </p:nvGrpSpPr>
        <p:grpSpPr>
          <a:xfrm>
            <a:off x="8738235" y="348615"/>
            <a:ext cx="3219450" cy="332740"/>
            <a:chOff x="13761" y="549"/>
            <a:chExt cx="5070" cy="524"/>
          </a:xfrm>
        </p:grpSpPr>
        <p:pic>
          <p:nvPicPr>
            <p:cNvPr id="6" name="图片 5"/>
            <p:cNvPicPr>
              <a:picLocks noChangeAspect="1"/>
            </p:cNvPicPr>
            <p:nvPr userDrawn="1"/>
          </p:nvPicPr>
          <p:blipFill>
            <a:blip r:embed="rId23"/>
            <a:srcRect l="17002" t="-1765" r="56499" b="-1176"/>
            <a:stretch>
              <a:fillRect/>
            </a:stretch>
          </p:blipFill>
          <p:spPr>
            <a:xfrm>
              <a:off x="13761" y="549"/>
              <a:ext cx="1582" cy="525"/>
            </a:xfrm>
            <a:prstGeom prst="rect">
              <a:avLst/>
            </a:prstGeom>
          </p:spPr>
        </p:pic>
        <p:sp>
          <p:nvSpPr>
            <p:cNvPr id="12" name="文本框 11"/>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grpSp>
        <p:nvGrpSpPr>
          <p:cNvPr id="18" name="组合 17"/>
          <p:cNvGrpSpPr/>
          <p:nvPr/>
        </p:nvGrpSpPr>
        <p:grpSpPr>
          <a:xfrm>
            <a:off x="0" y="4959350"/>
            <a:ext cx="12192000" cy="1898650"/>
            <a:chOff x="0" y="7810"/>
            <a:chExt cx="19200" cy="2990"/>
          </a:xfrm>
        </p:grpSpPr>
        <p:sp>
          <p:nvSpPr>
            <p:cNvPr id="19" name="矩形 18"/>
            <p:cNvSpPr/>
            <p:nvPr/>
          </p:nvSpPr>
          <p:spPr>
            <a:xfrm>
              <a:off x="0" y="7810"/>
              <a:ext cx="19200" cy="2990"/>
            </a:xfrm>
            <a:prstGeom prst="rect">
              <a:avLst/>
            </a:prstGeom>
            <a:solidFill>
              <a:schemeClr val="accent1">
                <a:alpha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0" name="©显眼包PPT16"/>
            <p:cNvSpPr txBox="1"/>
            <p:nvPr/>
          </p:nvSpPr>
          <p:spPr>
            <a:xfrm>
              <a:off x="2990" y="8578"/>
              <a:ext cx="11508" cy="1454"/>
            </a:xfrm>
            <a:prstGeom prst="rect">
              <a:avLst/>
            </a:prstGeom>
            <a:noFill/>
            <a:extLst>
              <a:ext uri="{909E8E84-426E-40DD-AFC4-6F175D3DCCD1}">
                <a14:hiddenFill xmlns:a14="http://schemas.microsoft.com/office/drawing/2010/main">
                  <a:solidFill>
                    <a:schemeClr val="bg1"/>
                  </a:solidFill>
                </a14:hiddenFill>
              </a:ext>
            </a:ex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3000" b="1" i="0" u="none" strike="noStrike" kern="1200" cap="none" spc="0" normalizeH="0" baseline="0" noProof="0" dirty="0">
                  <a:ln w="3175">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j-ea"/>
                </a:rPr>
                <a:t>另一个配色效果供选择，删除本框即可！</a:t>
              </a:r>
              <a:endParaRPr kumimoji="0" lang="zh-CN" sz="3000" b="1" i="0" u="none" strike="noStrike" kern="1200" cap="none" spc="0" normalizeH="0" baseline="0" noProof="0" dirty="0">
                <a:ln w="3175">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j-ea"/>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sz="3000" b="1" i="0" u="none" strike="noStrike" kern="1200" cap="none" spc="0" normalizeH="0" baseline="0" noProof="0" dirty="0">
                  <a:ln w="3175">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j-ea"/>
                </a:rPr>
                <a:t>本页不计入页面数量</a:t>
              </a:r>
              <a:endParaRPr kumimoji="0" lang="zh-CN" sz="3000" b="1" i="0" u="none" strike="noStrike" kern="1200" cap="none" spc="0" normalizeH="0" baseline="0" noProof="0" dirty="0">
                <a:ln w="3175">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j-ea"/>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等腰三角形 16"/>
          <p:cNvSpPr/>
          <p:nvPr/>
        </p:nvSpPr>
        <p:spPr>
          <a:xfrm flipH="1" flipV="1">
            <a:off x="1350645" y="2896870"/>
            <a:ext cx="9607550" cy="1333500"/>
          </a:xfrm>
          <a:prstGeom prst="triangle">
            <a:avLst/>
          </a:prstGeom>
          <a:gradFill>
            <a:gsLst>
              <a:gs pos="0">
                <a:schemeClr val="accent1">
                  <a:lumMod val="40000"/>
                  <a:lumOff val="60000"/>
                </a:schemeClr>
              </a:gs>
              <a:gs pos="78000">
                <a:schemeClr val="accent1">
                  <a:lumMod val="20000"/>
                  <a:lumOff val="80000"/>
                  <a:alpha val="0"/>
                </a:schemeClr>
              </a:gs>
            </a:gsLst>
            <a:lin ang="5400000" scaled="0"/>
          </a:gradFill>
          <a:ln>
            <a:gradFill>
              <a:gsLst>
                <a:gs pos="0">
                  <a:schemeClr val="accent1">
                    <a:lumMod val="60000"/>
                    <a:lumOff val="40000"/>
                    <a:alpha val="55000"/>
                  </a:schemeClr>
                </a:gs>
                <a:gs pos="100000">
                  <a:schemeClr val="accent1">
                    <a:lumMod val="60000"/>
                    <a:lumOff val="40000"/>
                    <a:alpha val="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60" name="梯形 159"/>
          <p:cNvSpPr/>
          <p:nvPr/>
        </p:nvSpPr>
        <p:spPr>
          <a:xfrm rot="5400000">
            <a:off x="1059815" y="3255010"/>
            <a:ext cx="1739265" cy="2574290"/>
          </a:xfrm>
          <a:prstGeom prst="trapezoid">
            <a:avLst>
              <a:gd name="adj" fmla="val 34921"/>
            </a:avLst>
          </a:prstGeom>
          <a:gradFill>
            <a:gsLst>
              <a:gs pos="0">
                <a:schemeClr val="accent1">
                  <a:lumMod val="60000"/>
                  <a:lumOff val="40000"/>
                  <a:alpha val="50000"/>
                </a:schemeClr>
              </a:gs>
              <a:gs pos="100000">
                <a:schemeClr val="accent1">
                  <a:lumMod val="40000"/>
                  <a:lumOff val="60000"/>
                  <a:alpha val="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lang="en-US" altLang="zh-CN" sz="2500">
                <a:solidFill>
                  <a:schemeClr val="tx2"/>
                </a:solidFill>
                <a:effectLst/>
                <a:latin typeface="微软雅黑" panose="020B0503020204020204" charset="-122"/>
                <a:ea typeface="微软雅黑" panose="020B0503020204020204" charset="-122"/>
                <a:cs typeface="微软雅黑" panose="020B0503020204020204" charset="-122"/>
              </a:rPr>
              <a:t>AI</a:t>
            </a:r>
            <a:r>
              <a:rPr sz="2500">
                <a:solidFill>
                  <a:schemeClr val="tx2"/>
                </a:solidFill>
                <a:effectLst/>
                <a:latin typeface="微软雅黑" panose="020B0503020204020204" charset="-122"/>
                <a:ea typeface="微软雅黑" panose="020B0503020204020204" charset="-122"/>
                <a:cs typeface="微软雅黑" panose="020B0503020204020204" charset="-122"/>
              </a:rPr>
              <a:t>应用场景下的技术架构</a:t>
            </a:r>
            <a:endParaRPr sz="250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 name="任意形状 51"/>
          <p:cNvSpPr/>
          <p:nvPr/>
        </p:nvSpPr>
        <p:spPr>
          <a:xfrm>
            <a:off x="1798955" y="2413000"/>
            <a:ext cx="8770620" cy="914400"/>
          </a:xfrm>
          <a:custGeom>
            <a:avLst/>
            <a:gdLst>
              <a:gd name="connsiteX0" fmla="*/ 6043668 w 6043668"/>
              <a:gd name="connsiteY0" fmla="*/ 489065 h 978129"/>
              <a:gd name="connsiteX1" fmla="*/ 3021834 w 6043668"/>
              <a:gd name="connsiteY1" fmla="*/ 978130 h 978129"/>
              <a:gd name="connsiteX2" fmla="*/ 0 w 6043668"/>
              <a:gd name="connsiteY2" fmla="*/ 489065 h 978129"/>
              <a:gd name="connsiteX3" fmla="*/ 3021834 w 6043668"/>
              <a:gd name="connsiteY3" fmla="*/ 0 h 978129"/>
              <a:gd name="connsiteX4" fmla="*/ 6043668 w 6043668"/>
              <a:gd name="connsiteY4" fmla="*/ 489065 h 978129"/>
              <a:gd name="connsiteX5" fmla="*/ 1486863 w 6043668"/>
              <a:gd name="connsiteY5" fmla="*/ 489065 h 978129"/>
              <a:gd name="connsiteX6" fmla="*/ 3021834 w 6043668"/>
              <a:gd name="connsiteY6" fmla="*/ 737491 h 978129"/>
              <a:gd name="connsiteX7" fmla="*/ 4556805 w 6043668"/>
              <a:gd name="connsiteY7" fmla="*/ 489065 h 978129"/>
              <a:gd name="connsiteX8" fmla="*/ 3021834 w 6043668"/>
              <a:gd name="connsiteY8" fmla="*/ 240639 h 978129"/>
              <a:gd name="connsiteX9" fmla="*/ 1486863 w 6043668"/>
              <a:gd name="connsiteY9" fmla="*/ 489065 h 978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43668" h="978129">
                <a:moveTo>
                  <a:pt x="6043668" y="489065"/>
                </a:moveTo>
                <a:cubicBezTo>
                  <a:pt x="6043668" y="759168"/>
                  <a:pt x="4690750" y="978130"/>
                  <a:pt x="3021834" y="978130"/>
                </a:cubicBezTo>
                <a:cubicBezTo>
                  <a:pt x="1352918" y="978130"/>
                  <a:pt x="0" y="759168"/>
                  <a:pt x="0" y="489065"/>
                </a:cubicBezTo>
                <a:cubicBezTo>
                  <a:pt x="0" y="218962"/>
                  <a:pt x="1352918" y="0"/>
                  <a:pt x="3021834" y="0"/>
                </a:cubicBezTo>
                <a:cubicBezTo>
                  <a:pt x="4690750" y="0"/>
                  <a:pt x="6043668" y="218962"/>
                  <a:pt x="6043668" y="489065"/>
                </a:cubicBezTo>
                <a:close/>
                <a:moveTo>
                  <a:pt x="1486863" y="489065"/>
                </a:moveTo>
                <a:cubicBezTo>
                  <a:pt x="1486863" y="626268"/>
                  <a:pt x="2174095" y="737491"/>
                  <a:pt x="3021834" y="737491"/>
                </a:cubicBezTo>
                <a:cubicBezTo>
                  <a:pt x="3869573" y="737491"/>
                  <a:pt x="4556805" y="626268"/>
                  <a:pt x="4556805" y="489065"/>
                </a:cubicBezTo>
                <a:cubicBezTo>
                  <a:pt x="4556805" y="351862"/>
                  <a:pt x="3869573" y="240639"/>
                  <a:pt x="3021834" y="240639"/>
                </a:cubicBezTo>
                <a:cubicBezTo>
                  <a:pt x="2174095" y="240639"/>
                  <a:pt x="1486863" y="351862"/>
                  <a:pt x="1486863" y="489065"/>
                </a:cubicBezTo>
                <a:close/>
              </a:path>
            </a:pathLst>
          </a:custGeom>
          <a:gradFill flip="none" rotWithShape="1">
            <a:gsLst>
              <a:gs pos="0">
                <a:schemeClr val="accent5">
                  <a:lumMod val="20000"/>
                  <a:lumOff val="80000"/>
                </a:schemeClr>
              </a:gs>
              <a:gs pos="58000">
                <a:schemeClr val="accent5">
                  <a:lumMod val="20000"/>
                  <a:lumOff val="80000"/>
                  <a:alpha val="10000"/>
                </a:schemeClr>
              </a:gs>
              <a:gs pos="100000">
                <a:schemeClr val="accent5">
                  <a:lumMod val="20000"/>
                  <a:lumOff val="80000"/>
                </a:schemeClr>
              </a:gs>
            </a:gsLst>
            <a:lin ang="10800000" scaled="1"/>
            <a:tileRect/>
          </a:gradFill>
          <a:ln w="12700">
            <a:gradFill>
              <a:gsLst>
                <a:gs pos="13000">
                  <a:schemeClr val="accent5">
                    <a:alpha val="0"/>
                  </a:schemeClr>
                </a:gs>
                <a:gs pos="100000">
                  <a:schemeClr val="accent5"/>
                </a:gs>
              </a:gsLst>
              <a:lin ang="5400000" scaled="1"/>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sp>
        <p:nvSpPr>
          <p:cNvPr id="3" name="椭圆 2"/>
          <p:cNvSpPr/>
          <p:nvPr/>
        </p:nvSpPr>
        <p:spPr>
          <a:xfrm>
            <a:off x="3946394" y="2844446"/>
            <a:ext cx="52700" cy="52700"/>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76" name="椭圆 75"/>
          <p:cNvSpPr/>
          <p:nvPr/>
        </p:nvSpPr>
        <p:spPr>
          <a:xfrm>
            <a:off x="1757680" y="5438775"/>
            <a:ext cx="9030970" cy="840740"/>
          </a:xfrm>
          <a:prstGeom prst="ellipse">
            <a:avLst/>
          </a:prstGeom>
          <a:gradFill>
            <a:gsLst>
              <a:gs pos="0">
                <a:schemeClr val="accent1">
                  <a:lumMod val="60000"/>
                  <a:lumOff val="40000"/>
                  <a:alpha val="0"/>
                </a:schemeClr>
              </a:gs>
              <a:gs pos="100000">
                <a:schemeClr val="accent1">
                  <a:lumMod val="60000"/>
                  <a:lumOff val="40000"/>
                  <a:alpha val="18000"/>
                </a:schemeClr>
              </a:gs>
            </a:gsLst>
            <a:lin ang="5400000" scaled="1"/>
          </a:gra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15" name="矩形 14"/>
          <p:cNvSpPr/>
          <p:nvPr/>
        </p:nvSpPr>
        <p:spPr>
          <a:xfrm>
            <a:off x="2282825" y="6348095"/>
            <a:ext cx="7791450" cy="350520"/>
          </a:xfrm>
          <a:prstGeom prst="rect">
            <a:avLst/>
          </a:prstGeom>
          <a:gradFill>
            <a:gsLst>
              <a:gs pos="100000">
                <a:schemeClr val="accent1">
                  <a:lumMod val="60000"/>
                  <a:lumOff val="40000"/>
                </a:schemeClr>
              </a:gs>
              <a:gs pos="0">
                <a:schemeClr val="accent1"/>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1400">
              <a:latin typeface="微软雅黑" panose="020B0503020204020204" charset="-122"/>
              <a:ea typeface="微软雅黑" panose="020B0503020204020204" charset="-122"/>
              <a:cs typeface="微软雅黑" panose="020B0503020204020204" charset="-122"/>
            </a:endParaRPr>
          </a:p>
        </p:txBody>
      </p:sp>
      <p:sp>
        <p:nvSpPr>
          <p:cNvPr id="78" name="任意多边形: 形状 77"/>
          <p:cNvSpPr/>
          <p:nvPr/>
        </p:nvSpPr>
        <p:spPr>
          <a:xfrm flipH="1" flipV="1">
            <a:off x="3459480" y="4798060"/>
            <a:ext cx="5273040" cy="643890"/>
          </a:xfrm>
          <a:custGeom>
            <a:avLst/>
            <a:gdLst>
              <a:gd name="connsiteX0" fmla="*/ 1669377 w 2133737"/>
              <a:gd name="connsiteY0" fmla="*/ 0 h 565314"/>
              <a:gd name="connsiteX1" fmla="*/ 1073960 w 2133737"/>
              <a:gd name="connsiteY1" fmla="*/ 0 h 565314"/>
              <a:gd name="connsiteX2" fmla="*/ 1066869 w 2133737"/>
              <a:gd name="connsiteY2" fmla="*/ 8633 h 565314"/>
              <a:gd name="connsiteX3" fmla="*/ 1059777 w 2133737"/>
              <a:gd name="connsiteY3" fmla="*/ 0 h 565314"/>
              <a:gd name="connsiteX4" fmla="*/ 464360 w 2133737"/>
              <a:gd name="connsiteY4" fmla="*/ 0 h 565314"/>
              <a:gd name="connsiteX5" fmla="*/ 0 w 2133737"/>
              <a:gd name="connsiteY5" fmla="*/ 565314 h 565314"/>
              <a:gd name="connsiteX6" fmla="*/ 609600 w 2133737"/>
              <a:gd name="connsiteY6" fmla="*/ 565314 h 565314"/>
              <a:gd name="connsiteX7" fmla="*/ 1524137 w 2133737"/>
              <a:gd name="connsiteY7" fmla="*/ 565314 h 565314"/>
              <a:gd name="connsiteX8" fmla="*/ 2133737 w 2133737"/>
              <a:gd name="connsiteY8" fmla="*/ 565314 h 565314"/>
              <a:gd name="connsiteX9" fmla="*/ 1669377 w 2133737"/>
              <a:gd name="connsiteY9" fmla="*/ 0 h 565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3737" h="565314">
                <a:moveTo>
                  <a:pt x="1669377" y="0"/>
                </a:moveTo>
                <a:lnTo>
                  <a:pt x="1073960" y="0"/>
                </a:lnTo>
                <a:lnTo>
                  <a:pt x="1066869" y="8633"/>
                </a:lnTo>
                <a:lnTo>
                  <a:pt x="1059777" y="0"/>
                </a:lnTo>
                <a:lnTo>
                  <a:pt x="464360" y="0"/>
                </a:lnTo>
                <a:cubicBezTo>
                  <a:pt x="487373" y="213838"/>
                  <a:pt x="370687" y="468951"/>
                  <a:pt x="0" y="565314"/>
                </a:cubicBezTo>
                <a:lnTo>
                  <a:pt x="609600" y="565314"/>
                </a:lnTo>
                <a:lnTo>
                  <a:pt x="1524137" y="565314"/>
                </a:lnTo>
                <a:lnTo>
                  <a:pt x="2133737" y="565314"/>
                </a:lnTo>
                <a:cubicBezTo>
                  <a:pt x="1763050" y="468951"/>
                  <a:pt x="1646364" y="213838"/>
                  <a:pt x="1669377" y="0"/>
                </a:cubicBezTo>
                <a:close/>
              </a:path>
            </a:pathLst>
          </a:custGeom>
          <a:gradFill>
            <a:gsLst>
              <a:gs pos="0">
                <a:schemeClr val="accent1">
                  <a:lumMod val="60000"/>
                  <a:lumOff val="40000"/>
                  <a:alpha val="0"/>
                </a:schemeClr>
              </a:gs>
              <a:gs pos="76000">
                <a:schemeClr val="accent1">
                  <a:lumMod val="60000"/>
                  <a:lumOff val="40000"/>
                  <a:alpha val="23000"/>
                </a:schemeClr>
              </a:gs>
              <a:gs pos="65000">
                <a:schemeClr val="accent1">
                  <a:lumMod val="60000"/>
                  <a:lumOff val="40000"/>
                  <a:alpha val="20000"/>
                </a:schemeClr>
              </a:gs>
              <a:gs pos="100000">
                <a:schemeClr val="accent1">
                  <a:lumMod val="60000"/>
                  <a:lumOff val="40000"/>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90" name="矩形: 圆角 89"/>
          <p:cNvSpPr/>
          <p:nvPr/>
        </p:nvSpPr>
        <p:spPr>
          <a:xfrm>
            <a:off x="3161665" y="1181735"/>
            <a:ext cx="1090930" cy="1136015"/>
          </a:xfrm>
          <a:prstGeom prst="roundRect">
            <a:avLst>
              <a:gd name="adj" fmla="val 6604"/>
            </a:avLst>
          </a:prstGeom>
          <a:gradFill>
            <a:gsLst>
              <a:gs pos="100000">
                <a:schemeClr val="accent5">
                  <a:alpha val="0"/>
                </a:schemeClr>
              </a:gs>
              <a:gs pos="0">
                <a:schemeClr val="accent5">
                  <a:alpha val="60000"/>
                </a:schemeClr>
              </a:gs>
            </a:gsLst>
            <a:lin ang="5400000" scaled="1"/>
          </a:gradFill>
          <a:ln>
            <a:gradFill>
              <a:gsLst>
                <a:gs pos="19000">
                  <a:schemeClr val="accent5">
                    <a:alpha val="0"/>
                  </a:schemeClr>
                </a:gs>
                <a:gs pos="100000">
                  <a:schemeClr val="accent5">
                    <a:alpha val="40000"/>
                  </a:schemeClr>
                </a:gs>
              </a:gsLst>
              <a:lin ang="5400000" scaled="1"/>
            </a:gradFill>
          </a:ln>
          <a:scene3d>
            <a:camera prst="perspectiveRight">
              <a:rot lat="0" lon="1980000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91" name="文本框 90"/>
          <p:cNvSpPr txBox="1"/>
          <p:nvPr/>
        </p:nvSpPr>
        <p:spPr>
          <a:xfrm>
            <a:off x="3309303" y="1252855"/>
            <a:ext cx="795020" cy="275590"/>
          </a:xfrm>
          <a:prstGeom prst="rect">
            <a:avLst/>
          </a:prstGeom>
          <a:noFill/>
          <a:scene3d>
            <a:camera prst="perspectiveRight">
              <a:rot lat="0" lon="19800000" rev="0"/>
            </a:camera>
            <a:lightRig rig="threePt" dir="t"/>
          </a:scene3d>
        </p:spPr>
        <p:txBody>
          <a:bodyPr wrap="none" rtlCol="0">
            <a:spAutoFit/>
          </a:bodyPr>
          <a:p>
            <a:pPr algn="ctr"/>
            <a:r>
              <a:rPr lang="zh-CN" altLang="en-US" sz="1200" b="1" dirty="0">
                <a:solidFill>
                  <a:schemeClr val="bg2"/>
                </a:solidFill>
                <a:latin typeface="微软雅黑" panose="020B0503020204020204" charset="-122"/>
                <a:ea typeface="微软雅黑" panose="020B0503020204020204" charset="-122"/>
                <a:cs typeface="微软雅黑" panose="020B0503020204020204" charset="-122"/>
              </a:rPr>
              <a:t>基础能力</a:t>
            </a:r>
            <a:endParaRPr lang="zh-CN" altLang="en-US" sz="1200" b="1" dirty="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92" name="文本框 91"/>
          <p:cNvSpPr txBox="1"/>
          <p:nvPr/>
        </p:nvSpPr>
        <p:spPr>
          <a:xfrm>
            <a:off x="3297873" y="1461770"/>
            <a:ext cx="817880" cy="829945"/>
          </a:xfrm>
          <a:prstGeom prst="rect">
            <a:avLst/>
          </a:prstGeom>
          <a:noFill/>
          <a:scene3d>
            <a:camera prst="perspectiveRight">
              <a:rot lat="0" lon="19800000" rev="0"/>
            </a:camera>
            <a:lightRig rig="threePt" dir="t"/>
          </a:scene3d>
        </p:spPr>
        <p:txBody>
          <a:bodyPr wrap="none" rtlCol="0">
            <a:spAutoFit/>
          </a:bodyPr>
          <a:p>
            <a:pPr algn="ctr">
              <a:lnSpc>
                <a:spcPct val="120000"/>
              </a:lnSpc>
            </a:pPr>
            <a:r>
              <a:rPr lang="zh-CN" sz="1000" dirty="0">
                <a:solidFill>
                  <a:schemeClr val="tx2"/>
                </a:solidFill>
                <a:latin typeface="微软雅黑" panose="020B0503020204020204" charset="-122"/>
                <a:ea typeface="微软雅黑" panose="020B0503020204020204" charset="-122"/>
                <a:cs typeface="微软雅黑" panose="020B0503020204020204" charset="-122"/>
              </a:rPr>
              <a:t>数据解析</a:t>
            </a:r>
            <a:endParaRPr lang="zh-CN" sz="1000"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sz="1000" dirty="0">
                <a:solidFill>
                  <a:schemeClr val="tx2"/>
                </a:solidFill>
                <a:latin typeface="微软雅黑" panose="020B0503020204020204" charset="-122"/>
                <a:ea typeface="微软雅黑" panose="020B0503020204020204" charset="-122"/>
                <a:cs typeface="微软雅黑" panose="020B0503020204020204" charset="-122"/>
              </a:rPr>
              <a:t>数据治理</a:t>
            </a:r>
            <a:endParaRPr lang="zh-CN" sz="1000"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sz="1000" dirty="0">
                <a:solidFill>
                  <a:schemeClr val="tx2"/>
                </a:solidFill>
                <a:latin typeface="微软雅黑" panose="020B0503020204020204" charset="-122"/>
                <a:ea typeface="微软雅黑" panose="020B0503020204020204" charset="-122"/>
                <a:cs typeface="微软雅黑" panose="020B0503020204020204" charset="-122"/>
              </a:rPr>
              <a:t>特征提取</a:t>
            </a:r>
            <a:endParaRPr lang="zh-CN" sz="1000"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sz="1000" dirty="0">
                <a:solidFill>
                  <a:schemeClr val="tx2"/>
                </a:solidFill>
                <a:latin typeface="微软雅黑" panose="020B0503020204020204" charset="-122"/>
                <a:ea typeface="微软雅黑" panose="020B0503020204020204" charset="-122"/>
                <a:cs typeface="微软雅黑" panose="020B0503020204020204" charset="-122"/>
              </a:rPr>
              <a:t>表格结构化</a:t>
            </a:r>
            <a:endParaRPr lang="zh-CN" sz="100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94" name="组合 93"/>
          <p:cNvGrpSpPr/>
          <p:nvPr/>
        </p:nvGrpSpPr>
        <p:grpSpPr>
          <a:xfrm rot="0">
            <a:off x="4377055" y="1207770"/>
            <a:ext cx="1055370" cy="1101445"/>
            <a:chOff x="2001187" y="2519101"/>
            <a:chExt cx="1009650" cy="1667120"/>
          </a:xfrm>
          <a:scene3d>
            <a:camera prst="perspectiveRight"/>
            <a:lightRig rig="threePt" dir="t"/>
          </a:scene3d>
        </p:grpSpPr>
        <p:sp>
          <p:nvSpPr>
            <p:cNvPr id="95" name="矩形: 圆角 94"/>
            <p:cNvSpPr/>
            <p:nvPr/>
          </p:nvSpPr>
          <p:spPr>
            <a:xfrm>
              <a:off x="2001187" y="2519101"/>
              <a:ext cx="1009650" cy="1663700"/>
            </a:xfrm>
            <a:prstGeom prst="roundRect">
              <a:avLst>
                <a:gd name="adj" fmla="val 6604"/>
              </a:avLst>
            </a:prstGeom>
            <a:gradFill>
              <a:gsLst>
                <a:gs pos="100000">
                  <a:schemeClr val="accent5">
                    <a:alpha val="0"/>
                  </a:schemeClr>
                </a:gs>
                <a:gs pos="0">
                  <a:schemeClr val="accent5">
                    <a:alpha val="60000"/>
                  </a:schemeClr>
                </a:gs>
              </a:gsLst>
              <a:lin ang="5400000" scaled="1"/>
            </a:gradFill>
            <a:ln>
              <a:gradFill>
                <a:gsLst>
                  <a:gs pos="19000">
                    <a:schemeClr val="accent5">
                      <a:alpha val="0"/>
                    </a:schemeClr>
                  </a:gs>
                  <a:gs pos="100000">
                    <a:schemeClr val="accent5">
                      <a:alpha val="4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96" name="文本框 95"/>
            <p:cNvSpPr txBox="1"/>
            <p:nvPr/>
          </p:nvSpPr>
          <p:spPr>
            <a:xfrm>
              <a:off x="2125722" y="2622680"/>
              <a:ext cx="760579" cy="417126"/>
            </a:xfrm>
            <a:prstGeom prst="rect">
              <a:avLst/>
            </a:prstGeom>
            <a:noFill/>
          </p:spPr>
          <p:txBody>
            <a:bodyPr wrap="none" rtlCol="0">
              <a:spAutoFit/>
            </a:bodyPr>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认知中枢</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7" name="文本框 96"/>
            <p:cNvSpPr txBox="1"/>
            <p:nvPr/>
          </p:nvSpPr>
          <p:spPr>
            <a:xfrm>
              <a:off x="2114789" y="2930036"/>
              <a:ext cx="782448" cy="1256185"/>
            </a:xfrm>
            <a:prstGeom prst="rect">
              <a:avLst/>
            </a:prstGeom>
            <a:noFill/>
          </p:spPr>
          <p:txBody>
            <a:bodyPr wrap="none" rtlCol="0">
              <a:spAutoFit/>
            </a:bodyPr>
            <a:p>
              <a:pPr algn="ct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信息搜索</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语义向量化</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智能分类</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知识图谱</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99" name="矩形: 圆角 98"/>
          <p:cNvSpPr/>
          <p:nvPr/>
        </p:nvSpPr>
        <p:spPr>
          <a:xfrm>
            <a:off x="5558155" y="1212215"/>
            <a:ext cx="1049655" cy="1092835"/>
          </a:xfrm>
          <a:prstGeom prst="roundRect">
            <a:avLst>
              <a:gd name="adj" fmla="val 6604"/>
            </a:avLst>
          </a:prstGeom>
          <a:gradFill>
            <a:gsLst>
              <a:gs pos="100000">
                <a:schemeClr val="accent5">
                  <a:alpha val="0"/>
                </a:schemeClr>
              </a:gs>
              <a:gs pos="0">
                <a:schemeClr val="accent5">
                  <a:alpha val="60000"/>
                </a:schemeClr>
              </a:gs>
            </a:gsLst>
            <a:lin ang="5400000" scaled="1"/>
          </a:gradFill>
          <a:ln>
            <a:gradFill>
              <a:gsLst>
                <a:gs pos="19000">
                  <a:schemeClr val="accent5">
                    <a:alpha val="0"/>
                  </a:schemeClr>
                </a:gs>
                <a:gs pos="100000">
                  <a:schemeClr val="accent5">
                    <a:alpha val="4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00" name="文本框 99"/>
          <p:cNvSpPr txBox="1"/>
          <p:nvPr/>
        </p:nvSpPr>
        <p:spPr>
          <a:xfrm>
            <a:off x="5685155" y="1280160"/>
            <a:ext cx="795020" cy="275590"/>
          </a:xfrm>
          <a:prstGeom prst="rect">
            <a:avLst/>
          </a:prstGeom>
          <a:noFill/>
        </p:spPr>
        <p:txBody>
          <a:bodyPr wrap="none" rtlCol="0">
            <a:spAutoFit/>
          </a:bodyPr>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智能认证</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1" name="文本框 100"/>
          <p:cNvSpPr txBox="1"/>
          <p:nvPr/>
        </p:nvSpPr>
        <p:spPr>
          <a:xfrm>
            <a:off x="5648643" y="1482090"/>
            <a:ext cx="868680" cy="829945"/>
          </a:xfrm>
          <a:prstGeom prst="rect">
            <a:avLst/>
          </a:prstGeom>
          <a:noFill/>
        </p:spPr>
        <p:txBody>
          <a:bodyPr wrap="none" rtlCol="0">
            <a:spAutoFit/>
          </a:bodyPr>
          <a:p>
            <a:pPr algn="ct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身份识别</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指纹</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人脸等</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数字身份</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联合认证</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3" name="矩形: 圆角 102"/>
          <p:cNvSpPr/>
          <p:nvPr/>
        </p:nvSpPr>
        <p:spPr>
          <a:xfrm>
            <a:off x="6732905" y="1207770"/>
            <a:ext cx="1055370" cy="1099185"/>
          </a:xfrm>
          <a:prstGeom prst="roundRect">
            <a:avLst>
              <a:gd name="adj" fmla="val 6604"/>
            </a:avLst>
          </a:prstGeom>
          <a:gradFill>
            <a:gsLst>
              <a:gs pos="100000">
                <a:schemeClr val="accent5">
                  <a:alpha val="0"/>
                </a:schemeClr>
              </a:gs>
              <a:gs pos="0">
                <a:schemeClr val="accent5">
                  <a:alpha val="60000"/>
                </a:schemeClr>
              </a:gs>
            </a:gsLst>
            <a:lin ang="5400000" scaled="1"/>
          </a:gradFill>
          <a:ln>
            <a:gradFill>
              <a:gsLst>
                <a:gs pos="19000">
                  <a:schemeClr val="accent5">
                    <a:alpha val="0"/>
                  </a:schemeClr>
                </a:gs>
                <a:gs pos="100000">
                  <a:schemeClr val="accent5">
                    <a:alpha val="40000"/>
                  </a:schemeClr>
                </a:gs>
              </a:gsLst>
              <a:lin ang="5400000" scaled="1"/>
            </a:gradFill>
          </a:ln>
          <a:scene3d>
            <a:camera prst="perspective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04" name="文本框 103"/>
          <p:cNvSpPr txBox="1"/>
          <p:nvPr/>
        </p:nvSpPr>
        <p:spPr>
          <a:xfrm>
            <a:off x="6862763" y="1276350"/>
            <a:ext cx="795020" cy="275590"/>
          </a:xfrm>
          <a:prstGeom prst="rect">
            <a:avLst/>
          </a:prstGeom>
          <a:noFill/>
          <a:scene3d>
            <a:camera prst="perspectiveLeft"/>
            <a:lightRig rig="threePt" dir="t"/>
          </a:scene3d>
        </p:spPr>
        <p:txBody>
          <a:bodyPr wrap="none" rtlCol="0">
            <a:spAutoFit/>
          </a:bodyPr>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智能场景</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5" name="文本框 104"/>
          <p:cNvSpPr txBox="1"/>
          <p:nvPr/>
        </p:nvSpPr>
        <p:spPr>
          <a:xfrm>
            <a:off x="6915468" y="1479550"/>
            <a:ext cx="690880" cy="829945"/>
          </a:xfrm>
          <a:prstGeom prst="rect">
            <a:avLst/>
          </a:prstGeom>
          <a:noFill/>
          <a:scene3d>
            <a:camera prst="perspectiveLeft"/>
            <a:lightRig rig="threePt" dir="t"/>
          </a:scene3d>
        </p:spPr>
        <p:txBody>
          <a:bodyPr wrap="none" rtlCol="0">
            <a:spAutoFit/>
          </a:bodyPr>
          <a:p>
            <a:pPr algn="ct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mn-ea"/>
              </a:rPr>
              <a:t>精准推送</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mn-ea"/>
              </a:rPr>
              <a:t>智能路由</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mn-ea"/>
              </a:rPr>
              <a:t>事件响应</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mn-ea"/>
              </a:rPr>
              <a:t>动态蒸馏</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8" name="矩形: 圆角 107"/>
          <p:cNvSpPr/>
          <p:nvPr/>
        </p:nvSpPr>
        <p:spPr>
          <a:xfrm>
            <a:off x="7913370" y="1186815"/>
            <a:ext cx="1090930" cy="1136015"/>
          </a:xfrm>
          <a:prstGeom prst="roundRect">
            <a:avLst>
              <a:gd name="adj" fmla="val 6604"/>
            </a:avLst>
          </a:prstGeom>
          <a:gradFill>
            <a:gsLst>
              <a:gs pos="100000">
                <a:schemeClr val="accent5">
                  <a:alpha val="0"/>
                </a:schemeClr>
              </a:gs>
              <a:gs pos="0">
                <a:schemeClr val="accent5">
                  <a:alpha val="60000"/>
                </a:schemeClr>
              </a:gs>
            </a:gsLst>
            <a:lin ang="5400000" scaled="1"/>
          </a:gradFill>
          <a:ln>
            <a:gradFill>
              <a:gsLst>
                <a:gs pos="19000">
                  <a:schemeClr val="accent5">
                    <a:alpha val="0"/>
                  </a:schemeClr>
                </a:gs>
                <a:gs pos="100000">
                  <a:schemeClr val="accent5">
                    <a:alpha val="40000"/>
                  </a:schemeClr>
                </a:gs>
              </a:gsLst>
              <a:lin ang="5400000" scaled="1"/>
            </a:gradFill>
          </a:ln>
          <a:scene3d>
            <a:camera prst="perspectiveLeft">
              <a:rot lat="0" lon="180000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09" name="文本框 108"/>
          <p:cNvSpPr txBox="1"/>
          <p:nvPr/>
        </p:nvSpPr>
        <p:spPr>
          <a:xfrm>
            <a:off x="8061325" y="1252220"/>
            <a:ext cx="795020" cy="275590"/>
          </a:xfrm>
          <a:prstGeom prst="rect">
            <a:avLst/>
          </a:prstGeom>
          <a:noFill/>
          <a:scene3d>
            <a:camera prst="perspectiveLeft">
              <a:rot lat="0" lon="1800000" rev="0"/>
            </a:camera>
            <a:lightRig rig="threePt" dir="t"/>
          </a:scene3d>
        </p:spPr>
        <p:txBody>
          <a:bodyPr wrap="none" rtlCol="0">
            <a:spAutoFit/>
          </a:bodyPr>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决策增强</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10" name="文本框 109"/>
          <p:cNvSpPr txBox="1"/>
          <p:nvPr/>
        </p:nvSpPr>
        <p:spPr>
          <a:xfrm>
            <a:off x="8113713" y="1461770"/>
            <a:ext cx="690880" cy="829945"/>
          </a:xfrm>
          <a:prstGeom prst="rect">
            <a:avLst/>
          </a:prstGeom>
          <a:noFill/>
          <a:scene3d>
            <a:camera prst="perspectiveLeft">
              <a:rot lat="0" lon="1800000" rev="0"/>
            </a:camera>
            <a:lightRig rig="threePt" dir="t"/>
          </a:scene3d>
        </p:spPr>
        <p:txBody>
          <a:bodyPr wrap="none" rtlCol="0">
            <a:spAutoFit/>
          </a:bodyPr>
          <a:p>
            <a:pPr algn="ct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数字孪生</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策略生成</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风险预警</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效果追踪</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12" name="椭圆 211"/>
          <p:cNvSpPr/>
          <p:nvPr/>
        </p:nvSpPr>
        <p:spPr>
          <a:xfrm>
            <a:off x="1115695" y="1132840"/>
            <a:ext cx="1238250" cy="1238250"/>
          </a:xfrm>
          <a:prstGeom prst="ellipse">
            <a:avLst/>
          </a:prstGeom>
          <a:gradFill flip="none" rotWithShape="1">
            <a:gsLst>
              <a:gs pos="50000">
                <a:schemeClr val="accent5">
                  <a:alpha val="0"/>
                </a:schemeClr>
              </a:gs>
              <a:gs pos="100000">
                <a:schemeClr val="accent5"/>
              </a:gs>
            </a:gsLst>
            <a:path path="circl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latin typeface="微软雅黑" panose="020B0503020204020204" charset="-122"/>
                <a:ea typeface="微软雅黑" panose="020B0503020204020204" charset="-122"/>
                <a:cs typeface="微软雅黑" panose="020B0503020204020204" charset="-122"/>
              </a:rPr>
              <a:t>v</a:t>
            </a:r>
            <a:endParaRPr lang="en-US" altLang="zh-CN" dirty="0">
              <a:latin typeface="微软雅黑" panose="020B0503020204020204" charset="-122"/>
              <a:ea typeface="微软雅黑" panose="020B0503020204020204" charset="-122"/>
              <a:cs typeface="微软雅黑" panose="020B0503020204020204" charset="-122"/>
            </a:endParaRPr>
          </a:p>
        </p:txBody>
      </p:sp>
      <p:sp>
        <p:nvSpPr>
          <p:cNvPr id="213" name="椭圆 212"/>
          <p:cNvSpPr/>
          <p:nvPr/>
        </p:nvSpPr>
        <p:spPr>
          <a:xfrm>
            <a:off x="1262380" y="1279525"/>
            <a:ext cx="944880" cy="944880"/>
          </a:xfrm>
          <a:prstGeom prst="ellipse">
            <a:avLst/>
          </a:prstGeom>
          <a:gradFill>
            <a:gsLst>
              <a:gs pos="13000">
                <a:schemeClr val="accent5">
                  <a:alpha val="39000"/>
                </a:schemeClr>
              </a:gs>
              <a:gs pos="86000">
                <a:schemeClr val="accent5"/>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p>
            <a:pPr algn="ctr"/>
            <a:endParaRPr lang="zh-CN" altLang="en-US" sz="14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84" name="文本框 83"/>
          <p:cNvSpPr txBox="1"/>
          <p:nvPr/>
        </p:nvSpPr>
        <p:spPr>
          <a:xfrm>
            <a:off x="1421448" y="1459230"/>
            <a:ext cx="590550" cy="583565"/>
          </a:xfrm>
          <a:prstGeom prst="rect">
            <a:avLst/>
          </a:prstGeom>
          <a:noFill/>
        </p:spPr>
        <p:txBody>
          <a:bodyPr wrap="none" rtlCol="0">
            <a:spAutoFit/>
          </a:bodyPr>
          <a:p>
            <a:pPr algn="ct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产智</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融合</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218" name="组合 217"/>
          <p:cNvGrpSpPr/>
          <p:nvPr/>
        </p:nvGrpSpPr>
        <p:grpSpPr>
          <a:xfrm rot="0">
            <a:off x="9103995" y="1588135"/>
            <a:ext cx="523875" cy="286385"/>
            <a:chOff x="9888649" y="2057303"/>
            <a:chExt cx="507355" cy="276999"/>
          </a:xfrm>
          <a:gradFill flip="none" rotWithShape="1">
            <a:gsLst>
              <a:gs pos="0">
                <a:schemeClr val="accent5"/>
              </a:gs>
              <a:gs pos="100000">
                <a:schemeClr val="accent5">
                  <a:alpha val="0"/>
                </a:schemeClr>
              </a:gs>
            </a:gsLst>
            <a:lin ang="10800000" scaled="1"/>
            <a:tileRect/>
          </a:gradFill>
        </p:grpSpPr>
        <p:sp>
          <p:nvSpPr>
            <p:cNvPr id="219" name="箭头: V 形 83"/>
            <p:cNvSpPr/>
            <p:nvPr/>
          </p:nvSpPr>
          <p:spPr>
            <a:xfrm>
              <a:off x="9888649" y="2057303"/>
              <a:ext cx="276999" cy="276999"/>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460500"/>
              <a:endParaRPr lang="zh-CN" altLang="en-US" sz="2875" dirty="0">
                <a:solidFill>
                  <a:srgbClr val="000000"/>
                </a:solidFill>
                <a:latin typeface="微软雅黑" panose="020B0503020204020204" charset="-122"/>
                <a:ea typeface="微软雅黑" panose="020B0503020204020204" charset="-122"/>
                <a:cs typeface="微软雅黑" panose="020B0503020204020204" charset="-122"/>
                <a:sym typeface="+mn-lt"/>
              </a:endParaRPr>
            </a:p>
          </p:txBody>
        </p:sp>
        <p:sp>
          <p:nvSpPr>
            <p:cNvPr id="220" name="箭头: V 形 84"/>
            <p:cNvSpPr/>
            <p:nvPr/>
          </p:nvSpPr>
          <p:spPr>
            <a:xfrm>
              <a:off x="10119005" y="2057303"/>
              <a:ext cx="276999" cy="276999"/>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460500"/>
              <a:endParaRPr lang="zh-CN" altLang="en-US" sz="2875">
                <a:solidFill>
                  <a:srgbClr val="000000"/>
                </a:solidFill>
                <a:latin typeface="微软雅黑" panose="020B0503020204020204" charset="-122"/>
                <a:ea typeface="微软雅黑" panose="020B0503020204020204" charset="-122"/>
                <a:cs typeface="微软雅黑" panose="020B0503020204020204" charset="-122"/>
                <a:sym typeface="+mn-lt"/>
              </a:endParaRPr>
            </a:p>
          </p:txBody>
        </p:sp>
      </p:grpSp>
      <p:grpSp>
        <p:nvGrpSpPr>
          <p:cNvPr id="221" name="组合 220"/>
          <p:cNvGrpSpPr/>
          <p:nvPr/>
        </p:nvGrpSpPr>
        <p:grpSpPr>
          <a:xfrm rot="0">
            <a:off x="2474595" y="1606550"/>
            <a:ext cx="529590" cy="286385"/>
            <a:chOff x="1849551" y="2043230"/>
            <a:chExt cx="512422" cy="276999"/>
          </a:xfrm>
          <a:gradFill flip="none" rotWithShape="1">
            <a:gsLst>
              <a:gs pos="0">
                <a:schemeClr val="accent5"/>
              </a:gs>
              <a:gs pos="100000">
                <a:schemeClr val="accent5">
                  <a:alpha val="0"/>
                </a:schemeClr>
              </a:gs>
            </a:gsLst>
            <a:lin ang="0" scaled="1"/>
            <a:tileRect/>
          </a:gradFill>
        </p:grpSpPr>
        <p:sp>
          <p:nvSpPr>
            <p:cNvPr id="222" name="箭头: V 形 86"/>
            <p:cNvSpPr/>
            <p:nvPr/>
          </p:nvSpPr>
          <p:spPr>
            <a:xfrm flipH="1">
              <a:off x="1849551" y="2043230"/>
              <a:ext cx="276999" cy="276999"/>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460500"/>
              <a:endParaRPr lang="zh-CN" altLang="en-US" sz="2875" dirty="0">
                <a:solidFill>
                  <a:srgbClr val="000000"/>
                </a:solidFill>
                <a:latin typeface="微软雅黑" panose="020B0503020204020204" charset="-122"/>
                <a:ea typeface="微软雅黑" panose="020B0503020204020204" charset="-122"/>
                <a:cs typeface="微软雅黑" panose="020B0503020204020204" charset="-122"/>
                <a:sym typeface="+mn-lt"/>
              </a:endParaRPr>
            </a:p>
          </p:txBody>
        </p:sp>
        <p:sp>
          <p:nvSpPr>
            <p:cNvPr id="223" name="箭头: V 形 88"/>
            <p:cNvSpPr/>
            <p:nvPr/>
          </p:nvSpPr>
          <p:spPr>
            <a:xfrm flipH="1">
              <a:off x="2084974" y="2043230"/>
              <a:ext cx="276999" cy="276999"/>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defTabSz="1460500"/>
              <a:endParaRPr lang="zh-CN" altLang="en-US" sz="2875">
                <a:solidFill>
                  <a:srgbClr val="000000"/>
                </a:solidFill>
                <a:latin typeface="微软雅黑" panose="020B0503020204020204" charset="-122"/>
                <a:ea typeface="微软雅黑" panose="020B0503020204020204" charset="-122"/>
                <a:cs typeface="微软雅黑" panose="020B0503020204020204" charset="-122"/>
                <a:sym typeface="+mn-lt"/>
              </a:endParaRPr>
            </a:p>
          </p:txBody>
        </p:sp>
      </p:grpSp>
      <p:sp>
        <p:nvSpPr>
          <p:cNvPr id="18" name="椭圆 17"/>
          <p:cNvSpPr/>
          <p:nvPr/>
        </p:nvSpPr>
        <p:spPr>
          <a:xfrm>
            <a:off x="9678035" y="1115695"/>
            <a:ext cx="1238250" cy="1238250"/>
          </a:xfrm>
          <a:prstGeom prst="ellipse">
            <a:avLst/>
          </a:prstGeom>
          <a:gradFill flip="none" rotWithShape="1">
            <a:gsLst>
              <a:gs pos="50000">
                <a:schemeClr val="accent5">
                  <a:alpha val="0"/>
                </a:schemeClr>
              </a:gs>
              <a:gs pos="100000">
                <a:schemeClr val="accent5"/>
              </a:gs>
            </a:gsLst>
            <a:path path="circl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lang="en-US" altLang="zh-CN" dirty="0">
                <a:latin typeface="微软雅黑" panose="020B0503020204020204" charset="-122"/>
                <a:ea typeface="微软雅黑" panose="020B0503020204020204" charset="-122"/>
                <a:cs typeface="微软雅黑" panose="020B0503020204020204" charset="-122"/>
              </a:rPr>
              <a:t>v</a:t>
            </a:r>
            <a:endParaRPr lang="en-US" altLang="zh-CN" dirty="0">
              <a:latin typeface="微软雅黑" panose="020B0503020204020204" charset="-122"/>
              <a:ea typeface="微软雅黑" panose="020B0503020204020204" charset="-122"/>
              <a:cs typeface="微软雅黑" panose="020B0503020204020204" charset="-122"/>
            </a:endParaRPr>
          </a:p>
        </p:txBody>
      </p:sp>
      <p:sp>
        <p:nvSpPr>
          <p:cNvPr id="19" name="椭圆 18"/>
          <p:cNvSpPr/>
          <p:nvPr/>
        </p:nvSpPr>
        <p:spPr>
          <a:xfrm>
            <a:off x="9824720" y="1262380"/>
            <a:ext cx="944880" cy="944880"/>
          </a:xfrm>
          <a:prstGeom prst="ellipse">
            <a:avLst/>
          </a:prstGeom>
          <a:gradFill>
            <a:gsLst>
              <a:gs pos="13000">
                <a:schemeClr val="accent5">
                  <a:alpha val="39000"/>
                </a:schemeClr>
              </a:gs>
              <a:gs pos="86000">
                <a:schemeClr val="accent5"/>
              </a:gs>
            </a:gsLst>
            <a:path path="circle">
              <a:fillToRect r="100000" b="100000"/>
            </a:path>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9600" tIns="0" rIns="39600" bIns="0" rtlCol="0" anchor="ctr"/>
          <a:p>
            <a:pPr algn="ctr"/>
            <a:endParaRPr lang="zh-CN" altLang="en-US" sz="14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nvSpPr>
        <p:spPr>
          <a:xfrm>
            <a:off x="9983470" y="1442085"/>
            <a:ext cx="590550" cy="583565"/>
          </a:xfrm>
          <a:prstGeom prst="rect">
            <a:avLst/>
          </a:prstGeom>
          <a:noFill/>
        </p:spPr>
        <p:txBody>
          <a:bodyPr wrap="none" rtlCol="0">
            <a:spAutoFit/>
          </a:bodyPr>
          <a:p>
            <a:pPr algn="ct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生态</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rPr>
              <a:t>智联</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1" name="文本框 20"/>
          <p:cNvSpPr txBox="1"/>
          <p:nvPr/>
        </p:nvSpPr>
        <p:spPr>
          <a:xfrm>
            <a:off x="1880870" y="2748280"/>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身份认证</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nvSpPr>
        <p:spPr>
          <a:xfrm>
            <a:off x="3374390" y="2993390"/>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用户画像</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p:nvSpPr>
        <p:spPr>
          <a:xfrm>
            <a:off x="2947670" y="2537460"/>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辅助决策</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nvSpPr>
        <p:spPr>
          <a:xfrm>
            <a:off x="4014470" y="2426970"/>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流程优化</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25" name="文本框 24"/>
          <p:cNvSpPr txBox="1"/>
          <p:nvPr/>
        </p:nvSpPr>
        <p:spPr>
          <a:xfrm>
            <a:off x="5081270" y="2371090"/>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智能引导</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nvSpPr>
        <p:spPr>
          <a:xfrm>
            <a:off x="6148070" y="2382520"/>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智能检索</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27" name="文本框 26"/>
          <p:cNvSpPr txBox="1"/>
          <p:nvPr/>
        </p:nvSpPr>
        <p:spPr>
          <a:xfrm>
            <a:off x="7214870" y="2432050"/>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智能问答</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28" name="文本框 27"/>
          <p:cNvSpPr txBox="1"/>
          <p:nvPr/>
        </p:nvSpPr>
        <p:spPr>
          <a:xfrm>
            <a:off x="8281670" y="2560955"/>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知识库</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nvSpPr>
        <p:spPr>
          <a:xfrm>
            <a:off x="9348470" y="2748280"/>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智能咨询</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30" name="文本框 29"/>
          <p:cNvSpPr txBox="1"/>
          <p:nvPr/>
        </p:nvSpPr>
        <p:spPr>
          <a:xfrm>
            <a:off x="7854950" y="2993390"/>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预警分析</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31" name="文本框 30"/>
          <p:cNvSpPr txBox="1"/>
          <p:nvPr/>
        </p:nvSpPr>
        <p:spPr>
          <a:xfrm>
            <a:off x="6361430" y="3084830"/>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文件结构化</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nvSpPr>
        <p:spPr>
          <a:xfrm>
            <a:off x="4867910" y="3089275"/>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精准推荐</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33" name="椭圆 32"/>
          <p:cNvSpPr/>
          <p:nvPr/>
        </p:nvSpPr>
        <p:spPr>
          <a:xfrm>
            <a:off x="4536309" y="2672996"/>
            <a:ext cx="52700" cy="52700"/>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4" name="椭圆 33"/>
          <p:cNvSpPr/>
          <p:nvPr/>
        </p:nvSpPr>
        <p:spPr>
          <a:xfrm>
            <a:off x="5644384" y="2605686"/>
            <a:ext cx="52700" cy="52700"/>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5" name="椭圆 34"/>
          <p:cNvSpPr/>
          <p:nvPr/>
        </p:nvSpPr>
        <p:spPr>
          <a:xfrm>
            <a:off x="6563864" y="2620291"/>
            <a:ext cx="52700" cy="52700"/>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6" name="椭圆 35"/>
          <p:cNvSpPr/>
          <p:nvPr/>
        </p:nvSpPr>
        <p:spPr>
          <a:xfrm>
            <a:off x="7650984" y="2672996"/>
            <a:ext cx="52700" cy="52700"/>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7" name="椭圆 36"/>
          <p:cNvSpPr/>
          <p:nvPr/>
        </p:nvSpPr>
        <p:spPr>
          <a:xfrm>
            <a:off x="8376154" y="2844446"/>
            <a:ext cx="52700" cy="52700"/>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8" name="椭圆 37"/>
          <p:cNvSpPr/>
          <p:nvPr/>
        </p:nvSpPr>
        <p:spPr>
          <a:xfrm>
            <a:off x="6766429" y="3063521"/>
            <a:ext cx="52700" cy="52700"/>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9" name="椭圆 38"/>
          <p:cNvSpPr/>
          <p:nvPr/>
        </p:nvSpPr>
        <p:spPr>
          <a:xfrm>
            <a:off x="5328789" y="3062886"/>
            <a:ext cx="52700" cy="52700"/>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40" name="文本框 39"/>
          <p:cNvSpPr txBox="1"/>
          <p:nvPr/>
        </p:nvSpPr>
        <p:spPr>
          <a:xfrm>
            <a:off x="5328920" y="2725420"/>
            <a:ext cx="1885950" cy="337185"/>
          </a:xfrm>
          <a:prstGeom prst="rect">
            <a:avLst/>
          </a:prstGeom>
          <a:noFill/>
        </p:spPr>
        <p:txBody>
          <a:bodyPr wrap="square" rtlCol="0">
            <a:spAutoFit/>
          </a:bodyPr>
          <a:p>
            <a:pPr algn="ctr"/>
            <a:r>
              <a:rPr lang="en-US" altLang="zh-CN" sz="1600" b="1">
                <a:solidFill>
                  <a:schemeClr val="accent5"/>
                </a:solidFill>
                <a:latin typeface="微软雅黑" panose="020B0503020204020204" charset="-122"/>
                <a:ea typeface="微软雅黑" panose="020B0503020204020204" charset="-122"/>
                <a:cs typeface="微软雅黑" panose="020B0503020204020204" charset="-122"/>
              </a:rPr>
              <a:t>AI</a:t>
            </a:r>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应用场景</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endParaRPr>
          </a:p>
        </p:txBody>
      </p:sp>
      <p:grpSp>
        <p:nvGrpSpPr>
          <p:cNvPr id="67" name="组合 66"/>
          <p:cNvGrpSpPr/>
          <p:nvPr/>
        </p:nvGrpSpPr>
        <p:grpSpPr>
          <a:xfrm>
            <a:off x="1925320" y="5250815"/>
            <a:ext cx="8770620" cy="963295"/>
            <a:chOff x="2321" y="-1825"/>
            <a:chExt cx="13812" cy="1517"/>
          </a:xfrm>
        </p:grpSpPr>
        <p:sp>
          <p:nvSpPr>
            <p:cNvPr id="44" name="任意形状 51"/>
            <p:cNvSpPr/>
            <p:nvPr/>
          </p:nvSpPr>
          <p:spPr>
            <a:xfrm>
              <a:off x="2321" y="-1759"/>
              <a:ext cx="13812" cy="1440"/>
            </a:xfrm>
            <a:custGeom>
              <a:avLst/>
              <a:gdLst>
                <a:gd name="connsiteX0" fmla="*/ 6043668 w 6043668"/>
                <a:gd name="connsiteY0" fmla="*/ 489065 h 978129"/>
                <a:gd name="connsiteX1" fmla="*/ 3021834 w 6043668"/>
                <a:gd name="connsiteY1" fmla="*/ 978130 h 978129"/>
                <a:gd name="connsiteX2" fmla="*/ 0 w 6043668"/>
                <a:gd name="connsiteY2" fmla="*/ 489065 h 978129"/>
                <a:gd name="connsiteX3" fmla="*/ 3021834 w 6043668"/>
                <a:gd name="connsiteY3" fmla="*/ 0 h 978129"/>
                <a:gd name="connsiteX4" fmla="*/ 6043668 w 6043668"/>
                <a:gd name="connsiteY4" fmla="*/ 489065 h 978129"/>
                <a:gd name="connsiteX5" fmla="*/ 1486863 w 6043668"/>
                <a:gd name="connsiteY5" fmla="*/ 489065 h 978129"/>
                <a:gd name="connsiteX6" fmla="*/ 3021834 w 6043668"/>
                <a:gd name="connsiteY6" fmla="*/ 737491 h 978129"/>
                <a:gd name="connsiteX7" fmla="*/ 4556805 w 6043668"/>
                <a:gd name="connsiteY7" fmla="*/ 489065 h 978129"/>
                <a:gd name="connsiteX8" fmla="*/ 3021834 w 6043668"/>
                <a:gd name="connsiteY8" fmla="*/ 240639 h 978129"/>
                <a:gd name="connsiteX9" fmla="*/ 1486863 w 6043668"/>
                <a:gd name="connsiteY9" fmla="*/ 489065 h 978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43668" h="978129">
                  <a:moveTo>
                    <a:pt x="6043668" y="489065"/>
                  </a:moveTo>
                  <a:cubicBezTo>
                    <a:pt x="6043668" y="759168"/>
                    <a:pt x="4690750" y="978130"/>
                    <a:pt x="3021834" y="978130"/>
                  </a:cubicBezTo>
                  <a:cubicBezTo>
                    <a:pt x="1352918" y="978130"/>
                    <a:pt x="0" y="759168"/>
                    <a:pt x="0" y="489065"/>
                  </a:cubicBezTo>
                  <a:cubicBezTo>
                    <a:pt x="0" y="218962"/>
                    <a:pt x="1352918" y="0"/>
                    <a:pt x="3021834" y="0"/>
                  </a:cubicBezTo>
                  <a:cubicBezTo>
                    <a:pt x="4690750" y="0"/>
                    <a:pt x="6043668" y="218962"/>
                    <a:pt x="6043668" y="489065"/>
                  </a:cubicBezTo>
                  <a:close/>
                  <a:moveTo>
                    <a:pt x="1486863" y="489065"/>
                  </a:moveTo>
                  <a:cubicBezTo>
                    <a:pt x="1486863" y="626268"/>
                    <a:pt x="2174095" y="737491"/>
                    <a:pt x="3021834" y="737491"/>
                  </a:cubicBezTo>
                  <a:cubicBezTo>
                    <a:pt x="3869573" y="737491"/>
                    <a:pt x="4556805" y="626268"/>
                    <a:pt x="4556805" y="489065"/>
                  </a:cubicBezTo>
                  <a:cubicBezTo>
                    <a:pt x="4556805" y="351862"/>
                    <a:pt x="3869573" y="240639"/>
                    <a:pt x="3021834" y="240639"/>
                  </a:cubicBezTo>
                  <a:cubicBezTo>
                    <a:pt x="2174095" y="240639"/>
                    <a:pt x="1486863" y="351862"/>
                    <a:pt x="1486863" y="489065"/>
                  </a:cubicBezTo>
                  <a:close/>
                </a:path>
              </a:pathLst>
            </a:custGeom>
            <a:gradFill>
              <a:gsLst>
                <a:gs pos="0">
                  <a:schemeClr val="accent1">
                    <a:lumMod val="60000"/>
                    <a:lumOff val="40000"/>
                    <a:alpha val="0"/>
                  </a:schemeClr>
                </a:gs>
                <a:gs pos="100000">
                  <a:schemeClr val="accent1">
                    <a:lumMod val="60000"/>
                    <a:lumOff val="40000"/>
                    <a:alpha val="18000"/>
                  </a:schemeClr>
                </a:gs>
              </a:gsLst>
              <a:lin ang="5400000" scaled="1"/>
            </a:gradFill>
            <a:ln w="9525">
              <a:gradFill>
                <a:gsLst>
                  <a:gs pos="15000">
                    <a:schemeClr val="accent1">
                      <a:lumMod val="60000"/>
                      <a:lumOff val="40000"/>
                      <a:alpha val="0"/>
                    </a:schemeClr>
                  </a:gs>
                  <a:gs pos="100000">
                    <a:schemeClr val="accent1">
                      <a:lumMod val="60000"/>
                      <a:lumOff val="4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lt"/>
              </a:endParaRPr>
            </a:p>
          </p:txBody>
        </p:sp>
        <p:sp>
          <p:nvSpPr>
            <p:cNvPr id="45" name="椭圆 44"/>
            <p:cNvSpPr/>
            <p:nvPr/>
          </p:nvSpPr>
          <p:spPr>
            <a:xfrm>
              <a:off x="5703" y="-1080"/>
              <a:ext cx="83" cy="83"/>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46" name="文本框 45"/>
            <p:cNvSpPr txBox="1"/>
            <p:nvPr/>
          </p:nvSpPr>
          <p:spPr>
            <a:xfrm>
              <a:off x="2450" y="-1231"/>
              <a:ext cx="1535" cy="386"/>
            </a:xfrm>
            <a:prstGeom prst="rect">
              <a:avLst/>
            </a:prstGeom>
            <a:noFill/>
          </p:spPr>
          <p:txBody>
            <a:bodyPr wrap="square" rtlCol="0">
              <a:spAutoFit/>
            </a:bodyPr>
            <a:p>
              <a:pPr algn="ctr"/>
              <a:r>
                <a:rPr lang="en-US" altLang="zh-CN" sz="1000">
                  <a:latin typeface="微软雅黑" panose="020B0503020204020204" charset="-122"/>
                  <a:ea typeface="微软雅黑" panose="020B0503020204020204" charset="-122"/>
                  <a:cs typeface="微软雅黑" panose="020B0503020204020204" charset="-122"/>
                </a:rPr>
                <a:t>Keras</a:t>
              </a:r>
              <a:endParaRPr lang="en-US" altLang="zh-CN" sz="1000">
                <a:latin typeface="微软雅黑" panose="020B0503020204020204" charset="-122"/>
                <a:ea typeface="微软雅黑" panose="020B0503020204020204" charset="-122"/>
                <a:cs typeface="微软雅黑" panose="020B0503020204020204" charset="-122"/>
              </a:endParaRPr>
            </a:p>
          </p:txBody>
        </p:sp>
        <p:sp>
          <p:nvSpPr>
            <p:cNvPr id="47" name="文本框 46"/>
            <p:cNvSpPr txBox="1"/>
            <p:nvPr/>
          </p:nvSpPr>
          <p:spPr>
            <a:xfrm>
              <a:off x="4802" y="-845"/>
              <a:ext cx="1535" cy="386"/>
            </a:xfrm>
            <a:prstGeom prst="rect">
              <a:avLst/>
            </a:prstGeom>
            <a:noFill/>
          </p:spPr>
          <p:txBody>
            <a:bodyPr wrap="square" rtlCol="0">
              <a:spAutoFit/>
            </a:bodyPr>
            <a:p>
              <a:pPr algn="ctr"/>
              <a:r>
                <a:rPr lang="en-US" altLang="zh-CN" sz="1000">
                  <a:latin typeface="微软雅黑" panose="020B0503020204020204" charset="-122"/>
                  <a:ea typeface="微软雅黑" panose="020B0503020204020204" charset="-122"/>
                  <a:cs typeface="微软雅黑" panose="020B0503020204020204" charset="-122"/>
                </a:rPr>
                <a:t>Caffe</a:t>
              </a:r>
              <a:endParaRPr lang="en-US" altLang="zh-CN" sz="1000">
                <a:latin typeface="微软雅黑" panose="020B0503020204020204" charset="-122"/>
                <a:ea typeface="微软雅黑" panose="020B0503020204020204" charset="-122"/>
                <a:cs typeface="微软雅黑" panose="020B0503020204020204" charset="-122"/>
              </a:endParaRPr>
            </a:p>
          </p:txBody>
        </p:sp>
        <p:sp>
          <p:nvSpPr>
            <p:cNvPr id="48" name="文本框 47"/>
            <p:cNvSpPr txBox="1"/>
            <p:nvPr/>
          </p:nvSpPr>
          <p:spPr>
            <a:xfrm>
              <a:off x="4130" y="-1563"/>
              <a:ext cx="1535" cy="386"/>
            </a:xfrm>
            <a:prstGeom prst="rect">
              <a:avLst/>
            </a:prstGeom>
            <a:noFill/>
          </p:spPr>
          <p:txBody>
            <a:bodyPr wrap="square" rtlCol="0">
              <a:spAutoFit/>
            </a:bodyPr>
            <a:p>
              <a:pPr algn="ctr"/>
              <a:r>
                <a:rPr lang="en-US" altLang="zh-CN" sz="1000">
                  <a:latin typeface="微软雅黑" panose="020B0503020204020204" charset="-122"/>
                  <a:ea typeface="微软雅黑" panose="020B0503020204020204" charset="-122"/>
                  <a:cs typeface="微软雅黑" panose="020B0503020204020204" charset="-122"/>
                </a:rPr>
                <a:t>KNN</a:t>
              </a:r>
              <a:endParaRPr lang="en-US" altLang="zh-CN" sz="1000">
                <a:latin typeface="微软雅黑" panose="020B0503020204020204" charset="-122"/>
                <a:ea typeface="微软雅黑" panose="020B0503020204020204" charset="-122"/>
                <a:cs typeface="微软雅黑" panose="020B0503020204020204" charset="-122"/>
              </a:endParaRPr>
            </a:p>
          </p:txBody>
        </p:sp>
        <p:sp>
          <p:nvSpPr>
            <p:cNvPr id="49" name="文本框 48"/>
            <p:cNvSpPr txBox="1"/>
            <p:nvPr/>
          </p:nvSpPr>
          <p:spPr>
            <a:xfrm>
              <a:off x="5810" y="-1737"/>
              <a:ext cx="1535" cy="386"/>
            </a:xfrm>
            <a:prstGeom prst="rect">
              <a:avLst/>
            </a:prstGeom>
            <a:noFill/>
          </p:spPr>
          <p:txBody>
            <a:bodyPr wrap="square" rtlCol="0">
              <a:spAutoFit/>
            </a:bodyPr>
            <a:p>
              <a:pPr algn="ctr"/>
              <a:r>
                <a:rPr lang="en-US" altLang="zh-CN" sz="1000">
                  <a:latin typeface="微软雅黑" panose="020B0503020204020204" charset="-122"/>
                  <a:ea typeface="微软雅黑" panose="020B0503020204020204" charset="-122"/>
                  <a:cs typeface="微软雅黑" panose="020B0503020204020204" charset="-122"/>
                </a:rPr>
                <a:t>LSTM</a:t>
              </a:r>
              <a:endParaRPr lang="en-US" altLang="zh-CN" sz="1000">
                <a:latin typeface="微软雅黑" panose="020B0503020204020204" charset="-122"/>
                <a:ea typeface="微软雅黑" panose="020B0503020204020204" charset="-122"/>
                <a:cs typeface="微软雅黑" panose="020B0503020204020204" charset="-122"/>
              </a:endParaRPr>
            </a:p>
          </p:txBody>
        </p:sp>
        <p:sp>
          <p:nvSpPr>
            <p:cNvPr id="50" name="文本框 49"/>
            <p:cNvSpPr txBox="1"/>
            <p:nvPr/>
          </p:nvSpPr>
          <p:spPr>
            <a:xfrm>
              <a:off x="7490" y="-1825"/>
              <a:ext cx="1535" cy="386"/>
            </a:xfrm>
            <a:prstGeom prst="rect">
              <a:avLst/>
            </a:prstGeom>
            <a:noFill/>
          </p:spPr>
          <p:txBody>
            <a:bodyPr wrap="square" rtlCol="0">
              <a:spAutoFit/>
            </a:bodyPr>
            <a:p>
              <a:pPr algn="ctr"/>
              <a:r>
                <a:rPr lang="en-US" altLang="zh-CN" sz="1000">
                  <a:latin typeface="微软雅黑" panose="020B0503020204020204" charset="-122"/>
                  <a:ea typeface="微软雅黑" panose="020B0503020204020204" charset="-122"/>
                  <a:cs typeface="微软雅黑" panose="020B0503020204020204" charset="-122"/>
                </a:rPr>
                <a:t>RNN</a:t>
              </a:r>
              <a:endParaRPr lang="en-US" altLang="zh-CN" sz="1000">
                <a:latin typeface="微软雅黑" panose="020B0503020204020204" charset="-122"/>
                <a:ea typeface="微软雅黑" panose="020B0503020204020204" charset="-122"/>
                <a:cs typeface="微软雅黑" panose="020B0503020204020204" charset="-122"/>
              </a:endParaRPr>
            </a:p>
          </p:txBody>
        </p:sp>
        <p:sp>
          <p:nvSpPr>
            <p:cNvPr id="51" name="文本框 50"/>
            <p:cNvSpPr txBox="1"/>
            <p:nvPr/>
          </p:nvSpPr>
          <p:spPr>
            <a:xfrm>
              <a:off x="9170" y="-1807"/>
              <a:ext cx="1535" cy="386"/>
            </a:xfrm>
            <a:prstGeom prst="rect">
              <a:avLst/>
            </a:prstGeom>
            <a:noFill/>
          </p:spPr>
          <p:txBody>
            <a:bodyPr wrap="square" rtlCol="0">
              <a:spAutoFit/>
            </a:bodyPr>
            <a:p>
              <a:pPr algn="ctr"/>
              <a:r>
                <a:rPr lang="en-US" altLang="zh-CN" sz="1000">
                  <a:latin typeface="微软雅黑" panose="020B0503020204020204" charset="-122"/>
                  <a:ea typeface="微软雅黑" panose="020B0503020204020204" charset="-122"/>
                  <a:cs typeface="微软雅黑" panose="020B0503020204020204" charset="-122"/>
                </a:rPr>
                <a:t>GAN</a:t>
              </a:r>
              <a:endParaRPr lang="en-US" altLang="zh-CN" sz="1000">
                <a:latin typeface="微软雅黑" panose="020B0503020204020204" charset="-122"/>
                <a:ea typeface="微软雅黑" panose="020B0503020204020204" charset="-122"/>
                <a:cs typeface="微软雅黑" panose="020B0503020204020204" charset="-122"/>
              </a:endParaRPr>
            </a:p>
          </p:txBody>
        </p:sp>
        <p:sp>
          <p:nvSpPr>
            <p:cNvPr id="52" name="文本框 51"/>
            <p:cNvSpPr txBox="1"/>
            <p:nvPr/>
          </p:nvSpPr>
          <p:spPr>
            <a:xfrm>
              <a:off x="10850" y="-1729"/>
              <a:ext cx="1535" cy="386"/>
            </a:xfrm>
            <a:prstGeom prst="rect">
              <a:avLst/>
            </a:prstGeom>
            <a:noFill/>
          </p:spPr>
          <p:txBody>
            <a:bodyPr wrap="square" rtlCol="0">
              <a:spAutoFit/>
            </a:bodyPr>
            <a:p>
              <a:pPr algn="ctr"/>
              <a:r>
                <a:rPr lang="en-US" altLang="zh-CN" sz="1000">
                  <a:latin typeface="微软雅黑" panose="020B0503020204020204" charset="-122"/>
                  <a:ea typeface="微软雅黑" panose="020B0503020204020204" charset="-122"/>
                  <a:cs typeface="微软雅黑" panose="020B0503020204020204" charset="-122"/>
                </a:rPr>
                <a:t>CNN</a:t>
              </a:r>
              <a:endParaRPr lang="en-US" altLang="zh-CN" sz="1000">
                <a:latin typeface="微软雅黑" panose="020B0503020204020204" charset="-122"/>
                <a:ea typeface="微软雅黑" panose="020B0503020204020204" charset="-122"/>
                <a:cs typeface="微软雅黑" panose="020B0503020204020204" charset="-122"/>
              </a:endParaRPr>
            </a:p>
          </p:txBody>
        </p:sp>
        <p:sp>
          <p:nvSpPr>
            <p:cNvPr id="53" name="文本框 52"/>
            <p:cNvSpPr txBox="1"/>
            <p:nvPr/>
          </p:nvSpPr>
          <p:spPr>
            <a:xfrm>
              <a:off x="12530" y="-1526"/>
              <a:ext cx="1535" cy="386"/>
            </a:xfrm>
            <a:prstGeom prst="rect">
              <a:avLst/>
            </a:prstGeom>
            <a:noFill/>
          </p:spPr>
          <p:txBody>
            <a:bodyPr wrap="square" rtlCol="0">
              <a:spAutoFit/>
            </a:bodyPr>
            <a:p>
              <a:pPr algn="ctr"/>
              <a:r>
                <a:rPr lang="en-US" altLang="zh-CN" sz="1000">
                  <a:latin typeface="微软雅黑" panose="020B0503020204020204" charset="-122"/>
                  <a:ea typeface="微软雅黑" panose="020B0503020204020204" charset="-122"/>
                  <a:cs typeface="微软雅黑" panose="020B0503020204020204" charset="-122"/>
                </a:rPr>
                <a:t>MoE</a:t>
              </a:r>
              <a:endParaRPr lang="en-US" altLang="zh-CN" sz="1000">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14210" y="-1231"/>
              <a:ext cx="1535" cy="386"/>
            </a:xfrm>
            <a:prstGeom prst="rect">
              <a:avLst/>
            </a:prstGeom>
            <a:noFill/>
          </p:spPr>
          <p:txBody>
            <a:bodyPr wrap="square" rtlCol="0">
              <a:spAutoFit/>
            </a:bodyPr>
            <a:p>
              <a:pPr algn="ctr"/>
              <a:r>
                <a:rPr lang="en-US" altLang="zh-CN" sz="1000">
                  <a:latin typeface="微软雅黑" panose="020B0503020204020204" charset="-122"/>
                  <a:ea typeface="微软雅黑" panose="020B0503020204020204" charset="-122"/>
                  <a:cs typeface="微软雅黑" panose="020B0503020204020204" charset="-122"/>
                </a:rPr>
                <a:t>TensorFlow</a:t>
              </a:r>
              <a:endParaRPr lang="en-US" altLang="zh-CN" sz="1000">
                <a:latin typeface="微软雅黑" panose="020B0503020204020204" charset="-122"/>
                <a:ea typeface="微软雅黑" panose="020B0503020204020204" charset="-122"/>
                <a:cs typeface="微软雅黑" panose="020B0503020204020204" charset="-122"/>
              </a:endParaRPr>
            </a:p>
          </p:txBody>
        </p:sp>
        <p:sp>
          <p:nvSpPr>
            <p:cNvPr id="55" name="文本框 54"/>
            <p:cNvSpPr txBox="1"/>
            <p:nvPr/>
          </p:nvSpPr>
          <p:spPr>
            <a:xfrm>
              <a:off x="11858" y="-845"/>
              <a:ext cx="1535" cy="386"/>
            </a:xfrm>
            <a:prstGeom prst="rect">
              <a:avLst/>
            </a:prstGeom>
            <a:noFill/>
          </p:spPr>
          <p:txBody>
            <a:bodyPr wrap="square" rtlCol="0">
              <a:spAutoFit/>
            </a:bodyPr>
            <a:p>
              <a:pPr algn="ctr"/>
              <a:r>
                <a:rPr lang="en-US" altLang="zh-CN" sz="1000">
                  <a:latin typeface="微软雅黑" panose="020B0503020204020204" charset="-122"/>
                  <a:ea typeface="微软雅黑" panose="020B0503020204020204" charset="-122"/>
                  <a:cs typeface="微软雅黑" panose="020B0503020204020204" charset="-122"/>
                </a:rPr>
                <a:t>yolo</a:t>
              </a:r>
              <a:endParaRPr lang="en-US" altLang="zh-CN" sz="1000">
                <a:latin typeface="微软雅黑" panose="020B0503020204020204" charset="-122"/>
                <a:ea typeface="微软雅黑" panose="020B0503020204020204" charset="-122"/>
                <a:cs typeface="微软雅黑" panose="020B0503020204020204" charset="-122"/>
              </a:endParaRPr>
            </a:p>
          </p:txBody>
        </p:sp>
        <p:sp>
          <p:nvSpPr>
            <p:cNvPr id="56" name="文本框 55"/>
            <p:cNvSpPr txBox="1"/>
            <p:nvPr/>
          </p:nvSpPr>
          <p:spPr>
            <a:xfrm>
              <a:off x="9506" y="-701"/>
              <a:ext cx="1535" cy="386"/>
            </a:xfrm>
            <a:prstGeom prst="rect">
              <a:avLst/>
            </a:prstGeom>
            <a:noFill/>
          </p:spPr>
          <p:txBody>
            <a:bodyPr wrap="square" rtlCol="0">
              <a:spAutoFit/>
            </a:bodyPr>
            <a:p>
              <a:pPr algn="ctr"/>
              <a:r>
                <a:rPr lang="en-US" altLang="zh-CN" sz="1000">
                  <a:latin typeface="微软雅黑" panose="020B0503020204020204" charset="-122"/>
                  <a:ea typeface="微软雅黑" panose="020B0503020204020204" charset="-122"/>
                  <a:cs typeface="微软雅黑" panose="020B0503020204020204" charset="-122"/>
                </a:rPr>
                <a:t>Transformer</a:t>
              </a:r>
              <a:endParaRPr lang="en-US" altLang="zh-CN" sz="1000">
                <a:latin typeface="微软雅黑" panose="020B0503020204020204" charset="-122"/>
                <a:ea typeface="微软雅黑" panose="020B0503020204020204" charset="-122"/>
                <a:cs typeface="微软雅黑" panose="020B0503020204020204" charset="-122"/>
              </a:endParaRPr>
            </a:p>
          </p:txBody>
        </p:sp>
        <p:sp>
          <p:nvSpPr>
            <p:cNvPr id="57" name="文本框 56"/>
            <p:cNvSpPr txBox="1"/>
            <p:nvPr/>
          </p:nvSpPr>
          <p:spPr>
            <a:xfrm>
              <a:off x="7077" y="-694"/>
              <a:ext cx="1612" cy="386"/>
            </a:xfrm>
            <a:prstGeom prst="rect">
              <a:avLst/>
            </a:prstGeom>
            <a:noFill/>
          </p:spPr>
          <p:txBody>
            <a:bodyPr wrap="square" rtlCol="0">
              <a:spAutoFit/>
            </a:bodyPr>
            <a:p>
              <a:pPr algn="ctr"/>
              <a:r>
                <a:rPr lang="en-US" altLang="zh-CN" sz="1000">
                  <a:latin typeface="微软雅黑" panose="020B0503020204020204" charset="-122"/>
                  <a:ea typeface="微软雅黑" panose="020B0503020204020204" charset="-122"/>
                  <a:cs typeface="微软雅黑" panose="020B0503020204020204" charset="-122"/>
                </a:rPr>
                <a:t>PaddlePaddle</a:t>
              </a:r>
              <a:endParaRPr lang="en-US" altLang="zh-CN" sz="1000">
                <a:latin typeface="微软雅黑" panose="020B0503020204020204" charset="-122"/>
                <a:ea typeface="微软雅黑" panose="020B0503020204020204" charset="-122"/>
                <a:cs typeface="微软雅黑" panose="020B0503020204020204" charset="-122"/>
              </a:endParaRPr>
            </a:p>
          </p:txBody>
        </p:sp>
        <p:sp>
          <p:nvSpPr>
            <p:cNvPr id="58" name="椭圆 57"/>
            <p:cNvSpPr/>
            <p:nvPr/>
          </p:nvSpPr>
          <p:spPr>
            <a:xfrm>
              <a:off x="6632" y="-1350"/>
              <a:ext cx="83" cy="83"/>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9" name="椭圆 58"/>
            <p:cNvSpPr/>
            <p:nvPr/>
          </p:nvSpPr>
          <p:spPr>
            <a:xfrm>
              <a:off x="8377" y="-1456"/>
              <a:ext cx="83" cy="83"/>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60" name="椭圆 59"/>
            <p:cNvSpPr/>
            <p:nvPr/>
          </p:nvSpPr>
          <p:spPr>
            <a:xfrm>
              <a:off x="9825" y="-1433"/>
              <a:ext cx="83" cy="83"/>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61" name="椭圆 60"/>
            <p:cNvSpPr/>
            <p:nvPr/>
          </p:nvSpPr>
          <p:spPr>
            <a:xfrm>
              <a:off x="11537" y="-1350"/>
              <a:ext cx="83" cy="83"/>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62" name="椭圆 61"/>
            <p:cNvSpPr/>
            <p:nvPr/>
          </p:nvSpPr>
          <p:spPr>
            <a:xfrm>
              <a:off x="12679" y="-1080"/>
              <a:ext cx="83" cy="83"/>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63" name="椭圆 62"/>
            <p:cNvSpPr/>
            <p:nvPr/>
          </p:nvSpPr>
          <p:spPr>
            <a:xfrm>
              <a:off x="10144" y="-735"/>
              <a:ext cx="83" cy="83"/>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64" name="椭圆 63"/>
            <p:cNvSpPr/>
            <p:nvPr/>
          </p:nvSpPr>
          <p:spPr>
            <a:xfrm>
              <a:off x="7880" y="-736"/>
              <a:ext cx="83" cy="83"/>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74" name="组合 73"/>
          <p:cNvGrpSpPr/>
          <p:nvPr/>
        </p:nvGrpSpPr>
        <p:grpSpPr>
          <a:xfrm>
            <a:off x="3279140" y="4231005"/>
            <a:ext cx="5798185" cy="681355"/>
            <a:chOff x="20163" y="-2305"/>
            <a:chExt cx="11388" cy="2625"/>
          </a:xfrm>
        </p:grpSpPr>
        <p:sp>
          <p:nvSpPr>
            <p:cNvPr id="68" name="椭圆 67"/>
            <p:cNvSpPr/>
            <p:nvPr/>
          </p:nvSpPr>
          <p:spPr>
            <a:xfrm>
              <a:off x="20163" y="-2305"/>
              <a:ext cx="11388" cy="1757"/>
            </a:xfrm>
            <a:prstGeom prst="ellipse">
              <a:avLst/>
            </a:prstGeom>
            <a:gradFill flip="none" rotWithShape="1">
              <a:gsLst>
                <a:gs pos="100000">
                  <a:schemeClr val="accent1">
                    <a:lumMod val="60000"/>
                    <a:lumOff val="40000"/>
                    <a:alpha val="34000"/>
                  </a:schemeClr>
                </a:gs>
                <a:gs pos="50000">
                  <a:schemeClr val="accent1">
                    <a:lumMod val="60000"/>
                    <a:lumOff val="40000"/>
                    <a:alpha val="0"/>
                  </a:schemeClr>
                </a:gs>
              </a:gsLst>
              <a:path path="circle">
                <a:fillToRect l="50000" t="50000" r="50000" b="50000"/>
              </a:path>
              <a:tileRect/>
            </a:gradFill>
            <a:ln w="15875">
              <a:gradFill>
                <a:gsLst>
                  <a:gs pos="100000">
                    <a:schemeClr val="accent2">
                      <a:alpha val="55000"/>
                    </a:schemeClr>
                  </a:gs>
                  <a:gs pos="1000">
                    <a:schemeClr val="accent2">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cs typeface="微软雅黑" panose="020B0503020204020204" charset="-122"/>
              </a:endParaRPr>
            </a:p>
          </p:txBody>
        </p:sp>
        <p:sp>
          <p:nvSpPr>
            <p:cNvPr id="69" name="任意多边形: 形状 45"/>
            <p:cNvSpPr/>
            <p:nvPr/>
          </p:nvSpPr>
          <p:spPr>
            <a:xfrm>
              <a:off x="20163" y="-1410"/>
              <a:ext cx="11388" cy="1730"/>
            </a:xfrm>
            <a:custGeom>
              <a:avLst/>
              <a:gdLst>
                <a:gd name="connsiteX0" fmla="*/ 0 w 8366289"/>
                <a:gd name="connsiteY0" fmla="*/ 0 h 1152623"/>
                <a:gd name="connsiteX1" fmla="*/ 504884 w 8366289"/>
                <a:gd name="connsiteY1" fmla="*/ 270944 h 1152623"/>
                <a:gd name="connsiteX2" fmla="*/ 594403 w 8366289"/>
                <a:gd name="connsiteY2" fmla="*/ 292100 h 1152623"/>
                <a:gd name="connsiteX3" fmla="*/ 605608 w 8366289"/>
                <a:gd name="connsiteY3" fmla="*/ 294748 h 1152623"/>
                <a:gd name="connsiteX4" fmla="*/ 4183145 w 8366289"/>
                <a:gd name="connsiteY4" fmla="*/ 568423 h 1152623"/>
                <a:gd name="connsiteX5" fmla="*/ 7690172 w 8366289"/>
                <a:gd name="connsiteY5" fmla="*/ 309968 h 1152623"/>
                <a:gd name="connsiteX6" fmla="*/ 7771734 w 8366289"/>
                <a:gd name="connsiteY6" fmla="*/ 292064 h 1152623"/>
                <a:gd name="connsiteX7" fmla="*/ 7793039 w 8366289"/>
                <a:gd name="connsiteY7" fmla="*/ 287387 h 1152623"/>
                <a:gd name="connsiteX8" fmla="*/ 8360847 w 8366289"/>
                <a:gd name="connsiteY8" fmla="*/ 29251 h 1152623"/>
                <a:gd name="connsiteX9" fmla="*/ 8366289 w 8366289"/>
                <a:gd name="connsiteY9" fmla="*/ 6 h 1152623"/>
                <a:gd name="connsiteX10" fmla="*/ 8366289 w 8366289"/>
                <a:gd name="connsiteY10" fmla="*/ 584195 h 1152623"/>
                <a:gd name="connsiteX11" fmla="*/ 8366289 w 8366289"/>
                <a:gd name="connsiteY11" fmla="*/ 584206 h 1152623"/>
                <a:gd name="connsiteX12" fmla="*/ 8360847 w 8366289"/>
                <a:gd name="connsiteY12" fmla="*/ 613451 h 1152623"/>
                <a:gd name="connsiteX13" fmla="*/ 4183145 w 8366289"/>
                <a:gd name="connsiteY13" fmla="*/ 1152623 h 1152623"/>
                <a:gd name="connsiteX14" fmla="*/ 0 w 8366289"/>
                <a:gd name="connsiteY14" fmla="*/ 584200 h 1152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66289" h="1152623">
                  <a:moveTo>
                    <a:pt x="0" y="0"/>
                  </a:moveTo>
                  <a:cubicBezTo>
                    <a:pt x="0" y="98104"/>
                    <a:pt x="182896" y="190403"/>
                    <a:pt x="504884" y="270944"/>
                  </a:cubicBezTo>
                  <a:lnTo>
                    <a:pt x="594403" y="292100"/>
                  </a:lnTo>
                  <a:lnTo>
                    <a:pt x="605608" y="294748"/>
                  </a:lnTo>
                  <a:cubicBezTo>
                    <a:pt x="1339278" y="458823"/>
                    <a:pt x="2667019" y="568423"/>
                    <a:pt x="4183145" y="568423"/>
                  </a:cubicBezTo>
                  <a:cubicBezTo>
                    <a:pt x="5651892" y="568423"/>
                    <a:pt x="6943844" y="465566"/>
                    <a:pt x="7690172" y="309968"/>
                  </a:cubicBezTo>
                  <a:lnTo>
                    <a:pt x="7771734" y="292064"/>
                  </a:lnTo>
                  <a:lnTo>
                    <a:pt x="7793039" y="287387"/>
                  </a:lnTo>
                  <a:cubicBezTo>
                    <a:pt x="8123291" y="210956"/>
                    <a:pt x="8325835" y="123107"/>
                    <a:pt x="8360847" y="29251"/>
                  </a:cubicBezTo>
                  <a:lnTo>
                    <a:pt x="8366289" y="6"/>
                  </a:lnTo>
                  <a:lnTo>
                    <a:pt x="8366289" y="584195"/>
                  </a:lnTo>
                  <a:lnTo>
                    <a:pt x="8366289" y="584206"/>
                  </a:lnTo>
                  <a:lnTo>
                    <a:pt x="8360847" y="613451"/>
                  </a:lnTo>
                  <a:cubicBezTo>
                    <a:pt x="8248809" y="913788"/>
                    <a:pt x="6421236" y="1152623"/>
                    <a:pt x="4183145" y="1152623"/>
                  </a:cubicBezTo>
                  <a:cubicBezTo>
                    <a:pt x="1872858" y="1152623"/>
                    <a:pt x="0" y="898131"/>
                    <a:pt x="0" y="584200"/>
                  </a:cubicBezTo>
                  <a:close/>
                </a:path>
              </a:pathLst>
            </a:custGeom>
            <a:gradFill flip="none" rotWithShape="1">
              <a:gsLst>
                <a:gs pos="100000">
                  <a:schemeClr val="accent1">
                    <a:lumMod val="60000"/>
                    <a:lumOff val="40000"/>
                  </a:schemeClr>
                </a:gs>
                <a:gs pos="0">
                  <a:schemeClr val="accent1">
                    <a:lumMod val="60000"/>
                    <a:lumOff val="40000"/>
                    <a:alpha val="0"/>
                  </a:schemeClr>
                </a:gs>
              </a:gsLst>
              <a:lin ang="5400000" scaled="0"/>
              <a:tileRect/>
            </a:gradFill>
            <a:ln w="15875">
              <a:gradFill>
                <a:gsLst>
                  <a:gs pos="100000">
                    <a:schemeClr val="accent1">
                      <a:lumMod val="60000"/>
                      <a:lumOff val="40000"/>
                    </a:schemeClr>
                  </a:gs>
                  <a:gs pos="28000">
                    <a:schemeClr val="accent1">
                      <a:lumMod val="60000"/>
                      <a:lumOff val="40000"/>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cs typeface="微软雅黑" panose="020B0503020204020204" charset="-122"/>
              </a:endParaRPr>
            </a:p>
          </p:txBody>
        </p:sp>
        <p:sp>
          <p:nvSpPr>
            <p:cNvPr id="70" name="椭圆 69"/>
            <p:cNvSpPr/>
            <p:nvPr/>
          </p:nvSpPr>
          <p:spPr>
            <a:xfrm>
              <a:off x="21389" y="-2103"/>
              <a:ext cx="9019" cy="1321"/>
            </a:xfrm>
            <a:prstGeom prst="ellipse">
              <a:avLst/>
            </a:prstGeom>
            <a:gradFill flip="none" rotWithShape="1">
              <a:gsLst>
                <a:gs pos="100000">
                  <a:schemeClr val="accent1">
                    <a:lumMod val="20000"/>
                    <a:lumOff val="80000"/>
                    <a:alpha val="0"/>
                  </a:schemeClr>
                </a:gs>
                <a:gs pos="1000">
                  <a:schemeClr val="accent1">
                    <a:lumMod val="40000"/>
                    <a:lumOff val="60000"/>
                    <a:alpha val="30000"/>
                  </a:schemeClr>
                </a:gs>
              </a:gsLst>
              <a:path path="circle">
                <a:fillToRect l="100000" t="100000"/>
              </a:path>
              <a:tileRect r="-100000" b="-100000"/>
            </a:gradFill>
            <a:ln w="12700">
              <a:gradFill>
                <a:gsLst>
                  <a:gs pos="100000">
                    <a:schemeClr val="accent1">
                      <a:lumMod val="60000"/>
                      <a:lumOff val="40000"/>
                    </a:schemeClr>
                  </a:gs>
                  <a:gs pos="1000">
                    <a:schemeClr val="accent1">
                      <a:lumMod val="60000"/>
                      <a:lumOff val="40000"/>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cs typeface="微软雅黑" panose="020B0503020204020204" charset="-122"/>
                <a:sym typeface="+mn-ea"/>
              </a:endParaRPr>
            </a:p>
          </p:txBody>
        </p:sp>
      </p:grpSp>
      <p:sp>
        <p:nvSpPr>
          <p:cNvPr id="77" name="文本框 76"/>
          <p:cNvSpPr txBox="1"/>
          <p:nvPr/>
        </p:nvSpPr>
        <p:spPr>
          <a:xfrm>
            <a:off x="5207635" y="4328160"/>
            <a:ext cx="1885950" cy="337185"/>
          </a:xfrm>
          <a:prstGeom prst="rect">
            <a:avLst/>
          </a:prstGeom>
          <a:noFill/>
        </p:spPr>
        <p:txBody>
          <a:bodyPr wrap="square" rtlCol="0">
            <a:spAutoFit/>
          </a:bodyPr>
          <a:p>
            <a:pPr algn="ctr"/>
            <a:r>
              <a:rPr lang="en-US" sz="16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AI</a:t>
            </a:r>
            <a:r>
              <a:rPr lang="zh-CN" altLang="en-US" sz="16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关键技术</a:t>
            </a:r>
            <a:endParaRPr lang="zh-CN" altLang="en-US" sz="16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endParaRPr>
          </a:p>
        </p:txBody>
      </p:sp>
      <p:sp>
        <p:nvSpPr>
          <p:cNvPr id="80" name="文本框 79"/>
          <p:cNvSpPr txBox="1"/>
          <p:nvPr/>
        </p:nvSpPr>
        <p:spPr>
          <a:xfrm>
            <a:off x="2717800" y="4386580"/>
            <a:ext cx="975995" cy="300355"/>
          </a:xfrm>
          <a:prstGeom prst="roundRect">
            <a:avLst>
              <a:gd name="adj" fmla="val 50000"/>
            </a:avLst>
          </a:prstGeom>
          <a:solidFill>
            <a:schemeClr val="bg1"/>
          </a:solidFill>
          <a:ln w="12700" cap="flat" cmpd="sng" algn="ctr">
            <a:solidFill>
              <a:schemeClr val="accent1">
                <a:lumMod val="60000"/>
                <a:lumOff val="40000"/>
              </a:schemeClr>
            </a:solidFill>
            <a:prstDash val="solid"/>
            <a:miter lim="800000"/>
          </a:ln>
          <a:effectLst/>
        </p:spPr>
        <p:txBody>
          <a:bodyPr rtlCol="0" anchor="ctr"/>
          <a:lstStyle>
            <a:defPPr>
              <a:defRPr lang="en-US"/>
            </a:defPPr>
            <a:lvl1pPr algn="ctr">
              <a:defRPr kumimoji="1" sz="1400" b="1">
                <a:solidFill>
                  <a:schemeClr val="accent1"/>
                </a:solidFill>
                <a:latin typeface="+mn-ea"/>
              </a:defRPr>
            </a:lvl1pPr>
          </a:lstStyle>
          <a:p>
            <a:r>
              <a:rPr lang="zh-CN" altLang="en-US" sz="1200" dirty="0">
                <a:solidFill>
                  <a:schemeClr val="accent1">
                    <a:lumMod val="60000"/>
                    <a:lumOff val="40000"/>
                  </a:schemeClr>
                </a:solidFill>
                <a:cs typeface="微软雅黑" panose="020B0503020204020204" charset="-122"/>
                <a:sym typeface="微软雅黑" panose="020B0503020204020204" charset="-122"/>
              </a:rPr>
              <a:t>图像识别</a:t>
            </a:r>
            <a:endParaRPr lang="zh-CN" altLang="en-US" sz="1200" dirty="0">
              <a:solidFill>
                <a:schemeClr val="accent1">
                  <a:lumMod val="60000"/>
                  <a:lumOff val="40000"/>
                </a:schemeClr>
              </a:solidFill>
              <a:cs typeface="微软雅黑" panose="020B0503020204020204" charset="-122"/>
              <a:sym typeface="微软雅黑" panose="020B0503020204020204" charset="-122"/>
            </a:endParaRPr>
          </a:p>
        </p:txBody>
      </p:sp>
      <p:sp>
        <p:nvSpPr>
          <p:cNvPr id="161" name="文本框 160"/>
          <p:cNvSpPr txBox="1"/>
          <p:nvPr/>
        </p:nvSpPr>
        <p:spPr>
          <a:xfrm>
            <a:off x="782955" y="4081145"/>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文字识别</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162" name="文本框 161"/>
          <p:cNvSpPr txBox="1"/>
          <p:nvPr/>
        </p:nvSpPr>
        <p:spPr>
          <a:xfrm>
            <a:off x="782955" y="4428490"/>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影像识别</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163" name="文本框 162"/>
          <p:cNvSpPr txBox="1"/>
          <p:nvPr/>
        </p:nvSpPr>
        <p:spPr>
          <a:xfrm>
            <a:off x="782955" y="4775835"/>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目标检测</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164" name="文本框 163"/>
          <p:cNvSpPr txBox="1"/>
          <p:nvPr/>
        </p:nvSpPr>
        <p:spPr>
          <a:xfrm>
            <a:off x="1593215" y="4231005"/>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人脸识别</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165" name="文本框 164"/>
          <p:cNvSpPr txBox="1"/>
          <p:nvPr/>
        </p:nvSpPr>
        <p:spPr>
          <a:xfrm>
            <a:off x="1593215" y="4530725"/>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图像检索</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166" name="梯形 165"/>
          <p:cNvSpPr/>
          <p:nvPr/>
        </p:nvSpPr>
        <p:spPr>
          <a:xfrm rot="16200000" flipH="1">
            <a:off x="9591675" y="3209290"/>
            <a:ext cx="1739265" cy="2574290"/>
          </a:xfrm>
          <a:prstGeom prst="trapezoid">
            <a:avLst>
              <a:gd name="adj" fmla="val 34921"/>
            </a:avLst>
          </a:prstGeom>
          <a:gradFill>
            <a:gsLst>
              <a:gs pos="0">
                <a:schemeClr val="accent1">
                  <a:lumMod val="60000"/>
                  <a:lumOff val="40000"/>
                  <a:alpha val="50000"/>
                </a:schemeClr>
              </a:gs>
              <a:gs pos="100000">
                <a:schemeClr val="accent1">
                  <a:lumMod val="40000"/>
                  <a:lumOff val="60000"/>
                  <a:alpha val="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67" name="文本框 166"/>
          <p:cNvSpPr txBox="1"/>
          <p:nvPr/>
        </p:nvSpPr>
        <p:spPr>
          <a:xfrm>
            <a:off x="8759190" y="4326255"/>
            <a:ext cx="975995" cy="300355"/>
          </a:xfrm>
          <a:prstGeom prst="roundRect">
            <a:avLst>
              <a:gd name="adj" fmla="val 50000"/>
            </a:avLst>
          </a:prstGeom>
          <a:solidFill>
            <a:schemeClr val="bg1"/>
          </a:solidFill>
          <a:ln w="12700" cap="flat" cmpd="sng" algn="ctr">
            <a:solidFill>
              <a:schemeClr val="accent1">
                <a:lumMod val="60000"/>
                <a:lumOff val="40000"/>
              </a:schemeClr>
            </a:solidFill>
            <a:prstDash val="solid"/>
            <a:miter lim="800000"/>
          </a:ln>
          <a:effectLst/>
        </p:spPr>
        <p:txBody>
          <a:bodyPr rtlCol="0" anchor="ctr"/>
          <a:lstStyle>
            <a:defPPr>
              <a:defRPr lang="en-US"/>
            </a:defPPr>
            <a:lvl1pPr algn="ctr">
              <a:defRPr kumimoji="1" sz="1400" b="1">
                <a:solidFill>
                  <a:schemeClr val="accent1"/>
                </a:solidFill>
                <a:latin typeface="+mn-ea"/>
              </a:defRPr>
            </a:lvl1pPr>
          </a:lstStyle>
          <a:p>
            <a:r>
              <a:rPr lang="zh-CN" altLang="en-US" sz="1200" dirty="0">
                <a:solidFill>
                  <a:schemeClr val="accent1">
                    <a:lumMod val="60000"/>
                    <a:lumOff val="40000"/>
                  </a:schemeClr>
                </a:solidFill>
                <a:cs typeface="微软雅黑" panose="020B0503020204020204" charset="-122"/>
                <a:sym typeface="微软雅黑" panose="020B0503020204020204" charset="-122"/>
              </a:rPr>
              <a:t>自然语言</a:t>
            </a:r>
            <a:endParaRPr lang="zh-CN" altLang="en-US" sz="1200" dirty="0">
              <a:solidFill>
                <a:schemeClr val="accent1">
                  <a:lumMod val="60000"/>
                  <a:lumOff val="40000"/>
                </a:schemeClr>
              </a:solidFill>
              <a:cs typeface="微软雅黑" panose="020B0503020204020204" charset="-122"/>
              <a:sym typeface="微软雅黑" panose="020B0503020204020204" charset="-122"/>
            </a:endParaRPr>
          </a:p>
        </p:txBody>
      </p:sp>
      <p:sp>
        <p:nvSpPr>
          <p:cNvPr id="168" name="矩形 167"/>
          <p:cNvSpPr/>
          <p:nvPr/>
        </p:nvSpPr>
        <p:spPr>
          <a:xfrm>
            <a:off x="5620385" y="4064635"/>
            <a:ext cx="1122680" cy="261620"/>
          </a:xfrm>
          <a:prstGeom prst="rect">
            <a:avLst/>
          </a:prstGeom>
          <a:gradFill>
            <a:gsLst>
              <a:gs pos="0">
                <a:schemeClr val="accent1"/>
              </a:gs>
              <a:gs pos="7800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sz="1200">
                <a:latin typeface="微软雅黑" panose="020B0503020204020204" charset="-122"/>
                <a:ea typeface="微软雅黑" panose="020B0503020204020204" charset="-122"/>
                <a:cs typeface="微软雅黑" panose="020B0503020204020204" charset="-122"/>
              </a:rPr>
              <a:t>语音处理</a:t>
            </a:r>
            <a:endParaRPr lang="zh-CN" sz="1200">
              <a:latin typeface="微软雅黑" panose="020B0503020204020204" charset="-122"/>
              <a:ea typeface="微软雅黑" panose="020B0503020204020204" charset="-122"/>
              <a:cs typeface="微软雅黑" panose="020B0503020204020204" charset="-122"/>
            </a:endParaRPr>
          </a:p>
        </p:txBody>
      </p:sp>
      <p:sp>
        <p:nvSpPr>
          <p:cNvPr id="169" name="文本框 168"/>
          <p:cNvSpPr txBox="1"/>
          <p:nvPr/>
        </p:nvSpPr>
        <p:spPr>
          <a:xfrm>
            <a:off x="10788650" y="3992245"/>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关系抽取</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170" name="文本框 169"/>
          <p:cNvSpPr txBox="1"/>
          <p:nvPr/>
        </p:nvSpPr>
        <p:spPr>
          <a:xfrm>
            <a:off x="10788650" y="4297680"/>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知识图谱</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172" name="文本框 171"/>
          <p:cNvSpPr txBox="1"/>
          <p:nvPr/>
        </p:nvSpPr>
        <p:spPr>
          <a:xfrm>
            <a:off x="9983470" y="4237355"/>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语义理解</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173" name="文本框 172"/>
          <p:cNvSpPr txBox="1"/>
          <p:nvPr/>
        </p:nvSpPr>
        <p:spPr>
          <a:xfrm>
            <a:off x="9983470" y="4542790"/>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实体提取</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174" name="文本框 173"/>
          <p:cNvSpPr txBox="1"/>
          <p:nvPr/>
        </p:nvSpPr>
        <p:spPr>
          <a:xfrm>
            <a:off x="4535805" y="4955540"/>
            <a:ext cx="3318510" cy="275590"/>
          </a:xfrm>
          <a:prstGeom prst="rect">
            <a:avLst/>
          </a:prstGeom>
          <a:noFill/>
        </p:spPr>
        <p:txBody>
          <a:bodyPr wrap="square" rtlCol="0">
            <a:spAutoFit/>
          </a:bodyPr>
          <a:p>
            <a:pPr algn="ctr"/>
            <a:r>
              <a:rPr lang="zh-CN" sz="1200" b="1">
                <a:solidFill>
                  <a:schemeClr val="accent1"/>
                </a:solidFill>
                <a:latin typeface="微软雅黑" panose="020B0503020204020204" charset="-122"/>
                <a:ea typeface="微软雅黑" panose="020B0503020204020204" charset="-122"/>
                <a:cs typeface="微软雅黑" panose="020B0503020204020204" charset="-122"/>
              </a:rPr>
              <a:t>通用数据集</a:t>
            </a:r>
            <a:r>
              <a:rPr lang="en-US" altLang="zh-CN" sz="1200" b="1">
                <a:solidFill>
                  <a:schemeClr val="accent1"/>
                </a:solidFill>
                <a:latin typeface="微软雅黑" panose="020B0503020204020204" charset="-122"/>
                <a:ea typeface="微软雅黑" panose="020B0503020204020204" charset="-122"/>
                <a:cs typeface="微软雅黑" panose="020B0503020204020204" charset="-122"/>
              </a:rPr>
              <a:t> </a:t>
            </a: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构建深度学习网络</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75" name="文本框 174"/>
          <p:cNvSpPr txBox="1"/>
          <p:nvPr/>
        </p:nvSpPr>
        <p:spPr>
          <a:xfrm>
            <a:off x="4485640" y="3429000"/>
            <a:ext cx="3640455" cy="275590"/>
          </a:xfrm>
          <a:prstGeom prst="rect">
            <a:avLst/>
          </a:prstGeom>
          <a:noFill/>
        </p:spPr>
        <p:txBody>
          <a:bodyPr wrap="square" rtlCol="0">
            <a:spAutoFit/>
          </a:bodyPr>
          <a:p>
            <a:pPr algn="ctr"/>
            <a:r>
              <a:rPr lang="zh-CN" sz="12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业务场景挖掘</a:t>
            </a:r>
            <a:r>
              <a:rPr lang="en-US" altLang="zh-CN" sz="12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 </a:t>
            </a:r>
            <a:r>
              <a:rPr lang="zh-CN" altLang="en-US" sz="12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行业纵向拟合</a:t>
            </a:r>
            <a:r>
              <a:rPr lang="en-US" altLang="zh-CN" sz="12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 </a:t>
            </a:r>
            <a:r>
              <a:rPr lang="zh-CN" altLang="en-US" sz="12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深度适配</a:t>
            </a:r>
            <a:endParaRPr lang="zh-CN" altLang="en-US" sz="12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endParaRPr>
          </a:p>
        </p:txBody>
      </p:sp>
      <p:sp>
        <p:nvSpPr>
          <p:cNvPr id="176" name="文本框 175"/>
          <p:cNvSpPr txBox="1"/>
          <p:nvPr/>
        </p:nvSpPr>
        <p:spPr>
          <a:xfrm>
            <a:off x="4944745" y="3704590"/>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语音识别</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177" name="文本框 176"/>
          <p:cNvSpPr txBox="1"/>
          <p:nvPr/>
        </p:nvSpPr>
        <p:spPr>
          <a:xfrm>
            <a:off x="5633085" y="3819525"/>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声纹识别</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178" name="文本框 177"/>
          <p:cNvSpPr txBox="1"/>
          <p:nvPr/>
        </p:nvSpPr>
        <p:spPr>
          <a:xfrm>
            <a:off x="6305550" y="3701415"/>
            <a:ext cx="97472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原声转读</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179" name="上箭头 178"/>
          <p:cNvSpPr/>
          <p:nvPr/>
        </p:nvSpPr>
        <p:spPr>
          <a:xfrm>
            <a:off x="3404235" y="3591560"/>
            <a:ext cx="438150" cy="534035"/>
          </a:xfrm>
          <a:prstGeom prst="upArrow">
            <a:avLst/>
          </a:prstGeom>
          <a:gradFill>
            <a:gsLst>
              <a:gs pos="0">
                <a:schemeClr val="accent1">
                  <a:lumMod val="60000"/>
                  <a:lumOff val="40000"/>
                </a:schemeClr>
              </a:gs>
              <a:gs pos="100000">
                <a:schemeClr val="accent1">
                  <a:lumMod val="60000"/>
                  <a:lumOff val="40000"/>
                  <a:alpha val="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80" name="上箭头 179"/>
          <p:cNvSpPr/>
          <p:nvPr/>
        </p:nvSpPr>
        <p:spPr>
          <a:xfrm>
            <a:off x="8495665" y="3591560"/>
            <a:ext cx="438150" cy="534035"/>
          </a:xfrm>
          <a:prstGeom prst="upArrow">
            <a:avLst/>
          </a:prstGeom>
          <a:gradFill>
            <a:gsLst>
              <a:gs pos="0">
                <a:schemeClr val="accent1">
                  <a:lumMod val="60000"/>
                  <a:lumOff val="40000"/>
                </a:schemeClr>
              </a:gs>
              <a:gs pos="100000">
                <a:schemeClr val="accent1">
                  <a:lumMod val="60000"/>
                  <a:lumOff val="40000"/>
                  <a:alpha val="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81" name="上箭头 180"/>
          <p:cNvSpPr/>
          <p:nvPr/>
        </p:nvSpPr>
        <p:spPr>
          <a:xfrm>
            <a:off x="3404235" y="4878070"/>
            <a:ext cx="438150" cy="534035"/>
          </a:xfrm>
          <a:prstGeom prst="upArrow">
            <a:avLst/>
          </a:prstGeom>
          <a:gradFill>
            <a:gsLst>
              <a:gs pos="0">
                <a:schemeClr val="accent1">
                  <a:lumMod val="60000"/>
                  <a:lumOff val="40000"/>
                </a:schemeClr>
              </a:gs>
              <a:gs pos="100000">
                <a:schemeClr val="accent1">
                  <a:lumMod val="60000"/>
                  <a:lumOff val="40000"/>
                  <a:alpha val="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82" name="上箭头 181"/>
          <p:cNvSpPr/>
          <p:nvPr/>
        </p:nvSpPr>
        <p:spPr>
          <a:xfrm>
            <a:off x="8495665" y="4878070"/>
            <a:ext cx="438150" cy="534035"/>
          </a:xfrm>
          <a:prstGeom prst="upArrow">
            <a:avLst/>
          </a:prstGeom>
          <a:gradFill>
            <a:gsLst>
              <a:gs pos="0">
                <a:schemeClr val="accent1">
                  <a:lumMod val="60000"/>
                  <a:lumOff val="40000"/>
                </a:schemeClr>
              </a:gs>
              <a:gs pos="100000">
                <a:schemeClr val="accent1">
                  <a:lumMod val="60000"/>
                  <a:lumOff val="40000"/>
                  <a:alpha val="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83" name="文本框 182"/>
          <p:cNvSpPr txBox="1"/>
          <p:nvPr/>
        </p:nvSpPr>
        <p:spPr>
          <a:xfrm>
            <a:off x="10915650" y="4626610"/>
            <a:ext cx="772160"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认知进化</a:t>
            </a:r>
            <a:endParaRPr lang="zh-CN" altLang="en-US" sz="1000">
              <a:latin typeface="微软雅黑" panose="020B0503020204020204" charset="-122"/>
              <a:ea typeface="微软雅黑" panose="020B0503020204020204" charset="-122"/>
              <a:cs typeface="微软雅黑" panose="020B0503020204020204" charset="-122"/>
            </a:endParaRPr>
          </a:p>
        </p:txBody>
      </p:sp>
      <p:pic>
        <p:nvPicPr>
          <p:cNvPr id="4" name="图片 3"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6" name="组合 5"/>
          <p:cNvGrpSpPr/>
          <p:nvPr/>
        </p:nvGrpSpPr>
        <p:grpSpPr>
          <a:xfrm>
            <a:off x="8738235" y="348615"/>
            <a:ext cx="3219450" cy="332740"/>
            <a:chOff x="13761" y="549"/>
            <a:chExt cx="5070" cy="524"/>
          </a:xfrm>
        </p:grpSpPr>
        <p:pic>
          <p:nvPicPr>
            <p:cNvPr id="7" name="图片 6"/>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8" name="文本框 7"/>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
        <p:nvSpPr>
          <p:cNvPr id="9" name="文本框 8"/>
          <p:cNvSpPr txBox="1"/>
          <p:nvPr/>
        </p:nvSpPr>
        <p:spPr>
          <a:xfrm>
            <a:off x="3039110" y="6370003"/>
            <a:ext cx="2609850" cy="306705"/>
          </a:xfrm>
          <a:prstGeom prst="rect">
            <a:avLst/>
          </a:prstGeom>
          <a:noFill/>
        </p:spPr>
        <p:txBody>
          <a:bodyPr wrap="square" rtlCol="0">
            <a:spAutoFit/>
          </a:bodyPr>
          <a:p>
            <a:pPr algn="ctr"/>
            <a:r>
              <a:rPr lang="zh-CN" altLang="en-US" sz="1400">
                <a:solidFill>
                  <a:schemeClr val="bg1"/>
                </a:solidFill>
                <a:latin typeface="微软雅黑" panose="020B0503020204020204" charset="-122"/>
                <a:ea typeface="微软雅黑" panose="020B0503020204020204" charset="-122"/>
                <a:cs typeface="微软雅黑" panose="020B0503020204020204" charset="-122"/>
                <a:sym typeface="+mn-ea"/>
              </a:rPr>
              <a:t>智能算力矩阵（大数据集群）</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0" name="文本框 9"/>
          <p:cNvSpPr txBox="1"/>
          <p:nvPr/>
        </p:nvSpPr>
        <p:spPr>
          <a:xfrm>
            <a:off x="6900545" y="6370003"/>
            <a:ext cx="2609850" cy="306705"/>
          </a:xfrm>
          <a:prstGeom prst="rect">
            <a:avLst/>
          </a:prstGeom>
          <a:noFill/>
        </p:spPr>
        <p:txBody>
          <a:bodyPr wrap="square" rtlCol="0">
            <a:spAutoFit/>
          </a:bodyPr>
          <a:p>
            <a:pPr lvl="0" algn="ctr">
              <a:buClrTx/>
              <a:buSzTx/>
              <a:buFontTx/>
            </a:pPr>
            <a:r>
              <a:rPr lang="zh-CN" altLang="en-US" sz="1400">
                <a:solidFill>
                  <a:schemeClr val="bg1"/>
                </a:solidFill>
                <a:latin typeface="微软雅黑" panose="020B0503020204020204" charset="-122"/>
                <a:ea typeface="微软雅黑" panose="020B0503020204020204" charset="-122"/>
                <a:cs typeface="微软雅黑" panose="020B0503020204020204" charset="-122"/>
                <a:sym typeface="+mn-ea"/>
              </a:rPr>
              <a:t>弹性AI算力服务</a:t>
            </a:r>
            <a:endParaRPr lang="zh-CN" altLang="en-US" sz="14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cxnSp>
        <p:nvCxnSpPr>
          <p:cNvPr id="11" name="直接连接符 10"/>
          <p:cNvCxnSpPr>
            <a:stCxn id="15" idx="0"/>
            <a:endCxn id="15" idx="2"/>
          </p:cNvCxnSpPr>
          <p:nvPr/>
        </p:nvCxnSpPr>
        <p:spPr>
          <a:xfrm>
            <a:off x="6178550" y="6348095"/>
            <a:ext cx="0" cy="350520"/>
          </a:xfrm>
          <a:prstGeom prst="line">
            <a:avLst/>
          </a:prstGeom>
          <a:ln w="25400">
            <a:solidFill>
              <a:schemeClr val="bg1"/>
            </a:solidFill>
          </a:ln>
        </p:spPr>
        <p:style>
          <a:lnRef idx="2">
            <a:schemeClr val="accent1"/>
          </a:lnRef>
          <a:fillRef idx="0">
            <a:srgbClr val="FFFFFF"/>
          </a:fillRef>
          <a:effectRef idx="0">
            <a:srgbClr val="FFFFFF"/>
          </a:effectRef>
          <a:fontRef idx="minor">
            <a:schemeClr val="tx1"/>
          </a:fontRef>
        </p:style>
      </p:cxnSp>
      <p:sp>
        <p:nvSpPr>
          <p:cNvPr id="12" name="文本框 11"/>
          <p:cNvSpPr txBox="1"/>
          <p:nvPr/>
        </p:nvSpPr>
        <p:spPr>
          <a:xfrm>
            <a:off x="5363210" y="5605145"/>
            <a:ext cx="1885950" cy="337185"/>
          </a:xfrm>
          <a:prstGeom prst="rect">
            <a:avLst/>
          </a:prstGeom>
          <a:noFill/>
        </p:spPr>
        <p:txBody>
          <a:bodyPr wrap="square" rtlCol="0">
            <a:spAutoFit/>
          </a:bodyPr>
          <a:p>
            <a:pPr algn="ctr"/>
            <a:r>
              <a:rPr lang="en-US" sz="1600" b="1">
                <a:solidFill>
                  <a:schemeClr val="accent1"/>
                </a:solidFill>
                <a:latin typeface="微软雅黑" panose="020B0503020204020204" charset="-122"/>
                <a:ea typeface="微软雅黑" panose="020B0503020204020204" charset="-122"/>
                <a:cs typeface="微软雅黑" panose="020B0503020204020204" charset="-122"/>
              </a:rPr>
              <a:t>AI</a:t>
            </a:r>
            <a:r>
              <a:rPr lang="zh-CN" altLang="en-US" sz="1600" b="1">
                <a:solidFill>
                  <a:schemeClr val="accent1"/>
                </a:solidFill>
                <a:latin typeface="微软雅黑" panose="020B0503020204020204" charset="-122"/>
                <a:ea typeface="微软雅黑" panose="020B0503020204020204" charset="-122"/>
                <a:cs typeface="微软雅黑" panose="020B0503020204020204" charset="-122"/>
              </a:rPr>
              <a:t>基础平台</a:t>
            </a:r>
            <a:endParaRPr lang="zh-CN" altLang="en-US" sz="1600" b="1">
              <a:solidFill>
                <a:schemeClr val="accent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8" name="组合 117"/>
          <p:cNvGrpSpPr/>
          <p:nvPr/>
        </p:nvGrpSpPr>
        <p:grpSpPr>
          <a:xfrm>
            <a:off x="1471295" y="5592445"/>
            <a:ext cx="9444355" cy="1049020"/>
            <a:chOff x="589" y="3472"/>
            <a:chExt cx="18020" cy="3336"/>
          </a:xfrm>
        </p:grpSpPr>
        <p:sp>
          <p:nvSpPr>
            <p:cNvPr id="119" name="显眼包PPT1"/>
            <p:cNvSpPr/>
            <p:nvPr/>
          </p:nvSpPr>
          <p:spPr>
            <a:xfrm>
              <a:off x="589" y="3472"/>
              <a:ext cx="18021" cy="3336"/>
            </a:xfrm>
            <a:prstGeom prst="ellipse">
              <a:avLst/>
            </a:prstGeom>
            <a:gradFill flip="none" rotWithShape="1">
              <a:gsLst>
                <a:gs pos="0">
                  <a:schemeClr val="accent1">
                    <a:lumMod val="40000"/>
                    <a:lumOff val="60000"/>
                  </a:schemeClr>
                </a:gs>
                <a:gs pos="82000">
                  <a:schemeClr val="accent1">
                    <a:lumMod val="20000"/>
                    <a:lumOff val="80000"/>
                    <a:alpha val="0"/>
                  </a:schemeClr>
                </a:gs>
              </a:gsLst>
              <a:lin ang="16200000" scaled="1"/>
              <a:tileRect/>
            </a:gradFill>
            <a:ln w="25400">
              <a:noFill/>
            </a:ln>
            <a:scene3d>
              <a:camera prst="orthographicFront"/>
              <a:lightRig rig="threePt" dir="t"/>
            </a:scene3d>
            <a:sp3d extrusionH="571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0" name="显眼包PPT2"/>
            <p:cNvSpPr/>
            <p:nvPr/>
          </p:nvSpPr>
          <p:spPr>
            <a:xfrm>
              <a:off x="1200" y="3488"/>
              <a:ext cx="16800" cy="2791"/>
            </a:xfrm>
            <a:prstGeom prst="ellipse">
              <a:avLst/>
            </a:prstGeom>
            <a:gradFill>
              <a:gsLst>
                <a:gs pos="37000">
                  <a:schemeClr val="bg1">
                    <a:alpha val="0"/>
                  </a:schemeClr>
                </a:gs>
                <a:gs pos="77000">
                  <a:schemeClr val="bg1"/>
                </a:gs>
              </a:gsLst>
              <a:lin ang="5400000" scaled="1"/>
            </a:gradFill>
            <a:ln w="38100">
              <a:gradFill>
                <a:gsLst>
                  <a:gs pos="0">
                    <a:schemeClr val="bg1">
                      <a:alpha val="0"/>
                    </a:schemeClr>
                  </a:gs>
                  <a:gs pos="100000">
                    <a:schemeClr val="bg1"/>
                  </a:gs>
                </a:gsLst>
                <a:lin ang="5400000" scaled="1"/>
              </a:gradFill>
            </a:ln>
            <a:scene3d>
              <a:camera prst="orthographicFront"/>
              <a:lightRig rig="threePt" dir="t"/>
            </a:scene3d>
            <a:sp3d extrusionH="571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pic>
        <p:nvPicPr>
          <p:cNvPr id="210" name="图片 20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 name="标题 2"/>
          <p:cNvSpPr>
            <a:spLocks noGrp="1"/>
          </p:cNvSpPr>
          <p:nvPr/>
        </p:nvSpPr>
        <p:spPr>
          <a:xfrm>
            <a:off x="1105535" y="348298"/>
            <a:ext cx="7352665"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多层平台架构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晋升汇报</a:t>
            </a:r>
            <a:r>
              <a:rPr lang="en-US" altLang="zh-CN" sz="2500" dirty="0">
                <a:solidFill>
                  <a:schemeClr val="tx2"/>
                </a:solidFill>
                <a:effectLst/>
                <a:latin typeface="微软雅黑" panose="020B0503020204020204" charset="-122"/>
                <a:ea typeface="微软雅黑" panose="020B0503020204020204" charset="-122"/>
                <a:cs typeface="微软雅黑" panose="020B0503020204020204" charset="-122"/>
              </a:rPr>
              <a:t>-</a:t>
            </a:r>
            <a:r>
              <a:rPr sz="2500" dirty="0">
                <a:solidFill>
                  <a:schemeClr val="tx2"/>
                </a:solidFill>
                <a:effectLst/>
                <a:latin typeface="微软雅黑" panose="020B0503020204020204" charset="-122"/>
                <a:ea typeface="微软雅黑" panose="020B0503020204020204" charset="-122"/>
                <a:cs typeface="微软雅黑" panose="020B0503020204020204" charset="-122"/>
              </a:rPr>
              <a:t>个人能力成长</a:t>
            </a:r>
            <a:endParaRPr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nvGrpSpPr>
          <p:cNvPr id="3" name="组合 2"/>
          <p:cNvGrpSpPr/>
          <p:nvPr/>
        </p:nvGrpSpPr>
        <p:grpSpPr>
          <a:xfrm>
            <a:off x="8738235" y="348615"/>
            <a:ext cx="3219450" cy="332740"/>
            <a:chOff x="13761" y="549"/>
            <a:chExt cx="5070" cy="524"/>
          </a:xfrm>
        </p:grpSpPr>
        <p:pic>
          <p:nvPicPr>
            <p:cNvPr id="6" name="图片 5"/>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2" name="文本框 11"/>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
        <p:nvSpPr>
          <p:cNvPr id="94" name="任意多边形 93"/>
          <p:cNvSpPr/>
          <p:nvPr/>
        </p:nvSpPr>
        <p:spPr>
          <a:xfrm rot="5400000" flipH="1">
            <a:off x="4169728" y="728663"/>
            <a:ext cx="3873500" cy="5536565"/>
          </a:xfrm>
          <a:custGeom>
            <a:avLst/>
            <a:gdLst>
              <a:gd name="adj" fmla="val 16375"/>
              <a:gd name="maxAdj" fmla="*/ 100000 w ss"/>
              <a:gd name="a" fmla="pin 0 adj maxAdj"/>
              <a:gd name="dx1" fmla="*/ ss a 100000"/>
              <a:gd name="x1" fmla="+- r 0 dx1"/>
              <a:gd name="ir" fmla="+/ x1 r 2"/>
              <a:gd name="x2" fmla="*/ x1 1 2"/>
            </a:gdLst>
            <a:ahLst/>
            <a:cxnLst>
              <a:cxn ang="3">
                <a:pos x="x2" y="t"/>
              </a:cxn>
              <a:cxn ang="cd2">
                <a:pos x="l" y="vc"/>
              </a:cxn>
              <a:cxn ang="cd4">
                <a:pos x="x1" y="b"/>
              </a:cxn>
              <a:cxn ang="0">
                <a:pos x="r" y="vc"/>
              </a:cxn>
            </a:cxnLst>
            <a:rect l="l" t="t" r="r" b="b"/>
            <a:pathLst>
              <a:path w="6100" h="8719">
                <a:moveTo>
                  <a:pt x="2060" y="2531"/>
                </a:moveTo>
                <a:lnTo>
                  <a:pt x="5504" y="2531"/>
                </a:lnTo>
                <a:lnTo>
                  <a:pt x="6100" y="4352"/>
                </a:lnTo>
                <a:lnTo>
                  <a:pt x="5504" y="6173"/>
                </a:lnTo>
                <a:lnTo>
                  <a:pt x="2074" y="6173"/>
                </a:lnTo>
                <a:lnTo>
                  <a:pt x="2074" y="6176"/>
                </a:lnTo>
                <a:cubicBezTo>
                  <a:pt x="1371" y="6705"/>
                  <a:pt x="551" y="7755"/>
                  <a:pt x="0" y="8719"/>
                </a:cubicBezTo>
                <a:lnTo>
                  <a:pt x="0" y="0"/>
                </a:lnTo>
                <a:cubicBezTo>
                  <a:pt x="596" y="1056"/>
                  <a:pt x="1431" y="2054"/>
                  <a:pt x="2060" y="2531"/>
                </a:cubicBezTo>
                <a:close/>
              </a:path>
            </a:pathLst>
          </a:custGeom>
          <a:gradFill>
            <a:gsLst>
              <a:gs pos="28000">
                <a:schemeClr val="bg1">
                  <a:alpha val="0"/>
                </a:schemeClr>
              </a:gs>
              <a:gs pos="77000">
                <a:schemeClr val="accent1">
                  <a:lumMod val="20000"/>
                  <a:lumOff val="80000"/>
                </a:schemeClr>
              </a:gs>
              <a:gs pos="100000">
                <a:schemeClr val="accent1">
                  <a:lumMod val="20000"/>
                  <a:lumOff val="80000"/>
                  <a:alpha val="0"/>
                </a:schemeClr>
              </a:gs>
            </a:gsLst>
            <a:lin ang="10800000" scaled="0"/>
          </a:gradFill>
          <a:ln w="76200" cap="flat">
            <a:noFill/>
            <a:prstDash val="solid"/>
            <a:miter/>
          </a:ln>
        </p:spPr>
        <p:txBody>
          <a:bodyPr wrap="square" rtlCol="0" anchor="ctr">
            <a:noAutofit/>
          </a:bodyPr>
          <a:lstStyle/>
          <a:p>
            <a:pPr lvl="0" algn="l">
              <a:spcBef>
                <a:spcPts val="0"/>
              </a:spcBef>
              <a:spcAft>
                <a:spcPts val="0"/>
              </a:spcAft>
              <a:buClrTx/>
              <a:buSzTx/>
              <a:buFontTx/>
              <a:defRPr/>
            </a:pPr>
            <a:endParaRPr lang="en-US" altLang="zh-CN" noProof="0">
              <a:ln>
                <a:noFill/>
              </a:ln>
              <a:solidFill>
                <a:srgbClr val="313131"/>
              </a:solidFill>
              <a:effectLst/>
              <a:uLnTx/>
              <a:uFillTx/>
              <a:latin typeface="微软雅黑" panose="020B0503020204020204" charset="-122"/>
              <a:ea typeface="微软雅黑" panose="020B0503020204020204" charset="-122"/>
              <a:cs typeface="+mn-ea"/>
              <a:sym typeface="+mn-ea"/>
            </a:endParaRPr>
          </a:p>
        </p:txBody>
      </p:sp>
      <p:sp>
        <p:nvSpPr>
          <p:cNvPr id="105" name="子陵职场PPT3"/>
          <p:cNvSpPr/>
          <p:nvPr/>
        </p:nvSpPr>
        <p:spPr>
          <a:xfrm>
            <a:off x="2240280" y="4904740"/>
            <a:ext cx="7733030" cy="868680"/>
          </a:xfrm>
          <a:custGeom>
            <a:avLst/>
            <a:gdLst>
              <a:gd name="connsiteX0" fmla="*/ 6076950 w 12153900"/>
              <a:gd name="connsiteY0" fmla="*/ 190500 h 2381250"/>
              <a:gd name="connsiteX1" fmla="*/ 972312 w 12153900"/>
              <a:gd name="connsiteY1" fmla="*/ 1123950 h 2381250"/>
              <a:gd name="connsiteX2" fmla="*/ 6076950 w 12153900"/>
              <a:gd name="connsiteY2" fmla="*/ 2057400 h 2381250"/>
              <a:gd name="connsiteX3" fmla="*/ 11181588 w 12153900"/>
              <a:gd name="connsiteY3" fmla="*/ 1123950 h 2381250"/>
              <a:gd name="connsiteX4" fmla="*/ 6076950 w 12153900"/>
              <a:gd name="connsiteY4" fmla="*/ 190500 h 2381250"/>
              <a:gd name="connsiteX5" fmla="*/ 6076950 w 12153900"/>
              <a:gd name="connsiteY5" fmla="*/ 0 h 2381250"/>
              <a:gd name="connsiteX6" fmla="*/ 12153900 w 12153900"/>
              <a:gd name="connsiteY6" fmla="*/ 1190625 h 2381250"/>
              <a:gd name="connsiteX7" fmla="*/ 6076950 w 12153900"/>
              <a:gd name="connsiteY7" fmla="*/ 2381250 h 2381250"/>
              <a:gd name="connsiteX8" fmla="*/ 0 w 12153900"/>
              <a:gd name="connsiteY8" fmla="*/ 1190625 h 2381250"/>
              <a:gd name="connsiteX9" fmla="*/ 6076950 w 12153900"/>
              <a:gd name="connsiteY9" fmla="*/ 0 h 2381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53900" h="2381250">
                <a:moveTo>
                  <a:pt x="6076950" y="190500"/>
                </a:moveTo>
                <a:cubicBezTo>
                  <a:pt x="3257736" y="190500"/>
                  <a:pt x="972312" y="608420"/>
                  <a:pt x="972312" y="1123950"/>
                </a:cubicBezTo>
                <a:cubicBezTo>
                  <a:pt x="972312" y="1639480"/>
                  <a:pt x="3257736" y="2057400"/>
                  <a:pt x="6076950" y="2057400"/>
                </a:cubicBezTo>
                <a:cubicBezTo>
                  <a:pt x="8896164" y="2057400"/>
                  <a:pt x="11181588" y="1639480"/>
                  <a:pt x="11181588" y="1123950"/>
                </a:cubicBezTo>
                <a:cubicBezTo>
                  <a:pt x="11181588" y="608420"/>
                  <a:pt x="8896164" y="190500"/>
                  <a:pt x="6076950" y="190500"/>
                </a:cubicBezTo>
                <a:close/>
                <a:moveTo>
                  <a:pt x="6076950" y="0"/>
                </a:moveTo>
                <a:cubicBezTo>
                  <a:pt x="9433157" y="0"/>
                  <a:pt x="12153900" y="533061"/>
                  <a:pt x="12153900" y="1190625"/>
                </a:cubicBezTo>
                <a:cubicBezTo>
                  <a:pt x="12153900" y="1848189"/>
                  <a:pt x="9433157" y="2381250"/>
                  <a:pt x="6076950" y="2381250"/>
                </a:cubicBezTo>
                <a:cubicBezTo>
                  <a:pt x="2720743" y="2381250"/>
                  <a:pt x="0" y="1848189"/>
                  <a:pt x="0" y="1190625"/>
                </a:cubicBezTo>
                <a:cubicBezTo>
                  <a:pt x="0" y="533061"/>
                  <a:pt x="2720743" y="0"/>
                  <a:pt x="6076950" y="0"/>
                </a:cubicBezTo>
                <a:close/>
              </a:path>
            </a:pathLst>
          </a:custGeom>
          <a:gradFill flip="none" rotWithShape="1">
            <a:gsLst>
              <a:gs pos="0">
                <a:schemeClr val="accent1">
                  <a:lumMod val="60000"/>
                  <a:lumOff val="40000"/>
                </a:schemeClr>
              </a:gs>
              <a:gs pos="82000">
                <a:schemeClr val="accent1">
                  <a:lumMod val="60000"/>
                  <a:lumOff val="40000"/>
                  <a:alpha val="0"/>
                </a:schemeClr>
              </a:gs>
            </a:gsLst>
            <a:lin ang="16200000" scaled="1"/>
            <a:tileRect/>
          </a:gradFill>
          <a:ln w="25400">
            <a:noFill/>
          </a:ln>
          <a:scene3d>
            <a:camera prst="orthographicFront"/>
            <a:lightRig rig="threePt" dir="t"/>
          </a:scene3d>
          <a:sp3d extrusionH="571500"/>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nvGrpSpPr>
          <p:cNvPr id="26" name="组合 25"/>
          <p:cNvGrpSpPr/>
          <p:nvPr/>
        </p:nvGrpSpPr>
        <p:grpSpPr>
          <a:xfrm>
            <a:off x="4122103" y="1298575"/>
            <a:ext cx="3968750" cy="4135120"/>
            <a:chOff x="14530" y="1560"/>
            <a:chExt cx="6250" cy="6512"/>
          </a:xfrm>
        </p:grpSpPr>
        <p:sp>
          <p:nvSpPr>
            <p:cNvPr id="28" name="©天蝎PPT7-3"/>
            <p:cNvSpPr/>
            <p:nvPr>
              <p:custDataLst>
                <p:tags r:id="rId4"/>
              </p:custDataLst>
            </p:nvPr>
          </p:nvSpPr>
          <p:spPr>
            <a:xfrm>
              <a:off x="14530" y="1560"/>
              <a:ext cx="6251" cy="6513"/>
            </a:xfrm>
            <a:custGeom>
              <a:avLst/>
              <a:gdLst>
                <a:gd name="connsiteX0" fmla="*/ 6251 w 6251"/>
                <a:gd name="connsiteY0" fmla="*/ 1505 h 1505"/>
                <a:gd name="connsiteX1" fmla="*/ 0 w 6251"/>
                <a:gd name="connsiteY1" fmla="*/ 1505 h 1505"/>
                <a:gd name="connsiteX2" fmla="*/ 1839 w 6251"/>
                <a:gd name="connsiteY2" fmla="*/ 0 h 1505"/>
                <a:gd name="connsiteX3" fmla="*/ 4443 w 6251"/>
                <a:gd name="connsiteY3" fmla="*/ 12 h 1505"/>
                <a:gd name="connsiteX4" fmla="*/ 6251 w 6251"/>
                <a:gd name="connsiteY4" fmla="*/ 1505 h 1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1" h="6513">
                  <a:moveTo>
                    <a:pt x="6251" y="6513"/>
                  </a:moveTo>
                  <a:lnTo>
                    <a:pt x="0" y="6513"/>
                  </a:lnTo>
                  <a:cubicBezTo>
                    <a:pt x="760" y="6065"/>
                    <a:pt x="1488" y="5488"/>
                    <a:pt x="1839" y="5008"/>
                  </a:cubicBezTo>
                  <a:lnTo>
                    <a:pt x="1849" y="5008"/>
                  </a:lnTo>
                  <a:lnTo>
                    <a:pt x="1849" y="426"/>
                  </a:lnTo>
                  <a:lnTo>
                    <a:pt x="3150" y="0"/>
                  </a:lnTo>
                  <a:lnTo>
                    <a:pt x="4451" y="426"/>
                  </a:lnTo>
                  <a:lnTo>
                    <a:pt x="4451" y="5029"/>
                  </a:lnTo>
                  <a:cubicBezTo>
                    <a:pt x="4812" y="5530"/>
                    <a:pt x="5565" y="6107"/>
                    <a:pt x="6251" y="6513"/>
                  </a:cubicBezTo>
                  <a:close/>
                </a:path>
              </a:pathLst>
            </a:custGeom>
            <a:solidFill>
              <a:schemeClr val="bg1"/>
            </a:solidFill>
            <a:ln w="762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13131"/>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29" name="©天蝎PPT7-3"/>
            <p:cNvSpPr/>
            <p:nvPr>
              <p:custDataLst>
                <p:tags r:id="rId5"/>
              </p:custDataLst>
            </p:nvPr>
          </p:nvSpPr>
          <p:spPr>
            <a:xfrm>
              <a:off x="14530" y="1560"/>
              <a:ext cx="6251" cy="6513"/>
            </a:xfrm>
            <a:custGeom>
              <a:avLst/>
              <a:gdLst>
                <a:gd name="connsiteX0" fmla="*/ 6251 w 6251"/>
                <a:gd name="connsiteY0" fmla="*/ 1505 h 1505"/>
                <a:gd name="connsiteX1" fmla="*/ 0 w 6251"/>
                <a:gd name="connsiteY1" fmla="*/ 1505 h 1505"/>
                <a:gd name="connsiteX2" fmla="*/ 1839 w 6251"/>
                <a:gd name="connsiteY2" fmla="*/ 0 h 1505"/>
                <a:gd name="connsiteX3" fmla="*/ 4443 w 6251"/>
                <a:gd name="connsiteY3" fmla="*/ 12 h 1505"/>
                <a:gd name="connsiteX4" fmla="*/ 6251 w 6251"/>
                <a:gd name="connsiteY4" fmla="*/ 1505 h 1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1" h="6513">
                  <a:moveTo>
                    <a:pt x="6251" y="6513"/>
                  </a:moveTo>
                  <a:lnTo>
                    <a:pt x="0" y="6513"/>
                  </a:lnTo>
                  <a:cubicBezTo>
                    <a:pt x="760" y="6065"/>
                    <a:pt x="1488" y="5488"/>
                    <a:pt x="1839" y="5008"/>
                  </a:cubicBezTo>
                  <a:lnTo>
                    <a:pt x="1849" y="5008"/>
                  </a:lnTo>
                  <a:lnTo>
                    <a:pt x="1849" y="426"/>
                  </a:lnTo>
                  <a:lnTo>
                    <a:pt x="3150" y="0"/>
                  </a:lnTo>
                  <a:lnTo>
                    <a:pt x="4451" y="426"/>
                  </a:lnTo>
                  <a:lnTo>
                    <a:pt x="4451" y="5029"/>
                  </a:lnTo>
                  <a:cubicBezTo>
                    <a:pt x="4812" y="5530"/>
                    <a:pt x="5565" y="6107"/>
                    <a:pt x="6251" y="6513"/>
                  </a:cubicBezTo>
                  <a:close/>
                </a:path>
              </a:pathLst>
            </a:custGeom>
            <a:gradFill>
              <a:gsLst>
                <a:gs pos="28000">
                  <a:schemeClr val="bg1">
                    <a:alpha val="0"/>
                  </a:schemeClr>
                </a:gs>
                <a:gs pos="100000">
                  <a:schemeClr val="accent1">
                    <a:lumMod val="40000"/>
                    <a:lumOff val="60000"/>
                    <a:alpha val="0"/>
                  </a:schemeClr>
                </a:gs>
                <a:gs pos="83000">
                  <a:schemeClr val="accent1">
                    <a:lumMod val="40000"/>
                    <a:lumOff val="60000"/>
                  </a:schemeClr>
                </a:gs>
              </a:gsLst>
              <a:lin ang="5400000" scaled="0"/>
            </a:gradFill>
            <a:ln w="762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313131"/>
                  </a:solidFill>
                  <a:effectLst/>
                  <a:uLnTx/>
                  <a:uFillTx/>
                  <a:latin typeface="微软雅黑" panose="020B0503020204020204" charset="-122"/>
                  <a:ea typeface="微软雅黑" panose="020B0503020204020204" charset="-122"/>
                  <a:cs typeface="+mn-ea"/>
                  <a:sym typeface="Arial" panose="020B0604020202020204" pitchFamily="34" charset="0"/>
                </a:rPr>
                <a:t>  </a:t>
              </a:r>
              <a:endParaRPr kumimoji="0" lang="en-US" altLang="zh-CN" sz="1800" b="0" i="0" u="none" strike="noStrike" kern="1200" cap="none" spc="0" normalizeH="0" baseline="0" noProof="0">
                <a:ln>
                  <a:noFill/>
                </a:ln>
                <a:solidFill>
                  <a:srgbClr val="313131"/>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grpSp>
      <p:grpSp>
        <p:nvGrpSpPr>
          <p:cNvPr id="30" name="组合 29"/>
          <p:cNvGrpSpPr/>
          <p:nvPr/>
        </p:nvGrpSpPr>
        <p:grpSpPr>
          <a:xfrm>
            <a:off x="4981258" y="1557655"/>
            <a:ext cx="2250440" cy="3876040"/>
            <a:chOff x="13056" y="2142"/>
            <a:chExt cx="3544" cy="6104"/>
          </a:xfrm>
        </p:grpSpPr>
        <p:sp>
          <p:nvSpPr>
            <p:cNvPr id="31" name="任意多边形 30"/>
            <p:cNvSpPr/>
            <p:nvPr/>
          </p:nvSpPr>
          <p:spPr>
            <a:xfrm rot="5400000" flipH="1">
              <a:off x="11776" y="3422"/>
              <a:ext cx="6105" cy="3545"/>
            </a:xfrm>
            <a:custGeom>
              <a:avLst/>
              <a:gdLst>
                <a:gd name="adj" fmla="val 16375"/>
                <a:gd name="maxAdj" fmla="*/ 100000 w ss"/>
                <a:gd name="a" fmla="pin 0 adj maxAdj"/>
                <a:gd name="dx1" fmla="*/ ss a 100000"/>
                <a:gd name="x1" fmla="+- r 0 dx1"/>
                <a:gd name="ir" fmla="+/ x1 r 2"/>
                <a:gd name="x2" fmla="*/ x1 1 2"/>
              </a:gdLst>
              <a:ahLst/>
              <a:cxnLst>
                <a:cxn ang="3">
                  <a:pos x="x2" y="t"/>
                </a:cxn>
                <a:cxn ang="cd2">
                  <a:pos x="l" y="vc"/>
                </a:cxn>
                <a:cxn ang="cd4">
                  <a:pos x="x1" y="b"/>
                </a:cxn>
                <a:cxn ang="0">
                  <a:pos x="r" y="vc"/>
                </a:cxn>
              </a:cxnLst>
              <a:rect l="l" t="t" r="r" b="b"/>
              <a:pathLst>
                <a:path w="6105" h="3545">
                  <a:moveTo>
                    <a:pt x="1098" y="973"/>
                  </a:moveTo>
                  <a:lnTo>
                    <a:pt x="5843" y="973"/>
                  </a:lnTo>
                  <a:lnTo>
                    <a:pt x="6105" y="1773"/>
                  </a:lnTo>
                  <a:lnTo>
                    <a:pt x="5843" y="2573"/>
                  </a:lnTo>
                  <a:lnTo>
                    <a:pt x="1098" y="2573"/>
                  </a:lnTo>
                  <a:lnTo>
                    <a:pt x="1098" y="2578"/>
                  </a:lnTo>
                  <a:cubicBezTo>
                    <a:pt x="720" y="2793"/>
                    <a:pt x="297" y="3151"/>
                    <a:pt x="0" y="3545"/>
                  </a:cubicBezTo>
                  <a:lnTo>
                    <a:pt x="0" y="0"/>
                  </a:lnTo>
                  <a:cubicBezTo>
                    <a:pt x="323" y="431"/>
                    <a:pt x="752" y="766"/>
                    <a:pt x="1098" y="967"/>
                  </a:cubicBezTo>
                  <a:lnTo>
                    <a:pt x="1098" y="973"/>
                  </a:lnTo>
                  <a:close/>
                </a:path>
              </a:pathLst>
            </a:cu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32" name="任意多边形 31"/>
            <p:cNvSpPr/>
            <p:nvPr/>
          </p:nvSpPr>
          <p:spPr>
            <a:xfrm rot="5400000" flipH="1">
              <a:off x="11776" y="3422"/>
              <a:ext cx="6105" cy="3545"/>
            </a:xfrm>
            <a:custGeom>
              <a:avLst/>
              <a:gdLst>
                <a:gd name="adj" fmla="val 16375"/>
                <a:gd name="maxAdj" fmla="*/ 100000 w ss"/>
                <a:gd name="a" fmla="pin 0 adj maxAdj"/>
                <a:gd name="dx1" fmla="*/ ss a 100000"/>
                <a:gd name="x1" fmla="+- r 0 dx1"/>
                <a:gd name="ir" fmla="+/ x1 r 2"/>
                <a:gd name="x2" fmla="*/ x1 1 2"/>
              </a:gdLst>
              <a:ahLst/>
              <a:cxnLst>
                <a:cxn ang="3">
                  <a:pos x="x2" y="t"/>
                </a:cxn>
                <a:cxn ang="cd2">
                  <a:pos x="l" y="vc"/>
                </a:cxn>
                <a:cxn ang="cd4">
                  <a:pos x="x1" y="b"/>
                </a:cxn>
                <a:cxn ang="0">
                  <a:pos x="r" y="vc"/>
                </a:cxn>
              </a:cxnLst>
              <a:rect l="l" t="t" r="r" b="b"/>
              <a:pathLst>
                <a:path w="6105" h="3545">
                  <a:moveTo>
                    <a:pt x="1098" y="973"/>
                  </a:moveTo>
                  <a:lnTo>
                    <a:pt x="5843" y="973"/>
                  </a:lnTo>
                  <a:lnTo>
                    <a:pt x="6105" y="1773"/>
                  </a:lnTo>
                  <a:lnTo>
                    <a:pt x="5843" y="2573"/>
                  </a:lnTo>
                  <a:lnTo>
                    <a:pt x="1098" y="2573"/>
                  </a:lnTo>
                  <a:lnTo>
                    <a:pt x="1098" y="2578"/>
                  </a:lnTo>
                  <a:cubicBezTo>
                    <a:pt x="720" y="2793"/>
                    <a:pt x="297" y="3151"/>
                    <a:pt x="0" y="3545"/>
                  </a:cubicBezTo>
                  <a:lnTo>
                    <a:pt x="0" y="0"/>
                  </a:lnTo>
                  <a:cubicBezTo>
                    <a:pt x="323" y="431"/>
                    <a:pt x="752" y="766"/>
                    <a:pt x="1098" y="967"/>
                  </a:cubicBezTo>
                  <a:lnTo>
                    <a:pt x="1098" y="973"/>
                  </a:lnTo>
                  <a:close/>
                </a:path>
              </a:pathLst>
            </a:custGeom>
            <a:gradFill>
              <a:gsLst>
                <a:gs pos="0">
                  <a:schemeClr val="accent1">
                    <a:lumMod val="60000"/>
                    <a:lumOff val="40000"/>
                  </a:schemeClr>
                </a:gs>
                <a:gs pos="48000">
                  <a:schemeClr val="accent1">
                    <a:lumMod val="20000"/>
                    <a:lumOff val="80000"/>
                  </a:schemeClr>
                </a:gs>
                <a:gs pos="100000">
                  <a:schemeClr val="accent1">
                    <a:lumMod val="20000"/>
                    <a:lumOff val="80000"/>
                    <a:alpha val="0"/>
                  </a:schemeClr>
                </a:gs>
              </a:gsLst>
              <a:lin ang="11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grpSp>
      <p:sp>
        <p:nvSpPr>
          <p:cNvPr id="33" name="五边形 32"/>
          <p:cNvSpPr/>
          <p:nvPr/>
        </p:nvSpPr>
        <p:spPr>
          <a:xfrm rot="5400000" flipH="1">
            <a:off x="4710907" y="2797810"/>
            <a:ext cx="2769870" cy="730250"/>
          </a:xfrm>
          <a:prstGeom prst="homePlate">
            <a:avLst>
              <a:gd name="adj" fmla="val 16375"/>
            </a:avLst>
          </a:prstGeom>
          <a:noFill/>
          <a:ln w="19050">
            <a:gradFill>
              <a:gsLst>
                <a:gs pos="0">
                  <a:schemeClr val="bg1"/>
                </a:gs>
                <a:gs pos="90000">
                  <a:schemeClr val="bg1">
                    <a:alpha val="0"/>
                  </a:schemeClr>
                </a:gs>
              </a:gsLst>
              <a:lin ang="108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nvGrpSpPr>
          <p:cNvPr id="34" name="组合 33"/>
          <p:cNvGrpSpPr/>
          <p:nvPr/>
        </p:nvGrpSpPr>
        <p:grpSpPr>
          <a:xfrm>
            <a:off x="5266373" y="1246505"/>
            <a:ext cx="1680210" cy="4187190"/>
            <a:chOff x="16617" y="1997"/>
            <a:chExt cx="2646" cy="6594"/>
          </a:xfrm>
        </p:grpSpPr>
        <p:sp>
          <p:nvSpPr>
            <p:cNvPr id="35" name="任意多边形 34"/>
            <p:cNvSpPr/>
            <p:nvPr/>
          </p:nvSpPr>
          <p:spPr>
            <a:xfrm>
              <a:off x="16617" y="1997"/>
              <a:ext cx="2646" cy="6594"/>
            </a:xfrm>
            <a:custGeom>
              <a:avLst/>
              <a:gdLst>
                <a:gd name="adj" fmla="val 83719"/>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2646" h="6594">
                  <a:moveTo>
                    <a:pt x="893" y="5407"/>
                  </a:moveTo>
                  <a:lnTo>
                    <a:pt x="901" y="5397"/>
                  </a:lnTo>
                  <a:lnTo>
                    <a:pt x="901" y="240"/>
                  </a:lnTo>
                  <a:lnTo>
                    <a:pt x="1324" y="0"/>
                  </a:lnTo>
                  <a:lnTo>
                    <a:pt x="1747" y="240"/>
                  </a:lnTo>
                  <a:lnTo>
                    <a:pt x="1747" y="5397"/>
                  </a:lnTo>
                  <a:lnTo>
                    <a:pt x="1752" y="5403"/>
                  </a:lnTo>
                  <a:lnTo>
                    <a:pt x="1754" y="5417"/>
                  </a:lnTo>
                  <a:lnTo>
                    <a:pt x="1756" y="5443"/>
                  </a:lnTo>
                  <a:cubicBezTo>
                    <a:pt x="1782" y="5983"/>
                    <a:pt x="2397" y="6542"/>
                    <a:pt x="2646" y="6594"/>
                  </a:cubicBezTo>
                  <a:lnTo>
                    <a:pt x="0" y="6594"/>
                  </a:lnTo>
                  <a:cubicBezTo>
                    <a:pt x="446" y="6470"/>
                    <a:pt x="899" y="5776"/>
                    <a:pt x="893" y="5407"/>
                  </a:cubicBezTo>
                  <a:close/>
                </a:path>
              </a:pathLst>
            </a:custGeom>
            <a:solidFill>
              <a:schemeClr val="bg1"/>
            </a:solidFill>
            <a:ln cap="rnd">
              <a:noFill/>
              <a:round/>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36" name="任意多边形 35"/>
            <p:cNvSpPr/>
            <p:nvPr/>
          </p:nvSpPr>
          <p:spPr>
            <a:xfrm>
              <a:off x="16617" y="1997"/>
              <a:ext cx="2646" cy="6594"/>
            </a:xfrm>
            <a:custGeom>
              <a:avLst/>
              <a:gdLst>
                <a:gd name="adj" fmla="val 83719"/>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2646" h="6594">
                  <a:moveTo>
                    <a:pt x="893" y="5407"/>
                  </a:moveTo>
                  <a:lnTo>
                    <a:pt x="901" y="5397"/>
                  </a:lnTo>
                  <a:lnTo>
                    <a:pt x="901" y="240"/>
                  </a:lnTo>
                  <a:lnTo>
                    <a:pt x="1324" y="0"/>
                  </a:lnTo>
                  <a:lnTo>
                    <a:pt x="1747" y="240"/>
                  </a:lnTo>
                  <a:lnTo>
                    <a:pt x="1747" y="5397"/>
                  </a:lnTo>
                  <a:lnTo>
                    <a:pt x="1752" y="5403"/>
                  </a:lnTo>
                  <a:lnTo>
                    <a:pt x="1754" y="5417"/>
                  </a:lnTo>
                  <a:lnTo>
                    <a:pt x="1756" y="5443"/>
                  </a:lnTo>
                  <a:cubicBezTo>
                    <a:pt x="1782" y="5983"/>
                    <a:pt x="2397" y="6542"/>
                    <a:pt x="2646" y="6594"/>
                  </a:cubicBezTo>
                  <a:lnTo>
                    <a:pt x="0" y="6594"/>
                  </a:lnTo>
                  <a:cubicBezTo>
                    <a:pt x="446" y="6470"/>
                    <a:pt x="899" y="5776"/>
                    <a:pt x="893" y="5407"/>
                  </a:cubicBezTo>
                  <a:close/>
                </a:path>
              </a:pathLst>
            </a:custGeom>
            <a:gradFill>
              <a:gsLst>
                <a:gs pos="0">
                  <a:schemeClr val="accent5"/>
                </a:gs>
                <a:gs pos="39000">
                  <a:schemeClr val="accent5">
                    <a:lumMod val="60000"/>
                    <a:lumOff val="40000"/>
                  </a:schemeClr>
                </a:gs>
                <a:gs pos="100000">
                  <a:schemeClr val="accent5">
                    <a:lumMod val="60000"/>
                    <a:lumOff val="40000"/>
                    <a:alpha val="0"/>
                  </a:schemeClr>
                </a:gs>
              </a:gsLst>
              <a:lin ang="5400000" scaled="0"/>
            </a:gradFill>
            <a:ln cap="rnd">
              <a:noFill/>
              <a:round/>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grpSp>
      <p:sp>
        <p:nvSpPr>
          <p:cNvPr id="37" name="任意多边形 36"/>
          <p:cNvSpPr/>
          <p:nvPr/>
        </p:nvSpPr>
        <p:spPr>
          <a:xfrm>
            <a:off x="5838508" y="1077595"/>
            <a:ext cx="537210" cy="344170"/>
          </a:xfrm>
          <a:custGeom>
            <a:avLst/>
            <a:gdLst>
              <a:gd name="adj" fmla="val 83719"/>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846" h="542">
                <a:moveTo>
                  <a:pt x="0" y="443"/>
                </a:moveTo>
                <a:lnTo>
                  <a:pt x="0" y="240"/>
                </a:lnTo>
                <a:lnTo>
                  <a:pt x="423" y="0"/>
                </a:lnTo>
                <a:lnTo>
                  <a:pt x="846" y="240"/>
                </a:lnTo>
                <a:lnTo>
                  <a:pt x="846" y="542"/>
                </a:lnTo>
                <a:lnTo>
                  <a:pt x="841" y="542"/>
                </a:lnTo>
                <a:lnTo>
                  <a:pt x="841" y="446"/>
                </a:lnTo>
                <a:lnTo>
                  <a:pt x="418" y="206"/>
                </a:lnTo>
                <a:lnTo>
                  <a:pt x="0" y="443"/>
                </a:lnTo>
                <a:close/>
              </a:path>
            </a:pathLst>
          </a:custGeom>
          <a:gradFill>
            <a:gsLst>
              <a:gs pos="0">
                <a:schemeClr val="accent5"/>
              </a:gs>
              <a:gs pos="100000">
                <a:schemeClr val="accent5"/>
              </a:gs>
            </a:gsLst>
            <a:lin ang="5400000" scaled="0"/>
          </a:gradFill>
          <a:ln cap="rnd">
            <a:noFill/>
            <a:round/>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grpSp>
        <p:nvGrpSpPr>
          <p:cNvPr id="67" name="组合 66"/>
          <p:cNvGrpSpPr/>
          <p:nvPr/>
        </p:nvGrpSpPr>
        <p:grpSpPr>
          <a:xfrm>
            <a:off x="501650" y="1229360"/>
            <a:ext cx="4730750" cy="3945890"/>
            <a:chOff x="790" y="1808"/>
            <a:chExt cx="7450" cy="6214"/>
          </a:xfrm>
        </p:grpSpPr>
        <p:grpSp>
          <p:nvGrpSpPr>
            <p:cNvPr id="42" name="组合 41"/>
            <p:cNvGrpSpPr/>
            <p:nvPr/>
          </p:nvGrpSpPr>
          <p:grpSpPr>
            <a:xfrm>
              <a:off x="790" y="6078"/>
              <a:ext cx="5808" cy="1944"/>
              <a:chOff x="12248" y="4626"/>
              <a:chExt cx="5808" cy="1944"/>
            </a:xfrm>
          </p:grpSpPr>
          <p:sp>
            <p:nvSpPr>
              <p:cNvPr id="40" name="圆角矩形 39"/>
              <p:cNvSpPr/>
              <p:nvPr/>
            </p:nvSpPr>
            <p:spPr>
              <a:xfrm>
                <a:off x="12248" y="4874"/>
                <a:ext cx="5808" cy="1696"/>
              </a:xfrm>
              <a:prstGeom prst="roundRect">
                <a:avLst/>
              </a:prstGeom>
              <a:gradFill>
                <a:gsLst>
                  <a:gs pos="0">
                    <a:schemeClr val="accent1">
                      <a:lumMod val="20000"/>
                      <a:lumOff val="80000"/>
                      <a:alpha val="41000"/>
                    </a:schemeClr>
                  </a:gs>
                  <a:gs pos="100000">
                    <a:schemeClr val="accent1">
                      <a:lumMod val="20000"/>
                      <a:lumOff val="80000"/>
                      <a:alpha val="0"/>
                    </a:schemeClr>
                  </a:gs>
                </a:gsLst>
                <a:lin ang="5400000" scaled="1"/>
              </a:gradFill>
              <a:ln>
                <a:gradFill flip="none" rotWithShape="1">
                  <a:gsLst>
                    <a:gs pos="0">
                      <a:schemeClr val="accent1"/>
                    </a:gs>
                    <a:gs pos="83000">
                      <a:schemeClr val="accent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微软雅黑" panose="020B0503020204020204" charset="-122"/>
                  <a:sym typeface="+mn-ea"/>
                </a:endParaRPr>
              </a:p>
            </p:txBody>
          </p:sp>
          <p:sp>
            <p:nvSpPr>
              <p:cNvPr id="41" name="圆角矩形 40"/>
              <p:cNvSpPr/>
              <p:nvPr/>
            </p:nvSpPr>
            <p:spPr>
              <a:xfrm>
                <a:off x="13836" y="4626"/>
                <a:ext cx="2632" cy="626"/>
              </a:xfrm>
              <a:prstGeom prst="roundRect">
                <a:avLst>
                  <a:gd name="adj" fmla="val 50000"/>
                </a:avLst>
              </a:prstGeom>
              <a:gradFill flip="none" rotWithShape="1">
                <a:gsLst>
                  <a:gs pos="0">
                    <a:schemeClr val="accent1">
                      <a:lumMod val="40000"/>
                      <a:lumOff val="60000"/>
                    </a:schemeClr>
                  </a:gs>
                  <a:gs pos="78000">
                    <a:schemeClr val="accent1">
                      <a:lumMod val="60000"/>
                      <a:lumOff val="40000"/>
                    </a:schemeClr>
                  </a:gs>
                </a:gsLst>
                <a:lin ang="2700000" scaled="1"/>
                <a:tileRect/>
              </a:gradFill>
              <a:ln>
                <a:noFill/>
              </a:ln>
              <a:effectLst>
                <a:outerShdw blurRad="190500" dist="50800" dir="5400000" algn="t" rotWithShape="0">
                  <a:schemeClr val="accent1">
                    <a:lumMod val="60000"/>
                    <a:lumOff val="40000"/>
                    <a:alpha val="2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1200" b="1">
                    <a:solidFill>
                      <a:schemeClr val="bg1"/>
                    </a:solidFill>
                    <a:latin typeface="+mj-ea"/>
                    <a:ea typeface="+mj-ea"/>
                    <a:cs typeface="微软雅黑" panose="020B0503020204020204" charset="-122"/>
                    <a:sym typeface="+mn-ea"/>
                  </a:rPr>
                  <a:t>业务洞察与转化力</a:t>
                </a:r>
                <a:endParaRPr lang="zh-CN" altLang="en-US" sz="1200" b="1">
                  <a:solidFill>
                    <a:schemeClr val="bg1"/>
                  </a:solidFill>
                  <a:latin typeface="+mj-ea"/>
                  <a:ea typeface="+mj-ea"/>
                  <a:cs typeface="微软雅黑" panose="020B0503020204020204" charset="-122"/>
                  <a:sym typeface="+mn-ea"/>
                </a:endParaRPr>
              </a:p>
            </p:txBody>
          </p:sp>
        </p:grpSp>
        <p:grpSp>
          <p:nvGrpSpPr>
            <p:cNvPr id="43" name="组合 42"/>
            <p:cNvGrpSpPr/>
            <p:nvPr/>
          </p:nvGrpSpPr>
          <p:grpSpPr>
            <a:xfrm>
              <a:off x="790" y="1808"/>
              <a:ext cx="5808" cy="1944"/>
              <a:chOff x="12248" y="4626"/>
              <a:chExt cx="5808" cy="1944"/>
            </a:xfrm>
          </p:grpSpPr>
          <p:sp>
            <p:nvSpPr>
              <p:cNvPr id="44" name="圆角矩形 43"/>
              <p:cNvSpPr/>
              <p:nvPr/>
            </p:nvSpPr>
            <p:spPr>
              <a:xfrm>
                <a:off x="12248" y="4874"/>
                <a:ext cx="5808" cy="1696"/>
              </a:xfrm>
              <a:prstGeom prst="roundRect">
                <a:avLst/>
              </a:prstGeom>
              <a:gradFill>
                <a:gsLst>
                  <a:gs pos="0">
                    <a:schemeClr val="accent1">
                      <a:lumMod val="20000"/>
                      <a:lumOff val="80000"/>
                      <a:alpha val="41000"/>
                    </a:schemeClr>
                  </a:gs>
                  <a:gs pos="100000">
                    <a:schemeClr val="accent1">
                      <a:lumMod val="20000"/>
                      <a:lumOff val="80000"/>
                      <a:alpha val="0"/>
                    </a:schemeClr>
                  </a:gs>
                </a:gsLst>
                <a:lin ang="5400000" scaled="1"/>
              </a:gradFill>
              <a:ln>
                <a:gradFill flip="none" rotWithShape="1">
                  <a:gsLst>
                    <a:gs pos="0">
                      <a:schemeClr val="accent1"/>
                    </a:gs>
                    <a:gs pos="83000">
                      <a:schemeClr val="accent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微软雅黑" panose="020B0503020204020204" charset="-122"/>
                  <a:sym typeface="+mn-ea"/>
                </a:endParaRPr>
              </a:p>
            </p:txBody>
          </p:sp>
          <p:sp>
            <p:nvSpPr>
              <p:cNvPr id="45" name="圆角矩形 44"/>
              <p:cNvSpPr/>
              <p:nvPr/>
            </p:nvSpPr>
            <p:spPr>
              <a:xfrm>
                <a:off x="13836" y="4626"/>
                <a:ext cx="2632" cy="626"/>
              </a:xfrm>
              <a:prstGeom prst="roundRect">
                <a:avLst>
                  <a:gd name="adj" fmla="val 50000"/>
                </a:avLst>
              </a:prstGeom>
              <a:gradFill flip="none" rotWithShape="1">
                <a:gsLst>
                  <a:gs pos="0">
                    <a:schemeClr val="accent1">
                      <a:lumMod val="40000"/>
                      <a:lumOff val="60000"/>
                    </a:schemeClr>
                  </a:gs>
                  <a:gs pos="78000">
                    <a:schemeClr val="accent1">
                      <a:lumMod val="60000"/>
                      <a:lumOff val="40000"/>
                    </a:schemeClr>
                  </a:gs>
                </a:gsLst>
                <a:lin ang="2700000" scaled="1"/>
                <a:tileRect/>
              </a:gradFill>
              <a:ln>
                <a:noFill/>
              </a:ln>
              <a:effectLst>
                <a:outerShdw blurRad="190500" dist="50800" dir="5400000" algn="t" rotWithShape="0">
                  <a:schemeClr val="accent1">
                    <a:lumMod val="60000"/>
                    <a:lumOff val="40000"/>
                    <a:alpha val="2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1200" b="1">
                    <a:solidFill>
                      <a:schemeClr val="bg1"/>
                    </a:solidFill>
                    <a:latin typeface="+mj-ea"/>
                    <a:ea typeface="+mj-ea"/>
                    <a:cs typeface="微软雅黑" panose="020B0503020204020204" charset="-122"/>
                    <a:sym typeface="+mn-ea"/>
                  </a:rPr>
                  <a:t>技术深耕与攻坚能力</a:t>
                </a:r>
                <a:endParaRPr lang="zh-CN" altLang="en-US" sz="1200" b="1">
                  <a:solidFill>
                    <a:schemeClr val="bg1"/>
                  </a:solidFill>
                  <a:latin typeface="+mj-ea"/>
                  <a:ea typeface="+mj-ea"/>
                  <a:cs typeface="微软雅黑" panose="020B0503020204020204" charset="-122"/>
                  <a:sym typeface="+mn-ea"/>
                </a:endParaRPr>
              </a:p>
            </p:txBody>
          </p:sp>
        </p:grpSp>
        <p:grpSp>
          <p:nvGrpSpPr>
            <p:cNvPr id="46" name="组合 45"/>
            <p:cNvGrpSpPr/>
            <p:nvPr/>
          </p:nvGrpSpPr>
          <p:grpSpPr>
            <a:xfrm>
              <a:off x="790" y="3943"/>
              <a:ext cx="5808" cy="1944"/>
              <a:chOff x="12248" y="4626"/>
              <a:chExt cx="5808" cy="1944"/>
            </a:xfrm>
          </p:grpSpPr>
          <p:sp>
            <p:nvSpPr>
              <p:cNvPr id="47" name="圆角矩形 46"/>
              <p:cNvSpPr/>
              <p:nvPr/>
            </p:nvSpPr>
            <p:spPr>
              <a:xfrm>
                <a:off x="12248" y="4874"/>
                <a:ext cx="5808" cy="1696"/>
              </a:xfrm>
              <a:prstGeom prst="roundRect">
                <a:avLst/>
              </a:prstGeom>
              <a:gradFill>
                <a:gsLst>
                  <a:gs pos="0">
                    <a:schemeClr val="accent5">
                      <a:lumMod val="20000"/>
                      <a:lumOff val="80000"/>
                      <a:alpha val="41000"/>
                    </a:schemeClr>
                  </a:gs>
                  <a:gs pos="100000">
                    <a:schemeClr val="accent5">
                      <a:lumMod val="20000"/>
                      <a:lumOff val="80000"/>
                      <a:alpha val="0"/>
                    </a:schemeClr>
                  </a:gs>
                </a:gsLst>
                <a:lin ang="5400000" scaled="1"/>
              </a:gradFill>
              <a:ln>
                <a:gradFill flip="none" rotWithShape="1">
                  <a:gsLst>
                    <a:gs pos="0">
                      <a:schemeClr val="accent5"/>
                    </a:gs>
                    <a:gs pos="83000">
                      <a:schemeClr val="accent5">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微软雅黑" panose="020B0503020204020204" charset="-122"/>
                  <a:sym typeface="+mn-ea"/>
                </a:endParaRPr>
              </a:p>
            </p:txBody>
          </p:sp>
          <p:sp>
            <p:nvSpPr>
              <p:cNvPr id="48" name="圆角矩形 47"/>
              <p:cNvSpPr/>
              <p:nvPr/>
            </p:nvSpPr>
            <p:spPr>
              <a:xfrm>
                <a:off x="13836" y="4626"/>
                <a:ext cx="2632" cy="626"/>
              </a:xfrm>
              <a:prstGeom prst="roundRect">
                <a:avLst>
                  <a:gd name="adj" fmla="val 50000"/>
                </a:avLst>
              </a:prstGeom>
              <a:gradFill flip="none" rotWithShape="1">
                <a:gsLst>
                  <a:gs pos="0">
                    <a:schemeClr val="accent5">
                      <a:lumMod val="40000"/>
                      <a:lumOff val="60000"/>
                    </a:schemeClr>
                  </a:gs>
                  <a:gs pos="78000">
                    <a:schemeClr val="accent5">
                      <a:lumMod val="60000"/>
                      <a:lumOff val="40000"/>
                    </a:schemeClr>
                  </a:gs>
                </a:gsLst>
                <a:lin ang="2700000" scaled="1"/>
                <a:tileRect/>
              </a:gradFill>
              <a:ln>
                <a:noFill/>
              </a:ln>
              <a:effectLst>
                <a:outerShdw blurRad="190500" dist="50800" dir="5400000" algn="t" rotWithShape="0">
                  <a:schemeClr val="accent5">
                    <a:lumMod val="60000"/>
                    <a:lumOff val="40000"/>
                    <a:alpha val="2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1200" b="1">
                    <a:solidFill>
                      <a:schemeClr val="bg1"/>
                    </a:solidFill>
                    <a:latin typeface="+mj-ea"/>
                    <a:ea typeface="+mj-ea"/>
                    <a:cs typeface="微软雅黑" panose="020B0503020204020204" charset="-122"/>
                    <a:sym typeface="+mn-ea"/>
                  </a:rPr>
                  <a:t>系统性思维与前瞻力</a:t>
                </a:r>
                <a:endParaRPr lang="zh-CN" altLang="en-US" sz="1200" b="1">
                  <a:solidFill>
                    <a:schemeClr val="bg1"/>
                  </a:solidFill>
                  <a:latin typeface="+mj-ea"/>
                  <a:ea typeface="+mj-ea"/>
                  <a:cs typeface="微软雅黑" panose="020B0503020204020204" charset="-122"/>
                  <a:sym typeface="+mn-ea"/>
                </a:endParaRPr>
              </a:p>
            </p:txBody>
          </p:sp>
        </p:grpSp>
        <p:cxnSp>
          <p:nvCxnSpPr>
            <p:cNvPr id="58" name="直接连接符 57"/>
            <p:cNvCxnSpPr/>
            <p:nvPr/>
          </p:nvCxnSpPr>
          <p:spPr>
            <a:xfrm>
              <a:off x="8107" y="2340"/>
              <a:ext cx="0" cy="5019"/>
            </a:xfrm>
            <a:prstGeom prst="line">
              <a:avLst/>
            </a:prstGeom>
            <a:ln>
              <a:gradFill>
                <a:gsLst>
                  <a:gs pos="0">
                    <a:schemeClr val="accent1">
                      <a:lumMod val="60000"/>
                      <a:lumOff val="40000"/>
                      <a:alpha val="0"/>
                    </a:schemeClr>
                  </a:gs>
                  <a:gs pos="52000">
                    <a:srgbClr val="4E88D4">
                      <a:alpha val="100000"/>
                    </a:srgbClr>
                  </a:gs>
                  <a:gs pos="100000">
                    <a:schemeClr val="accent1">
                      <a:lumMod val="60000"/>
                      <a:lumOff val="40000"/>
                      <a:alpha val="0"/>
                    </a:schemeClr>
                  </a:gs>
                </a:gsLst>
                <a:lin ang="5400000" scaled="1"/>
              </a:gradFill>
            </a:ln>
          </p:spPr>
          <p:style>
            <a:lnRef idx="2">
              <a:schemeClr val="accent1"/>
            </a:lnRef>
            <a:fillRef idx="0">
              <a:srgbClr val="FFFFFF"/>
            </a:fillRef>
            <a:effectRef idx="0">
              <a:srgbClr val="FFFFFF"/>
            </a:effectRef>
            <a:fontRef idx="minor">
              <a:schemeClr val="tx1"/>
            </a:fontRef>
          </p:style>
        </p:cxnSp>
        <p:cxnSp>
          <p:nvCxnSpPr>
            <p:cNvPr id="61" name="直接连接符 60"/>
            <p:cNvCxnSpPr>
              <a:stCxn id="598" idx="2"/>
            </p:cNvCxnSpPr>
            <p:nvPr/>
          </p:nvCxnSpPr>
          <p:spPr>
            <a:xfrm flipH="1">
              <a:off x="6584" y="2780"/>
              <a:ext cx="1408" cy="0"/>
            </a:xfrm>
            <a:prstGeom prst="line">
              <a:avLst/>
            </a:prstGeom>
            <a:ln>
              <a:solidFill>
                <a:schemeClr val="accent1">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62" name="直接连接符 61"/>
            <p:cNvCxnSpPr/>
            <p:nvPr/>
          </p:nvCxnSpPr>
          <p:spPr>
            <a:xfrm flipH="1">
              <a:off x="6598" y="6868"/>
              <a:ext cx="1498" cy="0"/>
            </a:xfrm>
            <a:prstGeom prst="line">
              <a:avLst/>
            </a:prstGeom>
            <a:ln>
              <a:solidFill>
                <a:schemeClr val="accent1">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63" name="直接连接符 62"/>
            <p:cNvCxnSpPr/>
            <p:nvPr/>
          </p:nvCxnSpPr>
          <p:spPr>
            <a:xfrm flipH="1">
              <a:off x="6598" y="4849"/>
              <a:ext cx="1498" cy="0"/>
            </a:xfrm>
            <a:prstGeom prst="line">
              <a:avLst/>
            </a:prstGeom>
            <a:ln>
              <a:solidFill>
                <a:schemeClr val="accent5">
                  <a:lumMod val="40000"/>
                  <a:lumOff val="60000"/>
                </a:schemeClr>
              </a:solidFill>
            </a:ln>
          </p:spPr>
          <p:style>
            <a:lnRef idx="2">
              <a:schemeClr val="accent1"/>
            </a:lnRef>
            <a:fillRef idx="0">
              <a:srgbClr val="FFFFFF"/>
            </a:fillRef>
            <a:effectRef idx="0">
              <a:srgbClr val="FFFFFF"/>
            </a:effectRef>
            <a:fontRef idx="minor">
              <a:schemeClr val="tx1"/>
            </a:fontRef>
          </p:style>
        </p:cxnSp>
        <p:sp>
          <p:nvSpPr>
            <p:cNvPr id="64" name="显眼包PPT-3"/>
            <p:cNvSpPr/>
            <p:nvPr/>
          </p:nvSpPr>
          <p:spPr>
            <a:xfrm>
              <a:off x="7992" y="6760"/>
              <a:ext cx="230" cy="215"/>
            </a:xfrm>
            <a:prstGeom prst="ellipse">
              <a:avLst/>
            </a:prstGeom>
            <a:gradFill flip="none" rotWithShape="1">
              <a:gsLst>
                <a:gs pos="13000">
                  <a:schemeClr val="accent1">
                    <a:lumMod val="40000"/>
                    <a:lumOff val="60000"/>
                  </a:schemeClr>
                </a:gs>
                <a:gs pos="55000">
                  <a:schemeClr val="accent1">
                    <a:lumMod val="60000"/>
                    <a:lumOff val="40000"/>
                  </a:schemeClr>
                </a:gs>
                <a:gs pos="100000">
                  <a:schemeClr val="accent1"/>
                </a:gs>
              </a:gsLst>
              <a:path path="circle">
                <a:fillToRect r="100000" b="100000"/>
              </a:path>
              <a:tileRect l="-100000" t="-100000"/>
            </a:gradFill>
            <a:ln w="22225">
              <a:gradFill flip="none" rotWithShape="1">
                <a:gsLst>
                  <a:gs pos="0">
                    <a:schemeClr val="bg1"/>
                  </a:gs>
                  <a:gs pos="55500">
                    <a:srgbClr val="FFFFFF">
                      <a:alpha val="40000"/>
                    </a:srgbClr>
                  </a:gs>
                  <a:gs pos="100000">
                    <a:schemeClr val="bg1">
                      <a:alpha val="78000"/>
                    </a:schemeClr>
                  </a:gs>
                </a:gsLst>
                <a:lin ang="10800000" scaled="1"/>
                <a:tileRect/>
              </a:gradFill>
            </a:ln>
            <a:effectLst>
              <a:outerShdw blurRad="190500" dist="25400" dir="5400000" sx="90000" sy="90000" algn="t" rotWithShape="0">
                <a:schemeClr val="accent1">
                  <a:lumMod val="60000"/>
                  <a:lumOff val="40000"/>
                  <a:alpha val="7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mn-ea"/>
                <a:cs typeface="微软雅黑" panose="020B0503020204020204" charset="-122"/>
              </a:endParaRPr>
            </a:p>
          </p:txBody>
        </p:sp>
        <p:sp>
          <p:nvSpPr>
            <p:cNvPr id="65" name="显眼包PPT-3"/>
            <p:cNvSpPr/>
            <p:nvPr/>
          </p:nvSpPr>
          <p:spPr>
            <a:xfrm>
              <a:off x="8010" y="4741"/>
              <a:ext cx="230" cy="215"/>
            </a:xfrm>
            <a:prstGeom prst="ellipse">
              <a:avLst/>
            </a:prstGeom>
            <a:gradFill flip="none" rotWithShape="1">
              <a:gsLst>
                <a:gs pos="13000">
                  <a:schemeClr val="accent5">
                    <a:lumMod val="40000"/>
                    <a:lumOff val="60000"/>
                  </a:schemeClr>
                </a:gs>
                <a:gs pos="55000">
                  <a:schemeClr val="accent5">
                    <a:lumMod val="60000"/>
                    <a:lumOff val="40000"/>
                  </a:schemeClr>
                </a:gs>
                <a:gs pos="100000">
                  <a:schemeClr val="accent5"/>
                </a:gs>
              </a:gsLst>
              <a:path path="circle">
                <a:fillToRect r="100000" b="100000"/>
              </a:path>
              <a:tileRect l="-100000" t="-100000"/>
            </a:gradFill>
            <a:ln w="22225">
              <a:gradFill flip="none" rotWithShape="1">
                <a:gsLst>
                  <a:gs pos="0">
                    <a:schemeClr val="bg1"/>
                  </a:gs>
                  <a:gs pos="55500">
                    <a:srgbClr val="FFFFFF">
                      <a:alpha val="40000"/>
                    </a:srgbClr>
                  </a:gs>
                  <a:gs pos="100000">
                    <a:schemeClr val="bg1">
                      <a:alpha val="78000"/>
                    </a:schemeClr>
                  </a:gs>
                </a:gsLst>
                <a:lin ang="10800000" scaled="1"/>
                <a:tileRect/>
              </a:gradFill>
            </a:ln>
            <a:effectLst>
              <a:outerShdw blurRad="190500" dist="25400" dir="5400000" sx="90000" sy="90000" algn="t" rotWithShape="0">
                <a:schemeClr val="accent5">
                  <a:lumMod val="60000"/>
                  <a:lumOff val="40000"/>
                  <a:alpha val="7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mn-ea"/>
                <a:cs typeface="微软雅黑" panose="020B0503020204020204" charset="-122"/>
              </a:endParaRPr>
            </a:p>
          </p:txBody>
        </p:sp>
        <p:sp>
          <p:nvSpPr>
            <p:cNvPr id="66" name="显眼包PPT-3"/>
            <p:cNvSpPr/>
            <p:nvPr/>
          </p:nvSpPr>
          <p:spPr>
            <a:xfrm>
              <a:off x="7992" y="2672"/>
              <a:ext cx="230" cy="215"/>
            </a:xfrm>
            <a:prstGeom prst="ellipse">
              <a:avLst/>
            </a:prstGeom>
            <a:gradFill flip="none" rotWithShape="1">
              <a:gsLst>
                <a:gs pos="13000">
                  <a:schemeClr val="accent1">
                    <a:lumMod val="40000"/>
                    <a:lumOff val="60000"/>
                  </a:schemeClr>
                </a:gs>
                <a:gs pos="55000">
                  <a:schemeClr val="accent1">
                    <a:lumMod val="60000"/>
                    <a:lumOff val="40000"/>
                  </a:schemeClr>
                </a:gs>
                <a:gs pos="100000">
                  <a:schemeClr val="accent1"/>
                </a:gs>
              </a:gsLst>
              <a:path path="circle">
                <a:fillToRect r="100000" b="100000"/>
              </a:path>
              <a:tileRect l="-100000" t="-100000"/>
            </a:gradFill>
            <a:ln w="22225">
              <a:gradFill flip="none" rotWithShape="1">
                <a:gsLst>
                  <a:gs pos="0">
                    <a:schemeClr val="bg1"/>
                  </a:gs>
                  <a:gs pos="55500">
                    <a:srgbClr val="FFFFFF">
                      <a:alpha val="40000"/>
                    </a:srgbClr>
                  </a:gs>
                  <a:gs pos="100000">
                    <a:schemeClr val="bg1">
                      <a:alpha val="78000"/>
                    </a:schemeClr>
                  </a:gs>
                </a:gsLst>
                <a:lin ang="10800000" scaled="1"/>
                <a:tileRect/>
              </a:gradFill>
            </a:ln>
            <a:effectLst>
              <a:outerShdw blurRad="190500" dist="25400" dir="5400000" sx="90000" sy="90000" algn="t" rotWithShape="0">
                <a:schemeClr val="accent1">
                  <a:lumMod val="60000"/>
                  <a:lumOff val="40000"/>
                  <a:alpha val="7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mn-ea"/>
                <a:cs typeface="微软雅黑" panose="020B0503020204020204" charset="-122"/>
              </a:endParaRPr>
            </a:p>
          </p:txBody>
        </p:sp>
      </p:grpSp>
      <p:grpSp>
        <p:nvGrpSpPr>
          <p:cNvPr id="68" name="组合 67"/>
          <p:cNvGrpSpPr/>
          <p:nvPr/>
        </p:nvGrpSpPr>
        <p:grpSpPr>
          <a:xfrm flipH="1">
            <a:off x="7017385" y="1229360"/>
            <a:ext cx="4730750" cy="3945890"/>
            <a:chOff x="790" y="1808"/>
            <a:chExt cx="7450" cy="6214"/>
          </a:xfrm>
        </p:grpSpPr>
        <p:grpSp>
          <p:nvGrpSpPr>
            <p:cNvPr id="69" name="组合 68"/>
            <p:cNvGrpSpPr/>
            <p:nvPr/>
          </p:nvGrpSpPr>
          <p:grpSpPr>
            <a:xfrm>
              <a:off x="790" y="6078"/>
              <a:ext cx="5808" cy="1944"/>
              <a:chOff x="12248" y="4626"/>
              <a:chExt cx="5808" cy="1944"/>
            </a:xfrm>
          </p:grpSpPr>
          <p:sp>
            <p:nvSpPr>
              <p:cNvPr id="70" name="圆角矩形 69"/>
              <p:cNvSpPr/>
              <p:nvPr/>
            </p:nvSpPr>
            <p:spPr>
              <a:xfrm>
                <a:off x="12248" y="4874"/>
                <a:ext cx="5808" cy="1696"/>
              </a:xfrm>
              <a:prstGeom prst="roundRect">
                <a:avLst/>
              </a:prstGeom>
              <a:gradFill>
                <a:gsLst>
                  <a:gs pos="0">
                    <a:schemeClr val="accent1">
                      <a:lumMod val="20000"/>
                      <a:lumOff val="80000"/>
                      <a:alpha val="41000"/>
                    </a:schemeClr>
                  </a:gs>
                  <a:gs pos="100000">
                    <a:schemeClr val="accent1">
                      <a:lumMod val="20000"/>
                      <a:lumOff val="80000"/>
                      <a:alpha val="0"/>
                    </a:schemeClr>
                  </a:gs>
                </a:gsLst>
                <a:lin ang="5400000" scaled="1"/>
              </a:gradFill>
              <a:ln>
                <a:gradFill flip="none" rotWithShape="1">
                  <a:gsLst>
                    <a:gs pos="0">
                      <a:schemeClr val="accent1"/>
                    </a:gs>
                    <a:gs pos="83000">
                      <a:schemeClr val="accent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微软雅黑" panose="020B0503020204020204" charset="-122"/>
                  <a:sym typeface="+mn-ea"/>
                </a:endParaRPr>
              </a:p>
            </p:txBody>
          </p:sp>
          <p:sp>
            <p:nvSpPr>
              <p:cNvPr id="71" name="圆角矩形 70"/>
              <p:cNvSpPr/>
              <p:nvPr/>
            </p:nvSpPr>
            <p:spPr>
              <a:xfrm>
                <a:off x="13836" y="4626"/>
                <a:ext cx="2632" cy="626"/>
              </a:xfrm>
              <a:prstGeom prst="roundRect">
                <a:avLst>
                  <a:gd name="adj" fmla="val 50000"/>
                </a:avLst>
              </a:prstGeom>
              <a:gradFill flip="none" rotWithShape="1">
                <a:gsLst>
                  <a:gs pos="0">
                    <a:schemeClr val="accent1">
                      <a:lumMod val="40000"/>
                      <a:lumOff val="60000"/>
                    </a:schemeClr>
                  </a:gs>
                  <a:gs pos="78000">
                    <a:schemeClr val="accent1">
                      <a:lumMod val="60000"/>
                      <a:lumOff val="40000"/>
                    </a:schemeClr>
                  </a:gs>
                </a:gsLst>
                <a:lin ang="2700000" scaled="1"/>
                <a:tileRect/>
              </a:gradFill>
              <a:ln>
                <a:noFill/>
              </a:ln>
              <a:effectLst>
                <a:outerShdw blurRad="190500" dist="50800" dir="5400000" algn="t" rotWithShape="0">
                  <a:schemeClr val="accent1">
                    <a:lumMod val="60000"/>
                    <a:lumOff val="40000"/>
                    <a:alpha val="2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1200" b="1">
                    <a:solidFill>
                      <a:schemeClr val="bg1"/>
                    </a:solidFill>
                    <a:latin typeface="+mj-ea"/>
                    <a:ea typeface="+mj-ea"/>
                    <a:cs typeface="微软雅黑" panose="020B0503020204020204" charset="-122"/>
                    <a:sym typeface="+mn-ea"/>
                  </a:rPr>
                  <a:t>知识传承与人才培养</a:t>
                </a:r>
                <a:endParaRPr lang="zh-CN" altLang="en-US" sz="1200" b="1">
                  <a:solidFill>
                    <a:schemeClr val="bg1"/>
                  </a:solidFill>
                  <a:latin typeface="+mj-ea"/>
                  <a:ea typeface="+mj-ea"/>
                  <a:cs typeface="微软雅黑" panose="020B0503020204020204" charset="-122"/>
                  <a:sym typeface="+mn-ea"/>
                </a:endParaRPr>
              </a:p>
            </p:txBody>
          </p:sp>
        </p:grpSp>
        <p:grpSp>
          <p:nvGrpSpPr>
            <p:cNvPr id="72" name="组合 71"/>
            <p:cNvGrpSpPr/>
            <p:nvPr/>
          </p:nvGrpSpPr>
          <p:grpSpPr>
            <a:xfrm>
              <a:off x="790" y="1808"/>
              <a:ext cx="5808" cy="1944"/>
              <a:chOff x="12248" y="4626"/>
              <a:chExt cx="5808" cy="1944"/>
            </a:xfrm>
          </p:grpSpPr>
          <p:sp>
            <p:nvSpPr>
              <p:cNvPr id="73" name="圆角矩形 72"/>
              <p:cNvSpPr/>
              <p:nvPr/>
            </p:nvSpPr>
            <p:spPr>
              <a:xfrm>
                <a:off x="12248" y="4874"/>
                <a:ext cx="5808" cy="1696"/>
              </a:xfrm>
              <a:prstGeom prst="roundRect">
                <a:avLst/>
              </a:prstGeom>
              <a:gradFill>
                <a:gsLst>
                  <a:gs pos="0">
                    <a:schemeClr val="accent1">
                      <a:lumMod val="20000"/>
                      <a:lumOff val="80000"/>
                      <a:alpha val="41000"/>
                    </a:schemeClr>
                  </a:gs>
                  <a:gs pos="100000">
                    <a:schemeClr val="accent1">
                      <a:lumMod val="20000"/>
                      <a:lumOff val="80000"/>
                      <a:alpha val="0"/>
                    </a:schemeClr>
                  </a:gs>
                </a:gsLst>
                <a:lin ang="5400000" scaled="1"/>
              </a:gradFill>
              <a:ln>
                <a:gradFill flip="none" rotWithShape="1">
                  <a:gsLst>
                    <a:gs pos="0">
                      <a:schemeClr val="accent1"/>
                    </a:gs>
                    <a:gs pos="83000">
                      <a:schemeClr val="accent1">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微软雅黑" panose="020B0503020204020204" charset="-122"/>
                  <a:sym typeface="+mn-ea"/>
                </a:endParaRPr>
              </a:p>
            </p:txBody>
          </p:sp>
          <p:sp>
            <p:nvSpPr>
              <p:cNvPr id="74" name="圆角矩形 73"/>
              <p:cNvSpPr/>
              <p:nvPr/>
            </p:nvSpPr>
            <p:spPr>
              <a:xfrm>
                <a:off x="13836" y="4626"/>
                <a:ext cx="2632" cy="626"/>
              </a:xfrm>
              <a:prstGeom prst="roundRect">
                <a:avLst>
                  <a:gd name="adj" fmla="val 50000"/>
                </a:avLst>
              </a:prstGeom>
              <a:gradFill flip="none" rotWithShape="1">
                <a:gsLst>
                  <a:gs pos="0">
                    <a:schemeClr val="accent1">
                      <a:lumMod val="40000"/>
                      <a:lumOff val="60000"/>
                    </a:schemeClr>
                  </a:gs>
                  <a:gs pos="78000">
                    <a:schemeClr val="accent1">
                      <a:lumMod val="60000"/>
                      <a:lumOff val="40000"/>
                    </a:schemeClr>
                  </a:gs>
                </a:gsLst>
                <a:lin ang="2700000" scaled="1"/>
                <a:tileRect/>
              </a:gradFill>
              <a:ln>
                <a:noFill/>
              </a:ln>
              <a:effectLst>
                <a:outerShdw blurRad="190500" dist="50800" dir="5400000" algn="t" rotWithShape="0">
                  <a:schemeClr val="accent1">
                    <a:lumMod val="60000"/>
                    <a:lumOff val="40000"/>
                    <a:alpha val="2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1200" b="1">
                    <a:solidFill>
                      <a:schemeClr val="bg1"/>
                    </a:solidFill>
                    <a:latin typeface="+mj-ea"/>
                    <a:ea typeface="+mj-ea"/>
                    <a:cs typeface="微软雅黑" panose="020B0503020204020204" charset="-122"/>
                    <a:sym typeface="+mn-ea"/>
                  </a:rPr>
                  <a:t>项目推动与资源协调</a:t>
                </a:r>
                <a:endParaRPr lang="zh-CN" altLang="en-US" sz="1200" b="1">
                  <a:solidFill>
                    <a:schemeClr val="bg1"/>
                  </a:solidFill>
                  <a:latin typeface="+mj-ea"/>
                  <a:ea typeface="+mj-ea"/>
                  <a:cs typeface="微软雅黑" panose="020B0503020204020204" charset="-122"/>
                  <a:sym typeface="+mn-ea"/>
                </a:endParaRPr>
              </a:p>
            </p:txBody>
          </p:sp>
        </p:grpSp>
        <p:grpSp>
          <p:nvGrpSpPr>
            <p:cNvPr id="75" name="组合 74"/>
            <p:cNvGrpSpPr/>
            <p:nvPr/>
          </p:nvGrpSpPr>
          <p:grpSpPr>
            <a:xfrm>
              <a:off x="790" y="3943"/>
              <a:ext cx="5808" cy="1944"/>
              <a:chOff x="12248" y="4626"/>
              <a:chExt cx="5808" cy="1944"/>
            </a:xfrm>
          </p:grpSpPr>
          <p:sp>
            <p:nvSpPr>
              <p:cNvPr id="76" name="圆角矩形 75"/>
              <p:cNvSpPr/>
              <p:nvPr/>
            </p:nvSpPr>
            <p:spPr>
              <a:xfrm>
                <a:off x="12248" y="4874"/>
                <a:ext cx="5808" cy="1696"/>
              </a:xfrm>
              <a:prstGeom prst="roundRect">
                <a:avLst/>
              </a:prstGeom>
              <a:gradFill>
                <a:gsLst>
                  <a:gs pos="0">
                    <a:schemeClr val="accent5">
                      <a:lumMod val="20000"/>
                      <a:lumOff val="80000"/>
                      <a:alpha val="41000"/>
                    </a:schemeClr>
                  </a:gs>
                  <a:gs pos="100000">
                    <a:schemeClr val="accent5">
                      <a:lumMod val="20000"/>
                      <a:lumOff val="80000"/>
                      <a:alpha val="0"/>
                    </a:schemeClr>
                  </a:gs>
                </a:gsLst>
                <a:lin ang="5400000" scaled="1"/>
              </a:gradFill>
              <a:ln>
                <a:gradFill flip="none" rotWithShape="1">
                  <a:gsLst>
                    <a:gs pos="0">
                      <a:schemeClr val="accent5"/>
                    </a:gs>
                    <a:gs pos="83000">
                      <a:schemeClr val="accent5">
                        <a:alpha val="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微软雅黑" panose="020B0503020204020204" charset="-122"/>
                  <a:sym typeface="+mn-ea"/>
                </a:endParaRPr>
              </a:p>
            </p:txBody>
          </p:sp>
          <p:sp>
            <p:nvSpPr>
              <p:cNvPr id="77" name="圆角矩形 76"/>
              <p:cNvSpPr/>
              <p:nvPr/>
            </p:nvSpPr>
            <p:spPr>
              <a:xfrm>
                <a:off x="13836" y="4626"/>
                <a:ext cx="2632" cy="626"/>
              </a:xfrm>
              <a:prstGeom prst="roundRect">
                <a:avLst>
                  <a:gd name="adj" fmla="val 50000"/>
                </a:avLst>
              </a:prstGeom>
              <a:gradFill flip="none" rotWithShape="1">
                <a:gsLst>
                  <a:gs pos="0">
                    <a:schemeClr val="accent5">
                      <a:lumMod val="40000"/>
                      <a:lumOff val="60000"/>
                    </a:schemeClr>
                  </a:gs>
                  <a:gs pos="78000">
                    <a:schemeClr val="accent5">
                      <a:lumMod val="60000"/>
                      <a:lumOff val="40000"/>
                    </a:schemeClr>
                  </a:gs>
                </a:gsLst>
                <a:lin ang="2700000" scaled="1"/>
                <a:tileRect/>
              </a:gradFill>
              <a:ln>
                <a:noFill/>
              </a:ln>
              <a:effectLst>
                <a:outerShdw blurRad="190500" dist="50800" dir="5400000" algn="t" rotWithShape="0">
                  <a:schemeClr val="accent5">
                    <a:lumMod val="60000"/>
                    <a:lumOff val="40000"/>
                    <a:alpha val="2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1200" b="1">
                    <a:solidFill>
                      <a:schemeClr val="bg1"/>
                    </a:solidFill>
                    <a:latin typeface="+mj-ea"/>
                    <a:ea typeface="+mj-ea"/>
                    <a:cs typeface="微软雅黑" panose="020B0503020204020204" charset="-122"/>
                    <a:sym typeface="+mn-ea"/>
                  </a:rPr>
                  <a:t>流程优化与团队提效</a:t>
                </a:r>
                <a:endParaRPr lang="zh-CN" altLang="en-US" sz="1200" b="1">
                  <a:solidFill>
                    <a:schemeClr val="bg1"/>
                  </a:solidFill>
                  <a:latin typeface="+mj-ea"/>
                  <a:ea typeface="+mj-ea"/>
                  <a:cs typeface="微软雅黑" panose="020B0503020204020204" charset="-122"/>
                  <a:sym typeface="+mn-ea"/>
                </a:endParaRPr>
              </a:p>
            </p:txBody>
          </p:sp>
        </p:grpSp>
        <p:cxnSp>
          <p:nvCxnSpPr>
            <p:cNvPr id="78" name="直接连接符 77"/>
            <p:cNvCxnSpPr/>
            <p:nvPr/>
          </p:nvCxnSpPr>
          <p:spPr>
            <a:xfrm>
              <a:off x="8107" y="2340"/>
              <a:ext cx="0" cy="5019"/>
            </a:xfrm>
            <a:prstGeom prst="line">
              <a:avLst/>
            </a:prstGeom>
            <a:ln>
              <a:gradFill>
                <a:gsLst>
                  <a:gs pos="0">
                    <a:schemeClr val="accent1">
                      <a:lumMod val="60000"/>
                      <a:lumOff val="40000"/>
                      <a:alpha val="0"/>
                    </a:schemeClr>
                  </a:gs>
                  <a:gs pos="52000">
                    <a:srgbClr val="4E88D4">
                      <a:alpha val="100000"/>
                    </a:srgbClr>
                  </a:gs>
                  <a:gs pos="100000">
                    <a:schemeClr val="accent1">
                      <a:lumMod val="60000"/>
                      <a:lumOff val="40000"/>
                      <a:alpha val="0"/>
                    </a:schemeClr>
                  </a:gs>
                </a:gsLst>
                <a:lin ang="5400000" scaled="1"/>
              </a:gradFill>
            </a:ln>
          </p:spPr>
          <p:style>
            <a:lnRef idx="2">
              <a:schemeClr val="accent1"/>
            </a:lnRef>
            <a:fillRef idx="0">
              <a:srgbClr val="FFFFFF"/>
            </a:fillRef>
            <a:effectRef idx="0">
              <a:srgbClr val="FFFFFF"/>
            </a:effectRef>
            <a:fontRef idx="minor">
              <a:schemeClr val="tx1"/>
            </a:fontRef>
          </p:style>
        </p:cxnSp>
        <p:cxnSp>
          <p:nvCxnSpPr>
            <p:cNvPr id="79" name="直接连接符 78"/>
            <p:cNvCxnSpPr/>
            <p:nvPr/>
          </p:nvCxnSpPr>
          <p:spPr>
            <a:xfrm flipH="1">
              <a:off x="6584" y="2780"/>
              <a:ext cx="1408" cy="0"/>
            </a:xfrm>
            <a:prstGeom prst="line">
              <a:avLst/>
            </a:prstGeom>
            <a:ln>
              <a:solidFill>
                <a:schemeClr val="accent1">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80" name="直接连接符 79"/>
            <p:cNvCxnSpPr/>
            <p:nvPr/>
          </p:nvCxnSpPr>
          <p:spPr>
            <a:xfrm flipH="1">
              <a:off x="6598" y="6868"/>
              <a:ext cx="1498" cy="0"/>
            </a:xfrm>
            <a:prstGeom prst="line">
              <a:avLst/>
            </a:prstGeom>
            <a:ln>
              <a:solidFill>
                <a:schemeClr val="accent1">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81" name="直接连接符 80"/>
            <p:cNvCxnSpPr/>
            <p:nvPr/>
          </p:nvCxnSpPr>
          <p:spPr>
            <a:xfrm flipH="1">
              <a:off x="6598" y="4849"/>
              <a:ext cx="1498" cy="0"/>
            </a:xfrm>
            <a:prstGeom prst="line">
              <a:avLst/>
            </a:prstGeom>
            <a:ln>
              <a:solidFill>
                <a:schemeClr val="accent5">
                  <a:lumMod val="40000"/>
                  <a:lumOff val="60000"/>
                </a:schemeClr>
              </a:solidFill>
            </a:ln>
          </p:spPr>
          <p:style>
            <a:lnRef idx="2">
              <a:schemeClr val="accent1"/>
            </a:lnRef>
            <a:fillRef idx="0">
              <a:srgbClr val="FFFFFF"/>
            </a:fillRef>
            <a:effectRef idx="0">
              <a:srgbClr val="FFFFFF"/>
            </a:effectRef>
            <a:fontRef idx="minor">
              <a:schemeClr val="tx1"/>
            </a:fontRef>
          </p:style>
        </p:cxnSp>
        <p:sp>
          <p:nvSpPr>
            <p:cNvPr id="82" name="显眼包PPT-3"/>
            <p:cNvSpPr/>
            <p:nvPr/>
          </p:nvSpPr>
          <p:spPr>
            <a:xfrm>
              <a:off x="7992" y="6760"/>
              <a:ext cx="230" cy="215"/>
            </a:xfrm>
            <a:prstGeom prst="ellipse">
              <a:avLst/>
            </a:prstGeom>
            <a:gradFill flip="none" rotWithShape="1">
              <a:gsLst>
                <a:gs pos="13000">
                  <a:schemeClr val="accent1">
                    <a:lumMod val="40000"/>
                    <a:lumOff val="60000"/>
                  </a:schemeClr>
                </a:gs>
                <a:gs pos="55000">
                  <a:schemeClr val="accent1">
                    <a:lumMod val="60000"/>
                    <a:lumOff val="40000"/>
                  </a:schemeClr>
                </a:gs>
                <a:gs pos="100000">
                  <a:schemeClr val="accent1"/>
                </a:gs>
              </a:gsLst>
              <a:path path="circle">
                <a:fillToRect r="100000" b="100000"/>
              </a:path>
              <a:tileRect l="-100000" t="-100000"/>
            </a:gradFill>
            <a:ln w="22225">
              <a:gradFill flip="none" rotWithShape="1">
                <a:gsLst>
                  <a:gs pos="0">
                    <a:schemeClr val="bg1"/>
                  </a:gs>
                  <a:gs pos="55500">
                    <a:srgbClr val="FFFFFF">
                      <a:alpha val="40000"/>
                    </a:srgbClr>
                  </a:gs>
                  <a:gs pos="100000">
                    <a:schemeClr val="bg1">
                      <a:alpha val="78000"/>
                    </a:schemeClr>
                  </a:gs>
                </a:gsLst>
                <a:lin ang="10800000" scaled="1"/>
                <a:tileRect/>
              </a:gradFill>
            </a:ln>
            <a:effectLst>
              <a:outerShdw blurRad="190500" dist="25400" dir="5400000" sx="90000" sy="90000" algn="t" rotWithShape="0">
                <a:schemeClr val="accent1">
                  <a:lumMod val="60000"/>
                  <a:lumOff val="40000"/>
                  <a:alpha val="7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mn-ea"/>
                <a:cs typeface="微软雅黑" panose="020B0503020204020204" charset="-122"/>
              </a:endParaRPr>
            </a:p>
          </p:txBody>
        </p:sp>
        <p:sp>
          <p:nvSpPr>
            <p:cNvPr id="83" name="显眼包PPT-3"/>
            <p:cNvSpPr/>
            <p:nvPr/>
          </p:nvSpPr>
          <p:spPr>
            <a:xfrm>
              <a:off x="8010" y="4741"/>
              <a:ext cx="230" cy="215"/>
            </a:xfrm>
            <a:prstGeom prst="ellipse">
              <a:avLst/>
            </a:prstGeom>
            <a:gradFill flip="none" rotWithShape="1">
              <a:gsLst>
                <a:gs pos="13000">
                  <a:schemeClr val="accent5">
                    <a:lumMod val="40000"/>
                    <a:lumOff val="60000"/>
                  </a:schemeClr>
                </a:gs>
                <a:gs pos="55000">
                  <a:schemeClr val="accent5">
                    <a:lumMod val="60000"/>
                    <a:lumOff val="40000"/>
                  </a:schemeClr>
                </a:gs>
                <a:gs pos="100000">
                  <a:schemeClr val="accent5"/>
                </a:gs>
              </a:gsLst>
              <a:path path="circle">
                <a:fillToRect r="100000" b="100000"/>
              </a:path>
              <a:tileRect l="-100000" t="-100000"/>
            </a:gradFill>
            <a:ln w="22225">
              <a:gradFill flip="none" rotWithShape="1">
                <a:gsLst>
                  <a:gs pos="0">
                    <a:schemeClr val="bg1"/>
                  </a:gs>
                  <a:gs pos="55500">
                    <a:srgbClr val="FFFFFF">
                      <a:alpha val="40000"/>
                    </a:srgbClr>
                  </a:gs>
                  <a:gs pos="100000">
                    <a:schemeClr val="bg1">
                      <a:alpha val="78000"/>
                    </a:schemeClr>
                  </a:gs>
                </a:gsLst>
                <a:lin ang="10800000" scaled="1"/>
                <a:tileRect/>
              </a:gradFill>
            </a:ln>
            <a:effectLst>
              <a:outerShdw blurRad="190500" dist="25400" dir="5400000" sx="90000" sy="90000" algn="t" rotWithShape="0">
                <a:schemeClr val="accent5">
                  <a:lumMod val="60000"/>
                  <a:lumOff val="40000"/>
                  <a:alpha val="7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mn-ea"/>
                <a:cs typeface="微软雅黑" panose="020B0503020204020204" charset="-122"/>
              </a:endParaRPr>
            </a:p>
          </p:txBody>
        </p:sp>
        <p:sp>
          <p:nvSpPr>
            <p:cNvPr id="84" name="显眼包PPT-3"/>
            <p:cNvSpPr/>
            <p:nvPr/>
          </p:nvSpPr>
          <p:spPr>
            <a:xfrm>
              <a:off x="7992" y="2672"/>
              <a:ext cx="230" cy="215"/>
            </a:xfrm>
            <a:prstGeom prst="ellipse">
              <a:avLst/>
            </a:prstGeom>
            <a:gradFill flip="none" rotWithShape="1">
              <a:gsLst>
                <a:gs pos="13000">
                  <a:schemeClr val="accent1">
                    <a:lumMod val="40000"/>
                    <a:lumOff val="60000"/>
                  </a:schemeClr>
                </a:gs>
                <a:gs pos="55000">
                  <a:schemeClr val="accent1">
                    <a:lumMod val="60000"/>
                    <a:lumOff val="40000"/>
                  </a:schemeClr>
                </a:gs>
                <a:gs pos="100000">
                  <a:schemeClr val="accent1"/>
                </a:gs>
              </a:gsLst>
              <a:path path="circle">
                <a:fillToRect r="100000" b="100000"/>
              </a:path>
              <a:tileRect l="-100000" t="-100000"/>
            </a:gradFill>
            <a:ln w="22225">
              <a:gradFill flip="none" rotWithShape="1">
                <a:gsLst>
                  <a:gs pos="0">
                    <a:schemeClr val="bg1"/>
                  </a:gs>
                  <a:gs pos="55500">
                    <a:srgbClr val="FFFFFF">
                      <a:alpha val="40000"/>
                    </a:srgbClr>
                  </a:gs>
                  <a:gs pos="100000">
                    <a:schemeClr val="bg1">
                      <a:alpha val="78000"/>
                    </a:schemeClr>
                  </a:gs>
                </a:gsLst>
                <a:lin ang="10800000" scaled="1"/>
                <a:tileRect/>
              </a:gradFill>
            </a:ln>
            <a:effectLst>
              <a:outerShdw blurRad="190500" dist="25400" dir="5400000" sx="90000" sy="90000" algn="t" rotWithShape="0">
                <a:schemeClr val="accent1">
                  <a:lumMod val="60000"/>
                  <a:lumOff val="40000"/>
                  <a:alpha val="7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97841" tIns="48920" rIns="97841" bIns="48920" rtlCol="0" anchor="ct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mn-ea"/>
                <a:cs typeface="微软雅黑" panose="020B0503020204020204" charset="-122"/>
              </a:endParaRPr>
            </a:p>
          </p:txBody>
        </p:sp>
      </p:grpSp>
      <p:sp>
        <p:nvSpPr>
          <p:cNvPr id="85" name="文本框 84"/>
          <p:cNvSpPr txBox="1"/>
          <p:nvPr/>
        </p:nvSpPr>
        <p:spPr>
          <a:xfrm>
            <a:off x="5915660" y="2005330"/>
            <a:ext cx="381635" cy="1865630"/>
          </a:xfrm>
          <a:prstGeom prst="rect">
            <a:avLst/>
          </a:prstGeom>
        </p:spPr>
        <p:txBody>
          <a:bodyPr vert="eaVert" wrap="square" anchor="ctr" anchorCtr="0">
            <a:noAutofit/>
            <a:extLst>
              <a:ext uri="{4A0BC546-FE56-4ADE-93B0-CB8AF2F6F144}">
                <wpsdc:textFrameExt xmlns:wpsdc="http://www.wps.cn/officeDocument/2022/drawingmlCustomData" type="text"/>
              </a:ext>
            </a:extLst>
          </a:bodyPr>
          <a:p>
            <a:pPr indent="0" algn="ctr" fontAlgn="auto">
              <a:lnSpc>
                <a:spcPct val="100000"/>
              </a:lnSpc>
              <a:spcBef>
                <a:spcPts val="0"/>
              </a:spcBef>
              <a:spcAft>
                <a:spcPts val="0"/>
              </a:spcAft>
            </a:pPr>
            <a:r>
              <a:rPr lang="zh-CN" altLang="en-US" sz="1600" b="1">
                <a:solidFill>
                  <a:schemeClr val="bg1"/>
                </a:solidFill>
                <a:latin typeface="微软雅黑" panose="020B0503020204020204" charset="-122"/>
                <a:ea typeface="微软雅黑" panose="020B0503020204020204" charset="-122"/>
                <a:cs typeface="微软雅黑" panose="020B0503020204020204" charset="-122"/>
              </a:rPr>
              <a:t>个</a:t>
            </a:r>
            <a:r>
              <a:rPr lang="en-US" altLang="zh-CN" sz="1600" b="1">
                <a:solidFill>
                  <a:schemeClr val="bg1"/>
                </a:solidFill>
                <a:latin typeface="微软雅黑" panose="020B0503020204020204" charset="-122"/>
                <a:ea typeface="微软雅黑" panose="020B0503020204020204" charset="-122"/>
                <a:cs typeface="微软雅黑" panose="020B0503020204020204" charset="-122"/>
              </a:rPr>
              <a:t> </a:t>
            </a:r>
            <a:r>
              <a:rPr lang="zh-CN" altLang="en-US" sz="1600" b="1">
                <a:solidFill>
                  <a:schemeClr val="bg1"/>
                </a:solidFill>
                <a:latin typeface="微软雅黑" panose="020B0503020204020204" charset="-122"/>
                <a:ea typeface="微软雅黑" panose="020B0503020204020204" charset="-122"/>
                <a:cs typeface="微软雅黑" panose="020B0503020204020204" charset="-122"/>
              </a:rPr>
              <a:t>人</a:t>
            </a:r>
            <a:r>
              <a:rPr lang="en-US" altLang="zh-CN" sz="1600" b="1">
                <a:solidFill>
                  <a:schemeClr val="bg1"/>
                </a:solidFill>
                <a:latin typeface="微软雅黑" panose="020B0503020204020204" charset="-122"/>
                <a:ea typeface="微软雅黑" panose="020B0503020204020204" charset="-122"/>
                <a:cs typeface="微软雅黑" panose="020B0503020204020204" charset="-122"/>
              </a:rPr>
              <a:t> </a:t>
            </a:r>
            <a:r>
              <a:rPr lang="zh-CN" altLang="en-US" sz="1600" b="1">
                <a:solidFill>
                  <a:schemeClr val="bg1"/>
                </a:solidFill>
                <a:latin typeface="微软雅黑" panose="020B0503020204020204" charset="-122"/>
                <a:ea typeface="微软雅黑" panose="020B0503020204020204" charset="-122"/>
                <a:cs typeface="微软雅黑" panose="020B0503020204020204" charset="-122"/>
              </a:rPr>
              <a:t>能</a:t>
            </a:r>
            <a:r>
              <a:rPr lang="en-US" altLang="zh-CN" sz="1600" b="1">
                <a:solidFill>
                  <a:schemeClr val="bg1"/>
                </a:solidFill>
                <a:latin typeface="微软雅黑" panose="020B0503020204020204" charset="-122"/>
                <a:ea typeface="微软雅黑" panose="020B0503020204020204" charset="-122"/>
                <a:cs typeface="微软雅黑" panose="020B0503020204020204" charset="-122"/>
              </a:rPr>
              <a:t> </a:t>
            </a:r>
            <a:r>
              <a:rPr lang="zh-CN" altLang="en-US" sz="1600" b="1">
                <a:solidFill>
                  <a:schemeClr val="bg1"/>
                </a:solidFill>
                <a:latin typeface="微软雅黑" panose="020B0503020204020204" charset="-122"/>
                <a:ea typeface="微软雅黑" panose="020B0503020204020204" charset="-122"/>
                <a:cs typeface="微软雅黑" panose="020B0503020204020204" charset="-122"/>
              </a:rPr>
              <a:t>力</a:t>
            </a:r>
            <a:r>
              <a:rPr lang="en-US" altLang="zh-CN" sz="1600" b="1">
                <a:solidFill>
                  <a:schemeClr val="bg1"/>
                </a:solidFill>
                <a:latin typeface="微软雅黑" panose="020B0503020204020204" charset="-122"/>
                <a:ea typeface="微软雅黑" panose="020B0503020204020204" charset="-122"/>
                <a:cs typeface="微软雅黑" panose="020B0503020204020204" charset="-122"/>
              </a:rPr>
              <a:t> </a:t>
            </a:r>
            <a:r>
              <a:rPr lang="zh-CN" altLang="en-US" sz="1600" b="1">
                <a:solidFill>
                  <a:schemeClr val="bg1"/>
                </a:solidFill>
                <a:latin typeface="微软雅黑" panose="020B0503020204020204" charset="-122"/>
                <a:ea typeface="微软雅黑" panose="020B0503020204020204" charset="-122"/>
                <a:cs typeface="微软雅黑" panose="020B0503020204020204" charset="-122"/>
              </a:rPr>
              <a:t>成</a:t>
            </a:r>
            <a:r>
              <a:rPr lang="en-US" altLang="zh-CN" sz="1600" b="1">
                <a:solidFill>
                  <a:schemeClr val="bg1"/>
                </a:solidFill>
                <a:latin typeface="微软雅黑" panose="020B0503020204020204" charset="-122"/>
                <a:ea typeface="微软雅黑" panose="020B0503020204020204" charset="-122"/>
                <a:cs typeface="微软雅黑" panose="020B0503020204020204" charset="-122"/>
              </a:rPr>
              <a:t> </a:t>
            </a:r>
            <a:r>
              <a:rPr lang="zh-CN" altLang="en-US" sz="1600" b="1">
                <a:solidFill>
                  <a:schemeClr val="bg1"/>
                </a:solidFill>
                <a:latin typeface="微软雅黑" panose="020B0503020204020204" charset="-122"/>
                <a:ea typeface="微软雅黑" panose="020B0503020204020204" charset="-122"/>
                <a:cs typeface="微软雅黑" panose="020B0503020204020204" charset="-122"/>
              </a:rPr>
              <a:t>长</a:t>
            </a:r>
            <a:endParaRPr lang="zh-CN" altLang="en-US" sz="16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6" name="Freeform 245"/>
          <p:cNvSpPr/>
          <p:nvPr/>
        </p:nvSpPr>
        <p:spPr bwMode="auto">
          <a:xfrm rot="19260000">
            <a:off x="6001068" y="1821180"/>
            <a:ext cx="210820" cy="210820"/>
          </a:xfrm>
          <a:custGeom>
            <a:avLst/>
            <a:gdLst/>
            <a:ahLst/>
            <a:cxnLst>
              <a:cxn ang="0">
                <a:pos x="68" y="3"/>
              </a:cxn>
              <a:cxn ang="0">
                <a:pos x="58" y="61"/>
              </a:cxn>
              <a:cxn ang="0">
                <a:pos x="57" y="63"/>
              </a:cxn>
              <a:cxn ang="0">
                <a:pos x="56" y="63"/>
              </a:cxn>
              <a:cxn ang="0">
                <a:pos x="55" y="63"/>
              </a:cxn>
              <a:cxn ang="0">
                <a:pos x="38" y="56"/>
              </a:cxn>
              <a:cxn ang="0">
                <a:pos x="28" y="67"/>
              </a:cxn>
              <a:cxn ang="0">
                <a:pos x="26" y="68"/>
              </a:cxn>
              <a:cxn ang="0">
                <a:pos x="26" y="68"/>
              </a:cxn>
              <a:cxn ang="0">
                <a:pos x="24" y="65"/>
              </a:cxn>
              <a:cxn ang="0">
                <a:pos x="24" y="52"/>
              </a:cxn>
              <a:cxn ang="0">
                <a:pos x="57" y="12"/>
              </a:cxn>
              <a:cxn ang="0">
                <a:pos x="16" y="47"/>
              </a:cxn>
              <a:cxn ang="0">
                <a:pos x="1" y="41"/>
              </a:cxn>
              <a:cxn ang="0">
                <a:pos x="0" y="39"/>
              </a:cxn>
              <a:cxn ang="0">
                <a:pos x="1" y="36"/>
              </a:cxn>
              <a:cxn ang="0">
                <a:pos x="64" y="0"/>
              </a:cxn>
              <a:cxn ang="0">
                <a:pos x="65" y="0"/>
              </a:cxn>
              <a:cxn ang="0">
                <a:pos x="67" y="0"/>
              </a:cxn>
              <a:cxn ang="0">
                <a:pos x="68" y="3"/>
              </a:cxn>
            </a:cxnLst>
            <a:rect l="0" t="0" r="r" b="b"/>
            <a:pathLst>
              <a:path w="68" h="68">
                <a:moveTo>
                  <a:pt x="68" y="3"/>
                </a:moveTo>
                <a:cubicBezTo>
                  <a:pt x="58" y="61"/>
                  <a:pt x="58" y="61"/>
                  <a:pt x="58" y="61"/>
                </a:cubicBezTo>
                <a:cubicBezTo>
                  <a:pt x="58" y="62"/>
                  <a:pt x="57" y="62"/>
                  <a:pt x="57" y="63"/>
                </a:cubicBezTo>
                <a:cubicBezTo>
                  <a:pt x="56" y="63"/>
                  <a:pt x="56" y="63"/>
                  <a:pt x="56" y="63"/>
                </a:cubicBezTo>
                <a:cubicBezTo>
                  <a:pt x="55" y="63"/>
                  <a:pt x="55" y="63"/>
                  <a:pt x="55" y="63"/>
                </a:cubicBezTo>
                <a:cubicBezTo>
                  <a:pt x="38" y="56"/>
                  <a:pt x="38" y="56"/>
                  <a:pt x="38" y="56"/>
                </a:cubicBezTo>
                <a:cubicBezTo>
                  <a:pt x="28" y="67"/>
                  <a:pt x="28" y="67"/>
                  <a:pt x="28" y="67"/>
                </a:cubicBezTo>
                <a:cubicBezTo>
                  <a:pt x="28" y="67"/>
                  <a:pt x="27" y="68"/>
                  <a:pt x="26" y="68"/>
                </a:cubicBezTo>
                <a:cubicBezTo>
                  <a:pt x="26" y="68"/>
                  <a:pt x="26" y="68"/>
                  <a:pt x="26" y="68"/>
                </a:cubicBezTo>
                <a:cubicBezTo>
                  <a:pt x="25" y="67"/>
                  <a:pt x="24" y="66"/>
                  <a:pt x="24" y="65"/>
                </a:cubicBezTo>
                <a:cubicBezTo>
                  <a:pt x="24" y="52"/>
                  <a:pt x="24" y="52"/>
                  <a:pt x="24" y="52"/>
                </a:cubicBezTo>
                <a:cubicBezTo>
                  <a:pt x="57" y="12"/>
                  <a:pt x="57" y="12"/>
                  <a:pt x="57" y="12"/>
                </a:cubicBezTo>
                <a:cubicBezTo>
                  <a:pt x="16" y="47"/>
                  <a:pt x="16" y="47"/>
                  <a:pt x="16" y="47"/>
                </a:cubicBezTo>
                <a:cubicBezTo>
                  <a:pt x="1" y="41"/>
                  <a:pt x="1" y="41"/>
                  <a:pt x="1" y="41"/>
                </a:cubicBezTo>
                <a:cubicBezTo>
                  <a:pt x="0" y="40"/>
                  <a:pt x="0" y="40"/>
                  <a:pt x="0" y="39"/>
                </a:cubicBezTo>
                <a:cubicBezTo>
                  <a:pt x="0" y="38"/>
                  <a:pt x="0" y="37"/>
                  <a:pt x="1" y="36"/>
                </a:cubicBezTo>
                <a:cubicBezTo>
                  <a:pt x="64" y="0"/>
                  <a:pt x="64" y="0"/>
                  <a:pt x="64" y="0"/>
                </a:cubicBezTo>
                <a:cubicBezTo>
                  <a:pt x="65" y="0"/>
                  <a:pt x="65" y="0"/>
                  <a:pt x="65" y="0"/>
                </a:cubicBezTo>
                <a:cubicBezTo>
                  <a:pt x="66" y="0"/>
                  <a:pt x="66" y="0"/>
                  <a:pt x="67" y="0"/>
                </a:cubicBezTo>
                <a:cubicBezTo>
                  <a:pt x="68" y="1"/>
                  <a:pt x="68" y="2"/>
                  <a:pt x="68" y="3"/>
                </a:cubicBezTo>
                <a:close/>
              </a:path>
            </a:pathLst>
          </a:custGeom>
          <a:solidFill>
            <a:schemeClr val="bg1"/>
          </a:solidFill>
          <a:ln w="9525">
            <a:noFill/>
            <a:round/>
          </a:ln>
          <a:effectLst/>
        </p:spPr>
        <p:txBody>
          <a:bodyPr vert="horz" wrap="square" lIns="87782" tIns="43891" rIns="87782" bIns="43891" numCol="1" anchor="t" anchorCtr="0" compatLnSpc="1"/>
          <a:lstStyle/>
          <a:p>
            <a:pPr marL="0" marR="0" lvl="0" indent="0" algn="l" defTabSz="914400" rtl="0" eaLnBrk="1" fontAlgn="auto" latinLnBrk="0" hangingPunct="1">
              <a:lnSpc>
                <a:spcPct val="100000"/>
              </a:lnSpc>
              <a:spcBef>
                <a:spcPts val="0"/>
              </a:spcBef>
              <a:buClrTx/>
              <a:buSzTx/>
              <a:buFontTx/>
              <a:buNone/>
              <a:defRPr/>
            </a:pPr>
            <a:endParaRPr kumimoji="0" lang="en-US" sz="173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7" name="椭圆 86"/>
          <p:cNvSpPr/>
          <p:nvPr/>
        </p:nvSpPr>
        <p:spPr>
          <a:xfrm>
            <a:off x="5938785" y="1764665"/>
            <a:ext cx="309880" cy="309880"/>
          </a:xfrm>
          <a:prstGeom prst="ellipse">
            <a:avLst/>
          </a:prstGeom>
          <a:solidFill>
            <a:schemeClr val="bg1"/>
          </a:solidFill>
          <a:ln w="60960">
            <a:noFill/>
          </a:ln>
          <a:effectLst/>
        </p:spPr>
        <p:style>
          <a:lnRef idx="2">
            <a:schemeClr val="accent1">
              <a:shade val="15000"/>
            </a:schemeClr>
          </a:lnRef>
          <a:fillRef idx="1">
            <a:schemeClr val="accent1"/>
          </a:fillRef>
          <a:effectRef idx="0">
            <a:schemeClr val="accent1"/>
          </a:effectRef>
          <a:fontRef idx="minor">
            <a:schemeClr val="lt1"/>
          </a:fontRef>
        </p:style>
        <p:txBody>
          <a:bodyPr lIns="87782" tIns="43891" rIns="87782" bIns="43891"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73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0" name="Freeform 245"/>
          <p:cNvSpPr/>
          <p:nvPr/>
        </p:nvSpPr>
        <p:spPr bwMode="auto">
          <a:xfrm>
            <a:off x="5978790" y="1823720"/>
            <a:ext cx="191770" cy="191770"/>
          </a:xfrm>
          <a:custGeom>
            <a:avLst/>
            <a:gdLst/>
            <a:ahLst/>
            <a:cxnLst>
              <a:cxn ang="0">
                <a:pos x="68" y="3"/>
              </a:cxn>
              <a:cxn ang="0">
                <a:pos x="58" y="61"/>
              </a:cxn>
              <a:cxn ang="0">
                <a:pos x="57" y="63"/>
              </a:cxn>
              <a:cxn ang="0">
                <a:pos x="56" y="63"/>
              </a:cxn>
              <a:cxn ang="0">
                <a:pos x="55" y="63"/>
              </a:cxn>
              <a:cxn ang="0">
                <a:pos x="38" y="56"/>
              </a:cxn>
              <a:cxn ang="0">
                <a:pos x="28" y="67"/>
              </a:cxn>
              <a:cxn ang="0">
                <a:pos x="26" y="68"/>
              </a:cxn>
              <a:cxn ang="0">
                <a:pos x="26" y="68"/>
              </a:cxn>
              <a:cxn ang="0">
                <a:pos x="24" y="65"/>
              </a:cxn>
              <a:cxn ang="0">
                <a:pos x="24" y="52"/>
              </a:cxn>
              <a:cxn ang="0">
                <a:pos x="57" y="12"/>
              </a:cxn>
              <a:cxn ang="0">
                <a:pos x="16" y="47"/>
              </a:cxn>
              <a:cxn ang="0">
                <a:pos x="1" y="41"/>
              </a:cxn>
              <a:cxn ang="0">
                <a:pos x="0" y="39"/>
              </a:cxn>
              <a:cxn ang="0">
                <a:pos x="1" y="36"/>
              </a:cxn>
              <a:cxn ang="0">
                <a:pos x="64" y="0"/>
              </a:cxn>
              <a:cxn ang="0">
                <a:pos x="65" y="0"/>
              </a:cxn>
              <a:cxn ang="0">
                <a:pos x="67" y="0"/>
              </a:cxn>
              <a:cxn ang="0">
                <a:pos x="68" y="3"/>
              </a:cxn>
            </a:cxnLst>
            <a:rect l="0" t="0" r="r" b="b"/>
            <a:pathLst>
              <a:path w="68" h="68">
                <a:moveTo>
                  <a:pt x="68" y="3"/>
                </a:moveTo>
                <a:cubicBezTo>
                  <a:pt x="58" y="61"/>
                  <a:pt x="58" y="61"/>
                  <a:pt x="58" y="61"/>
                </a:cubicBezTo>
                <a:cubicBezTo>
                  <a:pt x="58" y="62"/>
                  <a:pt x="57" y="62"/>
                  <a:pt x="57" y="63"/>
                </a:cubicBezTo>
                <a:cubicBezTo>
                  <a:pt x="56" y="63"/>
                  <a:pt x="56" y="63"/>
                  <a:pt x="56" y="63"/>
                </a:cubicBezTo>
                <a:cubicBezTo>
                  <a:pt x="55" y="63"/>
                  <a:pt x="55" y="63"/>
                  <a:pt x="55" y="63"/>
                </a:cubicBezTo>
                <a:cubicBezTo>
                  <a:pt x="38" y="56"/>
                  <a:pt x="38" y="56"/>
                  <a:pt x="38" y="56"/>
                </a:cubicBezTo>
                <a:cubicBezTo>
                  <a:pt x="28" y="67"/>
                  <a:pt x="28" y="67"/>
                  <a:pt x="28" y="67"/>
                </a:cubicBezTo>
                <a:cubicBezTo>
                  <a:pt x="28" y="67"/>
                  <a:pt x="27" y="68"/>
                  <a:pt x="26" y="68"/>
                </a:cubicBezTo>
                <a:cubicBezTo>
                  <a:pt x="26" y="68"/>
                  <a:pt x="26" y="68"/>
                  <a:pt x="26" y="68"/>
                </a:cubicBezTo>
                <a:cubicBezTo>
                  <a:pt x="25" y="67"/>
                  <a:pt x="24" y="66"/>
                  <a:pt x="24" y="65"/>
                </a:cubicBezTo>
                <a:cubicBezTo>
                  <a:pt x="24" y="52"/>
                  <a:pt x="24" y="52"/>
                  <a:pt x="24" y="52"/>
                </a:cubicBezTo>
                <a:cubicBezTo>
                  <a:pt x="57" y="12"/>
                  <a:pt x="57" y="12"/>
                  <a:pt x="57" y="12"/>
                </a:cubicBezTo>
                <a:cubicBezTo>
                  <a:pt x="16" y="47"/>
                  <a:pt x="16" y="47"/>
                  <a:pt x="16" y="47"/>
                </a:cubicBezTo>
                <a:cubicBezTo>
                  <a:pt x="1" y="41"/>
                  <a:pt x="1" y="41"/>
                  <a:pt x="1" y="41"/>
                </a:cubicBezTo>
                <a:cubicBezTo>
                  <a:pt x="0" y="40"/>
                  <a:pt x="0" y="40"/>
                  <a:pt x="0" y="39"/>
                </a:cubicBezTo>
                <a:cubicBezTo>
                  <a:pt x="0" y="38"/>
                  <a:pt x="0" y="37"/>
                  <a:pt x="1" y="36"/>
                </a:cubicBezTo>
                <a:cubicBezTo>
                  <a:pt x="64" y="0"/>
                  <a:pt x="64" y="0"/>
                  <a:pt x="64" y="0"/>
                </a:cubicBezTo>
                <a:cubicBezTo>
                  <a:pt x="65" y="0"/>
                  <a:pt x="65" y="0"/>
                  <a:pt x="65" y="0"/>
                </a:cubicBezTo>
                <a:cubicBezTo>
                  <a:pt x="66" y="0"/>
                  <a:pt x="66" y="0"/>
                  <a:pt x="67" y="0"/>
                </a:cubicBezTo>
                <a:cubicBezTo>
                  <a:pt x="68" y="1"/>
                  <a:pt x="68" y="2"/>
                  <a:pt x="68" y="3"/>
                </a:cubicBezTo>
                <a:close/>
              </a:path>
            </a:pathLst>
          </a:custGeom>
          <a:solidFill>
            <a:schemeClr val="accent5"/>
          </a:solidFill>
          <a:ln w="9525">
            <a:solidFill>
              <a:schemeClr val="bg1"/>
            </a:solidFill>
            <a:round/>
          </a:ln>
          <a:effectLst/>
        </p:spPr>
        <p:txBody>
          <a:bodyPr vert="horz" wrap="square" lIns="87782" tIns="43891" rIns="87782" bIns="43891" numCol="1" anchor="t" anchorCtr="0" compatLnSpc="1"/>
          <a:lstStyle/>
          <a:p>
            <a:pPr marL="0" marR="0" lvl="0" indent="0" algn="l" defTabSz="914400" rtl="0" eaLnBrk="1" fontAlgn="auto" latinLnBrk="0" hangingPunct="1">
              <a:lnSpc>
                <a:spcPct val="100000"/>
              </a:lnSpc>
              <a:spcBef>
                <a:spcPts val="0"/>
              </a:spcBef>
              <a:buClrTx/>
              <a:buSzTx/>
              <a:buFontTx/>
              <a:buNone/>
              <a:defRPr/>
            </a:pPr>
            <a:endParaRPr kumimoji="0" lang="en-US" sz="173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9" name="文本框 158"/>
          <p:cNvSpPr txBox="1"/>
          <p:nvPr/>
        </p:nvSpPr>
        <p:spPr>
          <a:xfrm>
            <a:off x="603250" y="1675765"/>
            <a:ext cx="3439795" cy="553085"/>
          </a:xfrm>
          <a:prstGeom prst="rect">
            <a:avLst/>
          </a:prstGeom>
          <a:noFill/>
        </p:spPr>
        <p:txBody>
          <a:bodyPr wrap="square">
            <a:spAutoFit/>
          </a:bodyPr>
          <a:lstStyle/>
          <a:p>
            <a:pPr>
              <a:lnSpc>
                <a:spcPct val="125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在数据建模上持续钻研，主动挑战了</a:t>
            </a:r>
            <a:r>
              <a:rPr lang="en-US" altLang="zh-CN" sz="8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某个高难度任务或技术瓶颈</a:t>
            </a:r>
            <a:r>
              <a:rPr lang="en-US" altLang="zh-CN" sz="8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，通过源码级研究、引入新框架、自研工具，不仅解决了问题，更为团队沉淀了一套性能调优规范、一个可复用的组件库。</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1" name="文本框 90"/>
          <p:cNvSpPr txBox="1"/>
          <p:nvPr/>
        </p:nvSpPr>
        <p:spPr>
          <a:xfrm>
            <a:off x="4358640" y="1322070"/>
            <a:ext cx="1231265" cy="340995"/>
          </a:xfrm>
          <a:prstGeom prst="rect">
            <a:avLst/>
          </a:prstGeom>
          <a:noFill/>
        </p:spPr>
        <p:txBody>
          <a:bodyPr wrap="square">
            <a:spAutoFit/>
          </a:bodyPr>
          <a:lstStyle/>
          <a:p>
            <a:pPr algn="ctr">
              <a:lnSpc>
                <a:spcPct val="125000"/>
              </a:lnSpc>
            </a:pPr>
            <a:r>
              <a:rPr lang="zh-CN" altLang="en-US" sz="1300" b="1" dirty="0">
                <a:solidFill>
                  <a:schemeClr val="accent1"/>
                </a:solidFill>
                <a:latin typeface="微软雅黑" panose="020B0503020204020204" charset="-122"/>
                <a:ea typeface="微软雅黑" panose="020B0503020204020204" charset="-122"/>
                <a:cs typeface="微软雅黑" panose="020B0503020204020204" charset="-122"/>
              </a:rPr>
              <a:t>专业能力提升</a:t>
            </a:r>
            <a:endParaRPr lang="zh-CN" altLang="en-US" sz="13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06" name="圆角矩形 105"/>
          <p:cNvSpPr/>
          <p:nvPr/>
        </p:nvSpPr>
        <p:spPr>
          <a:xfrm>
            <a:off x="4846638" y="1113790"/>
            <a:ext cx="255270" cy="217805"/>
          </a:xfrm>
          <a:prstGeom prst="roundRect">
            <a:avLst/>
          </a:prstGeom>
          <a:gradFill>
            <a:gsLst>
              <a:gs pos="0">
                <a:schemeClr val="accent1">
                  <a:lumMod val="60000"/>
                  <a:lumOff val="40000"/>
                </a:schemeClr>
              </a:gs>
              <a:gs pos="78000">
                <a:schemeClr val="accent1"/>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cs typeface="微软雅黑" panose="020B0503020204020204" charset="-122"/>
              </a:rPr>
              <a:t>1</a:t>
            </a:r>
            <a:endParaRPr lang="en-US" altLang="zh-CN" sz="1200">
              <a:cs typeface="微软雅黑" panose="020B0503020204020204" charset="-122"/>
            </a:endParaRPr>
          </a:p>
        </p:txBody>
      </p:sp>
      <p:sp>
        <p:nvSpPr>
          <p:cNvPr id="107" name="文本框 106"/>
          <p:cNvSpPr txBox="1"/>
          <p:nvPr/>
        </p:nvSpPr>
        <p:spPr>
          <a:xfrm>
            <a:off x="6600825" y="1334770"/>
            <a:ext cx="1231265" cy="340995"/>
          </a:xfrm>
          <a:prstGeom prst="rect">
            <a:avLst/>
          </a:prstGeom>
          <a:noFill/>
        </p:spPr>
        <p:txBody>
          <a:bodyPr wrap="square">
            <a:spAutoFit/>
          </a:bodyPr>
          <a:lstStyle/>
          <a:p>
            <a:pPr algn="ctr">
              <a:lnSpc>
                <a:spcPct val="125000"/>
              </a:lnSpc>
            </a:pPr>
            <a:r>
              <a:rPr lang="zh-CN" altLang="en-US" sz="1300" b="1" dirty="0">
                <a:solidFill>
                  <a:schemeClr val="accent5"/>
                </a:solidFill>
                <a:latin typeface="微软雅黑" panose="020B0503020204020204" charset="-122"/>
                <a:ea typeface="微软雅黑" panose="020B0503020204020204" charset="-122"/>
                <a:cs typeface="微软雅黑" panose="020B0503020204020204" charset="-122"/>
              </a:rPr>
              <a:t>管理能力提升</a:t>
            </a:r>
            <a:endParaRPr lang="zh-CN" altLang="en-US" sz="13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08" name="圆角矩形 107"/>
          <p:cNvSpPr/>
          <p:nvPr/>
        </p:nvSpPr>
        <p:spPr>
          <a:xfrm>
            <a:off x="7088823" y="1126490"/>
            <a:ext cx="255270" cy="217805"/>
          </a:xfrm>
          <a:prstGeom prst="roundRect">
            <a:avLst/>
          </a:prstGeom>
          <a:gradFill>
            <a:gsLst>
              <a:gs pos="0">
                <a:schemeClr val="accent5">
                  <a:lumMod val="60000"/>
                  <a:lumOff val="40000"/>
                </a:schemeClr>
              </a:gs>
              <a:gs pos="78000">
                <a:schemeClr val="accent5"/>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200">
                <a:cs typeface="微软雅黑" panose="020B0503020204020204" charset="-122"/>
              </a:rPr>
              <a:t>2</a:t>
            </a:r>
            <a:endParaRPr lang="en-US" altLang="zh-CN" sz="1200">
              <a:cs typeface="微软雅黑" panose="020B0503020204020204" charset="-122"/>
            </a:endParaRPr>
          </a:p>
        </p:txBody>
      </p:sp>
      <p:sp>
        <p:nvSpPr>
          <p:cNvPr id="109" name="文本框 108"/>
          <p:cNvSpPr txBox="1"/>
          <p:nvPr/>
        </p:nvSpPr>
        <p:spPr>
          <a:xfrm>
            <a:off x="603250" y="3016250"/>
            <a:ext cx="3439795" cy="553085"/>
          </a:xfrm>
          <a:prstGeom prst="rect">
            <a:avLst/>
          </a:prstGeom>
          <a:noFill/>
        </p:spPr>
        <p:txBody>
          <a:bodyPr wrap="square">
            <a:spAutoFit/>
          </a:bodyPr>
          <a:lstStyle/>
          <a:p>
            <a:pPr>
              <a:lnSpc>
                <a:spcPct val="125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我逐步培养了系统性思维。面对某个复杂问题，我能够追溯其根源，并设计出兼顾短期见效与长期可扩展性的解决方案。例如，在</a:t>
            </a:r>
            <a:r>
              <a:rPr lang="en-US" altLang="zh-CN" sz="8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具体项目</a:t>
            </a:r>
            <a:r>
              <a:rPr lang="en-US" altLang="zh-CN" sz="8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中，我预见了未来可能遇到的挑战，提前在架构中进行了具体设计。</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0" name="文本框 109"/>
          <p:cNvSpPr txBox="1"/>
          <p:nvPr/>
        </p:nvSpPr>
        <p:spPr>
          <a:xfrm>
            <a:off x="603250" y="4373880"/>
            <a:ext cx="3439795" cy="553085"/>
          </a:xfrm>
          <a:prstGeom prst="rect">
            <a:avLst/>
          </a:prstGeom>
          <a:noFill/>
        </p:spPr>
        <p:txBody>
          <a:bodyPr wrap="square">
            <a:spAutoFit/>
          </a:bodyPr>
          <a:lstStyle/>
          <a:p>
            <a:pPr>
              <a:lnSpc>
                <a:spcPct val="125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我深刻理解，所有专业工作最终需服务于业务目标。我主动学习业务知识，分析</a:t>
            </a:r>
            <a:r>
              <a:rPr lang="zh-CN" sz="800" dirty="0">
                <a:solidFill>
                  <a:schemeClr val="tx2"/>
                </a:solidFill>
                <a:latin typeface="微软雅黑" panose="020B0503020204020204" charset="-122"/>
                <a:ea typeface="微软雅黑" panose="020B0503020204020204" charset="-122"/>
                <a:cs typeface="微软雅黑" panose="020B0503020204020204" charset="-122"/>
              </a:rPr>
              <a:t>执行工作</a:t>
            </a: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与公司核心指标（营收、增长、成本）的关联。我所负责的</a:t>
            </a:r>
            <a:r>
              <a:rPr lang="en-US" altLang="zh-CN" sz="8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具体功能或项目</a:t>
            </a:r>
            <a:r>
              <a:rPr lang="en-US" altLang="zh-CN" sz="8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，直接贡献了</a:t>
            </a:r>
            <a:r>
              <a:rPr lang="en-US" altLang="zh-CN" sz="8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可衡量的业务价值</a:t>
            </a:r>
            <a:r>
              <a:rPr lang="en-US" altLang="zh-CN" sz="8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1" name="文本框 110"/>
          <p:cNvSpPr txBox="1"/>
          <p:nvPr/>
        </p:nvSpPr>
        <p:spPr>
          <a:xfrm>
            <a:off x="8211185" y="1653540"/>
            <a:ext cx="3439795" cy="553085"/>
          </a:xfrm>
          <a:prstGeom prst="rect">
            <a:avLst/>
          </a:prstGeom>
          <a:noFill/>
        </p:spPr>
        <p:txBody>
          <a:bodyPr wrap="square">
            <a:spAutoFit/>
          </a:bodyPr>
          <a:lstStyle/>
          <a:p>
            <a:pPr>
              <a:lnSpc>
                <a:spcPct val="125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我多次作为</a:t>
            </a:r>
            <a:r>
              <a:rPr lang="zh-CN" sz="800" dirty="0">
                <a:solidFill>
                  <a:schemeClr val="tx2"/>
                </a:solidFill>
                <a:latin typeface="微软雅黑" panose="020B0503020204020204" charset="-122"/>
                <a:ea typeface="微软雅黑" panose="020B0503020204020204" charset="-122"/>
                <a:cs typeface="微软雅黑" panose="020B0503020204020204" charset="-122"/>
              </a:rPr>
              <a:t>项目</a:t>
            </a: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的核心负责人。我学会了如何拆解目标、制定计划、分配任务并跟踪风险。在资源有限的情况下，我通过主动沟通、优先级排序，协调了跨部门同事或资源，确保了项目在截止日期前高质量交付。</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2" name="文本框 111"/>
          <p:cNvSpPr txBox="1"/>
          <p:nvPr/>
        </p:nvSpPr>
        <p:spPr>
          <a:xfrm>
            <a:off x="8211185" y="2994025"/>
            <a:ext cx="3439795" cy="553085"/>
          </a:xfrm>
          <a:prstGeom prst="rect">
            <a:avLst/>
          </a:prstGeom>
          <a:noFill/>
        </p:spPr>
        <p:txBody>
          <a:bodyPr wrap="square">
            <a:spAutoFit/>
          </a:bodyPr>
          <a:lstStyle/>
          <a:p>
            <a:pPr>
              <a:lnSpc>
                <a:spcPct val="125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我关注团队整体效率，而非仅仅个人产出。我发现了团队在协作、开发、测试、沟通等</a:t>
            </a:r>
            <a:r>
              <a:rPr lang="en-US" altLang="zh-CN" sz="8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环节的共性瓶颈，并主导推动了</a:t>
            </a:r>
            <a:r>
              <a:rPr lang="zh-CN" sz="800" dirty="0">
                <a:solidFill>
                  <a:schemeClr val="tx2"/>
                </a:solidFill>
                <a:latin typeface="微软雅黑" panose="020B0503020204020204" charset="-122"/>
                <a:ea typeface="微软雅黑" panose="020B0503020204020204" charset="-122"/>
                <a:cs typeface="微软雅黑" panose="020B0503020204020204" charset="-122"/>
              </a:rPr>
              <a:t>项目</a:t>
            </a: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流程改进或工具落地，如建立新的评审机制、共享知识库、自动化脚本。</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3" name="文本框 112"/>
          <p:cNvSpPr txBox="1"/>
          <p:nvPr/>
        </p:nvSpPr>
        <p:spPr>
          <a:xfrm>
            <a:off x="8211185" y="4351655"/>
            <a:ext cx="3439795" cy="553085"/>
          </a:xfrm>
          <a:prstGeom prst="rect">
            <a:avLst/>
          </a:prstGeom>
          <a:noFill/>
        </p:spPr>
        <p:txBody>
          <a:bodyPr wrap="square">
            <a:spAutoFit/>
          </a:bodyPr>
          <a:lstStyle/>
          <a:p>
            <a:pPr>
              <a:lnSpc>
                <a:spcPct val="125000"/>
              </a:lnSpc>
            </a:pP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我坚信</a:t>
            </a:r>
            <a:r>
              <a:rPr lang="en-US" altLang="zh-CN" sz="8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成人达己</a:t>
            </a:r>
            <a:r>
              <a:rPr lang="en-US" altLang="zh-CN" sz="8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，主动承担起知识沉淀与分享的责任。我通过定期技术分享、编写详实的项目复盘文档、担任新人导师等方式，将个人经验转化为团队资产。我乐于指导同事，在具体任务中给予支持和反馈</a:t>
            </a: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91" name="显眼包PPT3"/>
          <p:cNvSpPr/>
          <p:nvPr/>
        </p:nvSpPr>
        <p:spPr>
          <a:xfrm>
            <a:off x="2141855" y="4832985"/>
            <a:ext cx="7950835" cy="1056005"/>
          </a:xfrm>
          <a:prstGeom prst="ellipse">
            <a:avLst/>
          </a:prstGeom>
          <a:noFill/>
          <a:ln w="25400">
            <a:gradFill>
              <a:gsLst>
                <a:gs pos="37000">
                  <a:schemeClr val="accent1">
                    <a:lumMod val="60000"/>
                    <a:lumOff val="40000"/>
                    <a:alpha val="0"/>
                  </a:schemeClr>
                </a:gs>
                <a:gs pos="100000">
                  <a:schemeClr val="accent1">
                    <a:lumMod val="60000"/>
                    <a:lumOff val="40000"/>
                    <a:alpha val="0"/>
                  </a:schemeClr>
                </a:gs>
                <a:gs pos="70000">
                  <a:schemeClr val="accent1">
                    <a:lumMod val="60000"/>
                    <a:lumOff val="40000"/>
                  </a:schemeClr>
                </a:gs>
              </a:gsLst>
              <a:lin ang="5400000" scaled="1"/>
            </a:gradFill>
          </a:ln>
          <a:scene3d>
            <a:camera prst="orthographicFront"/>
            <a:lightRig rig="threePt" dir="t"/>
          </a:scene3d>
          <a:sp3d extrusionH="571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1" name="子陵职场PPT4"/>
          <p:cNvSpPr/>
          <p:nvPr>
            <p:custDataLst>
              <p:tags r:id="rId6"/>
            </p:custDataLst>
          </p:nvPr>
        </p:nvSpPr>
        <p:spPr>
          <a:xfrm>
            <a:off x="2141855" y="5918835"/>
            <a:ext cx="1282065" cy="396240"/>
          </a:xfrm>
          <a:prstGeom prst="roundRect">
            <a:avLst>
              <a:gd name="adj" fmla="val 50000"/>
            </a:avLst>
          </a:prstGeom>
          <a:gradFill flip="none" rotWithShape="1">
            <a:gsLst>
              <a:gs pos="23000">
                <a:schemeClr val="accent1">
                  <a:lumMod val="20000"/>
                  <a:lumOff val="80000"/>
                </a:schemeClr>
              </a:gs>
              <a:gs pos="100000">
                <a:schemeClr val="accent1">
                  <a:lumMod val="20000"/>
                  <a:lumOff val="80000"/>
                </a:schemeClr>
              </a:gs>
            </a:gsLst>
            <a:path path="circle">
              <a:fillToRect l="100000" t="100000"/>
            </a:path>
            <a:tileRect r="-100000" b="-100000"/>
          </a:gradFill>
          <a:ln w="15875">
            <a:solidFill>
              <a:schemeClr val="bg1"/>
            </a:solidFill>
          </a:ln>
          <a:effectLst>
            <a:outerShdw blurRad="254000" dist="123444" dir="5400000" algn="ctr" rotWithShape="0">
              <a:schemeClr val="accent1">
                <a:lumMod val="40000"/>
                <a:lumOff val="6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r>
              <a:rPr lang="zh-CN" altLang="en-US" sz="1400" b="1" dirty="0">
                <a:gradFill>
                  <a:gsLst>
                    <a:gs pos="0">
                      <a:schemeClr val="accent1"/>
                    </a:gs>
                    <a:gs pos="100000">
                      <a:schemeClr val="accent1">
                        <a:lumMod val="60000"/>
                        <a:lumOff val="40000"/>
                      </a:schemeClr>
                    </a:gs>
                  </a:gsLst>
                  <a:lin ang="5400000" scaled="0"/>
                </a:gradFill>
                <a:latin typeface="+mn-ea"/>
                <a:cs typeface="微软雅黑" panose="020B0503020204020204" charset="-122"/>
                <a:sym typeface="+mn-ea"/>
              </a:rPr>
              <a:t>深耕业务</a:t>
            </a:r>
            <a:endParaRPr lang="zh-CN" altLang="en-US" sz="1400" b="1" dirty="0">
              <a:gradFill>
                <a:gsLst>
                  <a:gs pos="0">
                    <a:schemeClr val="accent1"/>
                  </a:gs>
                  <a:gs pos="100000">
                    <a:schemeClr val="accent1">
                      <a:lumMod val="60000"/>
                      <a:lumOff val="40000"/>
                    </a:schemeClr>
                  </a:gs>
                </a:gsLst>
                <a:lin ang="5400000" scaled="0"/>
              </a:gradFill>
              <a:latin typeface="+mn-ea"/>
              <a:cs typeface="微软雅黑" panose="020B0503020204020204" charset="-122"/>
              <a:sym typeface="+mn-ea"/>
            </a:endParaRPr>
          </a:p>
        </p:txBody>
      </p:sp>
      <p:sp>
        <p:nvSpPr>
          <p:cNvPr id="122" name="子陵职场PPT4"/>
          <p:cNvSpPr/>
          <p:nvPr>
            <p:custDataLst>
              <p:tags r:id="rId7"/>
            </p:custDataLst>
          </p:nvPr>
        </p:nvSpPr>
        <p:spPr>
          <a:xfrm>
            <a:off x="3950335" y="6130290"/>
            <a:ext cx="1282065" cy="396240"/>
          </a:xfrm>
          <a:prstGeom prst="roundRect">
            <a:avLst>
              <a:gd name="adj" fmla="val 50000"/>
            </a:avLst>
          </a:prstGeom>
          <a:gradFill flip="none" rotWithShape="1">
            <a:gsLst>
              <a:gs pos="23000">
                <a:schemeClr val="accent1">
                  <a:lumMod val="20000"/>
                  <a:lumOff val="80000"/>
                </a:schemeClr>
              </a:gs>
              <a:gs pos="100000">
                <a:schemeClr val="accent1">
                  <a:lumMod val="20000"/>
                  <a:lumOff val="80000"/>
                </a:schemeClr>
              </a:gs>
            </a:gsLst>
            <a:path path="circle">
              <a:fillToRect l="100000" t="100000"/>
            </a:path>
            <a:tileRect r="-100000" b="-100000"/>
          </a:gradFill>
          <a:ln w="15875">
            <a:solidFill>
              <a:schemeClr val="bg1"/>
            </a:solidFill>
          </a:ln>
          <a:effectLst>
            <a:outerShdw blurRad="254000" dist="123444" dir="5400000" algn="ctr" rotWithShape="0">
              <a:schemeClr val="accent1">
                <a:lumMod val="40000"/>
                <a:lumOff val="6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r>
              <a:rPr lang="zh-CN" altLang="en-US" sz="1400" b="1" dirty="0">
                <a:gradFill>
                  <a:gsLst>
                    <a:gs pos="0">
                      <a:schemeClr val="accent1"/>
                    </a:gs>
                    <a:gs pos="100000">
                      <a:schemeClr val="accent1">
                        <a:lumMod val="60000"/>
                        <a:lumOff val="40000"/>
                      </a:schemeClr>
                    </a:gs>
                  </a:gsLst>
                  <a:lin ang="5400000" scaled="0"/>
                </a:gradFill>
                <a:latin typeface="+mn-ea"/>
                <a:cs typeface="微软雅黑" panose="020B0503020204020204" charset="-122"/>
                <a:sym typeface="+mn-ea"/>
              </a:rPr>
              <a:t>技术专家</a:t>
            </a:r>
            <a:endParaRPr lang="zh-CN" altLang="en-US" sz="1400" b="1" dirty="0">
              <a:gradFill>
                <a:gsLst>
                  <a:gs pos="0">
                    <a:schemeClr val="accent1"/>
                  </a:gs>
                  <a:gs pos="100000">
                    <a:schemeClr val="accent1">
                      <a:lumMod val="60000"/>
                      <a:lumOff val="40000"/>
                    </a:schemeClr>
                  </a:gs>
                </a:gsLst>
                <a:lin ang="5400000" scaled="0"/>
              </a:gradFill>
              <a:latin typeface="+mn-ea"/>
              <a:cs typeface="微软雅黑" panose="020B0503020204020204" charset="-122"/>
              <a:sym typeface="+mn-ea"/>
            </a:endParaRPr>
          </a:p>
        </p:txBody>
      </p:sp>
      <p:sp>
        <p:nvSpPr>
          <p:cNvPr id="123" name="子陵职场PPT4"/>
          <p:cNvSpPr/>
          <p:nvPr>
            <p:custDataLst>
              <p:tags r:id="rId8"/>
            </p:custDataLst>
          </p:nvPr>
        </p:nvSpPr>
        <p:spPr>
          <a:xfrm>
            <a:off x="6248400" y="6130290"/>
            <a:ext cx="1282065" cy="396240"/>
          </a:xfrm>
          <a:prstGeom prst="roundRect">
            <a:avLst>
              <a:gd name="adj" fmla="val 50000"/>
            </a:avLst>
          </a:prstGeom>
          <a:gradFill flip="none" rotWithShape="1">
            <a:gsLst>
              <a:gs pos="23000">
                <a:schemeClr val="accent1">
                  <a:lumMod val="20000"/>
                  <a:lumOff val="80000"/>
                </a:schemeClr>
              </a:gs>
              <a:gs pos="100000">
                <a:schemeClr val="accent1">
                  <a:lumMod val="20000"/>
                  <a:lumOff val="80000"/>
                </a:schemeClr>
              </a:gs>
            </a:gsLst>
            <a:path path="circle">
              <a:fillToRect l="100000" t="100000"/>
            </a:path>
            <a:tileRect r="-100000" b="-100000"/>
          </a:gradFill>
          <a:ln w="15875">
            <a:solidFill>
              <a:schemeClr val="bg1"/>
            </a:solidFill>
          </a:ln>
          <a:effectLst>
            <a:outerShdw blurRad="254000" dist="123444" dir="5400000" algn="ctr" rotWithShape="0">
              <a:schemeClr val="accent1">
                <a:lumMod val="40000"/>
                <a:lumOff val="6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r>
              <a:rPr lang="zh-CN" altLang="en-US" sz="1400" b="1" dirty="0">
                <a:gradFill>
                  <a:gsLst>
                    <a:gs pos="0">
                      <a:schemeClr val="accent1"/>
                    </a:gs>
                    <a:gs pos="100000">
                      <a:schemeClr val="accent1">
                        <a:lumMod val="60000"/>
                        <a:lumOff val="40000"/>
                      </a:schemeClr>
                    </a:gs>
                  </a:gsLst>
                  <a:lin ang="5400000" scaled="0"/>
                </a:gradFill>
                <a:latin typeface="+mn-ea"/>
                <a:cs typeface="微软雅黑" panose="020B0503020204020204" charset="-122"/>
                <a:sym typeface="+mn-ea"/>
              </a:rPr>
              <a:t>凝聚团队</a:t>
            </a:r>
            <a:endParaRPr lang="zh-CN" altLang="en-US" sz="1400" b="1" dirty="0">
              <a:gradFill>
                <a:gsLst>
                  <a:gs pos="0">
                    <a:schemeClr val="accent1"/>
                  </a:gs>
                  <a:gs pos="100000">
                    <a:schemeClr val="accent1">
                      <a:lumMod val="60000"/>
                      <a:lumOff val="40000"/>
                    </a:schemeClr>
                  </a:gs>
                </a:gsLst>
                <a:lin ang="5400000" scaled="0"/>
              </a:gradFill>
              <a:latin typeface="+mn-ea"/>
              <a:cs typeface="微软雅黑" panose="020B0503020204020204" charset="-122"/>
              <a:sym typeface="+mn-ea"/>
            </a:endParaRPr>
          </a:p>
        </p:txBody>
      </p:sp>
      <p:sp>
        <p:nvSpPr>
          <p:cNvPr id="124" name="子陵职场PPT4"/>
          <p:cNvSpPr/>
          <p:nvPr>
            <p:custDataLst>
              <p:tags r:id="rId9"/>
            </p:custDataLst>
          </p:nvPr>
        </p:nvSpPr>
        <p:spPr>
          <a:xfrm>
            <a:off x="8315960" y="6003290"/>
            <a:ext cx="1282065" cy="396240"/>
          </a:xfrm>
          <a:prstGeom prst="roundRect">
            <a:avLst>
              <a:gd name="adj" fmla="val 50000"/>
            </a:avLst>
          </a:prstGeom>
          <a:gradFill flip="none" rotWithShape="1">
            <a:gsLst>
              <a:gs pos="23000">
                <a:schemeClr val="accent1">
                  <a:lumMod val="20000"/>
                  <a:lumOff val="80000"/>
                </a:schemeClr>
              </a:gs>
              <a:gs pos="100000">
                <a:schemeClr val="accent1">
                  <a:lumMod val="20000"/>
                  <a:lumOff val="80000"/>
                </a:schemeClr>
              </a:gs>
            </a:gsLst>
            <a:path path="circle">
              <a:fillToRect l="100000" t="100000"/>
            </a:path>
            <a:tileRect r="-100000" b="-100000"/>
          </a:gradFill>
          <a:ln w="15875">
            <a:solidFill>
              <a:schemeClr val="bg1"/>
            </a:solidFill>
          </a:ln>
          <a:effectLst>
            <a:outerShdw blurRad="254000" dist="123444" dir="5400000" algn="ctr" rotWithShape="0">
              <a:schemeClr val="accent1">
                <a:lumMod val="40000"/>
                <a:lumOff val="6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r>
              <a:rPr lang="zh-CN" altLang="en-US" sz="1400" b="1" dirty="0">
                <a:gradFill>
                  <a:gsLst>
                    <a:gs pos="0">
                      <a:schemeClr val="accent1"/>
                    </a:gs>
                    <a:gs pos="100000">
                      <a:schemeClr val="accent1">
                        <a:lumMod val="60000"/>
                        <a:lumOff val="40000"/>
                      </a:schemeClr>
                    </a:gs>
                  </a:gsLst>
                  <a:lin ang="5400000" scaled="0"/>
                </a:gradFill>
                <a:latin typeface="+mn-ea"/>
                <a:cs typeface="微软雅黑" panose="020B0503020204020204" charset="-122"/>
                <a:sym typeface="+mn-ea"/>
              </a:rPr>
              <a:t>团队贡献者</a:t>
            </a:r>
            <a:endParaRPr lang="zh-CN" altLang="en-US" sz="1400" b="1" dirty="0">
              <a:gradFill>
                <a:gsLst>
                  <a:gs pos="0">
                    <a:schemeClr val="accent1"/>
                  </a:gs>
                  <a:gs pos="100000">
                    <a:schemeClr val="accent1">
                      <a:lumMod val="60000"/>
                      <a:lumOff val="40000"/>
                    </a:schemeClr>
                  </a:gs>
                </a:gsLst>
                <a:lin ang="5400000" scaled="0"/>
              </a:gradFill>
              <a:latin typeface="+mn-ea"/>
              <a:cs typeface="微软雅黑" panose="020B0503020204020204" charset="-122"/>
              <a:sym typeface="+mn-ea"/>
            </a:endParaRPr>
          </a:p>
        </p:txBody>
      </p:sp>
      <p:sp>
        <p:nvSpPr>
          <p:cNvPr id="125" name="文本框 124"/>
          <p:cNvSpPr txBox="1"/>
          <p:nvPr/>
        </p:nvSpPr>
        <p:spPr>
          <a:xfrm>
            <a:off x="3815080" y="5122228"/>
            <a:ext cx="4758055" cy="340995"/>
          </a:xfrm>
          <a:prstGeom prst="rect">
            <a:avLst/>
          </a:prstGeom>
          <a:noFill/>
        </p:spPr>
        <p:txBody>
          <a:bodyPr wrap="square">
            <a:prstTxWarp prst="textArchDown">
              <a:avLst/>
            </a:prstTxWarp>
            <a:spAutoFit/>
          </a:bodyPr>
          <a:lstStyle/>
          <a:p>
            <a:pPr algn="ctr">
              <a:lnSpc>
                <a:spcPct val="125000"/>
              </a:lnSpc>
            </a:pPr>
            <a:r>
              <a:rPr lang="zh-CN" altLang="en-US" sz="1500" b="1" dirty="0">
                <a:gradFill>
                  <a:gsLst>
                    <a:gs pos="0">
                      <a:schemeClr val="accent5"/>
                    </a:gs>
                    <a:gs pos="100000">
                      <a:schemeClr val="accent5">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立志成为领域专家与驱动者</a:t>
            </a:r>
            <a:endParaRPr lang="zh-CN" altLang="en-US" sz="1500" b="1" dirty="0">
              <a:gradFill>
                <a:gsLst>
                  <a:gs pos="0">
                    <a:schemeClr val="accent5"/>
                  </a:gs>
                  <a:gs pos="100000">
                    <a:schemeClr val="accent5">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endParaRPr>
          </a:p>
        </p:txBody>
      </p:sp>
      <p:sp>
        <p:nvSpPr>
          <p:cNvPr id="126" name="显眼包PPT3"/>
          <p:cNvSpPr/>
          <p:nvPr/>
        </p:nvSpPr>
        <p:spPr>
          <a:xfrm>
            <a:off x="3181350" y="4944110"/>
            <a:ext cx="5693410" cy="577850"/>
          </a:xfrm>
          <a:prstGeom prst="ellipse">
            <a:avLst/>
          </a:prstGeom>
          <a:noFill/>
          <a:ln w="25400">
            <a:gradFill>
              <a:gsLst>
                <a:gs pos="49000">
                  <a:schemeClr val="accent5">
                    <a:lumMod val="60000"/>
                    <a:lumOff val="40000"/>
                    <a:alpha val="0"/>
                  </a:schemeClr>
                </a:gs>
                <a:gs pos="97000">
                  <a:schemeClr val="accent5">
                    <a:lumMod val="60000"/>
                    <a:lumOff val="40000"/>
                    <a:alpha val="0"/>
                  </a:schemeClr>
                </a:gs>
                <a:gs pos="70000">
                  <a:schemeClr val="accent5">
                    <a:lumMod val="60000"/>
                    <a:lumOff val="40000"/>
                  </a:schemeClr>
                </a:gs>
              </a:gsLst>
              <a:lin ang="5400000" scaled="1"/>
            </a:gradFill>
          </a:ln>
          <a:scene3d>
            <a:camera prst="orthographicFront"/>
            <a:lightRig rig="threePt" dir="t"/>
          </a:scene3d>
          <a:sp3d extrusionH="571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行业智能化架构及应用</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38" name="椭圆 37"/>
          <p:cNvSpPr/>
          <p:nvPr/>
        </p:nvSpPr>
        <p:spPr>
          <a:xfrm>
            <a:off x="3486778" y="1575394"/>
            <a:ext cx="5546104" cy="1058023"/>
          </a:xfrm>
          <a:prstGeom prst="ellipse">
            <a:avLst/>
          </a:prstGeom>
          <a:gradFill>
            <a:gsLst>
              <a:gs pos="0">
                <a:schemeClr val="accent1">
                  <a:lumMod val="60000"/>
                  <a:lumOff val="40000"/>
                  <a:alpha val="0"/>
                </a:schemeClr>
              </a:gs>
              <a:gs pos="100000">
                <a:schemeClr val="accent1">
                  <a:lumMod val="60000"/>
                  <a:lumOff val="40000"/>
                  <a:alpha val="19000"/>
                </a:schemeClr>
              </a:gs>
            </a:gsLst>
            <a:lin ang="5400000" scaled="1"/>
          </a:gradFill>
          <a:ln>
            <a:gradFill>
              <a:gsLst>
                <a:gs pos="13000">
                  <a:schemeClr val="accent1">
                    <a:lumMod val="60000"/>
                    <a:lumOff val="40000"/>
                    <a:alpha val="0"/>
                  </a:schemeClr>
                </a:gs>
                <a:gs pos="100000">
                  <a:schemeClr val="accent1">
                    <a:lumMod val="60000"/>
                    <a:lumOff val="4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63" name="椭圆 62"/>
          <p:cNvSpPr/>
          <p:nvPr/>
        </p:nvSpPr>
        <p:spPr>
          <a:xfrm>
            <a:off x="4403090" y="3423920"/>
            <a:ext cx="3499485" cy="723900"/>
          </a:xfrm>
          <a:prstGeom prst="ellipse">
            <a:avLst/>
          </a:prstGeom>
          <a:gradFill>
            <a:gsLst>
              <a:gs pos="0">
                <a:schemeClr val="accent5">
                  <a:lumMod val="60000"/>
                  <a:lumOff val="40000"/>
                  <a:alpha val="0"/>
                </a:schemeClr>
              </a:gs>
              <a:gs pos="100000">
                <a:schemeClr val="accent5">
                  <a:lumMod val="60000"/>
                  <a:lumOff val="40000"/>
                  <a:alpha val="9000"/>
                </a:schemeClr>
              </a:gs>
            </a:gsLst>
            <a:lin ang="5400000" scaled="1"/>
          </a:gradFill>
          <a:ln>
            <a:gradFill>
              <a:gsLst>
                <a:gs pos="13000">
                  <a:schemeClr val="accent5">
                    <a:lumMod val="60000"/>
                    <a:lumOff val="40000"/>
                    <a:alpha val="0"/>
                  </a:schemeClr>
                </a:gs>
                <a:gs pos="100000">
                  <a:schemeClr val="accent5">
                    <a:lumMod val="60000"/>
                    <a:lumOff val="4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2" name="椭圆 1"/>
          <p:cNvSpPr/>
          <p:nvPr/>
        </p:nvSpPr>
        <p:spPr>
          <a:xfrm>
            <a:off x="3960495" y="4148455"/>
            <a:ext cx="4404995" cy="1346200"/>
          </a:xfrm>
          <a:prstGeom prst="ellipse">
            <a:avLst/>
          </a:prstGeom>
          <a:gradFill>
            <a:gsLst>
              <a:gs pos="0">
                <a:schemeClr val="accent5">
                  <a:lumMod val="60000"/>
                  <a:lumOff val="40000"/>
                  <a:alpha val="0"/>
                </a:schemeClr>
              </a:gs>
              <a:gs pos="100000">
                <a:schemeClr val="accent5">
                  <a:lumMod val="60000"/>
                  <a:lumOff val="40000"/>
                  <a:alpha val="9000"/>
                </a:schemeClr>
              </a:gs>
            </a:gsLst>
            <a:lin ang="5400000" scaled="1"/>
          </a:gradFill>
          <a:ln>
            <a:gradFill>
              <a:gsLst>
                <a:gs pos="13000">
                  <a:schemeClr val="accent5">
                    <a:lumMod val="60000"/>
                    <a:lumOff val="40000"/>
                    <a:alpha val="0"/>
                  </a:schemeClr>
                </a:gs>
                <a:gs pos="100000">
                  <a:schemeClr val="accent5">
                    <a:lumMod val="60000"/>
                    <a:lumOff val="4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3" name="椭圆 2"/>
          <p:cNvSpPr/>
          <p:nvPr/>
        </p:nvSpPr>
        <p:spPr>
          <a:xfrm>
            <a:off x="3204845" y="4342130"/>
            <a:ext cx="6045835" cy="2181860"/>
          </a:xfrm>
          <a:prstGeom prst="ellipse">
            <a:avLst/>
          </a:prstGeom>
          <a:gradFill>
            <a:gsLst>
              <a:gs pos="0">
                <a:schemeClr val="accent1">
                  <a:lumMod val="60000"/>
                  <a:lumOff val="40000"/>
                  <a:alpha val="0"/>
                </a:schemeClr>
              </a:gs>
              <a:gs pos="100000">
                <a:schemeClr val="accent1">
                  <a:lumMod val="60000"/>
                  <a:lumOff val="40000"/>
                  <a:alpha val="9000"/>
                </a:schemeClr>
              </a:gs>
            </a:gsLst>
            <a:lin ang="5400000" scaled="1"/>
          </a:gradFill>
          <a:ln>
            <a:gradFill>
              <a:gsLst>
                <a:gs pos="13000">
                  <a:schemeClr val="accent1">
                    <a:lumMod val="60000"/>
                    <a:lumOff val="40000"/>
                    <a:alpha val="0"/>
                  </a:schemeClr>
                </a:gs>
                <a:gs pos="100000">
                  <a:schemeClr val="accent1">
                    <a:lumMod val="60000"/>
                    <a:lumOff val="4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67" name="文本框 66"/>
          <p:cNvSpPr txBox="1"/>
          <p:nvPr/>
        </p:nvSpPr>
        <p:spPr>
          <a:xfrm>
            <a:off x="3561080" y="5441315"/>
            <a:ext cx="375285" cy="375285"/>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4359275" y="5720080"/>
            <a:ext cx="375285" cy="375285"/>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a:off x="8484235" y="5441315"/>
            <a:ext cx="375285" cy="375285"/>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7658735" y="5720080"/>
            <a:ext cx="375285" cy="375285"/>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nvSpPr>
        <p:spPr>
          <a:xfrm>
            <a:off x="6833235" y="5941060"/>
            <a:ext cx="375285" cy="375285"/>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9" name="文本框 8"/>
          <p:cNvSpPr txBox="1"/>
          <p:nvPr/>
        </p:nvSpPr>
        <p:spPr>
          <a:xfrm>
            <a:off x="5965190" y="6010275"/>
            <a:ext cx="375285" cy="375285"/>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nvSpPr>
        <p:spPr>
          <a:xfrm>
            <a:off x="5157470" y="5941060"/>
            <a:ext cx="375285" cy="375285"/>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16" name="文本框 15"/>
          <p:cNvSpPr txBox="1"/>
          <p:nvPr/>
        </p:nvSpPr>
        <p:spPr>
          <a:xfrm>
            <a:off x="4618990" y="3390265"/>
            <a:ext cx="375285" cy="375285"/>
          </a:xfrm>
          <a:prstGeom prst="ellipse">
            <a:avLst/>
          </a:prstGeom>
          <a:gradFill>
            <a:gsLst>
              <a:gs pos="29000">
                <a:schemeClr val="accent5">
                  <a:lumMod val="60000"/>
                  <a:lumOff val="40000"/>
                </a:schemeClr>
              </a:gs>
              <a:gs pos="64000">
                <a:schemeClr val="accent5"/>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nvSpPr>
        <p:spPr>
          <a:xfrm>
            <a:off x="7369810" y="3364865"/>
            <a:ext cx="375285" cy="375285"/>
          </a:xfrm>
          <a:prstGeom prst="ellipse">
            <a:avLst/>
          </a:prstGeom>
          <a:gradFill>
            <a:gsLst>
              <a:gs pos="29000">
                <a:schemeClr val="accent5">
                  <a:lumMod val="60000"/>
                  <a:lumOff val="40000"/>
                </a:schemeClr>
              </a:gs>
              <a:gs pos="64000">
                <a:schemeClr val="accent5"/>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20" name="文本框 19"/>
          <p:cNvSpPr txBox="1"/>
          <p:nvPr/>
        </p:nvSpPr>
        <p:spPr>
          <a:xfrm>
            <a:off x="3822065" y="1294765"/>
            <a:ext cx="1393190" cy="375285"/>
          </a:xfrm>
          <a:prstGeom prst="ellipse">
            <a:avLst/>
          </a:prstGeom>
          <a:gradFill>
            <a:gsLst>
              <a:gs pos="37000">
                <a:schemeClr val="accent1">
                  <a:lumMod val="60000"/>
                  <a:lumOff val="40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21" name="文本框 20"/>
          <p:cNvSpPr txBox="1"/>
          <p:nvPr/>
        </p:nvSpPr>
        <p:spPr>
          <a:xfrm>
            <a:off x="5496560" y="1294765"/>
            <a:ext cx="1336675" cy="375285"/>
          </a:xfrm>
          <a:prstGeom prst="ellipse">
            <a:avLst/>
          </a:prstGeom>
          <a:gradFill>
            <a:gsLst>
              <a:gs pos="37000">
                <a:schemeClr val="accent1">
                  <a:lumMod val="60000"/>
                  <a:lumOff val="40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22" name="文本框 21"/>
          <p:cNvSpPr txBox="1"/>
          <p:nvPr/>
        </p:nvSpPr>
        <p:spPr>
          <a:xfrm>
            <a:off x="7208520" y="1294765"/>
            <a:ext cx="1327785" cy="375285"/>
          </a:xfrm>
          <a:prstGeom prst="ellipse">
            <a:avLst/>
          </a:prstGeom>
          <a:gradFill>
            <a:gsLst>
              <a:gs pos="37000">
                <a:schemeClr val="accent1">
                  <a:lumMod val="60000"/>
                  <a:lumOff val="40000"/>
                </a:schemeClr>
              </a:gs>
              <a:gs pos="86000">
                <a:schemeClr val="accent1"/>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23" name="梯形 322"/>
          <p:cNvSpPr/>
          <p:nvPr>
            <p:custDataLst>
              <p:tags r:id="rId1"/>
            </p:custDataLst>
          </p:nvPr>
        </p:nvSpPr>
        <p:spPr>
          <a:xfrm rot="10800000">
            <a:off x="3439160" y="2144395"/>
            <a:ext cx="5673725" cy="1722755"/>
          </a:xfrm>
          <a:custGeom>
            <a:avLst/>
            <a:gdLst>
              <a:gd name="connsiteX0" fmla="*/ 0 w 8935"/>
              <a:gd name="connsiteY0" fmla="*/ 2713 h 2713"/>
              <a:gd name="connsiteX1" fmla="*/ 3432 w 8935"/>
              <a:gd name="connsiteY1" fmla="*/ 11 h 2713"/>
              <a:gd name="connsiteX2" fmla="*/ 6030 w 8935"/>
              <a:gd name="connsiteY2" fmla="*/ 0 h 2713"/>
              <a:gd name="connsiteX3" fmla="*/ 8935 w 8935"/>
              <a:gd name="connsiteY3" fmla="*/ 2713 h 2713"/>
              <a:gd name="connsiteX4" fmla="*/ 0 w 8935"/>
              <a:gd name="connsiteY4" fmla="*/ 2713 h 2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35" h="2713">
                <a:moveTo>
                  <a:pt x="0" y="2713"/>
                </a:moveTo>
                <a:cubicBezTo>
                  <a:pt x="1316" y="1922"/>
                  <a:pt x="3672" y="1199"/>
                  <a:pt x="3432" y="11"/>
                </a:cubicBezTo>
                <a:lnTo>
                  <a:pt x="6030" y="0"/>
                </a:lnTo>
                <a:cubicBezTo>
                  <a:pt x="6050" y="1044"/>
                  <a:pt x="7619" y="1561"/>
                  <a:pt x="8935" y="2713"/>
                </a:cubicBezTo>
                <a:lnTo>
                  <a:pt x="0" y="2713"/>
                </a:lnTo>
                <a:close/>
              </a:path>
            </a:pathLst>
          </a:custGeom>
          <a:gradFill flip="none" rotWithShape="1">
            <a:gsLst>
              <a:gs pos="0">
                <a:schemeClr val="accent5">
                  <a:lumMod val="60000"/>
                  <a:lumOff val="40000"/>
                  <a:alpha val="0"/>
                </a:schemeClr>
              </a:gs>
              <a:gs pos="100000">
                <a:schemeClr val="accent5">
                  <a:lumMod val="60000"/>
                  <a:lumOff val="40000"/>
                  <a:alpha val="30000"/>
                </a:schemeClr>
              </a:gs>
            </a:gsLst>
            <a:lin ang="16200000" scaled="1"/>
            <a:tileRect/>
          </a:gradFill>
          <a:ln>
            <a:gradFill flip="none" rotWithShape="1">
              <a:gsLst>
                <a:gs pos="50500">
                  <a:schemeClr val="accent5">
                    <a:lumMod val="60000"/>
                    <a:lumOff val="40000"/>
                  </a:schemeClr>
                </a:gs>
                <a:gs pos="0">
                  <a:schemeClr val="accent5">
                    <a:lumMod val="60000"/>
                    <a:lumOff val="40000"/>
                    <a:alpha val="0"/>
                  </a:schemeClr>
                </a:gs>
                <a:gs pos="100000">
                  <a:schemeClr val="accent5">
                    <a:lumMod val="60000"/>
                    <a:lumOff val="40000"/>
                    <a:alpha val="0"/>
                  </a:schemeClr>
                </a:gs>
              </a:gsLst>
              <a:lin ang="5400000" scaled="1"/>
              <a:tileRect/>
            </a:gradFill>
          </a:ln>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4" name="梯形 322"/>
          <p:cNvSpPr/>
          <p:nvPr>
            <p:custDataLst>
              <p:tags r:id="rId2"/>
            </p:custDataLst>
          </p:nvPr>
        </p:nvSpPr>
        <p:spPr>
          <a:xfrm rot="10800000" flipV="1">
            <a:off x="4041140" y="3858260"/>
            <a:ext cx="4373245" cy="1863725"/>
          </a:xfrm>
          <a:custGeom>
            <a:avLst/>
            <a:gdLst>
              <a:gd name="connsiteX0" fmla="*/ 0 w 6887"/>
              <a:gd name="connsiteY0" fmla="*/ 2935 h 2935"/>
              <a:gd name="connsiteX1" fmla="*/ 2336 w 6887"/>
              <a:gd name="connsiteY1" fmla="*/ 0 h 2935"/>
              <a:gd name="connsiteX2" fmla="*/ 4927 w 6887"/>
              <a:gd name="connsiteY2" fmla="*/ 14 h 2935"/>
              <a:gd name="connsiteX3" fmla="*/ 6887 w 6887"/>
              <a:gd name="connsiteY3" fmla="*/ 2935 h 2935"/>
              <a:gd name="connsiteX4" fmla="*/ 0 w 6887"/>
              <a:gd name="connsiteY4" fmla="*/ 2935 h 2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7" h="2935">
                <a:moveTo>
                  <a:pt x="0" y="2935"/>
                </a:moveTo>
                <a:cubicBezTo>
                  <a:pt x="1014" y="2077"/>
                  <a:pt x="2520" y="1288"/>
                  <a:pt x="2336" y="0"/>
                </a:cubicBezTo>
                <a:lnTo>
                  <a:pt x="4927" y="14"/>
                </a:lnTo>
                <a:cubicBezTo>
                  <a:pt x="4942" y="1146"/>
                  <a:pt x="5873" y="1686"/>
                  <a:pt x="6887" y="2935"/>
                </a:cubicBezTo>
                <a:lnTo>
                  <a:pt x="0" y="2935"/>
                </a:lnTo>
                <a:close/>
              </a:path>
            </a:pathLst>
          </a:custGeom>
          <a:gradFill flip="none" rotWithShape="1">
            <a:gsLst>
              <a:gs pos="0">
                <a:schemeClr val="accent5">
                  <a:lumMod val="60000"/>
                  <a:lumOff val="40000"/>
                  <a:alpha val="0"/>
                </a:schemeClr>
              </a:gs>
              <a:gs pos="100000">
                <a:schemeClr val="accent5">
                  <a:lumMod val="60000"/>
                  <a:lumOff val="40000"/>
                  <a:alpha val="30000"/>
                </a:schemeClr>
              </a:gs>
            </a:gsLst>
            <a:lin ang="16200000" scaled="1"/>
            <a:tileRect/>
          </a:gradFill>
          <a:ln>
            <a:gradFill flip="none" rotWithShape="1">
              <a:gsLst>
                <a:gs pos="50500">
                  <a:schemeClr val="accent5">
                    <a:lumMod val="60000"/>
                    <a:lumOff val="40000"/>
                  </a:schemeClr>
                </a:gs>
                <a:gs pos="0">
                  <a:schemeClr val="accent5">
                    <a:lumMod val="60000"/>
                    <a:lumOff val="40000"/>
                    <a:alpha val="0"/>
                  </a:schemeClr>
                </a:gs>
                <a:gs pos="100000">
                  <a:schemeClr val="accent5">
                    <a:lumMod val="60000"/>
                    <a:lumOff val="40000"/>
                    <a:alpha val="0"/>
                  </a:schemeClr>
                </a:gs>
              </a:gsLst>
              <a:lin ang="5400000" scaled="1"/>
              <a:tileRect/>
            </a:gradFill>
          </a:ln>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08" name="弧 61"/>
          <p:cNvSpPr/>
          <p:nvPr>
            <p:custDataLst>
              <p:tags r:id="rId3"/>
            </p:custDataLst>
          </p:nvPr>
        </p:nvSpPr>
        <p:spPr>
          <a:xfrm flipH="1">
            <a:off x="2618105" y="2509520"/>
            <a:ext cx="2261870" cy="2673350"/>
          </a:xfrm>
          <a:prstGeom prst="arc">
            <a:avLst>
              <a:gd name="adj1" fmla="val 16870261"/>
              <a:gd name="adj2" fmla="val 4621400"/>
            </a:avLst>
          </a:prstGeom>
          <a:gradFill>
            <a:gsLst>
              <a:gs pos="0">
                <a:schemeClr val="accent1">
                  <a:lumMod val="60000"/>
                  <a:lumOff val="40000"/>
                  <a:alpha val="50000"/>
                </a:schemeClr>
              </a:gs>
              <a:gs pos="21000">
                <a:schemeClr val="accent1">
                  <a:lumMod val="60000"/>
                  <a:lumOff val="40000"/>
                  <a:alpha val="0"/>
                </a:schemeClr>
              </a:gs>
            </a:gsLst>
            <a:lin ang="10800000" scaled="0"/>
          </a:gradFill>
          <a:ln w="13716" cap="flat" cmpd="sng" algn="ctr">
            <a:gradFill flip="none" rotWithShape="1">
              <a:gsLst>
                <a:gs pos="54000">
                  <a:schemeClr val="accent1">
                    <a:lumMod val="60000"/>
                    <a:lumOff val="40000"/>
                    <a:alpha val="0"/>
                  </a:schemeClr>
                </a:gs>
                <a:gs pos="0">
                  <a:schemeClr val="accent1">
                    <a:lumMod val="60000"/>
                    <a:lumOff val="40000"/>
                    <a:alpha val="50000"/>
                  </a:schemeClr>
                </a:gs>
              </a:gsLst>
              <a:lin ang="10800000" scaled="1"/>
              <a:tileRect/>
            </a:gradFill>
            <a:prstDash val="solid"/>
            <a:miter lim="800000"/>
          </a:ln>
          <a:effectLst/>
        </p:spPr>
        <p:txBody>
          <a:bodyPr lIns="98755" tIns="49378" rIns="98755" bIns="49378" rtlCol="0" anchor="ctr">
            <a:noAutofit/>
          </a:bodyPr>
          <a:p>
            <a:pPr lvl="0" algn="ctr">
              <a:buClrTx/>
              <a:buSzTx/>
              <a:buFontTx/>
            </a:pPr>
            <a:endParaRPr lang="zh-CN" altLang="en-US" sz="1945" dirty="0">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5" name="弧 61"/>
          <p:cNvSpPr/>
          <p:nvPr>
            <p:custDataLst>
              <p:tags r:id="rId4"/>
            </p:custDataLst>
          </p:nvPr>
        </p:nvSpPr>
        <p:spPr>
          <a:xfrm>
            <a:off x="7369810" y="2312670"/>
            <a:ext cx="2261870" cy="2673350"/>
          </a:xfrm>
          <a:prstGeom prst="arc">
            <a:avLst>
              <a:gd name="adj1" fmla="val 16870261"/>
              <a:gd name="adj2" fmla="val 4621400"/>
            </a:avLst>
          </a:prstGeom>
          <a:gradFill>
            <a:gsLst>
              <a:gs pos="0">
                <a:schemeClr val="accent1">
                  <a:lumMod val="60000"/>
                  <a:lumOff val="40000"/>
                  <a:alpha val="50000"/>
                </a:schemeClr>
              </a:gs>
              <a:gs pos="21000">
                <a:schemeClr val="accent1">
                  <a:lumMod val="60000"/>
                  <a:lumOff val="40000"/>
                  <a:alpha val="0"/>
                </a:schemeClr>
              </a:gs>
            </a:gsLst>
            <a:lin ang="10800000" scaled="0"/>
          </a:gradFill>
          <a:ln w="13716" cap="flat" cmpd="sng" algn="ctr">
            <a:gradFill flip="none" rotWithShape="1">
              <a:gsLst>
                <a:gs pos="54000">
                  <a:schemeClr val="accent1">
                    <a:lumMod val="60000"/>
                    <a:lumOff val="40000"/>
                    <a:alpha val="0"/>
                  </a:schemeClr>
                </a:gs>
                <a:gs pos="0">
                  <a:schemeClr val="accent1">
                    <a:lumMod val="60000"/>
                    <a:lumOff val="40000"/>
                    <a:alpha val="50000"/>
                  </a:schemeClr>
                </a:gs>
              </a:gsLst>
              <a:lin ang="10800000" scaled="1"/>
              <a:tileRect/>
            </a:gradFill>
            <a:prstDash val="solid"/>
            <a:miter lim="800000"/>
          </a:ln>
          <a:effectLst/>
        </p:spPr>
        <p:txBody>
          <a:bodyPr lIns="98755" tIns="49378" rIns="98755" bIns="49378" rtlCol="0" anchor="ctr">
            <a:noAutofit/>
          </a:bodyPr>
          <a:p>
            <a:pPr lvl="0" algn="ctr">
              <a:buClrTx/>
              <a:buSzTx/>
              <a:buFontTx/>
            </a:pPr>
            <a:endParaRPr lang="zh-CN" altLang="en-US" sz="1945" dirty="0">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7" name="文本框 26"/>
          <p:cNvSpPr txBox="1"/>
          <p:nvPr/>
        </p:nvSpPr>
        <p:spPr>
          <a:xfrm>
            <a:off x="5157470" y="5640705"/>
            <a:ext cx="2291715" cy="306705"/>
          </a:xfrm>
          <a:prstGeom prst="rect">
            <a:avLst/>
          </a:prstGeom>
          <a:noFill/>
        </p:spPr>
        <p:txBody>
          <a:bodyPr wrap="square" rtlCol="0">
            <a:spAutoFit/>
          </a:bodyPr>
          <a:p>
            <a:pPr algn="ctr"/>
            <a:r>
              <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智能供应链网络</a:t>
            </a:r>
            <a:endPar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1" name="文本框 30"/>
          <p:cNvSpPr txBox="1"/>
          <p:nvPr/>
        </p:nvSpPr>
        <p:spPr>
          <a:xfrm>
            <a:off x="3683000" y="1811020"/>
            <a:ext cx="1196975" cy="275590"/>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移动端</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APP</a:t>
            </a:r>
            <a:endParaRPr lang="en-US" altLang="zh-CN"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nvSpPr>
        <p:spPr>
          <a:xfrm>
            <a:off x="4495800" y="1811020"/>
            <a:ext cx="1196975" cy="275590"/>
          </a:xfrm>
          <a:prstGeom prst="rect">
            <a:avLst/>
          </a:prstGeom>
          <a:noFill/>
        </p:spPr>
        <p:txBody>
          <a:bodyPr wrap="square" rtlCol="0">
            <a:spAutoFit/>
          </a:bodyPr>
          <a:p>
            <a:pPr algn="ctr"/>
            <a:r>
              <a:rPr lang="zh-CN" sz="1200">
                <a:solidFill>
                  <a:schemeClr val="tx2"/>
                </a:solidFill>
                <a:latin typeface="微软雅黑" panose="020B0503020204020204" charset="-122"/>
                <a:ea typeface="微软雅黑" panose="020B0503020204020204" charset="-122"/>
                <a:cs typeface="微软雅黑" panose="020B0503020204020204" charset="-122"/>
              </a:rPr>
              <a:t>官方商城</a:t>
            </a:r>
            <a:endParaRPr lang="zh-CN"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3" name="文本框 32"/>
          <p:cNvSpPr txBox="1"/>
          <p:nvPr/>
        </p:nvSpPr>
        <p:spPr>
          <a:xfrm>
            <a:off x="5308600" y="1811020"/>
            <a:ext cx="1196975" cy="275590"/>
          </a:xfrm>
          <a:prstGeom prst="rect">
            <a:avLst/>
          </a:prstGeom>
          <a:noFill/>
        </p:spPr>
        <p:txBody>
          <a:bodyPr wrap="square" rtlCol="0">
            <a:spAutoFit/>
          </a:bodyPr>
          <a:p>
            <a:pPr algn="ctr"/>
            <a:r>
              <a:rPr lang="zh-CN" sz="1200">
                <a:solidFill>
                  <a:schemeClr val="tx2"/>
                </a:solidFill>
                <a:latin typeface="微软雅黑" panose="020B0503020204020204" charset="-122"/>
                <a:ea typeface="微软雅黑" panose="020B0503020204020204" charset="-122"/>
                <a:cs typeface="微软雅黑" panose="020B0503020204020204" charset="-122"/>
              </a:rPr>
              <a:t>库存调配</a:t>
            </a:r>
            <a:endParaRPr lang="zh-CN"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4" name="文本框 33"/>
          <p:cNvSpPr txBox="1"/>
          <p:nvPr/>
        </p:nvSpPr>
        <p:spPr>
          <a:xfrm>
            <a:off x="6121400" y="1811020"/>
            <a:ext cx="1196975" cy="275590"/>
          </a:xfrm>
          <a:prstGeom prst="rect">
            <a:avLst/>
          </a:prstGeom>
          <a:noFill/>
        </p:spPr>
        <p:txBody>
          <a:bodyPr wrap="square" rtlCol="0">
            <a:spAutoFit/>
          </a:bodyPr>
          <a:p>
            <a:pPr algn="ctr"/>
            <a:r>
              <a:rPr lang="zh-CN" sz="1200">
                <a:solidFill>
                  <a:schemeClr val="tx2"/>
                </a:solidFill>
                <a:latin typeface="微软雅黑" panose="020B0503020204020204" charset="-122"/>
                <a:ea typeface="微软雅黑" panose="020B0503020204020204" charset="-122"/>
                <a:cs typeface="微软雅黑" panose="020B0503020204020204" charset="-122"/>
              </a:rPr>
              <a:t>订单管理</a:t>
            </a:r>
            <a:endParaRPr lang="zh-CN"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5" name="文本框 34"/>
          <p:cNvSpPr txBox="1"/>
          <p:nvPr/>
        </p:nvSpPr>
        <p:spPr>
          <a:xfrm>
            <a:off x="5435600" y="2697480"/>
            <a:ext cx="1401445" cy="306705"/>
          </a:xfrm>
          <a:prstGeom prst="rect">
            <a:avLst/>
          </a:prstGeom>
          <a:noFill/>
        </p:spPr>
        <p:txBody>
          <a:bodyPr wrap="square" rtlCol="0">
            <a:spAutoFit/>
          </a:bodyPr>
          <a:p>
            <a:pPr algn="ctr"/>
            <a:r>
              <a:rPr lang="en-US" altLang="zh-CN" sz="1400" b="1">
                <a:solidFill>
                  <a:schemeClr val="tx2"/>
                </a:solidFill>
                <a:latin typeface="微软雅黑" panose="020B0503020204020204" charset="-122"/>
                <a:ea typeface="微软雅黑" panose="020B0503020204020204" charset="-122"/>
                <a:cs typeface="微软雅黑" panose="020B0503020204020204" charset="-122"/>
              </a:rPr>
              <a:t>AI</a:t>
            </a:r>
            <a:endParaRPr lang="en-US" altLang="zh-CN" sz="14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6" name="文本框 35"/>
          <p:cNvSpPr txBox="1"/>
          <p:nvPr/>
        </p:nvSpPr>
        <p:spPr>
          <a:xfrm>
            <a:off x="4851400" y="2980055"/>
            <a:ext cx="2538730" cy="24511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需求预测</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 | </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库存预警</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 | </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策略优化</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 </a:t>
            </a:r>
            <a:endParaRPr lang="en-US" altLang="zh-CN"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7" name="文本框 36"/>
          <p:cNvSpPr txBox="1"/>
          <p:nvPr/>
        </p:nvSpPr>
        <p:spPr>
          <a:xfrm>
            <a:off x="5330825" y="4392930"/>
            <a:ext cx="1567180" cy="368300"/>
          </a:xfrm>
          <a:prstGeom prst="rect">
            <a:avLst/>
          </a:prstGeom>
          <a:noFill/>
        </p:spPr>
        <p:txBody>
          <a:bodyPr wrap="square" rtlCol="0">
            <a:spAutoFit/>
          </a:bodyPr>
          <a:p>
            <a:pPr algn="ctr"/>
            <a:r>
              <a:rPr lang="zh-CN" altLang="en-US" b="1">
                <a:solidFill>
                  <a:schemeClr val="accent5"/>
                </a:solidFill>
                <a:latin typeface="微软雅黑" panose="020B0503020204020204" charset="-122"/>
                <a:ea typeface="微软雅黑" panose="020B0503020204020204" charset="-122"/>
                <a:cs typeface="微软雅黑" panose="020B0503020204020204" charset="-122"/>
              </a:rPr>
              <a:t>数字基础设施</a:t>
            </a:r>
            <a:endParaRPr lang="zh-CN" altLang="en-US"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39" name="文本框 38"/>
          <p:cNvSpPr txBox="1"/>
          <p:nvPr/>
        </p:nvSpPr>
        <p:spPr>
          <a:xfrm>
            <a:off x="5229860" y="5089525"/>
            <a:ext cx="1877060" cy="306705"/>
          </a:xfrm>
          <a:prstGeom prst="rect">
            <a:avLst/>
          </a:prstGeom>
          <a:noFill/>
        </p:spPr>
        <p:txBody>
          <a:bodyPr wrap="square" rtlCol="0">
            <a:spAutoFit/>
          </a:bodyPr>
          <a:p>
            <a:pPr algn="ctr"/>
            <a:r>
              <a:rPr lang="zh-CN" altLang="en-US" sz="14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高性能数据中心</a:t>
            </a:r>
            <a:endParaRPr lang="zh-CN" altLang="en-US" sz="14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60" name="文本框 59"/>
          <p:cNvSpPr txBox="1"/>
          <p:nvPr/>
        </p:nvSpPr>
        <p:spPr>
          <a:xfrm>
            <a:off x="5670550" y="3702050"/>
            <a:ext cx="375285" cy="375285"/>
          </a:xfrm>
          <a:prstGeom prst="ellipse">
            <a:avLst/>
          </a:prstGeom>
          <a:gradFill>
            <a:gsLst>
              <a:gs pos="29000">
                <a:schemeClr val="accent5">
                  <a:lumMod val="60000"/>
                  <a:lumOff val="40000"/>
                </a:schemeClr>
              </a:gs>
              <a:gs pos="64000">
                <a:schemeClr val="accent5"/>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62" name="文本框 61"/>
          <p:cNvSpPr txBox="1"/>
          <p:nvPr/>
        </p:nvSpPr>
        <p:spPr>
          <a:xfrm>
            <a:off x="6339205" y="3702050"/>
            <a:ext cx="375285" cy="375285"/>
          </a:xfrm>
          <a:prstGeom prst="ellipse">
            <a:avLst/>
          </a:prstGeom>
          <a:gradFill>
            <a:gsLst>
              <a:gs pos="29000">
                <a:schemeClr val="accent5">
                  <a:lumMod val="60000"/>
                  <a:lumOff val="40000"/>
                </a:schemeClr>
              </a:gs>
              <a:gs pos="64000">
                <a:schemeClr val="accent5"/>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64" name="文本框 63"/>
          <p:cNvSpPr txBox="1"/>
          <p:nvPr/>
        </p:nvSpPr>
        <p:spPr>
          <a:xfrm>
            <a:off x="5504180" y="3326130"/>
            <a:ext cx="1401445" cy="306705"/>
          </a:xfrm>
          <a:prstGeom prst="rect">
            <a:avLst/>
          </a:prstGeom>
          <a:noFill/>
        </p:spPr>
        <p:txBody>
          <a:bodyPr wrap="square" rtlCol="0">
            <a:spAutoFit/>
          </a:bodyPr>
          <a:p>
            <a:pPr algn="ctr"/>
            <a:r>
              <a:rPr lang="zh-CN" altLang="en-US" sz="14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行业云平台</a:t>
            </a:r>
            <a:endParaRPr lang="zh-CN" altLang="en-US" sz="14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68" name="文本框 67"/>
          <p:cNvSpPr txBox="1"/>
          <p:nvPr/>
        </p:nvSpPr>
        <p:spPr>
          <a:xfrm>
            <a:off x="5570855" y="2131060"/>
            <a:ext cx="1401445" cy="306705"/>
          </a:xfrm>
          <a:prstGeom prst="rect">
            <a:avLst/>
          </a:prstGeom>
          <a:noFill/>
        </p:spPr>
        <p:txBody>
          <a:bodyPr wrap="square" rtlCol="0">
            <a:spAutoFit/>
          </a:bodyPr>
          <a:p>
            <a:pPr lvl="0" algn="ctr">
              <a:buClrTx/>
              <a:buSzTx/>
              <a:buFontTx/>
            </a:pPr>
            <a:r>
              <a:rPr lang="zh-CN" altLang="en-US" b="1">
                <a:solidFill>
                  <a:schemeClr val="accent1"/>
                </a:solidFill>
                <a:latin typeface="微软雅黑" panose="020B0503020204020204" charset="-122"/>
                <a:ea typeface="微软雅黑" panose="020B0503020204020204" charset="-122"/>
                <a:cs typeface="微软雅黑" panose="020B0503020204020204" charset="-122"/>
                <a:sym typeface="+mn-ea"/>
              </a:rPr>
              <a:t>行业应用</a:t>
            </a:r>
            <a:endParaRPr lang="zh-CN" altLang="en-US"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69" name="文本框 68"/>
          <p:cNvSpPr txBox="1"/>
          <p:nvPr/>
        </p:nvSpPr>
        <p:spPr>
          <a:xfrm>
            <a:off x="7747000" y="1811020"/>
            <a:ext cx="1196975" cy="275590"/>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风险管控</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1" name="文本框 70"/>
          <p:cNvSpPr txBox="1"/>
          <p:nvPr/>
        </p:nvSpPr>
        <p:spPr>
          <a:xfrm>
            <a:off x="6934200" y="1811020"/>
            <a:ext cx="1196975" cy="275590"/>
          </a:xfrm>
          <a:prstGeom prst="rect">
            <a:avLst/>
          </a:prstGeom>
          <a:noFill/>
        </p:spPr>
        <p:txBody>
          <a:bodyPr wrap="square" rtlCol="0">
            <a:spAutoFit/>
          </a:bodyPr>
          <a:p>
            <a:pPr algn="ctr"/>
            <a:r>
              <a:rPr lang="zh-CN" sz="1200">
                <a:solidFill>
                  <a:schemeClr val="tx2"/>
                </a:solidFill>
                <a:latin typeface="微软雅黑" panose="020B0503020204020204" charset="-122"/>
                <a:ea typeface="微软雅黑" panose="020B0503020204020204" charset="-122"/>
                <a:cs typeface="微软雅黑" panose="020B0503020204020204" charset="-122"/>
              </a:rPr>
              <a:t>销售分析</a:t>
            </a:r>
            <a:endParaRPr lang="zh-CN" sz="12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112" name="组合 111"/>
          <p:cNvGrpSpPr/>
          <p:nvPr/>
        </p:nvGrpSpPr>
        <p:grpSpPr>
          <a:xfrm>
            <a:off x="260350" y="1811020"/>
            <a:ext cx="2157730" cy="4142740"/>
            <a:chOff x="410" y="2852"/>
            <a:chExt cx="3398" cy="6524"/>
          </a:xfrm>
        </p:grpSpPr>
        <p:sp>
          <p:nvSpPr>
            <p:cNvPr id="47" name="矩形 46"/>
            <p:cNvSpPr/>
            <p:nvPr/>
          </p:nvSpPr>
          <p:spPr>
            <a:xfrm>
              <a:off x="410" y="2852"/>
              <a:ext cx="3398" cy="6525"/>
            </a:xfrm>
            <a:prstGeom prst="rect">
              <a:avLst/>
            </a:prstGeom>
            <a:solidFill>
              <a:schemeClr val="accent1">
                <a:lumMod val="20000"/>
                <a:lumOff val="80000"/>
                <a:alpha val="10000"/>
              </a:schemeClr>
            </a:solidFill>
            <a:ln>
              <a:solidFill>
                <a:schemeClr val="accent1">
                  <a:lumMod val="75000"/>
                  <a:alpha val="2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8" name="矩形 47"/>
            <p:cNvSpPr/>
            <p:nvPr/>
          </p:nvSpPr>
          <p:spPr>
            <a:xfrm>
              <a:off x="410" y="2852"/>
              <a:ext cx="3398" cy="764"/>
            </a:xfrm>
            <a:prstGeom prst="rect">
              <a:avLst/>
            </a:prstGeom>
            <a:gradFill>
              <a:gsLst>
                <a:gs pos="0">
                  <a:schemeClr val="accent1">
                    <a:lumMod val="60000"/>
                    <a:lumOff val="40000"/>
                  </a:schemeClr>
                </a:gs>
                <a:gs pos="100000">
                  <a:schemeClr val="accent1"/>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cs typeface="微软雅黑" panose="020B0503020204020204" charset="-122"/>
                </a:rPr>
                <a:t>应用场景</a:t>
              </a:r>
              <a:endParaRPr lang="zh-CN" altLang="en-US">
                <a:cs typeface="微软雅黑" panose="020B0503020204020204" charset="-122"/>
              </a:endParaRPr>
            </a:p>
          </p:txBody>
        </p:sp>
        <p:cxnSp>
          <p:nvCxnSpPr>
            <p:cNvPr id="91" name="直接连接符 90"/>
            <p:cNvCxnSpPr/>
            <p:nvPr/>
          </p:nvCxnSpPr>
          <p:spPr>
            <a:xfrm>
              <a:off x="567" y="5550"/>
              <a:ext cx="3060" cy="0"/>
            </a:xfrm>
            <a:prstGeom prst="line">
              <a:avLst/>
            </a:prstGeom>
            <a:solidFill>
              <a:schemeClr val="accent1">
                <a:lumMod val="20000"/>
                <a:lumOff val="80000"/>
                <a:alpha val="10000"/>
              </a:schemeClr>
            </a:solidFill>
            <a:ln>
              <a:solidFill>
                <a:schemeClr val="accent1">
                  <a:lumMod val="75000"/>
                  <a:alpha val="20000"/>
                </a:schemeClr>
              </a:solidFill>
              <a:prstDash val="sysDash"/>
            </a:ln>
          </p:spPr>
          <p:style>
            <a:lnRef idx="2">
              <a:schemeClr val="accent1">
                <a:lumMod val="75000"/>
              </a:schemeClr>
            </a:lnRef>
            <a:fillRef idx="1">
              <a:schemeClr val="accent1"/>
            </a:fillRef>
            <a:effectRef idx="0">
              <a:srgbClr val="FFFFFF"/>
            </a:effectRef>
            <a:fontRef idx="minor">
              <a:schemeClr val="lt1"/>
            </a:fontRef>
          </p:style>
        </p:cxnSp>
        <p:cxnSp>
          <p:nvCxnSpPr>
            <p:cNvPr id="92" name="直接连接符 91"/>
            <p:cNvCxnSpPr/>
            <p:nvPr/>
          </p:nvCxnSpPr>
          <p:spPr>
            <a:xfrm>
              <a:off x="567" y="7458"/>
              <a:ext cx="3060" cy="0"/>
            </a:xfrm>
            <a:prstGeom prst="line">
              <a:avLst/>
            </a:prstGeom>
            <a:solidFill>
              <a:schemeClr val="accent1">
                <a:lumMod val="20000"/>
                <a:lumOff val="80000"/>
                <a:alpha val="10000"/>
              </a:schemeClr>
            </a:solidFill>
            <a:ln>
              <a:solidFill>
                <a:schemeClr val="accent1">
                  <a:lumMod val="75000"/>
                  <a:alpha val="20000"/>
                </a:schemeClr>
              </a:solidFill>
              <a:prstDash val="sysDash"/>
            </a:ln>
          </p:spPr>
          <p:style>
            <a:lnRef idx="2">
              <a:schemeClr val="accent1">
                <a:lumMod val="75000"/>
              </a:schemeClr>
            </a:lnRef>
            <a:fillRef idx="1">
              <a:schemeClr val="accent1"/>
            </a:fillRef>
            <a:effectRef idx="0">
              <a:srgbClr val="FFFFFF"/>
            </a:effectRef>
            <a:fontRef idx="minor">
              <a:schemeClr val="lt1"/>
            </a:fontRef>
          </p:style>
        </p:cxnSp>
        <p:sp>
          <p:nvSpPr>
            <p:cNvPr id="95" name="文本框 94"/>
            <p:cNvSpPr txBox="1"/>
            <p:nvPr/>
          </p:nvSpPr>
          <p:spPr>
            <a:xfrm>
              <a:off x="757" y="3807"/>
              <a:ext cx="2679" cy="483"/>
            </a:xfrm>
            <a:prstGeom prst="rect">
              <a:avLst/>
            </a:prstGeom>
            <a:noFill/>
          </p:spPr>
          <p:txBody>
            <a:bodyPr wrap="square" rtlCol="0">
              <a:spAutoFit/>
            </a:bodyPr>
            <a:p>
              <a:pPr algn="ctr"/>
              <a:r>
                <a:rPr lang="zh-CN" sz="1400" b="1">
                  <a:solidFill>
                    <a:schemeClr val="accent1"/>
                  </a:solidFill>
                  <a:latin typeface="微软雅黑" panose="020B0503020204020204" charset="-122"/>
                  <a:ea typeface="微软雅黑" panose="020B0503020204020204" charset="-122"/>
                  <a:cs typeface="微软雅黑" panose="020B0503020204020204" charset="-122"/>
                </a:rPr>
                <a:t>智能试衣间</a:t>
              </a:r>
              <a:endParaRPr lang="zh-CN" sz="14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96" name="文本框 95"/>
            <p:cNvSpPr txBox="1"/>
            <p:nvPr/>
          </p:nvSpPr>
          <p:spPr>
            <a:xfrm>
              <a:off x="559" y="4320"/>
              <a:ext cx="3248" cy="1113"/>
            </a:xfrm>
            <a:prstGeom prst="rect">
              <a:avLst/>
            </a:prstGeom>
            <a:noFill/>
          </p:spPr>
          <p:txBody>
            <a:bodyPr wrap="square" rtlCol="0">
              <a:spAutoFit/>
            </a:bodyPr>
            <a:p>
              <a:pPr algn="l"/>
              <a:r>
                <a:rPr lang="zh-CN" altLang="en-US" sz="1000">
                  <a:solidFill>
                    <a:schemeClr val="tx2"/>
                  </a:solidFill>
                  <a:latin typeface="微软雅黑" panose="020B0503020204020204" charset="-122"/>
                  <a:ea typeface="微软雅黑" panose="020B0503020204020204" charset="-122"/>
                  <a:cs typeface="微软雅黑" panose="020B0503020204020204" charset="-122"/>
                </a:rPr>
                <a:t>基于</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“AI</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算法平台</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的图像识别与</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3D</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建模技术，用户通过手机或店内设备虚拟试穿服装，实时查看搭配效果。</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7" name="文本框 96"/>
            <p:cNvSpPr txBox="1"/>
            <p:nvPr/>
          </p:nvSpPr>
          <p:spPr>
            <a:xfrm>
              <a:off x="747" y="5695"/>
              <a:ext cx="2679" cy="483"/>
            </a:xfrm>
            <a:prstGeom prst="rect">
              <a:avLst/>
            </a:prstGeom>
            <a:noFill/>
          </p:spPr>
          <p:txBody>
            <a:bodyPr wrap="square" rtlCol="0">
              <a:spAutoFit/>
            </a:bodyPr>
            <a:p>
              <a:pPr algn="ct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动态定价系统</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98" name="文本框 97"/>
            <p:cNvSpPr txBox="1"/>
            <p:nvPr/>
          </p:nvSpPr>
          <p:spPr>
            <a:xfrm>
              <a:off x="549" y="6208"/>
              <a:ext cx="3248" cy="1113"/>
            </a:xfrm>
            <a:prstGeom prst="rect">
              <a:avLst/>
            </a:prstGeom>
            <a:noFill/>
          </p:spPr>
          <p:txBody>
            <a:bodyPr wrap="square" rtlCol="0">
              <a:spAutoFit/>
            </a:bodyPr>
            <a:p>
              <a:pPr algn="l"/>
              <a:r>
                <a:rPr lang="zh-CN" altLang="en-US" sz="1000">
                  <a:solidFill>
                    <a:schemeClr val="tx2"/>
                  </a:solidFill>
                  <a:latin typeface="微软雅黑" panose="020B0503020204020204" charset="-122"/>
                  <a:ea typeface="微软雅黑" panose="020B0503020204020204" charset="-122"/>
                  <a:cs typeface="微软雅黑" panose="020B0503020204020204" charset="-122"/>
                </a:rPr>
                <a:t>结合</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销售数据分析</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和市场需求预测，自动调整商品价格（如季末清仓、爆款溢价），支持差异化区域定价。</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9" name="文本框 98"/>
            <p:cNvSpPr txBox="1"/>
            <p:nvPr/>
          </p:nvSpPr>
          <p:spPr>
            <a:xfrm>
              <a:off x="757" y="7624"/>
              <a:ext cx="2679" cy="483"/>
            </a:xfrm>
            <a:prstGeom prst="rect">
              <a:avLst/>
            </a:prstGeom>
            <a:noFill/>
          </p:spPr>
          <p:txBody>
            <a:bodyPr wrap="square" rtlCol="0">
              <a:spAutoFit/>
            </a:bodyPr>
            <a:p>
              <a:pPr algn="ct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自动化仓储分拣</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00" name="文本框 99"/>
            <p:cNvSpPr txBox="1"/>
            <p:nvPr/>
          </p:nvSpPr>
          <p:spPr>
            <a:xfrm>
              <a:off x="559" y="8157"/>
              <a:ext cx="3248" cy="871"/>
            </a:xfrm>
            <a:prstGeom prst="rect">
              <a:avLst/>
            </a:prstGeom>
            <a:noFill/>
          </p:spPr>
          <p:txBody>
            <a:bodyPr wrap="square" rtlCol="0">
              <a:spAutoFit/>
            </a:bodyPr>
            <a:p>
              <a:pPr algn="l"/>
              <a:r>
                <a:rPr lang="zh-CN" altLang="en-US" sz="1000">
                  <a:solidFill>
                    <a:schemeClr val="tx2"/>
                  </a:solidFill>
                  <a:latin typeface="微软雅黑" panose="020B0503020204020204" charset="-122"/>
                  <a:ea typeface="微软雅黑" panose="020B0503020204020204" charset="-122"/>
                  <a:cs typeface="微软雅黑" panose="020B0503020204020204" charset="-122"/>
                </a:rPr>
                <a:t>依托</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高性能数据中心</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和机器人流程自动化（</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RPA</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），实现订单分拣、打包、出库全流程无人化。</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111" name="组合 110"/>
          <p:cNvGrpSpPr/>
          <p:nvPr/>
        </p:nvGrpSpPr>
        <p:grpSpPr>
          <a:xfrm>
            <a:off x="9768205" y="1811020"/>
            <a:ext cx="2157730" cy="4143375"/>
            <a:chOff x="15383" y="3049"/>
            <a:chExt cx="3398" cy="6525"/>
          </a:xfrm>
        </p:grpSpPr>
        <p:sp>
          <p:nvSpPr>
            <p:cNvPr id="101" name="矩形 100"/>
            <p:cNvSpPr/>
            <p:nvPr/>
          </p:nvSpPr>
          <p:spPr>
            <a:xfrm>
              <a:off x="15383" y="3049"/>
              <a:ext cx="3398" cy="6525"/>
            </a:xfrm>
            <a:prstGeom prst="rect">
              <a:avLst/>
            </a:prstGeom>
            <a:solidFill>
              <a:schemeClr val="accent1">
                <a:lumMod val="20000"/>
                <a:lumOff val="80000"/>
                <a:alpha val="10000"/>
              </a:schemeClr>
            </a:solidFill>
            <a:ln>
              <a:solidFill>
                <a:schemeClr val="accent1">
                  <a:lumMod val="75000"/>
                  <a:alpha val="2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02" name="矩形 101"/>
            <p:cNvSpPr/>
            <p:nvPr/>
          </p:nvSpPr>
          <p:spPr>
            <a:xfrm>
              <a:off x="15383" y="3049"/>
              <a:ext cx="3398" cy="764"/>
            </a:xfrm>
            <a:prstGeom prst="rect">
              <a:avLst/>
            </a:prstGeom>
            <a:gradFill>
              <a:gsLst>
                <a:gs pos="0">
                  <a:schemeClr val="accent1">
                    <a:lumMod val="60000"/>
                    <a:lumOff val="40000"/>
                  </a:schemeClr>
                </a:gs>
                <a:gs pos="100000">
                  <a:schemeClr val="accent1"/>
                </a:gs>
              </a:gsLst>
              <a:lin ang="1080000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cs typeface="微软雅黑" panose="020B0503020204020204" charset="-122"/>
                </a:rPr>
                <a:t>应用成果</a:t>
              </a:r>
              <a:endParaRPr lang="en-US" altLang="zh-CN">
                <a:cs typeface="微软雅黑" panose="020B0503020204020204" charset="-122"/>
              </a:endParaRPr>
            </a:p>
          </p:txBody>
        </p:sp>
        <p:cxnSp>
          <p:nvCxnSpPr>
            <p:cNvPr id="103" name="直接连接符 102"/>
            <p:cNvCxnSpPr/>
            <p:nvPr/>
          </p:nvCxnSpPr>
          <p:spPr>
            <a:xfrm>
              <a:off x="15540" y="5747"/>
              <a:ext cx="3060" cy="0"/>
            </a:xfrm>
            <a:prstGeom prst="line">
              <a:avLst/>
            </a:prstGeom>
            <a:solidFill>
              <a:schemeClr val="accent1">
                <a:lumMod val="20000"/>
                <a:lumOff val="80000"/>
                <a:alpha val="10000"/>
              </a:schemeClr>
            </a:solidFill>
            <a:ln>
              <a:solidFill>
                <a:schemeClr val="accent1">
                  <a:lumMod val="75000"/>
                  <a:alpha val="20000"/>
                </a:schemeClr>
              </a:solidFill>
              <a:prstDash val="sysDash"/>
            </a:ln>
          </p:spPr>
          <p:style>
            <a:lnRef idx="2">
              <a:schemeClr val="accent1">
                <a:lumMod val="75000"/>
              </a:schemeClr>
            </a:lnRef>
            <a:fillRef idx="1">
              <a:schemeClr val="accent1"/>
            </a:fillRef>
            <a:effectRef idx="0">
              <a:srgbClr val="FFFFFF"/>
            </a:effectRef>
            <a:fontRef idx="minor">
              <a:schemeClr val="lt1"/>
            </a:fontRef>
          </p:style>
        </p:cxnSp>
        <p:cxnSp>
          <p:nvCxnSpPr>
            <p:cNvPr id="104" name="直接连接符 103"/>
            <p:cNvCxnSpPr/>
            <p:nvPr/>
          </p:nvCxnSpPr>
          <p:spPr>
            <a:xfrm>
              <a:off x="15540" y="7655"/>
              <a:ext cx="3060" cy="0"/>
            </a:xfrm>
            <a:prstGeom prst="line">
              <a:avLst/>
            </a:prstGeom>
            <a:solidFill>
              <a:schemeClr val="accent1">
                <a:lumMod val="20000"/>
                <a:lumOff val="80000"/>
                <a:alpha val="10000"/>
              </a:schemeClr>
            </a:solidFill>
            <a:ln>
              <a:solidFill>
                <a:schemeClr val="accent1">
                  <a:lumMod val="75000"/>
                  <a:alpha val="20000"/>
                </a:schemeClr>
              </a:solidFill>
              <a:prstDash val="sysDash"/>
            </a:ln>
          </p:spPr>
          <p:style>
            <a:lnRef idx="2">
              <a:schemeClr val="accent1">
                <a:lumMod val="75000"/>
              </a:schemeClr>
            </a:lnRef>
            <a:fillRef idx="1">
              <a:schemeClr val="accent1"/>
            </a:fillRef>
            <a:effectRef idx="0">
              <a:srgbClr val="FFFFFF"/>
            </a:effectRef>
            <a:fontRef idx="minor">
              <a:schemeClr val="lt1"/>
            </a:fontRef>
          </p:style>
        </p:cxnSp>
        <p:sp>
          <p:nvSpPr>
            <p:cNvPr id="105" name="文本框 104"/>
            <p:cNvSpPr txBox="1"/>
            <p:nvPr/>
          </p:nvSpPr>
          <p:spPr>
            <a:xfrm>
              <a:off x="15730" y="4004"/>
              <a:ext cx="2679" cy="483"/>
            </a:xfrm>
            <a:prstGeom prst="rect">
              <a:avLst/>
            </a:prstGeom>
            <a:noFill/>
          </p:spPr>
          <p:txBody>
            <a:bodyPr wrap="square" rtlCol="0">
              <a:spAutoFit/>
            </a:bodyPr>
            <a:p>
              <a:pPr algn="ct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销售效率提升</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06" name="文本框 105"/>
            <p:cNvSpPr txBox="1"/>
            <p:nvPr/>
          </p:nvSpPr>
          <p:spPr>
            <a:xfrm>
              <a:off x="15532" y="4517"/>
              <a:ext cx="3248" cy="1113"/>
            </a:xfrm>
            <a:prstGeom prst="rect">
              <a:avLst/>
            </a:prstGeom>
            <a:noFill/>
          </p:spPr>
          <p:txBody>
            <a:bodyPr wrap="square" rtlCol="0">
              <a:spAutoFit/>
            </a:bodyPr>
            <a:p>
              <a:pPr algn="l"/>
              <a:r>
                <a:rPr lang="zh-CN" altLang="en-US" sz="1000">
                  <a:solidFill>
                    <a:schemeClr val="tx2"/>
                  </a:solidFill>
                  <a:latin typeface="微软雅黑" panose="020B0503020204020204" charset="-122"/>
                  <a:ea typeface="微软雅黑" panose="020B0503020204020204" charset="-122"/>
                  <a:cs typeface="微软雅黑" panose="020B0503020204020204" charset="-122"/>
                </a:rPr>
                <a:t>通过</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全渠道协同网络</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整合线上线下数据（如门店</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POS</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系统、电商平台订单），实现库存共享、订单统一调度和用户行为分析。</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7" name="文本框 106"/>
            <p:cNvSpPr txBox="1"/>
            <p:nvPr/>
          </p:nvSpPr>
          <p:spPr>
            <a:xfrm>
              <a:off x="15720" y="5892"/>
              <a:ext cx="2679" cy="483"/>
            </a:xfrm>
            <a:prstGeom prst="rect">
              <a:avLst/>
            </a:prstGeom>
            <a:noFill/>
          </p:spPr>
          <p:txBody>
            <a:bodyPr wrap="square" rtlCol="0">
              <a:spAutoFit/>
            </a:bodyPr>
            <a:p>
              <a:pPr algn="ct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库存周转率优化</a:t>
              </a:r>
              <a:endParaRPr lang="en-US" altLang="zh-CN" sz="14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08" name="文本框 107"/>
            <p:cNvSpPr txBox="1"/>
            <p:nvPr/>
          </p:nvSpPr>
          <p:spPr>
            <a:xfrm>
              <a:off x="15522" y="6405"/>
              <a:ext cx="3248" cy="1113"/>
            </a:xfrm>
            <a:prstGeom prst="rect">
              <a:avLst/>
            </a:prstGeom>
            <a:noFill/>
          </p:spPr>
          <p:txBody>
            <a:bodyPr wrap="square" rtlCol="0">
              <a:spAutoFit/>
            </a:bodyPr>
            <a:p>
              <a:pPr algn="l"/>
              <a:r>
                <a:rPr lang="zh-CN" altLang="en-US" sz="1000">
                  <a:solidFill>
                    <a:schemeClr val="tx2"/>
                  </a:solidFill>
                  <a:latin typeface="微软雅黑" panose="020B0503020204020204" charset="-122"/>
                  <a:ea typeface="微软雅黑" panose="020B0503020204020204" charset="-122"/>
                  <a:cs typeface="微软雅黑" panose="020B0503020204020204" charset="-122"/>
                </a:rPr>
                <a:t>基于</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市场需求分析</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和</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库存预警</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模块，</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AI</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算法动态预测区域化销售趋势，结合自动化仓储分拣系统实时调整备货策略。</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9" name="文本框 108"/>
            <p:cNvSpPr txBox="1"/>
            <p:nvPr/>
          </p:nvSpPr>
          <p:spPr>
            <a:xfrm>
              <a:off x="15730" y="7821"/>
              <a:ext cx="2679" cy="483"/>
            </a:xfrm>
            <a:prstGeom prst="rect">
              <a:avLst/>
            </a:prstGeom>
            <a:noFill/>
          </p:spPr>
          <p:txBody>
            <a:bodyPr wrap="square" rtlCol="0">
              <a:spAutoFit/>
            </a:bodyPr>
            <a:p>
              <a:pPr algn="ct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客户体验升级</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10" name="文本框 109"/>
            <p:cNvSpPr txBox="1"/>
            <p:nvPr/>
          </p:nvSpPr>
          <p:spPr>
            <a:xfrm>
              <a:off x="15532" y="8354"/>
              <a:ext cx="3248" cy="1113"/>
            </a:xfrm>
            <a:prstGeom prst="rect">
              <a:avLst/>
            </a:prstGeom>
            <a:noFill/>
          </p:spPr>
          <p:txBody>
            <a:bodyPr wrap="square" rtlCol="0">
              <a:spAutoFit/>
            </a:bodyPr>
            <a:p>
              <a:pPr algn="l"/>
              <a:r>
                <a:rPr lang="zh-CN" altLang="en-US" sz="1000">
                  <a:solidFill>
                    <a:schemeClr val="tx2"/>
                  </a:solidFill>
                  <a:latin typeface="微软雅黑" panose="020B0503020204020204" charset="-122"/>
                  <a:ea typeface="微软雅黑" panose="020B0503020204020204" charset="-122"/>
                  <a:cs typeface="微软雅黑" panose="020B0503020204020204" charset="-122"/>
                </a:rPr>
                <a:t>通过</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品牌专属</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APP”</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提供虚拟试衣（</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AR/VR</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）、个性化推荐、一键售后等功能；线下门店部署智能导购屏和无人收银终端。</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113" name="文本框 112"/>
          <p:cNvSpPr txBox="1"/>
          <p:nvPr/>
        </p:nvSpPr>
        <p:spPr>
          <a:xfrm>
            <a:off x="2880360" y="3423920"/>
            <a:ext cx="606425" cy="737235"/>
          </a:xfrm>
          <a:prstGeom prst="rect">
            <a:avLst/>
          </a:prstGeom>
          <a:noFill/>
        </p:spPr>
        <p:txBody>
          <a:bodyPr wrap="square" rtlCol="0">
            <a:spAutoFit/>
          </a:bodyPr>
          <a:p>
            <a:pPr algn="ctr"/>
            <a:r>
              <a:rPr 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扩展应用潜力</a:t>
            </a:r>
            <a:endParaRPr 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14" name="文本框 113"/>
          <p:cNvSpPr txBox="1"/>
          <p:nvPr/>
        </p:nvSpPr>
        <p:spPr>
          <a:xfrm>
            <a:off x="8766810" y="3340100"/>
            <a:ext cx="606425" cy="737235"/>
          </a:xfrm>
          <a:prstGeom prst="rect">
            <a:avLst/>
          </a:prstGeom>
          <a:noFill/>
        </p:spPr>
        <p:txBody>
          <a:bodyPr wrap="square" rtlCol="0">
            <a:spAutoFit/>
          </a:bodyPr>
          <a:p>
            <a:pPr algn="ctr"/>
            <a:r>
              <a:rPr 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技术驱动价值</a:t>
            </a:r>
            <a:endParaRPr 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pic>
        <p:nvPicPr>
          <p:cNvPr id="26" name="图片 25" descr="屋顶资源管理"/>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5600" y="186055"/>
            <a:ext cx="549910" cy="549910"/>
          </a:xfrm>
          <a:prstGeom prst="rect">
            <a:avLst/>
          </a:prstGeom>
        </p:spPr>
      </p:pic>
      <p:grpSp>
        <p:nvGrpSpPr>
          <p:cNvPr id="10" name="组合 9"/>
          <p:cNvGrpSpPr/>
          <p:nvPr/>
        </p:nvGrpSpPr>
        <p:grpSpPr>
          <a:xfrm>
            <a:off x="8738235" y="348615"/>
            <a:ext cx="3219450" cy="332740"/>
            <a:chOff x="13761" y="549"/>
            <a:chExt cx="5070" cy="524"/>
          </a:xfrm>
        </p:grpSpPr>
        <p:pic>
          <p:nvPicPr>
            <p:cNvPr id="49" name="图片 48"/>
            <p:cNvPicPr>
              <a:picLocks noChangeAspect="1"/>
            </p:cNvPicPr>
            <p:nvPr userDrawn="1"/>
          </p:nvPicPr>
          <p:blipFill>
            <a:blip r:embed="rId7"/>
            <a:srcRect l="17002" t="-1765" r="56499" b="-1176"/>
            <a:stretch>
              <a:fillRect/>
            </a:stretch>
          </p:blipFill>
          <p:spPr>
            <a:xfrm>
              <a:off x="13761" y="549"/>
              <a:ext cx="1582" cy="525"/>
            </a:xfrm>
            <a:prstGeom prst="rect">
              <a:avLst/>
            </a:prstGeom>
          </p:spPr>
        </p:pic>
        <p:sp>
          <p:nvSpPr>
            <p:cNvPr id="50" name="文本框 49"/>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
        <p:nvSpPr>
          <p:cNvPr id="51" name="文本框 50"/>
          <p:cNvSpPr txBox="1"/>
          <p:nvPr/>
        </p:nvSpPr>
        <p:spPr>
          <a:xfrm>
            <a:off x="3828415" y="1336675"/>
            <a:ext cx="1401445" cy="275590"/>
          </a:xfrm>
          <a:prstGeom prst="rect">
            <a:avLst/>
          </a:prstGeom>
          <a:noFill/>
        </p:spPr>
        <p:txBody>
          <a:bodyPr wrap="square" rtlCol="0">
            <a:spAutoFit/>
          </a:bodyPr>
          <a:p>
            <a:pPr algn="ctr"/>
            <a:r>
              <a:rPr lang="zh-CN" altLang="en-US" sz="1200" b="1">
                <a:solidFill>
                  <a:schemeClr val="bg1"/>
                </a:solidFill>
                <a:latin typeface="微软雅黑" panose="020B0503020204020204" charset="-122"/>
                <a:ea typeface="微软雅黑" panose="020B0503020204020204" charset="-122"/>
                <a:cs typeface="微软雅黑" panose="020B0503020204020204" charset="-122"/>
              </a:rPr>
              <a:t>客户服务</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61" name="文本框 60"/>
          <p:cNvSpPr txBox="1"/>
          <p:nvPr/>
        </p:nvSpPr>
        <p:spPr>
          <a:xfrm>
            <a:off x="5492750" y="1335405"/>
            <a:ext cx="1401445" cy="275590"/>
          </a:xfrm>
          <a:prstGeom prst="rect">
            <a:avLst/>
          </a:prstGeom>
          <a:noFill/>
        </p:spPr>
        <p:txBody>
          <a:bodyPr wrap="square" rtlCol="0">
            <a:spAutoFit/>
          </a:bodyPr>
          <a:p>
            <a:pPr algn="ctr"/>
            <a:r>
              <a:rPr lang="zh-CN" altLang="en-US" sz="1200" b="1">
                <a:solidFill>
                  <a:schemeClr val="bg1"/>
                </a:solidFill>
                <a:latin typeface="微软雅黑" panose="020B0503020204020204" charset="-122"/>
                <a:ea typeface="微软雅黑" panose="020B0503020204020204" charset="-122"/>
                <a:cs typeface="微软雅黑" panose="020B0503020204020204" charset="-122"/>
              </a:rPr>
              <a:t>供应链管理</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70" name="文本框 69"/>
          <p:cNvSpPr txBox="1"/>
          <p:nvPr/>
        </p:nvSpPr>
        <p:spPr>
          <a:xfrm>
            <a:off x="7157085" y="1335405"/>
            <a:ext cx="1401445" cy="275590"/>
          </a:xfrm>
          <a:prstGeom prst="rect">
            <a:avLst/>
          </a:prstGeom>
          <a:noFill/>
        </p:spPr>
        <p:txBody>
          <a:bodyPr wrap="square" rtlCol="0">
            <a:spAutoFit/>
          </a:bodyPr>
          <a:p>
            <a:pPr lvl="0" algn="ctr">
              <a:buClrTx/>
              <a:buSzTx/>
              <a:buFontTx/>
            </a:pPr>
            <a:r>
              <a:rPr lang="zh-CN" altLang="en-US" sz="1200" b="1">
                <a:solidFill>
                  <a:schemeClr val="bg1"/>
                </a:solidFill>
                <a:latin typeface="微软雅黑" panose="020B0503020204020204" charset="-122"/>
                <a:ea typeface="微软雅黑" panose="020B0503020204020204" charset="-122"/>
                <a:cs typeface="微软雅黑" panose="020B0503020204020204" charset="-122"/>
                <a:sym typeface="+mn-ea"/>
              </a:rPr>
              <a:t>智能决策支持</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85" name="文本框 84"/>
          <p:cNvSpPr txBox="1"/>
          <p:nvPr/>
        </p:nvSpPr>
        <p:spPr>
          <a:xfrm>
            <a:off x="5121275" y="3532505"/>
            <a:ext cx="375285" cy="375285"/>
          </a:xfrm>
          <a:prstGeom prst="ellipse">
            <a:avLst/>
          </a:prstGeom>
          <a:gradFill>
            <a:gsLst>
              <a:gs pos="29000">
                <a:schemeClr val="accent5">
                  <a:lumMod val="60000"/>
                  <a:lumOff val="40000"/>
                </a:schemeClr>
              </a:gs>
              <a:gs pos="64000">
                <a:schemeClr val="accent5"/>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86" name="文本框 85"/>
          <p:cNvSpPr txBox="1"/>
          <p:nvPr/>
        </p:nvSpPr>
        <p:spPr>
          <a:xfrm>
            <a:off x="6833235" y="3547745"/>
            <a:ext cx="375285" cy="375285"/>
          </a:xfrm>
          <a:prstGeom prst="ellipse">
            <a:avLst/>
          </a:prstGeom>
          <a:gradFill>
            <a:gsLst>
              <a:gs pos="29000">
                <a:schemeClr val="accent5">
                  <a:lumMod val="60000"/>
                  <a:lumOff val="40000"/>
                </a:schemeClr>
              </a:gs>
              <a:gs pos="64000">
                <a:schemeClr val="accent5"/>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grpSp>
        <p:nvGrpSpPr>
          <p:cNvPr id="87" name="组合 86"/>
          <p:cNvGrpSpPr/>
          <p:nvPr/>
        </p:nvGrpSpPr>
        <p:grpSpPr>
          <a:xfrm>
            <a:off x="4580890" y="3372485"/>
            <a:ext cx="3193415" cy="676275"/>
            <a:chOff x="7239" y="5331"/>
            <a:chExt cx="5029" cy="1065"/>
          </a:xfrm>
        </p:grpSpPr>
        <p:sp>
          <p:nvSpPr>
            <p:cNvPr id="88" name="文本框 87"/>
            <p:cNvSpPr txBox="1"/>
            <p:nvPr/>
          </p:nvSpPr>
          <p:spPr>
            <a:xfrm>
              <a:off x="7239" y="5380"/>
              <a:ext cx="708" cy="531"/>
            </a:xfrm>
            <a:prstGeom prst="rect">
              <a:avLst/>
            </a:prstGeom>
            <a:noFill/>
          </p:spPr>
          <p:txBody>
            <a:bodyPr wrap="square" rtlCol="0">
              <a:spAutoFit/>
            </a:bodyPr>
            <a:p>
              <a:pPr algn="ctr"/>
              <a:r>
                <a:rPr lang="zh-CN" altLang="en-US" sz="800" b="1">
                  <a:solidFill>
                    <a:schemeClr val="bg1"/>
                  </a:solidFill>
                  <a:latin typeface="微软雅黑" panose="020B0503020204020204" charset="-122"/>
                  <a:ea typeface="微软雅黑" panose="020B0503020204020204" charset="-122"/>
                  <a:cs typeface="微软雅黑" panose="020B0503020204020204" charset="-122"/>
                </a:rPr>
                <a:t>设计智创</a:t>
              </a:r>
              <a:endParaRPr lang="zh-CN" altLang="en-US" sz="8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9" name="文本框 88"/>
            <p:cNvSpPr txBox="1"/>
            <p:nvPr/>
          </p:nvSpPr>
          <p:spPr>
            <a:xfrm>
              <a:off x="8023" y="5601"/>
              <a:ext cx="708" cy="531"/>
            </a:xfrm>
            <a:prstGeom prst="rect">
              <a:avLst/>
            </a:prstGeom>
            <a:noFill/>
          </p:spPr>
          <p:txBody>
            <a:bodyPr wrap="square" rtlCol="0">
              <a:spAutoFit/>
            </a:bodyPr>
            <a:p>
              <a:pPr algn="ctr"/>
              <a:r>
                <a:rPr lang="zh-CN" altLang="en-US" sz="800" b="1">
                  <a:solidFill>
                    <a:schemeClr val="bg1"/>
                  </a:solidFill>
                  <a:latin typeface="微软雅黑" panose="020B0503020204020204" charset="-122"/>
                  <a:ea typeface="微软雅黑" panose="020B0503020204020204" charset="-122"/>
                  <a:cs typeface="微软雅黑" panose="020B0503020204020204" charset="-122"/>
                </a:rPr>
                <a:t>产销直连</a:t>
              </a:r>
              <a:endParaRPr lang="zh-CN" altLang="en-US" sz="8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0" name="文本框 89"/>
            <p:cNvSpPr txBox="1"/>
            <p:nvPr/>
          </p:nvSpPr>
          <p:spPr>
            <a:xfrm>
              <a:off x="10727" y="5631"/>
              <a:ext cx="708" cy="531"/>
            </a:xfrm>
            <a:prstGeom prst="rect">
              <a:avLst/>
            </a:prstGeom>
            <a:noFill/>
          </p:spPr>
          <p:txBody>
            <a:bodyPr wrap="square" rtlCol="0">
              <a:spAutoFit/>
            </a:bodyPr>
            <a:p>
              <a:pPr algn="ctr"/>
              <a:r>
                <a:rPr lang="zh-CN" altLang="en-US" sz="800" b="1">
                  <a:solidFill>
                    <a:schemeClr val="bg1"/>
                  </a:solidFill>
                  <a:latin typeface="微软雅黑" panose="020B0503020204020204" charset="-122"/>
                  <a:ea typeface="微软雅黑" panose="020B0503020204020204" charset="-122"/>
                  <a:cs typeface="微软雅黑" panose="020B0503020204020204" charset="-122"/>
                </a:rPr>
                <a:t>数据智融</a:t>
              </a:r>
              <a:endParaRPr lang="zh-CN" altLang="en-US" sz="8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3" name="文本框 92"/>
            <p:cNvSpPr txBox="1"/>
            <p:nvPr/>
          </p:nvSpPr>
          <p:spPr>
            <a:xfrm>
              <a:off x="11560" y="5331"/>
              <a:ext cx="708" cy="531"/>
            </a:xfrm>
            <a:prstGeom prst="rect">
              <a:avLst/>
            </a:prstGeom>
            <a:noFill/>
          </p:spPr>
          <p:txBody>
            <a:bodyPr wrap="square" rtlCol="0">
              <a:spAutoFit/>
            </a:bodyPr>
            <a:p>
              <a:pPr algn="ctr"/>
              <a:r>
                <a:rPr lang="zh-CN" altLang="en-US" sz="800" b="1">
                  <a:solidFill>
                    <a:schemeClr val="bg1"/>
                  </a:solidFill>
                  <a:latin typeface="微软雅黑" panose="020B0503020204020204" charset="-122"/>
                  <a:ea typeface="微软雅黑" panose="020B0503020204020204" charset="-122"/>
                  <a:cs typeface="微软雅黑" panose="020B0503020204020204" charset="-122"/>
                </a:rPr>
                <a:t>生态共生</a:t>
              </a:r>
              <a:endParaRPr lang="zh-CN" altLang="en-US" sz="8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4" name="文本框 93"/>
            <p:cNvSpPr txBox="1"/>
            <p:nvPr/>
          </p:nvSpPr>
          <p:spPr>
            <a:xfrm>
              <a:off x="8908" y="5865"/>
              <a:ext cx="708" cy="531"/>
            </a:xfrm>
            <a:prstGeom prst="rect">
              <a:avLst/>
            </a:prstGeom>
            <a:noFill/>
          </p:spPr>
          <p:txBody>
            <a:bodyPr wrap="square" rtlCol="0">
              <a:spAutoFit/>
            </a:bodyPr>
            <a:p>
              <a:pPr algn="ctr"/>
              <a:r>
                <a:rPr lang="zh-CN" altLang="en-US" sz="800" b="1">
                  <a:solidFill>
                    <a:schemeClr val="bg1"/>
                  </a:solidFill>
                  <a:latin typeface="微软雅黑" panose="020B0503020204020204" charset="-122"/>
                  <a:ea typeface="微软雅黑" panose="020B0503020204020204" charset="-122"/>
                  <a:cs typeface="微软雅黑" panose="020B0503020204020204" charset="-122"/>
                </a:rPr>
                <a:t>云仓联控</a:t>
              </a:r>
              <a:endParaRPr lang="zh-CN" altLang="en-US" sz="8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15" name="文本框 114"/>
            <p:cNvSpPr txBox="1"/>
            <p:nvPr/>
          </p:nvSpPr>
          <p:spPr>
            <a:xfrm>
              <a:off x="9949" y="5865"/>
              <a:ext cx="708" cy="531"/>
            </a:xfrm>
            <a:prstGeom prst="rect">
              <a:avLst/>
            </a:prstGeom>
            <a:noFill/>
          </p:spPr>
          <p:txBody>
            <a:bodyPr wrap="square" rtlCol="0">
              <a:spAutoFit/>
            </a:bodyPr>
            <a:p>
              <a:pPr algn="ctr"/>
              <a:r>
                <a:rPr lang="zh-CN" altLang="en-US" sz="800" b="1">
                  <a:solidFill>
                    <a:schemeClr val="bg1"/>
                  </a:solidFill>
                  <a:latin typeface="微软雅黑" panose="020B0503020204020204" charset="-122"/>
                  <a:ea typeface="微软雅黑" panose="020B0503020204020204" charset="-122"/>
                  <a:cs typeface="微软雅黑" panose="020B0503020204020204" charset="-122"/>
                </a:rPr>
                <a:t>全域营销</a:t>
              </a:r>
              <a:endParaRPr lang="zh-CN" altLang="en-US" sz="800" b="1">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123" name="文本框 122"/>
          <p:cNvSpPr txBox="1"/>
          <p:nvPr/>
        </p:nvSpPr>
        <p:spPr>
          <a:xfrm>
            <a:off x="3524250" y="5467985"/>
            <a:ext cx="449580" cy="337185"/>
          </a:xfrm>
          <a:prstGeom prst="rect">
            <a:avLst/>
          </a:prstGeom>
          <a:noFill/>
        </p:spPr>
        <p:txBody>
          <a:bodyPr wrap="square" rtlCol="0">
            <a:spAutoFit/>
          </a:bodyPr>
          <a:p>
            <a:pPr algn="ctr"/>
            <a:r>
              <a:rPr lang="zh-CN" altLang="en-US" sz="800" b="1">
                <a:solidFill>
                  <a:schemeClr val="bg1"/>
                </a:solidFill>
                <a:latin typeface="微软雅黑" panose="020B0503020204020204" charset="-122"/>
                <a:ea typeface="微软雅黑" panose="020B0503020204020204" charset="-122"/>
                <a:cs typeface="微软雅黑" panose="020B0503020204020204" charset="-122"/>
              </a:rPr>
              <a:t>智能采购</a:t>
            </a:r>
            <a:endParaRPr lang="zh-CN" altLang="en-US" sz="8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4" name="文本框 123"/>
          <p:cNvSpPr txBox="1"/>
          <p:nvPr/>
        </p:nvSpPr>
        <p:spPr>
          <a:xfrm>
            <a:off x="4328160" y="5744210"/>
            <a:ext cx="449580" cy="337185"/>
          </a:xfrm>
          <a:prstGeom prst="rect">
            <a:avLst/>
          </a:prstGeom>
          <a:noFill/>
        </p:spPr>
        <p:txBody>
          <a:bodyPr wrap="square" rtlCol="0">
            <a:spAutoFit/>
          </a:bodyPr>
          <a:p>
            <a:pPr algn="ctr"/>
            <a:r>
              <a:rPr lang="zh-CN" altLang="en-US" sz="800" b="1">
                <a:solidFill>
                  <a:schemeClr val="bg1"/>
                </a:solidFill>
                <a:latin typeface="微软雅黑" panose="020B0503020204020204" charset="-122"/>
                <a:ea typeface="微软雅黑" panose="020B0503020204020204" charset="-122"/>
                <a:cs typeface="微软雅黑" panose="020B0503020204020204" charset="-122"/>
              </a:rPr>
              <a:t>柔性智造</a:t>
            </a:r>
            <a:endParaRPr lang="zh-CN" altLang="en-US" sz="8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5" name="文本框 124"/>
          <p:cNvSpPr txBox="1"/>
          <p:nvPr/>
        </p:nvSpPr>
        <p:spPr>
          <a:xfrm>
            <a:off x="5121275" y="5958840"/>
            <a:ext cx="449580" cy="337185"/>
          </a:xfrm>
          <a:prstGeom prst="rect">
            <a:avLst/>
          </a:prstGeom>
          <a:noFill/>
        </p:spPr>
        <p:txBody>
          <a:bodyPr wrap="square" rtlCol="0">
            <a:spAutoFit/>
          </a:bodyPr>
          <a:p>
            <a:pPr algn="ctr"/>
            <a:r>
              <a:rPr lang="zh-CN" altLang="en-US" sz="800" b="1">
                <a:solidFill>
                  <a:schemeClr val="bg1"/>
                </a:solidFill>
                <a:latin typeface="微软雅黑" panose="020B0503020204020204" charset="-122"/>
                <a:ea typeface="微软雅黑" panose="020B0503020204020204" charset="-122"/>
                <a:cs typeface="微软雅黑" panose="020B0503020204020204" charset="-122"/>
              </a:rPr>
              <a:t>云仓联控</a:t>
            </a:r>
            <a:endParaRPr lang="zh-CN" altLang="en-US" sz="8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6" name="文本框 125"/>
          <p:cNvSpPr txBox="1"/>
          <p:nvPr/>
        </p:nvSpPr>
        <p:spPr>
          <a:xfrm>
            <a:off x="5929630" y="6030595"/>
            <a:ext cx="449580" cy="337185"/>
          </a:xfrm>
          <a:prstGeom prst="rect">
            <a:avLst/>
          </a:prstGeom>
          <a:noFill/>
        </p:spPr>
        <p:txBody>
          <a:bodyPr wrap="square" rtlCol="0">
            <a:spAutoFit/>
          </a:bodyPr>
          <a:p>
            <a:pPr algn="ctr"/>
            <a:r>
              <a:rPr lang="zh-CN" altLang="en-US" sz="800" b="1">
                <a:solidFill>
                  <a:schemeClr val="bg1"/>
                </a:solidFill>
                <a:latin typeface="微软雅黑" panose="020B0503020204020204" charset="-122"/>
                <a:ea typeface="微软雅黑" panose="020B0503020204020204" charset="-122"/>
                <a:cs typeface="微软雅黑" panose="020B0503020204020204" charset="-122"/>
              </a:rPr>
              <a:t>物流智脑</a:t>
            </a:r>
            <a:endParaRPr lang="zh-CN" altLang="en-US" sz="8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7" name="文本框 126"/>
          <p:cNvSpPr txBox="1"/>
          <p:nvPr/>
        </p:nvSpPr>
        <p:spPr>
          <a:xfrm>
            <a:off x="6796405" y="5954395"/>
            <a:ext cx="449580" cy="337185"/>
          </a:xfrm>
          <a:prstGeom prst="rect">
            <a:avLst/>
          </a:prstGeom>
          <a:noFill/>
        </p:spPr>
        <p:txBody>
          <a:bodyPr wrap="square" rtlCol="0">
            <a:spAutoFit/>
          </a:bodyPr>
          <a:p>
            <a:pPr algn="ctr"/>
            <a:r>
              <a:rPr lang="zh-CN" altLang="en-US" sz="800" b="1">
                <a:solidFill>
                  <a:schemeClr val="bg1"/>
                </a:solidFill>
                <a:latin typeface="微软雅黑" panose="020B0503020204020204" charset="-122"/>
                <a:ea typeface="微软雅黑" panose="020B0503020204020204" charset="-122"/>
                <a:cs typeface="微软雅黑" panose="020B0503020204020204" charset="-122"/>
              </a:rPr>
              <a:t>产销协同</a:t>
            </a:r>
            <a:endParaRPr lang="zh-CN" altLang="en-US" sz="8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8" name="文本框 127"/>
          <p:cNvSpPr txBox="1"/>
          <p:nvPr/>
        </p:nvSpPr>
        <p:spPr>
          <a:xfrm>
            <a:off x="7623175" y="5742305"/>
            <a:ext cx="449580" cy="337185"/>
          </a:xfrm>
          <a:prstGeom prst="rect">
            <a:avLst/>
          </a:prstGeom>
          <a:noFill/>
        </p:spPr>
        <p:txBody>
          <a:bodyPr wrap="square" rtlCol="0">
            <a:spAutoFit/>
          </a:bodyPr>
          <a:p>
            <a:pPr algn="ctr"/>
            <a:r>
              <a:rPr lang="zh-CN" altLang="en-US" sz="800" b="1">
                <a:solidFill>
                  <a:schemeClr val="bg1"/>
                </a:solidFill>
                <a:latin typeface="微软雅黑" panose="020B0503020204020204" charset="-122"/>
                <a:ea typeface="微软雅黑" panose="020B0503020204020204" charset="-122"/>
                <a:cs typeface="微软雅黑" panose="020B0503020204020204" charset="-122"/>
              </a:rPr>
              <a:t>全链溯源</a:t>
            </a:r>
            <a:endParaRPr lang="zh-CN" altLang="en-US" sz="8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9" name="文本框 128"/>
          <p:cNvSpPr txBox="1"/>
          <p:nvPr/>
        </p:nvSpPr>
        <p:spPr>
          <a:xfrm>
            <a:off x="8462010" y="5469255"/>
            <a:ext cx="449580" cy="337185"/>
          </a:xfrm>
          <a:prstGeom prst="rect">
            <a:avLst/>
          </a:prstGeom>
          <a:noFill/>
        </p:spPr>
        <p:txBody>
          <a:bodyPr wrap="square" rtlCol="0">
            <a:spAutoFit/>
          </a:bodyPr>
          <a:p>
            <a:pPr algn="ctr"/>
            <a:r>
              <a:rPr lang="zh-CN" altLang="en-US" sz="800" b="1">
                <a:solidFill>
                  <a:schemeClr val="bg1"/>
                </a:solidFill>
                <a:latin typeface="微软雅黑" panose="020B0503020204020204" charset="-122"/>
                <a:ea typeface="微软雅黑" panose="020B0503020204020204" charset="-122"/>
                <a:cs typeface="微软雅黑" panose="020B0503020204020204" charset="-122"/>
              </a:rPr>
              <a:t>碳效优化</a:t>
            </a:r>
            <a:endParaRPr lang="zh-CN" altLang="en-US" sz="8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5" name="文本框 134"/>
          <p:cNvSpPr txBox="1"/>
          <p:nvPr/>
        </p:nvSpPr>
        <p:spPr>
          <a:xfrm>
            <a:off x="4243705" y="4521835"/>
            <a:ext cx="375285" cy="375285"/>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136" name="文本框 135"/>
          <p:cNvSpPr txBox="1"/>
          <p:nvPr/>
        </p:nvSpPr>
        <p:spPr>
          <a:xfrm>
            <a:off x="4955540" y="4807585"/>
            <a:ext cx="375285" cy="375285"/>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137" name="文本框 136"/>
          <p:cNvSpPr txBox="1"/>
          <p:nvPr/>
        </p:nvSpPr>
        <p:spPr>
          <a:xfrm>
            <a:off x="6994525" y="4807585"/>
            <a:ext cx="375285" cy="375285"/>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138" name="文本框 137"/>
          <p:cNvSpPr txBox="1"/>
          <p:nvPr/>
        </p:nvSpPr>
        <p:spPr>
          <a:xfrm>
            <a:off x="7658735" y="4521835"/>
            <a:ext cx="375285" cy="375285"/>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algn="ctr">
              <a:defRPr sz="2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dirty="0">
              <a:latin typeface="微软雅黑" panose="020B0503020204020204" charset="-122"/>
              <a:ea typeface="微软雅黑" panose="020B0503020204020204" charset="-122"/>
              <a:cs typeface="微软雅黑" panose="020B0503020204020204" charset="-122"/>
            </a:endParaRPr>
          </a:p>
        </p:txBody>
      </p:sp>
      <p:grpSp>
        <p:nvGrpSpPr>
          <p:cNvPr id="139" name="组合 138"/>
          <p:cNvGrpSpPr/>
          <p:nvPr/>
        </p:nvGrpSpPr>
        <p:grpSpPr>
          <a:xfrm>
            <a:off x="4215765" y="4542155"/>
            <a:ext cx="3846830" cy="615315"/>
            <a:chOff x="6655" y="7167"/>
            <a:chExt cx="6058" cy="969"/>
          </a:xfrm>
        </p:grpSpPr>
        <p:sp>
          <p:nvSpPr>
            <p:cNvPr id="140" name="文本框 139"/>
            <p:cNvSpPr txBox="1"/>
            <p:nvPr/>
          </p:nvSpPr>
          <p:spPr>
            <a:xfrm>
              <a:off x="6655" y="7167"/>
              <a:ext cx="708" cy="531"/>
            </a:xfrm>
            <a:prstGeom prst="rect">
              <a:avLst/>
            </a:prstGeom>
            <a:noFill/>
          </p:spPr>
          <p:txBody>
            <a:bodyPr wrap="square" rtlCol="0">
              <a:spAutoFit/>
            </a:bodyPr>
            <a:p>
              <a:pPr algn="ctr"/>
              <a:r>
                <a:rPr lang="zh-CN" altLang="en-US" sz="800" b="1">
                  <a:solidFill>
                    <a:schemeClr val="bg1"/>
                  </a:solidFill>
                  <a:latin typeface="微软雅黑" panose="020B0503020204020204" charset="-122"/>
                  <a:ea typeface="微软雅黑" panose="020B0503020204020204" charset="-122"/>
                  <a:cs typeface="微软雅黑" panose="020B0503020204020204" charset="-122"/>
                </a:rPr>
                <a:t>超算核心</a:t>
              </a:r>
              <a:endParaRPr lang="zh-CN" altLang="en-US" sz="8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41" name="文本框 140"/>
            <p:cNvSpPr txBox="1"/>
            <p:nvPr/>
          </p:nvSpPr>
          <p:spPr>
            <a:xfrm>
              <a:off x="7762" y="7606"/>
              <a:ext cx="708" cy="531"/>
            </a:xfrm>
            <a:prstGeom prst="rect">
              <a:avLst/>
            </a:prstGeom>
            <a:noFill/>
          </p:spPr>
          <p:txBody>
            <a:bodyPr wrap="square" rtlCol="0">
              <a:spAutoFit/>
            </a:bodyPr>
            <a:p>
              <a:pPr algn="ctr"/>
              <a:r>
                <a:rPr lang="zh-CN" altLang="en-US" sz="800" b="1">
                  <a:solidFill>
                    <a:schemeClr val="bg1"/>
                  </a:solidFill>
                  <a:latin typeface="微软雅黑" panose="020B0503020204020204" charset="-122"/>
                  <a:ea typeface="微软雅黑" panose="020B0503020204020204" charset="-122"/>
                  <a:cs typeface="微软雅黑" panose="020B0503020204020204" charset="-122"/>
                </a:rPr>
                <a:t>海量存储</a:t>
              </a:r>
              <a:endParaRPr lang="zh-CN" altLang="en-US" sz="8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42" name="文本框 141"/>
            <p:cNvSpPr txBox="1"/>
            <p:nvPr/>
          </p:nvSpPr>
          <p:spPr>
            <a:xfrm>
              <a:off x="10959" y="7606"/>
              <a:ext cx="708" cy="531"/>
            </a:xfrm>
            <a:prstGeom prst="rect">
              <a:avLst/>
            </a:prstGeom>
            <a:noFill/>
          </p:spPr>
          <p:txBody>
            <a:bodyPr wrap="square" rtlCol="0">
              <a:spAutoFit/>
            </a:bodyPr>
            <a:p>
              <a:pPr algn="ctr"/>
              <a:r>
                <a:rPr lang="zh-CN" altLang="en-US" sz="800" b="1">
                  <a:solidFill>
                    <a:schemeClr val="bg1"/>
                  </a:solidFill>
                  <a:latin typeface="微软雅黑" panose="020B0503020204020204" charset="-122"/>
                  <a:ea typeface="微软雅黑" panose="020B0503020204020204" charset="-122"/>
                  <a:cs typeface="微软雅黑" panose="020B0503020204020204" charset="-122"/>
                </a:rPr>
                <a:t>高速互联</a:t>
              </a:r>
              <a:endParaRPr lang="zh-CN" altLang="en-US" sz="8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43" name="文本框 142"/>
            <p:cNvSpPr txBox="1"/>
            <p:nvPr/>
          </p:nvSpPr>
          <p:spPr>
            <a:xfrm>
              <a:off x="12005" y="7167"/>
              <a:ext cx="708" cy="531"/>
            </a:xfrm>
            <a:prstGeom prst="rect">
              <a:avLst/>
            </a:prstGeom>
            <a:noFill/>
          </p:spPr>
          <p:txBody>
            <a:bodyPr wrap="square" rtlCol="0">
              <a:spAutoFit/>
            </a:bodyPr>
            <a:p>
              <a:pPr algn="ctr"/>
              <a:r>
                <a:rPr lang="zh-CN" altLang="en-US" sz="800" b="1">
                  <a:solidFill>
                    <a:schemeClr val="bg1"/>
                  </a:solidFill>
                  <a:latin typeface="微软雅黑" panose="020B0503020204020204" charset="-122"/>
                  <a:ea typeface="微软雅黑" panose="020B0503020204020204" charset="-122"/>
                  <a:cs typeface="微软雅黑" panose="020B0503020204020204" charset="-122"/>
                </a:rPr>
                <a:t>安全防护</a:t>
              </a:r>
              <a:endParaRPr lang="zh-CN" altLang="en-US" sz="800" b="1">
                <a:solidFill>
                  <a:schemeClr val="bg1"/>
                </a:solidFill>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7" name="直接连接符 106"/>
          <p:cNvCxnSpPr/>
          <p:nvPr/>
        </p:nvCxnSpPr>
        <p:spPr>
          <a:xfrm>
            <a:off x="8260080" y="2288540"/>
            <a:ext cx="3636010" cy="0"/>
          </a:xfrm>
          <a:prstGeom prst="line">
            <a:avLst/>
          </a:prstGeom>
          <a:ln w="25400">
            <a:solidFill>
              <a:schemeClr val="accent1"/>
            </a:solidFill>
            <a:prstDash val="sysDash"/>
            <a:headEnd type="oval"/>
            <a:tailEnd type="oval"/>
          </a:ln>
        </p:spPr>
        <p:style>
          <a:lnRef idx="2">
            <a:schemeClr val="accent1"/>
          </a:lnRef>
          <a:fillRef idx="0">
            <a:srgbClr val="FFFFFF"/>
          </a:fillRef>
          <a:effectRef idx="0">
            <a:srgbClr val="FFFFFF"/>
          </a:effectRef>
          <a:fontRef idx="minor">
            <a:schemeClr val="tx1"/>
          </a:fontRef>
        </p:style>
      </p:cxnSp>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latin typeface="微软雅黑" panose="020B0503020204020204" charset="-122"/>
                <a:ea typeface="微软雅黑" panose="020B0503020204020204" charset="-122"/>
                <a:cs typeface="微软雅黑" panose="020B0503020204020204" charset="-122"/>
              </a:rPr>
              <a:t>-</a:t>
            </a:r>
            <a:r>
              <a:rPr sz="2500">
                <a:solidFill>
                  <a:schemeClr val="accent1"/>
                </a:solidFill>
                <a:latin typeface="微软雅黑" panose="020B0503020204020204" charset="-122"/>
                <a:ea typeface="微软雅黑" panose="020B0503020204020204" charset="-122"/>
                <a:cs typeface="微软雅黑" panose="020B0503020204020204" charset="-122"/>
              </a:rPr>
              <a:t>多层平台架构 |</a:t>
            </a:r>
            <a:r>
              <a:rPr sz="2500">
                <a:solidFill>
                  <a:srgbClr val="213271"/>
                </a:solidFill>
                <a:latin typeface="微软雅黑" panose="020B0503020204020204" charset="-122"/>
                <a:ea typeface="微软雅黑" panose="020B0503020204020204" charset="-122"/>
                <a:cs typeface="微软雅黑" panose="020B0503020204020204" charset="-122"/>
              </a:rPr>
              <a:t> </a:t>
            </a:r>
            <a:r>
              <a:rPr sz="2500">
                <a:solidFill>
                  <a:srgbClr val="252C38"/>
                </a:solidFill>
                <a:latin typeface="微软雅黑" panose="020B0503020204020204" charset="-122"/>
                <a:ea typeface="微软雅黑" panose="020B0503020204020204" charset="-122"/>
                <a:cs typeface="微软雅黑" panose="020B0503020204020204" charset="-122"/>
              </a:rPr>
              <a:t>汽车行业数字化转型路径</a:t>
            </a:r>
            <a:endParaRPr lang="zh-CN" altLang="en-US" sz="2500">
              <a:solidFill>
                <a:srgbClr val="252C38"/>
              </a:solidFill>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35" name="同心圆 34"/>
          <p:cNvSpPr/>
          <p:nvPr/>
        </p:nvSpPr>
        <p:spPr>
          <a:xfrm>
            <a:off x="3656330" y="1539875"/>
            <a:ext cx="4791075" cy="4791075"/>
          </a:xfrm>
          <a:prstGeom prst="donut">
            <a:avLst>
              <a:gd name="adj" fmla="val 3631"/>
            </a:avLst>
          </a:prstGeom>
          <a:solidFill>
            <a:schemeClr val="accent1">
              <a:alpha val="3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cs typeface="微软雅黑" panose="020B0503020204020204" charset="-122"/>
            </a:endParaRPr>
          </a:p>
        </p:txBody>
      </p:sp>
      <p:sp>
        <p:nvSpPr>
          <p:cNvPr id="67" name="椭圆 66"/>
          <p:cNvSpPr/>
          <p:nvPr/>
        </p:nvSpPr>
        <p:spPr>
          <a:xfrm>
            <a:off x="3566160" y="1449705"/>
            <a:ext cx="4971415" cy="4971415"/>
          </a:xfrm>
          <a:prstGeom prst="ellipse">
            <a:avLst/>
          </a:prstGeom>
          <a:noFill/>
          <a:ln>
            <a:solidFill>
              <a:schemeClr val="accent1">
                <a:alpha val="50000"/>
              </a:schemeClr>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8" name="椭圆 67"/>
          <p:cNvSpPr/>
          <p:nvPr/>
        </p:nvSpPr>
        <p:spPr>
          <a:xfrm>
            <a:off x="4338320" y="2589530"/>
            <a:ext cx="3376930" cy="236855"/>
          </a:xfrm>
          <a:prstGeom prst="ellipse">
            <a:avLst/>
          </a:prstGeom>
          <a:solidFill>
            <a:schemeClr val="accent1">
              <a:lumMod val="20000"/>
              <a:lumOff val="80000"/>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9" name="椭圆 68"/>
          <p:cNvSpPr/>
          <p:nvPr/>
        </p:nvSpPr>
        <p:spPr>
          <a:xfrm>
            <a:off x="4704715" y="2496820"/>
            <a:ext cx="2703195" cy="200025"/>
          </a:xfrm>
          <a:prstGeom prst="ellipse">
            <a:avLst/>
          </a:prstGeom>
          <a:noFill/>
          <a:ln>
            <a:solidFill>
              <a:schemeClr val="accent1">
                <a:alpha val="70000"/>
              </a:schemeClr>
            </a:solidFill>
            <a:prstDash val="sysDash"/>
          </a:ln>
          <a:extLst>
            <a:ext uri="{909E8E84-426E-40DD-AFC4-6F175D3DCCD1}">
              <a14:hiddenFill xmlns:a14="http://schemas.microsoft.com/office/drawing/2010/main">
                <a:solidFill>
                  <a:schemeClr val="accent1">
                    <a:alpha val="5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0" name="文本框 69"/>
          <p:cNvSpPr txBox="1"/>
          <p:nvPr/>
        </p:nvSpPr>
        <p:spPr>
          <a:xfrm>
            <a:off x="4973320" y="2261870"/>
            <a:ext cx="616585" cy="188595"/>
          </a:xfrm>
          <a:prstGeom prst="rect">
            <a:avLst/>
          </a:prstGeom>
          <a:noFill/>
        </p:spPr>
        <p:txBody>
          <a:bodyPr wrap="square" rtlCol="0">
            <a:noAutofit/>
          </a:bodyPr>
          <a:p>
            <a:r>
              <a:rPr lang="zh-CN" altLang="en-US" sz="800">
                <a:solidFill>
                  <a:schemeClr val="tx2"/>
                </a:solidFill>
                <a:latin typeface="微软雅黑" panose="020B0503020204020204" charset="-122"/>
                <a:ea typeface="微软雅黑" panose="020B0503020204020204" charset="-122"/>
                <a:cs typeface="微软雅黑" panose="020B0503020204020204" charset="-122"/>
              </a:rPr>
              <a:t>组织敏捷</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1" name="文本框 70"/>
          <p:cNvSpPr txBox="1"/>
          <p:nvPr/>
        </p:nvSpPr>
        <p:spPr>
          <a:xfrm>
            <a:off x="6113145" y="2236470"/>
            <a:ext cx="616585" cy="213995"/>
          </a:xfrm>
          <a:prstGeom prst="rect">
            <a:avLst/>
          </a:prstGeom>
          <a:noFill/>
        </p:spPr>
        <p:txBody>
          <a:bodyPr wrap="square" rtlCol="0">
            <a:spAutoFit/>
          </a:bodyPr>
          <a:p>
            <a:r>
              <a:rPr lang="zh-CN" altLang="en-US" sz="800">
                <a:solidFill>
                  <a:schemeClr val="tx2"/>
                </a:solidFill>
                <a:latin typeface="微软雅黑" panose="020B0503020204020204" charset="-122"/>
                <a:ea typeface="微软雅黑" panose="020B0503020204020204" charset="-122"/>
                <a:cs typeface="微软雅黑" panose="020B0503020204020204" charset="-122"/>
              </a:rPr>
              <a:t>思维重塑</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2" name="文本框 71"/>
          <p:cNvSpPr txBox="1"/>
          <p:nvPr/>
        </p:nvSpPr>
        <p:spPr>
          <a:xfrm>
            <a:off x="7026275" y="2276475"/>
            <a:ext cx="616585" cy="213995"/>
          </a:xfrm>
          <a:prstGeom prst="rect">
            <a:avLst/>
          </a:prstGeom>
          <a:noFill/>
        </p:spPr>
        <p:txBody>
          <a:bodyPr wrap="square" rtlCol="0">
            <a:spAutoFit/>
          </a:bodyPr>
          <a:p>
            <a:r>
              <a:rPr lang="zh-CN" altLang="en-US" sz="800">
                <a:solidFill>
                  <a:schemeClr val="tx2"/>
                </a:solidFill>
                <a:latin typeface="微软雅黑" panose="020B0503020204020204" charset="-122"/>
                <a:ea typeface="微软雅黑" panose="020B0503020204020204" charset="-122"/>
                <a:cs typeface="微软雅黑" panose="020B0503020204020204" charset="-122"/>
              </a:rPr>
              <a:t>人才转型</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3" name="文本框 72"/>
          <p:cNvSpPr txBox="1"/>
          <p:nvPr/>
        </p:nvSpPr>
        <p:spPr>
          <a:xfrm>
            <a:off x="5260340" y="2696845"/>
            <a:ext cx="616585" cy="213995"/>
          </a:xfrm>
          <a:prstGeom prst="rect">
            <a:avLst/>
          </a:prstGeom>
          <a:noFill/>
        </p:spPr>
        <p:txBody>
          <a:bodyPr wrap="square" rtlCol="0">
            <a:spAutoFit/>
          </a:bodyPr>
          <a:p>
            <a:r>
              <a:rPr lang="zh-CN" altLang="en-US" sz="800">
                <a:solidFill>
                  <a:schemeClr val="tx2"/>
                </a:solidFill>
                <a:latin typeface="微软雅黑" panose="020B0503020204020204" charset="-122"/>
                <a:ea typeface="微软雅黑" panose="020B0503020204020204" charset="-122"/>
                <a:cs typeface="微软雅黑" panose="020B0503020204020204" charset="-122"/>
              </a:rPr>
              <a:t>流程高效</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4" name="文本框 73"/>
          <p:cNvSpPr txBox="1"/>
          <p:nvPr/>
        </p:nvSpPr>
        <p:spPr>
          <a:xfrm>
            <a:off x="6096000" y="2696845"/>
            <a:ext cx="616585" cy="213995"/>
          </a:xfrm>
          <a:prstGeom prst="rect">
            <a:avLst/>
          </a:prstGeom>
          <a:noFill/>
        </p:spPr>
        <p:txBody>
          <a:bodyPr wrap="square" rtlCol="0">
            <a:spAutoFit/>
          </a:bodyPr>
          <a:p>
            <a:r>
              <a:rPr lang="zh-CN" altLang="en-US" sz="800">
                <a:solidFill>
                  <a:schemeClr val="tx2"/>
                </a:solidFill>
                <a:latin typeface="微软雅黑" panose="020B0503020204020204" charset="-122"/>
                <a:ea typeface="微软雅黑" panose="020B0503020204020204" charset="-122"/>
                <a:cs typeface="微软雅黑" panose="020B0503020204020204" charset="-122"/>
              </a:rPr>
              <a:t>绩效精准</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7" name="椭圆 76"/>
          <p:cNvSpPr/>
          <p:nvPr/>
        </p:nvSpPr>
        <p:spPr>
          <a:xfrm>
            <a:off x="4213860" y="3936365"/>
            <a:ext cx="3590925" cy="236855"/>
          </a:xfrm>
          <a:prstGeom prst="ellipse">
            <a:avLst/>
          </a:prstGeom>
          <a:solidFill>
            <a:schemeClr val="accent5">
              <a:lumMod val="20000"/>
              <a:lumOff val="80000"/>
              <a:alpha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8" name="椭圆 77"/>
          <p:cNvSpPr/>
          <p:nvPr/>
        </p:nvSpPr>
        <p:spPr>
          <a:xfrm>
            <a:off x="4256405" y="3756025"/>
            <a:ext cx="1816735" cy="200025"/>
          </a:xfrm>
          <a:prstGeom prst="ellipse">
            <a:avLst/>
          </a:prstGeom>
          <a:noFill/>
          <a:ln>
            <a:solidFill>
              <a:schemeClr val="accent5">
                <a:alpha val="70000"/>
              </a:schemeClr>
            </a:solidFill>
            <a:prstDash val="sysDash"/>
          </a:ln>
          <a:extLst>
            <a:ext uri="{909E8E84-426E-40DD-AFC4-6F175D3DCCD1}">
              <a14:hiddenFill xmlns:a14="http://schemas.microsoft.com/office/drawing/2010/main">
                <a:solidFill>
                  <a:schemeClr val="accent1">
                    <a:alpha val="5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9" name="椭圆 78"/>
          <p:cNvSpPr/>
          <p:nvPr/>
        </p:nvSpPr>
        <p:spPr>
          <a:xfrm>
            <a:off x="5938520" y="3756025"/>
            <a:ext cx="1816735" cy="200025"/>
          </a:xfrm>
          <a:prstGeom prst="ellipse">
            <a:avLst/>
          </a:prstGeom>
          <a:noFill/>
          <a:ln>
            <a:solidFill>
              <a:schemeClr val="accent5">
                <a:alpha val="70000"/>
              </a:schemeClr>
            </a:solidFill>
            <a:prstDash val="sysDash"/>
          </a:ln>
          <a:extLst>
            <a:ext uri="{909E8E84-426E-40DD-AFC4-6F175D3DCCD1}">
              <a14:hiddenFill xmlns:a14="http://schemas.microsoft.com/office/drawing/2010/main">
                <a:solidFill>
                  <a:schemeClr val="accent1">
                    <a:alpha val="5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0" name="文本框 79"/>
          <p:cNvSpPr txBox="1"/>
          <p:nvPr/>
        </p:nvSpPr>
        <p:spPr>
          <a:xfrm>
            <a:off x="3938905" y="3442335"/>
            <a:ext cx="616585" cy="188595"/>
          </a:xfrm>
          <a:prstGeom prst="rect">
            <a:avLst/>
          </a:prstGeom>
          <a:noFill/>
        </p:spPr>
        <p:txBody>
          <a:bodyPr wrap="square" rtlCol="0">
            <a:noAutofit/>
          </a:bodyPr>
          <a:p>
            <a:r>
              <a:rPr lang="zh-CN" altLang="en-US" sz="800">
                <a:solidFill>
                  <a:schemeClr val="tx2"/>
                </a:solidFill>
                <a:latin typeface="微软雅黑" panose="020B0503020204020204" charset="-122"/>
                <a:ea typeface="微软雅黑" panose="020B0503020204020204" charset="-122"/>
                <a:cs typeface="微软雅黑" panose="020B0503020204020204" charset="-122"/>
              </a:rPr>
              <a:t>智能汽车</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1" name="文本框 80"/>
          <p:cNvSpPr txBox="1"/>
          <p:nvPr/>
        </p:nvSpPr>
        <p:spPr>
          <a:xfrm>
            <a:off x="4544060" y="3364230"/>
            <a:ext cx="817245" cy="188595"/>
          </a:xfrm>
          <a:prstGeom prst="rect">
            <a:avLst/>
          </a:prstGeom>
          <a:noFill/>
        </p:spPr>
        <p:txBody>
          <a:bodyPr wrap="square" rtlCol="0">
            <a:noAutofit/>
          </a:bodyPr>
          <a:p>
            <a:pPr algn="ctr"/>
            <a:r>
              <a:rPr lang="zh-CN" altLang="en-US" sz="700">
                <a:solidFill>
                  <a:schemeClr val="tx2"/>
                </a:solidFill>
                <a:latin typeface="微软雅黑" panose="020B0503020204020204" charset="-122"/>
                <a:ea typeface="微软雅黑" panose="020B0503020204020204" charset="-122"/>
                <a:cs typeface="微软雅黑" panose="020B0503020204020204" charset="-122"/>
              </a:rPr>
              <a:t>数字研发中心</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2" name="文本框 81"/>
          <p:cNvSpPr txBox="1"/>
          <p:nvPr/>
        </p:nvSpPr>
        <p:spPr>
          <a:xfrm>
            <a:off x="5320030" y="3380740"/>
            <a:ext cx="720090" cy="188595"/>
          </a:xfrm>
          <a:prstGeom prst="rect">
            <a:avLst/>
          </a:prstGeom>
          <a:noFill/>
        </p:spPr>
        <p:txBody>
          <a:bodyPr wrap="square" rtlCol="0">
            <a:noAutofit/>
          </a:bodyPr>
          <a:p>
            <a:r>
              <a:rPr lang="zh-CN" altLang="en-US" sz="700">
                <a:solidFill>
                  <a:schemeClr val="tx2"/>
                </a:solidFill>
                <a:latin typeface="微软雅黑" panose="020B0503020204020204" charset="-122"/>
                <a:ea typeface="微软雅黑" panose="020B0503020204020204" charset="-122"/>
                <a:cs typeface="微软雅黑" panose="020B0503020204020204" charset="-122"/>
              </a:rPr>
              <a:t>数字化交付</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3" name="文本框 82"/>
          <p:cNvSpPr txBox="1"/>
          <p:nvPr/>
        </p:nvSpPr>
        <p:spPr>
          <a:xfrm>
            <a:off x="6348095" y="3429000"/>
            <a:ext cx="850265" cy="188595"/>
          </a:xfrm>
          <a:prstGeom prst="rect">
            <a:avLst/>
          </a:prstGeom>
          <a:noFill/>
        </p:spPr>
        <p:txBody>
          <a:bodyPr wrap="square" rtlCol="0">
            <a:noAutofit/>
          </a:bodyPr>
          <a:p>
            <a:r>
              <a:rPr lang="zh-CN" altLang="en-US" sz="700">
                <a:solidFill>
                  <a:schemeClr val="tx2"/>
                </a:solidFill>
                <a:latin typeface="微软雅黑" panose="020B0503020204020204" charset="-122"/>
                <a:ea typeface="微软雅黑" panose="020B0503020204020204" charset="-122"/>
                <a:cs typeface="微软雅黑" panose="020B0503020204020204" charset="-122"/>
              </a:rPr>
              <a:t>远程诊断支持</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4" name="文本框 83"/>
          <p:cNvSpPr txBox="1"/>
          <p:nvPr/>
        </p:nvSpPr>
        <p:spPr>
          <a:xfrm>
            <a:off x="7098665" y="3455670"/>
            <a:ext cx="616585" cy="188595"/>
          </a:xfrm>
          <a:prstGeom prst="rect">
            <a:avLst/>
          </a:prstGeom>
          <a:noFill/>
        </p:spPr>
        <p:txBody>
          <a:bodyPr wrap="square" rtlCol="0">
            <a:noAutofit/>
          </a:bodyPr>
          <a:p>
            <a:r>
              <a:rPr lang="zh-CN" altLang="en-US" sz="700">
                <a:solidFill>
                  <a:schemeClr val="tx2"/>
                </a:solidFill>
                <a:latin typeface="微软雅黑" panose="020B0503020204020204" charset="-122"/>
                <a:ea typeface="微软雅黑" panose="020B0503020204020204" charset="-122"/>
                <a:cs typeface="微软雅黑" panose="020B0503020204020204" charset="-122"/>
              </a:rPr>
              <a:t>金融科技</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5" name="文本框 84"/>
          <p:cNvSpPr txBox="1"/>
          <p:nvPr/>
        </p:nvSpPr>
        <p:spPr>
          <a:xfrm>
            <a:off x="6864985" y="3952875"/>
            <a:ext cx="616585" cy="188595"/>
          </a:xfrm>
          <a:prstGeom prst="rect">
            <a:avLst/>
          </a:prstGeom>
          <a:noFill/>
        </p:spPr>
        <p:txBody>
          <a:bodyPr wrap="square" rtlCol="0">
            <a:noAutofit/>
          </a:bodyPr>
          <a:p>
            <a:r>
              <a:rPr lang="zh-CN" altLang="en-US" sz="700">
                <a:solidFill>
                  <a:schemeClr val="tx2"/>
                </a:solidFill>
                <a:latin typeface="微软雅黑" panose="020B0503020204020204" charset="-122"/>
                <a:ea typeface="微软雅黑" panose="020B0503020204020204" charset="-122"/>
                <a:cs typeface="微软雅黑" panose="020B0503020204020204" charset="-122"/>
              </a:rPr>
              <a:t>平台运营</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6" name="文本框 85"/>
          <p:cNvSpPr txBox="1"/>
          <p:nvPr/>
        </p:nvSpPr>
        <p:spPr>
          <a:xfrm>
            <a:off x="6142990" y="3966210"/>
            <a:ext cx="722630" cy="188595"/>
          </a:xfrm>
          <a:prstGeom prst="rect">
            <a:avLst/>
          </a:prstGeom>
          <a:noFill/>
        </p:spPr>
        <p:txBody>
          <a:bodyPr wrap="square" rtlCol="0">
            <a:noAutofit/>
          </a:bodyPr>
          <a:p>
            <a:r>
              <a:rPr lang="zh-CN" altLang="en-US" sz="700">
                <a:solidFill>
                  <a:schemeClr val="tx2"/>
                </a:solidFill>
                <a:latin typeface="微软雅黑" panose="020B0503020204020204" charset="-122"/>
                <a:ea typeface="微软雅黑" panose="020B0503020204020204" charset="-122"/>
                <a:cs typeface="微软雅黑" panose="020B0503020204020204" charset="-122"/>
              </a:rPr>
              <a:t>移动出行服务</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7" name="文本框 86"/>
          <p:cNvSpPr txBox="1"/>
          <p:nvPr/>
        </p:nvSpPr>
        <p:spPr>
          <a:xfrm>
            <a:off x="5307330" y="3952875"/>
            <a:ext cx="616585" cy="188595"/>
          </a:xfrm>
          <a:prstGeom prst="rect">
            <a:avLst/>
          </a:prstGeom>
          <a:noFill/>
        </p:spPr>
        <p:txBody>
          <a:bodyPr wrap="square" rtlCol="0">
            <a:noAutofit/>
          </a:bodyPr>
          <a:p>
            <a:r>
              <a:rPr lang="zh-CN" altLang="en-US" sz="700">
                <a:solidFill>
                  <a:schemeClr val="tx2"/>
                </a:solidFill>
                <a:latin typeface="微软雅黑" panose="020B0503020204020204" charset="-122"/>
                <a:ea typeface="微软雅黑" panose="020B0503020204020204" charset="-122"/>
                <a:cs typeface="微软雅黑" panose="020B0503020204020204" charset="-122"/>
              </a:rPr>
              <a:t>智能工厂</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8" name="文本框 87"/>
          <p:cNvSpPr txBox="1"/>
          <p:nvPr/>
        </p:nvSpPr>
        <p:spPr>
          <a:xfrm>
            <a:off x="4381500" y="3956050"/>
            <a:ext cx="878205" cy="188595"/>
          </a:xfrm>
          <a:prstGeom prst="rect">
            <a:avLst/>
          </a:prstGeom>
          <a:noFill/>
        </p:spPr>
        <p:txBody>
          <a:bodyPr wrap="square" rtlCol="0">
            <a:noAutofit/>
          </a:bodyPr>
          <a:p>
            <a:r>
              <a:rPr lang="zh-CN" altLang="en-US" sz="700">
                <a:solidFill>
                  <a:schemeClr val="tx2"/>
                </a:solidFill>
                <a:latin typeface="微软雅黑" panose="020B0503020204020204" charset="-122"/>
                <a:ea typeface="微软雅黑" panose="020B0503020204020204" charset="-122"/>
                <a:cs typeface="微软雅黑" panose="020B0503020204020204" charset="-122"/>
              </a:rPr>
              <a:t>智慧</a:t>
            </a:r>
            <a:r>
              <a:rPr lang="en-US" altLang="zh-CN" sz="700">
                <a:solidFill>
                  <a:schemeClr val="tx2"/>
                </a:solidFill>
                <a:latin typeface="微软雅黑" panose="020B0503020204020204" charset="-122"/>
                <a:ea typeface="微软雅黑" panose="020B0503020204020204" charset="-122"/>
                <a:cs typeface="微软雅黑" panose="020B0503020204020204" charset="-122"/>
              </a:rPr>
              <a:t>4S/</a:t>
            </a:r>
            <a:r>
              <a:rPr lang="zh-CN" altLang="en-US" sz="700">
                <a:solidFill>
                  <a:schemeClr val="tx2"/>
                </a:solidFill>
                <a:latin typeface="微软雅黑" panose="020B0503020204020204" charset="-122"/>
                <a:ea typeface="微软雅黑" panose="020B0503020204020204" charset="-122"/>
                <a:cs typeface="微软雅黑" panose="020B0503020204020204" charset="-122"/>
              </a:rPr>
              <a:t>充电网络</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9" name="文本框 88"/>
          <p:cNvSpPr txBox="1"/>
          <p:nvPr/>
        </p:nvSpPr>
        <p:spPr>
          <a:xfrm>
            <a:off x="5793740" y="3543300"/>
            <a:ext cx="616585" cy="188595"/>
          </a:xfrm>
          <a:prstGeom prst="rect">
            <a:avLst/>
          </a:prstGeom>
          <a:noFill/>
        </p:spPr>
        <p:txBody>
          <a:bodyPr wrap="square" rtlCol="0">
            <a:noAutofit/>
          </a:bodyPr>
          <a:p>
            <a:r>
              <a:rPr lang="zh-CN" altLang="en-US" sz="600" b="1">
                <a:solidFill>
                  <a:schemeClr val="accent5"/>
                </a:solidFill>
                <a:latin typeface="微软雅黑" panose="020B0503020204020204" charset="-122"/>
                <a:ea typeface="微软雅黑" panose="020B0503020204020204" charset="-122"/>
                <a:cs typeface="微软雅黑" panose="020B0503020204020204" charset="-122"/>
              </a:rPr>
              <a:t>智能运营</a:t>
            </a:r>
            <a:endParaRPr lang="zh-CN" altLang="en-US" sz="6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90" name="文本框 89"/>
          <p:cNvSpPr txBox="1"/>
          <p:nvPr/>
        </p:nvSpPr>
        <p:spPr>
          <a:xfrm>
            <a:off x="7657465" y="3871595"/>
            <a:ext cx="616585" cy="188595"/>
          </a:xfrm>
          <a:prstGeom prst="rect">
            <a:avLst/>
          </a:prstGeom>
          <a:noFill/>
        </p:spPr>
        <p:txBody>
          <a:bodyPr wrap="square" rtlCol="0">
            <a:noAutofit/>
          </a:bodyPr>
          <a:p>
            <a:r>
              <a:rPr lang="zh-CN" altLang="en-US" sz="700">
                <a:solidFill>
                  <a:schemeClr val="tx2"/>
                </a:solidFill>
                <a:latin typeface="微软雅黑" panose="020B0503020204020204" charset="-122"/>
                <a:ea typeface="微软雅黑" panose="020B0503020204020204" charset="-122"/>
                <a:cs typeface="微软雅黑" panose="020B0503020204020204" charset="-122"/>
              </a:rPr>
              <a:t>电子商务</a:t>
            </a:r>
            <a:endParaRPr lang="zh-CN" altLang="en-US" sz="7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2" name="弧形 91"/>
          <p:cNvSpPr/>
          <p:nvPr/>
        </p:nvSpPr>
        <p:spPr>
          <a:xfrm>
            <a:off x="5840095" y="3714115"/>
            <a:ext cx="361315" cy="440690"/>
          </a:xfrm>
          <a:prstGeom prst="arc">
            <a:avLst>
              <a:gd name="adj1" fmla="val 12349429"/>
              <a:gd name="adj2" fmla="val 20491877"/>
            </a:avLst>
          </a:prstGeom>
          <a:ln>
            <a:solidFill>
              <a:schemeClr val="accent5"/>
            </a:solidFill>
            <a:tailEnd type="triangle" w="sm" len="med"/>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cs typeface="微软雅黑" panose="020B0503020204020204" charset="-122"/>
            </a:endParaRPr>
          </a:p>
        </p:txBody>
      </p:sp>
      <p:sp>
        <p:nvSpPr>
          <p:cNvPr id="94" name="矩形 93"/>
          <p:cNvSpPr/>
          <p:nvPr/>
        </p:nvSpPr>
        <p:spPr>
          <a:xfrm>
            <a:off x="5465445" y="4240530"/>
            <a:ext cx="1247140" cy="156210"/>
          </a:xfrm>
          <a:prstGeom prst="rect">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800">
                <a:cs typeface="微软雅黑" panose="020B0503020204020204" charset="-122"/>
              </a:rPr>
              <a:t>业务转型</a:t>
            </a:r>
            <a:endParaRPr lang="zh-CN" altLang="en-US" sz="800">
              <a:cs typeface="微软雅黑" panose="020B0503020204020204" charset="-122"/>
            </a:endParaRPr>
          </a:p>
        </p:txBody>
      </p:sp>
      <p:sp>
        <p:nvSpPr>
          <p:cNvPr id="95" name="文本框 94"/>
          <p:cNvSpPr txBox="1"/>
          <p:nvPr/>
        </p:nvSpPr>
        <p:spPr>
          <a:xfrm>
            <a:off x="5739130" y="4378960"/>
            <a:ext cx="723900" cy="186055"/>
          </a:xfrm>
          <a:prstGeom prst="rect">
            <a:avLst/>
          </a:prstGeom>
          <a:noFill/>
        </p:spPr>
        <p:txBody>
          <a:bodyPr wrap="square" rtlCol="0">
            <a:noAutofit/>
          </a:bodyPr>
          <a:p>
            <a:pPr algn="ctr"/>
            <a:r>
              <a:rPr lang="zh-CN" altLang="en-US" sz="800">
                <a:solidFill>
                  <a:schemeClr val="accent5"/>
                </a:solidFill>
                <a:latin typeface="微软雅黑" panose="020B0503020204020204" charset="-122"/>
                <a:ea typeface="微软雅黑" panose="020B0503020204020204" charset="-122"/>
                <a:cs typeface="微软雅黑" panose="020B0503020204020204" charset="-122"/>
              </a:rPr>
              <a:t>价值引领</a:t>
            </a:r>
            <a:endParaRPr lang="zh-CN" altLang="en-US" sz="80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98" name="椭圆 97"/>
          <p:cNvSpPr/>
          <p:nvPr/>
        </p:nvSpPr>
        <p:spPr>
          <a:xfrm>
            <a:off x="4644390" y="5292090"/>
            <a:ext cx="2861945" cy="236855"/>
          </a:xfrm>
          <a:prstGeom prst="ellipse">
            <a:avLst/>
          </a:prstGeom>
          <a:solidFill>
            <a:schemeClr val="accent1">
              <a:lumMod val="20000"/>
              <a:lumOff val="80000"/>
              <a:alpha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99" name="椭圆 98"/>
          <p:cNvSpPr/>
          <p:nvPr/>
        </p:nvSpPr>
        <p:spPr>
          <a:xfrm>
            <a:off x="4721860" y="5135245"/>
            <a:ext cx="2719070" cy="200025"/>
          </a:xfrm>
          <a:prstGeom prst="ellipse">
            <a:avLst/>
          </a:prstGeom>
          <a:noFill/>
          <a:ln>
            <a:solidFill>
              <a:schemeClr val="accent1">
                <a:lumMod val="60000"/>
                <a:lumOff val="40000"/>
                <a:alpha val="70000"/>
              </a:schemeClr>
            </a:solidFill>
            <a:prstDash val="sysDash"/>
          </a:ln>
          <a:extLst>
            <a:ext uri="{909E8E84-426E-40DD-AFC4-6F175D3DCCD1}">
              <a14:hiddenFill xmlns:a14="http://schemas.microsoft.com/office/drawing/2010/main">
                <a:solidFill>
                  <a:schemeClr val="accent1">
                    <a:alpha val="5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01" name="文本框 100"/>
          <p:cNvSpPr txBox="1"/>
          <p:nvPr/>
        </p:nvSpPr>
        <p:spPr>
          <a:xfrm>
            <a:off x="4585970" y="4794885"/>
            <a:ext cx="954405" cy="188595"/>
          </a:xfrm>
          <a:prstGeom prst="rect">
            <a:avLst/>
          </a:prstGeom>
          <a:noFill/>
        </p:spPr>
        <p:txBody>
          <a:bodyPr wrap="square" rtlCol="0">
            <a:noAutofit/>
          </a:bodyPr>
          <a:p>
            <a:r>
              <a:rPr lang="zh-CN" altLang="en-US" sz="800">
                <a:solidFill>
                  <a:schemeClr val="tx2"/>
                </a:solidFill>
                <a:latin typeface="微软雅黑" panose="020B0503020204020204" charset="-122"/>
                <a:ea typeface="微软雅黑" panose="020B0503020204020204" charset="-122"/>
                <a:cs typeface="微软雅黑" panose="020B0503020204020204" charset="-122"/>
              </a:rPr>
              <a:t>全球价值链协同</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2" name="文本框 101"/>
          <p:cNvSpPr txBox="1"/>
          <p:nvPr/>
        </p:nvSpPr>
        <p:spPr>
          <a:xfrm>
            <a:off x="5753100" y="4788535"/>
            <a:ext cx="1010920" cy="188595"/>
          </a:xfrm>
          <a:prstGeom prst="rect">
            <a:avLst/>
          </a:prstGeom>
          <a:noFill/>
        </p:spPr>
        <p:txBody>
          <a:bodyPr wrap="square" rtlCol="0">
            <a:noAutofit/>
          </a:bodyPr>
          <a:p>
            <a:r>
              <a:rPr lang="zh-CN" altLang="en-US" sz="800">
                <a:solidFill>
                  <a:schemeClr val="tx2"/>
                </a:solidFill>
                <a:latin typeface="微软雅黑" panose="020B0503020204020204" charset="-122"/>
                <a:ea typeface="微软雅黑" panose="020B0503020204020204" charset="-122"/>
                <a:cs typeface="微软雅黑" panose="020B0503020204020204" charset="-122"/>
              </a:rPr>
              <a:t>数据驱动智能服务</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3" name="文本框 102"/>
          <p:cNvSpPr txBox="1"/>
          <p:nvPr/>
        </p:nvSpPr>
        <p:spPr>
          <a:xfrm>
            <a:off x="6806565" y="4801870"/>
            <a:ext cx="811530" cy="188595"/>
          </a:xfrm>
          <a:prstGeom prst="rect">
            <a:avLst/>
          </a:prstGeom>
          <a:noFill/>
        </p:spPr>
        <p:txBody>
          <a:bodyPr wrap="square" rtlCol="0">
            <a:noAutofit/>
          </a:bodyPr>
          <a:p>
            <a:r>
              <a:rPr lang="zh-CN" altLang="en-US" sz="800">
                <a:solidFill>
                  <a:schemeClr val="tx2"/>
                </a:solidFill>
                <a:latin typeface="微软雅黑" panose="020B0503020204020204" charset="-122"/>
                <a:ea typeface="微软雅黑" panose="020B0503020204020204" charset="-122"/>
                <a:cs typeface="微软雅黑" panose="020B0503020204020204" charset="-122"/>
              </a:rPr>
              <a:t>应用敏捷交付</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5" name="文本框 104"/>
          <p:cNvSpPr txBox="1"/>
          <p:nvPr/>
        </p:nvSpPr>
        <p:spPr>
          <a:xfrm>
            <a:off x="4938395" y="5354320"/>
            <a:ext cx="1058545" cy="188595"/>
          </a:xfrm>
          <a:prstGeom prst="rect">
            <a:avLst/>
          </a:prstGeom>
          <a:noFill/>
        </p:spPr>
        <p:txBody>
          <a:bodyPr wrap="square" rtlCol="0">
            <a:noAutofit/>
          </a:bodyPr>
          <a:p>
            <a:pPr algn="ctr"/>
            <a:r>
              <a:rPr lang="zh-CN" altLang="en-US" sz="800">
                <a:solidFill>
                  <a:schemeClr val="tx2"/>
                </a:solidFill>
                <a:latin typeface="微软雅黑" panose="020B0503020204020204" charset="-122"/>
                <a:ea typeface="微软雅黑" panose="020B0503020204020204" charset="-122"/>
                <a:cs typeface="微软雅黑" panose="020B0503020204020204" charset="-122"/>
              </a:rPr>
              <a:t>云原生与能力开放</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6" name="文本框 105"/>
          <p:cNvSpPr txBox="1"/>
          <p:nvPr/>
        </p:nvSpPr>
        <p:spPr>
          <a:xfrm>
            <a:off x="6159500" y="5340350"/>
            <a:ext cx="1136015" cy="188595"/>
          </a:xfrm>
          <a:prstGeom prst="rect">
            <a:avLst/>
          </a:prstGeom>
          <a:noFill/>
        </p:spPr>
        <p:txBody>
          <a:bodyPr wrap="square" rtlCol="0">
            <a:noAutofit/>
          </a:bodyPr>
          <a:p>
            <a:r>
              <a:rPr lang="en-US" altLang="zh-CN" sz="800">
                <a:solidFill>
                  <a:schemeClr val="tx2"/>
                </a:solidFill>
                <a:latin typeface="微软雅黑" panose="020B0503020204020204" charset="-122"/>
                <a:ea typeface="微软雅黑" panose="020B0503020204020204" charset="-122"/>
                <a:cs typeface="微软雅黑" panose="020B0503020204020204" charset="-122"/>
              </a:rPr>
              <a:t>5G + AI + </a:t>
            </a:r>
            <a:r>
              <a:rPr lang="zh-CN" altLang="en-US" sz="800">
                <a:solidFill>
                  <a:schemeClr val="tx2"/>
                </a:solidFill>
                <a:latin typeface="微软雅黑" panose="020B0503020204020204" charset="-122"/>
                <a:ea typeface="微软雅黑" panose="020B0503020204020204" charset="-122"/>
                <a:cs typeface="微软雅黑" panose="020B0503020204020204" charset="-122"/>
              </a:rPr>
              <a:t>云</a:t>
            </a:r>
            <a:r>
              <a:rPr lang="en-US" altLang="zh-CN" sz="800">
                <a:solidFill>
                  <a:schemeClr val="tx2"/>
                </a:solidFill>
                <a:latin typeface="微软雅黑" panose="020B0503020204020204" charset="-122"/>
                <a:ea typeface="微软雅黑" panose="020B0503020204020204" charset="-122"/>
                <a:cs typeface="微软雅黑" panose="020B0503020204020204" charset="-122"/>
              </a:rPr>
              <a:t> + </a:t>
            </a:r>
            <a:r>
              <a:rPr lang="zh-CN" altLang="en-US" sz="800">
                <a:solidFill>
                  <a:schemeClr val="tx2"/>
                </a:solidFill>
                <a:latin typeface="微软雅黑" panose="020B0503020204020204" charset="-122"/>
                <a:ea typeface="微软雅黑" panose="020B0503020204020204" charset="-122"/>
                <a:cs typeface="微软雅黑" panose="020B0503020204020204" charset="-122"/>
              </a:rPr>
              <a:t>边缘</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5" name="矩形 184"/>
          <p:cNvSpPr/>
          <p:nvPr/>
        </p:nvSpPr>
        <p:spPr>
          <a:xfrm>
            <a:off x="5649595" y="1323975"/>
            <a:ext cx="864235" cy="264160"/>
          </a:xfrm>
          <a:prstGeom prst="rect">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01" name="矩形 200"/>
          <p:cNvSpPr/>
          <p:nvPr/>
        </p:nvSpPr>
        <p:spPr>
          <a:xfrm>
            <a:off x="5465445" y="2915285"/>
            <a:ext cx="1252220" cy="161925"/>
          </a:xfrm>
          <a:prstGeom prst="rect">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800">
                <a:cs typeface="微软雅黑" panose="020B0503020204020204" charset="-122"/>
              </a:rPr>
              <a:t>组织转型</a:t>
            </a:r>
            <a:endParaRPr lang="zh-CN" altLang="en-US" sz="800">
              <a:cs typeface="微软雅黑" panose="020B0503020204020204" charset="-122"/>
            </a:endParaRPr>
          </a:p>
        </p:txBody>
      </p:sp>
      <p:sp>
        <p:nvSpPr>
          <p:cNvPr id="202" name="文本框 201"/>
          <p:cNvSpPr txBox="1"/>
          <p:nvPr/>
        </p:nvSpPr>
        <p:spPr>
          <a:xfrm>
            <a:off x="5734050" y="3077210"/>
            <a:ext cx="723900" cy="186055"/>
          </a:xfrm>
          <a:prstGeom prst="rect">
            <a:avLst/>
          </a:prstGeom>
          <a:noFill/>
        </p:spPr>
        <p:txBody>
          <a:bodyPr wrap="square" rtlCol="0">
            <a:noAutofit/>
          </a:bodyPr>
          <a:p>
            <a:pPr algn="ctr"/>
            <a:r>
              <a:rPr lang="zh-CN" altLang="en-US" sz="800">
                <a:solidFill>
                  <a:schemeClr val="accent1"/>
                </a:solidFill>
                <a:latin typeface="微软雅黑" panose="020B0503020204020204" charset="-122"/>
                <a:ea typeface="微软雅黑" panose="020B0503020204020204" charset="-122"/>
                <a:cs typeface="微软雅黑" panose="020B0503020204020204" charset="-122"/>
              </a:rPr>
              <a:t>一体化优化</a:t>
            </a:r>
            <a:endParaRPr lang="zh-CN" altLang="en-US" sz="8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03" name="矩形 202"/>
          <p:cNvSpPr/>
          <p:nvPr/>
        </p:nvSpPr>
        <p:spPr>
          <a:xfrm>
            <a:off x="5464810" y="5591175"/>
            <a:ext cx="1247140" cy="161925"/>
          </a:xfrm>
          <a:prstGeom prst="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800">
                <a:cs typeface="微软雅黑" panose="020B0503020204020204" charset="-122"/>
                <a:sym typeface="+mn-ea"/>
              </a:rPr>
              <a:t>技术转型</a:t>
            </a:r>
            <a:endParaRPr lang="zh-CN" altLang="en-US" sz="800">
              <a:cs typeface="微软雅黑" panose="020B0503020204020204" charset="-122"/>
              <a:sym typeface="+mn-ea"/>
            </a:endParaRPr>
          </a:p>
        </p:txBody>
      </p:sp>
      <p:sp>
        <p:nvSpPr>
          <p:cNvPr id="204" name="文本框 203"/>
          <p:cNvSpPr txBox="1"/>
          <p:nvPr/>
        </p:nvSpPr>
        <p:spPr>
          <a:xfrm>
            <a:off x="5734050" y="5752465"/>
            <a:ext cx="723900" cy="186055"/>
          </a:xfrm>
          <a:prstGeom prst="rect">
            <a:avLst/>
          </a:prstGeom>
          <a:noFill/>
        </p:spPr>
        <p:txBody>
          <a:bodyPr wrap="square" rtlCol="0">
            <a:noAutofit/>
          </a:bodyPr>
          <a:p>
            <a:pPr algn="ctr"/>
            <a:r>
              <a:rPr lang="zh-CN" altLang="en-US" sz="800">
                <a:solidFill>
                  <a:schemeClr val="accent2"/>
                </a:solidFill>
                <a:latin typeface="微软雅黑" panose="020B0503020204020204" charset="-122"/>
                <a:ea typeface="微软雅黑" panose="020B0503020204020204" charset="-122"/>
                <a:cs typeface="微软雅黑" panose="020B0503020204020204" charset="-122"/>
              </a:rPr>
              <a:t>互联互通</a:t>
            </a:r>
            <a:endParaRPr lang="zh-CN" altLang="en-US" sz="800">
              <a:solidFill>
                <a:schemeClr val="accent2"/>
              </a:solidFill>
              <a:latin typeface="微软雅黑" panose="020B0503020204020204" charset="-122"/>
              <a:ea typeface="微软雅黑" panose="020B0503020204020204" charset="-122"/>
              <a:cs typeface="微软雅黑" panose="020B0503020204020204" charset="-122"/>
            </a:endParaRPr>
          </a:p>
        </p:txBody>
      </p:sp>
      <p:pic>
        <p:nvPicPr>
          <p:cNvPr id="209" name="图片 208" descr="微信推广-核心优势-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67580" y="2232660"/>
            <a:ext cx="259715" cy="259715"/>
          </a:xfrm>
          <a:prstGeom prst="rect">
            <a:avLst/>
          </a:prstGeom>
        </p:spPr>
      </p:pic>
      <p:pic>
        <p:nvPicPr>
          <p:cNvPr id="210" name="图片 209" descr="头脑风暴室"/>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76925" y="2181225"/>
            <a:ext cx="254000" cy="254000"/>
          </a:xfrm>
          <a:prstGeom prst="rect">
            <a:avLst/>
          </a:prstGeom>
        </p:spPr>
      </p:pic>
      <p:pic>
        <p:nvPicPr>
          <p:cNvPr id="211" name="图片 210" descr="被 攻击方"/>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840855" y="2209165"/>
            <a:ext cx="281305" cy="281305"/>
          </a:xfrm>
          <a:prstGeom prst="rect">
            <a:avLst/>
          </a:prstGeom>
        </p:spPr>
      </p:pic>
      <p:pic>
        <p:nvPicPr>
          <p:cNvPr id="214" name="图片 213" descr="汽车_速度表"/>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09995" y="2526030"/>
            <a:ext cx="168275" cy="168275"/>
          </a:xfrm>
          <a:prstGeom prst="rect">
            <a:avLst/>
          </a:prstGeom>
        </p:spPr>
      </p:pic>
      <p:pic>
        <p:nvPicPr>
          <p:cNvPr id="215" name="图片 214" descr="icon-modularity"/>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517515" y="2526030"/>
            <a:ext cx="156210" cy="147320"/>
          </a:xfrm>
          <a:prstGeom prst="rect">
            <a:avLst/>
          </a:prstGeom>
        </p:spPr>
      </p:pic>
      <p:pic>
        <p:nvPicPr>
          <p:cNvPr id="217" name="图片 216" descr="车联网"/>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165918" y="3630930"/>
            <a:ext cx="162560" cy="162560"/>
          </a:xfrm>
          <a:prstGeom prst="rect">
            <a:avLst/>
          </a:prstGeom>
        </p:spPr>
      </p:pic>
      <p:pic>
        <p:nvPicPr>
          <p:cNvPr id="218" name="图片 217" descr="gui_fan_cai_gou"/>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815840" y="3539490"/>
            <a:ext cx="182245" cy="182245"/>
          </a:xfrm>
          <a:prstGeom prst="rect">
            <a:avLst/>
          </a:prstGeom>
        </p:spPr>
      </p:pic>
      <p:pic>
        <p:nvPicPr>
          <p:cNvPr id="220" name="图片 219" descr="充电桩"/>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773295" y="3776980"/>
            <a:ext cx="175895" cy="175895"/>
          </a:xfrm>
          <a:prstGeom prst="rect">
            <a:avLst/>
          </a:prstGeom>
        </p:spPr>
      </p:pic>
      <p:pic>
        <p:nvPicPr>
          <p:cNvPr id="221" name="图片 220" descr="智能工厂"/>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450840" y="3804285"/>
            <a:ext cx="125095" cy="125095"/>
          </a:xfrm>
          <a:prstGeom prst="rect">
            <a:avLst/>
          </a:prstGeom>
        </p:spPr>
      </p:pic>
      <p:pic>
        <p:nvPicPr>
          <p:cNvPr id="222" name="图片 221" descr="云端布展"/>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5450840" y="5172075"/>
            <a:ext cx="139065" cy="130810"/>
          </a:xfrm>
          <a:prstGeom prst="rect">
            <a:avLst/>
          </a:prstGeom>
        </p:spPr>
      </p:pic>
      <p:pic>
        <p:nvPicPr>
          <p:cNvPr id="223" name="图片 222" descr="平台运营"/>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7026275" y="3790950"/>
            <a:ext cx="149860" cy="149860"/>
          </a:xfrm>
          <a:prstGeom prst="rect">
            <a:avLst/>
          </a:prstGeom>
        </p:spPr>
      </p:pic>
      <p:pic>
        <p:nvPicPr>
          <p:cNvPr id="224" name="图片 223" descr="金融科技"/>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7268845" y="3603625"/>
            <a:ext cx="154305" cy="139065"/>
          </a:xfrm>
          <a:prstGeom prst="rect">
            <a:avLst/>
          </a:prstGeom>
        </p:spPr>
      </p:pic>
      <p:pic>
        <p:nvPicPr>
          <p:cNvPr id="225" name="图片 224" descr="数字化交付icon"/>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5540375" y="3574415"/>
            <a:ext cx="149860" cy="149860"/>
          </a:xfrm>
          <a:prstGeom prst="rect">
            <a:avLst/>
          </a:prstGeom>
        </p:spPr>
      </p:pic>
      <p:pic>
        <p:nvPicPr>
          <p:cNvPr id="226" name="图片 225" descr="远程诊断"/>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6650990" y="3569335"/>
            <a:ext cx="154940" cy="154940"/>
          </a:xfrm>
          <a:prstGeom prst="rect">
            <a:avLst/>
          </a:prstGeom>
        </p:spPr>
      </p:pic>
      <p:pic>
        <p:nvPicPr>
          <p:cNvPr id="227" name="图片 226" descr="电子商务"/>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7804785" y="3693795"/>
            <a:ext cx="177800" cy="177800"/>
          </a:xfrm>
          <a:prstGeom prst="rect">
            <a:avLst/>
          </a:prstGeom>
        </p:spPr>
      </p:pic>
      <p:pic>
        <p:nvPicPr>
          <p:cNvPr id="228" name="图片 227" descr="交付"/>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7097395" y="4974590"/>
            <a:ext cx="171450" cy="171450"/>
          </a:xfrm>
          <a:prstGeom prst="rect">
            <a:avLst/>
          </a:prstGeom>
        </p:spPr>
      </p:pic>
      <p:pic>
        <p:nvPicPr>
          <p:cNvPr id="229" name="图片 228" descr="saas_巡检车-01"/>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6405880" y="3804285"/>
            <a:ext cx="130175" cy="130175"/>
          </a:xfrm>
          <a:prstGeom prst="rect">
            <a:avLst/>
          </a:prstGeom>
        </p:spPr>
      </p:pic>
      <p:pic>
        <p:nvPicPr>
          <p:cNvPr id="230" name="图片 229" descr="集中管理"/>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4938395" y="4970145"/>
            <a:ext cx="175895" cy="175895"/>
          </a:xfrm>
          <a:prstGeom prst="rect">
            <a:avLst/>
          </a:prstGeom>
        </p:spPr>
      </p:pic>
      <p:pic>
        <p:nvPicPr>
          <p:cNvPr id="231" name="图片 230" descr="数据驱动决策"/>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6142990" y="4949190"/>
            <a:ext cx="167005" cy="167005"/>
          </a:xfrm>
          <a:prstGeom prst="rect">
            <a:avLst/>
          </a:prstGeom>
        </p:spPr>
      </p:pic>
      <p:pic>
        <p:nvPicPr>
          <p:cNvPr id="232" name="图片 231" descr="AI"/>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6495415" y="5158740"/>
            <a:ext cx="155575" cy="155575"/>
          </a:xfrm>
          <a:prstGeom prst="rect">
            <a:avLst/>
          </a:prstGeom>
        </p:spPr>
      </p:pic>
      <p:cxnSp>
        <p:nvCxnSpPr>
          <p:cNvPr id="268" name="直接连接符 267"/>
          <p:cNvCxnSpPr/>
          <p:nvPr/>
        </p:nvCxnSpPr>
        <p:spPr>
          <a:xfrm flipV="1">
            <a:off x="286385" y="3930968"/>
            <a:ext cx="2956560" cy="6985"/>
          </a:xfrm>
          <a:prstGeom prst="line">
            <a:avLst/>
          </a:prstGeom>
          <a:ln w="25400">
            <a:solidFill>
              <a:schemeClr val="accent5"/>
            </a:solidFill>
            <a:prstDash val="sysDash"/>
            <a:headEnd type="oval"/>
            <a:tailEnd type="oval"/>
          </a:ln>
        </p:spPr>
        <p:style>
          <a:lnRef idx="2">
            <a:schemeClr val="accent1"/>
          </a:lnRef>
          <a:fillRef idx="0">
            <a:srgbClr val="FFFFFF"/>
          </a:fillRef>
          <a:effectRef idx="0">
            <a:srgbClr val="FFFFFF"/>
          </a:effectRef>
          <a:fontRef idx="minor">
            <a:schemeClr val="tx1"/>
          </a:fontRef>
        </p:style>
      </p:cxnSp>
      <p:cxnSp>
        <p:nvCxnSpPr>
          <p:cNvPr id="269" name="直接连接符 268"/>
          <p:cNvCxnSpPr/>
          <p:nvPr/>
        </p:nvCxnSpPr>
        <p:spPr>
          <a:xfrm>
            <a:off x="8413115" y="5436870"/>
            <a:ext cx="3413760" cy="0"/>
          </a:xfrm>
          <a:prstGeom prst="line">
            <a:avLst/>
          </a:prstGeom>
          <a:ln w="25400">
            <a:solidFill>
              <a:schemeClr val="accent1">
                <a:lumMod val="60000"/>
                <a:lumOff val="40000"/>
              </a:schemeClr>
            </a:solidFill>
            <a:prstDash val="sysDash"/>
            <a:headEnd type="oval"/>
            <a:tailEnd type="oval"/>
          </a:ln>
        </p:spPr>
        <p:style>
          <a:lnRef idx="2">
            <a:schemeClr val="accent1"/>
          </a:lnRef>
          <a:fillRef idx="0">
            <a:srgbClr val="FFFFFF"/>
          </a:fillRef>
          <a:effectRef idx="0">
            <a:srgbClr val="FFFFFF"/>
          </a:effectRef>
          <a:fontRef idx="minor">
            <a:schemeClr val="tx1"/>
          </a:fontRef>
        </p:style>
      </p:cxnSp>
      <p:grpSp>
        <p:nvGrpSpPr>
          <p:cNvPr id="270" name="组合 269"/>
          <p:cNvGrpSpPr/>
          <p:nvPr/>
        </p:nvGrpSpPr>
        <p:grpSpPr>
          <a:xfrm>
            <a:off x="286385" y="1898650"/>
            <a:ext cx="3132455" cy="1263015"/>
            <a:chOff x="771" y="2990"/>
            <a:chExt cx="4933" cy="1989"/>
          </a:xfrm>
        </p:grpSpPr>
        <p:sp>
          <p:nvSpPr>
            <p:cNvPr id="271" name="文本框 270"/>
            <p:cNvSpPr txBox="1"/>
            <p:nvPr/>
          </p:nvSpPr>
          <p:spPr>
            <a:xfrm>
              <a:off x="1241" y="2990"/>
              <a:ext cx="4463" cy="483"/>
            </a:xfrm>
            <a:prstGeom prst="rect">
              <a:avLst/>
            </a:prstGeom>
            <a:noFill/>
            <a:scene3d>
              <a:camera prst="orthographicFront">
                <a:rot lat="0" lon="0" rev="0"/>
              </a:camera>
              <a:lightRig rig="threePt" dir="t"/>
            </a:scene3d>
          </p:spPr>
          <p:txBody>
            <a:bodyPr wrap="square" rtlCol="0">
              <a:spAutoFit/>
            </a:bodyPr>
            <a:p>
              <a:r>
                <a:rPr lang="en-US" sz="1400" b="1">
                  <a:solidFill>
                    <a:schemeClr val="accent1"/>
                  </a:solidFill>
                  <a:latin typeface="微软雅黑" panose="020B0503020204020204" charset="-122"/>
                  <a:ea typeface="微软雅黑" panose="020B0503020204020204" charset="-122"/>
                  <a:cs typeface="微软雅黑" panose="020B0503020204020204" charset="-122"/>
                </a:rPr>
                <a:t> </a:t>
              </a: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第一层：组织转型</a:t>
              </a:r>
              <a:r>
                <a:rPr lang="en-US" altLang="zh-CN" sz="1400" b="1">
                  <a:solidFill>
                    <a:schemeClr val="accent1"/>
                  </a:solidFill>
                  <a:latin typeface="微软雅黑" panose="020B0503020204020204" charset="-122"/>
                  <a:ea typeface="微软雅黑" panose="020B0503020204020204" charset="-122"/>
                  <a:cs typeface="微软雅黑" panose="020B0503020204020204" charset="-122"/>
                </a:rPr>
                <a:t>-</a:t>
              </a: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模式再造</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72" name="Rectangle: Top Corners Rounded 32"/>
            <p:cNvSpPr/>
            <p:nvPr/>
          </p:nvSpPr>
          <p:spPr>
            <a:xfrm>
              <a:off x="862" y="3026"/>
              <a:ext cx="380" cy="380"/>
            </a:xfrm>
            <a:prstGeom prst="ellipse">
              <a:avLst/>
            </a:prstGeom>
            <a:solidFill>
              <a:schemeClr val="accent1"/>
            </a:solidFill>
            <a:ln w="9525" cap="flat" cmpd="sng" algn="ctr">
              <a:noFill/>
              <a:prstDash val="solid"/>
              <a:miter lim="800000"/>
            </a:ln>
            <a:effectLst>
              <a:outerShdw blurRad="50800" dist="38100" dir="2700000" algn="tl" rotWithShape="0">
                <a:prstClr val="black">
                  <a:alpha val="40000"/>
                </a:prstClr>
              </a:outerShdw>
            </a:effectLst>
          </p:spPr>
          <p:txBody>
            <a:bodyPr rtlCol="0" anchor="ctr"/>
            <a:p>
              <a:pPr algn="ctr"/>
              <a:endParaRPr lang="en-US" sz="800" kern="0" dirty="0">
                <a:solidFill>
                  <a:schemeClr val="bg1"/>
                </a:solidFill>
                <a:latin typeface="微软雅黑" panose="020B0503020204020204" charset="-122"/>
                <a:ea typeface="微软雅黑" panose="020B0503020204020204" charset="-122"/>
                <a:cs typeface="微软雅黑" panose="020B0503020204020204" charset="-122"/>
                <a:sym typeface="+mn-lt"/>
              </a:endParaRPr>
            </a:p>
          </p:txBody>
        </p:sp>
        <p:sp>
          <p:nvSpPr>
            <p:cNvPr id="273" name="文本框 272"/>
            <p:cNvSpPr txBox="1"/>
            <p:nvPr/>
          </p:nvSpPr>
          <p:spPr>
            <a:xfrm>
              <a:off x="771" y="3769"/>
              <a:ext cx="4533" cy="1210"/>
            </a:xfrm>
            <a:prstGeom prst="rect">
              <a:avLst/>
            </a:prstGeom>
            <a:noFill/>
            <a:scene3d>
              <a:camera prst="orthographicFront">
                <a:rot lat="0" lon="0" rev="0"/>
              </a:camera>
              <a:lightRig rig="threePt" dir="t"/>
            </a:scene3d>
          </p:spPr>
          <p:txBody>
            <a:bodyPr wrap="square" rtlCol="0">
              <a:spAutoFit/>
            </a:bodyPr>
            <a:p>
              <a:r>
                <a:rPr lang="zh-CN" altLang="en-US" sz="1100">
                  <a:solidFill>
                    <a:schemeClr val="tx2"/>
                  </a:solidFill>
                  <a:latin typeface="微软雅黑" panose="020B0503020204020204" charset="-122"/>
                  <a:ea typeface="微软雅黑" panose="020B0503020204020204" charset="-122"/>
                  <a:cs typeface="微软雅黑" panose="020B0503020204020204" charset="-122"/>
                </a:rPr>
                <a:t>核心是从</a:t>
              </a:r>
              <a:r>
                <a:rPr lang="en-US" altLang="zh-CN" sz="11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100">
                  <a:solidFill>
                    <a:schemeClr val="tx2"/>
                  </a:solidFill>
                  <a:latin typeface="微软雅黑" panose="020B0503020204020204" charset="-122"/>
                  <a:ea typeface="微软雅黑" panose="020B0503020204020204" charset="-122"/>
                  <a:cs typeface="微软雅黑" panose="020B0503020204020204" charset="-122"/>
                </a:rPr>
                <a:t>汽车制造商</a:t>
              </a:r>
              <a:r>
                <a:rPr lang="en-US" altLang="zh-CN" sz="11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100">
                  <a:solidFill>
                    <a:schemeClr val="tx2"/>
                  </a:solidFill>
                  <a:latin typeface="微软雅黑" panose="020B0503020204020204" charset="-122"/>
                  <a:ea typeface="微软雅黑" panose="020B0503020204020204" charset="-122"/>
                  <a:cs typeface="微软雅黑" panose="020B0503020204020204" charset="-122"/>
                </a:rPr>
                <a:t>向</a:t>
              </a:r>
              <a:r>
                <a:rPr lang="en-US" altLang="zh-CN" sz="11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100">
                  <a:solidFill>
                    <a:schemeClr val="tx2"/>
                  </a:solidFill>
                  <a:latin typeface="微软雅黑" panose="020B0503020204020204" charset="-122"/>
                  <a:ea typeface="微软雅黑" panose="020B0503020204020204" charset="-122"/>
                  <a:cs typeface="微软雅黑" panose="020B0503020204020204" charset="-122"/>
                </a:rPr>
                <a:t>移动出行服务商</a:t>
              </a:r>
              <a:r>
                <a:rPr lang="en-US" altLang="zh-CN" sz="11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100">
                  <a:solidFill>
                    <a:schemeClr val="tx2"/>
                  </a:solidFill>
                  <a:latin typeface="微软雅黑" panose="020B0503020204020204" charset="-122"/>
                  <a:ea typeface="微软雅黑" panose="020B0503020204020204" charset="-122"/>
                  <a:cs typeface="微软雅黑" panose="020B0503020204020204" charset="-122"/>
                </a:rPr>
                <a:t>转型。这要求企业重塑商业模式，从一次性卖车转向提供持续的出行服务、软件订阅和全生命周期价值。</a:t>
              </a:r>
              <a:endParaRPr lang="zh-CN" altLang="en-US" sz="11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74" name="文本框 273"/>
            <p:cNvSpPr txBox="1"/>
            <p:nvPr/>
          </p:nvSpPr>
          <p:spPr>
            <a:xfrm>
              <a:off x="771" y="3032"/>
              <a:ext cx="583" cy="337"/>
            </a:xfrm>
            <a:prstGeom prst="rect">
              <a:avLst/>
            </a:prstGeom>
            <a:noFill/>
            <a:scene3d>
              <a:camera prst="orthographicFront">
                <a:rot lat="0" lon="0" rev="0"/>
              </a:camera>
              <a:lightRig rig="threePt" dir="t"/>
            </a:scene3d>
          </p:spPr>
          <p:txBody>
            <a:bodyPr wrap="square" rtlCol="0">
              <a:spAutoFit/>
            </a:bodyPr>
            <a:p>
              <a:r>
                <a:rPr lang="en-US" sz="800" b="1">
                  <a:solidFill>
                    <a:schemeClr val="bg1"/>
                  </a:solidFill>
                  <a:latin typeface="微软雅黑" panose="020B0503020204020204" charset="-122"/>
                  <a:ea typeface="微软雅黑" panose="020B0503020204020204" charset="-122"/>
                  <a:cs typeface="微软雅黑" panose="020B0503020204020204" charset="-122"/>
                </a:rPr>
                <a:t>1.1</a:t>
              </a:r>
              <a:endParaRPr lang="en-US" sz="800" b="1">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290" name="组合 289"/>
          <p:cNvGrpSpPr/>
          <p:nvPr/>
        </p:nvGrpSpPr>
        <p:grpSpPr>
          <a:xfrm>
            <a:off x="286385" y="3543300"/>
            <a:ext cx="3132455" cy="1093470"/>
            <a:chOff x="771" y="2990"/>
            <a:chExt cx="4933" cy="1722"/>
          </a:xfrm>
        </p:grpSpPr>
        <p:sp>
          <p:nvSpPr>
            <p:cNvPr id="291" name="文本框 290"/>
            <p:cNvSpPr txBox="1"/>
            <p:nvPr/>
          </p:nvSpPr>
          <p:spPr>
            <a:xfrm>
              <a:off x="1241" y="2990"/>
              <a:ext cx="4463" cy="483"/>
            </a:xfrm>
            <a:prstGeom prst="rect">
              <a:avLst/>
            </a:prstGeom>
            <a:noFill/>
            <a:scene3d>
              <a:camera prst="orthographicFront">
                <a:rot lat="0" lon="0" rev="0"/>
              </a:camera>
              <a:lightRig rig="threePt" dir="t"/>
            </a:scene3d>
          </p:spPr>
          <p:txBody>
            <a:bodyPr wrap="square" rtlCol="0">
              <a:spAutoFit/>
            </a:bodyPr>
            <a:p>
              <a:r>
                <a:rPr lang="en-US" sz="1400" b="1">
                  <a:solidFill>
                    <a:schemeClr val="accent5"/>
                  </a:solidFill>
                  <a:latin typeface="微软雅黑" panose="020B0503020204020204" charset="-122"/>
                  <a:ea typeface="微软雅黑" panose="020B0503020204020204" charset="-122"/>
                  <a:cs typeface="微软雅黑" panose="020B0503020204020204" charset="-122"/>
                </a:rPr>
                <a:t> </a:t>
              </a:r>
              <a:r>
                <a:rPr lang="zh-CN" altLang="en-US" sz="1400" b="1">
                  <a:solidFill>
                    <a:schemeClr val="accent5"/>
                  </a:solidFill>
                  <a:latin typeface="微软雅黑" panose="020B0503020204020204" charset="-122"/>
                  <a:ea typeface="微软雅黑" panose="020B0503020204020204" charset="-122"/>
                  <a:cs typeface="微软雅黑" panose="020B0503020204020204" charset="-122"/>
                </a:rPr>
                <a:t>第二层：业务转型</a:t>
              </a:r>
              <a:r>
                <a:rPr lang="en-US" altLang="zh-CN" sz="1400" b="1">
                  <a:solidFill>
                    <a:schemeClr val="accent5"/>
                  </a:solidFill>
                  <a:latin typeface="微软雅黑" panose="020B0503020204020204" charset="-122"/>
                  <a:ea typeface="微软雅黑" panose="020B0503020204020204" charset="-122"/>
                  <a:cs typeface="微软雅黑" panose="020B0503020204020204" charset="-122"/>
                </a:rPr>
                <a:t>-</a:t>
              </a:r>
              <a:r>
                <a:rPr lang="zh-CN" altLang="en-US" sz="1400" b="1">
                  <a:solidFill>
                    <a:schemeClr val="accent5"/>
                  </a:solidFill>
                  <a:latin typeface="微软雅黑" panose="020B0503020204020204" charset="-122"/>
                  <a:ea typeface="微软雅黑" panose="020B0503020204020204" charset="-122"/>
                  <a:cs typeface="微软雅黑" panose="020B0503020204020204" charset="-122"/>
                </a:rPr>
                <a:t>运营优化</a:t>
              </a:r>
              <a:endParaRPr lang="zh-CN" altLang="en-US" sz="14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292" name="Rectangle: Top Corners Rounded 32"/>
            <p:cNvSpPr/>
            <p:nvPr/>
          </p:nvSpPr>
          <p:spPr>
            <a:xfrm>
              <a:off x="862" y="3026"/>
              <a:ext cx="380" cy="380"/>
            </a:xfrm>
            <a:prstGeom prst="ellipse">
              <a:avLst/>
            </a:prstGeom>
            <a:solidFill>
              <a:schemeClr val="accent5"/>
            </a:solidFill>
            <a:ln w="9525" cap="flat" cmpd="sng" algn="ctr">
              <a:noFill/>
              <a:prstDash val="solid"/>
              <a:miter lim="800000"/>
            </a:ln>
            <a:effectLst>
              <a:outerShdw blurRad="50800" dist="38100" dir="2700000" algn="tl" rotWithShape="0">
                <a:prstClr val="black">
                  <a:alpha val="40000"/>
                </a:prstClr>
              </a:outerShdw>
            </a:effectLst>
          </p:spPr>
          <p:txBody>
            <a:bodyPr rtlCol="0" anchor="ctr"/>
            <a:p>
              <a:pPr algn="ctr"/>
              <a:endParaRPr lang="en-US" sz="800" kern="0" dirty="0">
                <a:solidFill>
                  <a:schemeClr val="bg1"/>
                </a:solidFill>
                <a:latin typeface="微软雅黑" panose="020B0503020204020204" charset="-122"/>
                <a:ea typeface="微软雅黑" panose="020B0503020204020204" charset="-122"/>
                <a:cs typeface="微软雅黑" panose="020B0503020204020204" charset="-122"/>
                <a:sym typeface="+mn-lt"/>
              </a:endParaRPr>
            </a:p>
          </p:txBody>
        </p:sp>
        <p:sp>
          <p:nvSpPr>
            <p:cNvPr id="293" name="文本框 292"/>
            <p:cNvSpPr txBox="1"/>
            <p:nvPr/>
          </p:nvSpPr>
          <p:spPr>
            <a:xfrm>
              <a:off x="771" y="3769"/>
              <a:ext cx="4533" cy="943"/>
            </a:xfrm>
            <a:prstGeom prst="rect">
              <a:avLst/>
            </a:prstGeom>
            <a:noFill/>
            <a:scene3d>
              <a:camera prst="orthographicFront">
                <a:rot lat="0" lon="0" rev="0"/>
              </a:camera>
              <a:lightRig rig="threePt" dir="t"/>
            </a:scene3d>
          </p:spPr>
          <p:txBody>
            <a:bodyPr wrap="square" rtlCol="0">
              <a:spAutoFit/>
            </a:bodyPr>
            <a:p>
              <a:r>
                <a:rPr lang="zh-CN" altLang="en-US" sz="1100">
                  <a:solidFill>
                    <a:schemeClr val="tx2"/>
                  </a:solidFill>
                  <a:latin typeface="微软雅黑" panose="020B0503020204020204" charset="-122"/>
                  <a:ea typeface="微软雅黑" panose="020B0503020204020204" charset="-122"/>
                  <a:cs typeface="微软雅黑" panose="020B0503020204020204" charset="-122"/>
                </a:rPr>
                <a:t>在全球范围内推行智能制造与数字化供应链，实现精益生产、零库存管理和个性化定制，全面提升运营效率与成本控制能力。</a:t>
              </a:r>
              <a:endParaRPr lang="zh-CN" altLang="en-US" sz="11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94" name="文本框 293"/>
            <p:cNvSpPr txBox="1"/>
            <p:nvPr/>
          </p:nvSpPr>
          <p:spPr>
            <a:xfrm>
              <a:off x="771" y="3031"/>
              <a:ext cx="583" cy="337"/>
            </a:xfrm>
            <a:prstGeom prst="rect">
              <a:avLst/>
            </a:prstGeom>
            <a:noFill/>
            <a:scene3d>
              <a:camera prst="orthographicFront">
                <a:rot lat="0" lon="0" rev="0"/>
              </a:camera>
              <a:lightRig rig="threePt" dir="t"/>
            </a:scene3d>
          </p:spPr>
          <p:txBody>
            <a:bodyPr wrap="square" rtlCol="0">
              <a:spAutoFit/>
            </a:bodyPr>
            <a:p>
              <a:r>
                <a:rPr lang="en-US" sz="800" b="1">
                  <a:solidFill>
                    <a:schemeClr val="bg1"/>
                  </a:solidFill>
                  <a:latin typeface="微软雅黑" panose="020B0503020204020204" charset="-122"/>
                  <a:ea typeface="微软雅黑" panose="020B0503020204020204" charset="-122"/>
                  <a:cs typeface="微软雅黑" panose="020B0503020204020204" charset="-122"/>
                </a:rPr>
                <a:t>2.1</a:t>
              </a:r>
              <a:endParaRPr lang="en-US" sz="800" b="1">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295" name="组合 294"/>
          <p:cNvGrpSpPr/>
          <p:nvPr/>
        </p:nvGrpSpPr>
        <p:grpSpPr>
          <a:xfrm>
            <a:off x="286385" y="5080635"/>
            <a:ext cx="3132455" cy="1263015"/>
            <a:chOff x="771" y="2990"/>
            <a:chExt cx="4933" cy="1989"/>
          </a:xfrm>
        </p:grpSpPr>
        <p:sp>
          <p:nvSpPr>
            <p:cNvPr id="297" name="文本框 296"/>
            <p:cNvSpPr txBox="1"/>
            <p:nvPr/>
          </p:nvSpPr>
          <p:spPr>
            <a:xfrm>
              <a:off x="1241" y="2990"/>
              <a:ext cx="4463" cy="483"/>
            </a:xfrm>
            <a:prstGeom prst="rect">
              <a:avLst/>
            </a:prstGeom>
            <a:noFill/>
            <a:scene3d>
              <a:camera prst="orthographicFront">
                <a:rot lat="0" lon="0" rev="0"/>
              </a:camera>
              <a:lightRig rig="threePt" dir="t"/>
            </a:scene3d>
          </p:spPr>
          <p:txBody>
            <a:bodyPr wrap="square" rtlCol="0">
              <a:spAutoFit/>
            </a:bodyPr>
            <a:p>
              <a:r>
                <a:rPr 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 </a:t>
              </a:r>
              <a:r>
                <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第三层：技术转型</a:t>
              </a:r>
              <a:r>
                <a:rPr lang="en-US" alt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a:t>
              </a:r>
              <a:r>
                <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业务赋能</a:t>
              </a:r>
              <a:endPar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98" name="Rectangle: Top Corners Rounded 32"/>
            <p:cNvSpPr/>
            <p:nvPr/>
          </p:nvSpPr>
          <p:spPr>
            <a:xfrm>
              <a:off x="862" y="3026"/>
              <a:ext cx="380" cy="380"/>
            </a:xfrm>
            <a:prstGeom prst="ellipse">
              <a:avLst/>
            </a:prstGeom>
            <a:solidFill>
              <a:schemeClr val="accent1">
                <a:lumMod val="60000"/>
                <a:lumOff val="40000"/>
              </a:schemeClr>
            </a:solidFill>
            <a:ln w="9525" cap="flat" cmpd="sng" algn="ctr">
              <a:noFill/>
              <a:prstDash val="solid"/>
              <a:miter lim="800000"/>
            </a:ln>
            <a:effectLst>
              <a:outerShdw blurRad="50800" dist="38100" dir="2700000" algn="tl" rotWithShape="0">
                <a:prstClr val="black">
                  <a:alpha val="40000"/>
                </a:prstClr>
              </a:outerShdw>
            </a:effectLst>
          </p:spPr>
          <p:txBody>
            <a:bodyPr rtlCol="0" anchor="ctr"/>
            <a:p>
              <a:pPr algn="ctr"/>
              <a:endParaRPr lang="en-US" sz="800" kern="0" dirty="0">
                <a:solidFill>
                  <a:schemeClr val="bg1"/>
                </a:solidFill>
                <a:latin typeface="微软雅黑" panose="020B0503020204020204" charset="-122"/>
                <a:ea typeface="微软雅黑" panose="020B0503020204020204" charset="-122"/>
                <a:cs typeface="微软雅黑" panose="020B0503020204020204" charset="-122"/>
                <a:sym typeface="+mn-lt"/>
              </a:endParaRPr>
            </a:p>
          </p:txBody>
        </p:sp>
        <p:sp>
          <p:nvSpPr>
            <p:cNvPr id="299" name="文本框 298"/>
            <p:cNvSpPr txBox="1"/>
            <p:nvPr/>
          </p:nvSpPr>
          <p:spPr>
            <a:xfrm>
              <a:off x="771" y="3769"/>
              <a:ext cx="4533" cy="1210"/>
            </a:xfrm>
            <a:prstGeom prst="rect">
              <a:avLst/>
            </a:prstGeom>
            <a:noFill/>
            <a:scene3d>
              <a:camera prst="orthographicFront">
                <a:rot lat="0" lon="0" rev="0"/>
              </a:camera>
              <a:lightRig rig="threePt" dir="t"/>
            </a:scene3d>
          </p:spPr>
          <p:txBody>
            <a:bodyPr wrap="square" rtlCol="0">
              <a:spAutoFit/>
            </a:bodyPr>
            <a:p>
              <a:r>
                <a:rPr lang="zh-CN" altLang="en-US" sz="1100">
                  <a:solidFill>
                    <a:schemeClr val="tx2"/>
                  </a:solidFill>
                  <a:latin typeface="微软雅黑" panose="020B0503020204020204" charset="-122"/>
                  <a:ea typeface="微软雅黑" panose="020B0503020204020204" charset="-122"/>
                  <a:cs typeface="微软雅黑" panose="020B0503020204020204" charset="-122"/>
                </a:rPr>
                <a:t>构建</a:t>
              </a:r>
              <a:r>
                <a:rPr lang="en-US" altLang="zh-CN" sz="11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100">
                  <a:solidFill>
                    <a:schemeClr val="tx2"/>
                  </a:solidFill>
                  <a:latin typeface="微软雅黑" panose="020B0503020204020204" charset="-122"/>
                  <a:ea typeface="微软雅黑" panose="020B0503020204020204" charset="-122"/>
                  <a:cs typeface="微软雅黑" panose="020B0503020204020204" charset="-122"/>
                </a:rPr>
                <a:t>云</a:t>
              </a:r>
              <a:r>
                <a:rPr lang="en-US" altLang="zh-CN" sz="11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100">
                  <a:solidFill>
                    <a:schemeClr val="tx2"/>
                  </a:solidFill>
                  <a:latin typeface="微软雅黑" panose="020B0503020204020204" charset="-122"/>
                  <a:ea typeface="微软雅黑" panose="020B0503020204020204" charset="-122"/>
                  <a:cs typeface="微软雅黑" panose="020B0503020204020204" charset="-122"/>
                </a:rPr>
                <a:t>端一体化</a:t>
              </a:r>
              <a:r>
                <a:rPr lang="en-US" altLang="zh-CN" sz="11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100">
                  <a:solidFill>
                    <a:schemeClr val="tx2"/>
                  </a:solidFill>
                  <a:latin typeface="微软雅黑" panose="020B0503020204020204" charset="-122"/>
                  <a:ea typeface="微软雅黑" panose="020B0503020204020204" charset="-122"/>
                  <a:cs typeface="微软雅黑" panose="020B0503020204020204" charset="-122"/>
                </a:rPr>
                <a:t>技术平台，为上述业务转型提供具体技术能力。例如，通过大数据平台赋能精准营销和用户洞察，通过车联网平台支撑远程控制和</a:t>
              </a:r>
              <a:r>
                <a:rPr lang="en-US" altLang="zh-CN" sz="1100">
                  <a:solidFill>
                    <a:schemeClr val="tx2"/>
                  </a:solidFill>
                  <a:latin typeface="微软雅黑" panose="020B0503020204020204" charset="-122"/>
                  <a:ea typeface="微软雅黑" panose="020B0503020204020204" charset="-122"/>
                  <a:cs typeface="微软雅黑" panose="020B0503020204020204" charset="-122"/>
                </a:rPr>
                <a:t>OTA</a:t>
              </a:r>
              <a:r>
                <a:rPr lang="zh-CN" altLang="en-US" sz="1100">
                  <a:solidFill>
                    <a:schemeClr val="tx2"/>
                  </a:solidFill>
                  <a:latin typeface="微软雅黑" panose="020B0503020204020204" charset="-122"/>
                  <a:ea typeface="微软雅黑" panose="020B0503020204020204" charset="-122"/>
                  <a:cs typeface="微软雅黑" panose="020B0503020204020204" charset="-122"/>
                </a:rPr>
                <a:t>升级。</a:t>
              </a:r>
              <a:endParaRPr lang="zh-CN" altLang="en-US" sz="11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00" name="文本框 299"/>
            <p:cNvSpPr txBox="1"/>
            <p:nvPr/>
          </p:nvSpPr>
          <p:spPr>
            <a:xfrm>
              <a:off x="771" y="3030"/>
              <a:ext cx="583" cy="337"/>
            </a:xfrm>
            <a:prstGeom prst="rect">
              <a:avLst/>
            </a:prstGeom>
            <a:noFill/>
            <a:scene3d>
              <a:camera prst="orthographicFront">
                <a:rot lat="0" lon="0" rev="0"/>
              </a:camera>
              <a:lightRig rig="threePt" dir="t"/>
            </a:scene3d>
          </p:spPr>
          <p:txBody>
            <a:bodyPr wrap="square" rtlCol="0">
              <a:spAutoFit/>
            </a:bodyPr>
            <a:p>
              <a:r>
                <a:rPr lang="en-US" sz="800" b="1">
                  <a:solidFill>
                    <a:schemeClr val="bg1"/>
                  </a:solidFill>
                  <a:latin typeface="微软雅黑" panose="020B0503020204020204" charset="-122"/>
                  <a:ea typeface="微软雅黑" panose="020B0503020204020204" charset="-122"/>
                  <a:cs typeface="微软雅黑" panose="020B0503020204020204" charset="-122"/>
                </a:rPr>
                <a:t>3.1</a:t>
              </a:r>
              <a:endParaRPr lang="en-US" sz="800" b="1">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301" name="组合 300"/>
          <p:cNvGrpSpPr/>
          <p:nvPr/>
        </p:nvGrpSpPr>
        <p:grpSpPr>
          <a:xfrm>
            <a:off x="8929370" y="1898650"/>
            <a:ext cx="3142615" cy="1093470"/>
            <a:chOff x="755" y="2990"/>
            <a:chExt cx="4949" cy="1722"/>
          </a:xfrm>
        </p:grpSpPr>
        <p:sp>
          <p:nvSpPr>
            <p:cNvPr id="302" name="文本框 301"/>
            <p:cNvSpPr txBox="1"/>
            <p:nvPr/>
          </p:nvSpPr>
          <p:spPr>
            <a:xfrm>
              <a:off x="1241" y="2990"/>
              <a:ext cx="4463" cy="483"/>
            </a:xfrm>
            <a:prstGeom prst="rect">
              <a:avLst/>
            </a:prstGeom>
            <a:noFill/>
            <a:scene3d>
              <a:camera prst="orthographicFront">
                <a:rot lat="0" lon="0" rev="0"/>
              </a:camera>
              <a:lightRig rig="threePt" dir="t"/>
            </a:scene3d>
          </p:spPr>
          <p:txBody>
            <a:bodyPr wrap="square" rtlCol="0">
              <a:spAutoFit/>
            </a:bodyPr>
            <a:p>
              <a:r>
                <a:rPr lang="en-US" sz="1400" b="1">
                  <a:solidFill>
                    <a:schemeClr val="accent1"/>
                  </a:solidFill>
                  <a:latin typeface="微软雅黑" panose="020B0503020204020204" charset="-122"/>
                  <a:ea typeface="微软雅黑" panose="020B0503020204020204" charset="-122"/>
                  <a:cs typeface="微软雅黑" panose="020B0503020204020204" charset="-122"/>
                </a:rPr>
                <a:t> </a:t>
              </a: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第一层：</a:t>
              </a:r>
              <a:r>
                <a:rPr lang="zh-CN" altLang="en-US" sz="1400" b="1">
                  <a:solidFill>
                    <a:schemeClr val="tx2"/>
                  </a:solidFill>
                  <a:latin typeface="微软雅黑" panose="020B0503020204020204" charset="-122"/>
                  <a:ea typeface="微软雅黑" panose="020B0503020204020204" charset="-122"/>
                  <a:cs typeface="微软雅黑" panose="020B0503020204020204" charset="-122"/>
                </a:rPr>
                <a:t>组织转型</a:t>
              </a:r>
              <a:r>
                <a:rPr lang="en-US" altLang="zh-CN" sz="1400" b="1">
                  <a:solidFill>
                    <a:schemeClr val="tx2"/>
                  </a:solidFill>
                  <a:latin typeface="微软雅黑" panose="020B0503020204020204" charset="-122"/>
                  <a:ea typeface="微软雅黑" panose="020B0503020204020204" charset="-122"/>
                  <a:cs typeface="微软雅黑" panose="020B0503020204020204" charset="-122"/>
                </a:rPr>
                <a:t>-</a:t>
              </a:r>
              <a:r>
                <a:rPr lang="zh-CN" altLang="en-US" sz="1400" b="1">
                  <a:solidFill>
                    <a:schemeClr val="tx2"/>
                  </a:solidFill>
                  <a:latin typeface="微软雅黑" panose="020B0503020204020204" charset="-122"/>
                  <a:ea typeface="微软雅黑" panose="020B0503020204020204" charset="-122"/>
                  <a:cs typeface="微软雅黑" panose="020B0503020204020204" charset="-122"/>
                </a:rPr>
                <a:t>创新转型</a:t>
              </a:r>
              <a:endParaRPr lang="zh-CN" altLang="en-US" sz="14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03" name="Rectangle: Top Corners Rounded 32"/>
            <p:cNvSpPr/>
            <p:nvPr/>
          </p:nvSpPr>
          <p:spPr>
            <a:xfrm>
              <a:off x="862" y="3026"/>
              <a:ext cx="380" cy="380"/>
            </a:xfrm>
            <a:prstGeom prst="ellipse">
              <a:avLst/>
            </a:prstGeom>
            <a:solidFill>
              <a:schemeClr val="accent1"/>
            </a:solidFill>
            <a:ln w="9525" cap="flat" cmpd="sng" algn="ctr">
              <a:noFill/>
              <a:prstDash val="solid"/>
              <a:miter lim="800000"/>
            </a:ln>
            <a:effectLst>
              <a:outerShdw blurRad="50800" dist="38100" dir="2700000" algn="tl" rotWithShape="0">
                <a:prstClr val="black">
                  <a:alpha val="40000"/>
                </a:prstClr>
              </a:outerShdw>
            </a:effectLst>
          </p:spPr>
          <p:txBody>
            <a:bodyPr rtlCol="0" anchor="ctr"/>
            <a:p>
              <a:pPr algn="ctr"/>
              <a:endParaRPr lang="en-US" sz="800" kern="0" dirty="0">
                <a:solidFill>
                  <a:schemeClr val="bg1"/>
                </a:solidFill>
                <a:latin typeface="微软雅黑" panose="020B0503020204020204" charset="-122"/>
                <a:ea typeface="微软雅黑" panose="020B0503020204020204" charset="-122"/>
                <a:cs typeface="微软雅黑" panose="020B0503020204020204" charset="-122"/>
                <a:sym typeface="+mn-lt"/>
              </a:endParaRPr>
            </a:p>
          </p:txBody>
        </p:sp>
        <p:sp>
          <p:nvSpPr>
            <p:cNvPr id="304" name="文本框 303"/>
            <p:cNvSpPr txBox="1"/>
            <p:nvPr/>
          </p:nvSpPr>
          <p:spPr>
            <a:xfrm>
              <a:off x="771" y="3769"/>
              <a:ext cx="4533" cy="943"/>
            </a:xfrm>
            <a:prstGeom prst="rect">
              <a:avLst/>
            </a:prstGeom>
            <a:noFill/>
            <a:scene3d>
              <a:camera prst="orthographicFront">
                <a:rot lat="0" lon="0" rev="0"/>
              </a:camera>
              <a:lightRig rig="threePt" dir="t"/>
            </a:scene3d>
          </p:spPr>
          <p:txBody>
            <a:bodyPr wrap="square" rtlCol="0">
              <a:spAutoFit/>
            </a:bodyPr>
            <a:p>
              <a:r>
                <a:rPr lang="zh-CN" altLang="en-US" sz="1100">
                  <a:solidFill>
                    <a:schemeClr val="tx2"/>
                  </a:solidFill>
                  <a:latin typeface="微软雅黑" panose="020B0503020204020204" charset="-122"/>
                  <a:ea typeface="微软雅黑" panose="020B0503020204020204" charset="-122"/>
                  <a:cs typeface="微软雅黑" panose="020B0503020204020204" charset="-122"/>
                </a:rPr>
                <a:t>建立鼓励快速试错和跨部门协作的敏捷组织文化与机制。设立专门的软件研发中心、孵化自动驾驶初创项目，以应对行业技术变革。</a:t>
              </a:r>
              <a:endParaRPr lang="zh-CN" altLang="en-US" sz="11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05" name="文本框 304"/>
            <p:cNvSpPr txBox="1"/>
            <p:nvPr/>
          </p:nvSpPr>
          <p:spPr>
            <a:xfrm>
              <a:off x="755" y="3024"/>
              <a:ext cx="583" cy="337"/>
            </a:xfrm>
            <a:prstGeom prst="rect">
              <a:avLst/>
            </a:prstGeom>
            <a:noFill/>
            <a:scene3d>
              <a:camera prst="orthographicFront">
                <a:rot lat="0" lon="0" rev="0"/>
              </a:camera>
              <a:lightRig rig="threePt" dir="t"/>
            </a:scene3d>
          </p:spPr>
          <p:txBody>
            <a:bodyPr wrap="square" rtlCol="0">
              <a:spAutoFit/>
            </a:bodyPr>
            <a:p>
              <a:r>
                <a:rPr lang="en-US" sz="800" b="1">
                  <a:solidFill>
                    <a:schemeClr val="bg1"/>
                  </a:solidFill>
                  <a:latin typeface="微软雅黑" panose="020B0503020204020204" charset="-122"/>
                  <a:ea typeface="微软雅黑" panose="020B0503020204020204" charset="-122"/>
                  <a:cs typeface="微软雅黑" panose="020B0503020204020204" charset="-122"/>
                </a:rPr>
                <a:t>1.2</a:t>
              </a:r>
              <a:endParaRPr lang="en-US" sz="800" b="1">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306" name="组合 305"/>
          <p:cNvGrpSpPr/>
          <p:nvPr/>
        </p:nvGrpSpPr>
        <p:grpSpPr>
          <a:xfrm>
            <a:off x="8933815" y="3543300"/>
            <a:ext cx="3138170" cy="1263015"/>
            <a:chOff x="762" y="2990"/>
            <a:chExt cx="4942" cy="1989"/>
          </a:xfrm>
        </p:grpSpPr>
        <p:sp>
          <p:nvSpPr>
            <p:cNvPr id="307" name="文本框 306"/>
            <p:cNvSpPr txBox="1"/>
            <p:nvPr/>
          </p:nvSpPr>
          <p:spPr>
            <a:xfrm>
              <a:off x="1241" y="2990"/>
              <a:ext cx="4463" cy="483"/>
            </a:xfrm>
            <a:prstGeom prst="rect">
              <a:avLst/>
            </a:prstGeom>
            <a:noFill/>
            <a:scene3d>
              <a:camera prst="orthographicFront">
                <a:rot lat="0" lon="0" rev="0"/>
              </a:camera>
              <a:lightRig rig="threePt" dir="t"/>
            </a:scene3d>
          </p:spPr>
          <p:txBody>
            <a:bodyPr wrap="square" rtlCol="0">
              <a:spAutoFit/>
            </a:bodyPr>
            <a:p>
              <a:r>
                <a:rPr lang="en-US" sz="1400" b="1">
                  <a:solidFill>
                    <a:schemeClr val="accent5"/>
                  </a:solidFill>
                  <a:latin typeface="微软雅黑" panose="020B0503020204020204" charset="-122"/>
                  <a:ea typeface="微软雅黑" panose="020B0503020204020204" charset="-122"/>
                  <a:cs typeface="微软雅黑" panose="020B0503020204020204" charset="-122"/>
                </a:rPr>
                <a:t> </a:t>
              </a:r>
              <a:r>
                <a:rPr lang="zh-CN" altLang="en-US" sz="1400" b="1">
                  <a:solidFill>
                    <a:schemeClr val="accent5"/>
                  </a:solidFill>
                  <a:latin typeface="微软雅黑" panose="020B0503020204020204" charset="-122"/>
                  <a:ea typeface="微软雅黑" panose="020B0503020204020204" charset="-122"/>
                  <a:cs typeface="微软雅黑" panose="020B0503020204020204" charset="-122"/>
                </a:rPr>
                <a:t>第二层：业务转型</a:t>
              </a:r>
              <a:r>
                <a:rPr lang="en-US" altLang="zh-CN" sz="1400" b="1">
                  <a:solidFill>
                    <a:schemeClr val="accent5"/>
                  </a:solidFill>
                  <a:latin typeface="微软雅黑" panose="020B0503020204020204" charset="-122"/>
                  <a:ea typeface="微软雅黑" panose="020B0503020204020204" charset="-122"/>
                  <a:cs typeface="微软雅黑" panose="020B0503020204020204" charset="-122"/>
                </a:rPr>
                <a:t>-</a:t>
              </a:r>
              <a:r>
                <a:rPr lang="zh-CN" altLang="en-US" sz="1400" b="1">
                  <a:solidFill>
                    <a:schemeClr val="accent5"/>
                  </a:solidFill>
                  <a:latin typeface="微软雅黑" panose="020B0503020204020204" charset="-122"/>
                  <a:ea typeface="微软雅黑" panose="020B0503020204020204" charset="-122"/>
                  <a:cs typeface="微软雅黑" panose="020B0503020204020204" charset="-122"/>
                </a:rPr>
                <a:t>潜力增长</a:t>
              </a:r>
              <a:endParaRPr lang="zh-CN" altLang="en-US" sz="14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308" name="Rectangle: Top Corners Rounded 32"/>
            <p:cNvSpPr/>
            <p:nvPr/>
          </p:nvSpPr>
          <p:spPr>
            <a:xfrm>
              <a:off x="862" y="3026"/>
              <a:ext cx="380" cy="380"/>
            </a:xfrm>
            <a:prstGeom prst="ellipse">
              <a:avLst/>
            </a:prstGeom>
            <a:solidFill>
              <a:schemeClr val="accent5"/>
            </a:solidFill>
            <a:ln w="9525" cap="flat" cmpd="sng" algn="ctr">
              <a:noFill/>
              <a:prstDash val="solid"/>
              <a:miter lim="800000"/>
            </a:ln>
            <a:effectLst>
              <a:outerShdw blurRad="50800" dist="38100" dir="2700000" algn="tl" rotWithShape="0">
                <a:prstClr val="black">
                  <a:alpha val="40000"/>
                </a:prstClr>
              </a:outerShdw>
            </a:effectLst>
          </p:spPr>
          <p:txBody>
            <a:bodyPr rtlCol="0" anchor="ctr"/>
            <a:p>
              <a:pPr algn="ctr"/>
              <a:endParaRPr lang="en-US" sz="800" kern="0" dirty="0">
                <a:solidFill>
                  <a:schemeClr val="bg1"/>
                </a:solidFill>
                <a:latin typeface="微软雅黑" panose="020B0503020204020204" charset="-122"/>
                <a:ea typeface="微软雅黑" panose="020B0503020204020204" charset="-122"/>
                <a:cs typeface="微软雅黑" panose="020B0503020204020204" charset="-122"/>
                <a:sym typeface="+mn-lt"/>
              </a:endParaRPr>
            </a:p>
          </p:txBody>
        </p:sp>
        <p:sp>
          <p:nvSpPr>
            <p:cNvPr id="309" name="文本框 308"/>
            <p:cNvSpPr txBox="1"/>
            <p:nvPr/>
          </p:nvSpPr>
          <p:spPr>
            <a:xfrm>
              <a:off x="771" y="3769"/>
              <a:ext cx="4533" cy="1210"/>
            </a:xfrm>
            <a:prstGeom prst="rect">
              <a:avLst/>
            </a:prstGeom>
            <a:noFill/>
            <a:scene3d>
              <a:camera prst="orthographicFront">
                <a:rot lat="0" lon="0" rev="0"/>
              </a:camera>
              <a:lightRig rig="threePt" dir="t"/>
            </a:scene3d>
          </p:spPr>
          <p:txBody>
            <a:bodyPr wrap="square" rtlCol="0">
              <a:spAutoFit/>
            </a:bodyPr>
            <a:p>
              <a:r>
                <a:rPr lang="zh-CN" altLang="en-US" sz="1100">
                  <a:solidFill>
                    <a:schemeClr val="tx2"/>
                  </a:solidFill>
                  <a:latin typeface="微软雅黑" panose="020B0503020204020204" charset="-122"/>
                  <a:ea typeface="微软雅黑" panose="020B0503020204020204" charset="-122"/>
                  <a:cs typeface="微软雅黑" panose="020B0503020204020204" charset="-122"/>
                </a:rPr>
                <a:t>开拓新的业务增长曲线，重点发展软件定义汽车的付费服务、智慧出行（如</a:t>
              </a:r>
              <a:r>
                <a:rPr lang="en-US" altLang="zh-CN" sz="1100">
                  <a:solidFill>
                    <a:schemeClr val="tx2"/>
                  </a:solidFill>
                  <a:latin typeface="微软雅黑" panose="020B0503020204020204" charset="-122"/>
                  <a:ea typeface="微软雅黑" panose="020B0503020204020204" charset="-122"/>
                  <a:cs typeface="微软雅黑" panose="020B0503020204020204" charset="-122"/>
                </a:rPr>
                <a:t>Robotaxi</a:t>
              </a:r>
              <a:r>
                <a:rPr lang="zh-CN" altLang="en-US" sz="1100">
                  <a:solidFill>
                    <a:schemeClr val="tx2"/>
                  </a:solidFill>
                  <a:latin typeface="微软雅黑" panose="020B0503020204020204" charset="-122"/>
                  <a:ea typeface="微软雅黑" panose="020B0503020204020204" charset="-122"/>
                  <a:cs typeface="微软雅黑" panose="020B0503020204020204" charset="-122"/>
                </a:rPr>
                <a:t>）、以及基于车辆数据的增值业务，寻找第二增长曲线。</a:t>
              </a:r>
              <a:endParaRPr lang="zh-CN" altLang="en-US" sz="11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10" name="文本框 309"/>
            <p:cNvSpPr txBox="1"/>
            <p:nvPr/>
          </p:nvSpPr>
          <p:spPr>
            <a:xfrm>
              <a:off x="762" y="3030"/>
              <a:ext cx="583" cy="337"/>
            </a:xfrm>
            <a:prstGeom prst="rect">
              <a:avLst/>
            </a:prstGeom>
            <a:noFill/>
            <a:scene3d>
              <a:camera prst="orthographicFront">
                <a:rot lat="0" lon="0" rev="0"/>
              </a:camera>
              <a:lightRig rig="threePt" dir="t"/>
            </a:scene3d>
          </p:spPr>
          <p:txBody>
            <a:bodyPr wrap="square" rtlCol="0">
              <a:spAutoFit/>
            </a:bodyPr>
            <a:p>
              <a:r>
                <a:rPr lang="en-US" sz="800" b="1">
                  <a:solidFill>
                    <a:schemeClr val="bg1"/>
                  </a:solidFill>
                  <a:latin typeface="微软雅黑" panose="020B0503020204020204" charset="-122"/>
                  <a:ea typeface="微软雅黑" panose="020B0503020204020204" charset="-122"/>
                  <a:cs typeface="微软雅黑" panose="020B0503020204020204" charset="-122"/>
                </a:rPr>
                <a:t>2.2</a:t>
              </a:r>
              <a:endParaRPr lang="en-US" sz="800" b="1">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311" name="组合 310"/>
          <p:cNvGrpSpPr/>
          <p:nvPr/>
        </p:nvGrpSpPr>
        <p:grpSpPr>
          <a:xfrm>
            <a:off x="8939530" y="5080635"/>
            <a:ext cx="3132455" cy="1431925"/>
            <a:chOff x="771" y="2990"/>
            <a:chExt cx="4933" cy="2255"/>
          </a:xfrm>
        </p:grpSpPr>
        <p:sp>
          <p:nvSpPr>
            <p:cNvPr id="312" name="文本框 311"/>
            <p:cNvSpPr txBox="1"/>
            <p:nvPr/>
          </p:nvSpPr>
          <p:spPr>
            <a:xfrm>
              <a:off x="1241" y="2990"/>
              <a:ext cx="4463" cy="483"/>
            </a:xfrm>
            <a:prstGeom prst="rect">
              <a:avLst/>
            </a:prstGeom>
            <a:noFill/>
            <a:scene3d>
              <a:camera prst="orthographicFront">
                <a:rot lat="0" lon="0" rev="0"/>
              </a:camera>
              <a:lightRig rig="threePt" dir="t"/>
            </a:scene3d>
          </p:spPr>
          <p:txBody>
            <a:bodyPr wrap="square" rtlCol="0">
              <a:spAutoFit/>
            </a:bodyPr>
            <a:p>
              <a:r>
                <a:rPr 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 </a:t>
              </a:r>
              <a:r>
                <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第三层：技术转型</a:t>
              </a:r>
              <a:r>
                <a:rPr lang="en-US" alt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a:t>
              </a:r>
              <a:r>
                <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当前市场</a:t>
              </a:r>
              <a:endPar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13" name="Rectangle: Top Corners Rounded 32"/>
            <p:cNvSpPr/>
            <p:nvPr/>
          </p:nvSpPr>
          <p:spPr>
            <a:xfrm>
              <a:off x="862" y="3026"/>
              <a:ext cx="380" cy="380"/>
            </a:xfrm>
            <a:prstGeom prst="ellipse">
              <a:avLst/>
            </a:prstGeom>
            <a:solidFill>
              <a:schemeClr val="accent1">
                <a:lumMod val="60000"/>
                <a:lumOff val="40000"/>
              </a:schemeClr>
            </a:solidFill>
            <a:ln w="9525" cap="flat" cmpd="sng" algn="ctr">
              <a:noFill/>
              <a:prstDash val="solid"/>
              <a:miter lim="800000"/>
            </a:ln>
            <a:effectLst>
              <a:outerShdw blurRad="50800" dist="38100" dir="2700000" algn="tl" rotWithShape="0">
                <a:prstClr val="black">
                  <a:alpha val="40000"/>
                </a:prstClr>
              </a:outerShdw>
            </a:effectLst>
          </p:spPr>
          <p:txBody>
            <a:bodyPr rtlCol="0" anchor="ctr"/>
            <a:p>
              <a:pPr algn="ctr"/>
              <a:endParaRPr lang="en-US" sz="800" kern="0" dirty="0">
                <a:solidFill>
                  <a:schemeClr val="bg1"/>
                </a:solidFill>
                <a:latin typeface="微软雅黑" panose="020B0503020204020204" charset="-122"/>
                <a:ea typeface="微软雅黑" panose="020B0503020204020204" charset="-122"/>
                <a:cs typeface="微软雅黑" panose="020B0503020204020204" charset="-122"/>
                <a:sym typeface="+mn-lt"/>
              </a:endParaRPr>
            </a:p>
          </p:txBody>
        </p:sp>
        <p:sp>
          <p:nvSpPr>
            <p:cNvPr id="314" name="文本框 313"/>
            <p:cNvSpPr txBox="1"/>
            <p:nvPr/>
          </p:nvSpPr>
          <p:spPr>
            <a:xfrm>
              <a:off x="771" y="3769"/>
              <a:ext cx="4533" cy="1476"/>
            </a:xfrm>
            <a:prstGeom prst="rect">
              <a:avLst/>
            </a:prstGeom>
            <a:noFill/>
            <a:scene3d>
              <a:camera prst="orthographicFront">
                <a:rot lat="0" lon="0" rev="0"/>
              </a:camera>
              <a:lightRig rig="threePt" dir="t"/>
            </a:scene3d>
          </p:spPr>
          <p:txBody>
            <a:bodyPr wrap="square" rtlCol="0">
              <a:spAutoFit/>
            </a:bodyPr>
            <a:p>
              <a:r>
                <a:rPr lang="zh-CN" altLang="en-US" sz="1100">
                  <a:solidFill>
                    <a:schemeClr val="tx2"/>
                  </a:solidFill>
                  <a:latin typeface="微软雅黑" panose="020B0503020204020204" charset="-122"/>
                  <a:ea typeface="微软雅黑" panose="020B0503020204020204" charset="-122"/>
                  <a:cs typeface="微软雅黑" panose="020B0503020204020204" charset="-122"/>
                </a:rPr>
                <a:t>聚焦于应对汽车行业</a:t>
              </a:r>
              <a:r>
                <a:rPr lang="en-US" altLang="zh-CN" sz="11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100">
                  <a:solidFill>
                    <a:schemeClr val="tx2"/>
                  </a:solidFill>
                  <a:latin typeface="微软雅黑" panose="020B0503020204020204" charset="-122"/>
                  <a:ea typeface="微软雅黑" panose="020B0503020204020204" charset="-122"/>
                  <a:cs typeface="微软雅黑" panose="020B0503020204020204" charset="-122"/>
                </a:rPr>
                <a:t>新四化</a:t>
              </a:r>
              <a:r>
                <a:rPr lang="en-US" altLang="zh-CN" sz="1100">
                  <a:solidFill>
                    <a:schemeClr val="tx2"/>
                  </a:solidFill>
                  <a:latin typeface="微软雅黑" panose="020B0503020204020204" charset="-122"/>
                  <a:ea typeface="微软雅黑" panose="020B0503020204020204" charset="-122"/>
                  <a:cs typeface="微软雅黑" panose="020B0503020204020204" charset="-122"/>
                </a:rPr>
                <a:t>” </a:t>
              </a:r>
              <a:r>
                <a:rPr lang="zh-CN" altLang="en-US" sz="1100">
                  <a:solidFill>
                    <a:schemeClr val="tx2"/>
                  </a:solidFill>
                  <a:latin typeface="微软雅黑" panose="020B0503020204020204" charset="-122"/>
                  <a:ea typeface="微软雅黑" panose="020B0503020204020204" charset="-122"/>
                  <a:cs typeface="微软雅黑" panose="020B0503020204020204" charset="-122"/>
                </a:rPr>
                <a:t>的当前市场趋势。技术研发和投资必须直接服务于电动化、智能化、网联化和共享化，确保技术路线与市场趋势紧密结合，快速将技术转化为市场竞争力。</a:t>
              </a:r>
              <a:endParaRPr lang="zh-CN" altLang="en-US" sz="11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15" name="文本框 314"/>
            <p:cNvSpPr txBox="1"/>
            <p:nvPr/>
          </p:nvSpPr>
          <p:spPr>
            <a:xfrm>
              <a:off x="771" y="3030"/>
              <a:ext cx="583" cy="337"/>
            </a:xfrm>
            <a:prstGeom prst="rect">
              <a:avLst/>
            </a:prstGeom>
            <a:noFill/>
            <a:scene3d>
              <a:camera prst="orthographicFront">
                <a:rot lat="0" lon="0" rev="0"/>
              </a:camera>
              <a:lightRig rig="threePt" dir="t"/>
            </a:scene3d>
          </p:spPr>
          <p:txBody>
            <a:bodyPr wrap="square" rtlCol="0">
              <a:spAutoFit/>
            </a:bodyPr>
            <a:p>
              <a:r>
                <a:rPr lang="en-US" sz="800" b="1">
                  <a:solidFill>
                    <a:schemeClr val="bg1"/>
                  </a:solidFill>
                  <a:latin typeface="微软雅黑" panose="020B0503020204020204" charset="-122"/>
                  <a:ea typeface="微软雅黑" panose="020B0503020204020204" charset="-122"/>
                  <a:cs typeface="微软雅黑" panose="020B0503020204020204" charset="-122"/>
                </a:rPr>
                <a:t>3.2</a:t>
              </a:r>
              <a:endParaRPr lang="en-US" sz="800" b="1">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316" name="椭圆 315"/>
          <p:cNvSpPr/>
          <p:nvPr/>
        </p:nvSpPr>
        <p:spPr>
          <a:xfrm>
            <a:off x="3336290" y="3734435"/>
            <a:ext cx="438785" cy="438785"/>
          </a:xfrm>
          <a:prstGeom prst="ellipse">
            <a:avLst/>
          </a:prstGeom>
          <a:solidFill>
            <a:schemeClr val="accent5"/>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pic>
        <p:nvPicPr>
          <p:cNvPr id="3" name="图片 2" descr="3运营"/>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3435985" y="3820160"/>
            <a:ext cx="240030" cy="240030"/>
          </a:xfrm>
          <a:prstGeom prst="rect">
            <a:avLst/>
          </a:prstGeom>
        </p:spPr>
      </p:pic>
      <p:sp>
        <p:nvSpPr>
          <p:cNvPr id="4" name="椭圆 3"/>
          <p:cNvSpPr/>
          <p:nvPr/>
        </p:nvSpPr>
        <p:spPr>
          <a:xfrm>
            <a:off x="3828415" y="5282565"/>
            <a:ext cx="385445" cy="385445"/>
          </a:xfrm>
          <a:prstGeom prst="ellipse">
            <a:avLst/>
          </a:prstGeom>
          <a:solidFill>
            <a:schemeClr val="accent1">
              <a:lumMod val="60000"/>
              <a:lumOff val="4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pic>
        <p:nvPicPr>
          <p:cNvPr id="8" name="图片 7" descr="赋能"/>
          <p:cNvPicPr>
            <a:picLocks noChangeAspect="1"/>
          </p:cNvPicPr>
          <p:nvPr/>
        </p:nvPicPr>
        <p:blipFill>
          <a:blip r:embed="rId45">
            <a:extLst>
              <a:ext uri="{96DAC541-7B7A-43D3-8B79-37D633B846F1}">
                <asvg:svgBlip xmlns:asvg="http://schemas.microsoft.com/office/drawing/2016/SVG/main" r:embed="rId46"/>
              </a:ext>
            </a:extLst>
          </a:blip>
          <a:stretch>
            <a:fillRect/>
          </a:stretch>
        </p:blipFill>
        <p:spPr>
          <a:xfrm>
            <a:off x="3910965" y="5365115"/>
            <a:ext cx="200025" cy="200025"/>
          </a:xfrm>
          <a:prstGeom prst="rect">
            <a:avLst/>
          </a:prstGeom>
        </p:spPr>
      </p:pic>
      <p:sp>
        <p:nvSpPr>
          <p:cNvPr id="12" name="椭圆 11"/>
          <p:cNvSpPr/>
          <p:nvPr/>
        </p:nvSpPr>
        <p:spPr>
          <a:xfrm>
            <a:off x="7879715" y="5243830"/>
            <a:ext cx="385445" cy="385445"/>
          </a:xfrm>
          <a:prstGeom prst="ellipse">
            <a:avLst/>
          </a:prstGeom>
          <a:solidFill>
            <a:schemeClr val="accent1">
              <a:lumMod val="60000"/>
              <a:lumOff val="4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pic>
        <p:nvPicPr>
          <p:cNvPr id="13" name="图片 12" descr="市场营销"/>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7960360" y="5304790"/>
            <a:ext cx="224155" cy="224155"/>
          </a:xfrm>
          <a:prstGeom prst="rect">
            <a:avLst/>
          </a:prstGeom>
        </p:spPr>
      </p:pic>
      <p:cxnSp>
        <p:nvCxnSpPr>
          <p:cNvPr id="14" name="直接连接符 13"/>
          <p:cNvCxnSpPr/>
          <p:nvPr/>
        </p:nvCxnSpPr>
        <p:spPr>
          <a:xfrm>
            <a:off x="8849360" y="3929380"/>
            <a:ext cx="2968625" cy="0"/>
          </a:xfrm>
          <a:prstGeom prst="line">
            <a:avLst/>
          </a:prstGeom>
          <a:ln w="25400">
            <a:solidFill>
              <a:schemeClr val="accent5"/>
            </a:solidFill>
            <a:prstDash val="sysDash"/>
            <a:headEnd type="oval"/>
            <a:tailEnd type="oval"/>
          </a:ln>
        </p:spPr>
        <p:style>
          <a:lnRef idx="2">
            <a:schemeClr val="accent1"/>
          </a:lnRef>
          <a:fillRef idx="0">
            <a:srgbClr val="FFFFFF"/>
          </a:fillRef>
          <a:effectRef idx="0">
            <a:srgbClr val="FFFFFF"/>
          </a:effectRef>
          <a:fontRef idx="minor">
            <a:schemeClr val="tx1"/>
          </a:fontRef>
        </p:style>
      </p:cxnSp>
      <p:sp>
        <p:nvSpPr>
          <p:cNvPr id="15" name="椭圆 14"/>
          <p:cNvSpPr/>
          <p:nvPr/>
        </p:nvSpPr>
        <p:spPr>
          <a:xfrm>
            <a:off x="8335645" y="3731895"/>
            <a:ext cx="438785" cy="438785"/>
          </a:xfrm>
          <a:prstGeom prst="ellipse">
            <a:avLst/>
          </a:prstGeom>
          <a:solidFill>
            <a:schemeClr val="accent5"/>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pic>
        <p:nvPicPr>
          <p:cNvPr id="17" name="图片 16" descr="潜力"/>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8388350" y="3766185"/>
            <a:ext cx="348615" cy="348615"/>
          </a:xfrm>
          <a:prstGeom prst="rect">
            <a:avLst/>
          </a:prstGeom>
        </p:spPr>
      </p:pic>
      <p:sp>
        <p:nvSpPr>
          <p:cNvPr id="19" name="椭圆 18"/>
          <p:cNvSpPr/>
          <p:nvPr/>
        </p:nvSpPr>
        <p:spPr>
          <a:xfrm>
            <a:off x="3865880" y="2075815"/>
            <a:ext cx="438785" cy="438785"/>
          </a:xfrm>
          <a:prstGeom prst="ellipse">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cxnSp>
        <p:nvCxnSpPr>
          <p:cNvPr id="20" name="直接连接符 19"/>
          <p:cNvCxnSpPr/>
          <p:nvPr/>
        </p:nvCxnSpPr>
        <p:spPr>
          <a:xfrm>
            <a:off x="355600" y="2288540"/>
            <a:ext cx="3410585" cy="0"/>
          </a:xfrm>
          <a:prstGeom prst="line">
            <a:avLst/>
          </a:prstGeom>
          <a:ln w="25400">
            <a:solidFill>
              <a:schemeClr val="accent1"/>
            </a:solidFill>
            <a:prstDash val="sysDash"/>
            <a:headEnd type="oval"/>
            <a:tailEnd type="oval"/>
          </a:ln>
        </p:spPr>
        <p:style>
          <a:lnRef idx="2">
            <a:schemeClr val="accent1"/>
          </a:lnRef>
          <a:fillRef idx="0">
            <a:srgbClr val="FFFFFF"/>
          </a:fillRef>
          <a:effectRef idx="0">
            <a:srgbClr val="FFFFFF"/>
          </a:effectRef>
          <a:fontRef idx="minor">
            <a:schemeClr val="tx1"/>
          </a:fontRef>
        </p:style>
      </p:cxnSp>
      <p:pic>
        <p:nvPicPr>
          <p:cNvPr id="21" name="图片 20" descr="旧房改造"/>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3957955" y="2140585"/>
            <a:ext cx="276225" cy="276225"/>
          </a:xfrm>
          <a:prstGeom prst="rect">
            <a:avLst/>
          </a:prstGeom>
        </p:spPr>
      </p:pic>
      <p:sp>
        <p:nvSpPr>
          <p:cNvPr id="23" name="椭圆 22"/>
          <p:cNvSpPr/>
          <p:nvPr/>
        </p:nvSpPr>
        <p:spPr>
          <a:xfrm>
            <a:off x="7745730" y="2075815"/>
            <a:ext cx="438785" cy="438785"/>
          </a:xfrm>
          <a:prstGeom prst="ellipse">
            <a:avLst/>
          </a:prstGeom>
          <a:solidFill>
            <a:schemeClr val="accent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pic>
        <p:nvPicPr>
          <p:cNvPr id="24" name="图片 23" descr="创新服务"/>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7847965" y="2161540"/>
            <a:ext cx="234950" cy="231775"/>
          </a:xfrm>
          <a:prstGeom prst="rect">
            <a:avLst/>
          </a:prstGeom>
        </p:spPr>
      </p:pic>
      <p:cxnSp>
        <p:nvCxnSpPr>
          <p:cNvPr id="34" name="直接连接符 33"/>
          <p:cNvCxnSpPr/>
          <p:nvPr/>
        </p:nvCxnSpPr>
        <p:spPr>
          <a:xfrm>
            <a:off x="286385" y="5436870"/>
            <a:ext cx="3400425" cy="0"/>
          </a:xfrm>
          <a:prstGeom prst="line">
            <a:avLst/>
          </a:prstGeom>
          <a:ln w="25400">
            <a:solidFill>
              <a:schemeClr val="accent1">
                <a:lumMod val="60000"/>
                <a:lumOff val="40000"/>
              </a:schemeClr>
            </a:solidFill>
            <a:prstDash val="sysDash"/>
            <a:headEnd type="oval"/>
            <a:tailEnd type="oval"/>
          </a:ln>
        </p:spPr>
        <p:style>
          <a:lnRef idx="2">
            <a:schemeClr val="accent1"/>
          </a:lnRef>
          <a:fillRef idx="0">
            <a:srgbClr val="FFFFFF"/>
          </a:fillRef>
          <a:effectRef idx="0">
            <a:srgbClr val="FFFFFF"/>
          </a:effectRef>
          <a:fontRef idx="minor">
            <a:schemeClr val="tx1"/>
          </a:fontRef>
        </p:style>
      </p:cxnSp>
      <p:sp>
        <p:nvSpPr>
          <p:cNvPr id="38" name="文本框 37"/>
          <p:cNvSpPr txBox="1"/>
          <p:nvPr/>
        </p:nvSpPr>
        <p:spPr>
          <a:xfrm>
            <a:off x="5649913" y="1333500"/>
            <a:ext cx="863600" cy="245110"/>
          </a:xfrm>
          <a:prstGeom prst="rect">
            <a:avLst/>
          </a:prstGeom>
          <a:noFill/>
          <a:extLst>
            <a:ext uri="{909E8E84-426E-40DD-AFC4-6F175D3DCCD1}">
              <a14:hiddenFill xmlns:a14="http://schemas.microsoft.com/office/drawing/2010/main">
                <a:solidFill>
                  <a:schemeClr val="accent2"/>
                </a:solidFill>
              </a14:hiddenFill>
            </a:ext>
          </a:extLst>
        </p:spPr>
        <p:txBody>
          <a:bodyPr wrap="square" rtlCol="0">
            <a:spAutoFit/>
          </a:bodyPr>
          <a:p>
            <a:pPr algn="ctr"/>
            <a:r>
              <a:rPr lang="zh-CN" altLang="en-US" sz="1000">
                <a:solidFill>
                  <a:schemeClr val="bg1"/>
                </a:solidFill>
                <a:latin typeface="微软雅黑" panose="020B0503020204020204" charset="-122"/>
                <a:ea typeface="微软雅黑" panose="020B0503020204020204" charset="-122"/>
                <a:cs typeface="微软雅黑" panose="020B0503020204020204" charset="-122"/>
              </a:rPr>
              <a:t>数字化转型</a:t>
            </a:r>
            <a:endParaRPr lang="zh-CN" altLang="en-US"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3" name="矩形 42"/>
          <p:cNvSpPr/>
          <p:nvPr/>
        </p:nvSpPr>
        <p:spPr>
          <a:xfrm>
            <a:off x="5650230" y="6285230"/>
            <a:ext cx="864235" cy="264160"/>
          </a:xfrm>
          <a:prstGeom prst="rect">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4" name="文本框 43"/>
          <p:cNvSpPr txBox="1"/>
          <p:nvPr/>
        </p:nvSpPr>
        <p:spPr>
          <a:xfrm>
            <a:off x="5650548" y="6294755"/>
            <a:ext cx="863600" cy="245110"/>
          </a:xfrm>
          <a:prstGeom prst="rect">
            <a:avLst/>
          </a:prstGeom>
          <a:noFill/>
          <a:extLst>
            <a:ext uri="{909E8E84-426E-40DD-AFC4-6F175D3DCCD1}">
              <a14:hiddenFill xmlns:a14="http://schemas.microsoft.com/office/drawing/2010/main">
                <a:solidFill>
                  <a:schemeClr val="accent2"/>
                </a:solidFill>
              </a14:hiddenFill>
            </a:ext>
          </a:extLst>
        </p:spPr>
        <p:txBody>
          <a:bodyPr wrap="square" rtlCol="0">
            <a:spAutoFit/>
          </a:bodyPr>
          <a:p>
            <a:pPr algn="ctr"/>
            <a:r>
              <a:rPr lang="zh-CN" altLang="en-US" sz="1000">
                <a:solidFill>
                  <a:schemeClr val="bg1"/>
                </a:solidFill>
                <a:latin typeface="微软雅黑" panose="020B0503020204020204" charset="-122"/>
                <a:ea typeface="微软雅黑" panose="020B0503020204020204" charset="-122"/>
                <a:cs typeface="微软雅黑" panose="020B0503020204020204" charset="-122"/>
              </a:rPr>
              <a:t>数字化转型</a:t>
            </a:r>
            <a:endParaRPr lang="zh-CN" altLang="en-US" sz="1000">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6" name="组合 5"/>
          <p:cNvGrpSpPr/>
          <p:nvPr/>
        </p:nvGrpSpPr>
        <p:grpSpPr>
          <a:xfrm>
            <a:off x="8738235" y="348615"/>
            <a:ext cx="3219450" cy="332740"/>
            <a:chOff x="13761" y="549"/>
            <a:chExt cx="5070" cy="524"/>
          </a:xfrm>
        </p:grpSpPr>
        <p:pic>
          <p:nvPicPr>
            <p:cNvPr id="7" name="图片 6"/>
            <p:cNvPicPr>
              <a:picLocks noChangeAspect="1"/>
            </p:cNvPicPr>
            <p:nvPr userDrawn="1"/>
          </p:nvPicPr>
          <p:blipFill>
            <a:blip r:embed="rId55"/>
            <a:srcRect l="17002" t="-1765" r="56499" b="-1176"/>
            <a:stretch>
              <a:fillRect/>
            </a:stretch>
          </p:blipFill>
          <p:spPr>
            <a:xfrm>
              <a:off x="13761" y="549"/>
              <a:ext cx="1582" cy="525"/>
            </a:xfrm>
            <a:prstGeom prst="rect">
              <a:avLst/>
            </a:prstGeom>
          </p:spPr>
        </p:pic>
        <p:sp>
          <p:nvSpPr>
            <p:cNvPr id="9" name="文本框 8"/>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天蝎PPT1"/>
          <p:cNvSpPr/>
          <p:nvPr>
            <p:custDataLst>
              <p:tags r:id="rId1"/>
            </p:custDataLst>
          </p:nvPr>
        </p:nvSpPr>
        <p:spPr>
          <a:xfrm>
            <a:off x="379095" y="993775"/>
            <a:ext cx="11437620" cy="1318260"/>
          </a:xfrm>
          <a:prstGeom prst="roundRect">
            <a:avLst>
              <a:gd name="adj" fmla="val 6893"/>
            </a:avLst>
          </a:prstGeom>
          <a:solidFill>
            <a:schemeClr val="accent5">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5" name="等腰三角形 4"/>
          <p:cNvSpPr/>
          <p:nvPr/>
        </p:nvSpPr>
        <p:spPr>
          <a:xfrm>
            <a:off x="4788535" y="1772285"/>
            <a:ext cx="2731770" cy="1708150"/>
          </a:xfrm>
          <a:prstGeom prst="triangle">
            <a:avLst/>
          </a:prstGeom>
          <a:gradFill>
            <a:gsLst>
              <a:gs pos="0">
                <a:schemeClr val="accent5">
                  <a:lumMod val="60000"/>
                  <a:lumOff val="40000"/>
                </a:schemeClr>
              </a:gs>
              <a:gs pos="71000">
                <a:schemeClr val="accent5">
                  <a:lumMod val="60000"/>
                  <a:lumOff val="40000"/>
                  <a:alpha val="0"/>
                </a:schemeClr>
              </a:gs>
            </a:gsLst>
            <a:lin ang="5400000" scaled="0"/>
          </a:gradFill>
          <a:ln w="38100">
            <a:gradFill>
              <a:gsLst>
                <a:gs pos="76000">
                  <a:schemeClr val="bg1"/>
                </a:gs>
                <a:gs pos="87000">
                  <a:schemeClr val="bg1">
                    <a:alpha val="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pic>
        <p:nvPicPr>
          <p:cNvPr id="210" name="图片 209" descr="屋顶资源管理"/>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5600" y="186055"/>
            <a:ext cx="549910" cy="549910"/>
          </a:xfrm>
          <a:prstGeom prst="rect">
            <a:avLst/>
          </a:prstGeom>
        </p:spPr>
      </p:pic>
      <p:sp>
        <p:nvSpPr>
          <p:cNvPr id="2" name="标题 2"/>
          <p:cNvSpPr>
            <a:spLocks noGrp="1"/>
          </p:cNvSpPr>
          <p:nvPr/>
        </p:nvSpPr>
        <p:spPr>
          <a:xfrm>
            <a:off x="1105535" y="348298"/>
            <a:ext cx="7352665"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多层平台架构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sz="2500" dirty="0">
                <a:solidFill>
                  <a:schemeClr val="tx2"/>
                </a:solidFill>
                <a:effectLst/>
                <a:latin typeface="微软雅黑" panose="020B0503020204020204" charset="-122"/>
                <a:ea typeface="微软雅黑" panose="020B0503020204020204" charset="-122"/>
                <a:cs typeface="微软雅黑" panose="020B0503020204020204" charset="-122"/>
              </a:rPr>
              <a:t>2026</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年度工作规划图</a:t>
            </a:r>
            <a:endParaRPr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nvGrpSpPr>
          <p:cNvPr id="3" name="组合 2"/>
          <p:cNvGrpSpPr/>
          <p:nvPr/>
        </p:nvGrpSpPr>
        <p:grpSpPr>
          <a:xfrm>
            <a:off x="8738235" y="348615"/>
            <a:ext cx="3219450" cy="332740"/>
            <a:chOff x="13761" y="549"/>
            <a:chExt cx="5070" cy="524"/>
          </a:xfrm>
        </p:grpSpPr>
        <p:pic>
          <p:nvPicPr>
            <p:cNvPr id="6" name="图片 5"/>
            <p:cNvPicPr>
              <a:picLocks noChangeAspect="1"/>
            </p:cNvPicPr>
            <p:nvPr userDrawn="1"/>
          </p:nvPicPr>
          <p:blipFill>
            <a:blip r:embed="rId4"/>
            <a:srcRect l="17002" t="-1765" r="56499" b="-1176"/>
            <a:stretch>
              <a:fillRect/>
            </a:stretch>
          </p:blipFill>
          <p:spPr>
            <a:xfrm>
              <a:off x="13761" y="549"/>
              <a:ext cx="1582" cy="525"/>
            </a:xfrm>
            <a:prstGeom prst="rect">
              <a:avLst/>
            </a:prstGeom>
          </p:spPr>
        </p:pic>
        <p:sp>
          <p:nvSpPr>
            <p:cNvPr id="12" name="文本框 11"/>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grpSp>
        <p:nvGrpSpPr>
          <p:cNvPr id="92" name="组合 91"/>
          <p:cNvGrpSpPr/>
          <p:nvPr/>
        </p:nvGrpSpPr>
        <p:grpSpPr>
          <a:xfrm>
            <a:off x="5036820" y="3340100"/>
            <a:ext cx="2378710" cy="458470"/>
            <a:chOff x="7922" y="4936"/>
            <a:chExt cx="3746" cy="722"/>
          </a:xfrm>
        </p:grpSpPr>
        <p:sp>
          <p:nvSpPr>
            <p:cNvPr id="8" name="椭圆 7"/>
            <p:cNvSpPr/>
            <p:nvPr>
              <p:custDataLst>
                <p:tags r:id="rId5"/>
              </p:custDataLst>
            </p:nvPr>
          </p:nvSpPr>
          <p:spPr>
            <a:xfrm>
              <a:off x="7922" y="4936"/>
              <a:ext cx="3747" cy="722"/>
            </a:xfrm>
            <a:prstGeom prst="ellipse">
              <a:avLst/>
            </a:prstGeom>
            <a:gradFill>
              <a:gsLst>
                <a:gs pos="100000">
                  <a:schemeClr val="accent1">
                    <a:lumMod val="60000"/>
                    <a:lumOff val="40000"/>
                  </a:schemeClr>
                </a:gs>
                <a:gs pos="0">
                  <a:schemeClr val="accent1">
                    <a:lumMod val="20000"/>
                    <a:lumOff val="80000"/>
                    <a:alpha val="0"/>
                  </a:schemeClr>
                </a:gs>
              </a:gsLst>
              <a:lin ang="54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solidFill>
                  <a:schemeClr val="tx1">
                    <a:lumMod val="75000"/>
                  </a:schemeClr>
                </a:solidFill>
                <a:latin typeface="+mj-lt"/>
                <a:ea typeface="+mj-lt"/>
                <a:cs typeface="微软雅黑" panose="020B0503020204020204" charset="-122"/>
                <a:sym typeface="+mn-ea"/>
              </a:endParaRPr>
            </a:p>
          </p:txBody>
        </p:sp>
        <p:sp>
          <p:nvSpPr>
            <p:cNvPr id="23" name="椭圆 22"/>
            <p:cNvSpPr/>
            <p:nvPr>
              <p:custDataLst>
                <p:tags r:id="rId6"/>
              </p:custDataLst>
            </p:nvPr>
          </p:nvSpPr>
          <p:spPr>
            <a:xfrm>
              <a:off x="8709" y="5072"/>
              <a:ext cx="2173" cy="323"/>
            </a:xfrm>
            <a:prstGeom prst="ellipse">
              <a:avLst/>
            </a:prstGeom>
            <a:solidFill>
              <a:schemeClr val="bg1"/>
            </a:solidFill>
            <a:ln w="190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solidFill>
                  <a:schemeClr val="tx1">
                    <a:lumMod val="75000"/>
                  </a:schemeClr>
                </a:solidFill>
                <a:latin typeface="+mj-lt"/>
                <a:ea typeface="+mj-lt"/>
                <a:cs typeface="微软雅黑" panose="020B0503020204020204" charset="-122"/>
                <a:sym typeface="+mn-ea"/>
              </a:endParaRPr>
            </a:p>
          </p:txBody>
        </p:sp>
      </p:grpSp>
      <p:grpSp>
        <p:nvGrpSpPr>
          <p:cNvPr id="10" name="组合 9"/>
          <p:cNvGrpSpPr/>
          <p:nvPr/>
        </p:nvGrpSpPr>
        <p:grpSpPr>
          <a:xfrm rot="0">
            <a:off x="4451668" y="4342765"/>
            <a:ext cx="3495040" cy="673053"/>
            <a:chOff x="6716" y="3529"/>
            <a:chExt cx="5944" cy="1145"/>
          </a:xfrm>
        </p:grpSpPr>
        <p:sp>
          <p:nvSpPr>
            <p:cNvPr id="11" name="椭圆 10"/>
            <p:cNvSpPr/>
            <p:nvPr>
              <p:custDataLst>
                <p:tags r:id="rId7"/>
              </p:custDataLst>
            </p:nvPr>
          </p:nvSpPr>
          <p:spPr>
            <a:xfrm>
              <a:off x="6716" y="3529"/>
              <a:ext cx="5944" cy="1145"/>
            </a:xfrm>
            <a:prstGeom prst="ellipse">
              <a:avLst/>
            </a:prstGeom>
            <a:gradFill>
              <a:gsLst>
                <a:gs pos="100000">
                  <a:schemeClr val="accent1">
                    <a:lumMod val="60000"/>
                    <a:lumOff val="40000"/>
                  </a:schemeClr>
                </a:gs>
                <a:gs pos="0">
                  <a:schemeClr val="accent1">
                    <a:lumMod val="20000"/>
                    <a:lumOff val="80000"/>
                    <a:alpha val="0"/>
                  </a:schemeClr>
                </a:gs>
              </a:gsLst>
              <a:lin ang="54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solidFill>
                  <a:schemeClr val="tx1">
                    <a:lumMod val="75000"/>
                  </a:schemeClr>
                </a:solidFill>
                <a:latin typeface="+mj-lt"/>
                <a:ea typeface="+mj-lt"/>
                <a:cs typeface="微软雅黑" panose="020B0503020204020204" charset="-122"/>
                <a:sym typeface="+mn-ea"/>
              </a:endParaRPr>
            </a:p>
          </p:txBody>
        </p:sp>
        <p:sp>
          <p:nvSpPr>
            <p:cNvPr id="13" name="椭圆 12"/>
            <p:cNvSpPr/>
            <p:nvPr>
              <p:custDataLst>
                <p:tags r:id="rId8"/>
              </p:custDataLst>
            </p:nvPr>
          </p:nvSpPr>
          <p:spPr>
            <a:xfrm>
              <a:off x="8114" y="3754"/>
              <a:ext cx="3149" cy="556"/>
            </a:xfrm>
            <a:prstGeom prst="ellipse">
              <a:avLst/>
            </a:prstGeom>
            <a:solidFill>
              <a:schemeClr val="bg1"/>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solidFill>
                  <a:schemeClr val="tx1">
                    <a:lumMod val="75000"/>
                  </a:schemeClr>
                </a:solidFill>
                <a:latin typeface="+mj-lt"/>
                <a:ea typeface="+mj-lt"/>
                <a:cs typeface="微软雅黑" panose="020B0503020204020204" charset="-122"/>
                <a:sym typeface="+mn-ea"/>
              </a:endParaRPr>
            </a:p>
          </p:txBody>
        </p:sp>
      </p:grpSp>
      <p:sp>
        <p:nvSpPr>
          <p:cNvPr id="55" name="任意多边形: 形状 11"/>
          <p:cNvSpPr/>
          <p:nvPr/>
        </p:nvSpPr>
        <p:spPr>
          <a:xfrm>
            <a:off x="3792221" y="5133975"/>
            <a:ext cx="4855845" cy="1208405"/>
          </a:xfrm>
          <a:custGeom>
            <a:avLst/>
            <a:gdLst>
              <a:gd name="connsiteX0" fmla="*/ 4515549 w 5473700"/>
              <a:gd name="connsiteY0" fmla="*/ 1112031 h 1263650"/>
              <a:gd name="connsiteX1" fmla="*/ 5473700 w 5473700"/>
              <a:gd name="connsiteY1" fmla="*/ 631825 h 1263650"/>
              <a:gd name="connsiteX2" fmla="*/ 2736850 w 5473700"/>
              <a:gd name="connsiteY2" fmla="*/ 0 h 1263650"/>
              <a:gd name="connsiteX3" fmla="*/ 0 w 5473700"/>
              <a:gd name="connsiteY3" fmla="*/ 631825 h 1263650"/>
              <a:gd name="connsiteX4" fmla="*/ 978389 w 5473700"/>
              <a:gd name="connsiteY4" fmla="*/ 1115994 h 1263650"/>
              <a:gd name="connsiteX5" fmla="*/ 1410094 w 5473700"/>
              <a:gd name="connsiteY5" fmla="*/ 680561 h 1263650"/>
              <a:gd name="connsiteX6" fmla="*/ 1066800 w 5473700"/>
              <a:gd name="connsiteY6" fmla="*/ 485775 h 1263650"/>
              <a:gd name="connsiteX7" fmla="*/ 2736850 w 5473700"/>
              <a:gd name="connsiteY7" fmla="*/ 165100 h 1263650"/>
              <a:gd name="connsiteX8" fmla="*/ 4406900 w 5473700"/>
              <a:gd name="connsiteY8" fmla="*/ 485775 h 1263650"/>
              <a:gd name="connsiteX9" fmla="*/ 4082923 w 5473700"/>
              <a:gd name="connsiteY9" fmla="*/ 675621 h 1263650"/>
              <a:gd name="connsiteX10" fmla="*/ 4515549 w 5473700"/>
              <a:gd name="connsiteY10" fmla="*/ 1112031 h 1263650"/>
              <a:gd name="connsiteX11" fmla="*/ 4402456 w 5473700"/>
              <a:gd name="connsiteY11" fmla="*/ 1133215 h 1263650"/>
              <a:gd name="connsiteX12" fmla="*/ 3974084 w 5473700"/>
              <a:gd name="connsiteY12" fmla="*/ 701167 h 1263650"/>
              <a:gd name="connsiteX13" fmla="*/ 2736850 w 5473700"/>
              <a:gd name="connsiteY13" fmla="*/ 806450 h 1263650"/>
              <a:gd name="connsiteX14" fmla="*/ 1519657 w 5473700"/>
              <a:gd name="connsiteY14" fmla="*/ 705339 h 1263650"/>
              <a:gd name="connsiteX15" fmla="*/ 1091864 w 5473700"/>
              <a:gd name="connsiteY15" fmla="*/ 1136834 h 1263650"/>
              <a:gd name="connsiteX16" fmla="*/ 2736850 w 5473700"/>
              <a:gd name="connsiteY16" fmla="*/ 1263650 h 1263650"/>
              <a:gd name="connsiteX17" fmla="*/ 4402456 w 5473700"/>
              <a:gd name="connsiteY17" fmla="*/ 1133215 h 1263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473700" h="1263650">
                <a:moveTo>
                  <a:pt x="4515549" y="1112031"/>
                </a:moveTo>
                <a:cubicBezTo>
                  <a:pt x="5102035" y="996150"/>
                  <a:pt x="5473700" y="824008"/>
                  <a:pt x="5473700" y="631825"/>
                </a:cubicBezTo>
                <a:cubicBezTo>
                  <a:pt x="5473700" y="282880"/>
                  <a:pt x="4248341" y="0"/>
                  <a:pt x="2736850" y="0"/>
                </a:cubicBezTo>
                <a:cubicBezTo>
                  <a:pt x="1225328" y="0"/>
                  <a:pt x="0" y="282880"/>
                  <a:pt x="0" y="631825"/>
                </a:cubicBezTo>
                <a:cubicBezTo>
                  <a:pt x="0" y="826211"/>
                  <a:pt x="380244" y="1000093"/>
                  <a:pt x="978389" y="1115994"/>
                </a:cubicBezTo>
                <a:lnTo>
                  <a:pt x="1410094" y="680561"/>
                </a:lnTo>
                <a:cubicBezTo>
                  <a:pt x="1194753" y="626567"/>
                  <a:pt x="1066800" y="559041"/>
                  <a:pt x="1066800" y="485775"/>
                </a:cubicBezTo>
                <a:cubicBezTo>
                  <a:pt x="1066800" y="308673"/>
                  <a:pt x="1814506" y="165100"/>
                  <a:pt x="2736850" y="165100"/>
                </a:cubicBezTo>
                <a:cubicBezTo>
                  <a:pt x="3659188" y="165100"/>
                  <a:pt x="4406900" y="308673"/>
                  <a:pt x="4406900" y="485775"/>
                </a:cubicBezTo>
                <a:cubicBezTo>
                  <a:pt x="4406900" y="556825"/>
                  <a:pt x="4286568" y="622471"/>
                  <a:pt x="4082923" y="675621"/>
                </a:cubicBezTo>
                <a:lnTo>
                  <a:pt x="4515549" y="1112031"/>
                </a:lnTo>
                <a:close/>
                <a:moveTo>
                  <a:pt x="4402456" y="1133215"/>
                </a:moveTo>
                <a:lnTo>
                  <a:pt x="3974084" y="701167"/>
                </a:lnTo>
                <a:cubicBezTo>
                  <a:pt x="3668586" y="765835"/>
                  <a:pt x="3227388" y="806450"/>
                  <a:pt x="2736850" y="806450"/>
                </a:cubicBezTo>
                <a:cubicBezTo>
                  <a:pt x="2256930" y="806450"/>
                  <a:pt x="1824285" y="767582"/>
                  <a:pt x="1519657" y="705339"/>
                </a:cubicBezTo>
                <a:lnTo>
                  <a:pt x="1091864" y="1136834"/>
                </a:lnTo>
                <a:cubicBezTo>
                  <a:pt x="1549768" y="1216451"/>
                  <a:pt x="2119433" y="1263650"/>
                  <a:pt x="2736850" y="1263650"/>
                </a:cubicBezTo>
                <a:cubicBezTo>
                  <a:pt x="3363595" y="1263650"/>
                  <a:pt x="3941064" y="1215022"/>
                  <a:pt x="4402456" y="1133215"/>
                </a:cubicBezTo>
                <a:close/>
              </a:path>
            </a:pathLst>
          </a:custGeom>
          <a:gradFill>
            <a:gsLst>
              <a:gs pos="15000">
                <a:schemeClr val="accent1">
                  <a:lumMod val="20000"/>
                  <a:lumOff val="80000"/>
                  <a:alpha val="0"/>
                </a:schemeClr>
              </a:gs>
              <a:gs pos="61000">
                <a:schemeClr val="accent1">
                  <a:lumMod val="60000"/>
                  <a:lumOff val="40000"/>
                  <a:alpha val="51450"/>
                </a:schemeClr>
              </a:gs>
              <a:gs pos="93000">
                <a:schemeClr val="accent1"/>
              </a:gs>
            </a:gsLst>
            <a:lin ang="5135760" scaled="1"/>
          </a:gradFill>
          <a:ln w="12700" cap="flat">
            <a:noFill/>
            <a:prstDash val="solid"/>
            <a:miter/>
          </a:ln>
          <a:effectLst>
            <a:outerShdw blurRad="152400" dist="88900" dir="5400000" algn="t" rotWithShape="0">
              <a:schemeClr val="accent1">
                <a:alpha val="2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D0D0D"/>
              </a:solidFill>
              <a:effectLst/>
              <a:uLnTx/>
              <a:uFillTx/>
              <a:latin typeface="微软雅黑" panose="020B0503020204020204" charset="-122"/>
              <a:ea typeface="+mn-ea"/>
              <a:cs typeface="微软雅黑" panose="020B0503020204020204" charset="-122"/>
            </a:endParaRPr>
          </a:p>
        </p:txBody>
      </p:sp>
      <p:sp>
        <p:nvSpPr>
          <p:cNvPr id="14" name="任意多边形 13"/>
          <p:cNvSpPr/>
          <p:nvPr/>
        </p:nvSpPr>
        <p:spPr>
          <a:xfrm>
            <a:off x="3181350" y="2010410"/>
            <a:ext cx="6078220" cy="4233545"/>
          </a:xfrm>
          <a:custGeom>
            <a:avLst/>
            <a:gdLst>
              <a:gd name="connsiteX0" fmla="*/ 0 w 5971"/>
              <a:gd name="connsiteY0" fmla="*/ 2813 h 2885"/>
              <a:gd name="connsiteX1" fmla="*/ 2952 w 5971"/>
              <a:gd name="connsiteY1" fmla="*/ 0 h 2885"/>
              <a:gd name="connsiteX2" fmla="*/ 5971 w 5971"/>
              <a:gd name="connsiteY2" fmla="*/ 2885 h 2885"/>
              <a:gd name="connsiteX3" fmla="*/ 0 w 5971"/>
              <a:gd name="connsiteY3" fmla="*/ 2813 h 2885"/>
            </a:gdLst>
            <a:ahLst/>
            <a:cxnLst>
              <a:cxn ang="0">
                <a:pos x="connsiteX0" y="connsiteY0"/>
              </a:cxn>
              <a:cxn ang="0">
                <a:pos x="connsiteX1" y="connsiteY1"/>
              </a:cxn>
              <a:cxn ang="0">
                <a:pos x="connsiteX2" y="connsiteY2"/>
              </a:cxn>
              <a:cxn ang="0">
                <a:pos x="connsiteX3" y="connsiteY3"/>
              </a:cxn>
            </a:cxnLst>
            <a:rect l="l" t="t" r="r" b="b"/>
            <a:pathLst>
              <a:path w="5982" h="3871">
                <a:moveTo>
                  <a:pt x="2931" y="0"/>
                </a:moveTo>
                <a:lnTo>
                  <a:pt x="3672" y="855"/>
                </a:lnTo>
                <a:lnTo>
                  <a:pt x="3301" y="855"/>
                </a:lnTo>
                <a:cubicBezTo>
                  <a:pt x="3341" y="1209"/>
                  <a:pt x="3459" y="2028"/>
                  <a:pt x="3617" y="2330"/>
                </a:cubicBezTo>
                <a:lnTo>
                  <a:pt x="3623" y="2340"/>
                </a:lnTo>
                <a:lnTo>
                  <a:pt x="3639" y="2364"/>
                </a:lnTo>
                <a:lnTo>
                  <a:pt x="3671" y="2410"/>
                </a:lnTo>
                <a:lnTo>
                  <a:pt x="3677" y="2416"/>
                </a:lnTo>
                <a:lnTo>
                  <a:pt x="3675" y="2416"/>
                </a:lnTo>
                <a:lnTo>
                  <a:pt x="3678" y="2420"/>
                </a:lnTo>
                <a:cubicBezTo>
                  <a:pt x="4239" y="3205"/>
                  <a:pt x="4999" y="3725"/>
                  <a:pt x="5982" y="3871"/>
                </a:cubicBezTo>
                <a:lnTo>
                  <a:pt x="0" y="3799"/>
                </a:lnTo>
                <a:cubicBezTo>
                  <a:pt x="1023" y="3622"/>
                  <a:pt x="1657" y="3265"/>
                  <a:pt x="2198" y="2478"/>
                </a:cubicBezTo>
                <a:lnTo>
                  <a:pt x="2225" y="2437"/>
                </a:lnTo>
                <a:lnTo>
                  <a:pt x="2222" y="2437"/>
                </a:lnTo>
                <a:cubicBezTo>
                  <a:pt x="2424" y="2177"/>
                  <a:pt x="2565" y="1297"/>
                  <a:pt x="2559" y="855"/>
                </a:cubicBezTo>
                <a:lnTo>
                  <a:pt x="2188" y="855"/>
                </a:lnTo>
                <a:lnTo>
                  <a:pt x="2931" y="0"/>
                </a:lnTo>
                <a:close/>
              </a:path>
            </a:pathLst>
          </a:custGeom>
          <a:gradFill>
            <a:gsLst>
              <a:gs pos="19000">
                <a:schemeClr val="accent5">
                  <a:lumMod val="60000"/>
                  <a:lumOff val="40000"/>
                </a:schemeClr>
              </a:gs>
              <a:gs pos="42000">
                <a:schemeClr val="accent1">
                  <a:lumMod val="60000"/>
                  <a:lumOff val="40000"/>
                  <a:alpha val="80000"/>
                </a:schemeClr>
              </a:gs>
              <a:gs pos="87000">
                <a:schemeClr val="accent1">
                  <a:lumMod val="60000"/>
                  <a:lumOff val="40000"/>
                  <a:alpha val="0"/>
                </a:schemeClr>
              </a:gs>
            </a:gsLst>
            <a:lin ang="5400000" scaled="0"/>
          </a:gradFill>
          <a:ln w="9491" cap="flat">
            <a:noFill/>
            <a:prstDash val="solid"/>
            <a:miter/>
          </a:ln>
        </p:spPr>
        <p:txBody>
          <a:bodyPr vert="horz" wrap="square" numCol="1" spcCol="0" rtlCol="0" fromWordArt="0" anchor="ctr" anchorCtr="0" forceAA="0" compatLnSpc="0">
            <a:noAutofit/>
          </a:bodyPr>
          <a:lstStyle/>
          <a:p>
            <a:pPr lvl="0" algn="l">
              <a:spcBef>
                <a:spcPts val="0"/>
              </a:spcBef>
              <a:spcAft>
                <a:spcPts val="0"/>
              </a:spcAft>
              <a:buClrTx/>
              <a:buSzTx/>
              <a:buFontTx/>
              <a:defRPr/>
            </a:pPr>
            <a:endParaRPr lang="zh-CN" altLang="en-US" noProof="0">
              <a:ln>
                <a:noFill/>
              </a:ln>
              <a:solidFill>
                <a:srgbClr val="0D0D0D"/>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nvGrpSpPr>
          <p:cNvPr id="22" name="组合 21"/>
          <p:cNvGrpSpPr/>
          <p:nvPr/>
        </p:nvGrpSpPr>
        <p:grpSpPr>
          <a:xfrm>
            <a:off x="4872355" y="986790"/>
            <a:ext cx="2686050" cy="878840"/>
            <a:chOff x="7817" y="1494"/>
            <a:chExt cx="4230" cy="1384"/>
          </a:xfrm>
        </p:grpSpPr>
        <p:sp>
          <p:nvSpPr>
            <p:cNvPr id="17" name="文本框 16"/>
            <p:cNvSpPr txBox="1"/>
            <p:nvPr/>
          </p:nvSpPr>
          <p:spPr>
            <a:xfrm>
              <a:off x="7817" y="1494"/>
              <a:ext cx="4230" cy="628"/>
            </a:xfrm>
            <a:prstGeom prst="rect">
              <a:avLst/>
            </a:prstGeom>
            <a:noFill/>
          </p:spPr>
          <p:txBody>
            <a:bodyPr wrap="square">
              <a:spAutoFit/>
            </a:bodyPr>
            <a:lstStyle/>
            <a:p>
              <a:pPr algn="ctr">
                <a:lnSpc>
                  <a:spcPct val="125000"/>
                </a:lnSpc>
              </a:pPr>
              <a:r>
                <a:rPr lang="en-US" altLang="zh-CN" sz="1600" b="1" dirty="0">
                  <a:solidFill>
                    <a:schemeClr val="tx2"/>
                  </a:solidFill>
                  <a:latin typeface="微软雅黑" panose="020B0503020204020204" charset="-122"/>
                  <a:ea typeface="微软雅黑" panose="020B0503020204020204" charset="-122"/>
                  <a:cs typeface="微软雅黑" panose="020B0503020204020204" charset="-122"/>
                </a:rPr>
                <a:t>2026</a:t>
              </a:r>
              <a:r>
                <a:rPr lang="zh-CN" altLang="en-US" sz="1600" b="1" dirty="0">
                  <a:solidFill>
                    <a:schemeClr val="tx2"/>
                  </a:solidFill>
                  <a:latin typeface="微软雅黑" panose="020B0503020204020204" charset="-122"/>
                  <a:ea typeface="微软雅黑" panose="020B0503020204020204" charset="-122"/>
                  <a:cs typeface="微软雅黑" panose="020B0503020204020204" charset="-122"/>
                </a:rPr>
                <a:t>年业绩目标</a:t>
              </a: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 name="文本框 17"/>
            <p:cNvSpPr txBox="1"/>
            <p:nvPr/>
          </p:nvSpPr>
          <p:spPr>
            <a:xfrm>
              <a:off x="8753" y="1826"/>
              <a:ext cx="2359" cy="1052"/>
            </a:xfrm>
            <a:prstGeom prst="rect">
              <a:avLst/>
            </a:prstGeom>
            <a:noFill/>
          </p:spPr>
          <p:txBody>
            <a:bodyPr wrap="square">
              <a:spAutoFit/>
            </a:bodyPr>
            <a:lstStyle/>
            <a:p>
              <a:pPr algn="ctr">
                <a:lnSpc>
                  <a:spcPct val="125000"/>
                </a:lnSpc>
              </a:pPr>
              <a:r>
                <a:rPr lang="en-US" sz="3000" b="1" dirty="0">
                  <a:solidFill>
                    <a:schemeClr val="accent5"/>
                  </a:solidFill>
                  <a:latin typeface="微软雅黑" panose="020B0503020204020204" charset="-122"/>
                  <a:ea typeface="微软雅黑" panose="020B0503020204020204" charset="-122"/>
                  <a:cs typeface="微软雅黑" panose="020B0503020204020204" charset="-122"/>
                </a:rPr>
                <a:t>100</a:t>
              </a:r>
              <a:r>
                <a:rPr lang="zh-CN" altLang="en-US" sz="3000" b="1" dirty="0">
                  <a:solidFill>
                    <a:schemeClr val="accent5"/>
                  </a:solidFill>
                  <a:latin typeface="微软雅黑" panose="020B0503020204020204" charset="-122"/>
                  <a:ea typeface="微软雅黑" panose="020B0503020204020204" charset="-122"/>
                  <a:cs typeface="微软雅黑" panose="020B0503020204020204" charset="-122"/>
                </a:rPr>
                <a:t>亿</a:t>
              </a:r>
              <a:endParaRPr lang="zh-CN" altLang="en-US" sz="3000" b="1" dirty="0">
                <a:solidFill>
                  <a:schemeClr val="accent5"/>
                </a:solidFill>
                <a:latin typeface="微软雅黑" panose="020B0503020204020204" charset="-122"/>
                <a:ea typeface="微软雅黑" panose="020B0503020204020204" charset="-122"/>
                <a:cs typeface="微软雅黑" panose="020B0503020204020204" charset="-122"/>
              </a:endParaRPr>
            </a:p>
          </p:txBody>
        </p:sp>
      </p:grpSp>
      <p:sp>
        <p:nvSpPr>
          <p:cNvPr id="20" name="圆角矩形 19"/>
          <p:cNvSpPr/>
          <p:nvPr/>
        </p:nvSpPr>
        <p:spPr>
          <a:xfrm>
            <a:off x="355600" y="2437765"/>
            <a:ext cx="3274060" cy="426720"/>
          </a:xfrm>
          <a:prstGeom prst="roundRect">
            <a:avLst>
              <a:gd name="adj" fmla="val 50000"/>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600" b="1">
                <a:cs typeface="微软雅黑" panose="020B0503020204020204" charset="-122"/>
                <a:sym typeface="+mn-ea"/>
              </a:rPr>
              <a:t>核心实施举措：市场增长引擎</a:t>
            </a:r>
            <a:endParaRPr lang="zh-CN" altLang="en-US" sz="1600" b="1">
              <a:cs typeface="微软雅黑" panose="020B0503020204020204" charset="-122"/>
              <a:sym typeface="+mn-ea"/>
            </a:endParaRPr>
          </a:p>
        </p:txBody>
      </p:sp>
      <p:sp>
        <p:nvSpPr>
          <p:cNvPr id="21" name="圆角矩形 20"/>
          <p:cNvSpPr/>
          <p:nvPr/>
        </p:nvSpPr>
        <p:spPr>
          <a:xfrm>
            <a:off x="371475" y="4472305"/>
            <a:ext cx="3352165" cy="426720"/>
          </a:xfrm>
          <a:prstGeom prst="roundRect">
            <a:avLst>
              <a:gd name="adj" fmla="val 50000"/>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600" b="1">
                <a:cs typeface="微软雅黑" panose="020B0503020204020204" charset="-122"/>
                <a:sym typeface="+mn-ea"/>
              </a:rPr>
              <a:t>关键战略部署：内部生产保障</a:t>
            </a:r>
            <a:endParaRPr lang="zh-CN" altLang="en-US" sz="1600" b="1">
              <a:cs typeface="微软雅黑" panose="020B0503020204020204" charset="-122"/>
              <a:sym typeface="+mn-ea"/>
            </a:endParaRPr>
          </a:p>
        </p:txBody>
      </p:sp>
      <p:cxnSp>
        <p:nvCxnSpPr>
          <p:cNvPr id="24" name="直接箭头连接符 23"/>
          <p:cNvCxnSpPr/>
          <p:nvPr/>
        </p:nvCxnSpPr>
        <p:spPr>
          <a:xfrm flipH="1">
            <a:off x="3878580" y="1580515"/>
            <a:ext cx="1371600" cy="0"/>
          </a:xfrm>
          <a:prstGeom prst="straightConnector1">
            <a:avLst/>
          </a:prstGeom>
          <a:ln>
            <a:gradFill>
              <a:gsLst>
                <a:gs pos="28000">
                  <a:schemeClr val="accent5"/>
                </a:gs>
                <a:gs pos="100000">
                  <a:schemeClr val="accent5">
                    <a:alpha val="0"/>
                  </a:schemeClr>
                </a:gs>
              </a:gsLst>
              <a:lin ang="10800000" scaled="1"/>
            </a:gradFill>
            <a:tailEnd type="oval"/>
          </a:ln>
        </p:spPr>
        <p:style>
          <a:lnRef idx="2">
            <a:schemeClr val="accent1"/>
          </a:lnRef>
          <a:fillRef idx="0">
            <a:srgbClr val="FFFFFF"/>
          </a:fillRef>
          <a:effectRef idx="0">
            <a:srgbClr val="FFFFFF"/>
          </a:effectRef>
          <a:fontRef idx="minor">
            <a:schemeClr val="tx1"/>
          </a:fontRef>
        </p:style>
      </p:cxnSp>
      <p:cxnSp>
        <p:nvCxnSpPr>
          <p:cNvPr id="25" name="直接箭头连接符 24"/>
          <p:cNvCxnSpPr/>
          <p:nvPr/>
        </p:nvCxnSpPr>
        <p:spPr>
          <a:xfrm>
            <a:off x="7024370" y="1580515"/>
            <a:ext cx="1371600" cy="0"/>
          </a:xfrm>
          <a:prstGeom prst="straightConnector1">
            <a:avLst/>
          </a:prstGeom>
          <a:ln>
            <a:gradFill>
              <a:gsLst>
                <a:gs pos="28000">
                  <a:schemeClr val="accent5"/>
                </a:gs>
                <a:gs pos="100000">
                  <a:schemeClr val="accent5">
                    <a:alpha val="0"/>
                  </a:schemeClr>
                </a:gs>
              </a:gsLst>
              <a:lin ang="10800000" scaled="1"/>
            </a:gradFill>
            <a:tailEnd type="oval"/>
          </a:ln>
        </p:spPr>
        <p:style>
          <a:lnRef idx="2">
            <a:schemeClr val="accent1"/>
          </a:lnRef>
          <a:fillRef idx="0">
            <a:srgbClr val="FFFFFF"/>
          </a:fillRef>
          <a:effectRef idx="0">
            <a:srgbClr val="FFFFFF"/>
          </a:effectRef>
          <a:fontRef idx="minor">
            <a:schemeClr val="tx1"/>
          </a:fontRef>
        </p:style>
      </p:cxnSp>
      <p:sp>
        <p:nvSpPr>
          <p:cNvPr id="38" name="圆角矩形 37"/>
          <p:cNvSpPr/>
          <p:nvPr/>
        </p:nvSpPr>
        <p:spPr>
          <a:xfrm>
            <a:off x="8606790" y="2445385"/>
            <a:ext cx="3270250" cy="426720"/>
          </a:xfrm>
          <a:prstGeom prst="roundRect">
            <a:avLst>
              <a:gd name="adj" fmla="val 50000"/>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600" b="1">
                <a:cs typeface="微软雅黑" panose="020B0503020204020204" charset="-122"/>
                <a:sym typeface="+mn-ea"/>
              </a:rPr>
              <a:t>核心实施举措：运营保障基石</a:t>
            </a:r>
            <a:endParaRPr lang="zh-CN" altLang="en-US" sz="1600" b="1">
              <a:cs typeface="微软雅黑" panose="020B0503020204020204" charset="-122"/>
              <a:sym typeface="+mn-ea"/>
            </a:endParaRPr>
          </a:p>
        </p:txBody>
      </p:sp>
      <p:cxnSp>
        <p:nvCxnSpPr>
          <p:cNvPr id="39" name="直接箭头连接符 38"/>
          <p:cNvCxnSpPr/>
          <p:nvPr/>
        </p:nvCxnSpPr>
        <p:spPr>
          <a:xfrm flipH="1">
            <a:off x="3792220" y="3545840"/>
            <a:ext cx="1142365" cy="0"/>
          </a:xfrm>
          <a:prstGeom prst="straightConnector1">
            <a:avLst/>
          </a:prstGeom>
          <a:ln>
            <a:gradFill>
              <a:gsLst>
                <a:gs pos="28000">
                  <a:schemeClr val="accent1">
                    <a:lumMod val="60000"/>
                    <a:lumOff val="40000"/>
                  </a:schemeClr>
                </a:gs>
                <a:gs pos="100000">
                  <a:schemeClr val="accent1">
                    <a:lumMod val="60000"/>
                    <a:lumOff val="40000"/>
                    <a:alpha val="0"/>
                  </a:schemeClr>
                </a:gs>
              </a:gsLst>
              <a:lin ang="10800000" scaled="1"/>
            </a:gradFill>
            <a:tailEnd type="oval"/>
          </a:ln>
        </p:spPr>
        <p:style>
          <a:lnRef idx="2">
            <a:schemeClr val="accent1"/>
          </a:lnRef>
          <a:fillRef idx="0">
            <a:srgbClr val="FFFFFF"/>
          </a:fillRef>
          <a:effectRef idx="0">
            <a:srgbClr val="FFFFFF"/>
          </a:effectRef>
          <a:fontRef idx="minor">
            <a:schemeClr val="tx1"/>
          </a:fontRef>
        </p:style>
      </p:cxnSp>
      <p:cxnSp>
        <p:nvCxnSpPr>
          <p:cNvPr id="49" name="直接箭头连接符 48"/>
          <p:cNvCxnSpPr/>
          <p:nvPr/>
        </p:nvCxnSpPr>
        <p:spPr>
          <a:xfrm>
            <a:off x="7518400" y="3545840"/>
            <a:ext cx="889635" cy="0"/>
          </a:xfrm>
          <a:prstGeom prst="straightConnector1">
            <a:avLst/>
          </a:prstGeom>
          <a:ln>
            <a:gradFill>
              <a:gsLst>
                <a:gs pos="28000">
                  <a:schemeClr val="accent1">
                    <a:lumMod val="60000"/>
                    <a:lumOff val="40000"/>
                  </a:schemeClr>
                </a:gs>
                <a:gs pos="100000">
                  <a:schemeClr val="accent1">
                    <a:lumMod val="60000"/>
                    <a:lumOff val="40000"/>
                    <a:alpha val="0"/>
                  </a:schemeClr>
                </a:gs>
              </a:gsLst>
              <a:lin ang="10800000" scaled="1"/>
            </a:gradFill>
            <a:tailEnd type="oval"/>
          </a:ln>
        </p:spPr>
        <p:style>
          <a:lnRef idx="2">
            <a:schemeClr val="accent1"/>
          </a:lnRef>
          <a:fillRef idx="0">
            <a:srgbClr val="FFFFFF"/>
          </a:fillRef>
          <a:effectRef idx="0">
            <a:srgbClr val="FFFFFF"/>
          </a:effectRef>
          <a:fontRef idx="minor">
            <a:schemeClr val="tx1"/>
          </a:fontRef>
        </p:style>
      </p:cxnSp>
      <p:sp>
        <p:nvSpPr>
          <p:cNvPr id="51" name="圆角矩形 50"/>
          <p:cNvSpPr/>
          <p:nvPr/>
        </p:nvSpPr>
        <p:spPr>
          <a:xfrm>
            <a:off x="8610600" y="4472305"/>
            <a:ext cx="3266440" cy="426720"/>
          </a:xfrm>
          <a:prstGeom prst="roundRect">
            <a:avLst>
              <a:gd name="adj" fmla="val 50000"/>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600" b="1">
                <a:cs typeface="微软雅黑" panose="020B0503020204020204" charset="-122"/>
                <a:sym typeface="+mn-ea"/>
              </a:rPr>
              <a:t>关键战略部署：营销价值传递</a:t>
            </a:r>
            <a:endParaRPr lang="zh-CN" altLang="en-US" sz="1600" b="1">
              <a:cs typeface="微软雅黑" panose="020B0503020204020204" charset="-122"/>
              <a:sym typeface="+mn-ea"/>
            </a:endParaRPr>
          </a:p>
        </p:txBody>
      </p:sp>
      <p:sp>
        <p:nvSpPr>
          <p:cNvPr id="53" name="文本框 52"/>
          <p:cNvSpPr txBox="1"/>
          <p:nvPr/>
        </p:nvSpPr>
        <p:spPr>
          <a:xfrm>
            <a:off x="423545" y="4964430"/>
            <a:ext cx="3180080" cy="1353185"/>
          </a:xfrm>
          <a:prstGeom prst="rect">
            <a:avLst/>
          </a:prstGeom>
          <a:noFill/>
        </p:spPr>
        <p:txBody>
          <a:bodyPr wrap="square">
            <a:spAutoFit/>
          </a:bodyPr>
          <a:lstStyle/>
          <a:p>
            <a:pPr marL="171450" marR="0" lvl="0" indent="-171450" algn="l" defTabSz="914400" rtl="0" fontAlgn="auto">
              <a:lnSpc>
                <a:spcPts val="1640"/>
              </a:lnSpc>
              <a:spcBef>
                <a:spcPts val="0"/>
              </a:spcBef>
              <a:spcAft>
                <a:spcPts val="0"/>
              </a:spcAft>
              <a:buClrTx/>
              <a:buSzTx/>
              <a:buFont typeface="Wingdings" panose="05000000000000000000" charset="0"/>
              <a:buChar char="Ø"/>
              <a:defRPr/>
            </a:pPr>
            <a:r>
              <a:rPr kumimoji="0" lang="zh-CN" altLang="en-US" sz="10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产品管理模块：</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 </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优化产品结构，确保爆品不断货、新品及时上。核心在于产能爬坡、供应链韧性与成本控制，保证</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弹药</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充足</a:t>
            </a:r>
            <a:r>
              <a:rPr kumimoji="0" 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endParaRPr kumimoji="0" 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fontAlgn="auto">
              <a:lnSpc>
                <a:spcPts val="1640"/>
              </a:lnSpc>
              <a:spcBef>
                <a:spcPts val="0"/>
              </a:spcBef>
              <a:spcAft>
                <a:spcPts val="0"/>
              </a:spcAft>
              <a:buClrTx/>
              <a:buSzTx/>
              <a:buFont typeface="Wingdings" panose="05000000000000000000" charset="0"/>
              <a:buChar char="Ø"/>
              <a:defRPr/>
            </a:pPr>
            <a:r>
              <a:rPr kumimoji="0" lang="zh-CN" altLang="en-US" sz="10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市场拓展（供给端）模块：</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 </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基于市场需求预测，倒推生产计划，拓展代工或自建产能，确保供应网络能覆盖全国乃至全球的销售需求。</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8642985" y="4964430"/>
            <a:ext cx="3234055" cy="1353185"/>
          </a:xfrm>
          <a:prstGeom prst="rect">
            <a:avLst/>
          </a:prstGeom>
          <a:noFill/>
        </p:spPr>
        <p:txBody>
          <a:bodyPr wrap="square">
            <a:spAutoFit/>
          </a:bodyPr>
          <a:lstStyle/>
          <a:p>
            <a:pPr marL="171450" marR="0" lvl="0" indent="-171450" algn="l" defTabSz="914400" rtl="0" fontAlgn="auto">
              <a:lnSpc>
                <a:spcPts val="1640"/>
              </a:lnSpc>
              <a:spcBef>
                <a:spcPts val="0"/>
              </a:spcBef>
              <a:spcAft>
                <a:spcPts val="0"/>
              </a:spcAft>
              <a:buClrTx/>
              <a:buSzTx/>
              <a:buFont typeface="Wingdings" panose="05000000000000000000" charset="0"/>
              <a:buChar char="Ø"/>
              <a:defRPr/>
            </a:pPr>
            <a:r>
              <a:rPr kumimoji="0" lang="zh-CN" altLang="en-US" sz="10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产品运营模块：</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 </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精细化运营现有产品生命周期，通过数据分析提升转化率、复购率，最大化单品的生命周期价值。</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fontAlgn="auto">
              <a:lnSpc>
                <a:spcPts val="1640"/>
              </a:lnSpc>
              <a:spcBef>
                <a:spcPts val="0"/>
              </a:spcBef>
              <a:spcAft>
                <a:spcPts val="0"/>
              </a:spcAft>
              <a:buClrTx/>
              <a:buSzTx/>
              <a:buFont typeface="Wingdings" panose="05000000000000000000" charset="0"/>
              <a:buChar char="Ø"/>
              <a:defRPr/>
            </a:pPr>
            <a:r>
              <a:rPr kumimoji="0" lang="zh-CN" altLang="en-US" sz="10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市场拓展（需求端）模块：</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 </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开拓新渠道、新区域（下沉</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出海），制定分渠道、分区域的增长策略，通过品牌营销扩大用户基数，解决</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卖给谁</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的问题。</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7" name="等腰三角形 56"/>
          <p:cNvSpPr/>
          <p:nvPr/>
        </p:nvSpPr>
        <p:spPr>
          <a:xfrm>
            <a:off x="5284470" y="1977390"/>
            <a:ext cx="1739900" cy="1087120"/>
          </a:xfrm>
          <a:prstGeom prst="triangle">
            <a:avLst/>
          </a:prstGeom>
          <a:noFill/>
          <a:ln w="25400">
            <a:gradFill>
              <a:gsLst>
                <a:gs pos="76000">
                  <a:schemeClr val="bg1"/>
                </a:gs>
                <a:gs pos="87000">
                  <a:schemeClr val="bg1">
                    <a:alpha val="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cxnSp>
        <p:nvCxnSpPr>
          <p:cNvPr id="59" name="直接箭头连接符 58"/>
          <p:cNvCxnSpPr/>
          <p:nvPr/>
        </p:nvCxnSpPr>
        <p:spPr>
          <a:xfrm flipH="1">
            <a:off x="3820795" y="4665980"/>
            <a:ext cx="624840" cy="0"/>
          </a:xfrm>
          <a:prstGeom prst="straightConnector1">
            <a:avLst/>
          </a:prstGeom>
          <a:ln>
            <a:gradFill>
              <a:gsLst>
                <a:gs pos="28000">
                  <a:schemeClr val="accent1">
                    <a:lumMod val="60000"/>
                    <a:lumOff val="40000"/>
                  </a:schemeClr>
                </a:gs>
                <a:gs pos="100000">
                  <a:schemeClr val="accent1">
                    <a:lumMod val="60000"/>
                    <a:lumOff val="40000"/>
                    <a:alpha val="0"/>
                  </a:schemeClr>
                </a:gs>
              </a:gsLst>
              <a:lin ang="10800000" scaled="1"/>
            </a:gradFill>
            <a:tailEnd type="oval"/>
          </a:ln>
        </p:spPr>
        <p:style>
          <a:lnRef idx="2">
            <a:schemeClr val="accent1"/>
          </a:lnRef>
          <a:fillRef idx="0">
            <a:srgbClr val="FFFFFF"/>
          </a:fillRef>
          <a:effectRef idx="0">
            <a:srgbClr val="FFFFFF"/>
          </a:effectRef>
          <a:fontRef idx="minor">
            <a:schemeClr val="tx1"/>
          </a:fontRef>
        </p:style>
      </p:cxnSp>
      <p:cxnSp>
        <p:nvCxnSpPr>
          <p:cNvPr id="60" name="直接箭头连接符 59"/>
          <p:cNvCxnSpPr/>
          <p:nvPr/>
        </p:nvCxnSpPr>
        <p:spPr>
          <a:xfrm>
            <a:off x="7955280" y="4665980"/>
            <a:ext cx="492760" cy="0"/>
          </a:xfrm>
          <a:prstGeom prst="straightConnector1">
            <a:avLst/>
          </a:prstGeom>
          <a:ln>
            <a:gradFill>
              <a:gsLst>
                <a:gs pos="28000">
                  <a:schemeClr val="accent1">
                    <a:lumMod val="60000"/>
                    <a:lumOff val="40000"/>
                  </a:schemeClr>
                </a:gs>
                <a:gs pos="100000">
                  <a:schemeClr val="accent1">
                    <a:lumMod val="60000"/>
                    <a:lumOff val="40000"/>
                    <a:alpha val="0"/>
                  </a:schemeClr>
                </a:gs>
              </a:gsLst>
              <a:lin ang="10800000" scaled="1"/>
            </a:gradFill>
            <a:tailEnd type="oval"/>
          </a:ln>
        </p:spPr>
        <p:style>
          <a:lnRef idx="2">
            <a:schemeClr val="accent1"/>
          </a:lnRef>
          <a:fillRef idx="0">
            <a:srgbClr val="FFFFFF"/>
          </a:fillRef>
          <a:effectRef idx="0">
            <a:srgbClr val="FFFFFF"/>
          </a:effectRef>
          <a:fontRef idx="minor">
            <a:schemeClr val="tx1"/>
          </a:fontRef>
        </p:style>
      </p:cxnSp>
      <p:sp>
        <p:nvSpPr>
          <p:cNvPr id="88" name="文本框 87"/>
          <p:cNvSpPr txBox="1"/>
          <p:nvPr/>
        </p:nvSpPr>
        <p:spPr>
          <a:xfrm>
            <a:off x="449580" y="2915920"/>
            <a:ext cx="3180080" cy="1353185"/>
          </a:xfrm>
          <a:prstGeom prst="rect">
            <a:avLst/>
          </a:prstGeom>
          <a:noFill/>
        </p:spPr>
        <p:txBody>
          <a:bodyPr wrap="square">
            <a:spAutoFit/>
          </a:bodyPr>
          <a:lstStyle/>
          <a:p>
            <a:pPr marL="171450" marR="0" lvl="0" indent="-171450" algn="l" defTabSz="914400" rtl="0" fontAlgn="auto">
              <a:lnSpc>
                <a:spcPts val="1640"/>
              </a:lnSpc>
              <a:spcBef>
                <a:spcPts val="0"/>
              </a:spcBef>
              <a:spcAft>
                <a:spcPts val="0"/>
              </a:spcAft>
              <a:buClrTx/>
              <a:buSzTx/>
              <a:buFont typeface="Wingdings" panose="05000000000000000000" charset="0"/>
              <a:buChar char="Ø"/>
              <a:defRPr/>
            </a:pPr>
            <a:r>
              <a:rPr kumimoji="0" lang="zh-CN" altLang="en-US" sz="10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爆品矩阵与新品突围：</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 </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打造</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3-5</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款亿级爆品，构建核心护城河；快速迭代或推出颠覆性新品，抢占增量赛道</a:t>
            </a:r>
            <a:r>
              <a:rPr kumimoji="0" 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endParaRPr kumimoji="0" 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fontAlgn="auto">
              <a:lnSpc>
                <a:spcPts val="1640"/>
              </a:lnSpc>
              <a:spcBef>
                <a:spcPts val="0"/>
              </a:spcBef>
              <a:spcAft>
                <a:spcPts val="0"/>
              </a:spcAft>
              <a:buClrTx/>
              <a:buSzTx/>
              <a:buFont typeface="Wingdings" panose="05000000000000000000" charset="0"/>
              <a:buChar char="Ø"/>
              <a:defRPr/>
            </a:pPr>
            <a:r>
              <a:rPr kumimoji="0" lang="zh-CN" altLang="en-US" sz="10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渠道深耕与全域融合：</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 </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线下精耕存量渠道，提升单店产出；拓展新零售、特通等增量渠道。线上发力直播、私域及内容电商。</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9" name="文本框 88"/>
          <p:cNvSpPr txBox="1"/>
          <p:nvPr/>
        </p:nvSpPr>
        <p:spPr>
          <a:xfrm>
            <a:off x="8609965" y="2923540"/>
            <a:ext cx="3118485" cy="1353185"/>
          </a:xfrm>
          <a:prstGeom prst="rect">
            <a:avLst/>
          </a:prstGeom>
          <a:noFill/>
        </p:spPr>
        <p:txBody>
          <a:bodyPr wrap="square">
            <a:spAutoFit/>
          </a:bodyPr>
          <a:lstStyle/>
          <a:p>
            <a:pPr marL="171450" marR="0" lvl="0" indent="-171450" algn="l" defTabSz="914400" rtl="0" fontAlgn="auto">
              <a:lnSpc>
                <a:spcPts val="1640"/>
              </a:lnSpc>
              <a:spcBef>
                <a:spcPts val="0"/>
              </a:spcBef>
              <a:spcAft>
                <a:spcPts val="0"/>
              </a:spcAft>
              <a:buClrTx/>
              <a:buSzTx/>
              <a:buFont typeface="Wingdings" panose="05000000000000000000" charset="0"/>
              <a:buChar char="Ø"/>
              <a:defRPr/>
            </a:pPr>
            <a:r>
              <a:rPr kumimoji="0" lang="zh-CN" altLang="en-US" sz="10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供应链韧性与成本领先：</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 </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通过集中采购、技术降本，确保规模扩张时毛利率稳定；建立柔性供应链，快速响应市场变化，降低库存风险。</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marR="0" lvl="0" indent="-171450" algn="l" defTabSz="914400" rtl="0" fontAlgn="auto">
              <a:lnSpc>
                <a:spcPts val="1640"/>
              </a:lnSpc>
              <a:spcBef>
                <a:spcPts val="0"/>
              </a:spcBef>
              <a:spcAft>
                <a:spcPts val="0"/>
              </a:spcAft>
              <a:buClrTx/>
              <a:buSzTx/>
              <a:buFont typeface="Wingdings" panose="05000000000000000000" charset="0"/>
              <a:buChar char="Ø"/>
              <a:defRPr/>
            </a:pPr>
            <a:r>
              <a:rPr kumimoji="0" lang="zh-CN" altLang="en-US" sz="1000" b="1"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组织效能与数字化驱动：</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 </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优化激励机制，激活团队战斗力；全面数字化，打通研发到售后数据链，实现精准决策。</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3" name="文本框 92"/>
          <p:cNvSpPr txBox="1"/>
          <p:nvPr/>
        </p:nvSpPr>
        <p:spPr>
          <a:xfrm>
            <a:off x="543560" y="1174750"/>
            <a:ext cx="3180080" cy="932180"/>
          </a:xfrm>
          <a:prstGeom prst="rect">
            <a:avLst/>
          </a:prstGeom>
          <a:noFill/>
        </p:spPr>
        <p:txBody>
          <a:bodyPr wrap="square">
            <a:spAutoFit/>
          </a:bodyPr>
          <a:lstStyle/>
          <a:p>
            <a:pPr marR="0" lvl="0" indent="0" algn="l" defTabSz="914400" rtl="0" fontAlgn="auto">
              <a:lnSpc>
                <a:spcPts val="1640"/>
              </a:lnSpc>
              <a:spcBef>
                <a:spcPts val="0"/>
              </a:spcBef>
              <a:spcAft>
                <a:spcPts val="0"/>
              </a:spcAft>
              <a:buClrTx/>
              <a:buSzTx/>
              <a:buFont typeface="Wingdings" panose="05000000000000000000" charset="0"/>
              <a:buNone/>
              <a:defRPr/>
            </a:pPr>
            <a:r>
              <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规模与利润并重：</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 </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在达成</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100</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亿营收的同时，确保核心业务线的净利润率不低于</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 Z%</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，实现有利润的营收。</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R="0" lvl="0" indent="0" algn="l" defTabSz="914400" rtl="0" fontAlgn="auto">
              <a:lnSpc>
                <a:spcPts val="1640"/>
              </a:lnSpc>
              <a:spcBef>
                <a:spcPts val="0"/>
              </a:spcBef>
              <a:spcAft>
                <a:spcPts val="0"/>
              </a:spcAft>
              <a:buClrTx/>
              <a:buSzTx/>
              <a:buFont typeface="Wingdings" panose="05000000000000000000" charset="0"/>
              <a:buNone/>
              <a:defRPr/>
            </a:pPr>
            <a:r>
              <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通过</a:t>
            </a:r>
            <a:r>
              <a:rPr kumimoji="0" lang="en-US" altLang="zh-CN"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100</a:t>
            </a:r>
            <a:r>
              <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亿的规模，</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在核心品类市占率上提升至行业前</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 N </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名，确立品牌头部地位，形成规模效应壁垒。</a:t>
            </a:r>
            <a:endPar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5" name="文本框 94"/>
          <p:cNvSpPr txBox="1"/>
          <p:nvPr/>
        </p:nvSpPr>
        <p:spPr>
          <a:xfrm>
            <a:off x="8534400" y="1174750"/>
            <a:ext cx="3180080" cy="932180"/>
          </a:xfrm>
          <a:prstGeom prst="rect">
            <a:avLst/>
          </a:prstGeom>
          <a:noFill/>
        </p:spPr>
        <p:txBody>
          <a:bodyPr wrap="square">
            <a:spAutoFit/>
          </a:bodyPr>
          <a:lstStyle/>
          <a:p>
            <a:pPr marR="0" lvl="0" indent="0" algn="l" defTabSz="914400" rtl="0" fontAlgn="auto">
              <a:lnSpc>
                <a:spcPts val="1640"/>
              </a:lnSpc>
              <a:spcBef>
                <a:spcPts val="0"/>
              </a:spcBef>
              <a:spcAft>
                <a:spcPts val="0"/>
              </a:spcAft>
              <a:buClrTx/>
              <a:buSzTx/>
              <a:buFont typeface="Wingdings" panose="05000000000000000000" charset="0"/>
              <a:buNone/>
              <a:defRPr/>
            </a:pPr>
            <a:r>
              <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存量盘活（守）：</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 </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现有业务</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老品贡献</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 60</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亿，通过提升复购和渗透率守住基本盘。</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R="0" lvl="0" indent="0" algn="l" defTabSz="914400" rtl="0" fontAlgn="auto">
              <a:lnSpc>
                <a:spcPts val="1640"/>
              </a:lnSpc>
              <a:spcBef>
                <a:spcPts val="0"/>
              </a:spcBef>
              <a:spcAft>
                <a:spcPts val="0"/>
              </a:spcAft>
              <a:buClrTx/>
              <a:buSzTx/>
              <a:buFont typeface="Wingdings" panose="05000000000000000000" charset="0"/>
              <a:buNone/>
              <a:defRPr/>
            </a:pPr>
            <a:r>
              <a:rPr kumimoji="0" lang="zh-CN" altLang="en-US" sz="1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增量突破（攻）：</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 </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新品</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新渠道</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新市场贡献</a:t>
            </a:r>
            <a:r>
              <a:rPr kumimoji="0" lang="en-US" altLang="zh-CN"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 40</a:t>
            </a: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亿，通过创新和扩张实现跨越式增长。</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6" name="文本框 95"/>
          <p:cNvSpPr txBox="1"/>
          <p:nvPr/>
        </p:nvSpPr>
        <p:spPr>
          <a:xfrm>
            <a:off x="5652770" y="2305685"/>
            <a:ext cx="1044575" cy="490220"/>
          </a:xfrm>
          <a:prstGeom prst="rect">
            <a:avLst/>
          </a:prstGeom>
          <a:noFill/>
        </p:spPr>
        <p:txBody>
          <a:bodyPr wrap="square">
            <a:noAutofit/>
          </a:bodyPr>
          <a:lstStyle/>
          <a:p>
            <a:pPr algn="ctr">
              <a:lnSpc>
                <a:spcPct val="125000"/>
              </a:lnSpc>
            </a:pPr>
            <a:r>
              <a:rPr lang="zh-CN" altLang="en-US" sz="2000" b="1" dirty="0">
                <a:solidFill>
                  <a:schemeClr val="bg1"/>
                </a:solidFill>
                <a:latin typeface="微软雅黑" panose="020B0503020204020204" charset="-122"/>
                <a:ea typeface="微软雅黑" panose="020B0503020204020204" charset="-122"/>
                <a:cs typeface="微软雅黑" panose="020B0503020204020204" charset="-122"/>
              </a:rPr>
              <a:t>目标</a:t>
            </a:r>
            <a:endParaRPr lang="zh-CN" altLang="en-US" sz="20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7" name="文本框 96"/>
          <p:cNvSpPr txBox="1"/>
          <p:nvPr/>
        </p:nvSpPr>
        <p:spPr>
          <a:xfrm>
            <a:off x="5652770" y="3229610"/>
            <a:ext cx="1044575" cy="490220"/>
          </a:xfrm>
          <a:prstGeom prst="rect">
            <a:avLst/>
          </a:prstGeom>
          <a:noFill/>
        </p:spPr>
        <p:txBody>
          <a:bodyPr wrap="square">
            <a:noAutofit/>
          </a:bodyPr>
          <a:lstStyle/>
          <a:p>
            <a:pPr algn="ctr">
              <a:lnSpc>
                <a:spcPct val="125000"/>
              </a:lnSpc>
            </a:pPr>
            <a:r>
              <a:rPr lang="zh-CN" altLang="en-US" sz="2000" b="1" dirty="0">
                <a:solidFill>
                  <a:schemeClr val="bg1"/>
                </a:solidFill>
                <a:latin typeface="微软雅黑" panose="020B0503020204020204" charset="-122"/>
                <a:ea typeface="微软雅黑" panose="020B0503020204020204" charset="-122"/>
                <a:cs typeface="微软雅黑" panose="020B0503020204020204" charset="-122"/>
              </a:rPr>
              <a:t>实施</a:t>
            </a:r>
            <a:endParaRPr lang="zh-CN" altLang="en-US" sz="20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8" name="文本框 97"/>
          <p:cNvSpPr txBox="1"/>
          <p:nvPr/>
        </p:nvSpPr>
        <p:spPr>
          <a:xfrm>
            <a:off x="5644515" y="4262120"/>
            <a:ext cx="1044575" cy="490220"/>
          </a:xfrm>
          <a:prstGeom prst="rect">
            <a:avLst/>
          </a:prstGeom>
          <a:noFill/>
        </p:spPr>
        <p:txBody>
          <a:bodyPr wrap="square">
            <a:noAutofit/>
          </a:bodyPr>
          <a:lstStyle/>
          <a:p>
            <a:pPr algn="ctr">
              <a:lnSpc>
                <a:spcPct val="125000"/>
              </a:lnSpc>
            </a:pPr>
            <a:r>
              <a:rPr lang="zh-CN" altLang="en-US" sz="2000" b="1" dirty="0">
                <a:solidFill>
                  <a:schemeClr val="bg1"/>
                </a:solidFill>
                <a:latin typeface="微软雅黑" panose="020B0503020204020204" charset="-122"/>
                <a:ea typeface="微软雅黑" panose="020B0503020204020204" charset="-122"/>
                <a:cs typeface="微软雅黑" panose="020B0503020204020204" charset="-122"/>
              </a:rPr>
              <a:t>部署</a:t>
            </a:r>
            <a:endParaRPr lang="zh-CN" altLang="en-US" sz="20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9" name="文本框 98"/>
          <p:cNvSpPr txBox="1"/>
          <p:nvPr/>
        </p:nvSpPr>
        <p:spPr>
          <a:xfrm>
            <a:off x="4845685" y="5638800"/>
            <a:ext cx="2804795" cy="490220"/>
          </a:xfrm>
          <a:prstGeom prst="rect">
            <a:avLst/>
          </a:prstGeom>
          <a:noFill/>
        </p:spPr>
        <p:txBody>
          <a:bodyPr wrap="square">
            <a:prstTxWarp prst="textArchDown">
              <a:avLst/>
            </a:prstTxWarp>
            <a:noAutofit/>
          </a:bodyPr>
          <a:lstStyle/>
          <a:p>
            <a:pPr algn="ctr">
              <a:lnSpc>
                <a:spcPct val="125000"/>
              </a:lnSpc>
            </a:pP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实现业绩目标的三层规划</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0" animBg="1"/>
      <p:bldP spid="14"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8738235" y="348615"/>
            <a:ext cx="3219450" cy="332740"/>
            <a:chOff x="13761" y="549"/>
            <a:chExt cx="5070" cy="524"/>
          </a:xfrm>
        </p:grpSpPr>
        <p:pic>
          <p:nvPicPr>
            <p:cNvPr id="6" name="图片 5"/>
            <p:cNvPicPr>
              <a:picLocks noChangeAspect="1"/>
            </p:cNvPicPr>
            <p:nvPr userDrawn="1"/>
          </p:nvPicPr>
          <p:blipFill>
            <a:blip r:embed="rId1"/>
            <a:srcRect l="17002" t="-1765" r="56499" b="-1176"/>
            <a:stretch>
              <a:fillRect/>
            </a:stretch>
          </p:blipFill>
          <p:spPr>
            <a:xfrm>
              <a:off x="13761" y="549"/>
              <a:ext cx="1582" cy="525"/>
            </a:xfrm>
            <a:prstGeom prst="rect">
              <a:avLst/>
            </a:prstGeom>
          </p:spPr>
        </p:pic>
        <p:sp>
          <p:nvSpPr>
            <p:cNvPr id="12" name="文本框 11"/>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grpSp>
        <p:nvGrpSpPr>
          <p:cNvPr id="258" name="组合 257"/>
          <p:cNvGrpSpPr/>
          <p:nvPr/>
        </p:nvGrpSpPr>
        <p:grpSpPr>
          <a:xfrm>
            <a:off x="2155825" y="5434965"/>
            <a:ext cx="8140065" cy="889635"/>
            <a:chOff x="1783531" y="4381999"/>
            <a:chExt cx="8652557" cy="1650709"/>
          </a:xfrm>
        </p:grpSpPr>
        <p:grpSp>
          <p:nvGrpSpPr>
            <p:cNvPr id="190" name="组合 189"/>
            <p:cNvGrpSpPr/>
            <p:nvPr/>
          </p:nvGrpSpPr>
          <p:grpSpPr>
            <a:xfrm>
              <a:off x="5493389" y="4394684"/>
              <a:ext cx="4942699" cy="1638024"/>
              <a:chOff x="5357581" y="4715336"/>
              <a:chExt cx="4942699" cy="1638024"/>
            </a:xfrm>
          </p:grpSpPr>
          <p:sp>
            <p:nvSpPr>
              <p:cNvPr id="186" name="任意多边形: 形状 327"/>
              <p:cNvSpPr/>
              <p:nvPr/>
            </p:nvSpPr>
            <p:spPr bwMode="auto">
              <a:xfrm flipV="1">
                <a:off x="9197209" y="4715336"/>
                <a:ext cx="1103071" cy="716012"/>
              </a:xfrm>
              <a:custGeom>
                <a:avLst/>
                <a:gdLst>
                  <a:gd name="connsiteX0" fmla="*/ 0 w 1103071"/>
                  <a:gd name="connsiteY0" fmla="*/ 716012 h 716012"/>
                  <a:gd name="connsiteX1" fmla="*/ 5436 w 1103071"/>
                  <a:gd name="connsiteY1" fmla="*/ 714993 h 716012"/>
                  <a:gd name="connsiteX2" fmla="*/ 1103071 w 1103071"/>
                  <a:gd name="connsiteY2" fmla="*/ 193523 h 716012"/>
                  <a:gd name="connsiteX3" fmla="*/ 1103071 w 1103071"/>
                  <a:gd name="connsiteY3" fmla="*/ 0 h 716012"/>
                  <a:gd name="connsiteX4" fmla="*/ 5436 w 1103071"/>
                  <a:gd name="connsiteY4" fmla="*/ 521705 h 716012"/>
                  <a:gd name="connsiteX5" fmla="*/ 0 w 1103071"/>
                  <a:gd name="connsiteY5" fmla="*/ 522725 h 71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3071" h="716012">
                    <a:moveTo>
                      <a:pt x="0" y="716012"/>
                    </a:moveTo>
                    <a:lnTo>
                      <a:pt x="5436" y="714993"/>
                    </a:lnTo>
                    <a:cubicBezTo>
                      <a:pt x="691168" y="573339"/>
                      <a:pt x="1103071" y="391691"/>
                      <a:pt x="1103071" y="193523"/>
                    </a:cubicBezTo>
                    <a:lnTo>
                      <a:pt x="1103071" y="0"/>
                    </a:lnTo>
                    <a:cubicBezTo>
                      <a:pt x="1103071" y="198168"/>
                      <a:pt x="691168" y="379927"/>
                      <a:pt x="5436" y="521705"/>
                    </a:cubicBezTo>
                    <a:lnTo>
                      <a:pt x="0" y="522725"/>
                    </a:lnTo>
                    <a:close/>
                  </a:path>
                </a:pathLst>
              </a:custGeom>
              <a:gradFill flip="none" rotWithShape="1">
                <a:gsLst>
                  <a:gs pos="0">
                    <a:schemeClr val="accent1">
                      <a:lumMod val="20000"/>
                      <a:lumOff val="80000"/>
                      <a:alpha val="0"/>
                    </a:schemeClr>
                  </a:gs>
                  <a:gs pos="100000">
                    <a:schemeClr val="accent1">
                      <a:lumMod val="60000"/>
                      <a:lumOff val="40000"/>
                    </a:schemeClr>
                  </a:gs>
                </a:gsLst>
                <a:lin ang="0" scaled="1"/>
                <a:tileRect/>
              </a:gradFill>
              <a:ln w="37516" cap="flat">
                <a:noFill/>
                <a:prstDash val="solid"/>
                <a:miter/>
              </a:ln>
              <a:effectLst>
                <a:innerShdw blurRad="152400">
                  <a:schemeClr val="bg1"/>
                </a:inn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7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9" name="任意多边形: 形状 329"/>
              <p:cNvSpPr/>
              <p:nvPr/>
            </p:nvSpPr>
            <p:spPr bwMode="auto">
              <a:xfrm>
                <a:off x="5357581" y="5340232"/>
                <a:ext cx="4942699" cy="1013128"/>
              </a:xfrm>
              <a:custGeom>
                <a:avLst/>
                <a:gdLst>
                  <a:gd name="connsiteX0" fmla="*/ 4942699 w 4942699"/>
                  <a:gd name="connsiteY0" fmla="*/ 0 h 1013128"/>
                  <a:gd name="connsiteX1" fmla="*/ 4942699 w 4942699"/>
                  <a:gd name="connsiteY1" fmla="*/ 193523 h 1013128"/>
                  <a:gd name="connsiteX2" fmla="*/ 135585 w 4942699"/>
                  <a:gd name="connsiteY2" fmla="*/ 1013128 h 1013128"/>
                  <a:gd name="connsiteX3" fmla="*/ 0 w 4942699"/>
                  <a:gd name="connsiteY3" fmla="*/ 1011962 h 1013128"/>
                  <a:gd name="connsiteX4" fmla="*/ 0 w 4942699"/>
                  <a:gd name="connsiteY4" fmla="*/ 819015 h 1013128"/>
                  <a:gd name="connsiteX5" fmla="*/ 135585 w 4942699"/>
                  <a:gd name="connsiteY5" fmla="*/ 820184 h 1013128"/>
                  <a:gd name="connsiteX6" fmla="*/ 4942699 w 4942699"/>
                  <a:gd name="connsiteY6" fmla="*/ 0 h 1013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2699" h="1013128">
                    <a:moveTo>
                      <a:pt x="4942699" y="0"/>
                    </a:moveTo>
                    <a:lnTo>
                      <a:pt x="4942699" y="193523"/>
                    </a:lnTo>
                    <a:cubicBezTo>
                      <a:pt x="4942699" y="646478"/>
                      <a:pt x="2790717" y="1013128"/>
                      <a:pt x="135585" y="1013128"/>
                    </a:cubicBezTo>
                    <a:lnTo>
                      <a:pt x="0" y="1011962"/>
                    </a:lnTo>
                    <a:lnTo>
                      <a:pt x="0" y="819015"/>
                    </a:lnTo>
                    <a:lnTo>
                      <a:pt x="135585" y="820184"/>
                    </a:lnTo>
                    <a:cubicBezTo>
                      <a:pt x="2790717" y="820184"/>
                      <a:pt x="4942699" y="452955"/>
                      <a:pt x="4942699" y="0"/>
                    </a:cubicBezTo>
                    <a:close/>
                  </a:path>
                </a:pathLst>
              </a:custGeom>
              <a:gradFill flip="none" rotWithShape="1">
                <a:gsLst>
                  <a:gs pos="49000">
                    <a:schemeClr val="accent1">
                      <a:lumMod val="60000"/>
                      <a:lumOff val="40000"/>
                    </a:schemeClr>
                  </a:gs>
                  <a:gs pos="0">
                    <a:schemeClr val="accent1">
                      <a:lumMod val="60000"/>
                      <a:lumOff val="40000"/>
                      <a:alpha val="0"/>
                    </a:schemeClr>
                  </a:gs>
                  <a:gs pos="100000">
                    <a:schemeClr val="accent1">
                      <a:lumMod val="60000"/>
                      <a:lumOff val="40000"/>
                    </a:schemeClr>
                  </a:gs>
                </a:gsLst>
                <a:lin ang="0" scaled="1"/>
                <a:tileRect/>
              </a:gradFill>
              <a:ln w="37516" cap="flat">
                <a:noFill/>
                <a:prstDash val="solid"/>
                <a:miter/>
              </a:ln>
              <a:effectLst>
                <a:innerShdw blurRad="152400">
                  <a:schemeClr val="bg1"/>
                </a:inn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lvl="0" algn="l">
                  <a:spcBef>
                    <a:spcPts val="0"/>
                  </a:spcBef>
                  <a:spcAft>
                    <a:spcPts val="0"/>
                  </a:spcAft>
                  <a:buClrTx/>
                  <a:buSzTx/>
                  <a:buFontTx/>
                  <a:defRPr/>
                </a:pPr>
                <a:endParaRPr lang="en-US" altLang="en-US" sz="70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grpSp>
          <p:nvGrpSpPr>
            <p:cNvPr id="191" name="组合 190"/>
            <p:cNvGrpSpPr/>
            <p:nvPr/>
          </p:nvGrpSpPr>
          <p:grpSpPr>
            <a:xfrm flipH="1">
              <a:off x="1783531" y="4381999"/>
              <a:ext cx="4942699" cy="1638024"/>
              <a:chOff x="5357581" y="4715336"/>
              <a:chExt cx="4942699" cy="1638024"/>
            </a:xfrm>
          </p:grpSpPr>
          <p:sp>
            <p:nvSpPr>
              <p:cNvPr id="192" name="任意多边形: 形状 327"/>
              <p:cNvSpPr/>
              <p:nvPr/>
            </p:nvSpPr>
            <p:spPr bwMode="auto">
              <a:xfrm flipV="1">
                <a:off x="9197209" y="4715336"/>
                <a:ext cx="1103071" cy="716012"/>
              </a:xfrm>
              <a:custGeom>
                <a:avLst/>
                <a:gdLst>
                  <a:gd name="connsiteX0" fmla="*/ 0 w 1103071"/>
                  <a:gd name="connsiteY0" fmla="*/ 716012 h 716012"/>
                  <a:gd name="connsiteX1" fmla="*/ 5436 w 1103071"/>
                  <a:gd name="connsiteY1" fmla="*/ 714993 h 716012"/>
                  <a:gd name="connsiteX2" fmla="*/ 1103071 w 1103071"/>
                  <a:gd name="connsiteY2" fmla="*/ 193523 h 716012"/>
                  <a:gd name="connsiteX3" fmla="*/ 1103071 w 1103071"/>
                  <a:gd name="connsiteY3" fmla="*/ 0 h 716012"/>
                  <a:gd name="connsiteX4" fmla="*/ 5436 w 1103071"/>
                  <a:gd name="connsiteY4" fmla="*/ 521705 h 716012"/>
                  <a:gd name="connsiteX5" fmla="*/ 0 w 1103071"/>
                  <a:gd name="connsiteY5" fmla="*/ 522725 h 716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3071" h="716012">
                    <a:moveTo>
                      <a:pt x="0" y="716012"/>
                    </a:moveTo>
                    <a:lnTo>
                      <a:pt x="5436" y="714993"/>
                    </a:lnTo>
                    <a:cubicBezTo>
                      <a:pt x="691168" y="573339"/>
                      <a:pt x="1103071" y="391691"/>
                      <a:pt x="1103071" y="193523"/>
                    </a:cubicBezTo>
                    <a:lnTo>
                      <a:pt x="1103071" y="0"/>
                    </a:lnTo>
                    <a:cubicBezTo>
                      <a:pt x="1103071" y="198168"/>
                      <a:pt x="691168" y="379927"/>
                      <a:pt x="5436" y="521705"/>
                    </a:cubicBezTo>
                    <a:lnTo>
                      <a:pt x="0" y="522725"/>
                    </a:lnTo>
                    <a:close/>
                  </a:path>
                </a:pathLst>
              </a:custGeom>
              <a:gradFill flip="none" rotWithShape="1">
                <a:gsLst>
                  <a:gs pos="0">
                    <a:schemeClr val="accent1">
                      <a:lumMod val="20000"/>
                      <a:lumOff val="80000"/>
                      <a:alpha val="0"/>
                    </a:schemeClr>
                  </a:gs>
                  <a:gs pos="100000">
                    <a:schemeClr val="accent1">
                      <a:lumMod val="60000"/>
                      <a:lumOff val="40000"/>
                    </a:schemeClr>
                  </a:gs>
                </a:gsLst>
                <a:lin ang="0" scaled="1"/>
                <a:tileRect/>
              </a:gradFill>
              <a:ln w="37516" cap="flat">
                <a:noFill/>
                <a:prstDash val="solid"/>
                <a:miter/>
              </a:ln>
              <a:effectLst>
                <a:innerShdw blurRad="152400">
                  <a:schemeClr val="bg1"/>
                </a:inn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lvl="0" algn="l">
                  <a:spcBef>
                    <a:spcPts val="0"/>
                  </a:spcBef>
                  <a:spcAft>
                    <a:spcPts val="0"/>
                  </a:spcAft>
                  <a:buClrTx/>
                  <a:buSzTx/>
                  <a:buFontTx/>
                  <a:defRPr/>
                </a:pPr>
                <a:endParaRPr lang="en-US" altLang="en-US" sz="70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93" name="任意多边形: 形状 329"/>
              <p:cNvSpPr/>
              <p:nvPr/>
            </p:nvSpPr>
            <p:spPr bwMode="auto">
              <a:xfrm>
                <a:off x="5357581" y="5340232"/>
                <a:ext cx="4942699" cy="1013128"/>
              </a:xfrm>
              <a:custGeom>
                <a:avLst/>
                <a:gdLst>
                  <a:gd name="connsiteX0" fmla="*/ 4942699 w 4942699"/>
                  <a:gd name="connsiteY0" fmla="*/ 0 h 1013128"/>
                  <a:gd name="connsiteX1" fmla="*/ 4942699 w 4942699"/>
                  <a:gd name="connsiteY1" fmla="*/ 193523 h 1013128"/>
                  <a:gd name="connsiteX2" fmla="*/ 135585 w 4942699"/>
                  <a:gd name="connsiteY2" fmla="*/ 1013128 h 1013128"/>
                  <a:gd name="connsiteX3" fmla="*/ 0 w 4942699"/>
                  <a:gd name="connsiteY3" fmla="*/ 1011962 h 1013128"/>
                  <a:gd name="connsiteX4" fmla="*/ 0 w 4942699"/>
                  <a:gd name="connsiteY4" fmla="*/ 819015 h 1013128"/>
                  <a:gd name="connsiteX5" fmla="*/ 135585 w 4942699"/>
                  <a:gd name="connsiteY5" fmla="*/ 820184 h 1013128"/>
                  <a:gd name="connsiteX6" fmla="*/ 4942699 w 4942699"/>
                  <a:gd name="connsiteY6" fmla="*/ 0 h 1013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2699" h="1013128">
                    <a:moveTo>
                      <a:pt x="4942699" y="0"/>
                    </a:moveTo>
                    <a:lnTo>
                      <a:pt x="4942699" y="193523"/>
                    </a:lnTo>
                    <a:cubicBezTo>
                      <a:pt x="4942699" y="646478"/>
                      <a:pt x="2790717" y="1013128"/>
                      <a:pt x="135585" y="1013128"/>
                    </a:cubicBezTo>
                    <a:lnTo>
                      <a:pt x="0" y="1011962"/>
                    </a:lnTo>
                    <a:lnTo>
                      <a:pt x="0" y="819015"/>
                    </a:lnTo>
                    <a:lnTo>
                      <a:pt x="135585" y="820184"/>
                    </a:lnTo>
                    <a:cubicBezTo>
                      <a:pt x="2790717" y="820184"/>
                      <a:pt x="4942699" y="452955"/>
                      <a:pt x="4942699" y="0"/>
                    </a:cubicBezTo>
                    <a:close/>
                  </a:path>
                </a:pathLst>
              </a:custGeom>
              <a:gradFill flip="none" rotWithShape="1">
                <a:gsLst>
                  <a:gs pos="49000">
                    <a:schemeClr val="accent1">
                      <a:lumMod val="60000"/>
                      <a:lumOff val="40000"/>
                    </a:schemeClr>
                  </a:gs>
                  <a:gs pos="0">
                    <a:schemeClr val="accent1">
                      <a:lumMod val="60000"/>
                      <a:lumOff val="40000"/>
                      <a:alpha val="0"/>
                    </a:schemeClr>
                  </a:gs>
                  <a:gs pos="100000">
                    <a:schemeClr val="accent1">
                      <a:lumMod val="60000"/>
                      <a:lumOff val="40000"/>
                    </a:schemeClr>
                  </a:gs>
                </a:gsLst>
                <a:lin ang="0" scaled="1"/>
                <a:tileRect/>
              </a:gradFill>
              <a:ln w="37516" cap="flat">
                <a:noFill/>
                <a:prstDash val="solid"/>
                <a:miter/>
              </a:ln>
              <a:effectLst>
                <a:innerShdw blurRad="152400">
                  <a:schemeClr val="bg1"/>
                </a:inn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altLang="en-US" sz="7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grpSp>
      </p:grpSp>
      <p:sp>
        <p:nvSpPr>
          <p:cNvPr id="157" name="椭圆 156"/>
          <p:cNvSpPr/>
          <p:nvPr/>
        </p:nvSpPr>
        <p:spPr>
          <a:xfrm>
            <a:off x="2534285" y="5768975"/>
            <a:ext cx="548640" cy="548640"/>
          </a:xfrm>
          <a:prstGeom prst="ellipse">
            <a:avLst/>
          </a:prstGeom>
          <a:gradFill>
            <a:gsLst>
              <a:gs pos="22000">
                <a:schemeClr val="accent1">
                  <a:lumMod val="40000"/>
                  <a:lumOff val="60000"/>
                </a:schemeClr>
              </a:gs>
              <a:gs pos="75000">
                <a:schemeClr val="accent1">
                  <a:lumMod val="60000"/>
                  <a:lumOff val="40000"/>
                </a:schemeClr>
              </a:gs>
            </a:gsLst>
            <a:path path="circle">
              <a:fillToRect r="100000" b="100000"/>
            </a:path>
          </a:gradFill>
          <a:ln>
            <a:noFill/>
          </a:ln>
          <a:effectLst>
            <a:outerShdw blurRad="355600" dist="114300" dir="2700000" sx="95000" sy="95000" algn="tl"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olidFill>
                <a:prstClr val="white"/>
              </a:solidFill>
              <a:latin typeface="微软雅黑" panose="020B0503020204020204" charset="-122"/>
              <a:ea typeface="微软雅黑" panose="020B0503020204020204" charset="-122"/>
              <a:cs typeface="微软雅黑" panose="020B0503020204020204" charset="-122"/>
              <a:sym typeface="+mn-ea"/>
            </a:endParaRPr>
          </a:p>
        </p:txBody>
      </p:sp>
      <p:sp>
        <p:nvSpPr>
          <p:cNvPr id="26" name="任意多边形 25"/>
          <p:cNvSpPr/>
          <p:nvPr/>
        </p:nvSpPr>
        <p:spPr>
          <a:xfrm>
            <a:off x="2361565" y="1539240"/>
            <a:ext cx="7785100" cy="4785360"/>
          </a:xfrm>
          <a:custGeom>
            <a:avLst/>
            <a:gdLst>
              <a:gd name="connsiteX0" fmla="*/ 6007 w 12260"/>
              <a:gd name="connsiteY0" fmla="*/ 0 h 7536"/>
              <a:gd name="connsiteX1" fmla="*/ 7206 w 12260"/>
              <a:gd name="connsiteY1" fmla="*/ 1319 h 7536"/>
              <a:gd name="connsiteX2" fmla="*/ 6718 w 12260"/>
              <a:gd name="connsiteY2" fmla="*/ 1303 h 7536"/>
              <a:gd name="connsiteX3" fmla="*/ 7413 w 12260"/>
              <a:gd name="connsiteY3" fmla="*/ 4536 h 7536"/>
              <a:gd name="connsiteX4" fmla="*/ 7425 w 12260"/>
              <a:gd name="connsiteY4" fmla="*/ 4555 h 7536"/>
              <a:gd name="connsiteX5" fmla="*/ 7458 w 12260"/>
              <a:gd name="connsiteY5" fmla="*/ 4602 h 7536"/>
              <a:gd name="connsiteX6" fmla="*/ 7524 w 12260"/>
              <a:gd name="connsiteY6" fmla="*/ 4692 h 7536"/>
              <a:gd name="connsiteX7" fmla="*/ 7536 w 12260"/>
              <a:gd name="connsiteY7" fmla="*/ 4703 h 7536"/>
              <a:gd name="connsiteX8" fmla="*/ 7532 w 12260"/>
              <a:gd name="connsiteY8" fmla="*/ 4703 h 7536"/>
              <a:gd name="connsiteX9" fmla="*/ 7538 w 12260"/>
              <a:gd name="connsiteY9" fmla="*/ 4711 h 7536"/>
              <a:gd name="connsiteX10" fmla="*/ 12260 w 12260"/>
              <a:gd name="connsiteY10" fmla="*/ 7536 h 7536"/>
              <a:gd name="connsiteX11" fmla="*/ 0 w 12260"/>
              <a:gd name="connsiteY11" fmla="*/ 7396 h 7536"/>
              <a:gd name="connsiteX12" fmla="*/ 4505 w 12260"/>
              <a:gd name="connsiteY12" fmla="*/ 4824 h 7536"/>
              <a:gd name="connsiteX13" fmla="*/ 4560 w 12260"/>
              <a:gd name="connsiteY13" fmla="*/ 4744 h 7536"/>
              <a:gd name="connsiteX14" fmla="*/ 4554 w 12260"/>
              <a:gd name="connsiteY14" fmla="*/ 4744 h 7536"/>
              <a:gd name="connsiteX15" fmla="*/ 5262 w 12260"/>
              <a:gd name="connsiteY15" fmla="*/ 1307 h 7536"/>
              <a:gd name="connsiteX16" fmla="*/ 4806 w 12260"/>
              <a:gd name="connsiteY16" fmla="*/ 1311 h 7536"/>
              <a:gd name="connsiteX17" fmla="*/ 6007 w 12260"/>
              <a:gd name="connsiteY17" fmla="*/ 0 h 7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260" h="7536">
                <a:moveTo>
                  <a:pt x="6007" y="0"/>
                </a:moveTo>
                <a:lnTo>
                  <a:pt x="7206" y="1319"/>
                </a:lnTo>
                <a:lnTo>
                  <a:pt x="6718" y="1303"/>
                </a:lnTo>
                <a:cubicBezTo>
                  <a:pt x="6800" y="1992"/>
                  <a:pt x="7089" y="3948"/>
                  <a:pt x="7413" y="4536"/>
                </a:cubicBezTo>
                <a:lnTo>
                  <a:pt x="7425" y="4555"/>
                </a:lnTo>
                <a:lnTo>
                  <a:pt x="7458" y="4602"/>
                </a:lnTo>
                <a:lnTo>
                  <a:pt x="7524" y="4692"/>
                </a:lnTo>
                <a:lnTo>
                  <a:pt x="7536" y="4703"/>
                </a:lnTo>
                <a:lnTo>
                  <a:pt x="7532" y="4703"/>
                </a:lnTo>
                <a:lnTo>
                  <a:pt x="7538" y="4711"/>
                </a:lnTo>
                <a:cubicBezTo>
                  <a:pt x="8688" y="6239"/>
                  <a:pt x="10245" y="7252"/>
                  <a:pt x="12260" y="7536"/>
                </a:cubicBezTo>
                <a:lnTo>
                  <a:pt x="0" y="7396"/>
                </a:lnTo>
                <a:cubicBezTo>
                  <a:pt x="2097" y="7051"/>
                  <a:pt x="3396" y="6356"/>
                  <a:pt x="4505" y="4824"/>
                </a:cubicBezTo>
                <a:lnTo>
                  <a:pt x="4560" y="4744"/>
                </a:lnTo>
                <a:lnTo>
                  <a:pt x="4554" y="4744"/>
                </a:lnTo>
                <a:cubicBezTo>
                  <a:pt x="4968" y="4238"/>
                  <a:pt x="5274" y="2167"/>
                  <a:pt x="5262" y="1307"/>
                </a:cubicBezTo>
                <a:lnTo>
                  <a:pt x="4806" y="1311"/>
                </a:lnTo>
                <a:lnTo>
                  <a:pt x="6007" y="0"/>
                </a:lnTo>
                <a:close/>
              </a:path>
            </a:pathLst>
          </a:custGeom>
          <a:gradFill>
            <a:gsLst>
              <a:gs pos="87000">
                <a:schemeClr val="accent5">
                  <a:lumMod val="60000"/>
                  <a:lumOff val="40000"/>
                  <a:alpha val="0"/>
                </a:schemeClr>
              </a:gs>
              <a:gs pos="22000">
                <a:schemeClr val="accent5">
                  <a:lumMod val="60000"/>
                  <a:lumOff val="40000"/>
                </a:schemeClr>
              </a:gs>
            </a:gsLst>
            <a:lin ang="5400000" scaled="0"/>
          </a:gradFill>
          <a:ln w="9491" cap="flat">
            <a:noFill/>
            <a:prstDash val="solid"/>
            <a:miter/>
          </a:ln>
        </p:spPr>
        <p:txBody>
          <a:bodyPr vert="horz" wrap="square" numCol="1" spcCol="0" rtlCol="0" fromWordArt="0" anchor="ctr" anchorCtr="0" forceAA="0" compatLnSpc="0">
            <a:noAutofit/>
          </a:bodyPr>
          <a:lstStyle/>
          <a:p>
            <a:pPr lvl="0" algn="l">
              <a:spcBef>
                <a:spcPts val="0"/>
              </a:spcBef>
              <a:spcAft>
                <a:spcPts val="0"/>
              </a:spcAft>
              <a:buClrTx/>
              <a:buSzTx/>
              <a:buFontTx/>
              <a:defRPr/>
            </a:pPr>
            <a:endParaRPr lang="zh-CN" altLang="en-US" noProof="0">
              <a:ln>
                <a:noFill/>
              </a:ln>
              <a:solidFill>
                <a:srgbClr val="0D0D0D"/>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7" name="椭圆 26"/>
          <p:cNvSpPr/>
          <p:nvPr/>
        </p:nvSpPr>
        <p:spPr>
          <a:xfrm>
            <a:off x="2839085" y="5434965"/>
            <a:ext cx="6803390" cy="594995"/>
          </a:xfrm>
          <a:prstGeom prst="ellipse">
            <a:avLst/>
          </a:prstGeom>
          <a:gradFill>
            <a:gsLst>
              <a:gs pos="100000">
                <a:schemeClr val="accent1">
                  <a:lumMod val="60000"/>
                  <a:lumOff val="40000"/>
                  <a:alpha val="52000"/>
                </a:schemeClr>
              </a:gs>
              <a:gs pos="1000">
                <a:schemeClr val="accent1">
                  <a:lumMod val="60000"/>
                  <a:lumOff val="40000"/>
                  <a:alpha val="0"/>
                </a:schemeClr>
              </a:gs>
            </a:gsLst>
            <a:lin ang="5400000" scaled="1"/>
          </a:gra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defTabSz="457200"/>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42" name="任意多边形: 形状 13"/>
          <p:cNvSpPr/>
          <p:nvPr/>
        </p:nvSpPr>
        <p:spPr>
          <a:xfrm>
            <a:off x="4045585" y="3333750"/>
            <a:ext cx="4417695" cy="746125"/>
          </a:xfrm>
          <a:custGeom>
            <a:avLst/>
            <a:gdLst>
              <a:gd name="connsiteX0" fmla="*/ 3405569 w 3405568"/>
              <a:gd name="connsiteY0" fmla="*/ 304514 h 609028"/>
              <a:gd name="connsiteX1" fmla="*/ 1702785 w 3405568"/>
              <a:gd name="connsiteY1" fmla="*/ 609029 h 609028"/>
              <a:gd name="connsiteX2" fmla="*/ 0 w 3405568"/>
              <a:gd name="connsiteY2" fmla="*/ 304514 h 609028"/>
              <a:gd name="connsiteX3" fmla="*/ 1702785 w 3405568"/>
              <a:gd name="connsiteY3" fmla="*/ 0 h 609028"/>
              <a:gd name="connsiteX4" fmla="*/ 3405569 w 3405568"/>
              <a:gd name="connsiteY4" fmla="*/ 304514 h 609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5568" h="609028">
                <a:moveTo>
                  <a:pt x="3405569" y="304514"/>
                </a:moveTo>
                <a:cubicBezTo>
                  <a:pt x="3405569" y="472693"/>
                  <a:pt x="2643206" y="609029"/>
                  <a:pt x="1702785" y="609029"/>
                </a:cubicBezTo>
                <a:cubicBezTo>
                  <a:pt x="762363" y="609029"/>
                  <a:pt x="0" y="472693"/>
                  <a:pt x="0" y="304514"/>
                </a:cubicBezTo>
                <a:cubicBezTo>
                  <a:pt x="0" y="136336"/>
                  <a:pt x="762363" y="0"/>
                  <a:pt x="1702785" y="0"/>
                </a:cubicBezTo>
                <a:cubicBezTo>
                  <a:pt x="2643206" y="0"/>
                  <a:pt x="3405569" y="136336"/>
                  <a:pt x="3405569" y="304514"/>
                </a:cubicBezTo>
                <a:close/>
              </a:path>
            </a:pathLst>
          </a:custGeom>
          <a:gradFill>
            <a:gsLst>
              <a:gs pos="1000">
                <a:schemeClr val="accent5">
                  <a:lumMod val="60000"/>
                  <a:lumOff val="40000"/>
                  <a:alpha val="0"/>
                </a:schemeClr>
              </a:gs>
              <a:gs pos="95000">
                <a:schemeClr val="accent5">
                  <a:lumMod val="60000"/>
                  <a:lumOff val="40000"/>
                  <a:alpha val="35000"/>
                </a:schemeClr>
              </a:gs>
            </a:gsLst>
            <a:lin ang="5400000" scaled="1"/>
          </a:gradFill>
          <a:ln w="19050">
            <a:gradFill>
              <a:gsLst>
                <a:gs pos="0">
                  <a:schemeClr val="accent5">
                    <a:lumMod val="60000"/>
                    <a:lumOff val="40000"/>
                    <a:alpha val="0"/>
                  </a:schemeClr>
                </a:gs>
                <a:gs pos="100000">
                  <a:schemeClr val="accent5">
                    <a:lumMod val="60000"/>
                    <a:lumOff val="4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1E66FF"/>
              </a:solidFill>
              <a:effectLst/>
              <a:uLnTx/>
              <a:uFillTx/>
              <a:latin typeface="微软雅黑" panose="020B0503020204020204" charset="-122"/>
              <a:ea typeface="微软雅黑" panose="020B0503020204020204" charset="-122"/>
              <a:cs typeface="微软雅黑" panose="020B0503020204020204" charset="-122"/>
              <a:sym typeface="+mn-lt"/>
            </a:endParaRPr>
          </a:p>
        </p:txBody>
      </p:sp>
      <p:sp>
        <p:nvSpPr>
          <p:cNvPr id="43" name="Freeform 8"/>
          <p:cNvSpPr/>
          <p:nvPr/>
        </p:nvSpPr>
        <p:spPr>
          <a:xfrm>
            <a:off x="4417060" y="3323590"/>
            <a:ext cx="3659505" cy="495300"/>
          </a:xfrm>
          <a:custGeom>
            <a:avLst/>
            <a:gdLst>
              <a:gd name="connsiteX0" fmla="*/ 4743501 w 4743501"/>
              <a:gd name="connsiteY0" fmla="*/ 448376 h 896752"/>
              <a:gd name="connsiteX1" fmla="*/ 2371751 w 4743501"/>
              <a:gd name="connsiteY1" fmla="*/ 896753 h 896752"/>
              <a:gd name="connsiteX2" fmla="*/ 0 w 4743501"/>
              <a:gd name="connsiteY2" fmla="*/ 448376 h 896752"/>
              <a:gd name="connsiteX3" fmla="*/ 2371751 w 4743501"/>
              <a:gd name="connsiteY3" fmla="*/ 0 h 896752"/>
              <a:gd name="connsiteX4" fmla="*/ 4743501 w 4743501"/>
              <a:gd name="connsiteY4" fmla="*/ 448376 h 896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501" h="896752">
                <a:moveTo>
                  <a:pt x="4743501" y="448376"/>
                </a:moveTo>
                <a:cubicBezTo>
                  <a:pt x="4743501" y="696008"/>
                  <a:pt x="3681633" y="896753"/>
                  <a:pt x="2371751" y="896753"/>
                </a:cubicBezTo>
                <a:cubicBezTo>
                  <a:pt x="1061869" y="896753"/>
                  <a:pt x="0" y="696008"/>
                  <a:pt x="0" y="448376"/>
                </a:cubicBezTo>
                <a:cubicBezTo>
                  <a:pt x="0" y="200745"/>
                  <a:pt x="1061869" y="0"/>
                  <a:pt x="2371751" y="0"/>
                </a:cubicBezTo>
                <a:cubicBezTo>
                  <a:pt x="3681632" y="0"/>
                  <a:pt x="4743501" y="200745"/>
                  <a:pt x="4743501" y="448376"/>
                </a:cubicBezTo>
                <a:close/>
              </a:path>
            </a:pathLst>
          </a:custGeom>
          <a:noFill/>
          <a:ln w="12700" cap="flat">
            <a:gradFill>
              <a:gsLst>
                <a:gs pos="0">
                  <a:schemeClr val="accent5">
                    <a:lumMod val="60000"/>
                    <a:lumOff val="40000"/>
                  </a:schemeClr>
                </a:gs>
                <a:gs pos="90000">
                  <a:schemeClr val="accent5">
                    <a:lumMod val="60000"/>
                    <a:lumOff val="40000"/>
                    <a:alpha val="0"/>
                  </a:schemeClr>
                </a:gs>
              </a:gsLst>
              <a:lin ang="16200000" scaled="1"/>
            </a:gra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endParaRPr>
          </a:p>
        </p:txBody>
      </p:sp>
      <p:sp>
        <p:nvSpPr>
          <p:cNvPr id="46" name="任意多边形: 形状 13"/>
          <p:cNvSpPr/>
          <p:nvPr/>
        </p:nvSpPr>
        <p:spPr>
          <a:xfrm>
            <a:off x="4417060" y="4474845"/>
            <a:ext cx="3660140" cy="641350"/>
          </a:xfrm>
          <a:custGeom>
            <a:avLst/>
            <a:gdLst>
              <a:gd name="connsiteX0" fmla="*/ 3405569 w 3405568"/>
              <a:gd name="connsiteY0" fmla="*/ 304514 h 609028"/>
              <a:gd name="connsiteX1" fmla="*/ 1702785 w 3405568"/>
              <a:gd name="connsiteY1" fmla="*/ 609029 h 609028"/>
              <a:gd name="connsiteX2" fmla="*/ 0 w 3405568"/>
              <a:gd name="connsiteY2" fmla="*/ 304514 h 609028"/>
              <a:gd name="connsiteX3" fmla="*/ 1702785 w 3405568"/>
              <a:gd name="connsiteY3" fmla="*/ 0 h 609028"/>
              <a:gd name="connsiteX4" fmla="*/ 3405569 w 3405568"/>
              <a:gd name="connsiteY4" fmla="*/ 304514 h 609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5568" h="609028">
                <a:moveTo>
                  <a:pt x="3405569" y="304514"/>
                </a:moveTo>
                <a:cubicBezTo>
                  <a:pt x="3405569" y="472693"/>
                  <a:pt x="2643206" y="609029"/>
                  <a:pt x="1702785" y="609029"/>
                </a:cubicBezTo>
                <a:cubicBezTo>
                  <a:pt x="762363" y="609029"/>
                  <a:pt x="0" y="472693"/>
                  <a:pt x="0" y="304514"/>
                </a:cubicBezTo>
                <a:cubicBezTo>
                  <a:pt x="0" y="136336"/>
                  <a:pt x="762363" y="0"/>
                  <a:pt x="1702785" y="0"/>
                </a:cubicBezTo>
                <a:cubicBezTo>
                  <a:pt x="2643206" y="0"/>
                  <a:pt x="3405569" y="136336"/>
                  <a:pt x="3405569" y="304514"/>
                </a:cubicBezTo>
                <a:close/>
              </a:path>
            </a:pathLst>
          </a:custGeom>
          <a:gradFill>
            <a:gsLst>
              <a:gs pos="1000">
                <a:schemeClr val="accent5">
                  <a:lumMod val="60000"/>
                  <a:lumOff val="40000"/>
                  <a:alpha val="0"/>
                </a:schemeClr>
              </a:gs>
              <a:gs pos="95000">
                <a:schemeClr val="accent5">
                  <a:lumMod val="60000"/>
                  <a:lumOff val="40000"/>
                  <a:alpha val="35000"/>
                </a:schemeClr>
              </a:gs>
            </a:gsLst>
            <a:lin ang="5400000" scaled="1"/>
          </a:gradFill>
          <a:ln w="19050">
            <a:gradFill>
              <a:gsLst>
                <a:gs pos="0">
                  <a:schemeClr val="accent5">
                    <a:lumMod val="60000"/>
                    <a:lumOff val="40000"/>
                    <a:alpha val="0"/>
                  </a:schemeClr>
                </a:gs>
                <a:gs pos="100000">
                  <a:schemeClr val="accent5">
                    <a:lumMod val="60000"/>
                    <a:lumOff val="4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1E66FF"/>
              </a:solidFill>
              <a:effectLst/>
              <a:uLnTx/>
              <a:uFillTx/>
              <a:latin typeface="微软雅黑" panose="020B0503020204020204" charset="-122"/>
              <a:ea typeface="微软雅黑" panose="020B0503020204020204" charset="-122"/>
              <a:cs typeface="微软雅黑" panose="020B0503020204020204" charset="-122"/>
              <a:sym typeface="+mn-lt"/>
            </a:endParaRPr>
          </a:p>
        </p:txBody>
      </p:sp>
      <p:sp>
        <p:nvSpPr>
          <p:cNvPr id="47" name="Freeform 8"/>
          <p:cNvSpPr/>
          <p:nvPr/>
        </p:nvSpPr>
        <p:spPr>
          <a:xfrm>
            <a:off x="4632325" y="4469765"/>
            <a:ext cx="3154045" cy="467995"/>
          </a:xfrm>
          <a:custGeom>
            <a:avLst/>
            <a:gdLst>
              <a:gd name="connsiteX0" fmla="*/ 4743501 w 4743501"/>
              <a:gd name="connsiteY0" fmla="*/ 448376 h 896752"/>
              <a:gd name="connsiteX1" fmla="*/ 2371751 w 4743501"/>
              <a:gd name="connsiteY1" fmla="*/ 896753 h 896752"/>
              <a:gd name="connsiteX2" fmla="*/ 0 w 4743501"/>
              <a:gd name="connsiteY2" fmla="*/ 448376 h 896752"/>
              <a:gd name="connsiteX3" fmla="*/ 2371751 w 4743501"/>
              <a:gd name="connsiteY3" fmla="*/ 0 h 896752"/>
              <a:gd name="connsiteX4" fmla="*/ 4743501 w 4743501"/>
              <a:gd name="connsiteY4" fmla="*/ 448376 h 896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501" h="896752">
                <a:moveTo>
                  <a:pt x="4743501" y="448376"/>
                </a:moveTo>
                <a:cubicBezTo>
                  <a:pt x="4743501" y="696008"/>
                  <a:pt x="3681633" y="896753"/>
                  <a:pt x="2371751" y="896753"/>
                </a:cubicBezTo>
                <a:cubicBezTo>
                  <a:pt x="1061869" y="896753"/>
                  <a:pt x="0" y="696008"/>
                  <a:pt x="0" y="448376"/>
                </a:cubicBezTo>
                <a:cubicBezTo>
                  <a:pt x="0" y="200745"/>
                  <a:pt x="1061869" y="0"/>
                  <a:pt x="2371751" y="0"/>
                </a:cubicBezTo>
                <a:cubicBezTo>
                  <a:pt x="3681632" y="0"/>
                  <a:pt x="4743501" y="200745"/>
                  <a:pt x="4743501" y="448376"/>
                </a:cubicBezTo>
                <a:close/>
              </a:path>
            </a:pathLst>
          </a:custGeom>
          <a:noFill/>
          <a:ln w="12700" cap="flat">
            <a:gradFill>
              <a:gsLst>
                <a:gs pos="0">
                  <a:schemeClr val="accent5">
                    <a:lumMod val="60000"/>
                    <a:lumOff val="40000"/>
                  </a:schemeClr>
                </a:gs>
                <a:gs pos="90000">
                  <a:schemeClr val="accent5">
                    <a:lumMod val="60000"/>
                    <a:lumOff val="40000"/>
                    <a:alpha val="0"/>
                  </a:schemeClr>
                </a:gs>
              </a:gsLst>
              <a:lin ang="16200000" scaled="1"/>
            </a:gradFill>
            <a:prstDash val="solid"/>
            <a:miter/>
          </a:ln>
        </p:spPr>
        <p:txBody>
          <a:bodyPr rtlCol="0" anchor="ctr">
            <a:noAutofit/>
          </a:bodyPr>
          <a:lstStyle/>
          <a:p>
            <a:pPr lvl="0" algn="l">
              <a:spcBef>
                <a:spcPts val="0"/>
              </a:spcBef>
              <a:spcAft>
                <a:spcPts val="0"/>
              </a:spcAft>
              <a:buClrTx/>
              <a:buSzTx/>
              <a:buFontTx/>
              <a:defRPr/>
            </a:pPr>
            <a:endParaRPr lang="en-US"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endParaRPr>
          </a:p>
        </p:txBody>
      </p:sp>
      <p:sp>
        <p:nvSpPr>
          <p:cNvPr id="151" name="椭圆 150"/>
          <p:cNvSpPr/>
          <p:nvPr/>
        </p:nvSpPr>
        <p:spPr>
          <a:xfrm>
            <a:off x="4464933" y="3412780"/>
            <a:ext cx="132402" cy="132402"/>
          </a:xfrm>
          <a:prstGeom prst="ellipse">
            <a:avLst/>
          </a:prstGeom>
          <a:solidFill>
            <a:schemeClr val="accent5">
              <a:lumMod val="60000"/>
              <a:lumOff val="40000"/>
            </a:schemeClr>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3" name="椭圆 72"/>
          <p:cNvSpPr/>
          <p:nvPr/>
        </p:nvSpPr>
        <p:spPr>
          <a:xfrm>
            <a:off x="4142353" y="3784255"/>
            <a:ext cx="132402" cy="132402"/>
          </a:xfrm>
          <a:prstGeom prst="ellipse">
            <a:avLst/>
          </a:prstGeom>
          <a:solidFill>
            <a:schemeClr val="accent5">
              <a:lumMod val="60000"/>
              <a:lumOff val="40000"/>
            </a:schemeClr>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4" name="椭圆 73"/>
          <p:cNvSpPr/>
          <p:nvPr/>
        </p:nvSpPr>
        <p:spPr>
          <a:xfrm>
            <a:off x="8281283" y="3761395"/>
            <a:ext cx="132402" cy="132402"/>
          </a:xfrm>
          <a:prstGeom prst="ellipse">
            <a:avLst/>
          </a:prstGeom>
          <a:solidFill>
            <a:schemeClr val="accent5">
              <a:lumMod val="60000"/>
              <a:lumOff val="40000"/>
            </a:schemeClr>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5" name="椭圆 74"/>
          <p:cNvSpPr/>
          <p:nvPr/>
        </p:nvSpPr>
        <p:spPr>
          <a:xfrm>
            <a:off x="7857738" y="3404525"/>
            <a:ext cx="132402" cy="132402"/>
          </a:xfrm>
          <a:prstGeom prst="ellipse">
            <a:avLst/>
          </a:prstGeom>
          <a:solidFill>
            <a:schemeClr val="accent5">
              <a:lumMod val="60000"/>
              <a:lumOff val="40000"/>
            </a:schemeClr>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02" name="组合 101"/>
          <p:cNvGrpSpPr/>
          <p:nvPr/>
        </p:nvGrpSpPr>
        <p:grpSpPr>
          <a:xfrm rot="10260000" flipV="1">
            <a:off x="1593215" y="3188335"/>
            <a:ext cx="924560" cy="1734185"/>
            <a:chOff x="3339603" y="3907317"/>
            <a:chExt cx="1367194" cy="1758253"/>
          </a:xfrm>
        </p:grpSpPr>
        <p:sp>
          <p:nvSpPr>
            <p:cNvPr id="103" name="任意多边形: 形状 22"/>
            <p:cNvSpPr/>
            <p:nvPr/>
          </p:nvSpPr>
          <p:spPr>
            <a:xfrm>
              <a:off x="3339603" y="3907317"/>
              <a:ext cx="1367194" cy="1758253"/>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lumMod val="60000"/>
                    <a:lumOff val="40000"/>
                    <a:alpha val="0"/>
                  </a:schemeClr>
                </a:gs>
                <a:gs pos="100000">
                  <a:schemeClr val="accent5"/>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104" name="文本框 103"/>
            <p:cNvSpPr txBox="1"/>
            <p:nvPr/>
          </p:nvSpPr>
          <p:spPr>
            <a:xfrm>
              <a:off x="3741307" y="4259946"/>
              <a:ext cx="564328" cy="966363"/>
            </a:xfrm>
            <a:prstGeom prst="rect">
              <a:avLst/>
            </a:prstGeom>
            <a:noFill/>
          </p:spPr>
          <p:txBody>
            <a:bodyPr wrap="square" rtlCol="0">
              <a:spAutoFit/>
            </a:bodyPr>
            <a:lstStyle/>
            <a:p>
              <a:pPr algn="ctr"/>
              <a:r>
                <a:rPr lang="zh-CN" altLang="en-US" sz="1400" b="1" dirty="0">
                  <a:solidFill>
                    <a:schemeClr val="bg1"/>
                  </a:solidFill>
                  <a:latin typeface="微软雅黑" panose="020B0503020204020204" charset="-122"/>
                  <a:ea typeface="微软雅黑" panose="020B0503020204020204" charset="-122"/>
                  <a:cs typeface="微软雅黑" panose="020B0503020204020204" charset="-122"/>
                </a:rPr>
                <a:t>核心引擎</a:t>
              </a:r>
              <a:endParaRPr lang="zh-CN" altLang="en-US" sz="14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4137" name="矩形: 圆角 25"/>
          <p:cNvSpPr/>
          <p:nvPr/>
        </p:nvSpPr>
        <p:spPr>
          <a:xfrm>
            <a:off x="2922270" y="3197860"/>
            <a:ext cx="1100455" cy="401955"/>
          </a:xfrm>
          <a:prstGeom prst="roundRect">
            <a:avLst/>
          </a:prstGeom>
          <a:gradFill>
            <a:gsLst>
              <a:gs pos="87000">
                <a:schemeClr val="bg1">
                  <a:alpha val="0"/>
                </a:schemeClr>
              </a:gs>
              <a:gs pos="0">
                <a:schemeClr val="accent5">
                  <a:lumMod val="20000"/>
                  <a:lumOff val="80000"/>
                </a:schemeClr>
              </a:gs>
            </a:gsLst>
            <a:lin ang="0" scaled="0"/>
          </a:gradFill>
          <a:ln w="12700">
            <a:gradFill>
              <a:gsLst>
                <a:gs pos="0">
                  <a:schemeClr val="accent5"/>
                </a:gs>
                <a:gs pos="90000">
                  <a:schemeClr val="accent5">
                    <a:lumMod val="60000"/>
                    <a:lumOff val="40000"/>
                    <a:alpha val="0"/>
                  </a:schemeClr>
                </a:gs>
              </a:gsLst>
              <a:lin ang="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sym typeface="+mn-ea"/>
            </a:endParaRPr>
          </a:p>
        </p:txBody>
      </p:sp>
      <p:sp>
        <p:nvSpPr>
          <p:cNvPr id="4" name="矩形: 圆角 25"/>
          <p:cNvSpPr/>
          <p:nvPr/>
        </p:nvSpPr>
        <p:spPr>
          <a:xfrm>
            <a:off x="2636858" y="3674982"/>
            <a:ext cx="1343678" cy="401641"/>
          </a:xfrm>
          <a:prstGeom prst="roundRect">
            <a:avLst/>
          </a:prstGeom>
          <a:gradFill>
            <a:gsLst>
              <a:gs pos="87000">
                <a:schemeClr val="bg1">
                  <a:alpha val="0"/>
                </a:schemeClr>
              </a:gs>
              <a:gs pos="0">
                <a:schemeClr val="accent5">
                  <a:lumMod val="20000"/>
                  <a:lumOff val="80000"/>
                </a:schemeClr>
              </a:gs>
            </a:gsLst>
            <a:lin ang="0" scaled="0"/>
          </a:gradFill>
          <a:ln w="12700">
            <a:gradFill>
              <a:gsLst>
                <a:gs pos="0">
                  <a:schemeClr val="accent5"/>
                </a:gs>
                <a:gs pos="90000">
                  <a:schemeClr val="accent5">
                    <a:lumMod val="60000"/>
                    <a:lumOff val="40000"/>
                    <a:alpha val="0"/>
                  </a:schemeClr>
                </a:gs>
              </a:gsLst>
              <a:lin ang="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sym typeface="+mn-ea"/>
            </a:endParaRPr>
          </a:p>
        </p:txBody>
      </p:sp>
      <p:sp>
        <p:nvSpPr>
          <p:cNvPr id="8" name="矩形: 圆角 25"/>
          <p:cNvSpPr/>
          <p:nvPr/>
        </p:nvSpPr>
        <p:spPr>
          <a:xfrm flipH="1">
            <a:off x="8900160" y="3197860"/>
            <a:ext cx="1100455" cy="401955"/>
          </a:xfrm>
          <a:prstGeom prst="roundRect">
            <a:avLst/>
          </a:prstGeom>
          <a:gradFill>
            <a:gsLst>
              <a:gs pos="87000">
                <a:schemeClr val="bg1">
                  <a:alpha val="0"/>
                </a:schemeClr>
              </a:gs>
              <a:gs pos="0">
                <a:schemeClr val="accent5">
                  <a:lumMod val="20000"/>
                  <a:lumOff val="80000"/>
                </a:schemeClr>
              </a:gs>
            </a:gsLst>
            <a:lin ang="0" scaled="0"/>
          </a:gradFill>
          <a:ln w="12700">
            <a:gradFill>
              <a:gsLst>
                <a:gs pos="0">
                  <a:schemeClr val="accent5"/>
                </a:gs>
                <a:gs pos="90000">
                  <a:schemeClr val="accent5">
                    <a:lumMod val="60000"/>
                    <a:lumOff val="40000"/>
                    <a:alpha val="0"/>
                  </a:schemeClr>
                </a:gs>
              </a:gsLst>
              <a:lin ang="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sym typeface="+mn-ea"/>
            </a:endParaRPr>
          </a:p>
        </p:txBody>
      </p:sp>
      <p:sp>
        <p:nvSpPr>
          <p:cNvPr id="10" name="矩形: 圆角 25"/>
          <p:cNvSpPr/>
          <p:nvPr/>
        </p:nvSpPr>
        <p:spPr>
          <a:xfrm flipH="1">
            <a:off x="8614748" y="3674982"/>
            <a:ext cx="1343678" cy="401641"/>
          </a:xfrm>
          <a:prstGeom prst="roundRect">
            <a:avLst/>
          </a:prstGeom>
          <a:gradFill>
            <a:gsLst>
              <a:gs pos="87000">
                <a:schemeClr val="bg1">
                  <a:alpha val="0"/>
                </a:schemeClr>
              </a:gs>
              <a:gs pos="0">
                <a:schemeClr val="accent5">
                  <a:lumMod val="20000"/>
                  <a:lumOff val="80000"/>
                </a:schemeClr>
              </a:gs>
            </a:gsLst>
            <a:lin ang="0" scaled="0"/>
          </a:gradFill>
          <a:ln w="12700">
            <a:gradFill>
              <a:gsLst>
                <a:gs pos="0">
                  <a:schemeClr val="accent5"/>
                </a:gs>
                <a:gs pos="90000">
                  <a:schemeClr val="accent5">
                    <a:lumMod val="60000"/>
                    <a:lumOff val="40000"/>
                    <a:alpha val="0"/>
                  </a:schemeClr>
                </a:gs>
              </a:gsLst>
              <a:lin ang="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nvSpPr>
        <p:spPr>
          <a:xfrm>
            <a:off x="5370513" y="5434965"/>
            <a:ext cx="1636395" cy="460375"/>
          </a:xfrm>
          <a:prstGeom prst="rect">
            <a:avLst/>
          </a:prstGeom>
          <a:noFill/>
        </p:spPr>
        <p:txBody>
          <a:bodyPr wrap="square" rtlCol="0">
            <a:spAutoFit/>
          </a:bodyPr>
          <a:p>
            <a:pPr algn="ctr"/>
            <a:r>
              <a:rPr lang="zh-CN" altLang="en-US" sz="1200" b="1">
                <a:gradFill>
                  <a:gsLst>
                    <a:gs pos="0">
                      <a:schemeClr val="accent1">
                        <a:lumMod val="60000"/>
                        <a:lumOff val="40000"/>
                      </a:schemeClr>
                    </a:gs>
                    <a:gs pos="100000">
                      <a:schemeClr val="accent1"/>
                    </a:gs>
                  </a:gsLst>
                  <a:lin ang="5400000" scaled="0"/>
                </a:gradFill>
                <a:latin typeface="微软雅黑" panose="020B0503020204020204" charset="-122"/>
                <a:ea typeface="微软雅黑" panose="020B0503020204020204" charset="-122"/>
                <a:cs typeface="微软雅黑" panose="020B0503020204020204" charset="-122"/>
              </a:rPr>
              <a:t>硬实力支撑</a:t>
            </a:r>
            <a:endParaRPr lang="zh-CN" altLang="en-US" sz="1200" b="1">
              <a:gradFill>
                <a:gsLst>
                  <a:gs pos="0">
                    <a:schemeClr val="accent1">
                      <a:lumMod val="60000"/>
                      <a:lumOff val="40000"/>
                    </a:schemeClr>
                  </a:gs>
                  <a:gs pos="100000">
                    <a:schemeClr val="accent1"/>
                  </a:gs>
                </a:gsLst>
                <a:lin ang="5400000" scaled="0"/>
              </a:gradFill>
              <a:latin typeface="微软雅黑" panose="020B0503020204020204" charset="-122"/>
              <a:ea typeface="微软雅黑" panose="020B0503020204020204" charset="-122"/>
              <a:cs typeface="微软雅黑" panose="020B0503020204020204" charset="-122"/>
            </a:endParaRPr>
          </a:p>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技术底座与实体设施</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 name="椭圆 12"/>
          <p:cNvSpPr/>
          <p:nvPr/>
        </p:nvSpPr>
        <p:spPr>
          <a:xfrm>
            <a:off x="4260215" y="5974715"/>
            <a:ext cx="548640" cy="548640"/>
          </a:xfrm>
          <a:prstGeom prst="ellipse">
            <a:avLst/>
          </a:prstGeom>
          <a:gradFill>
            <a:gsLst>
              <a:gs pos="22000">
                <a:schemeClr val="accent1">
                  <a:lumMod val="40000"/>
                  <a:lumOff val="60000"/>
                </a:schemeClr>
              </a:gs>
              <a:gs pos="75000">
                <a:schemeClr val="accent1">
                  <a:lumMod val="60000"/>
                  <a:lumOff val="40000"/>
                </a:schemeClr>
              </a:gs>
            </a:gsLst>
            <a:path path="circle">
              <a:fillToRect r="100000" b="100000"/>
            </a:path>
          </a:gradFill>
          <a:ln>
            <a:noFill/>
          </a:ln>
          <a:effectLst>
            <a:outerShdw blurRad="355600" dist="114300" dir="2700000" sx="95000" sy="95000" algn="tl"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olidFill>
                <a:prstClr val="white"/>
              </a:solidFill>
              <a:latin typeface="微软雅黑" panose="020B0503020204020204" charset="-122"/>
              <a:ea typeface="微软雅黑" panose="020B0503020204020204" charset="-122"/>
              <a:cs typeface="微软雅黑" panose="020B0503020204020204" charset="-122"/>
              <a:sym typeface="+mn-ea"/>
            </a:endParaRPr>
          </a:p>
        </p:txBody>
      </p:sp>
      <p:sp>
        <p:nvSpPr>
          <p:cNvPr id="14" name="椭圆 13"/>
          <p:cNvSpPr/>
          <p:nvPr/>
        </p:nvSpPr>
        <p:spPr>
          <a:xfrm>
            <a:off x="5962015" y="6030595"/>
            <a:ext cx="548640" cy="548640"/>
          </a:xfrm>
          <a:prstGeom prst="ellipse">
            <a:avLst/>
          </a:prstGeom>
          <a:gradFill>
            <a:gsLst>
              <a:gs pos="22000">
                <a:schemeClr val="accent1">
                  <a:lumMod val="40000"/>
                  <a:lumOff val="60000"/>
                </a:schemeClr>
              </a:gs>
              <a:gs pos="75000">
                <a:schemeClr val="accent1">
                  <a:lumMod val="60000"/>
                  <a:lumOff val="40000"/>
                </a:schemeClr>
              </a:gs>
            </a:gsLst>
            <a:path path="circle">
              <a:fillToRect r="100000" b="100000"/>
            </a:path>
          </a:gradFill>
          <a:ln>
            <a:noFill/>
          </a:ln>
          <a:effectLst>
            <a:outerShdw blurRad="355600" dist="114300" dir="2700000" sx="95000" sy="95000" algn="tl"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olidFill>
                <a:prstClr val="white"/>
              </a:solidFill>
              <a:latin typeface="微软雅黑" panose="020B0503020204020204" charset="-122"/>
              <a:ea typeface="微软雅黑" panose="020B0503020204020204" charset="-122"/>
              <a:cs typeface="微软雅黑" panose="020B0503020204020204" charset="-122"/>
              <a:sym typeface="+mn-ea"/>
            </a:endParaRPr>
          </a:p>
        </p:txBody>
      </p:sp>
      <p:sp>
        <p:nvSpPr>
          <p:cNvPr id="17" name="椭圆 16"/>
          <p:cNvSpPr/>
          <p:nvPr/>
        </p:nvSpPr>
        <p:spPr>
          <a:xfrm>
            <a:off x="7677785" y="5974715"/>
            <a:ext cx="548640" cy="548640"/>
          </a:xfrm>
          <a:prstGeom prst="ellipse">
            <a:avLst/>
          </a:prstGeom>
          <a:gradFill>
            <a:gsLst>
              <a:gs pos="22000">
                <a:schemeClr val="accent1">
                  <a:lumMod val="40000"/>
                  <a:lumOff val="60000"/>
                </a:schemeClr>
              </a:gs>
              <a:gs pos="75000">
                <a:schemeClr val="accent1">
                  <a:lumMod val="60000"/>
                  <a:lumOff val="40000"/>
                </a:schemeClr>
              </a:gs>
            </a:gsLst>
            <a:path path="circle">
              <a:fillToRect r="100000" b="100000"/>
            </a:path>
          </a:gradFill>
          <a:ln>
            <a:noFill/>
          </a:ln>
          <a:effectLst>
            <a:outerShdw blurRad="355600" dist="114300" dir="2700000" sx="95000" sy="95000" algn="tl"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olidFill>
                <a:prstClr val="white"/>
              </a:solidFill>
              <a:latin typeface="微软雅黑" panose="020B0503020204020204" charset="-122"/>
              <a:ea typeface="微软雅黑" panose="020B0503020204020204" charset="-122"/>
              <a:cs typeface="微软雅黑" panose="020B0503020204020204" charset="-122"/>
              <a:sym typeface="+mn-ea"/>
            </a:endParaRPr>
          </a:p>
        </p:txBody>
      </p:sp>
      <p:sp>
        <p:nvSpPr>
          <p:cNvPr id="18" name="椭圆 17"/>
          <p:cNvSpPr/>
          <p:nvPr/>
        </p:nvSpPr>
        <p:spPr>
          <a:xfrm>
            <a:off x="9417685" y="5768975"/>
            <a:ext cx="548640" cy="548640"/>
          </a:xfrm>
          <a:prstGeom prst="ellipse">
            <a:avLst/>
          </a:prstGeom>
          <a:gradFill>
            <a:gsLst>
              <a:gs pos="22000">
                <a:schemeClr val="accent1">
                  <a:lumMod val="40000"/>
                  <a:lumOff val="60000"/>
                </a:schemeClr>
              </a:gs>
              <a:gs pos="75000">
                <a:schemeClr val="accent1">
                  <a:lumMod val="60000"/>
                  <a:lumOff val="40000"/>
                </a:schemeClr>
              </a:gs>
            </a:gsLst>
            <a:path path="circle">
              <a:fillToRect r="100000" b="100000"/>
            </a:path>
          </a:gradFill>
          <a:ln>
            <a:noFill/>
          </a:ln>
          <a:effectLst>
            <a:outerShdw blurRad="355600" dist="114300" dir="2700000" sx="95000" sy="95000" algn="tl"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olidFill>
                <a:prstClr val="white"/>
              </a:solidFill>
              <a:latin typeface="微软雅黑" panose="020B0503020204020204" charset="-122"/>
              <a:ea typeface="微软雅黑" panose="020B0503020204020204" charset="-122"/>
              <a:cs typeface="微软雅黑" panose="020B0503020204020204" charset="-122"/>
              <a:sym typeface="+mn-ea"/>
            </a:endParaRPr>
          </a:p>
        </p:txBody>
      </p:sp>
      <p:sp>
        <p:nvSpPr>
          <p:cNvPr id="51" name="文本框 50"/>
          <p:cNvSpPr txBox="1"/>
          <p:nvPr/>
        </p:nvSpPr>
        <p:spPr>
          <a:xfrm>
            <a:off x="5370513" y="4321175"/>
            <a:ext cx="1636395" cy="460375"/>
          </a:xfrm>
          <a:prstGeom prst="rect">
            <a:avLst/>
          </a:prstGeom>
          <a:noFill/>
        </p:spPr>
        <p:txBody>
          <a:bodyPr wrap="square" rtlCol="0">
            <a:spAutoFit/>
          </a:bodyPr>
          <a:p>
            <a:pPr lvl="0" algn="ctr">
              <a:buClrTx/>
              <a:buSzTx/>
              <a:buFontTx/>
            </a:pPr>
            <a:r>
              <a:rPr lang="zh-CN" altLang="en-US" sz="1200" b="1">
                <a:solidFill>
                  <a:schemeClr val="bg1"/>
                </a:solidFill>
                <a:latin typeface="微软雅黑" panose="020B0503020204020204" charset="-122"/>
                <a:ea typeface="微软雅黑" panose="020B0503020204020204" charset="-122"/>
                <a:cs typeface="微软雅黑" panose="020B0503020204020204" charset="-122"/>
                <a:sym typeface="+mn-ea"/>
              </a:rPr>
              <a:t>软实力支撑</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200">
                <a:solidFill>
                  <a:schemeClr val="tx2"/>
                </a:solidFill>
                <a:latin typeface="微软雅黑" panose="020B0503020204020204" charset="-122"/>
                <a:ea typeface="微软雅黑" panose="020B0503020204020204" charset="-122"/>
                <a:cs typeface="微软雅黑" panose="020B0503020204020204" charset="-122"/>
                <a:sym typeface="+mn-ea"/>
              </a:rPr>
              <a:t>机制环境与无形能力</a:t>
            </a:r>
            <a:endParaRPr lang="zh-CN" altLang="en-US" sz="12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nvGrpSpPr>
          <p:cNvPr id="87" name="组合 86"/>
          <p:cNvGrpSpPr/>
          <p:nvPr/>
        </p:nvGrpSpPr>
        <p:grpSpPr>
          <a:xfrm>
            <a:off x="2623820" y="4262120"/>
            <a:ext cx="1666240" cy="937260"/>
            <a:chOff x="4132" y="6712"/>
            <a:chExt cx="2624" cy="1476"/>
          </a:xfrm>
        </p:grpSpPr>
        <p:sp>
          <p:nvSpPr>
            <p:cNvPr id="25" name="矩形: 圆角 25"/>
            <p:cNvSpPr/>
            <p:nvPr/>
          </p:nvSpPr>
          <p:spPr>
            <a:xfrm>
              <a:off x="4153" y="6712"/>
              <a:ext cx="2470" cy="1476"/>
            </a:xfrm>
            <a:prstGeom prst="roundRect">
              <a:avLst>
                <a:gd name="adj" fmla="val 13279"/>
              </a:avLst>
            </a:prstGeom>
            <a:gradFill>
              <a:gsLst>
                <a:gs pos="87000">
                  <a:schemeClr val="bg1">
                    <a:alpha val="0"/>
                  </a:schemeClr>
                </a:gs>
                <a:gs pos="0">
                  <a:schemeClr val="accent5">
                    <a:lumMod val="20000"/>
                    <a:lumOff val="80000"/>
                  </a:schemeClr>
                </a:gs>
              </a:gsLst>
              <a:lin ang="5400000" scaled="0"/>
            </a:gradFill>
            <a:ln w="12700">
              <a:gradFill>
                <a:gsLst>
                  <a:gs pos="0">
                    <a:schemeClr val="accent5"/>
                  </a:gs>
                  <a:gs pos="90000">
                    <a:schemeClr val="accent5">
                      <a:lumMod val="60000"/>
                      <a:lumOff val="40000"/>
                      <a:alpha val="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sym typeface="+mn-ea"/>
              </a:endParaRPr>
            </a:p>
          </p:txBody>
        </p:sp>
        <p:sp>
          <p:nvSpPr>
            <p:cNvPr id="52" name="文本框 51"/>
            <p:cNvSpPr txBox="1"/>
            <p:nvPr/>
          </p:nvSpPr>
          <p:spPr>
            <a:xfrm>
              <a:off x="4132" y="6805"/>
              <a:ext cx="2577" cy="434"/>
            </a:xfrm>
            <a:prstGeom prst="rect">
              <a:avLst/>
            </a:prstGeom>
            <a:noFill/>
          </p:spPr>
          <p:txBody>
            <a:bodyPr wrap="square" rtlCol="0">
              <a:spAutoFit/>
            </a:bodyPr>
            <a:p>
              <a:pPr algn="ctr"/>
              <a:r>
                <a:rPr lang="zh-CN" altLang="en-US" sz="12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rPr>
                <a:t>创新驱动</a:t>
              </a:r>
              <a:endParaRPr lang="zh-CN" altLang="en-US" sz="12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endParaRPr>
            </a:p>
          </p:txBody>
        </p:sp>
        <p:sp>
          <p:nvSpPr>
            <p:cNvPr id="53" name="文本框 52"/>
            <p:cNvSpPr txBox="1"/>
            <p:nvPr/>
          </p:nvSpPr>
          <p:spPr>
            <a:xfrm>
              <a:off x="4180" y="7239"/>
              <a:ext cx="2577" cy="919"/>
            </a:xfrm>
            <a:prstGeom prst="rect">
              <a:avLst/>
            </a:prstGeom>
            <a:noFill/>
          </p:spPr>
          <p:txBody>
            <a:bodyPr wrap="square" rtlCol="0">
              <a:spAutoFit/>
            </a:bodyPr>
            <a:p>
              <a:pPr algn="l"/>
              <a:r>
                <a:rPr lang="zh-CN" altLang="en-US" sz="800">
                  <a:solidFill>
                    <a:schemeClr val="tx2"/>
                  </a:solidFill>
                  <a:latin typeface="微软雅黑" panose="020B0503020204020204" charset="-122"/>
                  <a:ea typeface="微软雅黑" panose="020B0503020204020204" charset="-122"/>
                  <a:cs typeface="微软雅黑" panose="020B0503020204020204" charset="-122"/>
                </a:rPr>
                <a:t>以创新作为拉动全要素生产率提升的根本动力。技术范式创新、业务模式创新、研发流程创新、组织和机制创新。</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54" name="文本框 53"/>
          <p:cNvSpPr txBox="1"/>
          <p:nvPr/>
        </p:nvSpPr>
        <p:spPr>
          <a:xfrm>
            <a:off x="2922270" y="3261043"/>
            <a:ext cx="1123315" cy="275590"/>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精准获客体系</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5" name="文本框 54"/>
          <p:cNvSpPr txBox="1"/>
          <p:nvPr/>
        </p:nvSpPr>
        <p:spPr>
          <a:xfrm>
            <a:off x="2555240" y="3738008"/>
            <a:ext cx="1301750" cy="275590"/>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渠道深耕策略</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6" name="文本框 55"/>
          <p:cNvSpPr txBox="1"/>
          <p:nvPr/>
        </p:nvSpPr>
        <p:spPr>
          <a:xfrm>
            <a:off x="8886825" y="3269615"/>
            <a:ext cx="1097915" cy="275590"/>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资源整合优化</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7" name="文本框 56"/>
          <p:cNvSpPr txBox="1"/>
          <p:nvPr/>
        </p:nvSpPr>
        <p:spPr>
          <a:xfrm>
            <a:off x="8617585" y="3738245"/>
            <a:ext cx="1367155" cy="275590"/>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差异化竞争策略</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86" name="组合 85"/>
          <p:cNvGrpSpPr/>
          <p:nvPr/>
        </p:nvGrpSpPr>
        <p:grpSpPr>
          <a:xfrm>
            <a:off x="8348345" y="4262120"/>
            <a:ext cx="1635760" cy="937260"/>
            <a:chOff x="13147" y="6912"/>
            <a:chExt cx="2576" cy="1476"/>
          </a:xfrm>
        </p:grpSpPr>
        <p:sp>
          <p:nvSpPr>
            <p:cNvPr id="59" name="矩形: 圆角 25"/>
            <p:cNvSpPr/>
            <p:nvPr/>
          </p:nvSpPr>
          <p:spPr>
            <a:xfrm>
              <a:off x="13168" y="6912"/>
              <a:ext cx="2470" cy="1476"/>
            </a:xfrm>
            <a:prstGeom prst="roundRect">
              <a:avLst>
                <a:gd name="adj" fmla="val 13279"/>
              </a:avLst>
            </a:prstGeom>
            <a:gradFill>
              <a:gsLst>
                <a:gs pos="87000">
                  <a:schemeClr val="bg1">
                    <a:alpha val="0"/>
                  </a:schemeClr>
                </a:gs>
                <a:gs pos="0">
                  <a:schemeClr val="accent5">
                    <a:lumMod val="20000"/>
                    <a:lumOff val="80000"/>
                  </a:schemeClr>
                </a:gs>
              </a:gsLst>
              <a:lin ang="5400000" scaled="0"/>
            </a:gradFill>
            <a:ln w="12700">
              <a:gradFill>
                <a:gsLst>
                  <a:gs pos="0">
                    <a:schemeClr val="accent5"/>
                  </a:gs>
                  <a:gs pos="90000">
                    <a:schemeClr val="accent5">
                      <a:lumMod val="60000"/>
                      <a:lumOff val="40000"/>
                      <a:alpha val="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sym typeface="+mn-ea"/>
              </a:endParaRPr>
            </a:p>
          </p:txBody>
        </p:sp>
        <p:sp>
          <p:nvSpPr>
            <p:cNvPr id="60" name="文本框 59"/>
            <p:cNvSpPr txBox="1"/>
            <p:nvPr/>
          </p:nvSpPr>
          <p:spPr>
            <a:xfrm>
              <a:off x="13147" y="7005"/>
              <a:ext cx="2577" cy="434"/>
            </a:xfrm>
            <a:prstGeom prst="rect">
              <a:avLst/>
            </a:prstGeom>
            <a:noFill/>
          </p:spPr>
          <p:txBody>
            <a:bodyPr wrap="square" rtlCol="0">
              <a:spAutoFit/>
            </a:bodyPr>
            <a:p>
              <a:pPr lvl="0" algn="ctr">
                <a:buClrTx/>
                <a:buSzTx/>
                <a:buFontTx/>
              </a:pPr>
              <a:r>
                <a:rPr lang="zh-CN" altLang="en-US" sz="12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sym typeface="+mn-ea"/>
                </a:rPr>
                <a:t>人才基石</a:t>
              </a:r>
              <a:endParaRPr lang="zh-CN" altLang="en-US" sz="12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sym typeface="+mn-ea"/>
              </a:endParaRPr>
            </a:p>
          </p:txBody>
        </p:sp>
        <p:sp>
          <p:nvSpPr>
            <p:cNvPr id="63" name="文本框 62"/>
            <p:cNvSpPr txBox="1"/>
            <p:nvPr/>
          </p:nvSpPr>
          <p:spPr>
            <a:xfrm>
              <a:off x="13215" y="7439"/>
              <a:ext cx="2442" cy="919"/>
            </a:xfrm>
            <a:prstGeom prst="rect">
              <a:avLst/>
            </a:prstGeom>
            <a:noFill/>
          </p:spPr>
          <p:txBody>
            <a:bodyPr wrap="square" rtlCol="0">
              <a:spAutoFit/>
            </a:bodyPr>
            <a:p>
              <a:pPr algn="l"/>
              <a:r>
                <a:rPr lang="zh-CN" altLang="en-US" sz="800">
                  <a:solidFill>
                    <a:schemeClr val="tx2"/>
                  </a:solidFill>
                  <a:latin typeface="微软雅黑" panose="020B0503020204020204" charset="-122"/>
                  <a:ea typeface="微软雅黑" panose="020B0503020204020204" charset="-122"/>
                  <a:cs typeface="微软雅黑" panose="020B0503020204020204" charset="-122"/>
                </a:rPr>
                <a:t>人才是数智化转型落地的最关键变量，不仅需要技术专家，更需要懂业务、懂数据、懂管理的复合型人才。</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64" name="文本框 63"/>
          <p:cNvSpPr txBox="1"/>
          <p:nvPr/>
        </p:nvSpPr>
        <p:spPr>
          <a:xfrm>
            <a:off x="5488305" y="3130550"/>
            <a:ext cx="1400810" cy="460375"/>
          </a:xfrm>
          <a:prstGeom prst="rect">
            <a:avLst/>
          </a:prstGeom>
          <a:noFill/>
        </p:spPr>
        <p:txBody>
          <a:bodyPr wrap="square" rtlCol="0">
            <a:spAutoFit/>
          </a:bodyPr>
          <a:p>
            <a:pPr lvl="0" algn="ctr">
              <a:buClrTx/>
              <a:buSzTx/>
              <a:buFontTx/>
            </a:pPr>
            <a:r>
              <a:rPr lang="zh-CN" altLang="en-US" sz="1200" b="1">
                <a:solidFill>
                  <a:schemeClr val="bg1"/>
                </a:solidFill>
                <a:latin typeface="微软雅黑" panose="020B0503020204020204" charset="-122"/>
                <a:ea typeface="微软雅黑" panose="020B0503020204020204" charset="-122"/>
                <a:cs typeface="微软雅黑" panose="020B0503020204020204" charset="-122"/>
                <a:sym typeface="+mn-ea"/>
              </a:rPr>
              <a:t>四步走</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200">
                <a:solidFill>
                  <a:schemeClr val="tx2"/>
                </a:solidFill>
                <a:latin typeface="微软雅黑" panose="020B0503020204020204" charset="-122"/>
                <a:ea typeface="微软雅黑" panose="020B0503020204020204" charset="-122"/>
                <a:cs typeface="微软雅黑" panose="020B0503020204020204" charset="-122"/>
                <a:sym typeface="+mn-ea"/>
              </a:rPr>
              <a:t>执行策略</a:t>
            </a:r>
            <a:endParaRPr lang="zh-CN" altLang="en-US" sz="12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nvGrpSpPr>
          <p:cNvPr id="88" name="组合 87"/>
          <p:cNvGrpSpPr/>
          <p:nvPr/>
        </p:nvGrpSpPr>
        <p:grpSpPr>
          <a:xfrm rot="11340000" flipH="1" flipV="1">
            <a:off x="10139680" y="3188335"/>
            <a:ext cx="924560" cy="1734185"/>
            <a:chOff x="3339603" y="3907317"/>
            <a:chExt cx="1367194" cy="1758253"/>
          </a:xfrm>
        </p:grpSpPr>
        <p:sp>
          <p:nvSpPr>
            <p:cNvPr id="89" name="任意多边形: 形状 22"/>
            <p:cNvSpPr/>
            <p:nvPr/>
          </p:nvSpPr>
          <p:spPr>
            <a:xfrm>
              <a:off x="3339603" y="3907317"/>
              <a:ext cx="1367194" cy="1758253"/>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lumMod val="60000"/>
                    <a:lumOff val="40000"/>
                    <a:alpha val="0"/>
                  </a:schemeClr>
                </a:gs>
                <a:gs pos="100000">
                  <a:schemeClr val="accent5"/>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92" name="矩形 91"/>
            <p:cNvSpPr/>
            <p:nvPr/>
          </p:nvSpPr>
          <p:spPr>
            <a:xfrm>
              <a:off x="3726268" y="4120775"/>
              <a:ext cx="564328" cy="1215519"/>
            </a:xfrm>
            <a:prstGeom prst="rect">
              <a:avLst/>
            </a:prstGeom>
            <a:noFill/>
            <a:ln>
              <a:noFill/>
            </a:ln>
            <a:extLst>
              <a:ext uri="{909E8E84-426E-40DD-AFC4-6F175D3DCCD1}">
                <a14:hiddenFill xmlns:a14="http://schemas.microsoft.com/office/drawing/2010/main">
                  <a:gradFill flip="none" rotWithShape="1">
                    <a:gsLst>
                      <a:gs pos="0">
                        <a:schemeClr val="accent5">
                          <a:lumMod val="60000"/>
                          <a:lumOff val="40000"/>
                          <a:alpha val="0"/>
                        </a:schemeClr>
                      </a:gs>
                      <a:gs pos="100000">
                        <a:schemeClr val="accent5"/>
                      </a:gs>
                    </a:gsLst>
                    <a:lin ang="16200000" scaled="1"/>
                    <a:tileRect/>
                  </a:gra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b="1" dirty="0">
                  <a:latin typeface="微软雅黑" panose="020B0503020204020204" charset="-122"/>
                  <a:ea typeface="微软雅黑" panose="020B0503020204020204" charset="-122"/>
                  <a:cs typeface="微软雅黑" panose="020B0503020204020204" charset="-122"/>
                  <a:sym typeface="+mn-ea"/>
                </a:rPr>
                <a:t>智力保障</a:t>
              </a:r>
              <a:endParaRPr lang="zh-CN" altLang="en-US" sz="1400" b="1" dirty="0">
                <a:latin typeface="微软雅黑" panose="020B0503020204020204" charset="-122"/>
                <a:ea typeface="微软雅黑" panose="020B0503020204020204" charset="-122"/>
                <a:cs typeface="微软雅黑" panose="020B0503020204020204" charset="-122"/>
                <a:sym typeface="+mn-ea"/>
              </a:endParaRPr>
            </a:p>
          </p:txBody>
        </p:sp>
      </p:grpSp>
      <p:sp>
        <p:nvSpPr>
          <p:cNvPr id="76" name="文本框 75"/>
          <p:cNvSpPr txBox="1"/>
          <p:nvPr/>
        </p:nvSpPr>
        <p:spPr>
          <a:xfrm>
            <a:off x="2479675" y="5843905"/>
            <a:ext cx="657860" cy="398780"/>
          </a:xfrm>
          <a:prstGeom prst="rect">
            <a:avLst/>
          </a:prstGeom>
          <a:noFill/>
        </p:spPr>
        <p:txBody>
          <a:bodyPr wrap="square" rtlCol="0">
            <a:spAutoFit/>
          </a:bodyPr>
          <a:p>
            <a:pPr algn="ctr"/>
            <a:r>
              <a:rPr lang="en-US" altLang="zh-CN" sz="1000" b="1">
                <a:solidFill>
                  <a:schemeClr val="bg1"/>
                </a:solidFill>
                <a:latin typeface="微软雅黑" panose="020B0503020204020204" charset="-122"/>
                <a:ea typeface="微软雅黑" panose="020B0503020204020204" charset="-122"/>
                <a:cs typeface="微软雅黑" panose="020B0503020204020204" charset="-122"/>
              </a:rPr>
              <a:t>AI</a:t>
            </a:r>
            <a:endParaRPr lang="en-US" altLang="zh-CN" sz="10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000" b="1">
                <a:solidFill>
                  <a:schemeClr val="bg1"/>
                </a:solidFill>
                <a:latin typeface="微软雅黑" panose="020B0503020204020204" charset="-122"/>
                <a:ea typeface="微软雅黑" panose="020B0503020204020204" charset="-122"/>
                <a:cs typeface="微软雅黑" panose="020B0503020204020204" charset="-122"/>
              </a:rPr>
              <a:t>应用</a:t>
            </a:r>
            <a:endParaRPr lang="zh-CN" altLang="en-US" sz="10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5" name="文本框 94"/>
          <p:cNvSpPr txBox="1"/>
          <p:nvPr/>
        </p:nvSpPr>
        <p:spPr>
          <a:xfrm>
            <a:off x="4205605" y="6049645"/>
            <a:ext cx="657860" cy="398780"/>
          </a:xfrm>
          <a:prstGeom prst="rect">
            <a:avLst/>
          </a:prstGeom>
          <a:noFill/>
        </p:spPr>
        <p:txBody>
          <a:bodyPr wrap="square" rtlCol="0">
            <a:spAutoFit/>
          </a:bodyPr>
          <a:p>
            <a:pPr algn="ctr"/>
            <a:r>
              <a:rPr lang="zh-CN" sz="1000" b="1">
                <a:solidFill>
                  <a:schemeClr val="bg1"/>
                </a:solidFill>
                <a:latin typeface="微软雅黑" panose="020B0503020204020204" charset="-122"/>
                <a:ea typeface="微软雅黑" panose="020B0503020204020204" charset="-122"/>
                <a:cs typeface="微软雅黑" panose="020B0503020204020204" charset="-122"/>
              </a:rPr>
              <a:t>算力</a:t>
            </a:r>
            <a:endParaRPr lang="zh-CN" sz="10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sz="1000" b="1">
                <a:solidFill>
                  <a:schemeClr val="bg1"/>
                </a:solidFill>
                <a:latin typeface="微软雅黑" panose="020B0503020204020204" charset="-122"/>
                <a:ea typeface="微软雅黑" panose="020B0503020204020204" charset="-122"/>
                <a:cs typeface="微软雅黑" panose="020B0503020204020204" charset="-122"/>
              </a:rPr>
              <a:t>网络</a:t>
            </a:r>
            <a:endParaRPr lang="zh-CN" sz="10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6" name="文本框 95"/>
          <p:cNvSpPr txBox="1"/>
          <p:nvPr/>
        </p:nvSpPr>
        <p:spPr>
          <a:xfrm>
            <a:off x="5907405" y="6105525"/>
            <a:ext cx="657860" cy="398780"/>
          </a:xfrm>
          <a:prstGeom prst="rect">
            <a:avLst/>
          </a:prstGeom>
          <a:noFill/>
        </p:spPr>
        <p:txBody>
          <a:bodyPr wrap="square" rtlCol="0">
            <a:spAutoFit/>
          </a:bodyPr>
          <a:p>
            <a:pPr algn="ctr"/>
            <a:r>
              <a:rPr lang="zh-CN" sz="1000" b="1">
                <a:solidFill>
                  <a:schemeClr val="bg1"/>
                </a:solidFill>
                <a:latin typeface="微软雅黑" panose="020B0503020204020204" charset="-122"/>
                <a:ea typeface="微软雅黑" panose="020B0503020204020204" charset="-122"/>
                <a:cs typeface="微软雅黑" panose="020B0503020204020204" charset="-122"/>
              </a:rPr>
              <a:t>供应链优化</a:t>
            </a:r>
            <a:endParaRPr lang="zh-CN" sz="10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7" name="文本框 96"/>
          <p:cNvSpPr txBox="1"/>
          <p:nvPr/>
        </p:nvSpPr>
        <p:spPr>
          <a:xfrm>
            <a:off x="7623175" y="6049645"/>
            <a:ext cx="657860" cy="398780"/>
          </a:xfrm>
          <a:prstGeom prst="rect">
            <a:avLst/>
          </a:prstGeom>
          <a:noFill/>
        </p:spPr>
        <p:txBody>
          <a:bodyPr wrap="square" rtlCol="0">
            <a:spAutoFit/>
          </a:bodyPr>
          <a:p>
            <a:pPr algn="ctr"/>
            <a:r>
              <a:rPr lang="zh-CN" sz="1000" b="1">
                <a:solidFill>
                  <a:schemeClr val="bg1"/>
                </a:solidFill>
                <a:latin typeface="微软雅黑" panose="020B0503020204020204" charset="-122"/>
                <a:ea typeface="微软雅黑" panose="020B0503020204020204" charset="-122"/>
                <a:cs typeface="微软雅黑" panose="020B0503020204020204" charset="-122"/>
              </a:rPr>
              <a:t>智能</a:t>
            </a:r>
            <a:endParaRPr lang="zh-CN" sz="10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sz="1000" b="1">
                <a:solidFill>
                  <a:schemeClr val="bg1"/>
                </a:solidFill>
                <a:latin typeface="微软雅黑" panose="020B0503020204020204" charset="-122"/>
                <a:ea typeface="微软雅黑" panose="020B0503020204020204" charset="-122"/>
                <a:cs typeface="微软雅黑" panose="020B0503020204020204" charset="-122"/>
              </a:rPr>
              <a:t>决策</a:t>
            </a:r>
            <a:endParaRPr lang="zh-CN" sz="10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8" name="文本框 97"/>
          <p:cNvSpPr txBox="1"/>
          <p:nvPr/>
        </p:nvSpPr>
        <p:spPr>
          <a:xfrm>
            <a:off x="9363075" y="5843905"/>
            <a:ext cx="657860" cy="398780"/>
          </a:xfrm>
          <a:prstGeom prst="rect">
            <a:avLst/>
          </a:prstGeom>
          <a:noFill/>
        </p:spPr>
        <p:txBody>
          <a:bodyPr wrap="square" rtlCol="0">
            <a:spAutoFit/>
          </a:bodyPr>
          <a:p>
            <a:pPr algn="ctr"/>
            <a:r>
              <a:rPr lang="zh-CN" sz="1000" b="1">
                <a:solidFill>
                  <a:schemeClr val="bg1"/>
                </a:solidFill>
                <a:latin typeface="微软雅黑" panose="020B0503020204020204" charset="-122"/>
                <a:ea typeface="微软雅黑" panose="020B0503020204020204" charset="-122"/>
                <a:cs typeface="微软雅黑" panose="020B0503020204020204" charset="-122"/>
              </a:rPr>
              <a:t>安全</a:t>
            </a:r>
            <a:endParaRPr lang="zh-CN" sz="10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sz="1000" b="1">
                <a:solidFill>
                  <a:schemeClr val="bg1"/>
                </a:solidFill>
                <a:latin typeface="微软雅黑" panose="020B0503020204020204" charset="-122"/>
                <a:ea typeface="微软雅黑" panose="020B0503020204020204" charset="-122"/>
                <a:cs typeface="微软雅黑" panose="020B0503020204020204" charset="-122"/>
              </a:rPr>
              <a:t>防护</a:t>
            </a:r>
            <a:endParaRPr lang="zh-CN" sz="10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7" name="椭圆 6"/>
          <p:cNvSpPr/>
          <p:nvPr/>
        </p:nvSpPr>
        <p:spPr>
          <a:xfrm>
            <a:off x="4365625" y="4711065"/>
            <a:ext cx="109220" cy="109220"/>
          </a:xfrm>
          <a:prstGeom prst="ellipse">
            <a:avLst/>
          </a:prstGeom>
          <a:solidFill>
            <a:schemeClr val="accent5">
              <a:lumMod val="60000"/>
              <a:lumOff val="4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 name="椭圆 8"/>
          <p:cNvSpPr/>
          <p:nvPr/>
        </p:nvSpPr>
        <p:spPr>
          <a:xfrm>
            <a:off x="8030210" y="4728845"/>
            <a:ext cx="109220" cy="109220"/>
          </a:xfrm>
          <a:prstGeom prst="ellipse">
            <a:avLst/>
          </a:prstGeom>
          <a:solidFill>
            <a:schemeClr val="accent5">
              <a:lumMod val="60000"/>
              <a:lumOff val="40000"/>
            </a:schemeClr>
          </a:solidFill>
          <a:ln w="254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 name="圆角矩形 19"/>
          <p:cNvSpPr/>
          <p:nvPr/>
        </p:nvSpPr>
        <p:spPr>
          <a:xfrm>
            <a:off x="5106035" y="1063625"/>
            <a:ext cx="2145030" cy="541655"/>
          </a:xfrm>
          <a:prstGeom prst="roundRect">
            <a:avLst/>
          </a:prstGeom>
          <a:gradFill>
            <a:gsLst>
              <a:gs pos="87000">
                <a:schemeClr val="bg1">
                  <a:alpha val="0"/>
                </a:schemeClr>
              </a:gs>
              <a:gs pos="0">
                <a:schemeClr val="accent5">
                  <a:lumMod val="20000"/>
                  <a:lumOff val="80000"/>
                </a:schemeClr>
              </a:gs>
            </a:gsLst>
            <a:lin ang="5400000" scaled="0"/>
          </a:gradFill>
          <a:ln w="25400">
            <a:gradFill>
              <a:gsLst>
                <a:gs pos="0">
                  <a:schemeClr val="accent5">
                    <a:lumMod val="60000"/>
                    <a:lumOff val="40000"/>
                  </a:schemeClr>
                </a:gs>
                <a:gs pos="90000">
                  <a:schemeClr val="accent5">
                    <a:lumMod val="60000"/>
                    <a:lumOff val="40000"/>
                    <a:alpha val="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rPr>
              <a:t>数智化引领未来</a:t>
            </a:r>
            <a:endParaRPr lang="zh-CN" altLang="en-US"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endParaRPr>
          </a:p>
        </p:txBody>
      </p:sp>
      <p:sp>
        <p:nvSpPr>
          <p:cNvPr id="21" name="任意多边形: 形状 33"/>
          <p:cNvSpPr/>
          <p:nvPr/>
        </p:nvSpPr>
        <p:spPr>
          <a:xfrm>
            <a:off x="1423035" y="1971675"/>
            <a:ext cx="9629775" cy="902335"/>
          </a:xfrm>
          <a:custGeom>
            <a:avLst/>
            <a:gdLst>
              <a:gd name="connsiteX0" fmla="*/ 1429941 w 2859880"/>
              <a:gd name="connsiteY0" fmla="*/ 0 h 578502"/>
              <a:gd name="connsiteX1" fmla="*/ 2852499 w 2859880"/>
              <a:gd name="connsiteY1" fmla="*/ 259677 h 578502"/>
              <a:gd name="connsiteX2" fmla="*/ 2859880 w 2859880"/>
              <a:gd name="connsiteY2" fmla="*/ 289243 h 578502"/>
              <a:gd name="connsiteX3" fmla="*/ 2859880 w 2859880"/>
              <a:gd name="connsiteY3" fmla="*/ 289259 h 578502"/>
              <a:gd name="connsiteX4" fmla="*/ 2852499 w 2859880"/>
              <a:gd name="connsiteY4" fmla="*/ 318825 h 578502"/>
              <a:gd name="connsiteX5" fmla="*/ 1429941 w 2859880"/>
              <a:gd name="connsiteY5" fmla="*/ 578502 h 578502"/>
              <a:gd name="connsiteX6" fmla="*/ 0 w 2859880"/>
              <a:gd name="connsiteY6" fmla="*/ 289251 h 578502"/>
              <a:gd name="connsiteX7" fmla="*/ 1429941 w 2859880"/>
              <a:gd name="connsiteY7" fmla="*/ 0 h 578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59880" h="578502">
                <a:moveTo>
                  <a:pt x="1429941" y="0"/>
                </a:moveTo>
                <a:cubicBezTo>
                  <a:pt x="2170318" y="0"/>
                  <a:pt x="2779272" y="113820"/>
                  <a:pt x="2852499" y="259677"/>
                </a:cubicBezTo>
                <a:lnTo>
                  <a:pt x="2859880" y="289243"/>
                </a:lnTo>
                <a:lnTo>
                  <a:pt x="2859880" y="289259"/>
                </a:lnTo>
                <a:lnTo>
                  <a:pt x="2852499" y="318825"/>
                </a:lnTo>
                <a:cubicBezTo>
                  <a:pt x="2779272" y="464682"/>
                  <a:pt x="2170318" y="578502"/>
                  <a:pt x="1429941" y="578502"/>
                </a:cubicBezTo>
                <a:cubicBezTo>
                  <a:pt x="640206" y="578502"/>
                  <a:pt x="0" y="449000"/>
                  <a:pt x="0" y="289251"/>
                </a:cubicBezTo>
                <a:cubicBezTo>
                  <a:pt x="0" y="129502"/>
                  <a:pt x="640206" y="0"/>
                  <a:pt x="1429941" y="0"/>
                </a:cubicBezTo>
                <a:close/>
              </a:path>
            </a:pathLst>
          </a:custGeom>
          <a:gradFill>
            <a:gsLst>
              <a:gs pos="100000">
                <a:schemeClr val="accent1">
                  <a:lumMod val="20000"/>
                  <a:lumOff val="80000"/>
                  <a:alpha val="50000"/>
                </a:schemeClr>
              </a:gs>
              <a:gs pos="20000">
                <a:schemeClr val="bg1">
                  <a:alpha val="0"/>
                </a:schemeClr>
              </a:gs>
            </a:gsLst>
            <a:lin ang="5400000" scaled="0"/>
          </a:gradFill>
          <a:ln w="25400">
            <a:gradFill>
              <a:gsLst>
                <a:gs pos="30000">
                  <a:schemeClr val="accent1">
                    <a:lumMod val="60000"/>
                    <a:lumOff val="40000"/>
                  </a:schemeClr>
                </a:gs>
                <a:gs pos="100000">
                  <a:schemeClr val="accent1">
                    <a:lumMod val="60000"/>
                    <a:lumOff val="40000"/>
                    <a:alpha val="0"/>
                  </a:schemeClr>
                </a:gs>
              </a:gsLst>
              <a:lin ang="162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22" name="任意多边形: 形状 34"/>
          <p:cNvSpPr/>
          <p:nvPr/>
        </p:nvSpPr>
        <p:spPr>
          <a:xfrm>
            <a:off x="1423035" y="2422525"/>
            <a:ext cx="9629775" cy="563245"/>
          </a:xfrm>
          <a:custGeom>
            <a:avLst/>
            <a:gdLst>
              <a:gd name="connsiteX0" fmla="*/ 1 w 2859882"/>
              <a:gd name="connsiteY0" fmla="*/ 0 h 361156"/>
              <a:gd name="connsiteX1" fmla="*/ 1429942 w 2859882"/>
              <a:gd name="connsiteY1" fmla="*/ 289251 h 361156"/>
              <a:gd name="connsiteX2" fmla="*/ 2852500 w 2859882"/>
              <a:gd name="connsiteY2" fmla="*/ 29574 h 361156"/>
              <a:gd name="connsiteX3" fmla="*/ 2859881 w 2859882"/>
              <a:gd name="connsiteY3" fmla="*/ 8 h 361156"/>
              <a:gd name="connsiteX4" fmla="*/ 2859881 w 2859882"/>
              <a:gd name="connsiteY4" fmla="*/ 69524 h 361156"/>
              <a:gd name="connsiteX5" fmla="*/ 2859288 w 2859882"/>
              <a:gd name="connsiteY5" fmla="*/ 69524 h 361156"/>
              <a:gd name="connsiteX6" fmla="*/ 2859882 w 2859882"/>
              <a:gd name="connsiteY6" fmla="*/ 71905 h 361156"/>
              <a:gd name="connsiteX7" fmla="*/ 1429941 w 2859882"/>
              <a:gd name="connsiteY7" fmla="*/ 361156 h 361156"/>
              <a:gd name="connsiteX8" fmla="*/ 0 w 2859882"/>
              <a:gd name="connsiteY8" fmla="*/ 71905 h 361156"/>
              <a:gd name="connsiteX9" fmla="*/ 595 w 2859882"/>
              <a:gd name="connsiteY9" fmla="*/ 69524 h 361156"/>
              <a:gd name="connsiteX10" fmla="*/ 1 w 2859882"/>
              <a:gd name="connsiteY10" fmla="*/ 69524 h 361156"/>
              <a:gd name="connsiteX11" fmla="*/ 1 w 2859882"/>
              <a:gd name="connsiteY11" fmla="*/ 0 h 3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59882" h="361156">
                <a:moveTo>
                  <a:pt x="1" y="0"/>
                </a:moveTo>
                <a:cubicBezTo>
                  <a:pt x="1" y="159749"/>
                  <a:pt x="640207" y="289251"/>
                  <a:pt x="1429942" y="289251"/>
                </a:cubicBezTo>
                <a:cubicBezTo>
                  <a:pt x="2170319" y="289251"/>
                  <a:pt x="2779273" y="175431"/>
                  <a:pt x="2852500" y="29574"/>
                </a:cubicBezTo>
                <a:lnTo>
                  <a:pt x="2859881" y="8"/>
                </a:lnTo>
                <a:lnTo>
                  <a:pt x="2859881" y="69524"/>
                </a:lnTo>
                <a:lnTo>
                  <a:pt x="2859288" y="69524"/>
                </a:lnTo>
                <a:lnTo>
                  <a:pt x="2859882" y="71905"/>
                </a:lnTo>
                <a:cubicBezTo>
                  <a:pt x="2859882" y="231654"/>
                  <a:pt x="2219676" y="361156"/>
                  <a:pt x="1429941" y="361156"/>
                </a:cubicBezTo>
                <a:cubicBezTo>
                  <a:pt x="640206" y="361156"/>
                  <a:pt x="0" y="231654"/>
                  <a:pt x="0" y="71905"/>
                </a:cubicBezTo>
                <a:lnTo>
                  <a:pt x="595" y="69524"/>
                </a:lnTo>
                <a:lnTo>
                  <a:pt x="1" y="69524"/>
                </a:lnTo>
                <a:lnTo>
                  <a:pt x="1" y="0"/>
                </a:lnTo>
                <a:close/>
              </a:path>
            </a:pathLst>
          </a:custGeom>
          <a:gradFill flip="none" rotWithShape="1">
            <a:gsLst>
              <a:gs pos="14000">
                <a:schemeClr val="accent1">
                  <a:lumMod val="60000"/>
                  <a:lumOff val="40000"/>
                </a:schemeClr>
              </a:gs>
              <a:gs pos="55000">
                <a:schemeClr val="accent1"/>
              </a:gs>
              <a:gs pos="90000">
                <a:schemeClr val="accent1">
                  <a:lumMod val="60000"/>
                  <a:lumOff val="40000"/>
                </a:schemeClr>
              </a:gs>
            </a:gsLst>
            <a:lin ang="13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23" name="标题 2"/>
          <p:cNvSpPr>
            <a:spLocks noGrp="1"/>
          </p:cNvSpPr>
          <p:nvPr/>
        </p:nvSpPr>
        <p:spPr>
          <a:xfrm>
            <a:off x="1082675" y="348298"/>
            <a:ext cx="7352665"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多层平台架构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sz="2500" dirty="0">
                <a:solidFill>
                  <a:schemeClr val="tx2"/>
                </a:solidFill>
                <a:effectLst/>
                <a:latin typeface="微软雅黑" panose="020B0503020204020204" charset="-122"/>
                <a:ea typeface="微软雅黑" panose="020B0503020204020204" charset="-122"/>
                <a:cs typeface="微软雅黑" panose="020B0503020204020204" charset="-122"/>
              </a:rPr>
              <a:t>数字化运营提升全景图</a:t>
            </a:r>
            <a:endParaRPr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4" name="Freeform 8"/>
          <p:cNvSpPr/>
          <p:nvPr/>
        </p:nvSpPr>
        <p:spPr>
          <a:xfrm>
            <a:off x="1536700" y="1809750"/>
            <a:ext cx="9403080" cy="866775"/>
          </a:xfrm>
          <a:custGeom>
            <a:avLst/>
            <a:gdLst>
              <a:gd name="connsiteX0" fmla="*/ 4743501 w 4743501"/>
              <a:gd name="connsiteY0" fmla="*/ 448376 h 896752"/>
              <a:gd name="connsiteX1" fmla="*/ 2371751 w 4743501"/>
              <a:gd name="connsiteY1" fmla="*/ 896753 h 896752"/>
              <a:gd name="connsiteX2" fmla="*/ 0 w 4743501"/>
              <a:gd name="connsiteY2" fmla="*/ 448376 h 896752"/>
              <a:gd name="connsiteX3" fmla="*/ 2371751 w 4743501"/>
              <a:gd name="connsiteY3" fmla="*/ 0 h 896752"/>
              <a:gd name="connsiteX4" fmla="*/ 4743501 w 4743501"/>
              <a:gd name="connsiteY4" fmla="*/ 448376 h 896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501" h="896752">
                <a:moveTo>
                  <a:pt x="4743501" y="448376"/>
                </a:moveTo>
                <a:cubicBezTo>
                  <a:pt x="4743501" y="696008"/>
                  <a:pt x="3681633" y="896753"/>
                  <a:pt x="2371751" y="896753"/>
                </a:cubicBezTo>
                <a:cubicBezTo>
                  <a:pt x="1061869" y="896753"/>
                  <a:pt x="0" y="696008"/>
                  <a:pt x="0" y="448376"/>
                </a:cubicBezTo>
                <a:cubicBezTo>
                  <a:pt x="0" y="200745"/>
                  <a:pt x="1061869" y="0"/>
                  <a:pt x="2371751" y="0"/>
                </a:cubicBezTo>
                <a:cubicBezTo>
                  <a:pt x="3681632" y="0"/>
                  <a:pt x="4743501" y="200745"/>
                  <a:pt x="4743501" y="448376"/>
                </a:cubicBezTo>
                <a:close/>
              </a:path>
            </a:pathLst>
          </a:custGeom>
          <a:noFill/>
          <a:ln w="19050" cap="flat">
            <a:gradFill>
              <a:gsLst>
                <a:gs pos="50000">
                  <a:schemeClr val="accent1">
                    <a:lumMod val="60000"/>
                    <a:lumOff val="40000"/>
                  </a:schemeClr>
                </a:gs>
                <a:gs pos="100000">
                  <a:schemeClr val="accent1">
                    <a:lumMod val="60000"/>
                    <a:lumOff val="40000"/>
                    <a:alpha val="0"/>
                  </a:schemeClr>
                </a:gs>
              </a:gsLst>
              <a:lin ang="16200000" scaled="1"/>
            </a:gradFill>
            <a:prstDash val="dash"/>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lt"/>
            </a:endParaRPr>
          </a:p>
        </p:txBody>
      </p:sp>
      <p:sp>
        <p:nvSpPr>
          <p:cNvPr id="33" name="椭圆 32"/>
          <p:cNvSpPr/>
          <p:nvPr/>
        </p:nvSpPr>
        <p:spPr>
          <a:xfrm>
            <a:off x="2035522" y="2372355"/>
            <a:ext cx="119909" cy="118800"/>
          </a:xfrm>
          <a:prstGeom prst="ellipse">
            <a:avLst/>
          </a:prstGeom>
          <a:solidFill>
            <a:schemeClr val="bg1"/>
          </a:solid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latin typeface="微软雅黑" panose="020B0503020204020204" charset="-122"/>
              <a:ea typeface="微软雅黑" panose="020B0503020204020204" charset="-122"/>
              <a:cs typeface="微软雅黑" panose="020B0503020204020204" charset="-122"/>
            </a:endParaRPr>
          </a:p>
        </p:txBody>
      </p:sp>
      <p:sp>
        <p:nvSpPr>
          <p:cNvPr id="38" name="椭圆 37"/>
          <p:cNvSpPr/>
          <p:nvPr/>
        </p:nvSpPr>
        <p:spPr>
          <a:xfrm>
            <a:off x="2838797" y="1880865"/>
            <a:ext cx="119909" cy="118800"/>
          </a:xfrm>
          <a:prstGeom prst="ellipse">
            <a:avLst/>
          </a:prstGeom>
          <a:solidFill>
            <a:schemeClr val="bg1"/>
          </a:solid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latin typeface="微软雅黑" panose="020B0503020204020204" charset="-122"/>
              <a:ea typeface="微软雅黑" panose="020B0503020204020204" charset="-122"/>
              <a:cs typeface="微软雅黑" panose="020B0503020204020204" charset="-122"/>
            </a:endParaRPr>
          </a:p>
        </p:txBody>
      </p:sp>
      <p:sp>
        <p:nvSpPr>
          <p:cNvPr id="39" name="椭圆 38"/>
          <p:cNvSpPr/>
          <p:nvPr/>
        </p:nvSpPr>
        <p:spPr>
          <a:xfrm>
            <a:off x="4022437" y="2557775"/>
            <a:ext cx="119909" cy="118800"/>
          </a:xfrm>
          <a:prstGeom prst="ellipse">
            <a:avLst/>
          </a:prstGeom>
          <a:solidFill>
            <a:schemeClr val="bg1"/>
          </a:solid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latin typeface="微软雅黑" panose="020B0503020204020204" charset="-122"/>
              <a:ea typeface="微软雅黑" panose="020B0503020204020204" charset="-122"/>
              <a:cs typeface="微软雅黑" panose="020B0503020204020204" charset="-122"/>
            </a:endParaRPr>
          </a:p>
        </p:txBody>
      </p:sp>
      <p:sp>
        <p:nvSpPr>
          <p:cNvPr id="44" name="椭圆 43"/>
          <p:cNvSpPr/>
          <p:nvPr/>
        </p:nvSpPr>
        <p:spPr>
          <a:xfrm>
            <a:off x="7910542" y="2580635"/>
            <a:ext cx="119909" cy="118800"/>
          </a:xfrm>
          <a:prstGeom prst="ellipse">
            <a:avLst/>
          </a:prstGeom>
          <a:solidFill>
            <a:schemeClr val="bg1"/>
          </a:solid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latin typeface="微软雅黑" panose="020B0503020204020204" charset="-122"/>
              <a:ea typeface="微软雅黑" panose="020B0503020204020204" charset="-122"/>
              <a:cs typeface="微软雅黑" panose="020B0503020204020204" charset="-122"/>
            </a:endParaRPr>
          </a:p>
        </p:txBody>
      </p:sp>
      <p:sp>
        <p:nvSpPr>
          <p:cNvPr id="45" name="椭圆 44"/>
          <p:cNvSpPr/>
          <p:nvPr/>
        </p:nvSpPr>
        <p:spPr>
          <a:xfrm>
            <a:off x="9612342" y="2479670"/>
            <a:ext cx="119909" cy="118800"/>
          </a:xfrm>
          <a:prstGeom prst="ellipse">
            <a:avLst/>
          </a:prstGeom>
          <a:solidFill>
            <a:schemeClr val="bg1"/>
          </a:solid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latin typeface="微软雅黑" panose="020B0503020204020204" charset="-122"/>
              <a:ea typeface="微软雅黑" panose="020B0503020204020204" charset="-122"/>
              <a:cs typeface="微软雅黑" panose="020B0503020204020204" charset="-122"/>
            </a:endParaRPr>
          </a:p>
        </p:txBody>
      </p:sp>
      <p:sp>
        <p:nvSpPr>
          <p:cNvPr id="48" name="椭圆 47"/>
          <p:cNvSpPr/>
          <p:nvPr/>
        </p:nvSpPr>
        <p:spPr>
          <a:xfrm>
            <a:off x="9958417" y="1920870"/>
            <a:ext cx="119909" cy="118800"/>
          </a:xfrm>
          <a:prstGeom prst="ellipse">
            <a:avLst/>
          </a:prstGeom>
          <a:solidFill>
            <a:schemeClr val="bg1"/>
          </a:solid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latin typeface="微软雅黑" panose="020B0503020204020204" charset="-122"/>
              <a:ea typeface="微软雅黑" panose="020B0503020204020204" charset="-122"/>
              <a:cs typeface="微软雅黑" panose="020B0503020204020204" charset="-122"/>
            </a:endParaRPr>
          </a:p>
        </p:txBody>
      </p:sp>
      <p:sp>
        <p:nvSpPr>
          <p:cNvPr id="49" name="椭圆 48"/>
          <p:cNvSpPr/>
          <p:nvPr/>
        </p:nvSpPr>
        <p:spPr>
          <a:xfrm>
            <a:off x="8686512" y="1802125"/>
            <a:ext cx="119909" cy="118800"/>
          </a:xfrm>
          <a:prstGeom prst="ellipse">
            <a:avLst/>
          </a:prstGeom>
          <a:solidFill>
            <a:schemeClr val="bg1"/>
          </a:solid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latin typeface="微软雅黑" panose="020B0503020204020204" charset="-122"/>
              <a:ea typeface="微软雅黑" panose="020B0503020204020204" charset="-122"/>
              <a:cs typeface="微软雅黑" panose="020B0503020204020204" charset="-122"/>
            </a:endParaRPr>
          </a:p>
        </p:txBody>
      </p:sp>
      <p:sp>
        <p:nvSpPr>
          <p:cNvPr id="50" name="椭圆 49"/>
          <p:cNvSpPr/>
          <p:nvPr/>
        </p:nvSpPr>
        <p:spPr>
          <a:xfrm>
            <a:off x="4597112" y="1762120"/>
            <a:ext cx="119909" cy="118800"/>
          </a:xfrm>
          <a:prstGeom prst="ellipse">
            <a:avLst/>
          </a:prstGeom>
          <a:solidFill>
            <a:schemeClr val="bg1"/>
          </a:solid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a:latin typeface="微软雅黑" panose="020B0503020204020204" charset="-122"/>
              <a:ea typeface="微软雅黑" panose="020B0503020204020204" charset="-122"/>
              <a:cs typeface="微软雅黑" panose="020B0503020204020204" charset="-122"/>
            </a:endParaRPr>
          </a:p>
        </p:txBody>
      </p:sp>
      <p:sp>
        <p:nvSpPr>
          <p:cNvPr id="58" name="文本框 57"/>
          <p:cNvSpPr txBox="1"/>
          <p:nvPr/>
        </p:nvSpPr>
        <p:spPr>
          <a:xfrm>
            <a:off x="2102485" y="2147570"/>
            <a:ext cx="896620" cy="275590"/>
          </a:xfrm>
          <a:prstGeom prst="rect">
            <a:avLst/>
          </a:prstGeom>
          <a:noFill/>
        </p:spPr>
        <p:txBody>
          <a:bodyPr wrap="square" rtlCol="0">
            <a:spAutoFit/>
          </a:bodyPr>
          <a:p>
            <a:r>
              <a:rPr lang="zh-CN" altLang="en-US" sz="1200">
                <a:solidFill>
                  <a:schemeClr val="tx2"/>
                </a:solidFill>
                <a:latin typeface="微软雅黑" panose="020B0503020204020204" charset="-122"/>
                <a:ea typeface="微软雅黑" panose="020B0503020204020204" charset="-122"/>
                <a:cs typeface="微软雅黑" panose="020B0503020204020204" charset="-122"/>
              </a:rPr>
              <a:t>创新驱动</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1" name="文本框 60"/>
          <p:cNvSpPr txBox="1"/>
          <p:nvPr/>
        </p:nvSpPr>
        <p:spPr>
          <a:xfrm>
            <a:off x="3634105" y="2274570"/>
            <a:ext cx="896620" cy="275590"/>
          </a:xfrm>
          <a:prstGeom prst="rect">
            <a:avLst/>
          </a:prstGeom>
          <a:noFill/>
        </p:spPr>
        <p:txBody>
          <a:bodyPr wrap="square" rtlCol="0">
            <a:spAutoFit/>
          </a:bodyPr>
          <a:p>
            <a:r>
              <a:rPr lang="zh-CN" altLang="en-US" sz="1200">
                <a:solidFill>
                  <a:schemeClr val="tx2"/>
                </a:solidFill>
                <a:latin typeface="微软雅黑" panose="020B0503020204020204" charset="-122"/>
                <a:ea typeface="微软雅黑" panose="020B0503020204020204" charset="-122"/>
                <a:cs typeface="微软雅黑" panose="020B0503020204020204" charset="-122"/>
              </a:rPr>
              <a:t>产业升级</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2" name="文本框 61"/>
          <p:cNvSpPr txBox="1"/>
          <p:nvPr/>
        </p:nvSpPr>
        <p:spPr>
          <a:xfrm>
            <a:off x="7566660" y="2282190"/>
            <a:ext cx="896620" cy="275590"/>
          </a:xfrm>
          <a:prstGeom prst="rect">
            <a:avLst/>
          </a:prstGeom>
          <a:noFill/>
        </p:spPr>
        <p:txBody>
          <a:bodyPr wrap="square" rtlCol="0">
            <a:spAutoFit/>
          </a:bodyPr>
          <a:p>
            <a:r>
              <a:rPr lang="zh-CN" altLang="en-US" sz="1200">
                <a:solidFill>
                  <a:schemeClr val="tx2"/>
                </a:solidFill>
                <a:latin typeface="微软雅黑" panose="020B0503020204020204" charset="-122"/>
                <a:ea typeface="微软雅黑" panose="020B0503020204020204" charset="-122"/>
                <a:cs typeface="微软雅黑" panose="020B0503020204020204" charset="-122"/>
              </a:rPr>
              <a:t>生态构建</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7" name="文本框 76"/>
          <p:cNvSpPr txBox="1"/>
          <p:nvPr/>
        </p:nvSpPr>
        <p:spPr>
          <a:xfrm>
            <a:off x="9115425" y="2204085"/>
            <a:ext cx="896620" cy="275590"/>
          </a:xfrm>
          <a:prstGeom prst="rect">
            <a:avLst/>
          </a:prstGeom>
          <a:noFill/>
        </p:spPr>
        <p:txBody>
          <a:bodyPr wrap="square" rtlCol="0">
            <a:spAutoFit/>
          </a:bodyPr>
          <a:p>
            <a:r>
              <a:rPr lang="zh-CN" altLang="en-US" sz="1200">
                <a:solidFill>
                  <a:schemeClr val="tx2"/>
                </a:solidFill>
                <a:latin typeface="微软雅黑" panose="020B0503020204020204" charset="-122"/>
                <a:ea typeface="微软雅黑" panose="020B0503020204020204" charset="-122"/>
                <a:cs typeface="微软雅黑" panose="020B0503020204020204" charset="-122"/>
              </a:rPr>
              <a:t>智能升级</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8" name="文本框 77"/>
          <p:cNvSpPr txBox="1"/>
          <p:nvPr/>
        </p:nvSpPr>
        <p:spPr>
          <a:xfrm>
            <a:off x="9811385" y="1605280"/>
            <a:ext cx="896620" cy="275590"/>
          </a:xfrm>
          <a:prstGeom prst="rect">
            <a:avLst/>
          </a:prstGeom>
          <a:noFill/>
        </p:spPr>
        <p:txBody>
          <a:bodyPr wrap="square" rtlCol="0">
            <a:spAutoFit/>
          </a:bodyPr>
          <a:p>
            <a:r>
              <a:rPr lang="zh-CN" altLang="en-US" sz="1200">
                <a:solidFill>
                  <a:schemeClr val="tx2"/>
                </a:solidFill>
                <a:latin typeface="微软雅黑" panose="020B0503020204020204" charset="-122"/>
                <a:ea typeface="微软雅黑" panose="020B0503020204020204" charset="-122"/>
                <a:cs typeface="微软雅黑" panose="020B0503020204020204" charset="-122"/>
              </a:rPr>
              <a:t>数据赋能</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9" name="文本框 78"/>
          <p:cNvSpPr txBox="1"/>
          <p:nvPr/>
        </p:nvSpPr>
        <p:spPr>
          <a:xfrm>
            <a:off x="8361680" y="1513205"/>
            <a:ext cx="896620" cy="275590"/>
          </a:xfrm>
          <a:prstGeom prst="rect">
            <a:avLst/>
          </a:prstGeom>
          <a:noFill/>
        </p:spPr>
        <p:txBody>
          <a:bodyPr wrap="square" rtlCol="0">
            <a:spAutoFit/>
          </a:bodyPr>
          <a:p>
            <a:r>
              <a:rPr lang="zh-CN" altLang="en-US" sz="1200">
                <a:solidFill>
                  <a:schemeClr val="tx2"/>
                </a:solidFill>
                <a:latin typeface="微软雅黑" panose="020B0503020204020204" charset="-122"/>
                <a:ea typeface="微软雅黑" panose="020B0503020204020204" charset="-122"/>
                <a:cs typeface="微软雅黑" panose="020B0503020204020204" charset="-122"/>
              </a:rPr>
              <a:t>融合共生</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0" name="文本框 79"/>
          <p:cNvSpPr txBox="1"/>
          <p:nvPr/>
        </p:nvSpPr>
        <p:spPr>
          <a:xfrm>
            <a:off x="2479675" y="1605280"/>
            <a:ext cx="896620" cy="275590"/>
          </a:xfrm>
          <a:prstGeom prst="rect">
            <a:avLst/>
          </a:prstGeom>
          <a:noFill/>
        </p:spPr>
        <p:txBody>
          <a:bodyPr wrap="square" rtlCol="0">
            <a:spAutoFit/>
          </a:bodyPr>
          <a:p>
            <a:r>
              <a:rPr lang="zh-CN" altLang="en-US" sz="1200">
                <a:solidFill>
                  <a:schemeClr val="tx2"/>
                </a:solidFill>
                <a:latin typeface="微软雅黑" panose="020B0503020204020204" charset="-122"/>
                <a:ea typeface="微软雅黑" panose="020B0503020204020204" charset="-122"/>
                <a:cs typeface="微软雅黑" panose="020B0503020204020204" charset="-122"/>
              </a:rPr>
              <a:t>人才基石</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1" name="文本框 80"/>
          <p:cNvSpPr txBox="1"/>
          <p:nvPr/>
        </p:nvSpPr>
        <p:spPr>
          <a:xfrm>
            <a:off x="4260215" y="1456690"/>
            <a:ext cx="896620" cy="275590"/>
          </a:xfrm>
          <a:prstGeom prst="rect">
            <a:avLst/>
          </a:prstGeom>
          <a:noFill/>
        </p:spPr>
        <p:txBody>
          <a:bodyPr wrap="square" rtlCol="0">
            <a:spAutoFit/>
          </a:bodyPr>
          <a:p>
            <a:r>
              <a:rPr lang="zh-CN" altLang="en-US" sz="1200">
                <a:solidFill>
                  <a:schemeClr val="tx2"/>
                </a:solidFill>
                <a:latin typeface="微软雅黑" panose="020B0503020204020204" charset="-122"/>
                <a:ea typeface="微软雅黑" panose="020B0503020204020204" charset="-122"/>
                <a:cs typeface="微软雅黑" panose="020B0503020204020204" charset="-122"/>
              </a:rPr>
              <a:t>智慧治理</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2" name="文本框 81"/>
          <p:cNvSpPr txBox="1"/>
          <p:nvPr/>
        </p:nvSpPr>
        <p:spPr>
          <a:xfrm>
            <a:off x="5454968" y="2023745"/>
            <a:ext cx="1400810" cy="398780"/>
          </a:xfrm>
          <a:prstGeom prst="rect">
            <a:avLst/>
          </a:prstGeom>
          <a:noFill/>
        </p:spPr>
        <p:txBody>
          <a:bodyPr wrap="square" rtlCol="0">
            <a:spAutoFit/>
          </a:bodyPr>
          <a:p>
            <a:pPr algn="ctr"/>
            <a:r>
              <a:rPr lang="zh-CN" altLang="en-US" sz="2000" b="1">
                <a:solidFill>
                  <a:schemeClr val="bg1"/>
                </a:solidFill>
                <a:latin typeface="微软雅黑" panose="020B0503020204020204" charset="-122"/>
                <a:ea typeface="微软雅黑" panose="020B0503020204020204" charset="-122"/>
                <a:cs typeface="微软雅黑" panose="020B0503020204020204" charset="-122"/>
              </a:rPr>
              <a:t>目标</a:t>
            </a:r>
            <a:endParaRPr lang="zh-CN" altLang="en-US" sz="2000" b="1">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83" name="©显眼包PPT2-2"/>
          <p:cNvCxnSpPr/>
          <p:nvPr/>
        </p:nvCxnSpPr>
        <p:spPr>
          <a:xfrm>
            <a:off x="5783263" y="1058615"/>
            <a:ext cx="790574" cy="0"/>
          </a:xfrm>
          <a:prstGeom prst="line">
            <a:avLst/>
          </a:prstGeom>
          <a:gradFill>
            <a:gsLst>
              <a:gs pos="87000">
                <a:schemeClr val="bg1">
                  <a:alpha val="0"/>
                </a:schemeClr>
              </a:gs>
              <a:gs pos="0">
                <a:schemeClr val="accent1">
                  <a:lumMod val="20000"/>
                  <a:lumOff val="80000"/>
                </a:schemeClr>
              </a:gs>
            </a:gsLst>
            <a:lin ang="5400000" scaled="0"/>
          </a:gradFill>
          <a:ln w="38100">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cxnSp>
      <p:pic>
        <p:nvPicPr>
          <p:cNvPr id="210" name="图片 209" descr="屋顶资源管理"/>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5600" y="186055"/>
            <a:ext cx="549910" cy="549910"/>
          </a:xfrm>
          <a:prstGeom prst="rect">
            <a:avLst/>
          </a:prstGeom>
        </p:spPr>
      </p:pic>
    </p:spTree>
  </p:cSld>
  <p:clrMapOvr>
    <a:masterClrMapping/>
  </p:clrMapOvr>
  <p:timing>
    <p:tnLst>
      <p:par>
        <p:cTn id="1" dur="indefinite" restart="never" fill="hold"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ldLvl="0" animBg="1"/>
      <p:bldP spid="26"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0" name="图片 20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 name="标题 2"/>
          <p:cNvSpPr>
            <a:spLocks noGrp="1"/>
          </p:cNvSpPr>
          <p:nvPr/>
        </p:nvSpPr>
        <p:spPr>
          <a:xfrm>
            <a:off x="1105535" y="348298"/>
            <a:ext cx="7352665"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多层平台架构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品牌心智成长路径解析</a:t>
            </a:r>
            <a:endParaRPr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nvGrpSpPr>
          <p:cNvPr id="3" name="组合 2"/>
          <p:cNvGrpSpPr/>
          <p:nvPr/>
        </p:nvGrpSpPr>
        <p:grpSpPr>
          <a:xfrm>
            <a:off x="8738235" y="348615"/>
            <a:ext cx="3219450" cy="332740"/>
            <a:chOff x="13761" y="549"/>
            <a:chExt cx="5070" cy="524"/>
          </a:xfrm>
        </p:grpSpPr>
        <p:pic>
          <p:nvPicPr>
            <p:cNvPr id="6" name="图片 5"/>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2" name="文本框 11"/>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
        <p:nvSpPr>
          <p:cNvPr id="49" name="任意形状 100"/>
          <p:cNvSpPr/>
          <p:nvPr/>
        </p:nvSpPr>
        <p:spPr>
          <a:xfrm>
            <a:off x="356235" y="2162175"/>
            <a:ext cx="4391025" cy="4531360"/>
          </a:xfrm>
          <a:custGeom>
            <a:avLst/>
            <a:gdLst>
              <a:gd name="connsiteX0" fmla="*/ 0 w 7274135"/>
              <a:gd name="connsiteY0" fmla="*/ 3776354 h 3776354"/>
              <a:gd name="connsiteX1" fmla="*/ 7274135 w 7274135"/>
              <a:gd name="connsiteY1" fmla="*/ 3776354 h 3776354"/>
              <a:gd name="connsiteX2" fmla="*/ 7262413 w 7274135"/>
              <a:gd name="connsiteY2" fmla="*/ 3767901 h 3776354"/>
              <a:gd name="connsiteX3" fmla="*/ 5694009 w 7274135"/>
              <a:gd name="connsiteY3" fmla="*/ 1776959 h 3776354"/>
              <a:gd name="connsiteX4" fmla="*/ 4998698 w 7274135"/>
              <a:gd name="connsiteY4" fmla="*/ 93233 h 3776354"/>
              <a:gd name="connsiteX5" fmla="*/ 4975955 w 7274135"/>
              <a:gd name="connsiteY5" fmla="*/ 0 h 3776354"/>
              <a:gd name="connsiteX6" fmla="*/ 2298181 w 7274135"/>
              <a:gd name="connsiteY6" fmla="*/ 0 h 3776354"/>
              <a:gd name="connsiteX7" fmla="*/ 2275438 w 7274135"/>
              <a:gd name="connsiteY7" fmla="*/ 93233 h 3776354"/>
              <a:gd name="connsiteX8" fmla="*/ 1580127 w 7274135"/>
              <a:gd name="connsiteY8" fmla="*/ 1776959 h 3776354"/>
              <a:gd name="connsiteX9" fmla="*/ 11722 w 7274135"/>
              <a:gd name="connsiteY9" fmla="*/ 3767901 h 377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74135" h="3776354">
                <a:moveTo>
                  <a:pt x="0" y="3776354"/>
                </a:moveTo>
                <a:lnTo>
                  <a:pt x="7274135" y="3776354"/>
                </a:lnTo>
                <a:lnTo>
                  <a:pt x="7262413" y="3767901"/>
                </a:lnTo>
                <a:cubicBezTo>
                  <a:pt x="6751792" y="3370022"/>
                  <a:pt x="6176691" y="2659821"/>
                  <a:pt x="5694009" y="1776959"/>
                </a:cubicBezTo>
                <a:cubicBezTo>
                  <a:pt x="5372221" y="1188385"/>
                  <a:pt x="5137203" y="606652"/>
                  <a:pt x="4998698" y="93233"/>
                </a:cubicBezTo>
                <a:lnTo>
                  <a:pt x="4975955" y="0"/>
                </a:lnTo>
                <a:lnTo>
                  <a:pt x="2298181" y="0"/>
                </a:lnTo>
                <a:lnTo>
                  <a:pt x="2275438" y="93233"/>
                </a:lnTo>
                <a:cubicBezTo>
                  <a:pt x="2136933" y="606652"/>
                  <a:pt x="1901915" y="1188385"/>
                  <a:pt x="1580127" y="1776959"/>
                </a:cubicBezTo>
                <a:cubicBezTo>
                  <a:pt x="1097444" y="2659821"/>
                  <a:pt x="522344" y="3370022"/>
                  <a:pt x="11722" y="3767901"/>
                </a:cubicBezTo>
                <a:close/>
              </a:path>
            </a:pathLst>
          </a:custGeom>
          <a:gradFill flip="none" rotWithShape="1">
            <a:gsLst>
              <a:gs pos="57000">
                <a:schemeClr val="accent5">
                  <a:lumMod val="20000"/>
                  <a:lumOff val="80000"/>
                  <a:alpha val="50000"/>
                </a:schemeClr>
              </a:gs>
              <a:gs pos="10000">
                <a:schemeClr val="accent5">
                  <a:lumMod val="20000"/>
                  <a:lumOff val="80000"/>
                  <a:alpha val="50000"/>
                </a:schemeClr>
              </a:gs>
              <a:gs pos="100000">
                <a:schemeClr val="accent5">
                  <a:lumMod val="20000"/>
                  <a:lumOff val="80000"/>
                  <a:alpha val="0"/>
                </a:schemeClr>
              </a:gs>
            </a:gsLst>
            <a:lin ang="5400000" scaled="1"/>
          </a:gradFill>
          <a:ln w="3175">
            <a:gradFill flip="none" rotWithShape="1">
              <a:gsLst>
                <a:gs pos="70000">
                  <a:schemeClr val="accent5">
                    <a:lumMod val="60000"/>
                    <a:lumOff val="40000"/>
                  </a:schemeClr>
                </a:gs>
                <a:gs pos="29000">
                  <a:schemeClr val="accent5">
                    <a:lumMod val="60000"/>
                    <a:lumOff val="40000"/>
                  </a:schemeClr>
                </a:gs>
                <a:gs pos="0">
                  <a:schemeClr val="accent1">
                    <a:lumMod val="0"/>
                    <a:lumOff val="100000"/>
                    <a:alpha val="0"/>
                  </a:schemeClr>
                </a:gs>
                <a:gs pos="100000">
                  <a:schemeClr val="accent1">
                    <a:lumMod val="0"/>
                    <a:lumOff val="100000"/>
                    <a:alpha val="0"/>
                  </a:schemeClr>
                </a:gs>
              </a:gsLst>
              <a:lin ang="16200000" scaled="1"/>
              <a:tileRect/>
            </a:gradFill>
          </a:ln>
          <a:effectLst>
            <a:outerShdw blurRad="330200" dist="88900" dir="5400000" algn="t" rotWithShape="0">
              <a:schemeClr val="accent5">
                <a:lumMod val="20000"/>
                <a:lumOff val="80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52" name="任意形状 100"/>
          <p:cNvSpPr/>
          <p:nvPr/>
        </p:nvSpPr>
        <p:spPr>
          <a:xfrm>
            <a:off x="2707005" y="2162175"/>
            <a:ext cx="4391025" cy="4531360"/>
          </a:xfrm>
          <a:custGeom>
            <a:avLst/>
            <a:gdLst>
              <a:gd name="connsiteX0" fmla="*/ 0 w 7274135"/>
              <a:gd name="connsiteY0" fmla="*/ 3776354 h 3776354"/>
              <a:gd name="connsiteX1" fmla="*/ 7274135 w 7274135"/>
              <a:gd name="connsiteY1" fmla="*/ 3776354 h 3776354"/>
              <a:gd name="connsiteX2" fmla="*/ 7262413 w 7274135"/>
              <a:gd name="connsiteY2" fmla="*/ 3767901 h 3776354"/>
              <a:gd name="connsiteX3" fmla="*/ 5694009 w 7274135"/>
              <a:gd name="connsiteY3" fmla="*/ 1776959 h 3776354"/>
              <a:gd name="connsiteX4" fmla="*/ 4998698 w 7274135"/>
              <a:gd name="connsiteY4" fmla="*/ 93233 h 3776354"/>
              <a:gd name="connsiteX5" fmla="*/ 4975955 w 7274135"/>
              <a:gd name="connsiteY5" fmla="*/ 0 h 3776354"/>
              <a:gd name="connsiteX6" fmla="*/ 2298181 w 7274135"/>
              <a:gd name="connsiteY6" fmla="*/ 0 h 3776354"/>
              <a:gd name="connsiteX7" fmla="*/ 2275438 w 7274135"/>
              <a:gd name="connsiteY7" fmla="*/ 93233 h 3776354"/>
              <a:gd name="connsiteX8" fmla="*/ 1580127 w 7274135"/>
              <a:gd name="connsiteY8" fmla="*/ 1776959 h 3776354"/>
              <a:gd name="connsiteX9" fmla="*/ 11722 w 7274135"/>
              <a:gd name="connsiteY9" fmla="*/ 3767901 h 377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74135" h="3776354">
                <a:moveTo>
                  <a:pt x="0" y="3776354"/>
                </a:moveTo>
                <a:lnTo>
                  <a:pt x="7274135" y="3776354"/>
                </a:lnTo>
                <a:lnTo>
                  <a:pt x="7262413" y="3767901"/>
                </a:lnTo>
                <a:cubicBezTo>
                  <a:pt x="6751792" y="3370022"/>
                  <a:pt x="6176691" y="2659821"/>
                  <a:pt x="5694009" y="1776959"/>
                </a:cubicBezTo>
                <a:cubicBezTo>
                  <a:pt x="5372221" y="1188385"/>
                  <a:pt x="5137203" y="606652"/>
                  <a:pt x="4998698" y="93233"/>
                </a:cubicBezTo>
                <a:lnTo>
                  <a:pt x="4975955" y="0"/>
                </a:lnTo>
                <a:lnTo>
                  <a:pt x="2298181" y="0"/>
                </a:lnTo>
                <a:lnTo>
                  <a:pt x="2275438" y="93233"/>
                </a:lnTo>
                <a:cubicBezTo>
                  <a:pt x="2136933" y="606652"/>
                  <a:pt x="1901915" y="1188385"/>
                  <a:pt x="1580127" y="1776959"/>
                </a:cubicBezTo>
                <a:cubicBezTo>
                  <a:pt x="1097444" y="2659821"/>
                  <a:pt x="522344" y="3370022"/>
                  <a:pt x="11722" y="3767901"/>
                </a:cubicBezTo>
                <a:close/>
              </a:path>
            </a:pathLst>
          </a:custGeom>
          <a:gradFill flip="none" rotWithShape="1">
            <a:gsLst>
              <a:gs pos="57000">
                <a:schemeClr val="accent1">
                  <a:lumMod val="20000"/>
                  <a:lumOff val="80000"/>
                  <a:alpha val="50000"/>
                </a:schemeClr>
              </a:gs>
              <a:gs pos="10000">
                <a:schemeClr val="accent1">
                  <a:lumMod val="20000"/>
                  <a:lumOff val="80000"/>
                  <a:alpha val="50000"/>
                </a:schemeClr>
              </a:gs>
              <a:gs pos="100000">
                <a:schemeClr val="accent1">
                  <a:lumMod val="20000"/>
                  <a:lumOff val="80000"/>
                  <a:alpha val="0"/>
                </a:schemeClr>
              </a:gs>
            </a:gsLst>
            <a:lin ang="5400000" scaled="1"/>
          </a:gradFill>
          <a:ln w="3175">
            <a:gradFill flip="none" rotWithShape="1">
              <a:gsLst>
                <a:gs pos="70000">
                  <a:schemeClr val="accent1">
                    <a:lumMod val="40000"/>
                    <a:lumOff val="60000"/>
                  </a:schemeClr>
                </a:gs>
                <a:gs pos="29000">
                  <a:schemeClr val="accent1">
                    <a:lumMod val="60000"/>
                    <a:lumOff val="40000"/>
                  </a:schemeClr>
                </a:gs>
                <a:gs pos="0">
                  <a:schemeClr val="accent1">
                    <a:lumMod val="0"/>
                    <a:lumOff val="100000"/>
                    <a:alpha val="0"/>
                  </a:schemeClr>
                </a:gs>
                <a:gs pos="100000">
                  <a:schemeClr val="accent1">
                    <a:lumMod val="0"/>
                    <a:lumOff val="100000"/>
                    <a:alpha val="0"/>
                  </a:schemeClr>
                </a:gs>
              </a:gsLst>
              <a:lin ang="16200000" scaled="1"/>
              <a:tileRect/>
            </a:gradFill>
          </a:ln>
          <a:effectLst>
            <a:outerShdw blurRad="330200" dist="88900" dir="5400000" algn="t" rotWithShape="0">
              <a:schemeClr val="accent5">
                <a:lumMod val="20000"/>
                <a:lumOff val="80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55" name="任意形状 100"/>
          <p:cNvSpPr/>
          <p:nvPr/>
        </p:nvSpPr>
        <p:spPr>
          <a:xfrm>
            <a:off x="5057775" y="2162175"/>
            <a:ext cx="4391025" cy="4531360"/>
          </a:xfrm>
          <a:custGeom>
            <a:avLst/>
            <a:gdLst>
              <a:gd name="connsiteX0" fmla="*/ 0 w 7274135"/>
              <a:gd name="connsiteY0" fmla="*/ 3776354 h 3776354"/>
              <a:gd name="connsiteX1" fmla="*/ 7274135 w 7274135"/>
              <a:gd name="connsiteY1" fmla="*/ 3776354 h 3776354"/>
              <a:gd name="connsiteX2" fmla="*/ 7262413 w 7274135"/>
              <a:gd name="connsiteY2" fmla="*/ 3767901 h 3776354"/>
              <a:gd name="connsiteX3" fmla="*/ 5694009 w 7274135"/>
              <a:gd name="connsiteY3" fmla="*/ 1776959 h 3776354"/>
              <a:gd name="connsiteX4" fmla="*/ 4998698 w 7274135"/>
              <a:gd name="connsiteY4" fmla="*/ 93233 h 3776354"/>
              <a:gd name="connsiteX5" fmla="*/ 4975955 w 7274135"/>
              <a:gd name="connsiteY5" fmla="*/ 0 h 3776354"/>
              <a:gd name="connsiteX6" fmla="*/ 2298181 w 7274135"/>
              <a:gd name="connsiteY6" fmla="*/ 0 h 3776354"/>
              <a:gd name="connsiteX7" fmla="*/ 2275438 w 7274135"/>
              <a:gd name="connsiteY7" fmla="*/ 93233 h 3776354"/>
              <a:gd name="connsiteX8" fmla="*/ 1580127 w 7274135"/>
              <a:gd name="connsiteY8" fmla="*/ 1776959 h 3776354"/>
              <a:gd name="connsiteX9" fmla="*/ 11722 w 7274135"/>
              <a:gd name="connsiteY9" fmla="*/ 3767901 h 377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74135" h="3776354">
                <a:moveTo>
                  <a:pt x="0" y="3776354"/>
                </a:moveTo>
                <a:lnTo>
                  <a:pt x="7274135" y="3776354"/>
                </a:lnTo>
                <a:lnTo>
                  <a:pt x="7262413" y="3767901"/>
                </a:lnTo>
                <a:cubicBezTo>
                  <a:pt x="6751792" y="3370022"/>
                  <a:pt x="6176691" y="2659821"/>
                  <a:pt x="5694009" y="1776959"/>
                </a:cubicBezTo>
                <a:cubicBezTo>
                  <a:pt x="5372221" y="1188385"/>
                  <a:pt x="5137203" y="606652"/>
                  <a:pt x="4998698" y="93233"/>
                </a:cubicBezTo>
                <a:lnTo>
                  <a:pt x="4975955" y="0"/>
                </a:lnTo>
                <a:lnTo>
                  <a:pt x="2298181" y="0"/>
                </a:lnTo>
                <a:lnTo>
                  <a:pt x="2275438" y="93233"/>
                </a:lnTo>
                <a:cubicBezTo>
                  <a:pt x="2136933" y="606652"/>
                  <a:pt x="1901915" y="1188385"/>
                  <a:pt x="1580127" y="1776959"/>
                </a:cubicBezTo>
                <a:cubicBezTo>
                  <a:pt x="1097444" y="2659821"/>
                  <a:pt x="522344" y="3370022"/>
                  <a:pt x="11722" y="3767901"/>
                </a:cubicBezTo>
                <a:close/>
              </a:path>
            </a:pathLst>
          </a:custGeom>
          <a:gradFill flip="none" rotWithShape="1">
            <a:gsLst>
              <a:gs pos="57000">
                <a:schemeClr val="accent5">
                  <a:lumMod val="20000"/>
                  <a:lumOff val="80000"/>
                  <a:alpha val="50000"/>
                </a:schemeClr>
              </a:gs>
              <a:gs pos="10000">
                <a:schemeClr val="accent5">
                  <a:lumMod val="20000"/>
                  <a:lumOff val="80000"/>
                  <a:alpha val="50000"/>
                </a:schemeClr>
              </a:gs>
              <a:gs pos="100000">
                <a:schemeClr val="accent5">
                  <a:lumMod val="20000"/>
                  <a:lumOff val="80000"/>
                  <a:alpha val="0"/>
                </a:schemeClr>
              </a:gs>
            </a:gsLst>
            <a:lin ang="5400000" scaled="1"/>
          </a:gradFill>
          <a:ln w="3175">
            <a:gradFill flip="none" rotWithShape="1">
              <a:gsLst>
                <a:gs pos="70000">
                  <a:schemeClr val="accent5">
                    <a:lumMod val="60000"/>
                    <a:lumOff val="40000"/>
                  </a:schemeClr>
                </a:gs>
                <a:gs pos="29000">
                  <a:schemeClr val="accent5">
                    <a:lumMod val="60000"/>
                    <a:lumOff val="40000"/>
                  </a:schemeClr>
                </a:gs>
                <a:gs pos="0">
                  <a:schemeClr val="accent1">
                    <a:lumMod val="0"/>
                    <a:lumOff val="100000"/>
                    <a:alpha val="0"/>
                  </a:schemeClr>
                </a:gs>
                <a:gs pos="100000">
                  <a:schemeClr val="accent1">
                    <a:lumMod val="0"/>
                    <a:lumOff val="100000"/>
                    <a:alpha val="0"/>
                  </a:schemeClr>
                </a:gs>
              </a:gsLst>
              <a:lin ang="16200000" scaled="1"/>
              <a:tileRect/>
            </a:gradFill>
          </a:ln>
          <a:effectLst>
            <a:outerShdw blurRad="330200" dist="88900" dir="5400000" algn="t" rotWithShape="0">
              <a:schemeClr val="accent5">
                <a:lumMod val="20000"/>
                <a:lumOff val="80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59" name="任意形状 100"/>
          <p:cNvSpPr/>
          <p:nvPr/>
        </p:nvSpPr>
        <p:spPr>
          <a:xfrm>
            <a:off x="7408545" y="2162175"/>
            <a:ext cx="4391025" cy="4531360"/>
          </a:xfrm>
          <a:custGeom>
            <a:avLst/>
            <a:gdLst>
              <a:gd name="connsiteX0" fmla="*/ 0 w 7274135"/>
              <a:gd name="connsiteY0" fmla="*/ 3776354 h 3776354"/>
              <a:gd name="connsiteX1" fmla="*/ 7274135 w 7274135"/>
              <a:gd name="connsiteY1" fmla="*/ 3776354 h 3776354"/>
              <a:gd name="connsiteX2" fmla="*/ 7262413 w 7274135"/>
              <a:gd name="connsiteY2" fmla="*/ 3767901 h 3776354"/>
              <a:gd name="connsiteX3" fmla="*/ 5694009 w 7274135"/>
              <a:gd name="connsiteY3" fmla="*/ 1776959 h 3776354"/>
              <a:gd name="connsiteX4" fmla="*/ 4998698 w 7274135"/>
              <a:gd name="connsiteY4" fmla="*/ 93233 h 3776354"/>
              <a:gd name="connsiteX5" fmla="*/ 4975955 w 7274135"/>
              <a:gd name="connsiteY5" fmla="*/ 0 h 3776354"/>
              <a:gd name="connsiteX6" fmla="*/ 2298181 w 7274135"/>
              <a:gd name="connsiteY6" fmla="*/ 0 h 3776354"/>
              <a:gd name="connsiteX7" fmla="*/ 2275438 w 7274135"/>
              <a:gd name="connsiteY7" fmla="*/ 93233 h 3776354"/>
              <a:gd name="connsiteX8" fmla="*/ 1580127 w 7274135"/>
              <a:gd name="connsiteY8" fmla="*/ 1776959 h 3776354"/>
              <a:gd name="connsiteX9" fmla="*/ 11722 w 7274135"/>
              <a:gd name="connsiteY9" fmla="*/ 3767901 h 3776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74135" h="3776354">
                <a:moveTo>
                  <a:pt x="0" y="3776354"/>
                </a:moveTo>
                <a:lnTo>
                  <a:pt x="7274135" y="3776354"/>
                </a:lnTo>
                <a:lnTo>
                  <a:pt x="7262413" y="3767901"/>
                </a:lnTo>
                <a:cubicBezTo>
                  <a:pt x="6751792" y="3370022"/>
                  <a:pt x="6176691" y="2659821"/>
                  <a:pt x="5694009" y="1776959"/>
                </a:cubicBezTo>
                <a:cubicBezTo>
                  <a:pt x="5372221" y="1188385"/>
                  <a:pt x="5137203" y="606652"/>
                  <a:pt x="4998698" y="93233"/>
                </a:cubicBezTo>
                <a:lnTo>
                  <a:pt x="4975955" y="0"/>
                </a:lnTo>
                <a:lnTo>
                  <a:pt x="2298181" y="0"/>
                </a:lnTo>
                <a:lnTo>
                  <a:pt x="2275438" y="93233"/>
                </a:lnTo>
                <a:cubicBezTo>
                  <a:pt x="2136933" y="606652"/>
                  <a:pt x="1901915" y="1188385"/>
                  <a:pt x="1580127" y="1776959"/>
                </a:cubicBezTo>
                <a:cubicBezTo>
                  <a:pt x="1097444" y="2659821"/>
                  <a:pt x="522344" y="3370022"/>
                  <a:pt x="11722" y="3767901"/>
                </a:cubicBezTo>
                <a:close/>
              </a:path>
            </a:pathLst>
          </a:custGeom>
          <a:gradFill flip="none" rotWithShape="1">
            <a:gsLst>
              <a:gs pos="57000">
                <a:schemeClr val="accent1">
                  <a:lumMod val="20000"/>
                  <a:lumOff val="80000"/>
                  <a:alpha val="50000"/>
                </a:schemeClr>
              </a:gs>
              <a:gs pos="10000">
                <a:schemeClr val="accent1">
                  <a:lumMod val="20000"/>
                  <a:lumOff val="80000"/>
                  <a:alpha val="50000"/>
                </a:schemeClr>
              </a:gs>
              <a:gs pos="100000">
                <a:schemeClr val="accent1">
                  <a:lumMod val="20000"/>
                  <a:lumOff val="80000"/>
                  <a:alpha val="0"/>
                </a:schemeClr>
              </a:gs>
            </a:gsLst>
            <a:lin ang="5400000" scaled="1"/>
          </a:gradFill>
          <a:ln w="3175">
            <a:gradFill flip="none" rotWithShape="1">
              <a:gsLst>
                <a:gs pos="70000">
                  <a:schemeClr val="accent1">
                    <a:lumMod val="40000"/>
                    <a:lumOff val="60000"/>
                  </a:schemeClr>
                </a:gs>
                <a:gs pos="29000">
                  <a:schemeClr val="accent1">
                    <a:lumMod val="60000"/>
                    <a:lumOff val="40000"/>
                  </a:schemeClr>
                </a:gs>
                <a:gs pos="0">
                  <a:schemeClr val="accent1">
                    <a:lumMod val="0"/>
                    <a:lumOff val="100000"/>
                    <a:alpha val="0"/>
                  </a:schemeClr>
                </a:gs>
                <a:gs pos="100000">
                  <a:schemeClr val="accent1">
                    <a:lumMod val="0"/>
                    <a:lumOff val="100000"/>
                    <a:alpha val="0"/>
                  </a:schemeClr>
                </a:gs>
              </a:gsLst>
              <a:lin ang="16200000" scaled="1"/>
              <a:tileRect/>
            </a:gradFill>
          </a:ln>
          <a:effectLst>
            <a:outerShdw blurRad="330200" dist="88900" dir="5400000" algn="t" rotWithShape="0">
              <a:schemeClr val="accent5">
                <a:lumMod val="20000"/>
                <a:lumOff val="80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88" name="任意多边形 87"/>
          <p:cNvSpPr/>
          <p:nvPr/>
        </p:nvSpPr>
        <p:spPr>
          <a:xfrm>
            <a:off x="1526653" y="2907665"/>
            <a:ext cx="9114721" cy="487680"/>
          </a:xfrm>
          <a:custGeom>
            <a:avLst/>
            <a:gdLst/>
            <a:ahLst/>
            <a:cxnLst>
              <a:cxn ang="3">
                <a:pos x="hc" y="t"/>
              </a:cxn>
              <a:cxn ang="cd2">
                <a:pos x="l" y="vc"/>
              </a:cxn>
              <a:cxn ang="cd4">
                <a:pos x="hc" y="b"/>
              </a:cxn>
              <a:cxn ang="0">
                <a:pos x="r" y="vc"/>
              </a:cxn>
            </a:cxnLst>
            <a:rect l="l" t="t" r="r" b="b"/>
            <a:pathLst>
              <a:path w="14354" h="768">
                <a:moveTo>
                  <a:pt x="149" y="0"/>
                </a:moveTo>
                <a:cubicBezTo>
                  <a:pt x="128" y="132"/>
                  <a:pt x="9" y="733"/>
                  <a:pt x="0" y="768"/>
                </a:cubicBezTo>
                <a:lnTo>
                  <a:pt x="14354" y="768"/>
                </a:lnTo>
                <a:cubicBezTo>
                  <a:pt x="14340" y="715"/>
                  <a:pt x="14221" y="106"/>
                  <a:pt x="14205" y="0"/>
                </a:cubicBezTo>
                <a:lnTo>
                  <a:pt x="149" y="0"/>
                </a:lnTo>
                <a:close/>
              </a:path>
            </a:pathLst>
          </a:custGeom>
          <a:gradFill>
            <a:gsLst>
              <a:gs pos="10000">
                <a:schemeClr val="accent5"/>
              </a:gs>
              <a:gs pos="100000">
                <a:schemeClr val="accent5">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r>
              <a:rPr lang="zh-CN" altLang="en-US" b="1">
                <a:latin typeface="微软雅黑" panose="020B0503020204020204" charset="-122"/>
                <a:ea typeface="微软雅黑" panose="020B0503020204020204" charset="-122"/>
                <a:cs typeface="微软雅黑" panose="020B0503020204020204" charset="-122"/>
              </a:rPr>
              <a:t>关键节点</a:t>
            </a:r>
            <a:r>
              <a:rPr lang="en-US" altLang="zh-CN" b="1">
                <a:latin typeface="微软雅黑" panose="020B0503020204020204" charset="-122"/>
                <a:ea typeface="微软雅黑" panose="020B0503020204020204" charset="-122"/>
                <a:cs typeface="微软雅黑" panose="020B0503020204020204" charset="-122"/>
              </a:rPr>
              <a:t>/</a:t>
            </a:r>
            <a:r>
              <a:rPr lang="zh-CN" altLang="en-US" b="1">
                <a:latin typeface="微软雅黑" panose="020B0503020204020204" charset="-122"/>
                <a:ea typeface="微软雅黑" panose="020B0503020204020204" charset="-122"/>
                <a:cs typeface="微软雅黑" panose="020B0503020204020204" charset="-122"/>
              </a:rPr>
              <a:t>资源示例</a:t>
            </a:r>
            <a:endParaRPr lang="zh-CN" altLang="en-US" b="1">
              <a:latin typeface="微软雅黑" panose="020B0503020204020204" charset="-122"/>
              <a:ea typeface="微软雅黑" panose="020B0503020204020204" charset="-122"/>
              <a:cs typeface="微软雅黑" panose="020B0503020204020204" charset="-122"/>
            </a:endParaRPr>
          </a:p>
        </p:txBody>
      </p:sp>
      <p:grpSp>
        <p:nvGrpSpPr>
          <p:cNvPr id="20" name="组合 19"/>
          <p:cNvGrpSpPr/>
          <p:nvPr>
            <p:custDataLst>
              <p:tags r:id="rId4"/>
            </p:custDataLst>
          </p:nvPr>
        </p:nvGrpSpPr>
        <p:grpSpPr>
          <a:xfrm>
            <a:off x="1318260" y="1162050"/>
            <a:ext cx="2466975" cy="829310"/>
            <a:chOff x="1874" y="1713"/>
            <a:chExt cx="4422" cy="1306"/>
          </a:xfrm>
        </p:grpSpPr>
        <p:sp>
          <p:nvSpPr>
            <p:cNvPr id="169" name="显眼包PPT8"/>
            <p:cNvSpPr/>
            <p:nvPr>
              <p:custDataLst>
                <p:tags r:id="rId5"/>
              </p:custDataLst>
            </p:nvPr>
          </p:nvSpPr>
          <p:spPr>
            <a:xfrm flipV="1">
              <a:off x="1874" y="1713"/>
              <a:ext cx="4422" cy="960"/>
            </a:xfrm>
            <a:custGeom>
              <a:avLst/>
              <a:gdLst>
                <a:gd name="connsiteX0" fmla="*/ 0 w 4965109"/>
                <a:gd name="connsiteY0" fmla="*/ 1530753 h 1530753"/>
                <a:gd name="connsiteX1" fmla="*/ 1492928 w 4965109"/>
                <a:gd name="connsiteY1" fmla="*/ 0 h 1530753"/>
                <a:gd name="connsiteX2" fmla="*/ 3472181 w 4965109"/>
                <a:gd name="connsiteY2" fmla="*/ 0 h 1530753"/>
                <a:gd name="connsiteX3" fmla="*/ 4965109 w 4965109"/>
                <a:gd name="connsiteY3" fmla="*/ 1530753 h 1530753"/>
                <a:gd name="connsiteX4" fmla="*/ 0 w 4965109"/>
                <a:gd name="connsiteY4" fmla="*/ 1530753 h 1530753"/>
                <a:gd name="connsiteX0-1" fmla="*/ 0 w 4965109"/>
                <a:gd name="connsiteY0-2" fmla="*/ 1530753 h 1530753"/>
                <a:gd name="connsiteX1-3" fmla="*/ 1492928 w 4965109"/>
                <a:gd name="connsiteY1-4" fmla="*/ 0 h 1530753"/>
                <a:gd name="connsiteX2-5" fmla="*/ 3472181 w 4965109"/>
                <a:gd name="connsiteY2-6" fmla="*/ 0 h 1530753"/>
                <a:gd name="connsiteX3-7" fmla="*/ 4965109 w 4965109"/>
                <a:gd name="connsiteY3-8" fmla="*/ 1530753 h 1530753"/>
                <a:gd name="connsiteX4-9" fmla="*/ 0 w 4965109"/>
                <a:gd name="connsiteY4-10" fmla="*/ 1530753 h 1530753"/>
                <a:gd name="connsiteX0-11" fmla="*/ 0 w 4965109"/>
                <a:gd name="connsiteY0-12" fmla="*/ 1530753 h 1530753"/>
                <a:gd name="connsiteX1-13" fmla="*/ 1492928 w 4965109"/>
                <a:gd name="connsiteY1-14" fmla="*/ 0 h 1530753"/>
                <a:gd name="connsiteX2-15" fmla="*/ 3472181 w 4965109"/>
                <a:gd name="connsiteY2-16" fmla="*/ 0 h 1530753"/>
                <a:gd name="connsiteX3-17" fmla="*/ 4965109 w 4965109"/>
                <a:gd name="connsiteY3-18" fmla="*/ 1530753 h 1530753"/>
                <a:gd name="connsiteX4-19" fmla="*/ 0 w 4965109"/>
                <a:gd name="connsiteY4-20" fmla="*/ 1530753 h 1530753"/>
                <a:gd name="connsiteX0-21" fmla="*/ 0 w 4965109"/>
                <a:gd name="connsiteY0-22" fmla="*/ 1530753 h 1530753"/>
                <a:gd name="connsiteX1-23" fmla="*/ 1492928 w 4965109"/>
                <a:gd name="connsiteY1-24" fmla="*/ 0 h 1530753"/>
                <a:gd name="connsiteX2-25" fmla="*/ 3472181 w 4965109"/>
                <a:gd name="connsiteY2-26" fmla="*/ 0 h 1530753"/>
                <a:gd name="connsiteX3-27" fmla="*/ 4965109 w 4965109"/>
                <a:gd name="connsiteY3-28" fmla="*/ 1530753 h 1530753"/>
                <a:gd name="connsiteX4-29" fmla="*/ 0 w 4965109"/>
                <a:gd name="connsiteY4-30" fmla="*/ 1530753 h 1530753"/>
                <a:gd name="connsiteX0-31" fmla="*/ 0 w 4965109"/>
                <a:gd name="connsiteY0-32" fmla="*/ 1530753 h 1530753"/>
                <a:gd name="connsiteX1-33" fmla="*/ 1492928 w 4965109"/>
                <a:gd name="connsiteY1-34" fmla="*/ 0 h 1530753"/>
                <a:gd name="connsiteX2-35" fmla="*/ 3472181 w 4965109"/>
                <a:gd name="connsiteY2-36" fmla="*/ 0 h 1530753"/>
                <a:gd name="connsiteX3-37" fmla="*/ 4965109 w 4965109"/>
                <a:gd name="connsiteY3-38" fmla="*/ 1530753 h 1530753"/>
                <a:gd name="connsiteX4-39" fmla="*/ 0 w 4965109"/>
                <a:gd name="connsiteY4-40" fmla="*/ 1530753 h 153075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965109" h="1530753">
                  <a:moveTo>
                    <a:pt x="0" y="1530753"/>
                  </a:moveTo>
                  <a:cubicBezTo>
                    <a:pt x="713543" y="1084002"/>
                    <a:pt x="1122285" y="586451"/>
                    <a:pt x="1492928" y="0"/>
                  </a:cubicBezTo>
                  <a:lnTo>
                    <a:pt x="3472181" y="0"/>
                  </a:lnTo>
                  <a:cubicBezTo>
                    <a:pt x="3874574" y="624551"/>
                    <a:pt x="4308716" y="1128452"/>
                    <a:pt x="4965109" y="1530753"/>
                  </a:cubicBezTo>
                  <a:lnTo>
                    <a:pt x="0" y="1530753"/>
                  </a:lnTo>
                  <a:close/>
                </a:path>
              </a:pathLst>
            </a:custGeom>
            <a:gradFill>
              <a:gsLst>
                <a:gs pos="0">
                  <a:schemeClr val="accent5">
                    <a:lumMod val="20000"/>
                    <a:lumOff val="80000"/>
                    <a:alpha val="0"/>
                  </a:schemeClr>
                </a:gs>
                <a:gs pos="97248">
                  <a:schemeClr val="accent5">
                    <a:lumMod val="20000"/>
                    <a:lumOff val="80000"/>
                    <a:alpha val="0"/>
                  </a:schemeClr>
                </a:gs>
                <a:gs pos="44000">
                  <a:schemeClr val="accent5">
                    <a:lumMod val="20000"/>
                    <a:lumOff val="80000"/>
                    <a:alpha val="52000"/>
                  </a:schemeClr>
                </a:gs>
              </a:gsLst>
              <a:lin ang="5400000" scaled="0"/>
            </a:gradFill>
            <a:ln w="6350">
              <a:gradFill>
                <a:gsLst>
                  <a:gs pos="0">
                    <a:schemeClr val="accent5">
                      <a:lumMod val="20000"/>
                      <a:lumOff val="80000"/>
                      <a:alpha val="0"/>
                    </a:schemeClr>
                  </a:gs>
                  <a:gs pos="46000">
                    <a:schemeClr val="accent5">
                      <a:lumMod val="40000"/>
                      <a:lumOff val="60000"/>
                      <a:alpha val="64000"/>
                    </a:schemeClr>
                  </a:gs>
                  <a:gs pos="100000">
                    <a:schemeClr val="accent5">
                      <a:lumMod val="20000"/>
                      <a:lumOff val="8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 name="显眼包PPT14"/>
            <p:cNvSpPr/>
            <p:nvPr>
              <p:custDataLst>
                <p:tags r:id="rId6"/>
              </p:custDataLst>
            </p:nvPr>
          </p:nvSpPr>
          <p:spPr>
            <a:xfrm>
              <a:off x="2413" y="2499"/>
              <a:ext cx="3345" cy="521"/>
            </a:xfrm>
            <a:custGeom>
              <a:avLst/>
              <a:gdLst>
                <a:gd name="connsiteX0" fmla="*/ 0 w 4397118"/>
                <a:gd name="connsiteY0" fmla="*/ 0 h 684613"/>
                <a:gd name="connsiteX1" fmla="*/ 3141 w 4397118"/>
                <a:gd name="connsiteY1" fmla="*/ 0 h 684613"/>
                <a:gd name="connsiteX2" fmla="*/ 44667 w 4397118"/>
                <a:gd name="connsiteY2" fmla="*/ 28739 h 684613"/>
                <a:gd name="connsiteX3" fmla="*/ 2198559 w 4397118"/>
                <a:gd name="connsiteY3" fmla="*/ 151213 h 684613"/>
                <a:gd name="connsiteX4" fmla="*/ 4352451 w 4397118"/>
                <a:gd name="connsiteY4" fmla="*/ 28739 h 684613"/>
                <a:gd name="connsiteX5" fmla="*/ 4393977 w 4397118"/>
                <a:gd name="connsiteY5" fmla="*/ 0 h 684613"/>
                <a:gd name="connsiteX6" fmla="*/ 4397117 w 4397118"/>
                <a:gd name="connsiteY6" fmla="*/ 0 h 684613"/>
                <a:gd name="connsiteX7" fmla="*/ 4397117 w 4397118"/>
                <a:gd name="connsiteY7" fmla="*/ 531226 h 684613"/>
                <a:gd name="connsiteX8" fmla="*/ 4397118 w 4397118"/>
                <a:gd name="connsiteY8" fmla="*/ 531226 h 684613"/>
                <a:gd name="connsiteX9" fmla="*/ 4397117 w 4397118"/>
                <a:gd name="connsiteY9" fmla="*/ 531227 h 684613"/>
                <a:gd name="connsiteX10" fmla="*/ 4397117 w 4397118"/>
                <a:gd name="connsiteY10" fmla="*/ 531612 h 684613"/>
                <a:gd name="connsiteX11" fmla="*/ 4396560 w 4397118"/>
                <a:gd name="connsiteY11" fmla="*/ 531612 h 684613"/>
                <a:gd name="connsiteX12" fmla="*/ 4352451 w 4397118"/>
                <a:gd name="connsiteY12" fmla="*/ 562139 h 684613"/>
                <a:gd name="connsiteX13" fmla="*/ 2198559 w 4397118"/>
                <a:gd name="connsiteY13" fmla="*/ 684613 h 684613"/>
                <a:gd name="connsiteX14" fmla="*/ 44667 w 4397118"/>
                <a:gd name="connsiteY14" fmla="*/ 562139 h 684613"/>
                <a:gd name="connsiteX15" fmla="*/ 558 w 4397118"/>
                <a:gd name="connsiteY15" fmla="*/ 531612 h 684613"/>
                <a:gd name="connsiteX16" fmla="*/ 0 w 4397118"/>
                <a:gd name="connsiteY16" fmla="*/ 531612 h 684613"/>
                <a:gd name="connsiteX17" fmla="*/ 0 w 4397118"/>
                <a:gd name="connsiteY17" fmla="*/ 531226 h 684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97118" h="684613">
                  <a:moveTo>
                    <a:pt x="0" y="0"/>
                  </a:moveTo>
                  <a:lnTo>
                    <a:pt x="3141" y="0"/>
                  </a:lnTo>
                  <a:lnTo>
                    <a:pt x="44667" y="28739"/>
                  </a:lnTo>
                  <a:cubicBezTo>
                    <a:pt x="249675" y="98635"/>
                    <a:pt x="1136107" y="151213"/>
                    <a:pt x="2198559" y="151213"/>
                  </a:cubicBezTo>
                  <a:cubicBezTo>
                    <a:pt x="3261011" y="151213"/>
                    <a:pt x="4147444" y="98635"/>
                    <a:pt x="4352451" y="28739"/>
                  </a:cubicBezTo>
                  <a:lnTo>
                    <a:pt x="4393977" y="0"/>
                  </a:lnTo>
                  <a:lnTo>
                    <a:pt x="4397117" y="0"/>
                  </a:lnTo>
                  <a:lnTo>
                    <a:pt x="4397117" y="531226"/>
                  </a:lnTo>
                  <a:lnTo>
                    <a:pt x="4397118" y="531226"/>
                  </a:lnTo>
                  <a:lnTo>
                    <a:pt x="4397117" y="531227"/>
                  </a:lnTo>
                  <a:lnTo>
                    <a:pt x="4397117" y="531612"/>
                  </a:lnTo>
                  <a:lnTo>
                    <a:pt x="4396560" y="531612"/>
                  </a:lnTo>
                  <a:lnTo>
                    <a:pt x="4352451" y="562139"/>
                  </a:lnTo>
                  <a:cubicBezTo>
                    <a:pt x="4147444" y="632035"/>
                    <a:pt x="3261011" y="684613"/>
                    <a:pt x="2198559" y="684613"/>
                  </a:cubicBezTo>
                  <a:cubicBezTo>
                    <a:pt x="1136107" y="684613"/>
                    <a:pt x="249675" y="632035"/>
                    <a:pt x="44667" y="562139"/>
                  </a:cubicBezTo>
                  <a:lnTo>
                    <a:pt x="558" y="531612"/>
                  </a:lnTo>
                  <a:lnTo>
                    <a:pt x="0" y="531612"/>
                  </a:lnTo>
                  <a:lnTo>
                    <a:pt x="0" y="531226"/>
                  </a:lnTo>
                  <a:close/>
                </a:path>
              </a:pathLst>
            </a:custGeom>
            <a:gradFill flip="none" rotWithShape="1">
              <a:gsLst>
                <a:gs pos="0">
                  <a:schemeClr val="accent5">
                    <a:lumMod val="60000"/>
                    <a:lumOff val="40000"/>
                  </a:schemeClr>
                </a:gs>
                <a:gs pos="67000">
                  <a:schemeClr val="accent5"/>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0467" tIns="40234" rIns="80467" bIns="40234" rtlCol="0" anchor="ctr"/>
            <a:lstStyle/>
            <a:p>
              <a:pPr algn="ctr"/>
              <a:endParaRPr lang="zh-CN" altLang="en-US" sz="1585">
                <a:latin typeface="微软雅黑" panose="020B0503020204020204" charset="-122"/>
                <a:ea typeface="微软雅黑" panose="020B0503020204020204" charset="-122"/>
                <a:cs typeface="微软雅黑" panose="020B0503020204020204" charset="-122"/>
              </a:endParaRPr>
            </a:p>
          </p:txBody>
        </p:sp>
        <p:sp>
          <p:nvSpPr>
            <p:cNvPr id="18" name="显眼包PPT3"/>
            <p:cNvSpPr/>
            <p:nvPr>
              <p:custDataLst>
                <p:tags r:id="rId7"/>
              </p:custDataLst>
            </p:nvPr>
          </p:nvSpPr>
          <p:spPr>
            <a:xfrm>
              <a:off x="2413" y="2381"/>
              <a:ext cx="3345" cy="233"/>
            </a:xfrm>
            <a:prstGeom prst="ellipse">
              <a:avLst/>
            </a:prstGeom>
            <a:gradFill>
              <a:gsLst>
                <a:gs pos="0">
                  <a:schemeClr val="accent5">
                    <a:lumMod val="60000"/>
                    <a:lumOff val="40000"/>
                    <a:alpha val="58000"/>
                  </a:schemeClr>
                </a:gs>
                <a:gs pos="100000">
                  <a:schemeClr val="accent5">
                    <a:lumMod val="40000"/>
                    <a:lumOff val="60000"/>
                    <a:alpha val="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grpSp>
      <p:sp>
        <p:nvSpPr>
          <p:cNvPr id="21" name="显眼包PPT24"/>
          <p:cNvSpPr/>
          <p:nvPr>
            <p:custDataLst>
              <p:tags r:id="rId8"/>
            </p:custDataLst>
          </p:nvPr>
        </p:nvSpPr>
        <p:spPr>
          <a:xfrm>
            <a:off x="1683385" y="1264285"/>
            <a:ext cx="1722120" cy="225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sym typeface="+mj-ea"/>
              </a:rPr>
              <a:t>品牌圈层融入</a:t>
            </a:r>
            <a:endPar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sym typeface="+mj-ea"/>
            </a:endParaRPr>
          </a:p>
        </p:txBody>
      </p:sp>
      <p:grpSp>
        <p:nvGrpSpPr>
          <p:cNvPr id="37" name="组合 36"/>
          <p:cNvGrpSpPr/>
          <p:nvPr>
            <p:custDataLst>
              <p:tags r:id="rId9"/>
            </p:custDataLst>
          </p:nvPr>
        </p:nvGrpSpPr>
        <p:grpSpPr>
          <a:xfrm>
            <a:off x="6021070" y="1162050"/>
            <a:ext cx="2466975" cy="829310"/>
            <a:chOff x="1874" y="1713"/>
            <a:chExt cx="4422" cy="1306"/>
          </a:xfrm>
        </p:grpSpPr>
        <p:sp>
          <p:nvSpPr>
            <p:cNvPr id="40" name="显眼包PPT8"/>
            <p:cNvSpPr/>
            <p:nvPr>
              <p:custDataLst>
                <p:tags r:id="rId10"/>
              </p:custDataLst>
            </p:nvPr>
          </p:nvSpPr>
          <p:spPr>
            <a:xfrm flipV="1">
              <a:off x="1874" y="1713"/>
              <a:ext cx="4422" cy="960"/>
            </a:xfrm>
            <a:custGeom>
              <a:avLst/>
              <a:gdLst>
                <a:gd name="connsiteX0" fmla="*/ 0 w 4965109"/>
                <a:gd name="connsiteY0" fmla="*/ 1530753 h 1530753"/>
                <a:gd name="connsiteX1" fmla="*/ 1492928 w 4965109"/>
                <a:gd name="connsiteY1" fmla="*/ 0 h 1530753"/>
                <a:gd name="connsiteX2" fmla="*/ 3472181 w 4965109"/>
                <a:gd name="connsiteY2" fmla="*/ 0 h 1530753"/>
                <a:gd name="connsiteX3" fmla="*/ 4965109 w 4965109"/>
                <a:gd name="connsiteY3" fmla="*/ 1530753 h 1530753"/>
                <a:gd name="connsiteX4" fmla="*/ 0 w 4965109"/>
                <a:gd name="connsiteY4" fmla="*/ 1530753 h 1530753"/>
                <a:gd name="connsiteX0-1" fmla="*/ 0 w 4965109"/>
                <a:gd name="connsiteY0-2" fmla="*/ 1530753 h 1530753"/>
                <a:gd name="connsiteX1-3" fmla="*/ 1492928 w 4965109"/>
                <a:gd name="connsiteY1-4" fmla="*/ 0 h 1530753"/>
                <a:gd name="connsiteX2-5" fmla="*/ 3472181 w 4965109"/>
                <a:gd name="connsiteY2-6" fmla="*/ 0 h 1530753"/>
                <a:gd name="connsiteX3-7" fmla="*/ 4965109 w 4965109"/>
                <a:gd name="connsiteY3-8" fmla="*/ 1530753 h 1530753"/>
                <a:gd name="connsiteX4-9" fmla="*/ 0 w 4965109"/>
                <a:gd name="connsiteY4-10" fmla="*/ 1530753 h 1530753"/>
                <a:gd name="connsiteX0-11" fmla="*/ 0 w 4965109"/>
                <a:gd name="connsiteY0-12" fmla="*/ 1530753 h 1530753"/>
                <a:gd name="connsiteX1-13" fmla="*/ 1492928 w 4965109"/>
                <a:gd name="connsiteY1-14" fmla="*/ 0 h 1530753"/>
                <a:gd name="connsiteX2-15" fmla="*/ 3472181 w 4965109"/>
                <a:gd name="connsiteY2-16" fmla="*/ 0 h 1530753"/>
                <a:gd name="connsiteX3-17" fmla="*/ 4965109 w 4965109"/>
                <a:gd name="connsiteY3-18" fmla="*/ 1530753 h 1530753"/>
                <a:gd name="connsiteX4-19" fmla="*/ 0 w 4965109"/>
                <a:gd name="connsiteY4-20" fmla="*/ 1530753 h 1530753"/>
                <a:gd name="connsiteX0-21" fmla="*/ 0 w 4965109"/>
                <a:gd name="connsiteY0-22" fmla="*/ 1530753 h 1530753"/>
                <a:gd name="connsiteX1-23" fmla="*/ 1492928 w 4965109"/>
                <a:gd name="connsiteY1-24" fmla="*/ 0 h 1530753"/>
                <a:gd name="connsiteX2-25" fmla="*/ 3472181 w 4965109"/>
                <a:gd name="connsiteY2-26" fmla="*/ 0 h 1530753"/>
                <a:gd name="connsiteX3-27" fmla="*/ 4965109 w 4965109"/>
                <a:gd name="connsiteY3-28" fmla="*/ 1530753 h 1530753"/>
                <a:gd name="connsiteX4-29" fmla="*/ 0 w 4965109"/>
                <a:gd name="connsiteY4-30" fmla="*/ 1530753 h 1530753"/>
                <a:gd name="connsiteX0-31" fmla="*/ 0 w 4965109"/>
                <a:gd name="connsiteY0-32" fmla="*/ 1530753 h 1530753"/>
                <a:gd name="connsiteX1-33" fmla="*/ 1492928 w 4965109"/>
                <a:gd name="connsiteY1-34" fmla="*/ 0 h 1530753"/>
                <a:gd name="connsiteX2-35" fmla="*/ 3472181 w 4965109"/>
                <a:gd name="connsiteY2-36" fmla="*/ 0 h 1530753"/>
                <a:gd name="connsiteX3-37" fmla="*/ 4965109 w 4965109"/>
                <a:gd name="connsiteY3-38" fmla="*/ 1530753 h 1530753"/>
                <a:gd name="connsiteX4-39" fmla="*/ 0 w 4965109"/>
                <a:gd name="connsiteY4-40" fmla="*/ 1530753 h 153075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965109" h="1530753">
                  <a:moveTo>
                    <a:pt x="0" y="1530753"/>
                  </a:moveTo>
                  <a:cubicBezTo>
                    <a:pt x="713543" y="1084002"/>
                    <a:pt x="1122285" y="586451"/>
                    <a:pt x="1492928" y="0"/>
                  </a:cubicBezTo>
                  <a:lnTo>
                    <a:pt x="3472181" y="0"/>
                  </a:lnTo>
                  <a:cubicBezTo>
                    <a:pt x="3874574" y="624551"/>
                    <a:pt x="4308716" y="1128452"/>
                    <a:pt x="4965109" y="1530753"/>
                  </a:cubicBezTo>
                  <a:lnTo>
                    <a:pt x="0" y="1530753"/>
                  </a:lnTo>
                  <a:close/>
                </a:path>
              </a:pathLst>
            </a:custGeom>
            <a:gradFill>
              <a:gsLst>
                <a:gs pos="0">
                  <a:schemeClr val="accent5">
                    <a:lumMod val="20000"/>
                    <a:lumOff val="80000"/>
                    <a:alpha val="0"/>
                  </a:schemeClr>
                </a:gs>
                <a:gs pos="97248">
                  <a:schemeClr val="accent5">
                    <a:lumMod val="20000"/>
                    <a:lumOff val="80000"/>
                    <a:alpha val="0"/>
                  </a:schemeClr>
                </a:gs>
                <a:gs pos="44000">
                  <a:schemeClr val="accent5">
                    <a:lumMod val="20000"/>
                    <a:lumOff val="80000"/>
                    <a:alpha val="52000"/>
                  </a:schemeClr>
                </a:gs>
              </a:gsLst>
              <a:lin ang="5400000" scaled="0"/>
            </a:gradFill>
            <a:ln w="6350">
              <a:gradFill>
                <a:gsLst>
                  <a:gs pos="0">
                    <a:schemeClr val="accent5">
                      <a:lumMod val="20000"/>
                      <a:lumOff val="80000"/>
                      <a:alpha val="0"/>
                    </a:schemeClr>
                  </a:gs>
                  <a:gs pos="46000">
                    <a:schemeClr val="accent5">
                      <a:lumMod val="40000"/>
                      <a:lumOff val="60000"/>
                      <a:alpha val="64000"/>
                    </a:schemeClr>
                  </a:gs>
                  <a:gs pos="100000">
                    <a:schemeClr val="accent5">
                      <a:lumMod val="20000"/>
                      <a:lumOff val="8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1" name="显眼包PPT14"/>
            <p:cNvSpPr/>
            <p:nvPr>
              <p:custDataLst>
                <p:tags r:id="rId11"/>
              </p:custDataLst>
            </p:nvPr>
          </p:nvSpPr>
          <p:spPr>
            <a:xfrm>
              <a:off x="2413" y="2499"/>
              <a:ext cx="3345" cy="521"/>
            </a:xfrm>
            <a:custGeom>
              <a:avLst/>
              <a:gdLst>
                <a:gd name="connsiteX0" fmla="*/ 0 w 4397118"/>
                <a:gd name="connsiteY0" fmla="*/ 0 h 684613"/>
                <a:gd name="connsiteX1" fmla="*/ 3141 w 4397118"/>
                <a:gd name="connsiteY1" fmla="*/ 0 h 684613"/>
                <a:gd name="connsiteX2" fmla="*/ 44667 w 4397118"/>
                <a:gd name="connsiteY2" fmla="*/ 28739 h 684613"/>
                <a:gd name="connsiteX3" fmla="*/ 2198559 w 4397118"/>
                <a:gd name="connsiteY3" fmla="*/ 151213 h 684613"/>
                <a:gd name="connsiteX4" fmla="*/ 4352451 w 4397118"/>
                <a:gd name="connsiteY4" fmla="*/ 28739 h 684613"/>
                <a:gd name="connsiteX5" fmla="*/ 4393977 w 4397118"/>
                <a:gd name="connsiteY5" fmla="*/ 0 h 684613"/>
                <a:gd name="connsiteX6" fmla="*/ 4397117 w 4397118"/>
                <a:gd name="connsiteY6" fmla="*/ 0 h 684613"/>
                <a:gd name="connsiteX7" fmla="*/ 4397117 w 4397118"/>
                <a:gd name="connsiteY7" fmla="*/ 531226 h 684613"/>
                <a:gd name="connsiteX8" fmla="*/ 4397118 w 4397118"/>
                <a:gd name="connsiteY8" fmla="*/ 531226 h 684613"/>
                <a:gd name="connsiteX9" fmla="*/ 4397117 w 4397118"/>
                <a:gd name="connsiteY9" fmla="*/ 531227 h 684613"/>
                <a:gd name="connsiteX10" fmla="*/ 4397117 w 4397118"/>
                <a:gd name="connsiteY10" fmla="*/ 531612 h 684613"/>
                <a:gd name="connsiteX11" fmla="*/ 4396560 w 4397118"/>
                <a:gd name="connsiteY11" fmla="*/ 531612 h 684613"/>
                <a:gd name="connsiteX12" fmla="*/ 4352451 w 4397118"/>
                <a:gd name="connsiteY12" fmla="*/ 562139 h 684613"/>
                <a:gd name="connsiteX13" fmla="*/ 2198559 w 4397118"/>
                <a:gd name="connsiteY13" fmla="*/ 684613 h 684613"/>
                <a:gd name="connsiteX14" fmla="*/ 44667 w 4397118"/>
                <a:gd name="connsiteY14" fmla="*/ 562139 h 684613"/>
                <a:gd name="connsiteX15" fmla="*/ 558 w 4397118"/>
                <a:gd name="connsiteY15" fmla="*/ 531612 h 684613"/>
                <a:gd name="connsiteX16" fmla="*/ 0 w 4397118"/>
                <a:gd name="connsiteY16" fmla="*/ 531612 h 684613"/>
                <a:gd name="connsiteX17" fmla="*/ 0 w 4397118"/>
                <a:gd name="connsiteY17" fmla="*/ 531226 h 684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97118" h="684613">
                  <a:moveTo>
                    <a:pt x="0" y="0"/>
                  </a:moveTo>
                  <a:lnTo>
                    <a:pt x="3141" y="0"/>
                  </a:lnTo>
                  <a:lnTo>
                    <a:pt x="44667" y="28739"/>
                  </a:lnTo>
                  <a:cubicBezTo>
                    <a:pt x="249675" y="98635"/>
                    <a:pt x="1136107" y="151213"/>
                    <a:pt x="2198559" y="151213"/>
                  </a:cubicBezTo>
                  <a:cubicBezTo>
                    <a:pt x="3261011" y="151213"/>
                    <a:pt x="4147444" y="98635"/>
                    <a:pt x="4352451" y="28739"/>
                  </a:cubicBezTo>
                  <a:lnTo>
                    <a:pt x="4393977" y="0"/>
                  </a:lnTo>
                  <a:lnTo>
                    <a:pt x="4397117" y="0"/>
                  </a:lnTo>
                  <a:lnTo>
                    <a:pt x="4397117" y="531226"/>
                  </a:lnTo>
                  <a:lnTo>
                    <a:pt x="4397118" y="531226"/>
                  </a:lnTo>
                  <a:lnTo>
                    <a:pt x="4397117" y="531227"/>
                  </a:lnTo>
                  <a:lnTo>
                    <a:pt x="4397117" y="531612"/>
                  </a:lnTo>
                  <a:lnTo>
                    <a:pt x="4396560" y="531612"/>
                  </a:lnTo>
                  <a:lnTo>
                    <a:pt x="4352451" y="562139"/>
                  </a:lnTo>
                  <a:cubicBezTo>
                    <a:pt x="4147444" y="632035"/>
                    <a:pt x="3261011" y="684613"/>
                    <a:pt x="2198559" y="684613"/>
                  </a:cubicBezTo>
                  <a:cubicBezTo>
                    <a:pt x="1136107" y="684613"/>
                    <a:pt x="249675" y="632035"/>
                    <a:pt x="44667" y="562139"/>
                  </a:cubicBezTo>
                  <a:lnTo>
                    <a:pt x="558" y="531612"/>
                  </a:lnTo>
                  <a:lnTo>
                    <a:pt x="0" y="531612"/>
                  </a:lnTo>
                  <a:lnTo>
                    <a:pt x="0" y="531226"/>
                  </a:lnTo>
                  <a:close/>
                </a:path>
              </a:pathLst>
            </a:custGeom>
            <a:gradFill flip="none" rotWithShape="1">
              <a:gsLst>
                <a:gs pos="0">
                  <a:schemeClr val="accent5">
                    <a:lumMod val="60000"/>
                    <a:lumOff val="40000"/>
                  </a:schemeClr>
                </a:gs>
                <a:gs pos="67000">
                  <a:schemeClr val="accent5"/>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0467" tIns="40234" rIns="80467" bIns="40234" rtlCol="0" anchor="ctr"/>
            <a:lstStyle/>
            <a:p>
              <a:pPr algn="ctr"/>
              <a:endParaRPr lang="zh-CN" altLang="en-US" sz="1585">
                <a:latin typeface="微软雅黑" panose="020B0503020204020204" charset="-122"/>
                <a:ea typeface="微软雅黑" panose="020B0503020204020204" charset="-122"/>
                <a:cs typeface="微软雅黑" panose="020B0503020204020204" charset="-122"/>
              </a:endParaRPr>
            </a:p>
          </p:txBody>
        </p:sp>
        <p:sp>
          <p:nvSpPr>
            <p:cNvPr id="42" name="显眼包PPT3"/>
            <p:cNvSpPr/>
            <p:nvPr>
              <p:custDataLst>
                <p:tags r:id="rId12"/>
              </p:custDataLst>
            </p:nvPr>
          </p:nvSpPr>
          <p:spPr>
            <a:xfrm>
              <a:off x="2413" y="2381"/>
              <a:ext cx="3345" cy="233"/>
            </a:xfrm>
            <a:prstGeom prst="ellipse">
              <a:avLst/>
            </a:prstGeom>
            <a:gradFill>
              <a:gsLst>
                <a:gs pos="0">
                  <a:schemeClr val="accent5">
                    <a:lumMod val="60000"/>
                    <a:lumOff val="40000"/>
                    <a:alpha val="58000"/>
                  </a:schemeClr>
                </a:gs>
                <a:gs pos="100000">
                  <a:schemeClr val="accent5">
                    <a:lumMod val="40000"/>
                    <a:lumOff val="60000"/>
                    <a:alpha val="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grpSp>
      <p:grpSp>
        <p:nvGrpSpPr>
          <p:cNvPr id="43" name="组合 42"/>
          <p:cNvGrpSpPr/>
          <p:nvPr>
            <p:custDataLst>
              <p:tags r:id="rId13"/>
            </p:custDataLst>
          </p:nvPr>
        </p:nvGrpSpPr>
        <p:grpSpPr>
          <a:xfrm>
            <a:off x="3669665" y="1162050"/>
            <a:ext cx="2466975" cy="829310"/>
            <a:chOff x="1874" y="1713"/>
            <a:chExt cx="4422" cy="1306"/>
          </a:xfrm>
        </p:grpSpPr>
        <p:sp>
          <p:nvSpPr>
            <p:cNvPr id="44" name="显眼包PPT8"/>
            <p:cNvSpPr/>
            <p:nvPr>
              <p:custDataLst>
                <p:tags r:id="rId14"/>
              </p:custDataLst>
            </p:nvPr>
          </p:nvSpPr>
          <p:spPr>
            <a:xfrm flipV="1">
              <a:off x="1874" y="1713"/>
              <a:ext cx="4422" cy="960"/>
            </a:xfrm>
            <a:custGeom>
              <a:avLst/>
              <a:gdLst>
                <a:gd name="connsiteX0" fmla="*/ 0 w 4965109"/>
                <a:gd name="connsiteY0" fmla="*/ 1530753 h 1530753"/>
                <a:gd name="connsiteX1" fmla="*/ 1492928 w 4965109"/>
                <a:gd name="connsiteY1" fmla="*/ 0 h 1530753"/>
                <a:gd name="connsiteX2" fmla="*/ 3472181 w 4965109"/>
                <a:gd name="connsiteY2" fmla="*/ 0 h 1530753"/>
                <a:gd name="connsiteX3" fmla="*/ 4965109 w 4965109"/>
                <a:gd name="connsiteY3" fmla="*/ 1530753 h 1530753"/>
                <a:gd name="connsiteX4" fmla="*/ 0 w 4965109"/>
                <a:gd name="connsiteY4" fmla="*/ 1530753 h 1530753"/>
                <a:gd name="connsiteX0-1" fmla="*/ 0 w 4965109"/>
                <a:gd name="connsiteY0-2" fmla="*/ 1530753 h 1530753"/>
                <a:gd name="connsiteX1-3" fmla="*/ 1492928 w 4965109"/>
                <a:gd name="connsiteY1-4" fmla="*/ 0 h 1530753"/>
                <a:gd name="connsiteX2-5" fmla="*/ 3472181 w 4965109"/>
                <a:gd name="connsiteY2-6" fmla="*/ 0 h 1530753"/>
                <a:gd name="connsiteX3-7" fmla="*/ 4965109 w 4965109"/>
                <a:gd name="connsiteY3-8" fmla="*/ 1530753 h 1530753"/>
                <a:gd name="connsiteX4-9" fmla="*/ 0 w 4965109"/>
                <a:gd name="connsiteY4-10" fmla="*/ 1530753 h 1530753"/>
                <a:gd name="connsiteX0-11" fmla="*/ 0 w 4965109"/>
                <a:gd name="connsiteY0-12" fmla="*/ 1530753 h 1530753"/>
                <a:gd name="connsiteX1-13" fmla="*/ 1492928 w 4965109"/>
                <a:gd name="connsiteY1-14" fmla="*/ 0 h 1530753"/>
                <a:gd name="connsiteX2-15" fmla="*/ 3472181 w 4965109"/>
                <a:gd name="connsiteY2-16" fmla="*/ 0 h 1530753"/>
                <a:gd name="connsiteX3-17" fmla="*/ 4965109 w 4965109"/>
                <a:gd name="connsiteY3-18" fmla="*/ 1530753 h 1530753"/>
                <a:gd name="connsiteX4-19" fmla="*/ 0 w 4965109"/>
                <a:gd name="connsiteY4-20" fmla="*/ 1530753 h 1530753"/>
                <a:gd name="connsiteX0-21" fmla="*/ 0 w 4965109"/>
                <a:gd name="connsiteY0-22" fmla="*/ 1530753 h 1530753"/>
                <a:gd name="connsiteX1-23" fmla="*/ 1492928 w 4965109"/>
                <a:gd name="connsiteY1-24" fmla="*/ 0 h 1530753"/>
                <a:gd name="connsiteX2-25" fmla="*/ 3472181 w 4965109"/>
                <a:gd name="connsiteY2-26" fmla="*/ 0 h 1530753"/>
                <a:gd name="connsiteX3-27" fmla="*/ 4965109 w 4965109"/>
                <a:gd name="connsiteY3-28" fmla="*/ 1530753 h 1530753"/>
                <a:gd name="connsiteX4-29" fmla="*/ 0 w 4965109"/>
                <a:gd name="connsiteY4-30" fmla="*/ 1530753 h 1530753"/>
                <a:gd name="connsiteX0-31" fmla="*/ 0 w 4965109"/>
                <a:gd name="connsiteY0-32" fmla="*/ 1530753 h 1530753"/>
                <a:gd name="connsiteX1-33" fmla="*/ 1492928 w 4965109"/>
                <a:gd name="connsiteY1-34" fmla="*/ 0 h 1530753"/>
                <a:gd name="connsiteX2-35" fmla="*/ 3472181 w 4965109"/>
                <a:gd name="connsiteY2-36" fmla="*/ 0 h 1530753"/>
                <a:gd name="connsiteX3-37" fmla="*/ 4965109 w 4965109"/>
                <a:gd name="connsiteY3-38" fmla="*/ 1530753 h 1530753"/>
                <a:gd name="connsiteX4-39" fmla="*/ 0 w 4965109"/>
                <a:gd name="connsiteY4-40" fmla="*/ 1530753 h 153075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965109" h="1530753">
                  <a:moveTo>
                    <a:pt x="0" y="1530753"/>
                  </a:moveTo>
                  <a:cubicBezTo>
                    <a:pt x="713543" y="1084002"/>
                    <a:pt x="1122285" y="586451"/>
                    <a:pt x="1492928" y="0"/>
                  </a:cubicBezTo>
                  <a:lnTo>
                    <a:pt x="3472181" y="0"/>
                  </a:lnTo>
                  <a:cubicBezTo>
                    <a:pt x="3874574" y="624551"/>
                    <a:pt x="4308716" y="1128452"/>
                    <a:pt x="4965109" y="1530753"/>
                  </a:cubicBezTo>
                  <a:lnTo>
                    <a:pt x="0" y="1530753"/>
                  </a:lnTo>
                  <a:close/>
                </a:path>
              </a:pathLst>
            </a:custGeom>
            <a:gradFill>
              <a:gsLst>
                <a:gs pos="0">
                  <a:schemeClr val="accent1">
                    <a:lumMod val="20000"/>
                    <a:lumOff val="80000"/>
                    <a:alpha val="0"/>
                  </a:schemeClr>
                </a:gs>
                <a:gs pos="97248">
                  <a:schemeClr val="accent1">
                    <a:lumMod val="20000"/>
                    <a:lumOff val="80000"/>
                    <a:alpha val="0"/>
                  </a:schemeClr>
                </a:gs>
                <a:gs pos="44000">
                  <a:schemeClr val="accent1">
                    <a:lumMod val="20000"/>
                    <a:lumOff val="80000"/>
                    <a:alpha val="52000"/>
                  </a:schemeClr>
                </a:gs>
              </a:gsLst>
              <a:lin ang="5400000" scaled="0"/>
            </a:gradFill>
            <a:ln w="6350">
              <a:gradFill>
                <a:gsLst>
                  <a:gs pos="0">
                    <a:schemeClr val="accent1">
                      <a:lumMod val="20000"/>
                      <a:lumOff val="80000"/>
                      <a:alpha val="0"/>
                    </a:schemeClr>
                  </a:gs>
                  <a:gs pos="46000">
                    <a:schemeClr val="accent1">
                      <a:lumMod val="40000"/>
                      <a:lumOff val="60000"/>
                      <a:alpha val="64000"/>
                    </a:schemeClr>
                  </a:gs>
                  <a:gs pos="100000">
                    <a:schemeClr val="accent1">
                      <a:lumMod val="20000"/>
                      <a:lumOff val="8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5" name="显眼包PPT14"/>
            <p:cNvSpPr/>
            <p:nvPr>
              <p:custDataLst>
                <p:tags r:id="rId15"/>
              </p:custDataLst>
            </p:nvPr>
          </p:nvSpPr>
          <p:spPr>
            <a:xfrm>
              <a:off x="2413" y="2499"/>
              <a:ext cx="3345" cy="521"/>
            </a:xfrm>
            <a:custGeom>
              <a:avLst/>
              <a:gdLst>
                <a:gd name="connsiteX0" fmla="*/ 0 w 4397118"/>
                <a:gd name="connsiteY0" fmla="*/ 0 h 684613"/>
                <a:gd name="connsiteX1" fmla="*/ 3141 w 4397118"/>
                <a:gd name="connsiteY1" fmla="*/ 0 h 684613"/>
                <a:gd name="connsiteX2" fmla="*/ 44667 w 4397118"/>
                <a:gd name="connsiteY2" fmla="*/ 28739 h 684613"/>
                <a:gd name="connsiteX3" fmla="*/ 2198559 w 4397118"/>
                <a:gd name="connsiteY3" fmla="*/ 151213 h 684613"/>
                <a:gd name="connsiteX4" fmla="*/ 4352451 w 4397118"/>
                <a:gd name="connsiteY4" fmla="*/ 28739 h 684613"/>
                <a:gd name="connsiteX5" fmla="*/ 4393977 w 4397118"/>
                <a:gd name="connsiteY5" fmla="*/ 0 h 684613"/>
                <a:gd name="connsiteX6" fmla="*/ 4397117 w 4397118"/>
                <a:gd name="connsiteY6" fmla="*/ 0 h 684613"/>
                <a:gd name="connsiteX7" fmla="*/ 4397117 w 4397118"/>
                <a:gd name="connsiteY7" fmla="*/ 531226 h 684613"/>
                <a:gd name="connsiteX8" fmla="*/ 4397118 w 4397118"/>
                <a:gd name="connsiteY8" fmla="*/ 531226 h 684613"/>
                <a:gd name="connsiteX9" fmla="*/ 4397117 w 4397118"/>
                <a:gd name="connsiteY9" fmla="*/ 531227 h 684613"/>
                <a:gd name="connsiteX10" fmla="*/ 4397117 w 4397118"/>
                <a:gd name="connsiteY10" fmla="*/ 531612 h 684613"/>
                <a:gd name="connsiteX11" fmla="*/ 4396560 w 4397118"/>
                <a:gd name="connsiteY11" fmla="*/ 531612 h 684613"/>
                <a:gd name="connsiteX12" fmla="*/ 4352451 w 4397118"/>
                <a:gd name="connsiteY12" fmla="*/ 562139 h 684613"/>
                <a:gd name="connsiteX13" fmla="*/ 2198559 w 4397118"/>
                <a:gd name="connsiteY13" fmla="*/ 684613 h 684613"/>
                <a:gd name="connsiteX14" fmla="*/ 44667 w 4397118"/>
                <a:gd name="connsiteY14" fmla="*/ 562139 h 684613"/>
                <a:gd name="connsiteX15" fmla="*/ 558 w 4397118"/>
                <a:gd name="connsiteY15" fmla="*/ 531612 h 684613"/>
                <a:gd name="connsiteX16" fmla="*/ 0 w 4397118"/>
                <a:gd name="connsiteY16" fmla="*/ 531612 h 684613"/>
                <a:gd name="connsiteX17" fmla="*/ 0 w 4397118"/>
                <a:gd name="connsiteY17" fmla="*/ 531226 h 684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97118" h="684613">
                  <a:moveTo>
                    <a:pt x="0" y="0"/>
                  </a:moveTo>
                  <a:lnTo>
                    <a:pt x="3141" y="0"/>
                  </a:lnTo>
                  <a:lnTo>
                    <a:pt x="44667" y="28739"/>
                  </a:lnTo>
                  <a:cubicBezTo>
                    <a:pt x="249675" y="98635"/>
                    <a:pt x="1136107" y="151213"/>
                    <a:pt x="2198559" y="151213"/>
                  </a:cubicBezTo>
                  <a:cubicBezTo>
                    <a:pt x="3261011" y="151213"/>
                    <a:pt x="4147444" y="98635"/>
                    <a:pt x="4352451" y="28739"/>
                  </a:cubicBezTo>
                  <a:lnTo>
                    <a:pt x="4393977" y="0"/>
                  </a:lnTo>
                  <a:lnTo>
                    <a:pt x="4397117" y="0"/>
                  </a:lnTo>
                  <a:lnTo>
                    <a:pt x="4397117" y="531226"/>
                  </a:lnTo>
                  <a:lnTo>
                    <a:pt x="4397118" y="531226"/>
                  </a:lnTo>
                  <a:lnTo>
                    <a:pt x="4397117" y="531227"/>
                  </a:lnTo>
                  <a:lnTo>
                    <a:pt x="4397117" y="531612"/>
                  </a:lnTo>
                  <a:lnTo>
                    <a:pt x="4396560" y="531612"/>
                  </a:lnTo>
                  <a:lnTo>
                    <a:pt x="4352451" y="562139"/>
                  </a:lnTo>
                  <a:cubicBezTo>
                    <a:pt x="4147444" y="632035"/>
                    <a:pt x="3261011" y="684613"/>
                    <a:pt x="2198559" y="684613"/>
                  </a:cubicBezTo>
                  <a:cubicBezTo>
                    <a:pt x="1136107" y="684613"/>
                    <a:pt x="249675" y="632035"/>
                    <a:pt x="44667" y="562139"/>
                  </a:cubicBezTo>
                  <a:lnTo>
                    <a:pt x="558" y="531612"/>
                  </a:lnTo>
                  <a:lnTo>
                    <a:pt x="0" y="531612"/>
                  </a:lnTo>
                  <a:lnTo>
                    <a:pt x="0" y="531226"/>
                  </a:lnTo>
                  <a:close/>
                </a:path>
              </a:pathLst>
            </a:custGeom>
            <a:gradFill flip="none" rotWithShape="1">
              <a:gsLst>
                <a:gs pos="0">
                  <a:schemeClr val="accent1">
                    <a:lumMod val="60000"/>
                    <a:lumOff val="40000"/>
                  </a:schemeClr>
                </a:gs>
                <a:gs pos="67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0467" tIns="40234" rIns="80467" bIns="40234" rtlCol="0" anchor="ctr"/>
            <a:lstStyle/>
            <a:p>
              <a:pPr algn="ctr"/>
              <a:endParaRPr lang="zh-CN" altLang="en-US" sz="1585">
                <a:latin typeface="微软雅黑" panose="020B0503020204020204" charset="-122"/>
                <a:ea typeface="微软雅黑" panose="020B0503020204020204" charset="-122"/>
                <a:cs typeface="微软雅黑" panose="020B0503020204020204" charset="-122"/>
              </a:endParaRPr>
            </a:p>
          </p:txBody>
        </p:sp>
        <p:sp>
          <p:nvSpPr>
            <p:cNvPr id="46" name="显眼包PPT3"/>
            <p:cNvSpPr/>
            <p:nvPr>
              <p:custDataLst>
                <p:tags r:id="rId16"/>
              </p:custDataLst>
            </p:nvPr>
          </p:nvSpPr>
          <p:spPr>
            <a:xfrm>
              <a:off x="2413" y="2381"/>
              <a:ext cx="3345" cy="233"/>
            </a:xfrm>
            <a:prstGeom prst="ellipse">
              <a:avLst/>
            </a:prstGeom>
            <a:gradFill>
              <a:gsLst>
                <a:gs pos="0">
                  <a:schemeClr val="accent1">
                    <a:lumMod val="60000"/>
                    <a:lumOff val="40000"/>
                    <a:alpha val="58000"/>
                  </a:schemeClr>
                </a:gs>
                <a:gs pos="100000">
                  <a:schemeClr val="accent1">
                    <a:lumMod val="40000"/>
                    <a:lumOff val="60000"/>
                    <a:alpha val="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grpSp>
      <p:sp>
        <p:nvSpPr>
          <p:cNvPr id="62" name="显眼包PPT3"/>
          <p:cNvSpPr/>
          <p:nvPr>
            <p:custDataLst>
              <p:tags r:id="rId17"/>
            </p:custDataLst>
          </p:nvPr>
        </p:nvSpPr>
        <p:spPr>
          <a:xfrm>
            <a:off x="1742440" y="2110105"/>
            <a:ext cx="1619250" cy="128270"/>
          </a:xfrm>
          <a:prstGeom prst="ellipse">
            <a:avLst/>
          </a:prstGeom>
          <a:gradFill>
            <a:gsLst>
              <a:gs pos="0">
                <a:schemeClr val="accent5">
                  <a:lumMod val="60000"/>
                  <a:lumOff val="40000"/>
                  <a:alpha val="58000"/>
                </a:schemeClr>
              </a:gs>
              <a:gs pos="100000">
                <a:schemeClr val="accent5">
                  <a:lumMod val="40000"/>
                  <a:lumOff val="60000"/>
                  <a:alpha val="100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5" name="显眼包PPT3"/>
          <p:cNvSpPr/>
          <p:nvPr>
            <p:custDataLst>
              <p:tags r:id="rId18"/>
            </p:custDataLst>
          </p:nvPr>
        </p:nvSpPr>
        <p:spPr>
          <a:xfrm>
            <a:off x="6443345" y="2110105"/>
            <a:ext cx="1619250" cy="128270"/>
          </a:xfrm>
          <a:prstGeom prst="ellipse">
            <a:avLst/>
          </a:prstGeom>
          <a:gradFill>
            <a:gsLst>
              <a:gs pos="0">
                <a:schemeClr val="accent5">
                  <a:lumMod val="60000"/>
                  <a:lumOff val="40000"/>
                  <a:alpha val="58000"/>
                </a:schemeClr>
              </a:gs>
              <a:gs pos="100000">
                <a:schemeClr val="accent5">
                  <a:lumMod val="40000"/>
                  <a:lumOff val="60000"/>
                  <a:alpha val="100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6" name="显眼包PPT3"/>
          <p:cNvSpPr/>
          <p:nvPr>
            <p:custDataLst>
              <p:tags r:id="rId19"/>
            </p:custDataLst>
          </p:nvPr>
        </p:nvSpPr>
        <p:spPr>
          <a:xfrm>
            <a:off x="4093210" y="2110105"/>
            <a:ext cx="1619250" cy="128270"/>
          </a:xfrm>
          <a:prstGeom prst="ellipse">
            <a:avLst/>
          </a:prstGeom>
          <a:gradFill>
            <a:gsLst>
              <a:gs pos="0">
                <a:schemeClr val="accent1">
                  <a:lumMod val="60000"/>
                  <a:lumOff val="40000"/>
                </a:schemeClr>
              </a:gs>
              <a:gs pos="100000">
                <a:schemeClr val="accent1">
                  <a:lumMod val="40000"/>
                  <a:lumOff val="60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7" name="显眼包PPT3"/>
          <p:cNvSpPr/>
          <p:nvPr>
            <p:custDataLst>
              <p:tags r:id="rId20"/>
            </p:custDataLst>
          </p:nvPr>
        </p:nvSpPr>
        <p:spPr>
          <a:xfrm>
            <a:off x="8793480" y="2110105"/>
            <a:ext cx="1619250" cy="128270"/>
          </a:xfrm>
          <a:prstGeom prst="ellipse">
            <a:avLst/>
          </a:prstGeom>
          <a:gradFill>
            <a:gsLst>
              <a:gs pos="0">
                <a:schemeClr val="accent1">
                  <a:lumMod val="60000"/>
                  <a:lumOff val="40000"/>
                </a:schemeClr>
              </a:gs>
              <a:gs pos="100000">
                <a:schemeClr val="accent1">
                  <a:lumMod val="40000"/>
                  <a:lumOff val="60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grpSp>
        <p:nvGrpSpPr>
          <p:cNvPr id="68" name="组合 67"/>
          <p:cNvGrpSpPr/>
          <p:nvPr>
            <p:custDataLst>
              <p:tags r:id="rId21"/>
            </p:custDataLst>
          </p:nvPr>
        </p:nvGrpSpPr>
        <p:grpSpPr>
          <a:xfrm>
            <a:off x="8372475" y="1162050"/>
            <a:ext cx="2466975" cy="829310"/>
            <a:chOff x="1874" y="1713"/>
            <a:chExt cx="4422" cy="1306"/>
          </a:xfrm>
        </p:grpSpPr>
        <p:sp>
          <p:nvSpPr>
            <p:cNvPr id="69" name="显眼包PPT8"/>
            <p:cNvSpPr/>
            <p:nvPr>
              <p:custDataLst>
                <p:tags r:id="rId22"/>
              </p:custDataLst>
            </p:nvPr>
          </p:nvSpPr>
          <p:spPr>
            <a:xfrm flipV="1">
              <a:off x="1874" y="1713"/>
              <a:ext cx="4422" cy="960"/>
            </a:xfrm>
            <a:custGeom>
              <a:avLst/>
              <a:gdLst>
                <a:gd name="connsiteX0" fmla="*/ 0 w 4965109"/>
                <a:gd name="connsiteY0" fmla="*/ 1530753 h 1530753"/>
                <a:gd name="connsiteX1" fmla="*/ 1492928 w 4965109"/>
                <a:gd name="connsiteY1" fmla="*/ 0 h 1530753"/>
                <a:gd name="connsiteX2" fmla="*/ 3472181 w 4965109"/>
                <a:gd name="connsiteY2" fmla="*/ 0 h 1530753"/>
                <a:gd name="connsiteX3" fmla="*/ 4965109 w 4965109"/>
                <a:gd name="connsiteY3" fmla="*/ 1530753 h 1530753"/>
                <a:gd name="connsiteX4" fmla="*/ 0 w 4965109"/>
                <a:gd name="connsiteY4" fmla="*/ 1530753 h 1530753"/>
                <a:gd name="connsiteX0-1" fmla="*/ 0 w 4965109"/>
                <a:gd name="connsiteY0-2" fmla="*/ 1530753 h 1530753"/>
                <a:gd name="connsiteX1-3" fmla="*/ 1492928 w 4965109"/>
                <a:gd name="connsiteY1-4" fmla="*/ 0 h 1530753"/>
                <a:gd name="connsiteX2-5" fmla="*/ 3472181 w 4965109"/>
                <a:gd name="connsiteY2-6" fmla="*/ 0 h 1530753"/>
                <a:gd name="connsiteX3-7" fmla="*/ 4965109 w 4965109"/>
                <a:gd name="connsiteY3-8" fmla="*/ 1530753 h 1530753"/>
                <a:gd name="connsiteX4-9" fmla="*/ 0 w 4965109"/>
                <a:gd name="connsiteY4-10" fmla="*/ 1530753 h 1530753"/>
                <a:gd name="connsiteX0-11" fmla="*/ 0 w 4965109"/>
                <a:gd name="connsiteY0-12" fmla="*/ 1530753 h 1530753"/>
                <a:gd name="connsiteX1-13" fmla="*/ 1492928 w 4965109"/>
                <a:gd name="connsiteY1-14" fmla="*/ 0 h 1530753"/>
                <a:gd name="connsiteX2-15" fmla="*/ 3472181 w 4965109"/>
                <a:gd name="connsiteY2-16" fmla="*/ 0 h 1530753"/>
                <a:gd name="connsiteX3-17" fmla="*/ 4965109 w 4965109"/>
                <a:gd name="connsiteY3-18" fmla="*/ 1530753 h 1530753"/>
                <a:gd name="connsiteX4-19" fmla="*/ 0 w 4965109"/>
                <a:gd name="connsiteY4-20" fmla="*/ 1530753 h 1530753"/>
                <a:gd name="connsiteX0-21" fmla="*/ 0 w 4965109"/>
                <a:gd name="connsiteY0-22" fmla="*/ 1530753 h 1530753"/>
                <a:gd name="connsiteX1-23" fmla="*/ 1492928 w 4965109"/>
                <a:gd name="connsiteY1-24" fmla="*/ 0 h 1530753"/>
                <a:gd name="connsiteX2-25" fmla="*/ 3472181 w 4965109"/>
                <a:gd name="connsiteY2-26" fmla="*/ 0 h 1530753"/>
                <a:gd name="connsiteX3-27" fmla="*/ 4965109 w 4965109"/>
                <a:gd name="connsiteY3-28" fmla="*/ 1530753 h 1530753"/>
                <a:gd name="connsiteX4-29" fmla="*/ 0 w 4965109"/>
                <a:gd name="connsiteY4-30" fmla="*/ 1530753 h 1530753"/>
                <a:gd name="connsiteX0-31" fmla="*/ 0 w 4965109"/>
                <a:gd name="connsiteY0-32" fmla="*/ 1530753 h 1530753"/>
                <a:gd name="connsiteX1-33" fmla="*/ 1492928 w 4965109"/>
                <a:gd name="connsiteY1-34" fmla="*/ 0 h 1530753"/>
                <a:gd name="connsiteX2-35" fmla="*/ 3472181 w 4965109"/>
                <a:gd name="connsiteY2-36" fmla="*/ 0 h 1530753"/>
                <a:gd name="connsiteX3-37" fmla="*/ 4965109 w 4965109"/>
                <a:gd name="connsiteY3-38" fmla="*/ 1530753 h 1530753"/>
                <a:gd name="connsiteX4-39" fmla="*/ 0 w 4965109"/>
                <a:gd name="connsiteY4-40" fmla="*/ 1530753 h 153075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965109" h="1530753">
                  <a:moveTo>
                    <a:pt x="0" y="1530753"/>
                  </a:moveTo>
                  <a:cubicBezTo>
                    <a:pt x="713543" y="1084002"/>
                    <a:pt x="1122285" y="586451"/>
                    <a:pt x="1492928" y="0"/>
                  </a:cubicBezTo>
                  <a:lnTo>
                    <a:pt x="3472181" y="0"/>
                  </a:lnTo>
                  <a:cubicBezTo>
                    <a:pt x="3874574" y="624551"/>
                    <a:pt x="4308716" y="1128452"/>
                    <a:pt x="4965109" y="1530753"/>
                  </a:cubicBezTo>
                  <a:lnTo>
                    <a:pt x="0" y="1530753"/>
                  </a:lnTo>
                  <a:close/>
                </a:path>
              </a:pathLst>
            </a:custGeom>
            <a:gradFill>
              <a:gsLst>
                <a:gs pos="0">
                  <a:schemeClr val="accent1">
                    <a:lumMod val="20000"/>
                    <a:lumOff val="80000"/>
                    <a:alpha val="0"/>
                  </a:schemeClr>
                </a:gs>
                <a:gs pos="97248">
                  <a:schemeClr val="accent1">
                    <a:lumMod val="20000"/>
                    <a:lumOff val="80000"/>
                    <a:alpha val="0"/>
                  </a:schemeClr>
                </a:gs>
                <a:gs pos="44000">
                  <a:schemeClr val="accent1">
                    <a:lumMod val="20000"/>
                    <a:lumOff val="80000"/>
                    <a:alpha val="52000"/>
                  </a:schemeClr>
                </a:gs>
              </a:gsLst>
              <a:lin ang="5400000" scaled="0"/>
            </a:gradFill>
            <a:ln w="6350">
              <a:gradFill>
                <a:gsLst>
                  <a:gs pos="0">
                    <a:schemeClr val="accent1">
                      <a:lumMod val="20000"/>
                      <a:lumOff val="80000"/>
                      <a:alpha val="0"/>
                    </a:schemeClr>
                  </a:gs>
                  <a:gs pos="46000">
                    <a:schemeClr val="accent1">
                      <a:lumMod val="40000"/>
                      <a:lumOff val="60000"/>
                      <a:alpha val="64000"/>
                    </a:schemeClr>
                  </a:gs>
                  <a:gs pos="100000">
                    <a:schemeClr val="accent1">
                      <a:lumMod val="20000"/>
                      <a:lumOff val="8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0" name="显眼包PPT14"/>
            <p:cNvSpPr/>
            <p:nvPr>
              <p:custDataLst>
                <p:tags r:id="rId23"/>
              </p:custDataLst>
            </p:nvPr>
          </p:nvSpPr>
          <p:spPr>
            <a:xfrm>
              <a:off x="2413" y="2499"/>
              <a:ext cx="3345" cy="521"/>
            </a:xfrm>
            <a:custGeom>
              <a:avLst/>
              <a:gdLst>
                <a:gd name="connsiteX0" fmla="*/ 0 w 4397118"/>
                <a:gd name="connsiteY0" fmla="*/ 0 h 684613"/>
                <a:gd name="connsiteX1" fmla="*/ 3141 w 4397118"/>
                <a:gd name="connsiteY1" fmla="*/ 0 h 684613"/>
                <a:gd name="connsiteX2" fmla="*/ 44667 w 4397118"/>
                <a:gd name="connsiteY2" fmla="*/ 28739 h 684613"/>
                <a:gd name="connsiteX3" fmla="*/ 2198559 w 4397118"/>
                <a:gd name="connsiteY3" fmla="*/ 151213 h 684613"/>
                <a:gd name="connsiteX4" fmla="*/ 4352451 w 4397118"/>
                <a:gd name="connsiteY4" fmla="*/ 28739 h 684613"/>
                <a:gd name="connsiteX5" fmla="*/ 4393977 w 4397118"/>
                <a:gd name="connsiteY5" fmla="*/ 0 h 684613"/>
                <a:gd name="connsiteX6" fmla="*/ 4397117 w 4397118"/>
                <a:gd name="connsiteY6" fmla="*/ 0 h 684613"/>
                <a:gd name="connsiteX7" fmla="*/ 4397117 w 4397118"/>
                <a:gd name="connsiteY7" fmla="*/ 531226 h 684613"/>
                <a:gd name="connsiteX8" fmla="*/ 4397118 w 4397118"/>
                <a:gd name="connsiteY8" fmla="*/ 531226 h 684613"/>
                <a:gd name="connsiteX9" fmla="*/ 4397117 w 4397118"/>
                <a:gd name="connsiteY9" fmla="*/ 531227 h 684613"/>
                <a:gd name="connsiteX10" fmla="*/ 4397117 w 4397118"/>
                <a:gd name="connsiteY10" fmla="*/ 531612 h 684613"/>
                <a:gd name="connsiteX11" fmla="*/ 4396560 w 4397118"/>
                <a:gd name="connsiteY11" fmla="*/ 531612 h 684613"/>
                <a:gd name="connsiteX12" fmla="*/ 4352451 w 4397118"/>
                <a:gd name="connsiteY12" fmla="*/ 562139 h 684613"/>
                <a:gd name="connsiteX13" fmla="*/ 2198559 w 4397118"/>
                <a:gd name="connsiteY13" fmla="*/ 684613 h 684613"/>
                <a:gd name="connsiteX14" fmla="*/ 44667 w 4397118"/>
                <a:gd name="connsiteY14" fmla="*/ 562139 h 684613"/>
                <a:gd name="connsiteX15" fmla="*/ 558 w 4397118"/>
                <a:gd name="connsiteY15" fmla="*/ 531612 h 684613"/>
                <a:gd name="connsiteX16" fmla="*/ 0 w 4397118"/>
                <a:gd name="connsiteY16" fmla="*/ 531612 h 684613"/>
                <a:gd name="connsiteX17" fmla="*/ 0 w 4397118"/>
                <a:gd name="connsiteY17" fmla="*/ 531226 h 684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97118" h="684613">
                  <a:moveTo>
                    <a:pt x="0" y="0"/>
                  </a:moveTo>
                  <a:lnTo>
                    <a:pt x="3141" y="0"/>
                  </a:lnTo>
                  <a:lnTo>
                    <a:pt x="44667" y="28739"/>
                  </a:lnTo>
                  <a:cubicBezTo>
                    <a:pt x="249675" y="98635"/>
                    <a:pt x="1136107" y="151213"/>
                    <a:pt x="2198559" y="151213"/>
                  </a:cubicBezTo>
                  <a:cubicBezTo>
                    <a:pt x="3261011" y="151213"/>
                    <a:pt x="4147444" y="98635"/>
                    <a:pt x="4352451" y="28739"/>
                  </a:cubicBezTo>
                  <a:lnTo>
                    <a:pt x="4393977" y="0"/>
                  </a:lnTo>
                  <a:lnTo>
                    <a:pt x="4397117" y="0"/>
                  </a:lnTo>
                  <a:lnTo>
                    <a:pt x="4397117" y="531226"/>
                  </a:lnTo>
                  <a:lnTo>
                    <a:pt x="4397118" y="531226"/>
                  </a:lnTo>
                  <a:lnTo>
                    <a:pt x="4397117" y="531227"/>
                  </a:lnTo>
                  <a:lnTo>
                    <a:pt x="4397117" y="531612"/>
                  </a:lnTo>
                  <a:lnTo>
                    <a:pt x="4396560" y="531612"/>
                  </a:lnTo>
                  <a:lnTo>
                    <a:pt x="4352451" y="562139"/>
                  </a:lnTo>
                  <a:cubicBezTo>
                    <a:pt x="4147444" y="632035"/>
                    <a:pt x="3261011" y="684613"/>
                    <a:pt x="2198559" y="684613"/>
                  </a:cubicBezTo>
                  <a:cubicBezTo>
                    <a:pt x="1136107" y="684613"/>
                    <a:pt x="249675" y="632035"/>
                    <a:pt x="44667" y="562139"/>
                  </a:cubicBezTo>
                  <a:lnTo>
                    <a:pt x="558" y="531612"/>
                  </a:lnTo>
                  <a:lnTo>
                    <a:pt x="0" y="531612"/>
                  </a:lnTo>
                  <a:lnTo>
                    <a:pt x="0" y="531226"/>
                  </a:lnTo>
                  <a:close/>
                </a:path>
              </a:pathLst>
            </a:custGeom>
            <a:gradFill flip="none" rotWithShape="1">
              <a:gsLst>
                <a:gs pos="0">
                  <a:schemeClr val="accent1">
                    <a:lumMod val="60000"/>
                    <a:lumOff val="40000"/>
                  </a:schemeClr>
                </a:gs>
                <a:gs pos="67000">
                  <a:schemeClr val="accent1"/>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80467" tIns="40234" rIns="80467" bIns="40234" rtlCol="0" anchor="ctr"/>
            <a:lstStyle/>
            <a:p>
              <a:pPr algn="ctr"/>
              <a:endParaRPr lang="zh-CN" altLang="en-US" sz="1585">
                <a:latin typeface="微软雅黑" panose="020B0503020204020204" charset="-122"/>
                <a:ea typeface="微软雅黑" panose="020B0503020204020204" charset="-122"/>
                <a:cs typeface="微软雅黑" panose="020B0503020204020204" charset="-122"/>
              </a:endParaRPr>
            </a:p>
          </p:txBody>
        </p:sp>
        <p:sp>
          <p:nvSpPr>
            <p:cNvPr id="71" name="显眼包PPT3"/>
            <p:cNvSpPr/>
            <p:nvPr>
              <p:custDataLst>
                <p:tags r:id="rId24"/>
              </p:custDataLst>
            </p:nvPr>
          </p:nvSpPr>
          <p:spPr>
            <a:xfrm>
              <a:off x="2413" y="2381"/>
              <a:ext cx="3345" cy="233"/>
            </a:xfrm>
            <a:prstGeom prst="ellipse">
              <a:avLst/>
            </a:prstGeom>
            <a:gradFill>
              <a:gsLst>
                <a:gs pos="0">
                  <a:schemeClr val="accent1">
                    <a:lumMod val="60000"/>
                    <a:lumOff val="40000"/>
                    <a:alpha val="58000"/>
                  </a:schemeClr>
                </a:gs>
                <a:gs pos="100000">
                  <a:schemeClr val="accent1">
                    <a:lumMod val="40000"/>
                    <a:lumOff val="60000"/>
                    <a:alpha val="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grpSp>
      <p:sp>
        <p:nvSpPr>
          <p:cNvPr id="76" name="显眼包PPT24"/>
          <p:cNvSpPr/>
          <p:nvPr>
            <p:custDataLst>
              <p:tags r:id="rId25"/>
            </p:custDataLst>
          </p:nvPr>
        </p:nvSpPr>
        <p:spPr>
          <a:xfrm>
            <a:off x="4069715" y="1264285"/>
            <a:ext cx="1722120" cy="225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sym typeface="+mj-ea"/>
              </a:rPr>
              <a:t>沉淀品牌资产</a:t>
            </a:r>
            <a:endPar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sym typeface="+mj-ea"/>
            </a:endParaRPr>
          </a:p>
        </p:txBody>
      </p:sp>
      <p:sp>
        <p:nvSpPr>
          <p:cNvPr id="77" name="显眼包PPT24"/>
          <p:cNvSpPr/>
          <p:nvPr>
            <p:custDataLst>
              <p:tags r:id="rId26"/>
            </p:custDataLst>
          </p:nvPr>
        </p:nvSpPr>
        <p:spPr>
          <a:xfrm>
            <a:off x="6456045" y="1264285"/>
            <a:ext cx="1722120" cy="225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sym typeface="+mj-ea"/>
              </a:rPr>
              <a:t>塑造产品信任</a:t>
            </a:r>
            <a:endPar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sym typeface="+mj-ea"/>
            </a:endParaRPr>
          </a:p>
        </p:txBody>
      </p:sp>
      <p:sp>
        <p:nvSpPr>
          <p:cNvPr id="78" name="显眼包PPT24"/>
          <p:cNvSpPr/>
          <p:nvPr>
            <p:custDataLst>
              <p:tags r:id="rId27"/>
            </p:custDataLst>
          </p:nvPr>
        </p:nvSpPr>
        <p:spPr>
          <a:xfrm>
            <a:off x="8842375" y="1264285"/>
            <a:ext cx="1722120" cy="225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sym typeface="+mj-ea"/>
              </a:rPr>
              <a:t>品牌协同转化</a:t>
            </a:r>
            <a:endPar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sym typeface="+mj-ea"/>
            </a:endParaRPr>
          </a:p>
        </p:txBody>
      </p:sp>
      <p:grpSp>
        <p:nvGrpSpPr>
          <p:cNvPr id="82" name="组合 81"/>
          <p:cNvGrpSpPr/>
          <p:nvPr>
            <p:custDataLst>
              <p:tags r:id="rId28"/>
            </p:custDataLst>
          </p:nvPr>
        </p:nvGrpSpPr>
        <p:grpSpPr>
          <a:xfrm>
            <a:off x="1691005" y="2341880"/>
            <a:ext cx="1722120" cy="473710"/>
            <a:chOff x="2663" y="3741"/>
            <a:chExt cx="2712" cy="746"/>
          </a:xfrm>
        </p:grpSpPr>
        <p:sp>
          <p:nvSpPr>
            <p:cNvPr id="80" name="显眼包PPT24"/>
            <p:cNvSpPr/>
            <p:nvPr>
              <p:custDataLst>
                <p:tags r:id="rId29"/>
              </p:custDataLst>
            </p:nvPr>
          </p:nvSpPr>
          <p:spPr>
            <a:xfrm>
              <a:off x="2663" y="3741"/>
              <a:ext cx="2712" cy="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sz="1100" dirty="0">
                  <a:solidFill>
                    <a:schemeClr val="tx2"/>
                  </a:solidFill>
                  <a:latin typeface="微软雅黑" panose="020B0503020204020204" charset="-122"/>
                  <a:ea typeface="微软雅黑" panose="020B0503020204020204" charset="-122"/>
                  <a:cs typeface="微软雅黑" panose="020B0503020204020204" charset="-122"/>
                  <a:sym typeface="+mj-ea"/>
                </a:rPr>
                <a:t>在年轻化对话中成为</a:t>
              </a:r>
              <a:endParaRPr lang="zh-CN" altLang="zh-CN" sz="1100" b="1" dirty="0">
                <a:solidFill>
                  <a:schemeClr val="tx2"/>
                </a:solidFill>
                <a:latin typeface="微软雅黑" panose="020B0503020204020204" charset="-122"/>
                <a:ea typeface="微软雅黑" panose="020B0503020204020204" charset="-122"/>
                <a:cs typeface="微软雅黑" panose="020B0503020204020204" charset="-122"/>
                <a:sym typeface="+mj-ea"/>
              </a:endParaRPr>
            </a:p>
          </p:txBody>
        </p:sp>
        <p:sp>
          <p:nvSpPr>
            <p:cNvPr id="81" name="显眼包PPT24"/>
            <p:cNvSpPr/>
            <p:nvPr>
              <p:custDataLst>
                <p:tags r:id="rId30"/>
              </p:custDataLst>
            </p:nvPr>
          </p:nvSpPr>
          <p:spPr>
            <a:xfrm>
              <a:off x="2663" y="4133"/>
              <a:ext cx="2712" cy="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400" b="1" dirty="0">
                  <a:solidFill>
                    <a:schemeClr val="tx2"/>
                  </a:solidFill>
                  <a:latin typeface="微软雅黑" panose="020B0503020204020204" charset="-122"/>
                  <a:ea typeface="微软雅黑" panose="020B0503020204020204" charset="-122"/>
                  <a:cs typeface="微软雅黑" panose="020B0503020204020204" charset="-122"/>
                  <a:sym typeface="+mj-ea"/>
                </a:rPr>
                <a:t>“</a:t>
              </a:r>
              <a:r>
                <a:rPr lang="zh-CN" altLang="en-US" sz="1400" b="1" dirty="0">
                  <a:solidFill>
                    <a:schemeClr val="tx2"/>
                  </a:solidFill>
                  <a:latin typeface="微软雅黑" panose="020B0503020204020204" charset="-122"/>
                  <a:ea typeface="微软雅黑" panose="020B0503020204020204" charset="-122"/>
                  <a:cs typeface="微软雅黑" panose="020B0503020204020204" charset="-122"/>
                  <a:sym typeface="+mj-ea"/>
                </a:rPr>
                <a:t>圈内伙伴</a:t>
              </a:r>
              <a:r>
                <a:rPr lang="en-US" altLang="zh-CN" sz="1400" b="1" dirty="0">
                  <a:solidFill>
                    <a:schemeClr val="tx2"/>
                  </a:solidFill>
                  <a:latin typeface="微软雅黑" panose="020B0503020204020204" charset="-122"/>
                  <a:ea typeface="微软雅黑" panose="020B0503020204020204" charset="-122"/>
                  <a:cs typeface="微软雅黑" panose="020B0503020204020204" charset="-122"/>
                  <a:sym typeface="+mj-ea"/>
                </a:rPr>
                <a:t>”</a:t>
              </a:r>
              <a:endParaRPr lang="en-US" altLang="zh-CN" sz="1400" b="1" dirty="0">
                <a:solidFill>
                  <a:schemeClr val="tx2"/>
                </a:solidFill>
                <a:latin typeface="微软雅黑" panose="020B0503020204020204" charset="-122"/>
                <a:ea typeface="微软雅黑" panose="020B0503020204020204" charset="-122"/>
                <a:cs typeface="微软雅黑" panose="020B0503020204020204" charset="-122"/>
                <a:sym typeface="+mj-ea"/>
              </a:endParaRPr>
            </a:p>
          </p:txBody>
        </p:sp>
      </p:grpSp>
      <p:grpSp>
        <p:nvGrpSpPr>
          <p:cNvPr id="85" name="组合 84"/>
          <p:cNvGrpSpPr/>
          <p:nvPr>
            <p:custDataLst>
              <p:tags r:id="rId31"/>
            </p:custDataLst>
          </p:nvPr>
        </p:nvGrpSpPr>
        <p:grpSpPr>
          <a:xfrm>
            <a:off x="4039870" y="2341880"/>
            <a:ext cx="1722120" cy="473710"/>
            <a:chOff x="2663" y="3741"/>
            <a:chExt cx="2712" cy="746"/>
          </a:xfrm>
        </p:grpSpPr>
        <p:sp>
          <p:nvSpPr>
            <p:cNvPr id="86" name="显眼包PPT24"/>
            <p:cNvSpPr/>
            <p:nvPr>
              <p:custDataLst>
                <p:tags r:id="rId32"/>
              </p:custDataLst>
            </p:nvPr>
          </p:nvSpPr>
          <p:spPr>
            <a:xfrm>
              <a:off x="2663" y="3741"/>
              <a:ext cx="2712" cy="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sz="1100" dirty="0">
                  <a:solidFill>
                    <a:schemeClr val="tx2"/>
                  </a:solidFill>
                  <a:latin typeface="微软雅黑" panose="020B0503020204020204" charset="-122"/>
                  <a:ea typeface="微软雅黑" panose="020B0503020204020204" charset="-122"/>
                  <a:cs typeface="微软雅黑" panose="020B0503020204020204" charset="-122"/>
                  <a:sym typeface="+mj-ea"/>
                </a:rPr>
                <a:t>在大节点参与中融入</a:t>
              </a:r>
              <a:endParaRPr lang="zh-CN" altLang="zh-CN" sz="1100" b="1" dirty="0">
                <a:solidFill>
                  <a:schemeClr val="tx2"/>
                </a:solidFill>
                <a:latin typeface="微软雅黑" panose="020B0503020204020204" charset="-122"/>
                <a:ea typeface="微软雅黑" panose="020B0503020204020204" charset="-122"/>
                <a:cs typeface="微软雅黑" panose="020B0503020204020204" charset="-122"/>
                <a:sym typeface="+mj-ea"/>
              </a:endParaRPr>
            </a:p>
          </p:txBody>
        </p:sp>
        <p:sp>
          <p:nvSpPr>
            <p:cNvPr id="87" name="显眼包PPT24"/>
            <p:cNvSpPr/>
            <p:nvPr>
              <p:custDataLst>
                <p:tags r:id="rId33"/>
              </p:custDataLst>
            </p:nvPr>
          </p:nvSpPr>
          <p:spPr>
            <a:xfrm>
              <a:off x="2663" y="4133"/>
              <a:ext cx="2712" cy="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400" b="1" dirty="0">
                  <a:solidFill>
                    <a:schemeClr val="tx2"/>
                  </a:solidFill>
                  <a:latin typeface="微软雅黑" panose="020B0503020204020204" charset="-122"/>
                  <a:ea typeface="微软雅黑" panose="020B0503020204020204" charset="-122"/>
                  <a:cs typeface="微软雅黑" panose="020B0503020204020204" charset="-122"/>
                  <a:sym typeface="+mj-ea"/>
                </a:rPr>
                <a:t>“</a:t>
              </a:r>
              <a:r>
                <a:rPr lang="zh-CN" altLang="en-US" sz="1400" b="1" dirty="0">
                  <a:solidFill>
                    <a:schemeClr val="tx2"/>
                  </a:solidFill>
                  <a:latin typeface="微软雅黑" panose="020B0503020204020204" charset="-122"/>
                  <a:ea typeface="微软雅黑" panose="020B0503020204020204" charset="-122"/>
                  <a:cs typeface="微软雅黑" panose="020B0503020204020204" charset="-122"/>
                  <a:sym typeface="+mj-ea"/>
                </a:rPr>
                <a:t>用户记忆</a:t>
              </a:r>
              <a:r>
                <a:rPr lang="en-US" altLang="zh-CN" sz="1400" b="1" dirty="0">
                  <a:solidFill>
                    <a:schemeClr val="tx2"/>
                  </a:solidFill>
                  <a:latin typeface="微软雅黑" panose="020B0503020204020204" charset="-122"/>
                  <a:ea typeface="微软雅黑" panose="020B0503020204020204" charset="-122"/>
                  <a:cs typeface="微软雅黑" panose="020B0503020204020204" charset="-122"/>
                  <a:sym typeface="+mj-ea"/>
                </a:rPr>
                <a:t>”</a:t>
              </a:r>
              <a:endParaRPr lang="en-US" altLang="zh-CN" sz="1400" b="1" dirty="0">
                <a:solidFill>
                  <a:schemeClr val="tx2"/>
                </a:solidFill>
                <a:latin typeface="微软雅黑" panose="020B0503020204020204" charset="-122"/>
                <a:ea typeface="微软雅黑" panose="020B0503020204020204" charset="-122"/>
                <a:cs typeface="微软雅黑" panose="020B0503020204020204" charset="-122"/>
                <a:sym typeface="+mj-ea"/>
              </a:endParaRPr>
            </a:p>
          </p:txBody>
        </p:sp>
      </p:grpSp>
      <p:grpSp>
        <p:nvGrpSpPr>
          <p:cNvPr id="89" name="组合 88"/>
          <p:cNvGrpSpPr/>
          <p:nvPr>
            <p:custDataLst>
              <p:tags r:id="rId34"/>
            </p:custDataLst>
          </p:nvPr>
        </p:nvGrpSpPr>
        <p:grpSpPr>
          <a:xfrm>
            <a:off x="6388735" y="2341880"/>
            <a:ext cx="1722120" cy="473710"/>
            <a:chOff x="2663" y="3741"/>
            <a:chExt cx="2712" cy="746"/>
          </a:xfrm>
        </p:grpSpPr>
        <p:sp>
          <p:nvSpPr>
            <p:cNvPr id="90" name="显眼包PPT24"/>
            <p:cNvSpPr/>
            <p:nvPr>
              <p:custDataLst>
                <p:tags r:id="rId35"/>
              </p:custDataLst>
            </p:nvPr>
          </p:nvSpPr>
          <p:spPr>
            <a:xfrm>
              <a:off x="2663" y="3741"/>
              <a:ext cx="2712" cy="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sz="1100" dirty="0">
                  <a:solidFill>
                    <a:schemeClr val="tx2"/>
                  </a:solidFill>
                  <a:latin typeface="微软雅黑" panose="020B0503020204020204" charset="-122"/>
                  <a:ea typeface="微软雅黑" panose="020B0503020204020204" charset="-122"/>
                  <a:cs typeface="微软雅黑" panose="020B0503020204020204" charset="-122"/>
                  <a:sym typeface="+mj-ea"/>
                </a:rPr>
                <a:t>在新品发布中形成</a:t>
              </a:r>
              <a:endParaRPr lang="zh-CN" altLang="zh-CN" sz="1100" b="1" dirty="0">
                <a:solidFill>
                  <a:schemeClr val="tx2"/>
                </a:solidFill>
                <a:latin typeface="微软雅黑" panose="020B0503020204020204" charset="-122"/>
                <a:ea typeface="微软雅黑" panose="020B0503020204020204" charset="-122"/>
                <a:cs typeface="微软雅黑" panose="020B0503020204020204" charset="-122"/>
                <a:sym typeface="+mj-ea"/>
              </a:endParaRPr>
            </a:p>
          </p:txBody>
        </p:sp>
        <p:sp>
          <p:nvSpPr>
            <p:cNvPr id="91" name="显眼包PPT24"/>
            <p:cNvSpPr/>
            <p:nvPr>
              <p:custDataLst>
                <p:tags r:id="rId36"/>
              </p:custDataLst>
            </p:nvPr>
          </p:nvSpPr>
          <p:spPr>
            <a:xfrm>
              <a:off x="2663" y="4133"/>
              <a:ext cx="2712" cy="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400" b="1" dirty="0">
                  <a:solidFill>
                    <a:schemeClr val="tx2"/>
                  </a:solidFill>
                  <a:latin typeface="微软雅黑" panose="020B0503020204020204" charset="-122"/>
                  <a:ea typeface="微软雅黑" panose="020B0503020204020204" charset="-122"/>
                  <a:cs typeface="微软雅黑" panose="020B0503020204020204" charset="-122"/>
                  <a:sym typeface="+mj-ea"/>
                </a:rPr>
                <a:t>“</a:t>
              </a:r>
              <a:r>
                <a:rPr lang="zh-CN" altLang="en-US" sz="1400" b="1" dirty="0">
                  <a:solidFill>
                    <a:schemeClr val="tx2"/>
                  </a:solidFill>
                  <a:latin typeface="微软雅黑" panose="020B0503020204020204" charset="-122"/>
                  <a:ea typeface="微软雅黑" panose="020B0503020204020204" charset="-122"/>
                  <a:cs typeface="微软雅黑" panose="020B0503020204020204" charset="-122"/>
                  <a:sym typeface="+mj-ea"/>
                </a:rPr>
                <a:t>了解与认可</a:t>
              </a:r>
              <a:r>
                <a:rPr lang="en-US" altLang="zh-CN" sz="1400" b="1" dirty="0">
                  <a:solidFill>
                    <a:schemeClr val="tx2"/>
                  </a:solidFill>
                  <a:latin typeface="微软雅黑" panose="020B0503020204020204" charset="-122"/>
                  <a:ea typeface="微软雅黑" panose="020B0503020204020204" charset="-122"/>
                  <a:cs typeface="微软雅黑" panose="020B0503020204020204" charset="-122"/>
                  <a:sym typeface="+mj-ea"/>
                </a:rPr>
                <a:t>”</a:t>
              </a:r>
              <a:endParaRPr lang="en-US" altLang="zh-CN" sz="1400" b="1" dirty="0">
                <a:solidFill>
                  <a:schemeClr val="tx2"/>
                </a:solidFill>
                <a:latin typeface="微软雅黑" panose="020B0503020204020204" charset="-122"/>
                <a:ea typeface="微软雅黑" panose="020B0503020204020204" charset="-122"/>
                <a:cs typeface="微软雅黑" panose="020B0503020204020204" charset="-122"/>
                <a:sym typeface="+mj-ea"/>
              </a:endParaRPr>
            </a:p>
          </p:txBody>
        </p:sp>
      </p:grpSp>
      <p:grpSp>
        <p:nvGrpSpPr>
          <p:cNvPr id="92" name="组合 91"/>
          <p:cNvGrpSpPr/>
          <p:nvPr>
            <p:custDataLst>
              <p:tags r:id="rId37"/>
            </p:custDataLst>
          </p:nvPr>
        </p:nvGrpSpPr>
        <p:grpSpPr>
          <a:xfrm>
            <a:off x="8737600" y="2341880"/>
            <a:ext cx="1722120" cy="473710"/>
            <a:chOff x="2663" y="3741"/>
            <a:chExt cx="2712" cy="746"/>
          </a:xfrm>
        </p:grpSpPr>
        <p:sp>
          <p:nvSpPr>
            <p:cNvPr id="93" name="显眼包PPT24"/>
            <p:cNvSpPr/>
            <p:nvPr>
              <p:custDataLst>
                <p:tags r:id="rId38"/>
              </p:custDataLst>
            </p:nvPr>
          </p:nvSpPr>
          <p:spPr>
            <a:xfrm>
              <a:off x="2663" y="3741"/>
              <a:ext cx="2712" cy="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sz="1100" dirty="0">
                  <a:solidFill>
                    <a:schemeClr val="tx2"/>
                  </a:solidFill>
                  <a:latin typeface="微软雅黑" panose="020B0503020204020204" charset="-122"/>
                  <a:ea typeface="微软雅黑" panose="020B0503020204020204" charset="-122"/>
                  <a:cs typeface="微软雅黑" panose="020B0503020204020204" charset="-122"/>
                  <a:sym typeface="+mj-ea"/>
                </a:rPr>
                <a:t>在具体场景中回应需求、</a:t>
              </a:r>
              <a:endParaRPr lang="zh-CN" altLang="zh-CN" sz="1100" b="1" dirty="0">
                <a:solidFill>
                  <a:schemeClr val="tx2"/>
                </a:solidFill>
                <a:latin typeface="微软雅黑" panose="020B0503020204020204" charset="-122"/>
                <a:ea typeface="微软雅黑" panose="020B0503020204020204" charset="-122"/>
                <a:cs typeface="微软雅黑" panose="020B0503020204020204" charset="-122"/>
                <a:sym typeface="+mj-ea"/>
              </a:endParaRPr>
            </a:p>
          </p:txBody>
        </p:sp>
        <p:sp>
          <p:nvSpPr>
            <p:cNvPr id="95" name="显眼包PPT24"/>
            <p:cNvSpPr/>
            <p:nvPr>
              <p:custDataLst>
                <p:tags r:id="rId39"/>
              </p:custDataLst>
            </p:nvPr>
          </p:nvSpPr>
          <p:spPr>
            <a:xfrm>
              <a:off x="2663" y="4133"/>
              <a:ext cx="2712" cy="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400" b="1" dirty="0">
                  <a:solidFill>
                    <a:schemeClr val="tx2"/>
                  </a:solidFill>
                  <a:latin typeface="微软雅黑" panose="020B0503020204020204" charset="-122"/>
                  <a:ea typeface="微软雅黑" panose="020B0503020204020204" charset="-122"/>
                  <a:cs typeface="微软雅黑" panose="020B0503020204020204" charset="-122"/>
                  <a:sym typeface="+mj-ea"/>
                </a:rPr>
                <a:t>“</a:t>
              </a:r>
              <a:r>
                <a:rPr lang="zh-CN" altLang="en-US" sz="1400" b="1" dirty="0">
                  <a:solidFill>
                    <a:schemeClr val="tx2"/>
                  </a:solidFill>
                  <a:latin typeface="微软雅黑" panose="020B0503020204020204" charset="-122"/>
                  <a:ea typeface="微软雅黑" panose="020B0503020204020204" charset="-122"/>
                  <a:cs typeface="微软雅黑" panose="020B0503020204020204" charset="-122"/>
                  <a:sym typeface="+mj-ea"/>
                </a:rPr>
                <a:t>促成行动</a:t>
              </a:r>
              <a:r>
                <a:rPr lang="en-US" altLang="zh-CN" sz="1400" b="1" dirty="0">
                  <a:solidFill>
                    <a:schemeClr val="tx2"/>
                  </a:solidFill>
                  <a:latin typeface="微软雅黑" panose="020B0503020204020204" charset="-122"/>
                  <a:ea typeface="微软雅黑" panose="020B0503020204020204" charset="-122"/>
                  <a:cs typeface="微软雅黑" panose="020B0503020204020204" charset="-122"/>
                  <a:sym typeface="+mj-ea"/>
                </a:rPr>
                <a:t>”</a:t>
              </a:r>
              <a:endParaRPr lang="en-US" altLang="zh-CN" sz="1400" b="1" dirty="0">
                <a:solidFill>
                  <a:schemeClr val="tx2"/>
                </a:solidFill>
                <a:latin typeface="微软雅黑" panose="020B0503020204020204" charset="-122"/>
                <a:ea typeface="微软雅黑" panose="020B0503020204020204" charset="-122"/>
                <a:cs typeface="微软雅黑" panose="020B0503020204020204" charset="-122"/>
                <a:sym typeface="+mj-ea"/>
              </a:endParaRPr>
            </a:p>
          </p:txBody>
        </p:sp>
      </p:grpSp>
      <p:sp>
        <p:nvSpPr>
          <p:cNvPr id="100" name="显眼包PPT24"/>
          <p:cNvSpPr/>
          <p:nvPr>
            <p:custDataLst>
              <p:tags r:id="rId40"/>
            </p:custDataLst>
          </p:nvPr>
        </p:nvSpPr>
        <p:spPr>
          <a:xfrm>
            <a:off x="2412365" y="1734185"/>
            <a:ext cx="237490" cy="225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j-ea"/>
              </a:rPr>
              <a:t>①</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j-ea"/>
            </a:endParaRPr>
          </a:p>
        </p:txBody>
      </p:sp>
      <p:sp>
        <p:nvSpPr>
          <p:cNvPr id="102" name="显眼包PPT24"/>
          <p:cNvSpPr/>
          <p:nvPr>
            <p:custDataLst>
              <p:tags r:id="rId41"/>
            </p:custDataLst>
          </p:nvPr>
        </p:nvSpPr>
        <p:spPr>
          <a:xfrm>
            <a:off x="4803140" y="1734185"/>
            <a:ext cx="237490" cy="225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j-ea"/>
              </a:rPr>
              <a:t>②</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j-ea"/>
            </a:endParaRPr>
          </a:p>
        </p:txBody>
      </p:sp>
      <p:sp>
        <p:nvSpPr>
          <p:cNvPr id="103" name="显眼包PPT24"/>
          <p:cNvSpPr/>
          <p:nvPr>
            <p:custDataLst>
              <p:tags r:id="rId42"/>
            </p:custDataLst>
          </p:nvPr>
        </p:nvSpPr>
        <p:spPr>
          <a:xfrm>
            <a:off x="7193915" y="1734185"/>
            <a:ext cx="237490" cy="225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j-ea"/>
              </a:rPr>
              <a:t>③</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j-ea"/>
            </a:endParaRPr>
          </a:p>
        </p:txBody>
      </p:sp>
      <p:sp>
        <p:nvSpPr>
          <p:cNvPr id="104" name="显眼包PPT24"/>
          <p:cNvSpPr/>
          <p:nvPr>
            <p:custDataLst>
              <p:tags r:id="rId43"/>
            </p:custDataLst>
          </p:nvPr>
        </p:nvSpPr>
        <p:spPr>
          <a:xfrm>
            <a:off x="9584690" y="1734185"/>
            <a:ext cx="237490" cy="225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j-ea"/>
              </a:rPr>
              <a:t>④</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j-ea"/>
            </a:endParaRPr>
          </a:p>
        </p:txBody>
      </p:sp>
      <p:grpSp>
        <p:nvGrpSpPr>
          <p:cNvPr id="182" name="组合 181"/>
          <p:cNvGrpSpPr/>
          <p:nvPr/>
        </p:nvGrpSpPr>
        <p:grpSpPr>
          <a:xfrm>
            <a:off x="1669415" y="3537585"/>
            <a:ext cx="1722120" cy="2559050"/>
            <a:chOff x="2629" y="5571"/>
            <a:chExt cx="2712" cy="4030"/>
          </a:xfrm>
        </p:grpSpPr>
        <p:grpSp>
          <p:nvGrpSpPr>
            <p:cNvPr id="173" name="组合 172"/>
            <p:cNvGrpSpPr/>
            <p:nvPr/>
          </p:nvGrpSpPr>
          <p:grpSpPr>
            <a:xfrm>
              <a:off x="2629" y="5571"/>
              <a:ext cx="2712" cy="1204"/>
              <a:chOff x="2663" y="5589"/>
              <a:chExt cx="2712" cy="1204"/>
            </a:xfrm>
          </p:grpSpPr>
          <p:sp>
            <p:nvSpPr>
              <p:cNvPr id="365" name="显眼包PPT-29"/>
              <p:cNvSpPr/>
              <p:nvPr/>
            </p:nvSpPr>
            <p:spPr>
              <a:xfrm>
                <a:off x="3014" y="6009"/>
                <a:ext cx="2011" cy="344"/>
              </a:xfrm>
              <a:prstGeom prst="roundRect">
                <a:avLst>
                  <a:gd name="adj" fmla="val 50000"/>
                </a:avLst>
              </a:prstGeom>
              <a:gradFill flip="none" rotWithShape="1">
                <a:gsLst>
                  <a:gs pos="18000">
                    <a:schemeClr val="accent5">
                      <a:lumMod val="60000"/>
                      <a:lumOff val="40000"/>
                    </a:schemeClr>
                  </a:gs>
                  <a:gs pos="100000">
                    <a:schemeClr val="accent5">
                      <a:lumMod val="40000"/>
                      <a:lumOff val="60000"/>
                    </a:schemeClr>
                  </a:gs>
                </a:gsLst>
                <a:lin ang="13500000" scaled="1"/>
                <a:tileRect/>
              </a:gradFill>
              <a:ln>
                <a:noFill/>
              </a:ln>
              <a:effectLst>
                <a:innerShdw blurRad="635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zh-CN" sz="1000" dirty="0">
                    <a:solidFill>
                      <a:schemeClr val="bg1"/>
                    </a:solidFill>
                    <a:latin typeface="微软雅黑" panose="020B0503020204020204" charset="-122"/>
                    <a:ea typeface="微软雅黑" panose="020B0503020204020204" charset="-122"/>
                    <a:cs typeface="微软雅黑" panose="020B0503020204020204" charset="-122"/>
                  </a:rPr>
                  <a:t>BilibiliWorld</a:t>
                </a:r>
                <a:endParaRPr lang="en-US" altLang="zh-CN"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71" name="显眼包PPT24"/>
              <p:cNvSpPr/>
              <p:nvPr/>
            </p:nvSpPr>
            <p:spPr>
              <a:xfrm>
                <a:off x="2663" y="5589"/>
                <a:ext cx="2712" cy="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1.</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核心文化与</a:t>
                </a:r>
                <a:r>
                  <a:rPr lang="en-US" altLang="zh-CN" sz="1100" dirty="0">
                    <a:solidFill>
                      <a:schemeClr val="tx2"/>
                    </a:solidFill>
                    <a:latin typeface="微软雅黑" panose="020B0503020204020204" charset="-122"/>
                    <a:ea typeface="微软雅黑" panose="020B0503020204020204" charset="-122"/>
                    <a:cs typeface="微软雅黑" panose="020B0503020204020204" charset="-122"/>
                    <a:sym typeface="+mj-ea"/>
                  </a:rPr>
                  <a:t>IP</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线下盛典</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endParaRPr>
              </a:p>
            </p:txBody>
          </p:sp>
          <p:sp>
            <p:nvSpPr>
              <p:cNvPr id="109" name="显眼包PPT-29"/>
              <p:cNvSpPr/>
              <p:nvPr/>
            </p:nvSpPr>
            <p:spPr>
              <a:xfrm>
                <a:off x="3229" y="6449"/>
                <a:ext cx="1592" cy="344"/>
              </a:xfrm>
              <a:prstGeom prst="roundRect">
                <a:avLst>
                  <a:gd name="adj" fmla="val 50000"/>
                </a:avLst>
              </a:prstGeom>
              <a:gradFill flip="none" rotWithShape="1">
                <a:gsLst>
                  <a:gs pos="18000">
                    <a:schemeClr val="accent5">
                      <a:lumMod val="60000"/>
                      <a:lumOff val="40000"/>
                    </a:schemeClr>
                  </a:gs>
                  <a:gs pos="100000">
                    <a:schemeClr val="accent5">
                      <a:lumMod val="40000"/>
                      <a:lumOff val="60000"/>
                    </a:schemeClr>
                  </a:gs>
                </a:gsLst>
                <a:lin ang="13500000" scaled="1"/>
                <a:tileRect/>
              </a:gradFill>
              <a:ln>
                <a:noFill/>
              </a:ln>
              <a:effectLst>
                <a:innerShdw blurRad="635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国创</a:t>
                </a:r>
                <a:r>
                  <a:rPr lang="en-US" altLang="zh-CN" sz="1000" dirty="0">
                    <a:solidFill>
                      <a:schemeClr val="bg1"/>
                    </a:solidFill>
                    <a:latin typeface="微软雅黑" panose="020B0503020204020204" charset="-122"/>
                    <a:ea typeface="微软雅黑" panose="020B0503020204020204" charset="-122"/>
                    <a:cs typeface="微软雅黑" panose="020B0503020204020204" charset="-122"/>
                  </a:rPr>
                  <a:t>/IP</a:t>
                </a:r>
                <a:endParaRPr lang="en-US" altLang="zh-CN" sz="1000"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174" name="组合 173"/>
            <p:cNvGrpSpPr/>
            <p:nvPr/>
          </p:nvGrpSpPr>
          <p:grpSpPr>
            <a:xfrm>
              <a:off x="2629" y="6984"/>
              <a:ext cx="2712" cy="1204"/>
              <a:chOff x="2663" y="5589"/>
              <a:chExt cx="2712" cy="1204"/>
            </a:xfrm>
          </p:grpSpPr>
          <p:sp>
            <p:nvSpPr>
              <p:cNvPr id="175" name="显眼包PPT-29"/>
              <p:cNvSpPr/>
              <p:nvPr/>
            </p:nvSpPr>
            <p:spPr>
              <a:xfrm>
                <a:off x="3014" y="6009"/>
                <a:ext cx="2011" cy="344"/>
              </a:xfrm>
              <a:prstGeom prst="roundRect">
                <a:avLst>
                  <a:gd name="adj" fmla="val 50000"/>
                </a:avLst>
              </a:prstGeom>
              <a:gradFill flip="none" rotWithShape="1">
                <a:gsLst>
                  <a:gs pos="18000">
                    <a:schemeClr val="accent5">
                      <a:lumMod val="60000"/>
                      <a:lumOff val="40000"/>
                    </a:schemeClr>
                  </a:gs>
                  <a:gs pos="100000">
                    <a:schemeClr val="accent5">
                      <a:lumMod val="40000"/>
                      <a:lumOff val="60000"/>
                    </a:schemeClr>
                  </a:gs>
                </a:gsLst>
                <a:lin ang="13500000" scaled="1"/>
                <a:tileRect/>
              </a:gradFill>
              <a:ln>
                <a:noFill/>
              </a:ln>
              <a:effectLst>
                <a:innerShdw blurRad="635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开学季</a:t>
                </a:r>
                <a:r>
                  <a:rPr lang="en-US" altLang="zh-CN" sz="1000" dirty="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毕业季</a:t>
                </a:r>
                <a:endParaRPr lang="en-US" altLang="zh-CN"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76" name="显眼包PPT24"/>
              <p:cNvSpPr/>
              <p:nvPr/>
            </p:nvSpPr>
            <p:spPr>
              <a:xfrm>
                <a:off x="2663" y="5589"/>
                <a:ext cx="2712" cy="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2.</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校园场景营销</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endParaRPr>
              </a:p>
            </p:txBody>
          </p:sp>
          <p:sp>
            <p:nvSpPr>
              <p:cNvPr id="177" name="显眼包PPT-29"/>
              <p:cNvSpPr/>
              <p:nvPr/>
            </p:nvSpPr>
            <p:spPr>
              <a:xfrm>
                <a:off x="3337" y="6449"/>
                <a:ext cx="1484" cy="344"/>
              </a:xfrm>
              <a:prstGeom prst="roundRect">
                <a:avLst>
                  <a:gd name="adj" fmla="val 50000"/>
                </a:avLst>
              </a:prstGeom>
              <a:gradFill flip="none" rotWithShape="1">
                <a:gsLst>
                  <a:gs pos="18000">
                    <a:schemeClr val="accent5">
                      <a:lumMod val="60000"/>
                      <a:lumOff val="40000"/>
                    </a:schemeClr>
                  </a:gs>
                  <a:gs pos="100000">
                    <a:schemeClr val="accent5">
                      <a:lumMod val="40000"/>
                      <a:lumOff val="60000"/>
                    </a:schemeClr>
                  </a:gs>
                </a:gsLst>
                <a:lin ang="13500000" scaled="1"/>
                <a:tileRect/>
              </a:gradFill>
              <a:ln>
                <a:noFill/>
              </a:ln>
              <a:effectLst>
                <a:innerShdw blurRad="635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zh-CN" sz="1000" dirty="0">
                    <a:solidFill>
                      <a:schemeClr val="bg1"/>
                    </a:solidFill>
                    <a:latin typeface="微软雅黑" panose="020B0503020204020204" charset="-122"/>
                    <a:ea typeface="微软雅黑" panose="020B0503020204020204" charset="-122"/>
                    <a:cs typeface="微软雅黑" panose="020B0503020204020204" charset="-122"/>
                    <a:sym typeface="+mn-ea"/>
                  </a:rPr>
                  <a:t>高校联动</a:t>
                </a:r>
                <a:endParaRPr lang="en-US" altLang="zh-CN" sz="1000"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178" name="组合 177"/>
            <p:cNvGrpSpPr/>
            <p:nvPr/>
          </p:nvGrpSpPr>
          <p:grpSpPr>
            <a:xfrm>
              <a:off x="2629" y="8397"/>
              <a:ext cx="2712" cy="1204"/>
              <a:chOff x="2663" y="5589"/>
              <a:chExt cx="2712" cy="1204"/>
            </a:xfrm>
          </p:grpSpPr>
          <p:sp>
            <p:nvSpPr>
              <p:cNvPr id="179" name="显眼包PPT-29"/>
              <p:cNvSpPr/>
              <p:nvPr/>
            </p:nvSpPr>
            <p:spPr>
              <a:xfrm>
                <a:off x="3014" y="6009"/>
                <a:ext cx="2011" cy="344"/>
              </a:xfrm>
              <a:prstGeom prst="roundRect">
                <a:avLst>
                  <a:gd name="adj" fmla="val 50000"/>
                </a:avLst>
              </a:prstGeom>
              <a:gradFill flip="none" rotWithShape="1">
                <a:gsLst>
                  <a:gs pos="18000">
                    <a:schemeClr val="accent5">
                      <a:lumMod val="60000"/>
                      <a:lumOff val="40000"/>
                    </a:schemeClr>
                  </a:gs>
                  <a:gs pos="100000">
                    <a:schemeClr val="accent5">
                      <a:lumMod val="40000"/>
                      <a:lumOff val="60000"/>
                    </a:schemeClr>
                  </a:gs>
                </a:gsLst>
                <a:lin ang="13500000" scaled="1"/>
                <a:tileRect/>
              </a:gradFill>
              <a:ln>
                <a:noFill/>
              </a:ln>
              <a:effectLst>
                <a:innerShdw blurRad="635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zh-CN" sz="1000" dirty="0">
                    <a:solidFill>
                      <a:schemeClr val="bg1"/>
                    </a:solidFill>
                    <a:latin typeface="微软雅黑" panose="020B0503020204020204" charset="-122"/>
                    <a:ea typeface="微软雅黑" panose="020B0503020204020204" charset="-122"/>
                    <a:cs typeface="微软雅黑" panose="020B0503020204020204" charset="-122"/>
                    <a:sym typeface="+mn-ea"/>
                  </a:rPr>
                  <a:t>15</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大特色人群</a:t>
                </a:r>
                <a:endParaRPr lang="en-US" altLang="zh-CN"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80" name="显眼包PPT24"/>
              <p:cNvSpPr/>
              <p:nvPr/>
            </p:nvSpPr>
            <p:spPr>
              <a:xfrm>
                <a:off x="2663" y="5589"/>
                <a:ext cx="2712" cy="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3.</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圈层沟通图谱</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endParaRPr>
              </a:p>
            </p:txBody>
          </p:sp>
          <p:sp>
            <p:nvSpPr>
              <p:cNvPr id="181" name="显眼包PPT-29"/>
              <p:cNvSpPr/>
              <p:nvPr/>
            </p:nvSpPr>
            <p:spPr>
              <a:xfrm>
                <a:off x="3229" y="6449"/>
                <a:ext cx="1592" cy="344"/>
              </a:xfrm>
              <a:prstGeom prst="roundRect">
                <a:avLst>
                  <a:gd name="adj" fmla="val 50000"/>
                </a:avLst>
              </a:prstGeom>
              <a:gradFill flip="none" rotWithShape="1">
                <a:gsLst>
                  <a:gs pos="18000">
                    <a:schemeClr val="accent5">
                      <a:lumMod val="60000"/>
                      <a:lumOff val="40000"/>
                    </a:schemeClr>
                  </a:gs>
                  <a:gs pos="100000">
                    <a:schemeClr val="accent5">
                      <a:lumMod val="40000"/>
                      <a:lumOff val="60000"/>
                    </a:schemeClr>
                  </a:gs>
                </a:gsLst>
                <a:lin ang="13500000" scaled="1"/>
                <a:tileRect/>
              </a:gradFill>
              <a:ln>
                <a:noFill/>
              </a:ln>
              <a:effectLst>
                <a:innerShdw blurRad="635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zh-CN" sz="1000" dirty="0">
                    <a:solidFill>
                      <a:schemeClr val="bg1"/>
                    </a:solidFill>
                    <a:latin typeface="微软雅黑" panose="020B0503020204020204" charset="-122"/>
                    <a:ea typeface="微软雅黑" panose="020B0503020204020204" charset="-122"/>
                    <a:cs typeface="微软雅黑" panose="020B0503020204020204" charset="-122"/>
                    <a:sym typeface="+mn-ea"/>
                  </a:rPr>
                  <a:t>垂直</a:t>
                </a:r>
                <a:r>
                  <a:rPr lang="en-US" altLang="zh-CN" sz="1000" dirty="0">
                    <a:solidFill>
                      <a:schemeClr val="bg1"/>
                    </a:solidFill>
                    <a:latin typeface="微软雅黑" panose="020B0503020204020204" charset="-122"/>
                    <a:ea typeface="微软雅黑" panose="020B0503020204020204" charset="-122"/>
                    <a:cs typeface="微软雅黑" panose="020B0503020204020204" charset="-122"/>
                    <a:sym typeface="+mn-ea"/>
                  </a:rPr>
                  <a:t>UP</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主</a:t>
                </a:r>
                <a:endParaRPr lang="en-US" altLang="zh-CN" sz="1000"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grpSp>
        <p:nvGrpSpPr>
          <p:cNvPr id="183" name="组合 182"/>
          <p:cNvGrpSpPr/>
          <p:nvPr/>
        </p:nvGrpSpPr>
        <p:grpSpPr>
          <a:xfrm>
            <a:off x="4041458" y="3549015"/>
            <a:ext cx="1722120" cy="2559050"/>
            <a:chOff x="2629" y="5571"/>
            <a:chExt cx="2712" cy="4030"/>
          </a:xfrm>
        </p:grpSpPr>
        <p:grpSp>
          <p:nvGrpSpPr>
            <p:cNvPr id="184" name="组合 183"/>
            <p:cNvGrpSpPr/>
            <p:nvPr/>
          </p:nvGrpSpPr>
          <p:grpSpPr>
            <a:xfrm>
              <a:off x="2629" y="5571"/>
              <a:ext cx="2712" cy="1204"/>
              <a:chOff x="2663" y="5589"/>
              <a:chExt cx="2712" cy="1204"/>
            </a:xfrm>
          </p:grpSpPr>
          <p:sp>
            <p:nvSpPr>
              <p:cNvPr id="185" name="显眼包PPT-29"/>
              <p:cNvSpPr/>
              <p:nvPr/>
            </p:nvSpPr>
            <p:spPr>
              <a:xfrm>
                <a:off x="3122" y="6009"/>
                <a:ext cx="1795" cy="344"/>
              </a:xfrm>
              <a:prstGeom prst="roundRect">
                <a:avLst>
                  <a:gd name="adj" fmla="val 50000"/>
                </a:avLst>
              </a:prstGeom>
              <a:gradFill flip="none" rotWithShape="1">
                <a:gsLst>
                  <a:gs pos="18000">
                    <a:schemeClr val="accent1">
                      <a:lumMod val="60000"/>
                      <a:lumOff val="40000"/>
                    </a:schemeClr>
                  </a:gs>
                  <a:gs pos="100000">
                    <a:schemeClr val="accent1">
                      <a:lumMod val="40000"/>
                      <a:lumOff val="60000"/>
                    </a:schemeClr>
                  </a:gs>
                </a:gsLst>
                <a:lin ang="13500000" scaled="1"/>
                <a:tileRect/>
              </a:gradFill>
              <a:ln>
                <a:noFill/>
              </a:ln>
              <a:effectLst>
                <a:innerShdw blurRad="63500">
                  <a:schemeClr val="accent1">
                    <a:lumMod val="40000"/>
                    <a:lumOff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拜年纪</a:t>
                </a:r>
                <a:r>
                  <a:rPr lang="en-US" altLang="zh-CN" sz="1000"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跨年晚会</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86" name="显眼包PPT24"/>
              <p:cNvSpPr/>
              <p:nvPr/>
            </p:nvSpPr>
            <p:spPr>
              <a:xfrm>
                <a:off x="2663" y="5589"/>
                <a:ext cx="2712" cy="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1.</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平台及文化节点</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endParaRPr>
              </a:p>
            </p:txBody>
          </p:sp>
          <p:sp>
            <p:nvSpPr>
              <p:cNvPr id="187" name="显眼包PPT-29"/>
              <p:cNvSpPr/>
              <p:nvPr/>
            </p:nvSpPr>
            <p:spPr>
              <a:xfrm>
                <a:off x="2806" y="6449"/>
                <a:ext cx="2427" cy="344"/>
              </a:xfrm>
              <a:prstGeom prst="roundRect">
                <a:avLst>
                  <a:gd name="adj" fmla="val 50000"/>
                </a:avLst>
              </a:prstGeom>
              <a:gradFill flip="none" rotWithShape="1">
                <a:gsLst>
                  <a:gs pos="18000">
                    <a:schemeClr val="accent1">
                      <a:lumMod val="60000"/>
                      <a:lumOff val="40000"/>
                    </a:schemeClr>
                  </a:gs>
                  <a:gs pos="100000">
                    <a:schemeClr val="accent1">
                      <a:lumMod val="40000"/>
                      <a:lumOff val="60000"/>
                    </a:schemeClr>
                  </a:gs>
                </a:gsLst>
                <a:lin ang="13500000" scaled="1"/>
                <a:tileRect/>
              </a:gradFill>
              <a:ln>
                <a:noFill/>
              </a:ln>
              <a:effectLst>
                <a:innerShdw blurRad="63500">
                  <a:schemeClr val="accent1">
                    <a:lumMod val="40000"/>
                    <a:lumOff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超级科学晚等垂类晚会</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188" name="组合 187"/>
            <p:cNvGrpSpPr/>
            <p:nvPr/>
          </p:nvGrpSpPr>
          <p:grpSpPr>
            <a:xfrm>
              <a:off x="2629" y="6984"/>
              <a:ext cx="2712" cy="1204"/>
              <a:chOff x="2663" y="5589"/>
              <a:chExt cx="2712" cy="1204"/>
            </a:xfrm>
          </p:grpSpPr>
          <p:sp>
            <p:nvSpPr>
              <p:cNvPr id="189" name="显眼包PPT-29"/>
              <p:cNvSpPr/>
              <p:nvPr/>
            </p:nvSpPr>
            <p:spPr>
              <a:xfrm>
                <a:off x="3014" y="6009"/>
                <a:ext cx="2011" cy="344"/>
              </a:xfrm>
              <a:prstGeom prst="roundRect">
                <a:avLst>
                  <a:gd name="adj" fmla="val 50000"/>
                </a:avLst>
              </a:prstGeom>
              <a:gradFill flip="none" rotWithShape="1">
                <a:gsLst>
                  <a:gs pos="18000">
                    <a:schemeClr val="accent1">
                      <a:lumMod val="60000"/>
                      <a:lumOff val="40000"/>
                    </a:schemeClr>
                  </a:gs>
                  <a:gs pos="100000">
                    <a:schemeClr val="accent1">
                      <a:lumMod val="40000"/>
                      <a:lumOff val="60000"/>
                    </a:schemeClr>
                  </a:gs>
                </a:gsLst>
                <a:lin ang="13500000" scaled="1"/>
                <a:tileRect/>
              </a:gradFill>
              <a:ln>
                <a:noFill/>
              </a:ln>
              <a:effectLst>
                <a:innerShdw blurRad="63500">
                  <a:schemeClr val="accent1">
                    <a:lumMod val="40000"/>
                    <a:lumOff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618/</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双</a:t>
                </a:r>
                <a:r>
                  <a:rPr lang="en-US" altLang="zh-CN" sz="1000" dirty="0">
                    <a:solidFill>
                      <a:schemeClr val="bg1"/>
                    </a:solidFill>
                    <a:latin typeface="微软雅黑" panose="020B0503020204020204" charset="-122"/>
                    <a:ea typeface="微软雅黑" panose="020B0503020204020204" charset="-122"/>
                    <a:cs typeface="微软雅黑" panose="020B0503020204020204" charset="-122"/>
                    <a:sym typeface="+mn-ea"/>
                  </a:rPr>
                  <a:t>11</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电商大促</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90" name="显眼包PPT24"/>
              <p:cNvSpPr/>
              <p:nvPr/>
            </p:nvSpPr>
            <p:spPr>
              <a:xfrm>
                <a:off x="2663" y="5589"/>
                <a:ext cx="2712" cy="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2.</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固定消费与季节节点</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endParaRPr>
              </a:p>
            </p:txBody>
          </p:sp>
          <p:sp>
            <p:nvSpPr>
              <p:cNvPr id="191" name="显眼包PPT-29"/>
              <p:cNvSpPr/>
              <p:nvPr/>
            </p:nvSpPr>
            <p:spPr>
              <a:xfrm>
                <a:off x="2890" y="6449"/>
                <a:ext cx="2284" cy="344"/>
              </a:xfrm>
              <a:prstGeom prst="roundRect">
                <a:avLst>
                  <a:gd name="adj" fmla="val 50000"/>
                </a:avLst>
              </a:prstGeom>
              <a:gradFill flip="none" rotWithShape="1">
                <a:gsLst>
                  <a:gs pos="18000">
                    <a:schemeClr val="accent1">
                      <a:lumMod val="60000"/>
                      <a:lumOff val="40000"/>
                    </a:schemeClr>
                  </a:gs>
                  <a:gs pos="100000">
                    <a:schemeClr val="accent1">
                      <a:lumMod val="40000"/>
                      <a:lumOff val="60000"/>
                    </a:schemeClr>
                  </a:gs>
                </a:gsLst>
                <a:lin ang="13500000" scaled="1"/>
                <a:tileRect/>
              </a:gradFill>
              <a:ln>
                <a:noFill/>
              </a:ln>
              <a:effectLst>
                <a:innerShdw blurRad="63500">
                  <a:schemeClr val="accent1">
                    <a:lumMod val="40000"/>
                    <a:lumOff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七夕</a:t>
                </a:r>
                <a:r>
                  <a:rPr lang="en-US" altLang="zh-CN" sz="1000" dirty="0">
                    <a:solidFill>
                      <a:schemeClr val="bg1"/>
                    </a:solidFill>
                    <a:latin typeface="微软雅黑" panose="020B0503020204020204" charset="-122"/>
                    <a:ea typeface="微软雅黑" panose="020B0503020204020204" charset="-122"/>
                    <a:cs typeface="微软雅黑" panose="020B0503020204020204" charset="-122"/>
                    <a:sym typeface="+mn-ea"/>
                  </a:rPr>
                  <a:t>/CNY</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等人文节庆</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192" name="组合 191"/>
            <p:cNvGrpSpPr/>
            <p:nvPr/>
          </p:nvGrpSpPr>
          <p:grpSpPr>
            <a:xfrm>
              <a:off x="2629" y="8397"/>
              <a:ext cx="2712" cy="1204"/>
              <a:chOff x="2663" y="5589"/>
              <a:chExt cx="2712" cy="1204"/>
            </a:xfrm>
          </p:grpSpPr>
          <p:sp>
            <p:nvSpPr>
              <p:cNvPr id="193" name="显眼包PPT-29"/>
              <p:cNvSpPr/>
              <p:nvPr/>
            </p:nvSpPr>
            <p:spPr>
              <a:xfrm>
                <a:off x="2808" y="6009"/>
                <a:ext cx="2297" cy="344"/>
              </a:xfrm>
              <a:prstGeom prst="roundRect">
                <a:avLst>
                  <a:gd name="adj" fmla="val 50000"/>
                </a:avLst>
              </a:prstGeom>
              <a:gradFill flip="none" rotWithShape="1">
                <a:gsLst>
                  <a:gs pos="18000">
                    <a:schemeClr val="accent1">
                      <a:lumMod val="60000"/>
                      <a:lumOff val="40000"/>
                    </a:schemeClr>
                  </a:gs>
                  <a:gs pos="100000">
                    <a:schemeClr val="accent1">
                      <a:lumMod val="40000"/>
                      <a:lumOff val="60000"/>
                    </a:schemeClr>
                  </a:gs>
                </a:gsLst>
                <a:lin ang="13500000" scaled="1"/>
                <a:tileRect/>
              </a:gradFill>
              <a:ln>
                <a:noFill/>
              </a:ln>
              <a:effectLst>
                <a:innerShdw blurRad="63500">
                  <a:schemeClr val="accent1">
                    <a:lumMod val="40000"/>
                    <a:lumOff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MATES</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人群资产模型</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94" name="显眼包PPT24"/>
              <p:cNvSpPr/>
              <p:nvPr/>
            </p:nvSpPr>
            <p:spPr>
              <a:xfrm>
                <a:off x="2663" y="5589"/>
                <a:ext cx="2712" cy="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3.</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数据度量工具</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endParaRPr>
              </a:p>
            </p:txBody>
          </p:sp>
          <p:sp>
            <p:nvSpPr>
              <p:cNvPr id="195" name="显眼包PPT-29"/>
              <p:cNvSpPr/>
              <p:nvPr/>
            </p:nvSpPr>
            <p:spPr>
              <a:xfrm>
                <a:off x="2851" y="6449"/>
                <a:ext cx="2252" cy="344"/>
              </a:xfrm>
              <a:prstGeom prst="roundRect">
                <a:avLst>
                  <a:gd name="adj" fmla="val 50000"/>
                </a:avLst>
              </a:prstGeom>
              <a:gradFill flip="none" rotWithShape="1">
                <a:gsLst>
                  <a:gs pos="18000">
                    <a:schemeClr val="accent1">
                      <a:lumMod val="60000"/>
                      <a:lumOff val="40000"/>
                    </a:schemeClr>
                  </a:gs>
                  <a:gs pos="100000">
                    <a:schemeClr val="accent1">
                      <a:lumMod val="40000"/>
                      <a:lumOff val="60000"/>
                    </a:schemeClr>
                  </a:gs>
                </a:gsLst>
                <a:lin ang="13500000" scaled="1"/>
                <a:tileRect/>
              </a:gradFill>
              <a:ln>
                <a:noFill/>
              </a:ln>
              <a:effectLst>
                <a:innerShdw blurRad="63500">
                  <a:schemeClr val="accent1">
                    <a:lumMod val="40000"/>
                    <a:lumOff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zh-CN" sz="1000" dirty="0">
                    <a:solidFill>
                      <a:schemeClr val="bg1"/>
                    </a:solidFill>
                    <a:latin typeface="微软雅黑" panose="020B0503020204020204" charset="-122"/>
                    <a:ea typeface="微软雅黑" panose="020B0503020204020204" charset="-122"/>
                    <a:cs typeface="微软雅黑" panose="020B0503020204020204" charset="-122"/>
                    <a:sym typeface="+mn-ea"/>
                  </a:rPr>
                  <a:t>星火</a:t>
                </a:r>
                <a:r>
                  <a:rPr lang="en-US" altLang="zh-CN" sz="1000" dirty="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京东等数据打通</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grpSp>
      </p:grpSp>
      <p:grpSp>
        <p:nvGrpSpPr>
          <p:cNvPr id="196" name="组合 195"/>
          <p:cNvGrpSpPr/>
          <p:nvPr/>
        </p:nvGrpSpPr>
        <p:grpSpPr>
          <a:xfrm>
            <a:off x="6443345" y="3549015"/>
            <a:ext cx="1722120" cy="2559050"/>
            <a:chOff x="2629" y="5571"/>
            <a:chExt cx="2712" cy="4030"/>
          </a:xfrm>
        </p:grpSpPr>
        <p:grpSp>
          <p:nvGrpSpPr>
            <p:cNvPr id="197" name="组合 196"/>
            <p:cNvGrpSpPr/>
            <p:nvPr/>
          </p:nvGrpSpPr>
          <p:grpSpPr>
            <a:xfrm>
              <a:off x="2629" y="5571"/>
              <a:ext cx="2712" cy="1204"/>
              <a:chOff x="2663" y="5589"/>
              <a:chExt cx="2712" cy="1204"/>
            </a:xfrm>
          </p:grpSpPr>
          <p:sp>
            <p:nvSpPr>
              <p:cNvPr id="198" name="显眼包PPT-29"/>
              <p:cNvSpPr/>
              <p:nvPr/>
            </p:nvSpPr>
            <p:spPr>
              <a:xfrm>
                <a:off x="3014" y="6009"/>
                <a:ext cx="2011" cy="344"/>
              </a:xfrm>
              <a:prstGeom prst="roundRect">
                <a:avLst>
                  <a:gd name="adj" fmla="val 50000"/>
                </a:avLst>
              </a:prstGeom>
              <a:gradFill flip="none" rotWithShape="1">
                <a:gsLst>
                  <a:gs pos="18000">
                    <a:schemeClr val="accent5">
                      <a:lumMod val="60000"/>
                      <a:lumOff val="40000"/>
                    </a:schemeClr>
                  </a:gs>
                  <a:gs pos="100000">
                    <a:schemeClr val="accent5">
                      <a:lumMod val="40000"/>
                      <a:lumOff val="60000"/>
                    </a:schemeClr>
                  </a:gs>
                </a:gsLst>
                <a:lin ang="13500000" scaled="1"/>
                <a:tileRect/>
              </a:gradFill>
              <a:ln>
                <a:noFill/>
              </a:ln>
              <a:effectLst>
                <a:innerShdw blurRad="635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新品爆款打造计划</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99" name="显眼包PPT24"/>
              <p:cNvSpPr/>
              <p:nvPr/>
            </p:nvSpPr>
            <p:spPr>
              <a:xfrm>
                <a:off x="2663" y="5589"/>
                <a:ext cx="2712" cy="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1.</a:t>
                </a:r>
                <a:r>
                  <a:rPr lang="zh-CN" sz="1100" dirty="0">
                    <a:solidFill>
                      <a:schemeClr val="tx2"/>
                    </a:solidFill>
                    <a:latin typeface="微软雅黑" panose="020B0503020204020204" charset="-122"/>
                    <a:ea typeface="微软雅黑" panose="020B0503020204020204" charset="-122"/>
                    <a:cs typeface="微软雅黑" panose="020B0503020204020204" charset="-122"/>
                    <a:sym typeface="+mj-ea"/>
                  </a:rPr>
                  <a:t>新品发布专项资源</a:t>
                </a:r>
                <a:endParaRPr lang="zh-CN" sz="1100" dirty="0">
                  <a:solidFill>
                    <a:schemeClr val="tx2"/>
                  </a:solidFill>
                  <a:latin typeface="微软雅黑" panose="020B0503020204020204" charset="-122"/>
                  <a:ea typeface="微软雅黑" panose="020B0503020204020204" charset="-122"/>
                  <a:cs typeface="微软雅黑" panose="020B0503020204020204" charset="-122"/>
                  <a:sym typeface="+mj-ea"/>
                </a:endParaRPr>
              </a:p>
            </p:txBody>
          </p:sp>
          <p:sp>
            <p:nvSpPr>
              <p:cNvPr id="200" name="显眼包PPT-29"/>
              <p:cNvSpPr/>
              <p:nvPr/>
            </p:nvSpPr>
            <p:spPr>
              <a:xfrm>
                <a:off x="2741" y="6449"/>
                <a:ext cx="2472" cy="344"/>
              </a:xfrm>
              <a:prstGeom prst="roundRect">
                <a:avLst>
                  <a:gd name="adj" fmla="val 50000"/>
                </a:avLst>
              </a:prstGeom>
              <a:gradFill flip="none" rotWithShape="1">
                <a:gsLst>
                  <a:gs pos="18000">
                    <a:schemeClr val="accent5">
                      <a:lumMod val="60000"/>
                      <a:lumOff val="40000"/>
                    </a:schemeClr>
                  </a:gs>
                  <a:gs pos="100000">
                    <a:schemeClr val="accent5">
                      <a:lumMod val="40000"/>
                      <a:lumOff val="60000"/>
                    </a:schemeClr>
                  </a:gs>
                </a:gsLst>
                <a:lin ang="13500000" scaled="1"/>
                <a:tileRect/>
              </a:gradFill>
              <a:ln>
                <a:noFill/>
              </a:ln>
              <a:effectLst>
                <a:innerShdw blurRad="635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sz="1000" dirty="0">
                    <a:solidFill>
                      <a:schemeClr val="bg1"/>
                    </a:solidFill>
                    <a:latin typeface="微软雅黑" panose="020B0503020204020204" charset="-122"/>
                    <a:ea typeface="微软雅黑" panose="020B0503020204020204" charset="-122"/>
                    <a:cs typeface="微软雅黑" panose="020B0503020204020204" charset="-122"/>
                  </a:rPr>
                  <a:t>TOPLIVE</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等定制直播</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201" name="组合 200"/>
            <p:cNvGrpSpPr/>
            <p:nvPr/>
          </p:nvGrpSpPr>
          <p:grpSpPr>
            <a:xfrm>
              <a:off x="2629" y="6984"/>
              <a:ext cx="2712" cy="1204"/>
              <a:chOff x="2663" y="5589"/>
              <a:chExt cx="2712" cy="1204"/>
            </a:xfrm>
          </p:grpSpPr>
          <p:sp>
            <p:nvSpPr>
              <p:cNvPr id="202" name="显眼包PPT-29"/>
              <p:cNvSpPr/>
              <p:nvPr/>
            </p:nvSpPr>
            <p:spPr>
              <a:xfrm>
                <a:off x="3229" y="6009"/>
                <a:ext cx="1592" cy="344"/>
              </a:xfrm>
              <a:prstGeom prst="roundRect">
                <a:avLst>
                  <a:gd name="adj" fmla="val 50000"/>
                </a:avLst>
              </a:prstGeom>
              <a:gradFill flip="none" rotWithShape="1">
                <a:gsLst>
                  <a:gs pos="18000">
                    <a:schemeClr val="accent5">
                      <a:lumMod val="60000"/>
                      <a:lumOff val="40000"/>
                    </a:schemeClr>
                  </a:gs>
                  <a:gs pos="100000">
                    <a:schemeClr val="accent5">
                      <a:lumMod val="40000"/>
                      <a:lumOff val="60000"/>
                    </a:schemeClr>
                  </a:gs>
                </a:gsLst>
                <a:lin ang="13500000" scaled="1"/>
                <a:tileRect/>
              </a:gradFill>
              <a:ln>
                <a:noFill/>
              </a:ln>
              <a:effectLst>
                <a:innerShdw blurRad="635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zh-CN" sz="1000" dirty="0">
                    <a:solidFill>
                      <a:schemeClr val="bg1"/>
                    </a:solidFill>
                    <a:latin typeface="微软雅黑" panose="020B0503020204020204" charset="-122"/>
                    <a:ea typeface="微软雅黑" panose="020B0503020204020204" charset="-122"/>
                    <a:cs typeface="微软雅黑" panose="020B0503020204020204" charset="-122"/>
                    <a:sym typeface="+mn-ea"/>
                  </a:rPr>
                  <a:t>花火、</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蓝</a:t>
                </a:r>
                <a:r>
                  <a:rPr lang="en-US" altLang="zh-CN" sz="1000" dirty="0">
                    <a:solidFill>
                      <a:schemeClr val="bg1"/>
                    </a:solidFill>
                    <a:latin typeface="微软雅黑" panose="020B0503020204020204" charset="-122"/>
                    <a:ea typeface="微软雅黑" panose="020B0503020204020204" charset="-122"/>
                    <a:cs typeface="微软雅黑" panose="020B0503020204020204" charset="-122"/>
                    <a:sym typeface="+mn-ea"/>
                  </a:rPr>
                  <a:t>V</a:t>
                </a:r>
                <a:endParaRPr lang="en-US" altLang="zh-CN" sz="1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03" name="显眼包PPT24"/>
              <p:cNvSpPr/>
              <p:nvPr/>
            </p:nvSpPr>
            <p:spPr>
              <a:xfrm>
                <a:off x="2663" y="5589"/>
                <a:ext cx="2712" cy="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2.</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内容引爆资源</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endParaRPr>
              </a:p>
            </p:txBody>
          </p:sp>
          <p:sp>
            <p:nvSpPr>
              <p:cNvPr id="204" name="显眼包PPT-29"/>
              <p:cNvSpPr/>
              <p:nvPr/>
            </p:nvSpPr>
            <p:spPr>
              <a:xfrm>
                <a:off x="3014" y="6449"/>
                <a:ext cx="2085" cy="344"/>
              </a:xfrm>
              <a:prstGeom prst="roundRect">
                <a:avLst>
                  <a:gd name="adj" fmla="val 50000"/>
                </a:avLst>
              </a:prstGeom>
              <a:gradFill flip="none" rotWithShape="1">
                <a:gsLst>
                  <a:gs pos="18000">
                    <a:schemeClr val="accent5">
                      <a:lumMod val="60000"/>
                      <a:lumOff val="40000"/>
                    </a:schemeClr>
                  </a:gs>
                  <a:gs pos="100000">
                    <a:schemeClr val="accent5">
                      <a:lumMod val="40000"/>
                      <a:lumOff val="60000"/>
                    </a:schemeClr>
                  </a:gs>
                </a:gsLst>
                <a:lin ang="13500000" scaled="1"/>
                <a:tileRect/>
              </a:gradFill>
              <a:ln>
                <a:noFill/>
              </a:ln>
              <a:effectLst>
                <a:innerShdw blurRad="635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zh-CN" sz="1000" dirty="0">
                    <a:solidFill>
                      <a:schemeClr val="bg1"/>
                    </a:solidFill>
                    <a:latin typeface="微软雅黑" panose="020B0503020204020204" charset="-122"/>
                    <a:ea typeface="微软雅黑" panose="020B0503020204020204" charset="-122"/>
                    <a:cs typeface="微软雅黑" panose="020B0503020204020204" charset="-122"/>
                    <a:sym typeface="+mn-ea"/>
                  </a:rPr>
                  <a:t>站内热搜与热门</a:t>
                </a:r>
                <a:endParaRPr lang="en-US" altLang="zh-CN" sz="1000"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205" name="组合 204"/>
            <p:cNvGrpSpPr/>
            <p:nvPr/>
          </p:nvGrpSpPr>
          <p:grpSpPr>
            <a:xfrm>
              <a:off x="2629" y="8397"/>
              <a:ext cx="2712" cy="1204"/>
              <a:chOff x="2663" y="5589"/>
              <a:chExt cx="2712" cy="1204"/>
            </a:xfrm>
          </p:grpSpPr>
          <p:sp>
            <p:nvSpPr>
              <p:cNvPr id="206" name="显眼包PPT-29"/>
              <p:cNvSpPr/>
              <p:nvPr/>
            </p:nvSpPr>
            <p:spPr>
              <a:xfrm>
                <a:off x="3014" y="6009"/>
                <a:ext cx="2011" cy="344"/>
              </a:xfrm>
              <a:prstGeom prst="roundRect">
                <a:avLst>
                  <a:gd name="adj" fmla="val 50000"/>
                </a:avLst>
              </a:prstGeom>
              <a:gradFill flip="none" rotWithShape="1">
                <a:gsLst>
                  <a:gs pos="18000">
                    <a:schemeClr val="accent5">
                      <a:lumMod val="60000"/>
                      <a:lumOff val="40000"/>
                    </a:schemeClr>
                  </a:gs>
                  <a:gs pos="100000">
                    <a:schemeClr val="accent5">
                      <a:lumMod val="40000"/>
                      <a:lumOff val="60000"/>
                    </a:schemeClr>
                  </a:gs>
                </a:gsLst>
                <a:lin ang="13500000" scaled="1"/>
                <a:tileRect/>
              </a:gradFill>
              <a:ln>
                <a:noFill/>
              </a:ln>
              <a:effectLst>
                <a:innerShdw blurRad="635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zh-CN" sz="1000" dirty="0">
                    <a:solidFill>
                      <a:schemeClr val="bg1"/>
                    </a:solidFill>
                    <a:latin typeface="微软雅黑" panose="020B0503020204020204" charset="-122"/>
                    <a:ea typeface="微软雅黑" panose="020B0503020204020204" charset="-122"/>
                    <a:cs typeface="微软雅黑" panose="020B0503020204020204" charset="-122"/>
                  </a:rPr>
                  <a:t>热门品类赛道</a:t>
                </a:r>
                <a:endParaRPr lang="zh-CN"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07" name="显眼包PPT24"/>
              <p:cNvSpPr/>
              <p:nvPr/>
            </p:nvSpPr>
            <p:spPr>
              <a:xfrm>
                <a:off x="2663" y="5589"/>
                <a:ext cx="2712" cy="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3.</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趋势场景切入</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endParaRPr>
              </a:p>
            </p:txBody>
          </p:sp>
          <p:sp>
            <p:nvSpPr>
              <p:cNvPr id="208" name="显眼包PPT-29"/>
              <p:cNvSpPr/>
              <p:nvPr/>
            </p:nvSpPr>
            <p:spPr>
              <a:xfrm>
                <a:off x="3229" y="6449"/>
                <a:ext cx="1592" cy="344"/>
              </a:xfrm>
              <a:prstGeom prst="roundRect">
                <a:avLst>
                  <a:gd name="adj" fmla="val 50000"/>
                </a:avLst>
              </a:prstGeom>
              <a:gradFill flip="none" rotWithShape="1">
                <a:gsLst>
                  <a:gs pos="18000">
                    <a:schemeClr val="accent5">
                      <a:lumMod val="60000"/>
                      <a:lumOff val="40000"/>
                    </a:schemeClr>
                  </a:gs>
                  <a:gs pos="100000">
                    <a:schemeClr val="accent5">
                      <a:lumMod val="40000"/>
                      <a:lumOff val="60000"/>
                    </a:schemeClr>
                  </a:gs>
                </a:gsLst>
                <a:lin ang="13500000" scaled="1"/>
                <a:tileRect/>
              </a:gradFill>
              <a:ln>
                <a:noFill/>
              </a:ln>
              <a:effectLst>
                <a:innerShdw blurRad="63500">
                  <a:schemeClr val="accent5">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zh-CN" sz="1000" dirty="0">
                    <a:solidFill>
                      <a:schemeClr val="bg1"/>
                    </a:solidFill>
                    <a:latin typeface="微软雅黑" panose="020B0503020204020204" charset="-122"/>
                    <a:ea typeface="微软雅黑" panose="020B0503020204020204" charset="-122"/>
                    <a:cs typeface="微软雅黑" panose="020B0503020204020204" charset="-122"/>
                    <a:sym typeface="+mn-ea"/>
                  </a:rPr>
                  <a:t>场景化内容</a:t>
                </a:r>
                <a:endParaRPr lang="zh-CN" sz="1000"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grpSp>
        <p:nvGrpSpPr>
          <p:cNvPr id="209" name="组合 208"/>
          <p:cNvGrpSpPr/>
          <p:nvPr/>
        </p:nvGrpSpPr>
        <p:grpSpPr>
          <a:xfrm>
            <a:off x="8793798" y="3560445"/>
            <a:ext cx="1743710" cy="2559050"/>
            <a:chOff x="2595" y="5571"/>
            <a:chExt cx="2746" cy="4030"/>
          </a:xfrm>
        </p:grpSpPr>
        <p:grpSp>
          <p:nvGrpSpPr>
            <p:cNvPr id="211" name="组合 210"/>
            <p:cNvGrpSpPr/>
            <p:nvPr/>
          </p:nvGrpSpPr>
          <p:grpSpPr>
            <a:xfrm>
              <a:off x="2595" y="5571"/>
              <a:ext cx="2746" cy="1204"/>
              <a:chOff x="2629" y="5589"/>
              <a:chExt cx="2746" cy="1204"/>
            </a:xfrm>
          </p:grpSpPr>
          <p:sp>
            <p:nvSpPr>
              <p:cNvPr id="212" name="显眼包PPT-29"/>
              <p:cNvSpPr/>
              <p:nvPr/>
            </p:nvSpPr>
            <p:spPr>
              <a:xfrm>
                <a:off x="2891" y="6009"/>
                <a:ext cx="2215" cy="344"/>
              </a:xfrm>
              <a:prstGeom prst="roundRect">
                <a:avLst>
                  <a:gd name="adj" fmla="val 50000"/>
                </a:avLst>
              </a:prstGeom>
              <a:gradFill flip="none" rotWithShape="1">
                <a:gsLst>
                  <a:gs pos="18000">
                    <a:schemeClr val="accent1">
                      <a:lumMod val="60000"/>
                      <a:lumOff val="40000"/>
                    </a:schemeClr>
                  </a:gs>
                  <a:gs pos="100000">
                    <a:schemeClr val="accent1">
                      <a:lumMod val="40000"/>
                      <a:lumOff val="60000"/>
                    </a:schemeClr>
                  </a:gs>
                </a:gsLst>
                <a:lin ang="13500000" scaled="1"/>
                <a:tileRect/>
              </a:gradFill>
              <a:ln>
                <a:noFill/>
              </a:ln>
              <a:effectLst>
                <a:innerShdw blurRad="63500">
                  <a:schemeClr val="accent1">
                    <a:lumMod val="40000"/>
                    <a:lumOff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zh-CN" sz="1000" dirty="0">
                    <a:solidFill>
                      <a:schemeClr val="bg1"/>
                    </a:solidFill>
                    <a:latin typeface="微软雅黑" panose="020B0503020204020204" charset="-122"/>
                    <a:ea typeface="微软雅黑" panose="020B0503020204020204" charset="-122"/>
                    <a:cs typeface="微软雅黑" panose="020B0503020204020204" charset="-122"/>
                  </a:rPr>
                  <a:t>看测评等内容消费时刻</a:t>
                </a:r>
                <a:endParaRPr lang="zh-CN"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13" name="显眼包PPT24"/>
              <p:cNvSpPr/>
              <p:nvPr/>
            </p:nvSpPr>
            <p:spPr>
              <a:xfrm>
                <a:off x="2663" y="5589"/>
                <a:ext cx="2712" cy="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1.</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日常高动机场景</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endParaRPr>
              </a:p>
            </p:txBody>
          </p:sp>
          <p:sp>
            <p:nvSpPr>
              <p:cNvPr id="214" name="显眼包PPT-29"/>
              <p:cNvSpPr/>
              <p:nvPr/>
            </p:nvSpPr>
            <p:spPr>
              <a:xfrm>
                <a:off x="2629" y="6449"/>
                <a:ext cx="2745" cy="344"/>
              </a:xfrm>
              <a:prstGeom prst="roundRect">
                <a:avLst>
                  <a:gd name="adj" fmla="val 50000"/>
                </a:avLst>
              </a:prstGeom>
              <a:gradFill flip="none" rotWithShape="1">
                <a:gsLst>
                  <a:gs pos="18000">
                    <a:schemeClr val="accent1">
                      <a:lumMod val="60000"/>
                      <a:lumOff val="40000"/>
                    </a:schemeClr>
                  </a:gs>
                  <a:gs pos="100000">
                    <a:schemeClr val="accent1">
                      <a:lumMod val="40000"/>
                      <a:lumOff val="60000"/>
                    </a:schemeClr>
                  </a:gs>
                </a:gsLst>
                <a:lin ang="13500000" scaled="1"/>
                <a:tileRect/>
              </a:gradFill>
              <a:ln>
                <a:noFill/>
              </a:ln>
              <a:effectLst>
                <a:innerShdw blurRad="63500">
                  <a:schemeClr val="accent1">
                    <a:lumMod val="40000"/>
                    <a:lumOff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纪念日</a:t>
                </a:r>
                <a:r>
                  <a:rPr lang="en-US" altLang="zh-CN" sz="1000" dirty="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游戏等情感兴趣时刻</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215" name="组合 214"/>
            <p:cNvGrpSpPr/>
            <p:nvPr/>
          </p:nvGrpSpPr>
          <p:grpSpPr>
            <a:xfrm>
              <a:off x="2629" y="6984"/>
              <a:ext cx="2712" cy="1204"/>
              <a:chOff x="2663" y="5589"/>
              <a:chExt cx="2712" cy="1204"/>
            </a:xfrm>
          </p:grpSpPr>
          <p:sp>
            <p:nvSpPr>
              <p:cNvPr id="216" name="显眼包PPT-29"/>
              <p:cNvSpPr/>
              <p:nvPr/>
            </p:nvSpPr>
            <p:spPr>
              <a:xfrm>
                <a:off x="3014" y="6009"/>
                <a:ext cx="2011" cy="344"/>
              </a:xfrm>
              <a:prstGeom prst="roundRect">
                <a:avLst>
                  <a:gd name="adj" fmla="val 50000"/>
                </a:avLst>
              </a:prstGeom>
              <a:gradFill flip="none" rotWithShape="1">
                <a:gsLst>
                  <a:gs pos="18000">
                    <a:schemeClr val="accent1">
                      <a:lumMod val="60000"/>
                      <a:lumOff val="40000"/>
                    </a:schemeClr>
                  </a:gs>
                  <a:gs pos="100000">
                    <a:schemeClr val="accent1">
                      <a:lumMod val="40000"/>
                      <a:lumOff val="60000"/>
                    </a:schemeClr>
                  </a:gs>
                </a:gsLst>
                <a:lin ang="13500000" scaled="1"/>
                <a:tileRect/>
              </a:gradFill>
              <a:ln>
                <a:noFill/>
              </a:ln>
              <a:effectLst>
                <a:innerShdw blurRad="63500">
                  <a:schemeClr val="accent1">
                    <a:lumMod val="40000"/>
                    <a:lumOff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花火</a:t>
                </a:r>
                <a:r>
                  <a:rPr lang="en-US" altLang="zh-CN" sz="1000" dirty="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起飞</a:t>
                </a:r>
                <a:r>
                  <a:rPr 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组合</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17" name="显眼包PPT24"/>
              <p:cNvSpPr/>
              <p:nvPr/>
            </p:nvSpPr>
            <p:spPr>
              <a:xfrm>
                <a:off x="2663" y="5589"/>
                <a:ext cx="2712" cy="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2.</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转化产品组合</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endParaRPr>
              </a:p>
            </p:txBody>
          </p:sp>
          <p:sp>
            <p:nvSpPr>
              <p:cNvPr id="218" name="显眼包PPT-29"/>
              <p:cNvSpPr/>
              <p:nvPr/>
            </p:nvSpPr>
            <p:spPr>
              <a:xfrm>
                <a:off x="2890" y="6449"/>
                <a:ext cx="2284" cy="344"/>
              </a:xfrm>
              <a:prstGeom prst="roundRect">
                <a:avLst>
                  <a:gd name="adj" fmla="val 50000"/>
                </a:avLst>
              </a:prstGeom>
              <a:gradFill flip="none" rotWithShape="1">
                <a:gsLst>
                  <a:gs pos="18000">
                    <a:schemeClr val="accent1">
                      <a:lumMod val="60000"/>
                      <a:lumOff val="40000"/>
                    </a:schemeClr>
                  </a:gs>
                  <a:gs pos="100000">
                    <a:schemeClr val="accent1">
                      <a:lumMod val="40000"/>
                      <a:lumOff val="60000"/>
                    </a:schemeClr>
                  </a:gs>
                </a:gsLst>
                <a:lin ang="13500000" scaled="1"/>
                <a:tileRect/>
              </a:gradFill>
              <a:ln>
                <a:noFill/>
              </a:ln>
              <a:effectLst>
                <a:innerShdw blurRad="63500">
                  <a:schemeClr val="accent1">
                    <a:lumMod val="40000"/>
                    <a:lumOff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numCol="1" spcCol="0" rtlCol="0" fromWordArt="0" anchor="ctr" anchorCtr="0" forceAA="0" compatLnSpc="1">
                <a:noAutofit/>
              </a:bodyPr>
              <a:lstStyle/>
              <a:p>
                <a:pPr lvl="0" algn="ctr">
                  <a:buClrTx/>
                  <a:buSzTx/>
                  <a:buFontTx/>
                </a:pPr>
                <a:r>
                  <a:rPr 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X</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火计划</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219" name="组合 218"/>
            <p:cNvGrpSpPr/>
            <p:nvPr/>
          </p:nvGrpSpPr>
          <p:grpSpPr>
            <a:xfrm>
              <a:off x="2629" y="8397"/>
              <a:ext cx="2712" cy="1204"/>
              <a:chOff x="2663" y="5589"/>
              <a:chExt cx="2712" cy="1204"/>
            </a:xfrm>
          </p:grpSpPr>
          <p:sp>
            <p:nvSpPr>
              <p:cNvPr id="220" name="显眼包PPT-29"/>
              <p:cNvSpPr/>
              <p:nvPr/>
            </p:nvSpPr>
            <p:spPr>
              <a:xfrm>
                <a:off x="2808" y="6009"/>
                <a:ext cx="2297" cy="344"/>
              </a:xfrm>
              <a:prstGeom prst="roundRect">
                <a:avLst>
                  <a:gd name="adj" fmla="val 50000"/>
                </a:avLst>
              </a:prstGeom>
              <a:gradFill flip="none" rotWithShape="1">
                <a:gsLst>
                  <a:gs pos="18000">
                    <a:schemeClr val="accent1">
                      <a:lumMod val="60000"/>
                      <a:lumOff val="40000"/>
                    </a:schemeClr>
                  </a:gs>
                  <a:gs pos="100000">
                    <a:schemeClr val="accent1">
                      <a:lumMod val="40000"/>
                      <a:lumOff val="60000"/>
                    </a:schemeClr>
                  </a:gs>
                </a:gsLst>
                <a:lin ang="13500000" scaled="1"/>
                <a:tileRect/>
              </a:gradFill>
              <a:ln>
                <a:noFill/>
              </a:ln>
              <a:effectLst>
                <a:innerShdw blurRad="63500">
                  <a:schemeClr val="accent1">
                    <a:lumMod val="40000"/>
                    <a:lumOff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B</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sym typeface="+mn-ea"/>
                  </a:rPr>
                  <a:t>站、抖音、小红书</a:t>
                </a:r>
                <a:endParaRPr lang="en-US" altLang="zh-CN" sz="1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21" name="显眼包PPT24"/>
              <p:cNvSpPr/>
              <p:nvPr/>
            </p:nvSpPr>
            <p:spPr>
              <a:xfrm>
                <a:off x="2663" y="5589"/>
                <a:ext cx="2712" cy="3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3.</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rPr>
                  <a:t>新兴转化场域</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j-ea"/>
                </a:endParaRPr>
              </a:p>
            </p:txBody>
          </p:sp>
          <p:sp>
            <p:nvSpPr>
              <p:cNvPr id="222" name="显眼包PPT-29"/>
              <p:cNvSpPr/>
              <p:nvPr/>
            </p:nvSpPr>
            <p:spPr>
              <a:xfrm>
                <a:off x="3216" y="6449"/>
                <a:ext cx="1590" cy="344"/>
              </a:xfrm>
              <a:prstGeom prst="roundRect">
                <a:avLst>
                  <a:gd name="adj" fmla="val 50000"/>
                </a:avLst>
              </a:prstGeom>
              <a:gradFill flip="none" rotWithShape="1">
                <a:gsLst>
                  <a:gs pos="18000">
                    <a:schemeClr val="accent1">
                      <a:lumMod val="60000"/>
                      <a:lumOff val="40000"/>
                    </a:schemeClr>
                  </a:gs>
                  <a:gs pos="100000">
                    <a:schemeClr val="accent1">
                      <a:lumMod val="40000"/>
                      <a:lumOff val="60000"/>
                    </a:schemeClr>
                  </a:gs>
                </a:gsLst>
                <a:lin ang="13500000" scaled="1"/>
                <a:tileRect/>
              </a:gradFill>
              <a:ln>
                <a:noFill/>
              </a:ln>
              <a:effectLst>
                <a:innerShdw blurRad="63500">
                  <a:schemeClr val="accent1">
                    <a:lumMod val="40000"/>
                    <a:lumOff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zh-CN" sz="1000" dirty="0">
                    <a:solidFill>
                      <a:schemeClr val="bg1"/>
                    </a:solidFill>
                    <a:latin typeface="微软雅黑" panose="020B0503020204020204" charset="-122"/>
                    <a:ea typeface="微软雅黑" panose="020B0503020204020204" charset="-122"/>
                    <a:cs typeface="微软雅黑" panose="020B0503020204020204" charset="-122"/>
                    <a:sym typeface="+mn-ea"/>
                  </a:rPr>
                  <a:t>直播带货</a:t>
                </a:r>
                <a:endParaRPr lang="zh-CN" sz="1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快修连锁竞争优势分析</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3" name="任意多边形: 形状 307"/>
          <p:cNvSpPr/>
          <p:nvPr>
            <p:custDataLst>
              <p:tags r:id="rId1"/>
            </p:custDataLst>
          </p:nvPr>
        </p:nvSpPr>
        <p:spPr>
          <a:xfrm>
            <a:off x="5268595" y="1071880"/>
            <a:ext cx="1812290" cy="303212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a:gsLst>
              <a:gs pos="0">
                <a:schemeClr val="accent5">
                  <a:lumMod val="60000"/>
                  <a:lumOff val="40000"/>
                  <a:alpha val="0"/>
                </a:schemeClr>
              </a:gs>
              <a:gs pos="100000">
                <a:schemeClr val="accent5">
                  <a:lumMod val="60000"/>
                  <a:lumOff val="40000"/>
                </a:schemeClr>
              </a:gs>
            </a:gsLst>
            <a:lin ang="162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3" name="不完整圆 235"/>
          <p:cNvSpPr/>
          <p:nvPr>
            <p:custDataLst>
              <p:tags r:id="rId2"/>
            </p:custDataLst>
          </p:nvPr>
        </p:nvSpPr>
        <p:spPr>
          <a:xfrm>
            <a:off x="2191556" y="4703617"/>
            <a:ext cx="7870963" cy="1503420"/>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solidFill>
            <a:schemeClr val="accent1">
              <a:lumMod val="60000"/>
              <a:lumOff val="40000"/>
              <a:alpha val="15000"/>
            </a:schemeClr>
          </a:solidFill>
          <a:ln w="12700">
            <a:gradFill flip="none" rotWithShape="1">
              <a:gsLst>
                <a:gs pos="0">
                  <a:schemeClr val="accent1">
                    <a:lumMod val="60000"/>
                    <a:lumOff val="40000"/>
                    <a:alpha val="0"/>
                  </a:schemeClr>
                </a:gs>
                <a:gs pos="100000">
                  <a:schemeClr val="accent1">
                    <a:lumMod val="60000"/>
                    <a:lumOff val="40000"/>
                  </a:schemeClr>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grpSp>
        <p:nvGrpSpPr>
          <p:cNvPr id="18" name="组合 17"/>
          <p:cNvGrpSpPr/>
          <p:nvPr/>
        </p:nvGrpSpPr>
        <p:grpSpPr>
          <a:xfrm>
            <a:off x="4349844" y="4902935"/>
            <a:ext cx="3539785" cy="787327"/>
            <a:chOff x="4349844" y="5010250"/>
            <a:chExt cx="3539785" cy="787327"/>
          </a:xfrm>
        </p:grpSpPr>
        <p:sp>
          <p:nvSpPr>
            <p:cNvPr id="20" name="椭圆 19"/>
            <p:cNvSpPr/>
            <p:nvPr>
              <p:custDataLst>
                <p:tags r:id="rId3"/>
              </p:custDataLst>
            </p:nvPr>
          </p:nvSpPr>
          <p:spPr>
            <a:xfrm>
              <a:off x="4357390" y="5073677"/>
              <a:ext cx="3532239" cy="723900"/>
            </a:xfrm>
            <a:prstGeom prst="ellipse">
              <a:avLst/>
            </a:prstGeom>
            <a:gradFill flip="none" rotWithShape="1">
              <a:gsLst>
                <a:gs pos="16000">
                  <a:schemeClr val="accent1">
                    <a:lumMod val="75000"/>
                  </a:schemeClr>
                </a:gs>
                <a:gs pos="90000">
                  <a:schemeClr val="accent1">
                    <a:lumMod val="75000"/>
                  </a:schemeClr>
                </a:gs>
                <a:gs pos="55000">
                  <a:schemeClr val="accent1"/>
                </a:gs>
              </a:gsLst>
              <a:lin ang="0" scaled="1"/>
              <a:tileRect/>
            </a:gradFill>
            <a:ln>
              <a:noFill/>
            </a:ln>
          </p:spPr>
          <p:style>
            <a:lnRef idx="2">
              <a:srgbClr val="3D41F1">
                <a:shade val="50000"/>
              </a:srgbClr>
            </a:lnRef>
            <a:fillRef idx="1">
              <a:srgbClr val="3D41F1"/>
            </a:fillRef>
            <a:effectRef idx="0">
              <a:srgbClr val="3D41F1"/>
            </a:effectRef>
            <a:fontRef idx="minor">
              <a:srgbClr val="FFFFFF"/>
            </a:fontRef>
          </p:style>
          <p:txBody>
            <a:bodyPr rtlCol="0" anchor="ctr"/>
            <a:lstStyle/>
            <a:p>
              <a:pPr algn="ctr"/>
              <a:endParaRPr lang="zh-CN" altLang="en-US" sz="18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1" name="椭圆 20"/>
            <p:cNvSpPr/>
            <p:nvPr>
              <p:custDataLst>
                <p:tags r:id="rId4"/>
              </p:custDataLst>
            </p:nvPr>
          </p:nvSpPr>
          <p:spPr>
            <a:xfrm>
              <a:off x="4349844" y="5010250"/>
              <a:ext cx="3532239" cy="723900"/>
            </a:xfrm>
            <a:prstGeom prst="ellipse">
              <a:avLst/>
            </a:prstGeom>
            <a:gradFill>
              <a:gsLst>
                <a:gs pos="0">
                  <a:schemeClr val="accent1">
                    <a:lumMod val="40000"/>
                    <a:lumOff val="60000"/>
                  </a:schemeClr>
                </a:gs>
                <a:gs pos="100000">
                  <a:schemeClr val="accent1">
                    <a:lumMod val="60000"/>
                    <a:lumOff val="40000"/>
                  </a:schemeClr>
                </a:gs>
              </a:gsLst>
              <a:lin ang="2700000" scaled="1"/>
            </a:gradFill>
            <a:ln>
              <a:noFill/>
            </a:ln>
          </p:spPr>
          <p:style>
            <a:lnRef idx="2">
              <a:srgbClr val="3D41F1">
                <a:shade val="50000"/>
              </a:srgbClr>
            </a:lnRef>
            <a:fillRef idx="1">
              <a:srgbClr val="3D41F1"/>
            </a:fillRef>
            <a:effectRef idx="0">
              <a:srgbClr val="3D41F1"/>
            </a:effectRef>
            <a:fontRef idx="minor">
              <a:srgbClr val="FFFFFF"/>
            </a:fontRef>
          </p:style>
          <p:txBody>
            <a:bodyPr rtlCol="0" anchor="ctr"/>
            <a:lstStyle/>
            <a:p>
              <a:pPr algn="ctr"/>
              <a:endParaRPr lang="zh-CN" altLang="en-US" sz="1800" dirty="0">
                <a:solidFill>
                  <a:srgbClr val="FFFFFF"/>
                </a:solidFill>
                <a:latin typeface="微软雅黑" panose="020B0503020204020204" charset="-122"/>
                <a:ea typeface="微软雅黑" panose="020B0503020204020204" charset="-122"/>
                <a:cs typeface="微软雅黑" panose="020B0503020204020204" charset="-122"/>
              </a:endParaRPr>
            </a:p>
          </p:txBody>
        </p:sp>
      </p:grpSp>
      <p:sp>
        <p:nvSpPr>
          <p:cNvPr id="2" name="梯形 322"/>
          <p:cNvSpPr/>
          <p:nvPr>
            <p:custDataLst>
              <p:tags r:id="rId5"/>
            </p:custDataLst>
          </p:nvPr>
        </p:nvSpPr>
        <p:spPr>
          <a:xfrm rot="10800000">
            <a:off x="4079240" y="2948940"/>
            <a:ext cx="4124960" cy="2376170"/>
          </a:xfrm>
          <a:custGeom>
            <a:avLst/>
            <a:gdLst>
              <a:gd name="connsiteX0" fmla="*/ 0 w 965390"/>
              <a:gd name="connsiteY0" fmla="*/ 697627 h 697627"/>
              <a:gd name="connsiteX1" fmla="*/ 174407 w 965390"/>
              <a:gd name="connsiteY1" fmla="*/ 0 h 697627"/>
              <a:gd name="connsiteX2" fmla="*/ 790983 w 965390"/>
              <a:gd name="connsiteY2" fmla="*/ 0 h 697627"/>
              <a:gd name="connsiteX3" fmla="*/ 965390 w 965390"/>
              <a:gd name="connsiteY3" fmla="*/ 697627 h 697627"/>
              <a:gd name="connsiteX4" fmla="*/ 0 w 965390"/>
              <a:gd name="connsiteY4" fmla="*/ 697627 h 697627"/>
              <a:gd name="connsiteX0-1" fmla="*/ 0 w 965390"/>
              <a:gd name="connsiteY0-2" fmla="*/ 697627 h 697627"/>
              <a:gd name="connsiteX1-3" fmla="*/ 174407 w 965390"/>
              <a:gd name="connsiteY1-4" fmla="*/ 0 h 697627"/>
              <a:gd name="connsiteX2-5" fmla="*/ 790983 w 965390"/>
              <a:gd name="connsiteY2-6" fmla="*/ 0 h 697627"/>
              <a:gd name="connsiteX3-7" fmla="*/ 965390 w 965390"/>
              <a:gd name="connsiteY3-8" fmla="*/ 697627 h 697627"/>
              <a:gd name="connsiteX4-9" fmla="*/ 0 w 965390"/>
              <a:gd name="connsiteY4-10" fmla="*/ 697627 h 697627"/>
              <a:gd name="connsiteX0-11" fmla="*/ 0 w 965390"/>
              <a:gd name="connsiteY0-12" fmla="*/ 697627 h 697627"/>
              <a:gd name="connsiteX1-13" fmla="*/ 174407 w 965390"/>
              <a:gd name="connsiteY1-14" fmla="*/ 0 h 697627"/>
              <a:gd name="connsiteX2-15" fmla="*/ 790983 w 965390"/>
              <a:gd name="connsiteY2-16" fmla="*/ 0 h 697627"/>
              <a:gd name="connsiteX3-17" fmla="*/ 965390 w 965390"/>
              <a:gd name="connsiteY3-18" fmla="*/ 697627 h 697627"/>
              <a:gd name="connsiteX4-19" fmla="*/ 0 w 965390"/>
              <a:gd name="connsiteY4-20" fmla="*/ 697627 h 697627"/>
              <a:gd name="connsiteX0-21" fmla="*/ 0 w 965390"/>
              <a:gd name="connsiteY0-22" fmla="*/ 697627 h 697627"/>
              <a:gd name="connsiteX1-23" fmla="*/ 174407 w 965390"/>
              <a:gd name="connsiteY1-24" fmla="*/ 0 h 697627"/>
              <a:gd name="connsiteX2-25" fmla="*/ 790983 w 965390"/>
              <a:gd name="connsiteY2-26" fmla="*/ 0 h 697627"/>
              <a:gd name="connsiteX3-27" fmla="*/ 965390 w 965390"/>
              <a:gd name="connsiteY3-28" fmla="*/ 697627 h 697627"/>
              <a:gd name="connsiteX4-29" fmla="*/ 0 w 965390"/>
              <a:gd name="connsiteY4-30" fmla="*/ 697627 h 697627"/>
              <a:gd name="connsiteX0-31" fmla="*/ 0 w 965390"/>
              <a:gd name="connsiteY0-32" fmla="*/ 697627 h 697627"/>
              <a:gd name="connsiteX1-33" fmla="*/ 174407 w 965390"/>
              <a:gd name="connsiteY1-34" fmla="*/ 0 h 697627"/>
              <a:gd name="connsiteX2-35" fmla="*/ 790983 w 965390"/>
              <a:gd name="connsiteY2-36" fmla="*/ 0 h 697627"/>
              <a:gd name="connsiteX3-37" fmla="*/ 965390 w 965390"/>
              <a:gd name="connsiteY3-38" fmla="*/ 697627 h 697627"/>
              <a:gd name="connsiteX4-39" fmla="*/ 0 w 965390"/>
              <a:gd name="connsiteY4-40" fmla="*/ 697627 h 697627"/>
              <a:gd name="connsiteX0-41" fmla="*/ 0 w 965390"/>
              <a:gd name="connsiteY0-42" fmla="*/ 697627 h 697627"/>
              <a:gd name="connsiteX1-43" fmla="*/ 174407 w 965390"/>
              <a:gd name="connsiteY1-44" fmla="*/ 0 h 697627"/>
              <a:gd name="connsiteX2-45" fmla="*/ 745261 w 965390"/>
              <a:gd name="connsiteY2-46" fmla="*/ 0 h 697627"/>
              <a:gd name="connsiteX3-47" fmla="*/ 965390 w 965390"/>
              <a:gd name="connsiteY3-48" fmla="*/ 697627 h 697627"/>
              <a:gd name="connsiteX4-49" fmla="*/ 0 w 965390"/>
              <a:gd name="connsiteY4-50" fmla="*/ 697627 h 697627"/>
              <a:gd name="connsiteX0-51" fmla="*/ 0 w 965390"/>
              <a:gd name="connsiteY0-52" fmla="*/ 697627 h 697627"/>
              <a:gd name="connsiteX1-53" fmla="*/ 197267 w 965390"/>
              <a:gd name="connsiteY1-54" fmla="*/ 0 h 697627"/>
              <a:gd name="connsiteX2-55" fmla="*/ 745261 w 965390"/>
              <a:gd name="connsiteY2-56" fmla="*/ 0 h 697627"/>
              <a:gd name="connsiteX3-57" fmla="*/ 965390 w 965390"/>
              <a:gd name="connsiteY3-58" fmla="*/ 697627 h 697627"/>
              <a:gd name="connsiteX4-59" fmla="*/ 0 w 965390"/>
              <a:gd name="connsiteY4-60" fmla="*/ 697627 h 69762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965390" h="697627">
                <a:moveTo>
                  <a:pt x="0" y="697627"/>
                </a:moveTo>
                <a:cubicBezTo>
                  <a:pt x="142112" y="493080"/>
                  <a:pt x="223106" y="307190"/>
                  <a:pt x="197267" y="0"/>
                </a:cubicBezTo>
                <a:lnTo>
                  <a:pt x="745261" y="0"/>
                </a:lnTo>
                <a:cubicBezTo>
                  <a:pt x="747414" y="269867"/>
                  <a:pt x="823278" y="399774"/>
                  <a:pt x="965390" y="697627"/>
                </a:cubicBezTo>
                <a:lnTo>
                  <a:pt x="0" y="697627"/>
                </a:lnTo>
                <a:close/>
              </a:path>
            </a:pathLst>
          </a:custGeom>
          <a:gradFill flip="none" rotWithShape="1">
            <a:gsLst>
              <a:gs pos="0">
                <a:schemeClr val="accent1">
                  <a:lumMod val="40000"/>
                  <a:lumOff val="60000"/>
                  <a:alpha val="0"/>
                </a:schemeClr>
              </a:gs>
              <a:gs pos="100000">
                <a:schemeClr val="accent1">
                  <a:lumMod val="40000"/>
                  <a:lumOff val="60000"/>
                  <a:alpha val="30000"/>
                </a:schemeClr>
              </a:gs>
            </a:gsLst>
            <a:lin ang="13500000" scaled="1"/>
          </a:gradFill>
          <a:ln>
            <a:gradFill flip="none" rotWithShape="1">
              <a:gsLst>
                <a:gs pos="50500">
                  <a:schemeClr val="accent1">
                    <a:lumMod val="60000"/>
                    <a:lumOff val="40000"/>
                  </a:schemeClr>
                </a:gs>
                <a:gs pos="0">
                  <a:schemeClr val="accent1">
                    <a:lumMod val="60000"/>
                    <a:lumOff val="40000"/>
                    <a:alpha val="0"/>
                  </a:schemeClr>
                </a:gs>
                <a:gs pos="100000">
                  <a:schemeClr val="accent1">
                    <a:lumMod val="60000"/>
                    <a:lumOff val="40000"/>
                    <a:alpha val="0"/>
                  </a:schemeClr>
                </a:gs>
              </a:gsLst>
              <a:lin ang="5400000" scaled="1"/>
              <a:tileRect/>
            </a:gradFill>
          </a:ln>
        </p:spPr>
        <p:style>
          <a:lnRef idx="2">
            <a:srgbClr val="3D41F1">
              <a:shade val="50000"/>
            </a:srgbClr>
          </a:lnRef>
          <a:fillRef idx="1">
            <a:srgbClr val="3D41F1"/>
          </a:fillRef>
          <a:effectRef idx="0">
            <a:srgbClr val="3D41F1"/>
          </a:effectRef>
          <a:fontRef idx="minor">
            <a:srgbClr val="FFFFFF"/>
          </a:fontRef>
        </p:style>
        <p:txBody>
          <a:bodyPr rtlCol="0" anchor="ctr"/>
          <a:lstStyle/>
          <a:p>
            <a:pPr algn="ctr"/>
            <a:endParaRPr lang="zh-CN" altLang="en-US" sz="18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1" name="不完整圆 235"/>
          <p:cNvSpPr/>
          <p:nvPr>
            <p:custDataLst>
              <p:tags r:id="rId6"/>
            </p:custDataLst>
          </p:nvPr>
        </p:nvSpPr>
        <p:spPr>
          <a:xfrm>
            <a:off x="2992247" y="2356458"/>
            <a:ext cx="6269582" cy="1197542"/>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flip="none" rotWithShape="1">
            <a:gsLst>
              <a:gs pos="57000">
                <a:schemeClr val="accent1">
                  <a:lumMod val="20000"/>
                  <a:lumOff val="80000"/>
                  <a:alpha val="0"/>
                </a:schemeClr>
              </a:gs>
              <a:gs pos="100000">
                <a:schemeClr val="accent1">
                  <a:lumMod val="20000"/>
                  <a:lumOff val="80000"/>
                </a:schemeClr>
              </a:gs>
            </a:gsLst>
            <a:path path="circle">
              <a:fillToRect l="50000" t="50000" r="50000" b="50000"/>
            </a:path>
            <a:tileRect/>
          </a:gradFill>
          <a:ln w="12700">
            <a:gradFill flip="none" rotWithShape="1">
              <a:gsLst>
                <a:gs pos="0">
                  <a:schemeClr val="accent1">
                    <a:lumMod val="40000"/>
                    <a:lumOff val="60000"/>
                    <a:alpha val="0"/>
                  </a:schemeClr>
                </a:gs>
                <a:gs pos="100000">
                  <a:schemeClr val="accent1">
                    <a:lumMod val="40000"/>
                    <a:lumOff val="60000"/>
                  </a:schemeClr>
                </a:gs>
              </a:gsLst>
              <a:lin ang="5400000" scaled="1"/>
              <a:tileRect/>
            </a:gradFill>
            <a:prstDash val="solid"/>
          </a:ln>
        </p:spPr>
        <p:style>
          <a:lnRef idx="2">
            <a:srgbClr val="1C4274">
              <a:shade val="50000"/>
            </a:srgbClr>
          </a:lnRef>
          <a:fillRef idx="1">
            <a:srgbClr val="1C4274"/>
          </a:fillRef>
          <a:effectRef idx="0">
            <a:srgbClr val="1C4274"/>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66" name="椭圆 65"/>
          <p:cNvSpPr/>
          <p:nvPr>
            <p:custDataLst>
              <p:tags r:id="rId7"/>
            </p:custDataLst>
          </p:nvPr>
        </p:nvSpPr>
        <p:spPr>
          <a:xfrm>
            <a:off x="3604260" y="3256915"/>
            <a:ext cx="85725" cy="85725"/>
          </a:xfrm>
          <a:prstGeom prst="ellipse">
            <a:avLst/>
          </a:prstGeom>
          <a:solidFill>
            <a:srgbClr val="FFFFFF"/>
          </a:solidFill>
          <a:ln>
            <a:noFill/>
          </a:ln>
          <a:effectLst>
            <a:outerShdw blurRad="137160" algn="ctr" rotWithShape="0">
              <a:srgbClr val="3D41F1">
                <a:lumMod val="50000"/>
                <a:alpha val="40000"/>
              </a:srgbClr>
            </a:outerShdw>
          </a:effectLst>
        </p:spPr>
        <p:style>
          <a:lnRef idx="2">
            <a:srgbClr val="3D41F1">
              <a:shade val="50000"/>
            </a:srgbClr>
          </a:lnRef>
          <a:fillRef idx="1">
            <a:srgbClr val="3D41F1"/>
          </a:fillRef>
          <a:effectRef idx="0">
            <a:srgbClr val="3D41F1"/>
          </a:effectRef>
          <a:fontRef idx="minor">
            <a:srgbClr val="FFFFFF"/>
          </a:fontRef>
        </p:style>
        <p:txBody>
          <a:bodyPr lIns="98755" tIns="49378" rIns="98755" bIns="49378" rtlCol="0" anchor="ctr"/>
          <a:lstStyle/>
          <a:p>
            <a:pPr algn="ctr"/>
            <a:endParaRPr lang="zh-CN" altLang="en-US" sz="1945">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7" name="椭圆 66"/>
          <p:cNvSpPr/>
          <p:nvPr>
            <p:custDataLst>
              <p:tags r:id="rId8"/>
            </p:custDataLst>
          </p:nvPr>
        </p:nvSpPr>
        <p:spPr>
          <a:xfrm>
            <a:off x="3627755" y="3280410"/>
            <a:ext cx="38735" cy="38735"/>
          </a:xfrm>
          <a:prstGeom prst="ellipse">
            <a:avLst/>
          </a:prstGeom>
          <a:solidFill>
            <a:schemeClr val="accent1">
              <a:lumMod val="60000"/>
              <a:lumOff val="40000"/>
            </a:schemeClr>
          </a:solidFill>
          <a:ln>
            <a:noFill/>
          </a:ln>
          <a:effectLst/>
        </p:spPr>
        <p:style>
          <a:lnRef idx="2">
            <a:srgbClr val="3D41F1">
              <a:shade val="50000"/>
            </a:srgbClr>
          </a:lnRef>
          <a:fillRef idx="1">
            <a:srgbClr val="3D41F1"/>
          </a:fillRef>
          <a:effectRef idx="0">
            <a:srgbClr val="3D41F1"/>
          </a:effectRef>
          <a:fontRef idx="minor">
            <a:srgbClr val="FFFFFF"/>
          </a:fontRef>
        </p:style>
        <p:txBody>
          <a:bodyPr lIns="98755" tIns="49378" rIns="98755" bIns="49378" rtlCol="0" anchor="ctr"/>
          <a:lstStyle/>
          <a:p>
            <a:pPr algn="ctr"/>
            <a:endParaRPr lang="zh-CN" altLang="en-US" sz="1945">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任意多边形: 形状 255"/>
          <p:cNvSpPr/>
          <p:nvPr>
            <p:custDataLst>
              <p:tags r:id="rId9"/>
            </p:custDataLst>
          </p:nvPr>
        </p:nvSpPr>
        <p:spPr>
          <a:xfrm rot="10800000">
            <a:off x="9184970" y="2871083"/>
            <a:ext cx="149614" cy="12714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60000"/>
              <a:lumOff val="40000"/>
            </a:schemeClr>
          </a:solidFill>
          <a:ln>
            <a:noFill/>
          </a:ln>
        </p:spPr>
        <p:style>
          <a:lnRef idx="2">
            <a:srgbClr val="3D41F1">
              <a:shade val="50000"/>
            </a:srgbClr>
          </a:lnRef>
          <a:fillRef idx="1">
            <a:srgbClr val="3D41F1"/>
          </a:fillRef>
          <a:effectRef idx="0">
            <a:srgbClr val="3D41F1"/>
          </a:effectRef>
          <a:fontRef idx="minor">
            <a:srgbClr val="FFFFFF"/>
          </a:fontRef>
        </p:style>
        <p:txBody>
          <a:bodyPr wrap="square" rtlCol="0" anchor="ctr">
            <a:noAutofit/>
          </a:bodyPr>
          <a:lstStyle/>
          <a:p>
            <a:pPr algn="ctr"/>
            <a:endParaRPr lang="zh-CN" altLang="en-US" sz="18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 name="任意多边形: 形状 256"/>
          <p:cNvSpPr/>
          <p:nvPr>
            <p:custDataLst>
              <p:tags r:id="rId10"/>
            </p:custDataLst>
          </p:nvPr>
        </p:nvSpPr>
        <p:spPr>
          <a:xfrm rot="21412510">
            <a:off x="2930171" y="2871083"/>
            <a:ext cx="149614" cy="12714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60000"/>
              <a:lumOff val="40000"/>
            </a:schemeClr>
          </a:solidFill>
          <a:ln>
            <a:noFill/>
          </a:ln>
        </p:spPr>
        <p:style>
          <a:lnRef idx="2">
            <a:srgbClr val="3D41F1">
              <a:shade val="50000"/>
            </a:srgbClr>
          </a:lnRef>
          <a:fillRef idx="1">
            <a:srgbClr val="3D41F1"/>
          </a:fillRef>
          <a:effectRef idx="0">
            <a:srgbClr val="3D41F1"/>
          </a:effectRef>
          <a:fontRef idx="minor">
            <a:srgbClr val="FFFFFF"/>
          </a:fontRef>
        </p:style>
        <p:txBody>
          <a:bodyPr wrap="square" rtlCol="0" anchor="ctr">
            <a:noAutofit/>
          </a:bodyPr>
          <a:lstStyle/>
          <a:p>
            <a:pPr algn="ctr"/>
            <a:endParaRPr lang="zh-CN" altLang="en-US" sz="18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9" name="不完整圆 235"/>
          <p:cNvSpPr/>
          <p:nvPr>
            <p:custDataLst>
              <p:tags r:id="rId11"/>
            </p:custDataLst>
          </p:nvPr>
        </p:nvSpPr>
        <p:spPr>
          <a:xfrm>
            <a:off x="3246152" y="3133401"/>
            <a:ext cx="5608054" cy="1071184"/>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gradFill flip="none" rotWithShape="1">
            <a:gsLst>
              <a:gs pos="57000">
                <a:schemeClr val="accent1">
                  <a:lumMod val="20000"/>
                  <a:lumOff val="80000"/>
                  <a:alpha val="0"/>
                </a:schemeClr>
              </a:gs>
              <a:gs pos="100000">
                <a:schemeClr val="accent1">
                  <a:lumMod val="20000"/>
                  <a:lumOff val="80000"/>
                </a:schemeClr>
              </a:gs>
            </a:gsLst>
            <a:path path="circle">
              <a:fillToRect l="50000" t="50000" r="50000" b="50000"/>
            </a:path>
            <a:tileRect/>
          </a:gradFill>
          <a:ln w="12700">
            <a:gradFill flip="none" rotWithShape="1">
              <a:gsLst>
                <a:gs pos="0">
                  <a:schemeClr val="accent1">
                    <a:lumMod val="60000"/>
                    <a:lumOff val="40000"/>
                    <a:alpha val="0"/>
                  </a:schemeClr>
                </a:gs>
                <a:gs pos="100000">
                  <a:schemeClr val="accent1">
                    <a:lumMod val="60000"/>
                    <a:lumOff val="40000"/>
                  </a:schemeClr>
                </a:gs>
              </a:gsLst>
              <a:lin ang="5400000" scaled="1"/>
              <a:tileRect/>
            </a:gradFill>
            <a:prstDash val="dash"/>
          </a:ln>
        </p:spPr>
        <p:style>
          <a:lnRef idx="2">
            <a:srgbClr val="1C4274">
              <a:shade val="50000"/>
            </a:srgbClr>
          </a:lnRef>
          <a:fillRef idx="1">
            <a:srgbClr val="1C4274"/>
          </a:fillRef>
          <a:effectRef idx="0">
            <a:srgbClr val="1C4274"/>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15" name="椭圆 14"/>
          <p:cNvSpPr/>
          <p:nvPr>
            <p:custDataLst>
              <p:tags r:id="rId12"/>
            </p:custDataLst>
          </p:nvPr>
        </p:nvSpPr>
        <p:spPr>
          <a:xfrm flipH="1">
            <a:off x="8061435" y="1780673"/>
            <a:ext cx="929803" cy="929802"/>
          </a:xfrm>
          <a:prstGeom prst="ellipse">
            <a:avLst/>
          </a:prstGeom>
          <a:gradFill>
            <a:gsLst>
              <a:gs pos="0">
                <a:schemeClr val="accent5">
                  <a:lumMod val="60000"/>
                  <a:lumOff val="40000"/>
                </a:schemeClr>
              </a:gs>
              <a:gs pos="93000">
                <a:schemeClr val="accent5"/>
              </a:gs>
            </a:gsLst>
            <a:lin ang="5400000" scaled="0"/>
          </a:gradFill>
          <a:ln w="38100">
            <a:noFill/>
          </a:ln>
          <a:effectLst/>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72" name="右大括号 71"/>
          <p:cNvSpPr/>
          <p:nvPr>
            <p:custDataLst>
              <p:tags r:id="rId13"/>
            </p:custDataLst>
          </p:nvPr>
        </p:nvSpPr>
        <p:spPr>
          <a:xfrm>
            <a:off x="2587686" y="1385492"/>
            <a:ext cx="338157" cy="1716273"/>
          </a:xfrm>
          <a:prstGeom prst="rightBrace">
            <a:avLst>
              <a:gd name="adj1" fmla="val 53950"/>
              <a:gd name="adj2" fmla="val 50000"/>
            </a:avLst>
          </a:prstGeom>
          <a:noFill/>
          <a:ln w="12700">
            <a:solidFill>
              <a:schemeClr val="accent5"/>
            </a:solidFill>
            <a:prstDash val="dash"/>
          </a:ln>
          <a:effectLst/>
        </p:spPr>
        <p:style>
          <a:lnRef idx="2">
            <a:srgbClr val="3D41F1">
              <a:shade val="50000"/>
            </a:srgbClr>
          </a:lnRef>
          <a:fillRef idx="1">
            <a:srgbClr val="3D41F1"/>
          </a:fillRef>
          <a:effectRef idx="0">
            <a:srgbClr val="3D41F1"/>
          </a:effectRef>
          <a:fontRef idx="minor">
            <a:srgbClr val="FFFFFF"/>
          </a:fontRef>
        </p:style>
        <p:txBody>
          <a:bodyPr lIns="98755" tIns="49378" rIns="98755" bIns="49378" rtlCol="0" anchor="ctr"/>
          <a:lstStyle/>
          <a:p>
            <a:pPr algn="ctr"/>
            <a:endParaRPr lang="zh-CN" altLang="en-US" sz="1945">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79" name="椭圆 278"/>
          <p:cNvSpPr/>
          <p:nvPr>
            <p:custDataLst>
              <p:tags r:id="rId14"/>
            </p:custDataLst>
          </p:nvPr>
        </p:nvSpPr>
        <p:spPr>
          <a:xfrm flipH="1">
            <a:off x="3198035" y="1780673"/>
            <a:ext cx="929803" cy="929802"/>
          </a:xfrm>
          <a:prstGeom prst="ellipse">
            <a:avLst/>
          </a:prstGeom>
          <a:gradFill>
            <a:gsLst>
              <a:gs pos="0">
                <a:schemeClr val="accent5">
                  <a:lumMod val="60000"/>
                  <a:lumOff val="40000"/>
                </a:schemeClr>
              </a:gs>
              <a:gs pos="93000">
                <a:schemeClr val="accent5"/>
              </a:gs>
            </a:gsLst>
            <a:lin ang="5400000" scaled="0"/>
          </a:gradFill>
          <a:ln w="38100">
            <a:noFill/>
          </a:ln>
          <a:effectLst/>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74" name="文本框 73"/>
          <p:cNvSpPr txBox="1"/>
          <p:nvPr>
            <p:custDataLst>
              <p:tags r:id="rId15"/>
            </p:custDataLst>
          </p:nvPr>
        </p:nvSpPr>
        <p:spPr>
          <a:xfrm>
            <a:off x="1513225" y="4963135"/>
            <a:ext cx="811600" cy="275590"/>
          </a:xfrm>
          <a:prstGeom prst="rect">
            <a:avLst/>
          </a:prstGeom>
          <a:noFill/>
        </p:spPr>
        <p:txBody>
          <a:bodyPr wrap="square" rtlCol="0">
            <a:spAutoFit/>
          </a:bodyPr>
          <a:lstStyle/>
          <a:p>
            <a:pPr algn="ctr"/>
            <a:r>
              <a:rPr lang="zh-CN" altLang="en-US" sz="1200" dirty="0">
                <a:solidFill>
                  <a:schemeClr val="accent6"/>
                </a:solidFill>
                <a:latin typeface="微软雅黑" panose="020B0503020204020204" charset="-122"/>
                <a:ea typeface="微软雅黑" panose="020B0503020204020204" charset="-122"/>
                <a:cs typeface="微软雅黑" panose="020B0503020204020204" charset="-122"/>
              </a:rPr>
              <a:t>客户画像</a:t>
            </a:r>
            <a:endParaRPr lang="zh-CN" altLang="en-US" sz="1200" dirty="0">
              <a:solidFill>
                <a:schemeClr val="accent6"/>
              </a:solidFill>
              <a:latin typeface="微软雅黑" panose="020B0503020204020204" charset="-122"/>
              <a:ea typeface="微软雅黑" panose="020B0503020204020204" charset="-122"/>
              <a:cs typeface="微软雅黑" panose="020B0503020204020204" charset="-122"/>
            </a:endParaRPr>
          </a:p>
        </p:txBody>
      </p:sp>
      <p:sp>
        <p:nvSpPr>
          <p:cNvPr id="221" name="文本框 220"/>
          <p:cNvSpPr txBox="1"/>
          <p:nvPr>
            <p:custDataLst>
              <p:tags r:id="rId16"/>
            </p:custDataLst>
          </p:nvPr>
        </p:nvSpPr>
        <p:spPr>
          <a:xfrm>
            <a:off x="3276601" y="3469822"/>
            <a:ext cx="794532" cy="252730"/>
          </a:xfrm>
          <a:prstGeom prst="rect">
            <a:avLst/>
          </a:prstGeom>
          <a:noFill/>
        </p:spPr>
        <p:txBody>
          <a:bodyPr wrap="square">
            <a:spAutoFit/>
          </a:bodyPr>
          <a:lstStyle/>
          <a:p>
            <a:pPr algn="ctr"/>
            <a:r>
              <a:rPr lang="zh-CN" altLang="en-US" sz="105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服务支持</a:t>
            </a:r>
            <a:endParaRPr lang="zh-CN" altLang="en-US" sz="105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p:txBody>
      </p:sp>
      <p:sp>
        <p:nvSpPr>
          <p:cNvPr id="75" name="任意多边形: 形状 254"/>
          <p:cNvSpPr/>
          <p:nvPr>
            <p:custDataLst>
              <p:tags r:id="rId17"/>
            </p:custDataLst>
          </p:nvPr>
        </p:nvSpPr>
        <p:spPr>
          <a:xfrm rot="16200000">
            <a:off x="6070946" y="3480994"/>
            <a:ext cx="149614" cy="12714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1">
              <a:lumMod val="60000"/>
              <a:lumOff val="40000"/>
            </a:schemeClr>
          </a:solidFill>
          <a:ln>
            <a:noFill/>
          </a:ln>
        </p:spPr>
        <p:style>
          <a:lnRef idx="2">
            <a:srgbClr val="3D41F1">
              <a:shade val="50000"/>
            </a:srgbClr>
          </a:lnRef>
          <a:fillRef idx="1">
            <a:srgbClr val="3D41F1"/>
          </a:fillRef>
          <a:effectRef idx="0">
            <a:srgbClr val="3D41F1"/>
          </a:effectRef>
          <a:fontRef idx="minor">
            <a:srgbClr val="FFFFFF"/>
          </a:fontRef>
        </p:style>
        <p:txBody>
          <a:bodyPr wrap="square" rtlCol="0" anchor="ctr">
            <a:noAutofit/>
          </a:bodyPr>
          <a:lstStyle/>
          <a:p>
            <a:pPr algn="ctr"/>
            <a:endParaRPr lang="zh-CN" altLang="en-US" sz="1800">
              <a:solidFill>
                <a:srgbClr val="1D3557"/>
              </a:solidFill>
              <a:latin typeface="微软雅黑" panose="020B0503020204020204" charset="-122"/>
              <a:ea typeface="微软雅黑" panose="020B0503020204020204" charset="-122"/>
              <a:cs typeface="微软雅黑" panose="020B0503020204020204" charset="-122"/>
            </a:endParaRPr>
          </a:p>
        </p:txBody>
      </p:sp>
      <p:sp>
        <p:nvSpPr>
          <p:cNvPr id="76" name="文本框 75"/>
          <p:cNvSpPr txBox="1"/>
          <p:nvPr>
            <p:custDataLst>
              <p:tags r:id="rId18"/>
            </p:custDataLst>
          </p:nvPr>
        </p:nvSpPr>
        <p:spPr>
          <a:xfrm>
            <a:off x="8035401" y="3468552"/>
            <a:ext cx="794532" cy="253916"/>
          </a:xfrm>
          <a:prstGeom prst="rect">
            <a:avLst/>
          </a:prstGeom>
          <a:noFill/>
        </p:spPr>
        <p:txBody>
          <a:bodyPr wrap="square">
            <a:spAutoFit/>
          </a:bodyPr>
          <a:lstStyle/>
          <a:p>
            <a:pPr algn="ctr"/>
            <a:r>
              <a:rPr lang="zh-CN" altLang="en-US" sz="105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权益匹配</a:t>
            </a:r>
            <a:endParaRPr lang="zh-CN" altLang="en-US" sz="105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p:txBody>
      </p:sp>
      <p:sp>
        <p:nvSpPr>
          <p:cNvPr id="77" name="矩形: 圆角 314"/>
          <p:cNvSpPr/>
          <p:nvPr>
            <p:custDataLst>
              <p:tags r:id="rId19"/>
            </p:custDataLst>
          </p:nvPr>
        </p:nvSpPr>
        <p:spPr>
          <a:xfrm flipH="1">
            <a:off x="9753600" y="1438910"/>
            <a:ext cx="1499870" cy="292100"/>
          </a:xfrm>
          <a:prstGeom prst="roundRect">
            <a:avLst>
              <a:gd name="adj" fmla="val 50000"/>
            </a:avLst>
          </a:prstGeom>
          <a:solidFill>
            <a:schemeClr val="accent5">
              <a:lumMod val="60000"/>
              <a:lumOff val="40000"/>
            </a:schemeClr>
          </a:solidFill>
          <a:ln w="38100">
            <a:noFill/>
          </a:ln>
          <a:effectLst/>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78" name="矩形: 圆角 315"/>
          <p:cNvSpPr/>
          <p:nvPr>
            <p:custDataLst>
              <p:tags r:id="rId20"/>
            </p:custDataLst>
          </p:nvPr>
        </p:nvSpPr>
        <p:spPr>
          <a:xfrm flipH="1">
            <a:off x="9753600" y="1887220"/>
            <a:ext cx="1499870" cy="292100"/>
          </a:xfrm>
          <a:prstGeom prst="roundRect">
            <a:avLst>
              <a:gd name="adj" fmla="val 50000"/>
            </a:avLst>
          </a:prstGeom>
          <a:solidFill>
            <a:schemeClr val="accent5">
              <a:lumMod val="60000"/>
              <a:lumOff val="40000"/>
            </a:schemeClr>
          </a:solidFill>
          <a:ln w="38100">
            <a:noFill/>
          </a:ln>
          <a:effectLst/>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79" name="矩形: 圆角 316"/>
          <p:cNvSpPr/>
          <p:nvPr>
            <p:custDataLst>
              <p:tags r:id="rId21"/>
            </p:custDataLst>
          </p:nvPr>
        </p:nvSpPr>
        <p:spPr>
          <a:xfrm flipH="1">
            <a:off x="9753600" y="2336165"/>
            <a:ext cx="1499870" cy="292100"/>
          </a:xfrm>
          <a:prstGeom prst="roundRect">
            <a:avLst>
              <a:gd name="adj" fmla="val 50000"/>
            </a:avLst>
          </a:prstGeom>
          <a:solidFill>
            <a:schemeClr val="accent5">
              <a:lumMod val="60000"/>
              <a:lumOff val="40000"/>
            </a:schemeClr>
          </a:solidFill>
          <a:ln w="38100">
            <a:noFill/>
          </a:ln>
          <a:effectLst/>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80" name="矩形: 圆角 317"/>
          <p:cNvSpPr/>
          <p:nvPr>
            <p:custDataLst>
              <p:tags r:id="rId22"/>
            </p:custDataLst>
          </p:nvPr>
        </p:nvSpPr>
        <p:spPr>
          <a:xfrm flipH="1">
            <a:off x="9753600" y="2785110"/>
            <a:ext cx="1499870" cy="292100"/>
          </a:xfrm>
          <a:prstGeom prst="roundRect">
            <a:avLst>
              <a:gd name="adj" fmla="val 50000"/>
            </a:avLst>
          </a:prstGeom>
          <a:solidFill>
            <a:schemeClr val="accent5">
              <a:lumMod val="60000"/>
              <a:lumOff val="40000"/>
            </a:schemeClr>
          </a:solidFill>
          <a:ln w="38100">
            <a:noFill/>
          </a:ln>
          <a:effectLst/>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20" name="右大括号 319"/>
          <p:cNvSpPr/>
          <p:nvPr>
            <p:custDataLst>
              <p:tags r:id="rId23"/>
            </p:custDataLst>
          </p:nvPr>
        </p:nvSpPr>
        <p:spPr>
          <a:xfrm flipH="1">
            <a:off x="9345109" y="1385492"/>
            <a:ext cx="338157" cy="1716273"/>
          </a:xfrm>
          <a:prstGeom prst="rightBrace">
            <a:avLst>
              <a:gd name="adj1" fmla="val 53950"/>
              <a:gd name="adj2" fmla="val 50000"/>
            </a:avLst>
          </a:prstGeom>
          <a:noFill/>
          <a:ln w="12700">
            <a:solidFill>
              <a:schemeClr val="accent5"/>
            </a:solidFill>
            <a:prstDash val="dash"/>
          </a:ln>
          <a:effectLst/>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latin typeface="微软雅黑" panose="020B0503020204020204" charset="-122"/>
              <a:ea typeface="微软雅黑" panose="020B0503020204020204" charset="-122"/>
              <a:cs typeface="微软雅黑" panose="020B0503020204020204" charset="-122"/>
              <a:sym typeface="+mn-ea"/>
            </a:endParaRPr>
          </a:p>
        </p:txBody>
      </p:sp>
      <p:grpSp>
        <p:nvGrpSpPr>
          <p:cNvPr id="52" name="组合 51"/>
          <p:cNvGrpSpPr/>
          <p:nvPr/>
        </p:nvGrpSpPr>
        <p:grpSpPr>
          <a:xfrm>
            <a:off x="4733290" y="2777411"/>
            <a:ext cx="845820" cy="398780"/>
            <a:chOff x="7454" y="4374"/>
            <a:chExt cx="1332" cy="628"/>
          </a:xfrm>
        </p:grpSpPr>
        <p:sp>
          <p:nvSpPr>
            <p:cNvPr id="321" name="矩形: 圆角 320"/>
            <p:cNvSpPr/>
            <p:nvPr>
              <p:custDataLst>
                <p:tags r:id="rId24"/>
              </p:custDataLst>
            </p:nvPr>
          </p:nvSpPr>
          <p:spPr>
            <a:xfrm>
              <a:off x="7454" y="4388"/>
              <a:ext cx="1333" cy="601"/>
            </a:xfrm>
            <a:prstGeom prst="roundRect">
              <a:avLst>
                <a:gd name="adj" fmla="val 50000"/>
              </a:avLst>
            </a:prstGeom>
            <a:solidFill>
              <a:schemeClr val="bg1"/>
            </a:solidFill>
            <a:ln>
              <a:solidFill>
                <a:schemeClr val="accent5">
                  <a:lumMod val="60000"/>
                  <a:lumOff val="40000"/>
                </a:schemeClr>
              </a:solidFill>
            </a:ln>
          </p:spPr>
          <p:style>
            <a:lnRef idx="2">
              <a:srgbClr val="3D41F1">
                <a:shade val="50000"/>
              </a:srgbClr>
            </a:lnRef>
            <a:fillRef idx="1">
              <a:srgbClr val="3D41F1"/>
            </a:fillRef>
            <a:effectRef idx="0">
              <a:srgbClr val="3D41F1"/>
            </a:effectRef>
            <a:fontRef idx="minor">
              <a:srgbClr val="FFFFFF"/>
            </a:fontRef>
          </p:style>
          <p:txBody>
            <a:bodyPr rtlCol="0" anchor="ctr"/>
            <a:lstStyle/>
            <a:p>
              <a:pPr algn="ctr"/>
              <a:endParaRPr lang="zh-CN" altLang="en-US" sz="10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27" name="文本框 326"/>
            <p:cNvSpPr txBox="1"/>
            <p:nvPr>
              <p:custDataLst>
                <p:tags r:id="rId25"/>
              </p:custDataLst>
            </p:nvPr>
          </p:nvSpPr>
          <p:spPr>
            <a:xfrm>
              <a:off x="7495" y="4374"/>
              <a:ext cx="1251" cy="628"/>
            </a:xfrm>
            <a:prstGeom prst="rect">
              <a:avLst/>
            </a:prstGeom>
            <a:noFill/>
          </p:spPr>
          <p:txBody>
            <a:bodyPr wrap="square">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良好的</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配套服务</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17" name="矩形: 圆角 302"/>
          <p:cNvSpPr/>
          <p:nvPr>
            <p:custDataLst>
              <p:tags r:id="rId26"/>
            </p:custDataLst>
          </p:nvPr>
        </p:nvSpPr>
        <p:spPr>
          <a:xfrm>
            <a:off x="1005840" y="1383665"/>
            <a:ext cx="1409065" cy="292100"/>
          </a:xfrm>
          <a:prstGeom prst="roundRect">
            <a:avLst>
              <a:gd name="adj" fmla="val 50000"/>
            </a:avLst>
          </a:prstGeom>
          <a:solidFill>
            <a:schemeClr val="accent5">
              <a:lumMod val="60000"/>
              <a:lumOff val="40000"/>
            </a:schemeClr>
          </a:solidFill>
          <a:ln w="38100">
            <a:noFill/>
          </a:ln>
          <a:effectLst/>
        </p:spPr>
        <p:style>
          <a:lnRef idx="2">
            <a:srgbClr val="3D41F1">
              <a:shade val="50000"/>
            </a:srgbClr>
          </a:lnRef>
          <a:fillRef idx="1">
            <a:srgbClr val="3D41F1"/>
          </a:fillRef>
          <a:effectRef idx="0">
            <a:srgbClr val="3D41F1"/>
          </a:effectRef>
          <a:fontRef idx="minor">
            <a:srgbClr val="FFFFFF"/>
          </a:fontRef>
        </p:style>
        <p:txBody>
          <a:bodyPr lIns="98755" tIns="49378" rIns="98755" bIns="49378" rtlCol="0" anchor="ctr"/>
          <a:lstStyle/>
          <a:p>
            <a:pPr algn="ctr"/>
            <a:endParaRPr lang="zh-CN" altLang="en-US" sz="1945" dirty="0">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347" name="文本框 346"/>
          <p:cNvSpPr txBox="1"/>
          <p:nvPr>
            <p:custDataLst>
              <p:tags r:id="rId27"/>
            </p:custDataLst>
          </p:nvPr>
        </p:nvSpPr>
        <p:spPr>
          <a:xfrm>
            <a:off x="2926006" y="2295901"/>
            <a:ext cx="1489600" cy="276999"/>
          </a:xfrm>
          <a:prstGeom prst="rect">
            <a:avLst/>
          </a:prstGeom>
          <a:noFill/>
        </p:spPr>
        <p:txBody>
          <a:bodyPr wrap="square" rtlCol="0">
            <a:spAutoFit/>
          </a:bodyPr>
          <a:lstStyle/>
          <a:p>
            <a:pPr algn="ctr"/>
            <a:r>
              <a:rPr lang="zh-CN" altLang="en-US" sz="1200" b="1" dirty="0">
                <a:solidFill>
                  <a:srgbClr val="FFFFFF"/>
                </a:solidFill>
                <a:latin typeface="微软雅黑" panose="020B0503020204020204" charset="-122"/>
                <a:ea typeface="微软雅黑" panose="020B0503020204020204" charset="-122"/>
                <a:cs typeface="微软雅黑" panose="020B0503020204020204" charset="-122"/>
              </a:rPr>
              <a:t>机构合作</a:t>
            </a:r>
            <a:endParaRPr lang="zh-CN" altLang="en-US" sz="12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48" name="文本框 347"/>
          <p:cNvSpPr txBox="1"/>
          <p:nvPr>
            <p:custDataLst>
              <p:tags r:id="rId28"/>
            </p:custDataLst>
          </p:nvPr>
        </p:nvSpPr>
        <p:spPr>
          <a:xfrm>
            <a:off x="7801662" y="2295901"/>
            <a:ext cx="1489600" cy="275590"/>
          </a:xfrm>
          <a:prstGeom prst="rect">
            <a:avLst/>
          </a:prstGeom>
          <a:noFill/>
        </p:spPr>
        <p:txBody>
          <a:bodyPr wrap="square" rtlCol="0">
            <a:spAutoFit/>
          </a:bodyPr>
          <a:lstStyle/>
          <a:p>
            <a:pPr algn="ctr"/>
            <a:r>
              <a:rPr lang="zh-CN" altLang="en-US" sz="1200" b="1" dirty="0">
                <a:solidFill>
                  <a:srgbClr val="FFFFFF"/>
                </a:solidFill>
                <a:latin typeface="微软雅黑" panose="020B0503020204020204" charset="-122"/>
                <a:ea typeface="微软雅黑" panose="020B0503020204020204" charset="-122"/>
                <a:cs typeface="微软雅黑" panose="020B0503020204020204" charset="-122"/>
              </a:rPr>
              <a:t>服务支撑</a:t>
            </a:r>
            <a:endParaRPr lang="zh-CN" altLang="en-US" sz="12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31" name="文本框 330"/>
          <p:cNvSpPr txBox="1"/>
          <p:nvPr>
            <p:custDataLst>
              <p:tags r:id="rId29"/>
            </p:custDataLst>
          </p:nvPr>
        </p:nvSpPr>
        <p:spPr>
          <a:xfrm>
            <a:off x="1416685" y="1867535"/>
            <a:ext cx="794385" cy="254000"/>
          </a:xfrm>
          <a:prstGeom prst="rect">
            <a:avLst/>
          </a:prstGeom>
          <a:noFill/>
        </p:spPr>
        <p:txBody>
          <a:bodyPr wrap="square">
            <a:spAutoFit/>
          </a:bodyPr>
          <a:lstStyle/>
          <a:p>
            <a:pPr algn="ctr"/>
            <a:r>
              <a:rPr lang="zh-CN" altLang="en-US" sz="1050" dirty="0">
                <a:solidFill>
                  <a:srgbClr val="FFFFFF"/>
                </a:solidFill>
                <a:latin typeface="微软雅黑" panose="020B0503020204020204" charset="-122"/>
                <a:ea typeface="微软雅黑" panose="020B0503020204020204" charset="-122"/>
                <a:cs typeface="微软雅黑" panose="020B0503020204020204" charset="-122"/>
              </a:rPr>
              <a:t>权益匹配</a:t>
            </a:r>
            <a:endParaRPr lang="zh-CN" altLang="en-US" sz="105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6" name="矩形: 圆角 302"/>
          <p:cNvSpPr/>
          <p:nvPr>
            <p:custDataLst>
              <p:tags r:id="rId30"/>
            </p:custDataLst>
          </p:nvPr>
        </p:nvSpPr>
        <p:spPr>
          <a:xfrm>
            <a:off x="1005840" y="1832610"/>
            <a:ext cx="1409065" cy="292100"/>
          </a:xfrm>
          <a:prstGeom prst="roundRect">
            <a:avLst>
              <a:gd name="adj" fmla="val 50000"/>
            </a:avLst>
          </a:prstGeom>
          <a:solidFill>
            <a:schemeClr val="accent5">
              <a:lumMod val="60000"/>
              <a:lumOff val="40000"/>
            </a:schemeClr>
          </a:solidFill>
          <a:ln w="38100">
            <a:noFill/>
          </a:ln>
          <a:effectLst/>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pic>
        <p:nvPicPr>
          <p:cNvPr id="88" name="图片 87" descr="icon_stores"/>
          <p:cNvPicPr>
            <a:picLocks noChangeAspect="1"/>
          </p:cNvPicPr>
          <p:nvPr>
            <p:custDataLst>
              <p:tags r:id="rId31"/>
            </p:custDataLst>
          </p:nvPr>
        </p:nvPicPr>
        <p:blipFill>
          <a:blip r:embed="rId32"/>
          <a:stretch>
            <a:fillRect/>
          </a:stretch>
        </p:blipFill>
        <p:spPr>
          <a:xfrm>
            <a:off x="3411855" y="1838325"/>
            <a:ext cx="518160" cy="518160"/>
          </a:xfrm>
          <a:prstGeom prst="rect">
            <a:avLst/>
          </a:prstGeom>
        </p:spPr>
      </p:pic>
      <p:pic>
        <p:nvPicPr>
          <p:cNvPr id="89" name="图片 88" descr="94"/>
          <p:cNvPicPr>
            <a:picLocks noChangeAspect="1"/>
          </p:cNvPicPr>
          <p:nvPr>
            <p:custDataLst>
              <p:tags r:id="rId33"/>
            </p:custDataLst>
          </p:nvPr>
        </p:nvPicPr>
        <p:blipFill>
          <a:blip r:embed="rId34"/>
          <a:stretch>
            <a:fillRect/>
          </a:stretch>
        </p:blipFill>
        <p:spPr>
          <a:xfrm>
            <a:off x="8376285" y="1925320"/>
            <a:ext cx="340360" cy="340360"/>
          </a:xfrm>
          <a:prstGeom prst="rect">
            <a:avLst/>
          </a:prstGeom>
        </p:spPr>
      </p:pic>
      <p:sp>
        <p:nvSpPr>
          <p:cNvPr id="91" name="矩形: 圆角 304"/>
          <p:cNvSpPr/>
          <p:nvPr>
            <p:custDataLst>
              <p:tags r:id="rId35"/>
            </p:custDataLst>
          </p:nvPr>
        </p:nvSpPr>
        <p:spPr>
          <a:xfrm>
            <a:off x="1005840" y="2306320"/>
            <a:ext cx="1409065" cy="292100"/>
          </a:xfrm>
          <a:prstGeom prst="roundRect">
            <a:avLst>
              <a:gd name="adj" fmla="val 50000"/>
            </a:avLst>
          </a:prstGeom>
          <a:solidFill>
            <a:schemeClr val="accent5">
              <a:lumMod val="60000"/>
              <a:lumOff val="40000"/>
            </a:schemeClr>
          </a:solidFill>
          <a:ln w="38100">
            <a:noFill/>
          </a:ln>
          <a:effectLst/>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94" name="矩形: 圆角 320"/>
          <p:cNvSpPr/>
          <p:nvPr>
            <p:custDataLst>
              <p:tags r:id="rId36"/>
            </p:custDataLst>
          </p:nvPr>
        </p:nvSpPr>
        <p:spPr>
          <a:xfrm>
            <a:off x="5723255" y="2795429"/>
            <a:ext cx="846455" cy="362585"/>
          </a:xfrm>
          <a:prstGeom prst="roundRect">
            <a:avLst>
              <a:gd name="adj" fmla="val 50000"/>
            </a:avLst>
          </a:prstGeom>
          <a:solidFill>
            <a:schemeClr val="bg1"/>
          </a:solidFill>
          <a:ln>
            <a:solidFill>
              <a:schemeClr val="accent5">
                <a:lumMod val="60000"/>
                <a:lumOff val="40000"/>
              </a:schemeClr>
            </a:solidFill>
          </a:ln>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000">
              <a:latin typeface="微软雅黑" panose="020B0503020204020204" charset="-122"/>
              <a:ea typeface="微软雅黑" panose="020B0503020204020204" charset="-122"/>
              <a:cs typeface="微软雅黑" panose="020B0503020204020204" charset="-122"/>
              <a:sym typeface="+mn-ea"/>
            </a:endParaRPr>
          </a:p>
        </p:txBody>
      </p:sp>
      <p:sp>
        <p:nvSpPr>
          <p:cNvPr id="95" name="文本框 94"/>
          <p:cNvSpPr txBox="1"/>
          <p:nvPr>
            <p:custDataLst>
              <p:tags r:id="rId37"/>
            </p:custDataLst>
          </p:nvPr>
        </p:nvSpPr>
        <p:spPr>
          <a:xfrm>
            <a:off x="5749290" y="2777411"/>
            <a:ext cx="794385" cy="398780"/>
          </a:xfrm>
          <a:prstGeom prst="rect">
            <a:avLst/>
          </a:prstGeom>
          <a:noFill/>
        </p:spPr>
        <p:txBody>
          <a:bodyPr wrap="square">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快速的</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响应机制</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7" name="矩形: 圆角 320"/>
          <p:cNvSpPr/>
          <p:nvPr>
            <p:custDataLst>
              <p:tags r:id="rId38"/>
            </p:custDataLst>
          </p:nvPr>
        </p:nvSpPr>
        <p:spPr>
          <a:xfrm>
            <a:off x="6713220" y="2783443"/>
            <a:ext cx="846455" cy="386715"/>
          </a:xfrm>
          <a:prstGeom prst="roundRect">
            <a:avLst>
              <a:gd name="adj" fmla="val 50000"/>
            </a:avLst>
          </a:prstGeom>
          <a:solidFill>
            <a:schemeClr val="bg1"/>
          </a:solidFill>
          <a:ln>
            <a:solidFill>
              <a:schemeClr val="accent5">
                <a:lumMod val="60000"/>
                <a:lumOff val="40000"/>
              </a:schemeClr>
            </a:solidFill>
          </a:ln>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sz="1000">
              <a:latin typeface="微软雅黑" panose="020B0503020204020204" charset="-122"/>
              <a:ea typeface="微软雅黑" panose="020B0503020204020204" charset="-122"/>
              <a:cs typeface="微软雅黑" panose="020B0503020204020204" charset="-122"/>
              <a:sym typeface="+mn-ea"/>
            </a:endParaRPr>
          </a:p>
        </p:txBody>
      </p:sp>
      <p:sp>
        <p:nvSpPr>
          <p:cNvPr id="98" name="文本框 97"/>
          <p:cNvSpPr txBox="1"/>
          <p:nvPr>
            <p:custDataLst>
              <p:tags r:id="rId39"/>
            </p:custDataLst>
          </p:nvPr>
        </p:nvSpPr>
        <p:spPr>
          <a:xfrm>
            <a:off x="6739255" y="2777411"/>
            <a:ext cx="794385" cy="398780"/>
          </a:xfrm>
          <a:prstGeom prst="rect">
            <a:avLst/>
          </a:prstGeom>
          <a:noFill/>
        </p:spPr>
        <p:txBody>
          <a:bodyPr wrap="square">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美好的</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客户体验</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0" name="矩形: 圆角 302"/>
          <p:cNvSpPr/>
          <p:nvPr>
            <p:custDataLst>
              <p:tags r:id="rId40"/>
            </p:custDataLst>
          </p:nvPr>
        </p:nvSpPr>
        <p:spPr>
          <a:xfrm>
            <a:off x="1026795" y="2753360"/>
            <a:ext cx="1409065" cy="292100"/>
          </a:xfrm>
          <a:prstGeom prst="roundRect">
            <a:avLst>
              <a:gd name="adj" fmla="val 50000"/>
            </a:avLst>
          </a:prstGeom>
          <a:solidFill>
            <a:schemeClr val="accent5">
              <a:lumMod val="60000"/>
              <a:lumOff val="40000"/>
            </a:schemeClr>
          </a:solidFill>
          <a:ln w="38100">
            <a:noFill/>
          </a:ln>
          <a:effectLst/>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26" name="文本框 325"/>
          <p:cNvSpPr txBox="1"/>
          <p:nvPr>
            <p:custDataLst>
              <p:tags r:id="rId41"/>
            </p:custDataLst>
          </p:nvPr>
        </p:nvSpPr>
        <p:spPr>
          <a:xfrm>
            <a:off x="8829675" y="4361815"/>
            <a:ext cx="811530" cy="275590"/>
          </a:xfrm>
          <a:prstGeom prst="rect">
            <a:avLst/>
          </a:prstGeom>
          <a:noFill/>
        </p:spPr>
        <p:txBody>
          <a:bodyPr wrap="square" rtlCol="0">
            <a:spAutoFit/>
          </a:bodyPr>
          <a:lstStyle/>
          <a:p>
            <a:pPr algn="ctr"/>
            <a:r>
              <a:rPr lang="zh-CN" altLang="en-US" sz="1200" dirty="0">
                <a:solidFill>
                  <a:schemeClr val="accent6"/>
                </a:solidFill>
                <a:latin typeface="微软雅黑" panose="020B0503020204020204" charset="-122"/>
                <a:ea typeface="微软雅黑" panose="020B0503020204020204" charset="-122"/>
                <a:cs typeface="微软雅黑" panose="020B0503020204020204" charset="-122"/>
              </a:rPr>
              <a:t>电销团队</a:t>
            </a:r>
            <a:endParaRPr lang="zh-CN" altLang="en-US" sz="1200" dirty="0">
              <a:solidFill>
                <a:schemeClr val="accent6"/>
              </a:solidFill>
              <a:latin typeface="微软雅黑" panose="020B0503020204020204" charset="-122"/>
              <a:ea typeface="微软雅黑" panose="020B0503020204020204" charset="-122"/>
              <a:cs typeface="微软雅黑" panose="020B0503020204020204" charset="-122"/>
            </a:endParaRPr>
          </a:p>
        </p:txBody>
      </p:sp>
      <p:sp>
        <p:nvSpPr>
          <p:cNvPr id="324" name="文本框 323"/>
          <p:cNvSpPr txBox="1"/>
          <p:nvPr>
            <p:custDataLst>
              <p:tags r:id="rId42"/>
            </p:custDataLst>
          </p:nvPr>
        </p:nvSpPr>
        <p:spPr>
          <a:xfrm>
            <a:off x="2708910" y="4404360"/>
            <a:ext cx="811530" cy="275590"/>
          </a:xfrm>
          <a:prstGeom prst="rect">
            <a:avLst/>
          </a:prstGeom>
          <a:noFill/>
        </p:spPr>
        <p:txBody>
          <a:bodyPr wrap="square" rtlCol="0">
            <a:spAutoFit/>
          </a:bodyPr>
          <a:lstStyle/>
          <a:p>
            <a:pPr algn="ctr"/>
            <a:r>
              <a:rPr lang="zh-CN" altLang="en-US" sz="1200" dirty="0">
                <a:solidFill>
                  <a:schemeClr val="accent6"/>
                </a:solidFill>
                <a:latin typeface="微软雅黑" panose="020B0503020204020204" charset="-122"/>
                <a:ea typeface="微软雅黑" panose="020B0503020204020204" charset="-122"/>
                <a:cs typeface="微软雅黑" panose="020B0503020204020204" charset="-122"/>
              </a:rPr>
              <a:t>异业合作</a:t>
            </a:r>
            <a:endParaRPr lang="zh-CN" altLang="en-US" sz="1200" dirty="0">
              <a:solidFill>
                <a:schemeClr val="accent6"/>
              </a:solidFill>
              <a:latin typeface="微软雅黑" panose="020B0503020204020204" charset="-122"/>
              <a:ea typeface="微软雅黑" panose="020B0503020204020204" charset="-122"/>
              <a:cs typeface="微软雅黑" panose="020B0503020204020204" charset="-122"/>
            </a:endParaRPr>
          </a:p>
        </p:txBody>
      </p:sp>
      <p:sp>
        <p:nvSpPr>
          <p:cNvPr id="325" name="文本框 324"/>
          <p:cNvSpPr txBox="1"/>
          <p:nvPr>
            <p:custDataLst>
              <p:tags r:id="rId43"/>
            </p:custDataLst>
          </p:nvPr>
        </p:nvSpPr>
        <p:spPr>
          <a:xfrm>
            <a:off x="9986010" y="4885055"/>
            <a:ext cx="811530" cy="275590"/>
          </a:xfrm>
          <a:prstGeom prst="rect">
            <a:avLst/>
          </a:prstGeom>
          <a:noFill/>
        </p:spPr>
        <p:txBody>
          <a:bodyPr wrap="square" rtlCol="0">
            <a:spAutoFit/>
          </a:bodyPr>
          <a:lstStyle/>
          <a:p>
            <a:pPr algn="ctr"/>
            <a:r>
              <a:rPr lang="zh-CN" sz="1200" dirty="0">
                <a:solidFill>
                  <a:schemeClr val="accent6"/>
                </a:solidFill>
                <a:latin typeface="微软雅黑" panose="020B0503020204020204" charset="-122"/>
                <a:ea typeface="微软雅黑" panose="020B0503020204020204" charset="-122"/>
                <a:cs typeface="微软雅黑" panose="020B0503020204020204" charset="-122"/>
              </a:rPr>
              <a:t>营销系统</a:t>
            </a:r>
            <a:endParaRPr lang="zh-CN" sz="1200" dirty="0">
              <a:solidFill>
                <a:schemeClr val="accent6"/>
              </a:solidFill>
              <a:latin typeface="微软雅黑" panose="020B0503020204020204" charset="-122"/>
              <a:ea typeface="微软雅黑" panose="020B0503020204020204" charset="-122"/>
              <a:cs typeface="微软雅黑" panose="020B0503020204020204" charset="-122"/>
            </a:endParaRPr>
          </a:p>
        </p:txBody>
      </p:sp>
      <p:sp>
        <p:nvSpPr>
          <p:cNvPr id="36" name="文本框 35"/>
          <p:cNvSpPr txBox="1"/>
          <p:nvPr>
            <p:custDataLst>
              <p:tags r:id="rId44"/>
            </p:custDataLst>
          </p:nvPr>
        </p:nvSpPr>
        <p:spPr>
          <a:xfrm>
            <a:off x="3224213" y="6061710"/>
            <a:ext cx="811530" cy="275590"/>
          </a:xfrm>
          <a:prstGeom prst="rect">
            <a:avLst/>
          </a:prstGeom>
          <a:noFill/>
        </p:spPr>
        <p:txBody>
          <a:bodyPr wrap="square" rtlCol="0">
            <a:spAutoFit/>
          </a:bodyPr>
          <a:lstStyle/>
          <a:p>
            <a:pPr algn="ctr"/>
            <a:r>
              <a:rPr lang="zh-CN" altLang="en-US" sz="1200" dirty="0">
                <a:solidFill>
                  <a:schemeClr val="accent6"/>
                </a:solidFill>
                <a:latin typeface="微软雅黑" panose="020B0503020204020204" charset="-122"/>
                <a:ea typeface="微软雅黑" panose="020B0503020204020204" charset="-122"/>
                <a:cs typeface="微软雅黑" panose="020B0503020204020204" charset="-122"/>
              </a:rPr>
              <a:t>维修车间</a:t>
            </a:r>
            <a:endParaRPr lang="zh-CN" altLang="en-US" sz="1200" dirty="0">
              <a:solidFill>
                <a:schemeClr val="accent6"/>
              </a:solidFill>
              <a:latin typeface="微软雅黑" panose="020B0503020204020204" charset="-122"/>
              <a:ea typeface="微软雅黑" panose="020B0503020204020204" charset="-122"/>
              <a:cs typeface="微软雅黑" panose="020B0503020204020204" charset="-122"/>
            </a:endParaRPr>
          </a:p>
        </p:txBody>
      </p:sp>
      <p:sp>
        <p:nvSpPr>
          <p:cNvPr id="40" name="文本框 39"/>
          <p:cNvSpPr txBox="1"/>
          <p:nvPr>
            <p:custDataLst>
              <p:tags r:id="rId45"/>
            </p:custDataLst>
          </p:nvPr>
        </p:nvSpPr>
        <p:spPr>
          <a:xfrm>
            <a:off x="8639810" y="6001385"/>
            <a:ext cx="811530" cy="275590"/>
          </a:xfrm>
          <a:prstGeom prst="rect">
            <a:avLst/>
          </a:prstGeom>
          <a:noFill/>
        </p:spPr>
        <p:txBody>
          <a:bodyPr wrap="square" rtlCol="0">
            <a:spAutoFit/>
          </a:bodyPr>
          <a:lstStyle/>
          <a:p>
            <a:pPr algn="ctr"/>
            <a:r>
              <a:rPr lang="zh-CN" altLang="en-US" sz="1200" dirty="0">
                <a:solidFill>
                  <a:schemeClr val="accent6"/>
                </a:solidFill>
                <a:latin typeface="微软雅黑" panose="020B0503020204020204" charset="-122"/>
                <a:ea typeface="微软雅黑" panose="020B0503020204020204" charset="-122"/>
                <a:cs typeface="微软雅黑" panose="020B0503020204020204" charset="-122"/>
              </a:rPr>
              <a:t>事故定损</a:t>
            </a:r>
            <a:endParaRPr lang="zh-CN" altLang="en-US" sz="1200" dirty="0">
              <a:solidFill>
                <a:schemeClr val="accent6"/>
              </a:solidFill>
              <a:latin typeface="微软雅黑" panose="020B0503020204020204" charset="-122"/>
              <a:ea typeface="微软雅黑" panose="020B0503020204020204" charset="-122"/>
              <a:cs typeface="微软雅黑" panose="020B0503020204020204" charset="-122"/>
            </a:endParaRPr>
          </a:p>
        </p:txBody>
      </p:sp>
      <p:sp>
        <p:nvSpPr>
          <p:cNvPr id="42" name="文本框 41"/>
          <p:cNvSpPr txBox="1"/>
          <p:nvPr>
            <p:custDataLst>
              <p:tags r:id="rId46"/>
            </p:custDataLst>
          </p:nvPr>
        </p:nvSpPr>
        <p:spPr>
          <a:xfrm>
            <a:off x="5413301" y="3806566"/>
            <a:ext cx="1489600" cy="275590"/>
          </a:xfrm>
          <a:prstGeom prst="rect">
            <a:avLst/>
          </a:prstGeom>
          <a:noFill/>
        </p:spPr>
        <p:txBody>
          <a:bodyPr wrap="square" rtlCol="0">
            <a:spAutoFit/>
          </a:bodyPr>
          <a:lstStyle/>
          <a:p>
            <a:pPr algn="ctr"/>
            <a:r>
              <a:rPr lang="zh-CN" altLang="en-US" sz="1200" b="1" dirty="0">
                <a:solidFill>
                  <a:schemeClr val="tx2"/>
                </a:solidFill>
                <a:latin typeface="微软雅黑" panose="020B0503020204020204" charset="-122"/>
                <a:ea typeface="微软雅黑" panose="020B0503020204020204" charset="-122"/>
                <a:cs typeface="微软雅黑" panose="020B0503020204020204" charset="-122"/>
              </a:rPr>
              <a:t>客户小程序</a:t>
            </a:r>
            <a:endParaRPr lang="zh-CN" altLang="en-US" sz="12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5" name="文本框 44"/>
          <p:cNvSpPr txBox="1"/>
          <p:nvPr>
            <p:custDataLst>
              <p:tags r:id="rId47"/>
            </p:custDataLst>
          </p:nvPr>
        </p:nvSpPr>
        <p:spPr>
          <a:xfrm>
            <a:off x="4437380" y="6311265"/>
            <a:ext cx="811530" cy="275590"/>
          </a:xfrm>
          <a:prstGeom prst="rect">
            <a:avLst/>
          </a:prstGeom>
          <a:noFill/>
        </p:spPr>
        <p:txBody>
          <a:bodyPr wrap="square" rtlCol="0">
            <a:spAutoFit/>
          </a:bodyPr>
          <a:lstStyle/>
          <a:p>
            <a:pPr algn="ctr"/>
            <a:r>
              <a:rPr lang="zh-CN" altLang="en-US" sz="1200" dirty="0">
                <a:solidFill>
                  <a:schemeClr val="accent6"/>
                </a:solidFill>
                <a:latin typeface="微软雅黑" panose="020B0503020204020204" charset="-122"/>
                <a:ea typeface="微软雅黑" panose="020B0503020204020204" charset="-122"/>
                <a:cs typeface="微软雅黑" panose="020B0503020204020204" charset="-122"/>
              </a:rPr>
              <a:t>充电桩</a:t>
            </a:r>
            <a:endParaRPr lang="zh-CN" altLang="en-US" sz="1200" dirty="0">
              <a:solidFill>
                <a:schemeClr val="accent6"/>
              </a:solidFill>
              <a:latin typeface="微软雅黑" panose="020B0503020204020204" charset="-122"/>
              <a:ea typeface="微软雅黑" panose="020B0503020204020204" charset="-122"/>
              <a:cs typeface="微软雅黑" panose="020B0503020204020204" charset="-122"/>
            </a:endParaRPr>
          </a:p>
        </p:txBody>
      </p:sp>
      <p:sp>
        <p:nvSpPr>
          <p:cNvPr id="48" name="文本框 47"/>
          <p:cNvSpPr txBox="1"/>
          <p:nvPr>
            <p:custDataLst>
              <p:tags r:id="rId48"/>
            </p:custDataLst>
          </p:nvPr>
        </p:nvSpPr>
        <p:spPr>
          <a:xfrm>
            <a:off x="6976745" y="6304280"/>
            <a:ext cx="1382395" cy="275590"/>
          </a:xfrm>
          <a:prstGeom prst="rect">
            <a:avLst/>
          </a:prstGeom>
          <a:noFill/>
        </p:spPr>
        <p:txBody>
          <a:bodyPr wrap="square" rtlCol="0">
            <a:spAutoFit/>
          </a:bodyPr>
          <a:lstStyle/>
          <a:p>
            <a:pPr algn="ctr"/>
            <a:r>
              <a:rPr lang="zh-CN" altLang="en-US" sz="1200" dirty="0">
                <a:solidFill>
                  <a:schemeClr val="accent6"/>
                </a:solidFill>
                <a:latin typeface="微软雅黑" panose="020B0503020204020204" charset="-122"/>
                <a:ea typeface="微软雅黑" panose="020B0503020204020204" charset="-122"/>
                <a:cs typeface="微软雅黑" panose="020B0503020204020204" charset="-122"/>
              </a:rPr>
              <a:t>新能源专修</a:t>
            </a:r>
            <a:endParaRPr lang="zh-CN" altLang="en-US" sz="1200" dirty="0">
              <a:solidFill>
                <a:schemeClr val="accent6"/>
              </a:solidFill>
              <a:latin typeface="微软雅黑" panose="020B0503020204020204" charset="-122"/>
              <a:ea typeface="微软雅黑" panose="020B0503020204020204" charset="-122"/>
              <a:cs typeface="微软雅黑" panose="020B0503020204020204" charset="-122"/>
            </a:endParaRPr>
          </a:p>
        </p:txBody>
      </p:sp>
      <p:grpSp>
        <p:nvGrpSpPr>
          <p:cNvPr id="26" name="组合 25"/>
          <p:cNvGrpSpPr/>
          <p:nvPr/>
        </p:nvGrpSpPr>
        <p:grpSpPr>
          <a:xfrm>
            <a:off x="2270760" y="4885055"/>
            <a:ext cx="646430" cy="701675"/>
            <a:chOff x="3736" y="7561"/>
            <a:chExt cx="1218" cy="1321"/>
          </a:xfrm>
        </p:grpSpPr>
        <p:sp>
          <p:nvSpPr>
            <p:cNvPr id="11" name="椭圆 10"/>
            <p:cNvSpPr/>
            <p:nvPr>
              <p:custDataLst>
                <p:tags r:id="rId49"/>
              </p:custDataLst>
            </p:nvPr>
          </p:nvSpPr>
          <p:spPr>
            <a:xfrm flipH="1">
              <a:off x="3866" y="7561"/>
              <a:ext cx="1055" cy="1055"/>
            </a:xfrm>
            <a:prstGeom prst="ellipse">
              <a:avLst/>
            </a:prstGeom>
            <a:gradFill>
              <a:gsLst>
                <a:gs pos="0">
                  <a:schemeClr val="accent1">
                    <a:lumMod val="60000"/>
                    <a:lumOff val="40000"/>
                  </a:schemeClr>
                </a:gs>
                <a:gs pos="100000">
                  <a:schemeClr val="accent1"/>
                </a:gs>
              </a:gsLst>
              <a:lin ang="8100000" scaled="0"/>
            </a:gradFill>
            <a:ln w="38100">
              <a:noFill/>
            </a:ln>
            <a:effectLst/>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pic>
          <p:nvPicPr>
            <p:cNvPr id="83" name="图形 6"/>
            <p:cNvPicPr>
              <a:picLocks noChangeAspect="1"/>
            </p:cNvPicPr>
            <p:nvPr>
              <p:custDataLst>
                <p:tags r:id="rId50"/>
              </p:custDataLst>
            </p:nvPr>
          </p:nvPicPr>
          <p:blipFill>
            <a:blip r:embed="rId51">
              <a:extLst>
                <a:ext uri="{28A0092B-C50C-407E-A947-70E740481C1C}">
                  <a14:useLocalDpi xmlns:a14="http://schemas.microsoft.com/office/drawing/2010/main" val="0"/>
                </a:ext>
                <a:ext uri="{96DAC541-7B7A-43D3-8B79-37D633B846F1}">
                  <asvg:svgBlip xmlns:asvg="http://schemas.microsoft.com/office/drawing/2016/SVG/main" r:embed="rId52"/>
                </a:ext>
              </a:extLst>
            </a:blip>
            <a:stretch>
              <a:fillRect/>
            </a:stretch>
          </p:blipFill>
          <p:spPr>
            <a:xfrm>
              <a:off x="4047" y="7661"/>
              <a:ext cx="783" cy="783"/>
            </a:xfrm>
            <a:prstGeom prst="rect">
              <a:avLst/>
            </a:prstGeom>
            <a:gradFill>
              <a:gsLst>
                <a:gs pos="0">
                  <a:schemeClr val="accent1">
                    <a:lumMod val="60000"/>
                    <a:lumOff val="40000"/>
                  </a:schemeClr>
                </a:gs>
                <a:gs pos="100000">
                  <a:schemeClr val="accent1"/>
                </a:gs>
              </a:gsLst>
              <a:lin ang="8100000" scaled="0"/>
            </a:gradFill>
            <a:effectLst/>
          </p:spPr>
        </p:pic>
        <p:sp>
          <p:nvSpPr>
            <p:cNvPr id="59" name="椭圆 58"/>
            <p:cNvSpPr/>
            <p:nvPr/>
          </p:nvSpPr>
          <p:spPr>
            <a:xfrm>
              <a:off x="3736" y="8640"/>
              <a:ext cx="1218" cy="243"/>
            </a:xfrm>
            <a:prstGeom prst="ellipse">
              <a:avLst/>
            </a:prstGeom>
            <a:solidFill>
              <a:schemeClr val="accent6">
                <a:lumMod val="75000"/>
                <a:alpha val="21000"/>
              </a:scheme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sp>
        <p:nvSpPr>
          <p:cNvPr id="93" name="椭圆 92"/>
          <p:cNvSpPr/>
          <p:nvPr>
            <p:custDataLst>
              <p:tags r:id="rId53"/>
            </p:custDataLst>
          </p:nvPr>
        </p:nvSpPr>
        <p:spPr>
          <a:xfrm>
            <a:off x="8481060" y="3288665"/>
            <a:ext cx="85725" cy="85725"/>
          </a:xfrm>
          <a:prstGeom prst="ellipse">
            <a:avLst/>
          </a:prstGeom>
          <a:solidFill>
            <a:srgbClr val="FFFFFF"/>
          </a:solidFill>
          <a:ln>
            <a:noFill/>
          </a:ln>
          <a:effectLst>
            <a:outerShdw blurRad="137160" algn="ctr" rotWithShape="0">
              <a:srgbClr val="3D41F1">
                <a:lumMod val="50000"/>
                <a:alpha val="40000"/>
              </a:srgbClr>
            </a:outerShdw>
          </a:effectLst>
        </p:spPr>
        <p:style>
          <a:lnRef idx="2">
            <a:srgbClr val="3D41F1">
              <a:shade val="50000"/>
            </a:srgbClr>
          </a:lnRef>
          <a:fillRef idx="1">
            <a:srgbClr val="3D41F1"/>
          </a:fillRef>
          <a:effectRef idx="0">
            <a:srgbClr val="3D41F1"/>
          </a:effectRef>
          <a:fontRef idx="minor">
            <a:srgbClr val="FFFFFF"/>
          </a:fontRef>
        </p:style>
        <p:txBody>
          <a:bodyPr lIns="98755" tIns="49378" rIns="98755" bIns="49378" rtlCol="0" anchor="ctr"/>
          <a:p>
            <a:pPr algn="ctr"/>
            <a:endParaRPr lang="zh-CN" altLang="en-US" sz="1945">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96" name="椭圆 95"/>
          <p:cNvSpPr/>
          <p:nvPr>
            <p:custDataLst>
              <p:tags r:id="rId54"/>
            </p:custDataLst>
          </p:nvPr>
        </p:nvSpPr>
        <p:spPr>
          <a:xfrm>
            <a:off x="8504555" y="3312160"/>
            <a:ext cx="38735" cy="38735"/>
          </a:xfrm>
          <a:prstGeom prst="ellipse">
            <a:avLst/>
          </a:prstGeom>
          <a:solidFill>
            <a:schemeClr val="accent1">
              <a:lumMod val="60000"/>
              <a:lumOff val="40000"/>
            </a:schemeClr>
          </a:solidFill>
          <a:ln>
            <a:noFill/>
          </a:ln>
          <a:effectLst/>
        </p:spPr>
        <p:style>
          <a:lnRef idx="2">
            <a:srgbClr val="3D41F1">
              <a:shade val="50000"/>
            </a:srgbClr>
          </a:lnRef>
          <a:fillRef idx="1">
            <a:srgbClr val="3D41F1"/>
          </a:fillRef>
          <a:effectRef idx="0">
            <a:srgbClr val="3D41F1"/>
          </a:effectRef>
          <a:fontRef idx="minor">
            <a:srgbClr val="FFFFFF"/>
          </a:fontRef>
        </p:style>
        <p:txBody>
          <a:bodyPr lIns="98755" tIns="49378" rIns="98755" bIns="49378" rtlCol="0" anchor="ctr"/>
          <a:p>
            <a:pPr algn="ctr"/>
            <a:endParaRPr lang="zh-CN" altLang="en-US" sz="1945">
              <a:solidFill>
                <a:srgbClr val="FFFFFF"/>
              </a:solidFill>
              <a:latin typeface="微软雅黑" panose="020B0503020204020204" charset="-122"/>
              <a:ea typeface="微软雅黑" panose="020B0503020204020204" charset="-122"/>
              <a:cs typeface="微软雅黑" panose="020B0503020204020204" charset="-122"/>
            </a:endParaRPr>
          </a:p>
        </p:txBody>
      </p:sp>
      <p:pic>
        <p:nvPicPr>
          <p:cNvPr id="4" name="图片 3" descr="屋顶资源管理"/>
          <p:cNvPicPr>
            <a:picLocks noChangeAspect="1"/>
          </p:cNvPicPr>
          <p:nvPr/>
        </p:nvPicPr>
        <p:blipFill>
          <a:blip r:embed="rId55">
            <a:extLst>
              <a:ext uri="{96DAC541-7B7A-43D3-8B79-37D633B846F1}">
                <asvg:svgBlip xmlns:asvg="http://schemas.microsoft.com/office/drawing/2016/SVG/main" r:embed="rId56"/>
              </a:ext>
            </a:extLst>
          </a:blip>
          <a:stretch>
            <a:fillRect/>
          </a:stretch>
        </p:blipFill>
        <p:spPr>
          <a:xfrm>
            <a:off x="355600" y="186055"/>
            <a:ext cx="549910" cy="549910"/>
          </a:xfrm>
          <a:prstGeom prst="rect">
            <a:avLst/>
          </a:prstGeom>
        </p:spPr>
      </p:pic>
      <p:sp>
        <p:nvSpPr>
          <p:cNvPr id="6" name="椭圆 5"/>
          <p:cNvSpPr/>
          <p:nvPr/>
        </p:nvSpPr>
        <p:spPr>
          <a:xfrm>
            <a:off x="3282950" y="2716530"/>
            <a:ext cx="795655" cy="154305"/>
          </a:xfrm>
          <a:prstGeom prst="ellipse">
            <a:avLst/>
          </a:prstGeom>
          <a:solidFill>
            <a:schemeClr val="tx2">
              <a:alpha val="21000"/>
            </a:scheme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2" name="椭圆 11"/>
          <p:cNvSpPr/>
          <p:nvPr/>
        </p:nvSpPr>
        <p:spPr>
          <a:xfrm>
            <a:off x="8138795" y="2716530"/>
            <a:ext cx="795655" cy="154305"/>
          </a:xfrm>
          <a:prstGeom prst="ellipse">
            <a:avLst/>
          </a:prstGeom>
          <a:solidFill>
            <a:schemeClr val="tx2">
              <a:alpha val="21000"/>
            </a:scheme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grpSp>
        <p:nvGrpSpPr>
          <p:cNvPr id="16" name="组合 15"/>
          <p:cNvGrpSpPr/>
          <p:nvPr/>
        </p:nvGrpSpPr>
        <p:grpSpPr>
          <a:xfrm>
            <a:off x="8715375" y="348615"/>
            <a:ext cx="3219450" cy="332740"/>
            <a:chOff x="13761" y="549"/>
            <a:chExt cx="5070" cy="524"/>
          </a:xfrm>
        </p:grpSpPr>
        <p:pic>
          <p:nvPicPr>
            <p:cNvPr id="24" name="图片 23"/>
            <p:cNvPicPr>
              <a:picLocks noChangeAspect="1"/>
            </p:cNvPicPr>
            <p:nvPr userDrawn="1"/>
          </p:nvPicPr>
          <p:blipFill>
            <a:blip r:embed="rId57"/>
            <a:srcRect l="17002" t="-1765" r="56499" b="-1176"/>
            <a:stretch>
              <a:fillRect/>
            </a:stretch>
          </p:blipFill>
          <p:spPr>
            <a:xfrm>
              <a:off x="13761" y="549"/>
              <a:ext cx="1582" cy="525"/>
            </a:xfrm>
            <a:prstGeom prst="rect">
              <a:avLst/>
            </a:prstGeom>
          </p:spPr>
        </p:pic>
        <p:sp>
          <p:nvSpPr>
            <p:cNvPr id="25" name="文本框 2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grpSp>
        <p:nvGrpSpPr>
          <p:cNvPr id="38" name="组合 37"/>
          <p:cNvGrpSpPr/>
          <p:nvPr/>
        </p:nvGrpSpPr>
        <p:grpSpPr>
          <a:xfrm>
            <a:off x="3306763" y="5427980"/>
            <a:ext cx="646430" cy="702310"/>
            <a:chOff x="5217" y="8348"/>
            <a:chExt cx="1018" cy="1106"/>
          </a:xfrm>
        </p:grpSpPr>
        <p:grpSp>
          <p:nvGrpSpPr>
            <p:cNvPr id="28" name="组合 27"/>
            <p:cNvGrpSpPr/>
            <p:nvPr/>
          </p:nvGrpSpPr>
          <p:grpSpPr>
            <a:xfrm>
              <a:off x="5217" y="8348"/>
              <a:ext cx="1018" cy="1106"/>
              <a:chOff x="3736" y="7561"/>
              <a:chExt cx="1218" cy="1322"/>
            </a:xfrm>
          </p:grpSpPr>
          <p:sp>
            <p:nvSpPr>
              <p:cNvPr id="30" name="椭圆 29"/>
              <p:cNvSpPr/>
              <p:nvPr>
                <p:custDataLst>
                  <p:tags r:id="rId58"/>
                </p:custDataLst>
              </p:nvPr>
            </p:nvSpPr>
            <p:spPr>
              <a:xfrm flipH="1">
                <a:off x="3866" y="7561"/>
                <a:ext cx="1055" cy="1055"/>
              </a:xfrm>
              <a:prstGeom prst="ellipse">
                <a:avLst/>
              </a:prstGeom>
              <a:gradFill>
                <a:gsLst>
                  <a:gs pos="0">
                    <a:schemeClr val="accent1">
                      <a:lumMod val="60000"/>
                      <a:lumOff val="40000"/>
                    </a:schemeClr>
                  </a:gs>
                  <a:gs pos="100000">
                    <a:schemeClr val="accent1"/>
                  </a:gs>
                </a:gsLst>
                <a:lin ang="8100000" scaled="0"/>
              </a:gradFill>
              <a:ln w="38100">
                <a:noFill/>
              </a:ln>
              <a:effectLst/>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3" name="椭圆 32"/>
              <p:cNvSpPr/>
              <p:nvPr/>
            </p:nvSpPr>
            <p:spPr>
              <a:xfrm>
                <a:off x="3736" y="8640"/>
                <a:ext cx="1218" cy="243"/>
              </a:xfrm>
              <a:prstGeom prst="ellipse">
                <a:avLst/>
              </a:prstGeom>
              <a:solidFill>
                <a:schemeClr val="accent6">
                  <a:lumMod val="75000"/>
                  <a:alpha val="21000"/>
                </a:scheme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pic>
          <p:nvPicPr>
            <p:cNvPr id="34" name="图片 33" descr="故障呼叫"/>
            <p:cNvPicPr>
              <a:picLocks noChangeAspect="1"/>
            </p:cNvPicPr>
            <p:nvPr/>
          </p:nvPicPr>
          <p:blipFill>
            <a:blip r:embed="rId59"/>
            <a:stretch>
              <a:fillRect/>
            </a:stretch>
          </p:blipFill>
          <p:spPr>
            <a:xfrm>
              <a:off x="5553" y="8595"/>
              <a:ext cx="426" cy="366"/>
            </a:xfrm>
            <a:prstGeom prst="rect">
              <a:avLst/>
            </a:prstGeom>
          </p:spPr>
        </p:pic>
      </p:grpSp>
      <p:grpSp>
        <p:nvGrpSpPr>
          <p:cNvPr id="46" name="组合 45"/>
          <p:cNvGrpSpPr/>
          <p:nvPr/>
        </p:nvGrpSpPr>
        <p:grpSpPr>
          <a:xfrm>
            <a:off x="3401060" y="4389755"/>
            <a:ext cx="646430" cy="702206"/>
            <a:chOff x="3736" y="7561"/>
            <a:chExt cx="1218" cy="1322"/>
          </a:xfrm>
        </p:grpSpPr>
        <p:sp>
          <p:nvSpPr>
            <p:cNvPr id="51" name="椭圆 50"/>
            <p:cNvSpPr/>
            <p:nvPr>
              <p:custDataLst>
                <p:tags r:id="rId60"/>
              </p:custDataLst>
            </p:nvPr>
          </p:nvSpPr>
          <p:spPr>
            <a:xfrm flipH="1">
              <a:off x="3866" y="7561"/>
              <a:ext cx="1055" cy="1055"/>
            </a:xfrm>
            <a:prstGeom prst="ellipse">
              <a:avLst/>
            </a:prstGeom>
            <a:gradFill>
              <a:gsLst>
                <a:gs pos="0">
                  <a:schemeClr val="accent1">
                    <a:lumMod val="60000"/>
                    <a:lumOff val="40000"/>
                  </a:schemeClr>
                </a:gs>
                <a:gs pos="100000">
                  <a:schemeClr val="accent1"/>
                </a:gs>
              </a:gsLst>
              <a:lin ang="8100000" scaled="0"/>
            </a:gradFill>
            <a:ln w="38100">
              <a:noFill/>
            </a:ln>
            <a:effectLst/>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53" name="椭圆 52"/>
            <p:cNvSpPr/>
            <p:nvPr/>
          </p:nvSpPr>
          <p:spPr>
            <a:xfrm>
              <a:off x="3736" y="8640"/>
              <a:ext cx="1218" cy="243"/>
            </a:xfrm>
            <a:prstGeom prst="ellipse">
              <a:avLst/>
            </a:prstGeom>
            <a:solidFill>
              <a:schemeClr val="accent6">
                <a:lumMod val="75000"/>
                <a:alpha val="21000"/>
              </a:scheme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pic>
        <p:nvPicPr>
          <p:cNvPr id="54" name="图片 53" descr="36合作、关系"/>
          <p:cNvPicPr>
            <a:picLocks noChangeAspect="1"/>
          </p:cNvPicPr>
          <p:nvPr>
            <p:custDataLst>
              <p:tags r:id="rId61"/>
            </p:custDataLst>
          </p:nvPr>
        </p:nvPicPr>
        <p:blipFill>
          <a:blip r:embed="rId62"/>
          <a:stretch>
            <a:fillRect/>
          </a:stretch>
        </p:blipFill>
        <p:spPr>
          <a:xfrm>
            <a:off x="3604260" y="4510405"/>
            <a:ext cx="318770" cy="318770"/>
          </a:xfrm>
          <a:prstGeom prst="rect">
            <a:avLst/>
          </a:prstGeom>
        </p:spPr>
      </p:pic>
      <p:grpSp>
        <p:nvGrpSpPr>
          <p:cNvPr id="55" name="组合 54"/>
          <p:cNvGrpSpPr/>
          <p:nvPr/>
        </p:nvGrpSpPr>
        <p:grpSpPr>
          <a:xfrm>
            <a:off x="8155940" y="4269105"/>
            <a:ext cx="646430" cy="702206"/>
            <a:chOff x="3736" y="7561"/>
            <a:chExt cx="1218" cy="1322"/>
          </a:xfrm>
        </p:grpSpPr>
        <p:sp>
          <p:nvSpPr>
            <p:cNvPr id="56" name="椭圆 55"/>
            <p:cNvSpPr/>
            <p:nvPr>
              <p:custDataLst>
                <p:tags r:id="rId63"/>
              </p:custDataLst>
            </p:nvPr>
          </p:nvSpPr>
          <p:spPr>
            <a:xfrm flipH="1">
              <a:off x="3866" y="7561"/>
              <a:ext cx="1055" cy="1055"/>
            </a:xfrm>
            <a:prstGeom prst="ellipse">
              <a:avLst/>
            </a:prstGeom>
            <a:gradFill>
              <a:gsLst>
                <a:gs pos="0">
                  <a:schemeClr val="accent1">
                    <a:lumMod val="60000"/>
                    <a:lumOff val="40000"/>
                  </a:schemeClr>
                </a:gs>
                <a:gs pos="100000">
                  <a:schemeClr val="accent1"/>
                </a:gs>
              </a:gsLst>
              <a:lin ang="8100000" scaled="0"/>
            </a:gradFill>
            <a:ln w="38100">
              <a:noFill/>
            </a:ln>
            <a:effectLst/>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58" name="椭圆 57"/>
            <p:cNvSpPr/>
            <p:nvPr/>
          </p:nvSpPr>
          <p:spPr>
            <a:xfrm>
              <a:off x="3736" y="8640"/>
              <a:ext cx="1218" cy="243"/>
            </a:xfrm>
            <a:prstGeom prst="ellipse">
              <a:avLst/>
            </a:prstGeom>
            <a:solidFill>
              <a:schemeClr val="accent6">
                <a:lumMod val="75000"/>
                <a:alpha val="21000"/>
              </a:scheme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pic>
        <p:nvPicPr>
          <p:cNvPr id="60" name="图形 8"/>
          <p:cNvPicPr>
            <a:picLocks noChangeAspect="1"/>
          </p:cNvPicPr>
          <p:nvPr>
            <p:custDataLst>
              <p:tags r:id="rId64"/>
            </p:custDataLst>
          </p:nvPr>
        </p:nvPicPr>
        <p:blipFill>
          <a:blip r:embed="rId65">
            <a:extLst>
              <a:ext uri="{28A0092B-C50C-407E-A947-70E740481C1C}">
                <a14:useLocalDpi xmlns:a14="http://schemas.microsoft.com/office/drawing/2010/main" val="0"/>
              </a:ext>
              <a:ext uri="{96DAC541-7B7A-43D3-8B79-37D633B846F1}">
                <asvg:svgBlip xmlns:asvg="http://schemas.microsoft.com/office/drawing/2016/SVG/main" r:embed="rId66"/>
              </a:ext>
            </a:extLst>
          </a:blip>
          <a:stretch>
            <a:fillRect/>
          </a:stretch>
        </p:blipFill>
        <p:spPr>
          <a:xfrm>
            <a:off x="8376285" y="4389755"/>
            <a:ext cx="281940" cy="281940"/>
          </a:xfrm>
          <a:prstGeom prst="rect">
            <a:avLst/>
          </a:prstGeom>
        </p:spPr>
      </p:pic>
      <p:grpSp>
        <p:nvGrpSpPr>
          <p:cNvPr id="62" name="组合 61"/>
          <p:cNvGrpSpPr/>
          <p:nvPr/>
        </p:nvGrpSpPr>
        <p:grpSpPr>
          <a:xfrm>
            <a:off x="9339580" y="4744085"/>
            <a:ext cx="646430" cy="702206"/>
            <a:chOff x="3736" y="7561"/>
            <a:chExt cx="1218" cy="1322"/>
          </a:xfrm>
        </p:grpSpPr>
        <p:sp>
          <p:nvSpPr>
            <p:cNvPr id="63" name="椭圆 62"/>
            <p:cNvSpPr/>
            <p:nvPr>
              <p:custDataLst>
                <p:tags r:id="rId67"/>
              </p:custDataLst>
            </p:nvPr>
          </p:nvSpPr>
          <p:spPr>
            <a:xfrm flipH="1">
              <a:off x="3866" y="7561"/>
              <a:ext cx="1055" cy="1055"/>
            </a:xfrm>
            <a:prstGeom prst="ellipse">
              <a:avLst/>
            </a:prstGeom>
            <a:gradFill>
              <a:gsLst>
                <a:gs pos="0">
                  <a:schemeClr val="accent1">
                    <a:lumMod val="60000"/>
                    <a:lumOff val="40000"/>
                  </a:schemeClr>
                </a:gs>
                <a:gs pos="100000">
                  <a:schemeClr val="accent1"/>
                </a:gs>
              </a:gsLst>
              <a:lin ang="8100000" scaled="0"/>
            </a:gradFill>
            <a:ln w="38100">
              <a:noFill/>
            </a:ln>
            <a:effectLst/>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64" name="椭圆 63"/>
            <p:cNvSpPr/>
            <p:nvPr/>
          </p:nvSpPr>
          <p:spPr>
            <a:xfrm>
              <a:off x="3736" y="8640"/>
              <a:ext cx="1218" cy="243"/>
            </a:xfrm>
            <a:prstGeom prst="ellipse">
              <a:avLst/>
            </a:prstGeom>
            <a:solidFill>
              <a:schemeClr val="accent6">
                <a:lumMod val="75000"/>
                <a:alpha val="21000"/>
              </a:scheme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pic>
        <p:nvPicPr>
          <p:cNvPr id="65" name="图片 64" descr="系统平台"/>
          <p:cNvPicPr>
            <a:picLocks noChangeAspect="1"/>
          </p:cNvPicPr>
          <p:nvPr>
            <p:custDataLst>
              <p:tags r:id="rId68"/>
            </p:custDataLst>
          </p:nvPr>
        </p:nvPicPr>
        <p:blipFill>
          <a:blip r:embed="rId69"/>
          <a:stretch>
            <a:fillRect/>
          </a:stretch>
        </p:blipFill>
        <p:spPr>
          <a:xfrm>
            <a:off x="9540240" y="4873625"/>
            <a:ext cx="304800" cy="304800"/>
          </a:xfrm>
          <a:prstGeom prst="rect">
            <a:avLst/>
          </a:prstGeom>
        </p:spPr>
      </p:pic>
      <p:grpSp>
        <p:nvGrpSpPr>
          <p:cNvPr id="68" name="组合 67"/>
          <p:cNvGrpSpPr/>
          <p:nvPr/>
        </p:nvGrpSpPr>
        <p:grpSpPr>
          <a:xfrm>
            <a:off x="8639810" y="5374640"/>
            <a:ext cx="646430" cy="702206"/>
            <a:chOff x="3736" y="7561"/>
            <a:chExt cx="1218" cy="1322"/>
          </a:xfrm>
        </p:grpSpPr>
        <p:sp>
          <p:nvSpPr>
            <p:cNvPr id="69" name="椭圆 68"/>
            <p:cNvSpPr/>
            <p:nvPr>
              <p:custDataLst>
                <p:tags r:id="rId70"/>
              </p:custDataLst>
            </p:nvPr>
          </p:nvSpPr>
          <p:spPr>
            <a:xfrm flipH="1">
              <a:off x="3866" y="7561"/>
              <a:ext cx="1055" cy="1055"/>
            </a:xfrm>
            <a:prstGeom prst="ellipse">
              <a:avLst/>
            </a:prstGeom>
            <a:gradFill>
              <a:gsLst>
                <a:gs pos="0">
                  <a:schemeClr val="accent1">
                    <a:lumMod val="60000"/>
                    <a:lumOff val="40000"/>
                  </a:schemeClr>
                </a:gs>
                <a:gs pos="100000">
                  <a:schemeClr val="accent1"/>
                </a:gs>
              </a:gsLst>
              <a:lin ang="8100000" scaled="0"/>
            </a:gradFill>
            <a:ln w="38100">
              <a:noFill/>
            </a:ln>
            <a:effectLst/>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70" name="椭圆 69"/>
            <p:cNvSpPr/>
            <p:nvPr/>
          </p:nvSpPr>
          <p:spPr>
            <a:xfrm>
              <a:off x="3736" y="8640"/>
              <a:ext cx="1218" cy="243"/>
            </a:xfrm>
            <a:prstGeom prst="ellipse">
              <a:avLst/>
            </a:prstGeom>
            <a:solidFill>
              <a:schemeClr val="accent6">
                <a:lumMod val="75000"/>
                <a:alpha val="21000"/>
              </a:scheme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pic>
        <p:nvPicPr>
          <p:cNvPr id="71" name="图片 70" descr="交警-填充"/>
          <p:cNvPicPr>
            <a:picLocks noChangeAspect="1"/>
          </p:cNvPicPr>
          <p:nvPr/>
        </p:nvPicPr>
        <p:blipFill>
          <a:blip r:embed="rId71"/>
          <a:stretch>
            <a:fillRect/>
          </a:stretch>
        </p:blipFill>
        <p:spPr>
          <a:xfrm>
            <a:off x="8854440" y="5535295"/>
            <a:ext cx="281940" cy="281940"/>
          </a:xfrm>
          <a:prstGeom prst="rect">
            <a:avLst/>
          </a:prstGeom>
        </p:spPr>
      </p:pic>
      <p:grpSp>
        <p:nvGrpSpPr>
          <p:cNvPr id="81" name="组合 80"/>
          <p:cNvGrpSpPr/>
          <p:nvPr/>
        </p:nvGrpSpPr>
        <p:grpSpPr>
          <a:xfrm rot="0">
            <a:off x="4502785" y="5716270"/>
            <a:ext cx="646430" cy="702310"/>
            <a:chOff x="3736" y="7561"/>
            <a:chExt cx="1218" cy="1322"/>
          </a:xfrm>
        </p:grpSpPr>
        <p:sp>
          <p:nvSpPr>
            <p:cNvPr id="90" name="椭圆 89"/>
            <p:cNvSpPr/>
            <p:nvPr>
              <p:custDataLst>
                <p:tags r:id="rId72"/>
              </p:custDataLst>
            </p:nvPr>
          </p:nvSpPr>
          <p:spPr>
            <a:xfrm flipH="1">
              <a:off x="3866" y="7561"/>
              <a:ext cx="1055" cy="1055"/>
            </a:xfrm>
            <a:prstGeom prst="ellipse">
              <a:avLst/>
            </a:prstGeom>
            <a:gradFill>
              <a:gsLst>
                <a:gs pos="0">
                  <a:schemeClr val="accent1">
                    <a:lumMod val="60000"/>
                    <a:lumOff val="40000"/>
                  </a:schemeClr>
                </a:gs>
                <a:gs pos="100000">
                  <a:schemeClr val="accent1"/>
                </a:gs>
              </a:gsLst>
              <a:lin ang="8100000" scaled="0"/>
            </a:gradFill>
            <a:ln w="38100">
              <a:noFill/>
            </a:ln>
            <a:effectLst/>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99" name="椭圆 98"/>
            <p:cNvSpPr/>
            <p:nvPr/>
          </p:nvSpPr>
          <p:spPr>
            <a:xfrm>
              <a:off x="3736" y="8640"/>
              <a:ext cx="1218" cy="243"/>
            </a:xfrm>
            <a:prstGeom prst="ellipse">
              <a:avLst/>
            </a:prstGeom>
            <a:solidFill>
              <a:schemeClr val="accent6">
                <a:lumMod val="75000"/>
                <a:alpha val="21000"/>
              </a:scheme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pic>
        <p:nvPicPr>
          <p:cNvPr id="106" name="图片 105" descr="充电桩管理"/>
          <p:cNvPicPr>
            <a:picLocks noChangeAspect="1"/>
          </p:cNvPicPr>
          <p:nvPr/>
        </p:nvPicPr>
        <p:blipFill>
          <a:blip r:embed="rId73"/>
          <a:stretch>
            <a:fillRect/>
          </a:stretch>
        </p:blipFill>
        <p:spPr>
          <a:xfrm>
            <a:off x="4721860" y="5857875"/>
            <a:ext cx="290195" cy="290195"/>
          </a:xfrm>
          <a:prstGeom prst="rect">
            <a:avLst/>
          </a:prstGeom>
        </p:spPr>
      </p:pic>
      <p:grpSp>
        <p:nvGrpSpPr>
          <p:cNvPr id="107" name="组合 106"/>
          <p:cNvGrpSpPr/>
          <p:nvPr/>
        </p:nvGrpSpPr>
        <p:grpSpPr>
          <a:xfrm rot="0">
            <a:off x="7252970" y="5690235"/>
            <a:ext cx="646430" cy="702310"/>
            <a:chOff x="3736" y="7561"/>
            <a:chExt cx="1218" cy="1322"/>
          </a:xfrm>
        </p:grpSpPr>
        <p:sp>
          <p:nvSpPr>
            <p:cNvPr id="108" name="椭圆 107"/>
            <p:cNvSpPr/>
            <p:nvPr>
              <p:custDataLst>
                <p:tags r:id="rId74"/>
              </p:custDataLst>
            </p:nvPr>
          </p:nvSpPr>
          <p:spPr>
            <a:xfrm flipH="1">
              <a:off x="3866" y="7561"/>
              <a:ext cx="1055" cy="1055"/>
            </a:xfrm>
            <a:prstGeom prst="ellipse">
              <a:avLst/>
            </a:prstGeom>
            <a:gradFill>
              <a:gsLst>
                <a:gs pos="0">
                  <a:schemeClr val="accent1">
                    <a:lumMod val="60000"/>
                    <a:lumOff val="40000"/>
                  </a:schemeClr>
                </a:gs>
                <a:gs pos="100000">
                  <a:schemeClr val="accent1"/>
                </a:gs>
              </a:gsLst>
              <a:lin ang="8100000" scaled="0"/>
            </a:gradFill>
            <a:ln w="38100">
              <a:noFill/>
            </a:ln>
            <a:effectLst/>
          </p:spPr>
          <p:style>
            <a:lnRef idx="2">
              <a:srgbClr val="3D41F1">
                <a:shade val="50000"/>
              </a:srgbClr>
            </a:lnRef>
            <a:fillRef idx="1">
              <a:srgbClr val="3D41F1"/>
            </a:fillRef>
            <a:effectRef idx="0">
              <a:srgbClr val="3D41F1"/>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09" name="椭圆 108"/>
            <p:cNvSpPr/>
            <p:nvPr/>
          </p:nvSpPr>
          <p:spPr>
            <a:xfrm>
              <a:off x="3736" y="8640"/>
              <a:ext cx="1218" cy="243"/>
            </a:xfrm>
            <a:prstGeom prst="ellipse">
              <a:avLst/>
            </a:prstGeom>
            <a:solidFill>
              <a:schemeClr val="accent6">
                <a:lumMod val="75000"/>
                <a:alpha val="21000"/>
              </a:scheme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pic>
        <p:nvPicPr>
          <p:cNvPr id="110" name="图片 109" descr="智能科技-icon-新能源汽车"/>
          <p:cNvPicPr>
            <a:picLocks noChangeAspect="1"/>
          </p:cNvPicPr>
          <p:nvPr/>
        </p:nvPicPr>
        <p:blipFill>
          <a:blip r:embed="rId75"/>
          <a:stretch>
            <a:fillRect/>
          </a:stretch>
        </p:blipFill>
        <p:spPr>
          <a:xfrm>
            <a:off x="7455535" y="5798185"/>
            <a:ext cx="346075" cy="297815"/>
          </a:xfrm>
          <a:prstGeom prst="rect">
            <a:avLst/>
          </a:prstGeom>
        </p:spPr>
      </p:pic>
      <p:sp>
        <p:nvSpPr>
          <p:cNvPr id="548" name="任意多边形: 形状 483"/>
          <p:cNvSpPr/>
          <p:nvPr/>
        </p:nvSpPr>
        <p:spPr>
          <a:xfrm>
            <a:off x="5508625" y="4679950"/>
            <a:ext cx="1228725" cy="693420"/>
          </a:xfrm>
          <a:custGeom>
            <a:avLst/>
            <a:gdLst>
              <a:gd name="connsiteX0" fmla="*/ 1186646 w 1860469"/>
              <a:gd name="connsiteY0" fmla="*/ 0 h 1049553"/>
              <a:gd name="connsiteX1" fmla="*/ 1618837 w 1860469"/>
              <a:gd name="connsiteY1" fmla="*/ 422841 h 1049553"/>
              <a:gd name="connsiteX2" fmla="*/ 1860469 w 1860469"/>
              <a:gd name="connsiteY2" fmla="*/ 731656 h 1049553"/>
              <a:gd name="connsiteX3" fmla="*/ 1544317 w 1860469"/>
              <a:gd name="connsiteY3" fmla="*/ 1049553 h 1049553"/>
              <a:gd name="connsiteX4" fmla="*/ 352008 w 1860469"/>
              <a:gd name="connsiteY4" fmla="*/ 1049553 h 1049553"/>
              <a:gd name="connsiteX5" fmla="*/ 0 w 1860469"/>
              <a:gd name="connsiteY5" fmla="*/ 696343 h 1049553"/>
              <a:gd name="connsiteX6" fmla="*/ 352008 w 1860469"/>
              <a:gd name="connsiteY6" fmla="*/ 343131 h 1049553"/>
              <a:gd name="connsiteX7" fmla="*/ 414777 w 1860469"/>
              <a:gd name="connsiteY7" fmla="*/ 348851 h 1049553"/>
              <a:gd name="connsiteX8" fmla="*/ 412325 w 1860469"/>
              <a:gd name="connsiteY8" fmla="*/ 314312 h 1049553"/>
              <a:gd name="connsiteX9" fmla="*/ 655136 w 1860469"/>
              <a:gd name="connsiteY9" fmla="*/ 70653 h 1049553"/>
              <a:gd name="connsiteX10" fmla="*/ 847193 w 1860469"/>
              <a:gd name="connsiteY10" fmla="*/ 165322 h 1049553"/>
              <a:gd name="connsiteX11" fmla="*/ 1186646 w 1860469"/>
              <a:gd name="connsiteY11" fmla="*/ 0 h 1049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60469" h="1049553">
                <a:moveTo>
                  <a:pt x="1186646" y="0"/>
                </a:moveTo>
                <a:cubicBezTo>
                  <a:pt x="1421753" y="0"/>
                  <a:pt x="1612912" y="188344"/>
                  <a:pt x="1618837" y="422841"/>
                </a:cubicBezTo>
                <a:cubicBezTo>
                  <a:pt x="1757465" y="456689"/>
                  <a:pt x="1860469" y="582099"/>
                  <a:pt x="1860469" y="731656"/>
                </a:cubicBezTo>
                <a:cubicBezTo>
                  <a:pt x="1860469" y="907013"/>
                  <a:pt x="1719004" y="1049203"/>
                  <a:pt x="1544317" y="1049553"/>
                </a:cubicBezTo>
                <a:lnTo>
                  <a:pt x="352008" y="1049553"/>
                </a:lnTo>
                <a:cubicBezTo>
                  <a:pt x="157600" y="1049553"/>
                  <a:pt x="0" y="891421"/>
                  <a:pt x="0" y="696343"/>
                </a:cubicBezTo>
                <a:cubicBezTo>
                  <a:pt x="0" y="501265"/>
                  <a:pt x="157600" y="343131"/>
                  <a:pt x="352008" y="343131"/>
                </a:cubicBezTo>
                <a:cubicBezTo>
                  <a:pt x="373434" y="343131"/>
                  <a:pt x="394424" y="345162"/>
                  <a:pt x="414777" y="348851"/>
                </a:cubicBezTo>
                <a:cubicBezTo>
                  <a:pt x="413184" y="337555"/>
                  <a:pt x="412325" y="326045"/>
                  <a:pt x="412325" y="314312"/>
                </a:cubicBezTo>
                <a:cubicBezTo>
                  <a:pt x="412325" y="179740"/>
                  <a:pt x="521044" y="70653"/>
                  <a:pt x="655136" y="70653"/>
                </a:cubicBezTo>
                <a:cubicBezTo>
                  <a:pt x="733293" y="70653"/>
                  <a:pt x="802796" y="107750"/>
                  <a:pt x="847193" y="165322"/>
                </a:cubicBezTo>
                <a:cubicBezTo>
                  <a:pt x="926364" y="64672"/>
                  <a:pt x="1048970" y="0"/>
                  <a:pt x="1186646" y="0"/>
                </a:cubicBezTo>
                <a:close/>
              </a:path>
            </a:pathLst>
          </a:custGeom>
          <a:gradFill flip="none" rotWithShape="1">
            <a:gsLst>
              <a:gs pos="83000">
                <a:schemeClr val="accent1"/>
              </a:gs>
              <a:gs pos="7000">
                <a:schemeClr val="accent1">
                  <a:lumMod val="60000"/>
                  <a:lumOff val="40000"/>
                </a:schemeClr>
              </a:gs>
            </a:gsLst>
            <a:lin ang="2700000" scaled="1"/>
            <a:tileRect/>
          </a:gradFill>
          <a:ln w="12700" cap="flat">
            <a:gradFill>
              <a:gsLst>
                <a:gs pos="93878">
                  <a:schemeClr val="accent1">
                    <a:lumMod val="20000"/>
                    <a:lumOff val="80000"/>
                  </a:schemeClr>
                </a:gs>
                <a:gs pos="0">
                  <a:schemeClr val="accent1">
                    <a:lumMod val="20000"/>
                    <a:lumOff val="80000"/>
                  </a:schemeClr>
                </a:gs>
              </a:gsLst>
              <a:lin ang="5400000" scaled="1"/>
            </a:gradFill>
            <a:prstDash val="solid"/>
            <a:miter/>
          </a:ln>
          <a:effectLst>
            <a:reflection blurRad="139700" stA="93000" endPos="14000" dir="5400000" sy="-100000" algn="bl" rotWithShape="0"/>
          </a:effectLst>
          <a:scene3d>
            <a:camera prst="isometricOffAxis1Right">
              <a:rot lat="480000" lon="21000000" rev="0"/>
            </a:camera>
            <a:lightRig rig="contrasting" dir="t"/>
          </a:scene3d>
          <a:sp3d extrusionH="311150"/>
        </p:spPr>
        <p:txBody>
          <a:bodyPr rtlCol="0" anchor="ctr"/>
          <a:lstStyle/>
          <a:p>
            <a:endParaRPr lang="zh-CN" altLang="en-US" sz="1600" dirty="0">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custDataLst>
              <p:tags r:id="rId76"/>
            </p:custDataLst>
          </p:nvPr>
        </p:nvSpPr>
        <p:spPr>
          <a:xfrm>
            <a:off x="4187298" y="4781246"/>
            <a:ext cx="3951290" cy="646331"/>
          </a:xfrm>
          <a:prstGeom prst="rect">
            <a:avLst/>
          </a:prstGeom>
          <a:noFill/>
          <a:ln w="38100">
            <a:noFill/>
          </a:ln>
          <a:effectLst>
            <a:outerShdw blurRad="411480" dist="123444" dir="5400000" sx="108000" sy="108000" algn="ctr" rotWithShape="0">
              <a:srgbClr val="1AB682">
                <a:alpha val="40000"/>
              </a:srgbClr>
            </a:outerShdw>
          </a:effectLst>
        </p:spPr>
        <p:style>
          <a:lnRef idx="2">
            <a:srgbClr val="3D41F1">
              <a:shade val="50000"/>
            </a:srgbClr>
          </a:lnRef>
          <a:fillRef idx="1">
            <a:srgbClr val="3D41F1"/>
          </a:fillRef>
          <a:effectRef idx="0">
            <a:srgbClr val="3D41F1"/>
          </a:effectRef>
          <a:fontRef idx="minor">
            <a:srgbClr val="FFFFFF"/>
          </a:fontRef>
        </p:style>
        <p:txBody>
          <a:bodyPr lIns="98755" tIns="49378" rIns="98755" bIns="49378" rtlCol="0" anchor="ctr"/>
          <a:lstStyle>
            <a:defPPr>
              <a:defRPr lang="zh-CN"/>
            </a:defPPr>
            <a:lvl1pPr algn="ctr">
              <a:defRPr sz="1945">
                <a:solidFill>
                  <a:srgbClr val="FFFFFF"/>
                </a:solidFill>
                <a:effectLst>
                  <a:outerShdw blurRad="137160" dist="41148" dir="2699997" algn="tl">
                    <a:srgbClr val="000000">
                      <a:alpha val="40000"/>
                    </a:srgbClr>
                  </a:outerShdw>
                </a:effectLst>
                <a:latin typeface="思源黑体 CN Bold" panose="020B0800000000000000" pitchFamily="34" charset="-122"/>
                <a:ea typeface="思源黑体 CN Bold" panose="020B0800000000000000" pitchFamily="34" charset="-122"/>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r>
              <a:rPr lang="zh-CN" altLang="en-US" sz="1200" b="1" dirty="0">
                <a:solidFill>
                  <a:schemeClr val="bg1"/>
                </a:solidFill>
                <a:effectLst/>
                <a:latin typeface="微软雅黑" panose="020B0503020204020204" charset="-122"/>
                <a:ea typeface="微软雅黑" panose="020B0503020204020204" charset="-122"/>
                <a:cs typeface="微软雅黑" panose="020B0503020204020204" charset="-122"/>
                <a:sym typeface="+mn-ea"/>
              </a:rPr>
              <a:t>快修连锁中心</a:t>
            </a:r>
            <a:endParaRPr lang="zh-CN" altLang="en-US" sz="1200" b="1" dirty="0">
              <a:solidFill>
                <a:schemeClr val="bg1"/>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29" name="文本框 28"/>
          <p:cNvSpPr txBox="1"/>
          <p:nvPr>
            <p:custDataLst>
              <p:tags r:id="rId77"/>
            </p:custDataLst>
          </p:nvPr>
        </p:nvSpPr>
        <p:spPr>
          <a:xfrm>
            <a:off x="1092200" y="1405255"/>
            <a:ext cx="1271905" cy="252730"/>
          </a:xfrm>
          <a:prstGeom prst="rect">
            <a:avLst/>
          </a:prstGeom>
          <a:noFill/>
        </p:spPr>
        <p:txBody>
          <a:bodyPr wrap="square">
            <a:spAutoFit/>
          </a:bodyPr>
          <a:lstStyle/>
          <a:p>
            <a:pPr algn="ctr"/>
            <a:r>
              <a:rPr lang="zh-CN" sz="1050" dirty="0">
                <a:solidFill>
                  <a:srgbClr val="FFFFFF"/>
                </a:solidFill>
                <a:latin typeface="微软雅黑" panose="020B0503020204020204" charset="-122"/>
                <a:ea typeface="微软雅黑" panose="020B0503020204020204" charset="-122"/>
                <a:cs typeface="微软雅黑" panose="020B0503020204020204" charset="-122"/>
              </a:rPr>
              <a:t>高品质的</a:t>
            </a:r>
            <a:r>
              <a:rPr lang="zh-CN" altLang="en-US" sz="1050" dirty="0">
                <a:solidFill>
                  <a:srgbClr val="FFFFFF"/>
                </a:solidFill>
                <a:latin typeface="微软雅黑" panose="020B0503020204020204" charset="-122"/>
                <a:ea typeface="微软雅黑" panose="020B0503020204020204" charset="-122"/>
                <a:cs typeface="微软雅黑" panose="020B0503020204020204" charset="-122"/>
              </a:rPr>
              <a:t>服务标准</a:t>
            </a:r>
            <a:endParaRPr lang="zh-CN" altLang="en-US" sz="105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1" name="文本框 30"/>
          <p:cNvSpPr txBox="1"/>
          <p:nvPr>
            <p:custDataLst>
              <p:tags r:id="rId78"/>
            </p:custDataLst>
          </p:nvPr>
        </p:nvSpPr>
        <p:spPr>
          <a:xfrm>
            <a:off x="984885" y="1856105"/>
            <a:ext cx="1430020" cy="252730"/>
          </a:xfrm>
          <a:prstGeom prst="rect">
            <a:avLst/>
          </a:prstGeom>
          <a:noFill/>
        </p:spPr>
        <p:txBody>
          <a:bodyPr wrap="square">
            <a:spAutoFit/>
          </a:bodyPr>
          <a:lstStyle/>
          <a:p>
            <a:pPr algn="ctr"/>
            <a:r>
              <a:rPr lang="zh-CN" sz="1050" dirty="0">
                <a:solidFill>
                  <a:srgbClr val="FFFFFF"/>
                </a:solidFill>
                <a:latin typeface="微软雅黑" panose="020B0503020204020204" charset="-122"/>
                <a:ea typeface="微软雅黑" panose="020B0503020204020204" charset="-122"/>
                <a:cs typeface="微软雅黑" panose="020B0503020204020204" charset="-122"/>
              </a:rPr>
              <a:t>低于市场的价格</a:t>
            </a:r>
            <a:endParaRPr lang="zh-CN" sz="105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custDataLst>
              <p:tags r:id="rId79"/>
            </p:custDataLst>
          </p:nvPr>
        </p:nvSpPr>
        <p:spPr>
          <a:xfrm>
            <a:off x="1006475" y="2327275"/>
            <a:ext cx="1408430" cy="252730"/>
          </a:xfrm>
          <a:prstGeom prst="rect">
            <a:avLst/>
          </a:prstGeom>
          <a:noFill/>
        </p:spPr>
        <p:txBody>
          <a:bodyPr wrap="square">
            <a:spAutoFit/>
          </a:bodyPr>
          <a:lstStyle/>
          <a:p>
            <a:pPr algn="ctr"/>
            <a:r>
              <a:rPr lang="zh-CN" altLang="en-US" sz="1050" dirty="0">
                <a:solidFill>
                  <a:srgbClr val="FFFFFF"/>
                </a:solidFill>
                <a:latin typeface="微软雅黑" panose="020B0503020204020204" charset="-122"/>
                <a:ea typeface="微软雅黑" panose="020B0503020204020204" charset="-122"/>
                <a:cs typeface="微软雅黑" panose="020B0503020204020204" charset="-122"/>
              </a:rPr>
              <a:t>服务网点布局合理</a:t>
            </a:r>
            <a:endParaRPr lang="zh-CN" altLang="en-US" sz="105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5" name="文本框 34"/>
          <p:cNvSpPr txBox="1"/>
          <p:nvPr>
            <p:custDataLst>
              <p:tags r:id="rId80"/>
            </p:custDataLst>
          </p:nvPr>
        </p:nvSpPr>
        <p:spPr>
          <a:xfrm>
            <a:off x="1045845" y="2789555"/>
            <a:ext cx="1409065" cy="252730"/>
          </a:xfrm>
          <a:prstGeom prst="rect">
            <a:avLst/>
          </a:prstGeom>
          <a:noFill/>
        </p:spPr>
        <p:txBody>
          <a:bodyPr wrap="square">
            <a:spAutoFit/>
          </a:bodyPr>
          <a:lstStyle/>
          <a:p>
            <a:pPr algn="ctr"/>
            <a:r>
              <a:rPr lang="zh-CN" sz="1050" dirty="0">
                <a:solidFill>
                  <a:srgbClr val="FFFFFF"/>
                </a:solidFill>
                <a:latin typeface="微软雅黑" panose="020B0503020204020204" charset="-122"/>
                <a:ea typeface="微软雅黑" panose="020B0503020204020204" charset="-122"/>
                <a:cs typeface="微软雅黑" panose="020B0503020204020204" charset="-122"/>
              </a:rPr>
              <a:t>稳定长远的合作关系</a:t>
            </a:r>
            <a:endParaRPr lang="zh-CN" sz="105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7" name="文本框 36"/>
          <p:cNvSpPr txBox="1"/>
          <p:nvPr>
            <p:custDataLst>
              <p:tags r:id="rId81"/>
            </p:custDataLst>
          </p:nvPr>
        </p:nvSpPr>
        <p:spPr>
          <a:xfrm>
            <a:off x="9968865" y="1460500"/>
            <a:ext cx="1182370" cy="252730"/>
          </a:xfrm>
          <a:prstGeom prst="rect">
            <a:avLst/>
          </a:prstGeom>
          <a:noFill/>
        </p:spPr>
        <p:txBody>
          <a:bodyPr wrap="square">
            <a:spAutoFit/>
          </a:bodyPr>
          <a:lstStyle/>
          <a:p>
            <a:pPr algn="ctr"/>
            <a:r>
              <a:rPr lang="zh-CN" altLang="en-US" sz="1050" dirty="0">
                <a:solidFill>
                  <a:srgbClr val="FFFFFF"/>
                </a:solidFill>
                <a:latin typeface="微软雅黑" panose="020B0503020204020204" charset="-122"/>
                <a:ea typeface="微软雅黑" panose="020B0503020204020204" charset="-122"/>
                <a:cs typeface="微软雅黑" panose="020B0503020204020204" charset="-122"/>
              </a:rPr>
              <a:t>精准的目标客群</a:t>
            </a:r>
            <a:endParaRPr lang="zh-CN" altLang="en-US" sz="105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9" name="文本框 38"/>
          <p:cNvSpPr txBox="1"/>
          <p:nvPr>
            <p:custDataLst>
              <p:tags r:id="rId82"/>
            </p:custDataLst>
          </p:nvPr>
        </p:nvSpPr>
        <p:spPr>
          <a:xfrm>
            <a:off x="9855200" y="1909445"/>
            <a:ext cx="1398270" cy="252730"/>
          </a:xfrm>
          <a:prstGeom prst="rect">
            <a:avLst/>
          </a:prstGeom>
          <a:noFill/>
        </p:spPr>
        <p:txBody>
          <a:bodyPr wrap="square">
            <a:spAutoFit/>
          </a:bodyPr>
          <a:lstStyle/>
          <a:p>
            <a:pPr algn="ctr"/>
            <a:r>
              <a:rPr lang="zh-CN" altLang="en-US" sz="1050" dirty="0">
                <a:solidFill>
                  <a:srgbClr val="FFFFFF"/>
                </a:solidFill>
                <a:latin typeface="微软雅黑" panose="020B0503020204020204" charset="-122"/>
                <a:ea typeface="微软雅黑" panose="020B0503020204020204" charset="-122"/>
                <a:cs typeface="微软雅黑" panose="020B0503020204020204" charset="-122"/>
              </a:rPr>
              <a:t>精准的产品服务</a:t>
            </a:r>
            <a:endParaRPr lang="zh-CN" altLang="en-US" sz="105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1" name="文本框 40"/>
          <p:cNvSpPr txBox="1"/>
          <p:nvPr>
            <p:custDataLst>
              <p:tags r:id="rId83"/>
            </p:custDataLst>
          </p:nvPr>
        </p:nvSpPr>
        <p:spPr>
          <a:xfrm>
            <a:off x="9855200" y="2361565"/>
            <a:ext cx="1296670" cy="252730"/>
          </a:xfrm>
          <a:prstGeom prst="rect">
            <a:avLst/>
          </a:prstGeom>
          <a:noFill/>
        </p:spPr>
        <p:txBody>
          <a:bodyPr wrap="square">
            <a:spAutoFit/>
          </a:bodyPr>
          <a:lstStyle/>
          <a:p>
            <a:pPr algn="ctr"/>
            <a:r>
              <a:rPr lang="zh-CN" altLang="en-US" sz="1050" dirty="0">
                <a:solidFill>
                  <a:srgbClr val="FFFFFF"/>
                </a:solidFill>
                <a:latin typeface="微软雅黑" panose="020B0503020204020204" charset="-122"/>
                <a:ea typeface="微软雅黑" panose="020B0503020204020204" charset="-122"/>
                <a:cs typeface="微软雅黑" panose="020B0503020204020204" charset="-122"/>
              </a:rPr>
              <a:t>精准的渠道投放</a:t>
            </a:r>
            <a:endParaRPr lang="zh-CN" altLang="en-US" sz="105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3" name="文本框 42"/>
          <p:cNvSpPr txBox="1"/>
          <p:nvPr>
            <p:custDataLst>
              <p:tags r:id="rId84"/>
            </p:custDataLst>
          </p:nvPr>
        </p:nvSpPr>
        <p:spPr>
          <a:xfrm>
            <a:off x="9968865" y="2814320"/>
            <a:ext cx="1076325" cy="252730"/>
          </a:xfrm>
          <a:prstGeom prst="rect">
            <a:avLst/>
          </a:prstGeom>
          <a:noFill/>
        </p:spPr>
        <p:txBody>
          <a:bodyPr wrap="square">
            <a:spAutoFit/>
          </a:bodyPr>
          <a:lstStyle/>
          <a:p>
            <a:pPr algn="ctr"/>
            <a:r>
              <a:rPr lang="zh-CN" altLang="en-US" sz="1050" dirty="0">
                <a:solidFill>
                  <a:srgbClr val="FFFFFF"/>
                </a:solidFill>
                <a:latin typeface="微软雅黑" panose="020B0503020204020204" charset="-122"/>
                <a:ea typeface="微软雅黑" panose="020B0503020204020204" charset="-122"/>
                <a:cs typeface="微软雅黑" panose="020B0503020204020204" charset="-122"/>
              </a:rPr>
              <a:t>营销效果提升</a:t>
            </a:r>
            <a:endParaRPr lang="zh-CN" altLang="en-US" sz="105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9" name="矩形 48"/>
          <p:cNvSpPr/>
          <p:nvPr/>
        </p:nvSpPr>
        <p:spPr>
          <a:xfrm>
            <a:off x="5198745" y="2146935"/>
            <a:ext cx="1969770" cy="519430"/>
          </a:xfrm>
          <a:prstGeom prst="rect">
            <a:avLst/>
          </a:prstGeom>
          <a:solidFill>
            <a:schemeClr val="bg1">
              <a:alpha val="7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4" name="文本框 13"/>
          <p:cNvSpPr txBox="1"/>
          <p:nvPr>
            <p:custDataLst>
              <p:tags r:id="rId85"/>
            </p:custDataLst>
          </p:nvPr>
        </p:nvSpPr>
        <p:spPr>
          <a:xfrm>
            <a:off x="5237163" y="2003425"/>
            <a:ext cx="1892935" cy="790575"/>
          </a:xfrm>
          <a:prstGeom prst="rect">
            <a:avLst/>
          </a:prstGeom>
          <a:noFill/>
          <a:ln w="38100">
            <a:noFill/>
          </a:ln>
          <a:effectLst>
            <a:outerShdw blurRad="411480" dist="123444" dir="5400000" sx="108000" sy="108000" algn="ctr" rotWithShape="0">
              <a:srgbClr val="1AB682">
                <a:alpha val="40000"/>
              </a:srgbClr>
            </a:outerShdw>
          </a:effectLst>
        </p:spPr>
        <p:style>
          <a:lnRef idx="2">
            <a:srgbClr val="3D41F1">
              <a:shade val="50000"/>
            </a:srgbClr>
          </a:lnRef>
          <a:fillRef idx="1">
            <a:srgbClr val="3D41F1"/>
          </a:fillRef>
          <a:effectRef idx="0">
            <a:srgbClr val="3D41F1"/>
          </a:effectRef>
          <a:fontRef idx="minor">
            <a:srgbClr val="FFFFFF"/>
          </a:fontRef>
        </p:style>
        <p:txBody>
          <a:bodyPr lIns="98755" tIns="49378" rIns="98755" bIns="49378" rtlCol="0" anchor="ctr"/>
          <a:lstStyle>
            <a:defPPr>
              <a:defRPr lang="zh-CN"/>
            </a:defPPr>
            <a:lvl1pPr algn="ctr">
              <a:defRPr sz="1945">
                <a:solidFill>
                  <a:srgbClr val="FFFFFF"/>
                </a:solidFill>
                <a:effectLst>
                  <a:outerShdw blurRad="137160" dist="41148" dir="2699997" algn="tl">
                    <a:srgbClr val="000000">
                      <a:alpha val="40000"/>
                    </a:srgbClr>
                  </a:outerShdw>
                </a:effectLst>
                <a:latin typeface="思源黑体 CN Bold" panose="020B0800000000000000" pitchFamily="34" charset="-122"/>
                <a:ea typeface="思源黑体 CN Bold" panose="020B0800000000000000" pitchFamily="34" charset="-122"/>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vl6pPr>
              <a:defRPr>
                <a:solidFill>
                  <a:srgbClr val="FFFFFF"/>
                </a:solidFill>
              </a:defRPr>
            </a:lvl6pPr>
            <a:lvl7pPr>
              <a:defRPr>
                <a:solidFill>
                  <a:srgbClr val="FFFFFF"/>
                </a:solidFill>
              </a:defRPr>
            </a:lvl7pPr>
            <a:lvl8pPr>
              <a:defRPr>
                <a:solidFill>
                  <a:srgbClr val="FFFFFF"/>
                </a:solidFill>
              </a:defRPr>
            </a:lvl8pPr>
            <a:lvl9pPr>
              <a:defRPr>
                <a:solidFill>
                  <a:srgbClr val="FFFFFF"/>
                </a:solidFill>
              </a:defRPr>
            </a:lvl9pPr>
          </a:lstStyle>
          <a:p>
            <a:r>
              <a:rPr lang="zh-CN" altLang="en-US" sz="1400" b="1" dirty="0">
                <a:gradFill>
                  <a:gsLst>
                    <a:gs pos="0">
                      <a:schemeClr val="accent5">
                        <a:lumMod val="60000"/>
                        <a:lumOff val="40000"/>
                      </a:schemeClr>
                    </a:gs>
                    <a:gs pos="100000">
                      <a:schemeClr val="accent5"/>
                    </a:gs>
                  </a:gsLst>
                  <a:lin ang="5400000" scaled="0"/>
                </a:gradFill>
                <a:effectLst/>
                <a:latin typeface="微软雅黑" panose="020B0503020204020204" charset="-122"/>
                <a:ea typeface="微软雅黑" panose="020B0503020204020204" charset="-122"/>
                <a:cs typeface="微软雅黑" panose="020B0503020204020204" charset="-122"/>
              </a:rPr>
              <a:t>以客户为中心</a:t>
            </a:r>
            <a:endParaRPr lang="zh-CN" altLang="en-US" sz="1400" b="1" dirty="0">
              <a:gradFill>
                <a:gsLst>
                  <a:gs pos="0">
                    <a:schemeClr val="accent5">
                      <a:lumMod val="60000"/>
                      <a:lumOff val="40000"/>
                    </a:schemeClr>
                  </a:gs>
                  <a:gs pos="100000">
                    <a:schemeClr val="accent5"/>
                  </a:gs>
                </a:gsLst>
                <a:lin ang="5400000" scaled="0"/>
              </a:gradFill>
              <a:effectLst/>
              <a:latin typeface="微软雅黑" panose="020B0503020204020204" charset="-122"/>
              <a:ea typeface="微软雅黑" panose="020B0503020204020204" charset="-122"/>
              <a:cs typeface="微软雅黑" panose="020B0503020204020204" charset="-122"/>
            </a:endParaRPr>
          </a:p>
          <a:p>
            <a:r>
              <a:rPr lang="zh-CN" altLang="en-US" sz="1400" b="1" dirty="0">
                <a:gradFill>
                  <a:gsLst>
                    <a:gs pos="0">
                      <a:schemeClr val="accent5">
                        <a:lumMod val="60000"/>
                        <a:lumOff val="40000"/>
                      </a:schemeClr>
                    </a:gs>
                    <a:gs pos="100000">
                      <a:schemeClr val="accent5"/>
                    </a:gs>
                  </a:gsLst>
                  <a:lin ang="5400000" scaled="0"/>
                </a:gradFill>
                <a:effectLst/>
                <a:latin typeface="微软雅黑" panose="020B0503020204020204" charset="-122"/>
                <a:ea typeface="微软雅黑" panose="020B0503020204020204" charset="-122"/>
                <a:cs typeface="微软雅黑" panose="020B0503020204020204" charset="-122"/>
              </a:rPr>
              <a:t>打造差异化竞争优势</a:t>
            </a:r>
            <a:endParaRPr lang="zh-CN" altLang="en-US" sz="1400" b="1" dirty="0">
              <a:gradFill>
                <a:gsLst>
                  <a:gs pos="0">
                    <a:schemeClr val="accent5">
                      <a:lumMod val="60000"/>
                      <a:lumOff val="40000"/>
                    </a:schemeClr>
                  </a:gs>
                  <a:gs pos="100000">
                    <a:schemeClr val="accent5"/>
                  </a:gs>
                </a:gsLst>
                <a:lin ang="5400000" scaled="0"/>
              </a:gradFill>
              <a:effectLst/>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销售团队盈利驱动数模型</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28" name="任意多边形: 形状 471"/>
          <p:cNvSpPr/>
          <p:nvPr/>
        </p:nvSpPr>
        <p:spPr>
          <a:xfrm>
            <a:off x="1340485" y="1614805"/>
            <a:ext cx="9665335" cy="5454015"/>
          </a:xfrm>
          <a:custGeom>
            <a:avLst/>
            <a:gdLst>
              <a:gd name="connsiteX0" fmla="*/ 1964370 w 4538260"/>
              <a:gd name="connsiteY0" fmla="*/ 793413 h 4981567"/>
              <a:gd name="connsiteX1" fmla="*/ 2573890 w 4538260"/>
              <a:gd name="connsiteY1" fmla="*/ 793413 h 4981567"/>
              <a:gd name="connsiteX2" fmla="*/ 4538260 w 4538260"/>
              <a:gd name="connsiteY2" fmla="*/ 4981567 h 4981567"/>
              <a:gd name="connsiteX3" fmla="*/ 0 w 4538260"/>
              <a:gd name="connsiteY3" fmla="*/ 4981567 h 4981567"/>
              <a:gd name="connsiteX4" fmla="*/ 1964370 w 4538260"/>
              <a:gd name="connsiteY4" fmla="*/ 793413 h 4981567"/>
              <a:gd name="connsiteX5" fmla="*/ 2265980 w 4538260"/>
              <a:gd name="connsiteY5" fmla="*/ 0 h 4981567"/>
              <a:gd name="connsiteX6" fmla="*/ 2844799 w 4538260"/>
              <a:gd name="connsiteY6" fmla="*/ 793412 h 4981567"/>
              <a:gd name="connsiteX7" fmla="*/ 1687160 w 4538260"/>
              <a:gd name="connsiteY7" fmla="*/ 793412 h 4981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38260" h="4981567">
                <a:moveTo>
                  <a:pt x="1964370" y="793413"/>
                </a:moveTo>
                <a:lnTo>
                  <a:pt x="2573890" y="793413"/>
                </a:lnTo>
                <a:cubicBezTo>
                  <a:pt x="2604566" y="2305579"/>
                  <a:pt x="3215812" y="3817744"/>
                  <a:pt x="4538260" y="4981567"/>
                </a:cubicBezTo>
                <a:lnTo>
                  <a:pt x="0" y="4981567"/>
                </a:lnTo>
                <a:cubicBezTo>
                  <a:pt x="1627247" y="3904830"/>
                  <a:pt x="1817580" y="2334607"/>
                  <a:pt x="1964370" y="793413"/>
                </a:cubicBezTo>
                <a:close/>
                <a:moveTo>
                  <a:pt x="2265980" y="0"/>
                </a:moveTo>
                <a:lnTo>
                  <a:pt x="2844799" y="793412"/>
                </a:lnTo>
                <a:lnTo>
                  <a:pt x="1687160" y="793412"/>
                </a:lnTo>
                <a:close/>
              </a:path>
            </a:pathLst>
          </a:custGeom>
          <a:solidFill>
            <a:schemeClr val="accent1">
              <a:lumMod val="20000"/>
              <a:lumOff val="80000"/>
            </a:schemeClr>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230" name="矩形: 圆角 32"/>
          <p:cNvSpPr/>
          <p:nvPr/>
        </p:nvSpPr>
        <p:spPr>
          <a:xfrm flipH="1">
            <a:off x="8048625" y="3343910"/>
            <a:ext cx="1536065" cy="364490"/>
          </a:xfrm>
          <a:prstGeom prst="roundRect">
            <a:avLst>
              <a:gd name="adj" fmla="val 50000"/>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31" name="矩形: 圆角 34"/>
          <p:cNvSpPr/>
          <p:nvPr/>
        </p:nvSpPr>
        <p:spPr>
          <a:xfrm flipH="1">
            <a:off x="8374380" y="3894455"/>
            <a:ext cx="1897380" cy="364490"/>
          </a:xfrm>
          <a:prstGeom prst="roundRect">
            <a:avLst>
              <a:gd name="adj" fmla="val 50000"/>
            </a:avLst>
          </a:prstGeom>
          <a:solidFill>
            <a:schemeClr val="accent5">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32" name="矩形: 圆角 35"/>
          <p:cNvSpPr/>
          <p:nvPr/>
        </p:nvSpPr>
        <p:spPr>
          <a:xfrm flipH="1">
            <a:off x="8883650" y="4463415"/>
            <a:ext cx="1536065" cy="364490"/>
          </a:xfrm>
          <a:prstGeom prst="roundRect">
            <a:avLst>
              <a:gd name="adj" fmla="val 50000"/>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33" name="矩形: 圆角 36"/>
          <p:cNvSpPr/>
          <p:nvPr/>
        </p:nvSpPr>
        <p:spPr>
          <a:xfrm flipH="1">
            <a:off x="9404350" y="5106035"/>
            <a:ext cx="1536065" cy="364490"/>
          </a:xfrm>
          <a:prstGeom prst="roundRect">
            <a:avLst>
              <a:gd name="adj" fmla="val 50000"/>
            </a:avLst>
          </a:prstGeom>
          <a:solidFill>
            <a:schemeClr val="accent5">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34" name="矩形: 圆角 37"/>
          <p:cNvSpPr/>
          <p:nvPr/>
        </p:nvSpPr>
        <p:spPr>
          <a:xfrm flipH="1">
            <a:off x="9825990" y="5669280"/>
            <a:ext cx="1536065" cy="364490"/>
          </a:xfrm>
          <a:prstGeom prst="roundRect">
            <a:avLst>
              <a:gd name="adj" fmla="val 50000"/>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35" name="矩形: 圆角 38"/>
          <p:cNvSpPr/>
          <p:nvPr/>
        </p:nvSpPr>
        <p:spPr>
          <a:xfrm flipH="1">
            <a:off x="7353300" y="2734945"/>
            <a:ext cx="1536065" cy="364490"/>
          </a:xfrm>
          <a:prstGeom prst="roundRect">
            <a:avLst>
              <a:gd name="adj" fmla="val 50000"/>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37" name="矩形: 圆角 473"/>
          <p:cNvSpPr/>
          <p:nvPr/>
        </p:nvSpPr>
        <p:spPr>
          <a:xfrm>
            <a:off x="2893378" y="3288030"/>
            <a:ext cx="1366520" cy="364490"/>
          </a:xfrm>
          <a:prstGeom prst="roundRect">
            <a:avLst>
              <a:gd name="adj" fmla="val 50000"/>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38" name="矩形: 圆角 474"/>
          <p:cNvSpPr/>
          <p:nvPr/>
        </p:nvSpPr>
        <p:spPr>
          <a:xfrm>
            <a:off x="2568258" y="3858895"/>
            <a:ext cx="1536065" cy="364490"/>
          </a:xfrm>
          <a:prstGeom prst="roundRect">
            <a:avLst>
              <a:gd name="adj" fmla="val 50000"/>
            </a:avLst>
          </a:prstGeom>
          <a:solidFill>
            <a:schemeClr val="accent5">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39" name="矩形: 圆角 475"/>
          <p:cNvSpPr/>
          <p:nvPr/>
        </p:nvSpPr>
        <p:spPr>
          <a:xfrm>
            <a:off x="2013585" y="4463415"/>
            <a:ext cx="1351280" cy="364490"/>
          </a:xfrm>
          <a:prstGeom prst="roundRect">
            <a:avLst>
              <a:gd name="adj" fmla="val 50000"/>
            </a:avLst>
          </a:prstGeom>
          <a:solidFill>
            <a:schemeClr val="accent5">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40" name="矩形: 圆角 476"/>
          <p:cNvSpPr/>
          <p:nvPr/>
        </p:nvSpPr>
        <p:spPr>
          <a:xfrm>
            <a:off x="1391285" y="5106035"/>
            <a:ext cx="1536065" cy="364490"/>
          </a:xfrm>
          <a:prstGeom prst="roundRect">
            <a:avLst>
              <a:gd name="adj" fmla="val 50000"/>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41" name="矩形: 圆角 477"/>
          <p:cNvSpPr/>
          <p:nvPr/>
        </p:nvSpPr>
        <p:spPr>
          <a:xfrm>
            <a:off x="772795" y="5669280"/>
            <a:ext cx="1637665" cy="364490"/>
          </a:xfrm>
          <a:prstGeom prst="roundRect">
            <a:avLst>
              <a:gd name="adj" fmla="val 50000"/>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42" name="矩形: 圆角 472"/>
          <p:cNvSpPr/>
          <p:nvPr/>
        </p:nvSpPr>
        <p:spPr>
          <a:xfrm>
            <a:off x="3579495" y="2734945"/>
            <a:ext cx="1536065" cy="364490"/>
          </a:xfrm>
          <a:prstGeom prst="roundRect">
            <a:avLst>
              <a:gd name="adj" fmla="val 50000"/>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48" name="文本框 247"/>
          <p:cNvSpPr txBox="1"/>
          <p:nvPr/>
        </p:nvSpPr>
        <p:spPr>
          <a:xfrm>
            <a:off x="4961890" y="901065"/>
            <a:ext cx="2371725" cy="721995"/>
          </a:xfrm>
          <a:prstGeom prst="rect">
            <a:avLst/>
          </a:prstGeom>
          <a:noFill/>
        </p:spPr>
        <p:txBody>
          <a:bodyPr wrap="square" rtlCol="0">
            <a:spAutoFit/>
          </a:bodyPr>
          <a:lstStyle>
            <a:defPPr>
              <a:defRPr lang="zh-CN"/>
            </a:defPPr>
          </a:lstStyle>
          <a:p>
            <a:pPr algn="ctr"/>
            <a:r>
              <a:rPr lang="zh-CN" altLang="en-US" sz="1600" dirty="0">
                <a:solidFill>
                  <a:schemeClr val="accent1"/>
                </a:solidFill>
                <a:latin typeface="微软雅黑" panose="020B0503020204020204" charset="-122"/>
                <a:ea typeface="微软雅黑" panose="020B0503020204020204" charset="-122"/>
                <a:cs typeface="微软雅黑" panose="020B0503020204020204" charset="-122"/>
              </a:rPr>
              <a:t>营业额</a:t>
            </a:r>
            <a:endParaRPr lang="en-US" altLang="zh-CN" sz="1600" dirty="0">
              <a:solidFill>
                <a:schemeClr val="accent1"/>
              </a:solidFill>
              <a:latin typeface="微软雅黑" panose="020B0503020204020204" charset="-122"/>
              <a:ea typeface="微软雅黑" panose="020B0503020204020204" charset="-122"/>
              <a:cs typeface="微软雅黑" panose="020B0503020204020204" charset="-122"/>
            </a:endParaRPr>
          </a:p>
          <a:p>
            <a:pPr algn="ctr"/>
            <a:r>
              <a:rPr lang="en-US" altLang="zh-CN" sz="2500" b="1" dirty="0">
                <a:solidFill>
                  <a:schemeClr val="accent1"/>
                </a:solidFill>
                <a:latin typeface="微软雅黑" panose="020B0503020204020204" charset="-122"/>
                <a:ea typeface="微软雅黑" panose="020B0503020204020204" charset="-122"/>
                <a:cs typeface="微软雅黑" panose="020B0503020204020204" charset="-122"/>
              </a:rPr>
              <a:t>10,000,000</a:t>
            </a:r>
            <a:endParaRPr lang="en-US" altLang="zh-CN" sz="25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49" name="任意多边形: 形状 6"/>
          <p:cNvSpPr/>
          <p:nvPr/>
        </p:nvSpPr>
        <p:spPr>
          <a:xfrm>
            <a:off x="3448685" y="1765300"/>
            <a:ext cx="5398135" cy="5303520"/>
          </a:xfrm>
          <a:custGeom>
            <a:avLst/>
            <a:gdLst>
              <a:gd name="connsiteX0" fmla="*/ 1964370 w 4538260"/>
              <a:gd name="connsiteY0" fmla="*/ 793413 h 4981567"/>
              <a:gd name="connsiteX1" fmla="*/ 2573890 w 4538260"/>
              <a:gd name="connsiteY1" fmla="*/ 793413 h 4981567"/>
              <a:gd name="connsiteX2" fmla="*/ 4538260 w 4538260"/>
              <a:gd name="connsiteY2" fmla="*/ 4981567 h 4981567"/>
              <a:gd name="connsiteX3" fmla="*/ 0 w 4538260"/>
              <a:gd name="connsiteY3" fmla="*/ 4981567 h 4981567"/>
              <a:gd name="connsiteX4" fmla="*/ 1964370 w 4538260"/>
              <a:gd name="connsiteY4" fmla="*/ 793413 h 4981567"/>
              <a:gd name="connsiteX5" fmla="*/ 2265980 w 4538260"/>
              <a:gd name="connsiteY5" fmla="*/ 0 h 4981567"/>
              <a:gd name="connsiteX6" fmla="*/ 2844799 w 4538260"/>
              <a:gd name="connsiteY6" fmla="*/ 793412 h 4981567"/>
              <a:gd name="connsiteX7" fmla="*/ 1687160 w 4538260"/>
              <a:gd name="connsiteY7" fmla="*/ 793412 h 4981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38260" h="4981567">
                <a:moveTo>
                  <a:pt x="1964370" y="793413"/>
                </a:moveTo>
                <a:lnTo>
                  <a:pt x="2573890" y="793413"/>
                </a:lnTo>
                <a:cubicBezTo>
                  <a:pt x="2604566" y="2305579"/>
                  <a:pt x="3215812" y="3817744"/>
                  <a:pt x="4538260" y="4981567"/>
                </a:cubicBezTo>
                <a:lnTo>
                  <a:pt x="0" y="4981567"/>
                </a:lnTo>
                <a:cubicBezTo>
                  <a:pt x="1627247" y="3904830"/>
                  <a:pt x="1817580" y="2334607"/>
                  <a:pt x="1964370" y="793413"/>
                </a:cubicBezTo>
                <a:close/>
                <a:moveTo>
                  <a:pt x="2265980" y="0"/>
                </a:moveTo>
                <a:lnTo>
                  <a:pt x="2844799" y="793412"/>
                </a:lnTo>
                <a:lnTo>
                  <a:pt x="1687160" y="793412"/>
                </a:lnTo>
                <a:close/>
              </a:path>
            </a:pathLst>
          </a:custGeom>
          <a:gradFill>
            <a:gsLst>
              <a:gs pos="100000">
                <a:schemeClr val="accent1">
                  <a:lumMod val="60000"/>
                  <a:lumOff val="40000"/>
                </a:schemeClr>
              </a:gs>
              <a:gs pos="0">
                <a:schemeClr val="accent1"/>
              </a:gs>
            </a:gsLst>
            <a:lin ang="5400000" scaled="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250" name="不完整圆 235"/>
          <p:cNvSpPr/>
          <p:nvPr/>
        </p:nvSpPr>
        <p:spPr>
          <a:xfrm>
            <a:off x="2640330" y="5359400"/>
            <a:ext cx="7014845" cy="776605"/>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57150">
            <a:gradFill flip="none" rotWithShape="1">
              <a:gsLst>
                <a:gs pos="0">
                  <a:schemeClr val="accent5">
                    <a:alpha val="0"/>
                  </a:schemeClr>
                </a:gs>
                <a:gs pos="100000">
                  <a:schemeClr val="accent5"/>
                </a:gs>
              </a:gsLst>
              <a:lin ang="5400000" scaled="1"/>
              <a:tileRect/>
            </a:gradFill>
            <a:prstDash val="solid"/>
          </a:ln>
          <a:effectLst>
            <a:outerShdw blurRad="63500" sx="102000" sy="102000" algn="ctr" rotWithShape="0">
              <a:schemeClr val="accent5">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251" name="不完整圆 235"/>
          <p:cNvSpPr/>
          <p:nvPr/>
        </p:nvSpPr>
        <p:spPr>
          <a:xfrm>
            <a:off x="3492500" y="4244340"/>
            <a:ext cx="5309870" cy="588010"/>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57150">
            <a:gradFill flip="none" rotWithShape="1">
              <a:gsLst>
                <a:gs pos="0">
                  <a:schemeClr val="accent5">
                    <a:alpha val="0"/>
                  </a:schemeClr>
                </a:gs>
                <a:gs pos="100000">
                  <a:schemeClr val="accent5"/>
                </a:gs>
              </a:gsLst>
              <a:lin ang="5400000" scaled="1"/>
              <a:tileRect/>
            </a:gradFill>
            <a:prstDash val="solid"/>
          </a:ln>
          <a:effectLst>
            <a:outerShdw blurRad="63500" sx="102000" sy="102000" algn="ctr" rotWithShape="0">
              <a:schemeClr val="accent5">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252" name="不完整圆 235"/>
          <p:cNvSpPr/>
          <p:nvPr/>
        </p:nvSpPr>
        <p:spPr>
          <a:xfrm>
            <a:off x="4306570" y="3126740"/>
            <a:ext cx="3682365" cy="407670"/>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57150">
            <a:gradFill flip="none" rotWithShape="1">
              <a:gsLst>
                <a:gs pos="0">
                  <a:schemeClr val="accent5">
                    <a:alpha val="0"/>
                  </a:schemeClr>
                </a:gs>
                <a:gs pos="100000">
                  <a:schemeClr val="accent5"/>
                </a:gs>
              </a:gsLst>
              <a:lin ang="5400000" scaled="1"/>
              <a:tileRect/>
            </a:gradFill>
            <a:prstDash val="solid"/>
          </a:ln>
          <a:effectLst>
            <a:outerShdw blurRad="63500" sx="102000" sy="102000" algn="ctr" rotWithShape="0">
              <a:schemeClr val="accent5">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253" name="任意多边形: 形状 17"/>
          <p:cNvSpPr/>
          <p:nvPr/>
        </p:nvSpPr>
        <p:spPr>
          <a:xfrm flipH="1">
            <a:off x="6744970" y="3686810"/>
            <a:ext cx="2066925" cy="2924175"/>
          </a:xfrm>
          <a:custGeom>
            <a:avLst/>
            <a:gdLst>
              <a:gd name="connsiteX0" fmla="*/ 0 w 1841500"/>
              <a:gd name="connsiteY0" fmla="*/ 2895600 h 2895600"/>
              <a:gd name="connsiteX1" fmla="*/ 1841500 w 1841500"/>
              <a:gd name="connsiteY1" fmla="*/ 0 h 2895600"/>
              <a:gd name="connsiteX0-1" fmla="*/ 0 w 1841500"/>
              <a:gd name="connsiteY0-2" fmla="*/ 2895600 h 2895600"/>
              <a:gd name="connsiteX1-3" fmla="*/ 1841500 w 1841500"/>
              <a:gd name="connsiteY1-4" fmla="*/ 0 h 2895600"/>
              <a:gd name="connsiteX0-5" fmla="*/ 0 w 1841500"/>
              <a:gd name="connsiteY0-6" fmla="*/ 2895600 h 2895600"/>
              <a:gd name="connsiteX1-7" fmla="*/ 1841500 w 1841500"/>
              <a:gd name="connsiteY1-8" fmla="*/ 0 h 2895600"/>
              <a:gd name="connsiteX0-9" fmla="*/ 0 w 1841500"/>
              <a:gd name="connsiteY0-10" fmla="*/ 2895600 h 2895600"/>
              <a:gd name="connsiteX1-11" fmla="*/ 1841500 w 1841500"/>
              <a:gd name="connsiteY1-12" fmla="*/ 0 h 2895600"/>
              <a:gd name="connsiteX0-13" fmla="*/ 0 w 1891628"/>
              <a:gd name="connsiteY0-14" fmla="*/ 3005559 h 3005559"/>
              <a:gd name="connsiteX1-15" fmla="*/ 1891628 w 1891628"/>
              <a:gd name="connsiteY1-16" fmla="*/ 0 h 3005559"/>
              <a:gd name="connsiteX0-17" fmla="*/ 0 w 1891628"/>
              <a:gd name="connsiteY0-18" fmla="*/ 3005559 h 3005559"/>
              <a:gd name="connsiteX1-19" fmla="*/ 1891628 w 1891628"/>
              <a:gd name="connsiteY1-20" fmla="*/ 0 h 3005559"/>
            </a:gdLst>
            <a:ahLst/>
            <a:cxnLst>
              <a:cxn ang="0">
                <a:pos x="connsiteX0-1" y="connsiteY0-2"/>
              </a:cxn>
              <a:cxn ang="0">
                <a:pos x="connsiteX1-3" y="connsiteY1-4"/>
              </a:cxn>
            </a:cxnLst>
            <a:rect l="l" t="t" r="r" b="b"/>
            <a:pathLst>
              <a:path w="1891628" h="3005559">
                <a:moveTo>
                  <a:pt x="0" y="3005559"/>
                </a:moveTo>
                <a:cubicBezTo>
                  <a:pt x="969433" y="2294359"/>
                  <a:pt x="1631717" y="1483007"/>
                  <a:pt x="1891628" y="0"/>
                </a:cubicBezTo>
              </a:path>
            </a:pathLst>
          </a:custGeom>
          <a:noFill/>
          <a:ln>
            <a:gradFill>
              <a:gsLst>
                <a:gs pos="0">
                  <a:schemeClr val="accent2"/>
                </a:gs>
                <a:gs pos="100000">
                  <a:schemeClr val="accent2">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55" name="object 57"/>
          <p:cNvSpPr txBox="1"/>
          <p:nvPr/>
        </p:nvSpPr>
        <p:spPr>
          <a:xfrm>
            <a:off x="5595620" y="5235575"/>
            <a:ext cx="1104265" cy="271145"/>
          </a:xfrm>
          <a:prstGeom prst="rect">
            <a:avLst/>
          </a:prstGeom>
        </p:spPr>
        <p:txBody>
          <a:bodyPr vert="horz" wrap="square" lIns="0" tIns="13335" rIns="0" bIns="0" rtlCol="0">
            <a:spAutoFit/>
          </a:bodyPr>
          <a:lstStyle/>
          <a:p>
            <a:pPr marL="12700" marR="5080" algn="ctr">
              <a:lnSpc>
                <a:spcPct val="120000"/>
              </a:lnSpc>
              <a:spcBef>
                <a:spcPts val="105"/>
              </a:spcBef>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rPr>
              <a:t>第一步</a:t>
            </a:r>
            <a:endParaRPr lang="zh-CN" altLang="en-US" sz="1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56" name="object 57"/>
          <p:cNvSpPr txBox="1"/>
          <p:nvPr/>
        </p:nvSpPr>
        <p:spPr>
          <a:xfrm>
            <a:off x="5374640" y="5568950"/>
            <a:ext cx="1546860" cy="418465"/>
          </a:xfrm>
          <a:prstGeom prst="rect">
            <a:avLst/>
          </a:prstGeom>
        </p:spPr>
        <p:txBody>
          <a:bodyPr vert="horz" wrap="square" lIns="0" tIns="13335" rIns="0" bIns="0" rtlCol="0">
            <a:spAutoFit/>
          </a:bodyPr>
          <a:lstStyle/>
          <a:p>
            <a:pPr marL="12700" marR="5080" algn="ctr">
              <a:lnSpc>
                <a:spcPct val="120000"/>
              </a:lnSpc>
              <a:spcBef>
                <a:spcPts val="105"/>
              </a:spcBef>
            </a:pPr>
            <a:r>
              <a:rPr lang="zh-CN" altLang="en-US" sz="1100" dirty="0">
                <a:solidFill>
                  <a:schemeClr val="bg1"/>
                </a:solidFill>
                <a:latin typeface="微软雅黑" panose="020B0503020204020204" charset="-122"/>
                <a:ea typeface="微软雅黑" panose="020B0503020204020204" charset="-122"/>
                <a:cs typeface="微软雅黑" panose="020B0503020204020204" charset="-122"/>
              </a:rPr>
              <a:t>扩充销售团队，建立相关制度保障</a:t>
            </a:r>
            <a:endParaRPr lang="zh-CN" altLang="en-US" sz="11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57" name="object 57"/>
          <p:cNvSpPr txBox="1"/>
          <p:nvPr/>
        </p:nvSpPr>
        <p:spPr>
          <a:xfrm>
            <a:off x="5595620" y="3930650"/>
            <a:ext cx="1104265" cy="271145"/>
          </a:xfrm>
          <a:prstGeom prst="rect">
            <a:avLst/>
          </a:prstGeom>
        </p:spPr>
        <p:txBody>
          <a:bodyPr vert="horz" wrap="square" lIns="0" tIns="13335" rIns="0" bIns="0" rtlCol="0">
            <a:spAutoFit/>
          </a:bodyPr>
          <a:lstStyle/>
          <a:p>
            <a:pPr marL="12700" marR="5080" algn="ctr">
              <a:lnSpc>
                <a:spcPct val="120000"/>
              </a:lnSpc>
              <a:spcBef>
                <a:spcPts val="105"/>
              </a:spcBef>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rPr>
              <a:t>第二步</a:t>
            </a:r>
            <a:endParaRPr lang="zh-CN" altLang="en-US" sz="1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58" name="object 57"/>
          <p:cNvSpPr txBox="1"/>
          <p:nvPr/>
        </p:nvSpPr>
        <p:spPr>
          <a:xfrm>
            <a:off x="5160010" y="4264025"/>
            <a:ext cx="1975485" cy="431800"/>
          </a:xfrm>
          <a:prstGeom prst="rect">
            <a:avLst/>
          </a:prstGeom>
        </p:spPr>
        <p:txBody>
          <a:bodyPr vert="horz" wrap="square" lIns="0" tIns="13335" rIns="0" bIns="0" rtlCol="0">
            <a:spAutoFit/>
          </a:bodyPr>
          <a:lstStyle/>
          <a:p>
            <a:pPr marL="12700" marR="5080" algn="ctr">
              <a:lnSpc>
                <a:spcPct val="120000"/>
              </a:lnSpc>
              <a:spcBef>
                <a:spcPts val="105"/>
              </a:spcBef>
            </a:pPr>
            <a:r>
              <a:rPr lang="zh-CN" altLang="en-US" sz="1100" dirty="0">
                <a:solidFill>
                  <a:schemeClr val="bg1"/>
                </a:solidFill>
                <a:latin typeface="微软雅黑" panose="020B0503020204020204" charset="-122"/>
                <a:ea typeface="微软雅黑" panose="020B0503020204020204" charset="-122"/>
                <a:cs typeface="微软雅黑" panose="020B0503020204020204" charset="-122"/>
              </a:rPr>
              <a:t>关键项目攻坚</a:t>
            </a:r>
            <a:endParaRPr lang="en-US" altLang="zh-CN" sz="1100" dirty="0">
              <a:solidFill>
                <a:schemeClr val="bg1"/>
              </a:solidFill>
              <a:latin typeface="微软雅黑" panose="020B0503020204020204" charset="-122"/>
              <a:ea typeface="微软雅黑" panose="020B0503020204020204" charset="-122"/>
              <a:cs typeface="微软雅黑" panose="020B0503020204020204" charset="-122"/>
            </a:endParaRPr>
          </a:p>
          <a:p>
            <a:pPr marL="12700" marR="5080" algn="ctr">
              <a:lnSpc>
                <a:spcPct val="120000"/>
              </a:lnSpc>
              <a:spcBef>
                <a:spcPts val="105"/>
              </a:spcBef>
            </a:pPr>
            <a:r>
              <a:rPr lang="zh-CN" altLang="en-US" sz="1100" dirty="0">
                <a:solidFill>
                  <a:schemeClr val="bg1"/>
                </a:solidFill>
                <a:latin typeface="微软雅黑" panose="020B0503020204020204" charset="-122"/>
                <a:ea typeface="微软雅黑" panose="020B0503020204020204" charset="-122"/>
                <a:cs typeface="微软雅黑" panose="020B0503020204020204" charset="-122"/>
              </a:rPr>
              <a:t>普通项目规模化</a:t>
            </a:r>
            <a:endParaRPr sz="11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59" name="object 57"/>
          <p:cNvSpPr txBox="1"/>
          <p:nvPr/>
        </p:nvSpPr>
        <p:spPr>
          <a:xfrm>
            <a:off x="5595620" y="2843530"/>
            <a:ext cx="1104265" cy="271145"/>
          </a:xfrm>
          <a:prstGeom prst="rect">
            <a:avLst/>
          </a:prstGeom>
        </p:spPr>
        <p:txBody>
          <a:bodyPr vert="horz" wrap="square" lIns="0" tIns="13335" rIns="0" bIns="0" rtlCol="0">
            <a:spAutoFit/>
          </a:bodyPr>
          <a:lstStyle/>
          <a:p>
            <a:pPr marL="12700" marR="5080" algn="ctr">
              <a:lnSpc>
                <a:spcPct val="120000"/>
              </a:lnSpc>
              <a:spcBef>
                <a:spcPts val="105"/>
              </a:spcBef>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rPr>
              <a:t>第三步</a:t>
            </a:r>
            <a:endParaRPr lang="zh-CN" altLang="en-US" sz="1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60" name="object 57"/>
          <p:cNvSpPr txBox="1"/>
          <p:nvPr/>
        </p:nvSpPr>
        <p:spPr>
          <a:xfrm>
            <a:off x="5160010" y="3176905"/>
            <a:ext cx="1975485" cy="215900"/>
          </a:xfrm>
          <a:prstGeom prst="rect">
            <a:avLst/>
          </a:prstGeom>
        </p:spPr>
        <p:txBody>
          <a:bodyPr vert="horz" wrap="square" lIns="0" tIns="13335" rIns="0" bIns="0" rtlCol="0">
            <a:spAutoFit/>
          </a:bodyPr>
          <a:lstStyle/>
          <a:p>
            <a:pPr marL="12700" marR="5080" algn="ctr">
              <a:lnSpc>
                <a:spcPct val="120000"/>
              </a:lnSpc>
              <a:spcBef>
                <a:spcPts val="105"/>
              </a:spcBef>
            </a:pPr>
            <a:r>
              <a:rPr lang="zh-CN" altLang="en-US" sz="1100" dirty="0">
                <a:solidFill>
                  <a:schemeClr val="bg1"/>
                </a:solidFill>
                <a:latin typeface="微软雅黑" panose="020B0503020204020204" charset="-122"/>
                <a:ea typeface="微软雅黑" panose="020B0503020204020204" charset="-122"/>
                <a:cs typeface="微软雅黑" panose="020B0503020204020204" charset="-122"/>
              </a:rPr>
              <a:t>保交付</a:t>
            </a:r>
            <a:endParaRPr lang="zh-CN" altLang="en-US" sz="1100" dirty="0">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261" name="直接连接符 260"/>
          <p:cNvCxnSpPr/>
          <p:nvPr/>
        </p:nvCxnSpPr>
        <p:spPr>
          <a:xfrm flipV="1">
            <a:off x="7239000" y="2999105"/>
            <a:ext cx="128905" cy="128270"/>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grpSp>
        <p:nvGrpSpPr>
          <p:cNvPr id="262" name="组合 261"/>
          <p:cNvGrpSpPr/>
          <p:nvPr/>
        </p:nvGrpSpPr>
        <p:grpSpPr>
          <a:xfrm>
            <a:off x="7138035" y="3088640"/>
            <a:ext cx="100965" cy="100965"/>
            <a:chOff x="7115077" y="2692356"/>
            <a:chExt cx="108000" cy="108000"/>
          </a:xfrm>
        </p:grpSpPr>
        <p:sp>
          <p:nvSpPr>
            <p:cNvPr id="263" name="椭圆 262"/>
            <p:cNvSpPr/>
            <p:nvPr>
              <p:custDataLst>
                <p:tags r:id="rId1"/>
              </p:custDataLst>
            </p:nvPr>
          </p:nvSpPr>
          <p:spPr>
            <a:xfrm>
              <a:off x="7115077" y="2692356"/>
              <a:ext cx="108000" cy="108000"/>
            </a:xfrm>
            <a:prstGeom prst="ellipse">
              <a:avLst/>
            </a:prstGeom>
            <a:solidFill>
              <a:schemeClr val="bg1"/>
            </a:solidFill>
            <a:ln>
              <a:noFill/>
            </a:ln>
            <a:effectLst>
              <a:outerShdw blurRad="63500" algn="ctr"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264" name="椭圆 263"/>
            <p:cNvSpPr/>
            <p:nvPr/>
          </p:nvSpPr>
          <p:spPr>
            <a:xfrm>
              <a:off x="7144643" y="2721925"/>
              <a:ext cx="48862" cy="48862"/>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grpSp>
      <p:cxnSp>
        <p:nvCxnSpPr>
          <p:cNvPr id="266" name="直接连接符 265"/>
          <p:cNvCxnSpPr>
            <a:endCxn id="230" idx="3"/>
          </p:cNvCxnSpPr>
          <p:nvPr/>
        </p:nvCxnSpPr>
        <p:spPr>
          <a:xfrm>
            <a:off x="7644130" y="3454400"/>
            <a:ext cx="404495" cy="71755"/>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grpSp>
        <p:nvGrpSpPr>
          <p:cNvPr id="267" name="组合 266"/>
          <p:cNvGrpSpPr/>
          <p:nvPr/>
        </p:nvGrpSpPr>
        <p:grpSpPr>
          <a:xfrm>
            <a:off x="7542530" y="3403600"/>
            <a:ext cx="100965" cy="100965"/>
            <a:chOff x="7115077" y="2692356"/>
            <a:chExt cx="108000" cy="108000"/>
          </a:xfrm>
        </p:grpSpPr>
        <p:sp>
          <p:nvSpPr>
            <p:cNvPr id="268" name="椭圆 267"/>
            <p:cNvSpPr/>
            <p:nvPr>
              <p:custDataLst>
                <p:tags r:id="rId2"/>
              </p:custDataLst>
            </p:nvPr>
          </p:nvSpPr>
          <p:spPr>
            <a:xfrm>
              <a:off x="7115077" y="2692356"/>
              <a:ext cx="108000" cy="108000"/>
            </a:xfrm>
            <a:prstGeom prst="ellipse">
              <a:avLst/>
            </a:prstGeom>
            <a:solidFill>
              <a:schemeClr val="bg1"/>
            </a:solidFill>
            <a:ln>
              <a:noFill/>
            </a:ln>
            <a:effectLst>
              <a:outerShdw blurRad="63500" algn="ctr"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269" name="椭圆 268"/>
            <p:cNvSpPr/>
            <p:nvPr/>
          </p:nvSpPr>
          <p:spPr>
            <a:xfrm>
              <a:off x="7144643" y="2721925"/>
              <a:ext cx="48862" cy="48862"/>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grpSp>
      <p:cxnSp>
        <p:nvCxnSpPr>
          <p:cNvPr id="271" name="直接连接符 270"/>
          <p:cNvCxnSpPr/>
          <p:nvPr/>
        </p:nvCxnSpPr>
        <p:spPr>
          <a:xfrm flipV="1">
            <a:off x="8305800" y="4160520"/>
            <a:ext cx="128905" cy="128270"/>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grpSp>
        <p:nvGrpSpPr>
          <p:cNvPr id="272" name="组合 271"/>
          <p:cNvGrpSpPr/>
          <p:nvPr/>
        </p:nvGrpSpPr>
        <p:grpSpPr>
          <a:xfrm>
            <a:off x="8204835" y="4250055"/>
            <a:ext cx="100965" cy="100965"/>
            <a:chOff x="7115077" y="2692356"/>
            <a:chExt cx="108000" cy="108000"/>
          </a:xfrm>
        </p:grpSpPr>
        <p:sp>
          <p:nvSpPr>
            <p:cNvPr id="273" name="椭圆 272"/>
            <p:cNvSpPr/>
            <p:nvPr>
              <p:custDataLst>
                <p:tags r:id="rId3"/>
              </p:custDataLst>
            </p:nvPr>
          </p:nvSpPr>
          <p:spPr>
            <a:xfrm>
              <a:off x="7115077" y="2692356"/>
              <a:ext cx="108000" cy="108000"/>
            </a:xfrm>
            <a:prstGeom prst="ellipse">
              <a:avLst/>
            </a:prstGeom>
            <a:solidFill>
              <a:schemeClr val="bg1"/>
            </a:solidFill>
            <a:ln>
              <a:noFill/>
            </a:ln>
            <a:effectLst>
              <a:outerShdw blurRad="63500" algn="ctr"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275" name="椭圆 274"/>
            <p:cNvSpPr/>
            <p:nvPr/>
          </p:nvSpPr>
          <p:spPr>
            <a:xfrm>
              <a:off x="7144643" y="2721925"/>
              <a:ext cx="48862" cy="48862"/>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grpSp>
      <p:cxnSp>
        <p:nvCxnSpPr>
          <p:cNvPr id="277" name="直接连接符 276"/>
          <p:cNvCxnSpPr/>
          <p:nvPr/>
        </p:nvCxnSpPr>
        <p:spPr>
          <a:xfrm>
            <a:off x="8710930" y="4615815"/>
            <a:ext cx="279400" cy="16510"/>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grpSp>
        <p:nvGrpSpPr>
          <p:cNvPr id="278" name="组合 277"/>
          <p:cNvGrpSpPr/>
          <p:nvPr/>
        </p:nvGrpSpPr>
        <p:grpSpPr>
          <a:xfrm>
            <a:off x="8609330" y="4565015"/>
            <a:ext cx="100965" cy="100965"/>
            <a:chOff x="7115077" y="2692356"/>
            <a:chExt cx="108000" cy="108000"/>
          </a:xfrm>
        </p:grpSpPr>
        <p:sp>
          <p:nvSpPr>
            <p:cNvPr id="280" name="椭圆 279"/>
            <p:cNvSpPr/>
            <p:nvPr>
              <p:custDataLst>
                <p:tags r:id="rId4"/>
              </p:custDataLst>
            </p:nvPr>
          </p:nvSpPr>
          <p:spPr>
            <a:xfrm>
              <a:off x="7115077" y="2692356"/>
              <a:ext cx="108000" cy="108000"/>
            </a:xfrm>
            <a:prstGeom prst="ellipse">
              <a:avLst/>
            </a:prstGeom>
            <a:solidFill>
              <a:schemeClr val="bg1"/>
            </a:solidFill>
            <a:ln>
              <a:noFill/>
            </a:ln>
            <a:effectLst>
              <a:outerShdw blurRad="63500" algn="ctr"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283" name="椭圆 282"/>
            <p:cNvSpPr/>
            <p:nvPr/>
          </p:nvSpPr>
          <p:spPr>
            <a:xfrm>
              <a:off x="7144643" y="2721925"/>
              <a:ext cx="48862" cy="48862"/>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grpSp>
      <p:cxnSp>
        <p:nvCxnSpPr>
          <p:cNvPr id="285" name="直接连接符 284"/>
          <p:cNvCxnSpPr>
            <a:endCxn id="233" idx="3"/>
          </p:cNvCxnSpPr>
          <p:nvPr/>
        </p:nvCxnSpPr>
        <p:spPr>
          <a:xfrm flipV="1">
            <a:off x="9222740" y="5288280"/>
            <a:ext cx="181610" cy="213360"/>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grpSp>
        <p:nvGrpSpPr>
          <p:cNvPr id="286" name="组合 285"/>
          <p:cNvGrpSpPr/>
          <p:nvPr/>
        </p:nvGrpSpPr>
        <p:grpSpPr>
          <a:xfrm>
            <a:off x="9121775" y="5462905"/>
            <a:ext cx="100965" cy="100965"/>
            <a:chOff x="7115077" y="2692356"/>
            <a:chExt cx="108000" cy="108000"/>
          </a:xfrm>
        </p:grpSpPr>
        <p:sp>
          <p:nvSpPr>
            <p:cNvPr id="287" name="椭圆 286"/>
            <p:cNvSpPr/>
            <p:nvPr>
              <p:custDataLst>
                <p:tags r:id="rId5"/>
              </p:custDataLst>
            </p:nvPr>
          </p:nvSpPr>
          <p:spPr>
            <a:xfrm>
              <a:off x="7115077" y="2692356"/>
              <a:ext cx="108000" cy="108000"/>
            </a:xfrm>
            <a:prstGeom prst="ellipse">
              <a:avLst/>
            </a:prstGeom>
            <a:solidFill>
              <a:schemeClr val="bg1"/>
            </a:solidFill>
            <a:ln>
              <a:noFill/>
            </a:ln>
            <a:effectLst>
              <a:outerShdw blurRad="63500" algn="ctr"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288" name="椭圆 287"/>
            <p:cNvSpPr/>
            <p:nvPr/>
          </p:nvSpPr>
          <p:spPr>
            <a:xfrm>
              <a:off x="7144643" y="2721925"/>
              <a:ext cx="48862" cy="48862"/>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grpSp>
      <p:cxnSp>
        <p:nvCxnSpPr>
          <p:cNvPr id="291" name="直接连接符 290"/>
          <p:cNvCxnSpPr/>
          <p:nvPr/>
        </p:nvCxnSpPr>
        <p:spPr>
          <a:xfrm>
            <a:off x="9627870" y="5828665"/>
            <a:ext cx="279400" cy="16510"/>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grpSp>
        <p:nvGrpSpPr>
          <p:cNvPr id="292" name="组合 291"/>
          <p:cNvGrpSpPr/>
          <p:nvPr/>
        </p:nvGrpSpPr>
        <p:grpSpPr>
          <a:xfrm>
            <a:off x="9526905" y="5777865"/>
            <a:ext cx="100965" cy="100965"/>
            <a:chOff x="7115077" y="2692356"/>
            <a:chExt cx="108000" cy="108000"/>
          </a:xfrm>
        </p:grpSpPr>
        <p:sp>
          <p:nvSpPr>
            <p:cNvPr id="293" name="椭圆 292"/>
            <p:cNvSpPr/>
            <p:nvPr>
              <p:custDataLst>
                <p:tags r:id="rId6"/>
              </p:custDataLst>
            </p:nvPr>
          </p:nvSpPr>
          <p:spPr>
            <a:xfrm>
              <a:off x="7115077" y="2692356"/>
              <a:ext cx="108000" cy="108000"/>
            </a:xfrm>
            <a:prstGeom prst="ellipse">
              <a:avLst/>
            </a:prstGeom>
            <a:solidFill>
              <a:schemeClr val="bg1"/>
            </a:solidFill>
            <a:ln>
              <a:noFill/>
            </a:ln>
            <a:effectLst>
              <a:outerShdw blurRad="63500" algn="ctr"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294" name="椭圆 293"/>
            <p:cNvSpPr/>
            <p:nvPr/>
          </p:nvSpPr>
          <p:spPr>
            <a:xfrm>
              <a:off x="7144643" y="2721925"/>
              <a:ext cx="48862" cy="48862"/>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grpSp>
      <p:cxnSp>
        <p:nvCxnSpPr>
          <p:cNvPr id="296" name="直接连接符 295"/>
          <p:cNvCxnSpPr/>
          <p:nvPr/>
        </p:nvCxnSpPr>
        <p:spPr>
          <a:xfrm flipH="1" flipV="1">
            <a:off x="4921885" y="2999105"/>
            <a:ext cx="128905" cy="128270"/>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grpSp>
        <p:nvGrpSpPr>
          <p:cNvPr id="297" name="组合 296"/>
          <p:cNvGrpSpPr/>
          <p:nvPr/>
        </p:nvGrpSpPr>
        <p:grpSpPr>
          <a:xfrm flipH="1">
            <a:off x="5050790" y="3088640"/>
            <a:ext cx="100965" cy="100965"/>
            <a:chOff x="7115077" y="2692356"/>
            <a:chExt cx="108000" cy="108000"/>
          </a:xfrm>
        </p:grpSpPr>
        <p:sp>
          <p:nvSpPr>
            <p:cNvPr id="298" name="椭圆 297"/>
            <p:cNvSpPr/>
            <p:nvPr>
              <p:custDataLst>
                <p:tags r:id="rId7"/>
              </p:custDataLst>
            </p:nvPr>
          </p:nvSpPr>
          <p:spPr>
            <a:xfrm>
              <a:off x="7115077" y="2692356"/>
              <a:ext cx="108000" cy="108000"/>
            </a:xfrm>
            <a:prstGeom prst="ellipse">
              <a:avLst/>
            </a:prstGeom>
            <a:solidFill>
              <a:schemeClr val="bg1"/>
            </a:solidFill>
            <a:ln>
              <a:noFill/>
            </a:ln>
            <a:effectLst>
              <a:outerShdw blurRad="63500" algn="ctr"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299" name="椭圆 298"/>
            <p:cNvSpPr/>
            <p:nvPr/>
          </p:nvSpPr>
          <p:spPr>
            <a:xfrm>
              <a:off x="7144643" y="2721925"/>
              <a:ext cx="48862" cy="48862"/>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grpSp>
      <p:sp>
        <p:nvSpPr>
          <p:cNvPr id="300" name="文本框 299"/>
          <p:cNvSpPr txBox="1"/>
          <p:nvPr/>
        </p:nvSpPr>
        <p:spPr>
          <a:xfrm>
            <a:off x="3612833" y="2794635"/>
            <a:ext cx="1469390" cy="245110"/>
          </a:xfrm>
          <a:prstGeom prst="rect">
            <a:avLst/>
          </a:prstGeom>
          <a:noFill/>
        </p:spPr>
        <p:txBody>
          <a:bodyPr wrap="square" rtlCol="0">
            <a:spAutoFit/>
          </a:bodyPr>
          <a:lstStyle/>
          <a:p>
            <a:pPr lvl="0" algn="ctr">
              <a:buClrTx/>
              <a:buSzTx/>
              <a:buFontTx/>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mn-ea"/>
              </a:rPr>
              <a:t>设计项目经理责任制</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cxnSp>
        <p:nvCxnSpPr>
          <p:cNvPr id="301" name="直接连接符 300"/>
          <p:cNvCxnSpPr>
            <a:stCxn id="342" idx="4"/>
            <a:endCxn id="344" idx="3"/>
          </p:cNvCxnSpPr>
          <p:nvPr/>
        </p:nvCxnSpPr>
        <p:spPr>
          <a:xfrm flipH="1" flipV="1">
            <a:off x="4239260" y="3470275"/>
            <a:ext cx="457200" cy="6985"/>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grpSp>
        <p:nvGrpSpPr>
          <p:cNvPr id="302" name="组合 301"/>
          <p:cNvGrpSpPr/>
          <p:nvPr/>
        </p:nvGrpSpPr>
        <p:grpSpPr>
          <a:xfrm flipH="1">
            <a:off x="4646295" y="3403600"/>
            <a:ext cx="100965" cy="100965"/>
            <a:chOff x="7115077" y="2692356"/>
            <a:chExt cx="108000" cy="108000"/>
          </a:xfrm>
        </p:grpSpPr>
        <p:sp>
          <p:nvSpPr>
            <p:cNvPr id="303" name="椭圆 302"/>
            <p:cNvSpPr/>
            <p:nvPr>
              <p:custDataLst>
                <p:tags r:id="rId8"/>
              </p:custDataLst>
            </p:nvPr>
          </p:nvSpPr>
          <p:spPr>
            <a:xfrm>
              <a:off x="7115077" y="2692356"/>
              <a:ext cx="108000" cy="108000"/>
            </a:xfrm>
            <a:prstGeom prst="ellipse">
              <a:avLst/>
            </a:prstGeom>
            <a:solidFill>
              <a:schemeClr val="bg1"/>
            </a:solidFill>
            <a:ln>
              <a:noFill/>
            </a:ln>
            <a:effectLst>
              <a:outerShdw blurRad="63500" algn="ctr"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342" name="椭圆 341"/>
            <p:cNvSpPr/>
            <p:nvPr/>
          </p:nvSpPr>
          <p:spPr>
            <a:xfrm>
              <a:off x="7144643" y="2721925"/>
              <a:ext cx="48862" cy="48862"/>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grpSp>
      <p:sp>
        <p:nvSpPr>
          <p:cNvPr id="344" name="文本框 343"/>
          <p:cNvSpPr txBox="1"/>
          <p:nvPr/>
        </p:nvSpPr>
        <p:spPr>
          <a:xfrm>
            <a:off x="2914015" y="3347720"/>
            <a:ext cx="1325245" cy="245110"/>
          </a:xfrm>
          <a:prstGeom prst="rect">
            <a:avLst/>
          </a:prstGeom>
          <a:noFill/>
        </p:spPr>
        <p:txBody>
          <a:bodyPr wrap="squar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建立延期预警制度</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345" name="直接连接符 344"/>
          <p:cNvCxnSpPr/>
          <p:nvPr/>
        </p:nvCxnSpPr>
        <p:spPr>
          <a:xfrm flipH="1" flipV="1">
            <a:off x="3855085" y="4160520"/>
            <a:ext cx="128905" cy="128270"/>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grpSp>
        <p:nvGrpSpPr>
          <p:cNvPr id="349" name="组合 348"/>
          <p:cNvGrpSpPr/>
          <p:nvPr/>
        </p:nvGrpSpPr>
        <p:grpSpPr>
          <a:xfrm flipH="1">
            <a:off x="3983990" y="4250055"/>
            <a:ext cx="100965" cy="100965"/>
            <a:chOff x="7115077" y="2692356"/>
            <a:chExt cx="108000" cy="108000"/>
          </a:xfrm>
        </p:grpSpPr>
        <p:sp>
          <p:nvSpPr>
            <p:cNvPr id="356" name="椭圆 355"/>
            <p:cNvSpPr/>
            <p:nvPr>
              <p:custDataLst>
                <p:tags r:id="rId9"/>
              </p:custDataLst>
            </p:nvPr>
          </p:nvSpPr>
          <p:spPr>
            <a:xfrm>
              <a:off x="7115077" y="2692356"/>
              <a:ext cx="108000" cy="108000"/>
            </a:xfrm>
            <a:prstGeom prst="ellipse">
              <a:avLst/>
            </a:prstGeom>
            <a:solidFill>
              <a:schemeClr val="bg1"/>
            </a:solidFill>
            <a:ln>
              <a:noFill/>
            </a:ln>
            <a:effectLst>
              <a:outerShdw blurRad="63500" algn="ctr"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357" name="椭圆 356"/>
            <p:cNvSpPr/>
            <p:nvPr/>
          </p:nvSpPr>
          <p:spPr>
            <a:xfrm>
              <a:off x="7144643" y="2721925"/>
              <a:ext cx="48862" cy="48862"/>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grpSp>
      <p:sp>
        <p:nvSpPr>
          <p:cNvPr id="358" name="文本框 357"/>
          <p:cNvSpPr txBox="1"/>
          <p:nvPr/>
        </p:nvSpPr>
        <p:spPr>
          <a:xfrm>
            <a:off x="2523808" y="3918585"/>
            <a:ext cx="1624965" cy="245110"/>
          </a:xfrm>
          <a:prstGeom prst="rect">
            <a:avLst/>
          </a:prstGeom>
          <a:noFill/>
        </p:spPr>
        <p:txBody>
          <a:bodyPr wrap="square" rtlCol="0">
            <a:spAutoFit/>
          </a:bodyPr>
          <a:lstStyle/>
          <a:p>
            <a:pPr algn="ctr"/>
            <a:r>
              <a:rPr lang="zh-CN" altLang="en-US" sz="1000" dirty="0">
                <a:solidFill>
                  <a:schemeClr val="accent5"/>
                </a:solidFill>
                <a:latin typeface="微软雅黑" panose="020B0503020204020204" charset="-122"/>
                <a:ea typeface="微软雅黑" panose="020B0503020204020204" charset="-122"/>
                <a:cs typeface="微软雅黑" panose="020B0503020204020204" charset="-122"/>
              </a:rPr>
              <a:t>推动项目价格提高</a:t>
            </a:r>
            <a:r>
              <a:rPr lang="en-US" altLang="zh-CN" sz="1000" dirty="0">
                <a:solidFill>
                  <a:schemeClr val="accent5"/>
                </a:solidFill>
                <a:latin typeface="微软雅黑" panose="020B0503020204020204" charset="-122"/>
                <a:ea typeface="微软雅黑" panose="020B0503020204020204" charset="-122"/>
                <a:cs typeface="微软雅黑" panose="020B0503020204020204" charset="-122"/>
              </a:rPr>
              <a:t>10%</a:t>
            </a:r>
            <a:endParaRPr lang="en-US" altLang="zh-CN" sz="1000" dirty="0">
              <a:solidFill>
                <a:schemeClr val="accent5"/>
              </a:solidFill>
              <a:latin typeface="微软雅黑" panose="020B0503020204020204" charset="-122"/>
              <a:ea typeface="微软雅黑" panose="020B0503020204020204" charset="-122"/>
              <a:cs typeface="微软雅黑" panose="020B0503020204020204" charset="-122"/>
            </a:endParaRPr>
          </a:p>
        </p:txBody>
      </p:sp>
      <p:cxnSp>
        <p:nvCxnSpPr>
          <p:cNvPr id="359" name="直接连接符 358"/>
          <p:cNvCxnSpPr/>
          <p:nvPr/>
        </p:nvCxnSpPr>
        <p:spPr>
          <a:xfrm flipH="1">
            <a:off x="3299460" y="4615815"/>
            <a:ext cx="279400" cy="16510"/>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grpSp>
        <p:nvGrpSpPr>
          <p:cNvPr id="360" name="组合 359"/>
          <p:cNvGrpSpPr/>
          <p:nvPr/>
        </p:nvGrpSpPr>
        <p:grpSpPr>
          <a:xfrm flipH="1">
            <a:off x="3579495" y="4565015"/>
            <a:ext cx="100965" cy="100965"/>
            <a:chOff x="7115077" y="2692356"/>
            <a:chExt cx="108000" cy="108000"/>
          </a:xfrm>
        </p:grpSpPr>
        <p:sp>
          <p:nvSpPr>
            <p:cNvPr id="364" name="椭圆 363"/>
            <p:cNvSpPr/>
            <p:nvPr>
              <p:custDataLst>
                <p:tags r:id="rId10"/>
              </p:custDataLst>
            </p:nvPr>
          </p:nvSpPr>
          <p:spPr>
            <a:xfrm>
              <a:off x="7115077" y="2692356"/>
              <a:ext cx="108000" cy="108000"/>
            </a:xfrm>
            <a:prstGeom prst="ellipse">
              <a:avLst/>
            </a:prstGeom>
            <a:solidFill>
              <a:schemeClr val="bg1"/>
            </a:solidFill>
            <a:ln>
              <a:noFill/>
            </a:ln>
            <a:effectLst>
              <a:outerShdw blurRad="63500" algn="ctr"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365" name="椭圆 364"/>
            <p:cNvSpPr/>
            <p:nvPr/>
          </p:nvSpPr>
          <p:spPr>
            <a:xfrm>
              <a:off x="7144643" y="2721925"/>
              <a:ext cx="48862" cy="48862"/>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grpSp>
      <p:sp>
        <p:nvSpPr>
          <p:cNvPr id="366" name="文本框 365"/>
          <p:cNvSpPr txBox="1"/>
          <p:nvPr/>
        </p:nvSpPr>
        <p:spPr>
          <a:xfrm>
            <a:off x="1995170" y="4523105"/>
            <a:ext cx="1388110" cy="245110"/>
          </a:xfrm>
          <a:prstGeom prst="rect">
            <a:avLst/>
          </a:prstGeom>
          <a:noFill/>
        </p:spPr>
        <p:txBody>
          <a:bodyPr wrap="square" rtlCol="0">
            <a:spAutoFit/>
          </a:bodyPr>
          <a:lstStyle/>
          <a:p>
            <a:pPr lvl="0" algn="ctr">
              <a:buClrTx/>
              <a:buSzTx/>
              <a:buFontTx/>
            </a:pPr>
            <a:r>
              <a:rPr lang="zh-CN" altLang="en-US" sz="1000" dirty="0">
                <a:solidFill>
                  <a:schemeClr val="accent5"/>
                </a:solidFill>
                <a:latin typeface="微软雅黑" panose="020B0503020204020204" charset="-122"/>
                <a:ea typeface="微软雅黑" panose="020B0503020204020204" charset="-122"/>
                <a:cs typeface="微软雅黑" panose="020B0503020204020204" charset="-122"/>
                <a:sym typeface="+mn-ea"/>
              </a:rPr>
              <a:t>拓展新客户</a:t>
            </a:r>
            <a:r>
              <a:rPr lang="zh-CN" altLang="en-US" sz="1000" dirty="0">
                <a:solidFill>
                  <a:schemeClr val="accent5"/>
                </a:solidFill>
                <a:latin typeface="微软雅黑" panose="020B0503020204020204" charset="-122"/>
                <a:ea typeface="微软雅黑" panose="020B0503020204020204" charset="-122"/>
                <a:cs typeface="微软雅黑" panose="020B0503020204020204" charset="-122"/>
                <a:sym typeface="+mn-ea"/>
              </a:rPr>
              <a:t>10</a:t>
            </a:r>
            <a:r>
              <a:rPr lang="zh-CN" altLang="en-US" sz="1000" dirty="0">
                <a:solidFill>
                  <a:schemeClr val="accent5"/>
                </a:solidFill>
                <a:latin typeface="微软雅黑" panose="020B0503020204020204" charset="-122"/>
                <a:ea typeface="微软雅黑" panose="020B0503020204020204" charset="-122"/>
                <a:cs typeface="微软雅黑" panose="020B0503020204020204" charset="-122"/>
                <a:sym typeface="+mn-ea"/>
              </a:rPr>
              <a:t>家</a:t>
            </a:r>
            <a:endParaRPr lang="zh-CN" altLang="en-US" sz="1000"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cxnSp>
        <p:nvCxnSpPr>
          <p:cNvPr id="367" name="直接连接符 366"/>
          <p:cNvCxnSpPr/>
          <p:nvPr/>
        </p:nvCxnSpPr>
        <p:spPr>
          <a:xfrm flipH="1" flipV="1">
            <a:off x="2938145" y="5373370"/>
            <a:ext cx="128905" cy="128270"/>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grpSp>
        <p:nvGrpSpPr>
          <p:cNvPr id="371" name="组合 370"/>
          <p:cNvGrpSpPr/>
          <p:nvPr/>
        </p:nvGrpSpPr>
        <p:grpSpPr>
          <a:xfrm flipH="1">
            <a:off x="3067050" y="5462905"/>
            <a:ext cx="100965" cy="100965"/>
            <a:chOff x="7115077" y="2692356"/>
            <a:chExt cx="108000" cy="108000"/>
          </a:xfrm>
        </p:grpSpPr>
        <p:sp>
          <p:nvSpPr>
            <p:cNvPr id="372" name="椭圆 371"/>
            <p:cNvSpPr/>
            <p:nvPr>
              <p:custDataLst>
                <p:tags r:id="rId11"/>
              </p:custDataLst>
            </p:nvPr>
          </p:nvSpPr>
          <p:spPr>
            <a:xfrm>
              <a:off x="7115077" y="2692356"/>
              <a:ext cx="108000" cy="108000"/>
            </a:xfrm>
            <a:prstGeom prst="ellipse">
              <a:avLst/>
            </a:prstGeom>
            <a:solidFill>
              <a:schemeClr val="bg1"/>
            </a:solidFill>
            <a:ln>
              <a:noFill/>
            </a:ln>
            <a:effectLst>
              <a:outerShdw blurRad="63500" algn="ctr"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373" name="椭圆 372"/>
            <p:cNvSpPr/>
            <p:nvPr/>
          </p:nvSpPr>
          <p:spPr>
            <a:xfrm>
              <a:off x="7144643" y="2721925"/>
              <a:ext cx="48862" cy="48862"/>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grpSp>
      <p:sp>
        <p:nvSpPr>
          <p:cNvPr id="374" name="文本框 373"/>
          <p:cNvSpPr txBox="1"/>
          <p:nvPr/>
        </p:nvSpPr>
        <p:spPr>
          <a:xfrm>
            <a:off x="1602740" y="5165725"/>
            <a:ext cx="1113155" cy="245110"/>
          </a:xfrm>
          <a:prstGeom prst="rect">
            <a:avLst/>
          </a:prstGeom>
          <a:noFill/>
        </p:spPr>
        <p:txBody>
          <a:bodyPr wrap="squar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构建职级管理</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375" name="直接连接符 374"/>
          <p:cNvCxnSpPr/>
          <p:nvPr/>
        </p:nvCxnSpPr>
        <p:spPr>
          <a:xfrm flipH="1">
            <a:off x="2382520" y="5828665"/>
            <a:ext cx="279400" cy="16510"/>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grpSp>
        <p:nvGrpSpPr>
          <p:cNvPr id="376" name="组合 375"/>
          <p:cNvGrpSpPr/>
          <p:nvPr/>
        </p:nvGrpSpPr>
        <p:grpSpPr>
          <a:xfrm flipH="1">
            <a:off x="2661920" y="5777865"/>
            <a:ext cx="100965" cy="100965"/>
            <a:chOff x="7115077" y="2692356"/>
            <a:chExt cx="108000" cy="108000"/>
          </a:xfrm>
        </p:grpSpPr>
        <p:sp>
          <p:nvSpPr>
            <p:cNvPr id="377" name="椭圆 376"/>
            <p:cNvSpPr/>
            <p:nvPr>
              <p:custDataLst>
                <p:tags r:id="rId12"/>
              </p:custDataLst>
            </p:nvPr>
          </p:nvSpPr>
          <p:spPr>
            <a:xfrm>
              <a:off x="7115077" y="2692356"/>
              <a:ext cx="108000" cy="108000"/>
            </a:xfrm>
            <a:prstGeom prst="ellipse">
              <a:avLst/>
            </a:prstGeom>
            <a:solidFill>
              <a:schemeClr val="bg1"/>
            </a:solidFill>
            <a:ln>
              <a:noFill/>
            </a:ln>
            <a:effectLst>
              <a:outerShdw blurRad="63500" algn="ctr" rotWithShape="0">
                <a:schemeClr val="accent2">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381" name="椭圆 380"/>
            <p:cNvSpPr/>
            <p:nvPr/>
          </p:nvSpPr>
          <p:spPr>
            <a:xfrm>
              <a:off x="7144643" y="2721925"/>
              <a:ext cx="48862" cy="48862"/>
            </a:xfrm>
            <a:prstGeom prst="ellipse">
              <a:avLst/>
            </a:pr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accent2"/>
                </a:solidFill>
                <a:latin typeface="微软雅黑" panose="020B0503020204020204" charset="-122"/>
                <a:ea typeface="微软雅黑" panose="020B0503020204020204" charset="-122"/>
                <a:cs typeface="微软雅黑" panose="020B0503020204020204" charset="-122"/>
              </a:endParaRPr>
            </a:p>
          </p:txBody>
        </p:sp>
      </p:grpSp>
      <p:sp>
        <p:nvSpPr>
          <p:cNvPr id="382" name="文本框 381"/>
          <p:cNvSpPr txBox="1"/>
          <p:nvPr/>
        </p:nvSpPr>
        <p:spPr>
          <a:xfrm>
            <a:off x="876935" y="5728970"/>
            <a:ext cx="1429385" cy="245110"/>
          </a:xfrm>
          <a:prstGeom prst="rect">
            <a:avLst/>
          </a:prstGeom>
          <a:noFill/>
        </p:spPr>
        <p:txBody>
          <a:bodyPr wrap="squar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出台销售激励制度</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83" name="任意多边形: 形状 465"/>
          <p:cNvSpPr/>
          <p:nvPr/>
        </p:nvSpPr>
        <p:spPr>
          <a:xfrm rot="16200000">
            <a:off x="4986020" y="3441700"/>
            <a:ext cx="140335" cy="11874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sp>
        <p:nvSpPr>
          <p:cNvPr id="396" name="任意多边形: 形状 466"/>
          <p:cNvSpPr/>
          <p:nvPr/>
        </p:nvSpPr>
        <p:spPr>
          <a:xfrm rot="16200000">
            <a:off x="7101205" y="3441700"/>
            <a:ext cx="140335" cy="11874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sp>
        <p:nvSpPr>
          <p:cNvPr id="397" name="任意多边形: 形状 467"/>
          <p:cNvSpPr/>
          <p:nvPr/>
        </p:nvSpPr>
        <p:spPr>
          <a:xfrm rot="16200000">
            <a:off x="4201160" y="4667250"/>
            <a:ext cx="140335" cy="11874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sp>
        <p:nvSpPr>
          <p:cNvPr id="398" name="任意多边形: 形状 468"/>
          <p:cNvSpPr/>
          <p:nvPr/>
        </p:nvSpPr>
        <p:spPr>
          <a:xfrm rot="16200000">
            <a:off x="8143240" y="4666615"/>
            <a:ext cx="140335" cy="11874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sp>
        <p:nvSpPr>
          <p:cNvPr id="399" name="任意多边形: 形状 469"/>
          <p:cNvSpPr/>
          <p:nvPr/>
        </p:nvSpPr>
        <p:spPr>
          <a:xfrm rot="16200000">
            <a:off x="3284855" y="5915025"/>
            <a:ext cx="140335" cy="11874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sp>
        <p:nvSpPr>
          <p:cNvPr id="400" name="任意多边形: 形状 470"/>
          <p:cNvSpPr/>
          <p:nvPr/>
        </p:nvSpPr>
        <p:spPr>
          <a:xfrm rot="16200000">
            <a:off x="8968740" y="5889625"/>
            <a:ext cx="140335" cy="118745"/>
          </a:xfrm>
          <a:custGeom>
            <a:avLst/>
            <a:gdLst>
              <a:gd name="connsiteX0" fmla="*/ 180975 w 361950"/>
              <a:gd name="connsiteY0" fmla="*/ 269780 h 269780"/>
              <a:gd name="connsiteX1" fmla="*/ 0 w 361950"/>
              <a:gd name="connsiteY1" fmla="*/ 115379 h 269780"/>
              <a:gd name="connsiteX2" fmla="*/ 0 w 361950"/>
              <a:gd name="connsiteY2" fmla="*/ 0 h 269780"/>
              <a:gd name="connsiteX3" fmla="*/ 180975 w 361950"/>
              <a:gd name="connsiteY3" fmla="*/ 154401 h 269780"/>
              <a:gd name="connsiteX4" fmla="*/ 361950 w 361950"/>
              <a:gd name="connsiteY4" fmla="*/ 0 h 269780"/>
              <a:gd name="connsiteX5" fmla="*/ 361950 w 361950"/>
              <a:gd name="connsiteY5" fmla="*/ 115379 h 269780"/>
              <a:gd name="connsiteX6" fmla="*/ 180975 w 361950"/>
              <a:gd name="connsiteY6" fmla="*/ 269780 h 269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1950" h="269780">
                <a:moveTo>
                  <a:pt x="180975" y="269780"/>
                </a:moveTo>
                <a:lnTo>
                  <a:pt x="0" y="115379"/>
                </a:lnTo>
                <a:lnTo>
                  <a:pt x="0" y="0"/>
                </a:lnTo>
                <a:lnTo>
                  <a:pt x="180975" y="154401"/>
                </a:lnTo>
                <a:lnTo>
                  <a:pt x="361950" y="0"/>
                </a:lnTo>
                <a:lnTo>
                  <a:pt x="361950" y="115379"/>
                </a:lnTo>
                <a:lnTo>
                  <a:pt x="180975" y="26978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latin typeface="微软雅黑" panose="020B0503020204020204" charset="-122"/>
              <a:ea typeface="微软雅黑" panose="020B0503020204020204" charset="-122"/>
              <a:cs typeface="微软雅黑" panose="020B0503020204020204" charset="-122"/>
            </a:endParaRPr>
          </a:p>
        </p:txBody>
      </p:sp>
      <p:sp>
        <p:nvSpPr>
          <p:cNvPr id="401" name="任意多边形: 形状 39"/>
          <p:cNvSpPr/>
          <p:nvPr/>
        </p:nvSpPr>
        <p:spPr>
          <a:xfrm>
            <a:off x="3474085" y="3686810"/>
            <a:ext cx="2066925" cy="2924175"/>
          </a:xfrm>
          <a:custGeom>
            <a:avLst/>
            <a:gdLst>
              <a:gd name="connsiteX0" fmla="*/ 0 w 1841500"/>
              <a:gd name="connsiteY0" fmla="*/ 2895600 h 2895600"/>
              <a:gd name="connsiteX1" fmla="*/ 1841500 w 1841500"/>
              <a:gd name="connsiteY1" fmla="*/ 0 h 2895600"/>
              <a:gd name="connsiteX0-1" fmla="*/ 0 w 1841500"/>
              <a:gd name="connsiteY0-2" fmla="*/ 2895600 h 2895600"/>
              <a:gd name="connsiteX1-3" fmla="*/ 1841500 w 1841500"/>
              <a:gd name="connsiteY1-4" fmla="*/ 0 h 2895600"/>
              <a:gd name="connsiteX0-5" fmla="*/ 0 w 1841500"/>
              <a:gd name="connsiteY0-6" fmla="*/ 2895600 h 2895600"/>
              <a:gd name="connsiteX1-7" fmla="*/ 1841500 w 1841500"/>
              <a:gd name="connsiteY1-8" fmla="*/ 0 h 2895600"/>
              <a:gd name="connsiteX0-9" fmla="*/ 0 w 1841500"/>
              <a:gd name="connsiteY0-10" fmla="*/ 2895600 h 2895600"/>
              <a:gd name="connsiteX1-11" fmla="*/ 1841500 w 1841500"/>
              <a:gd name="connsiteY1-12" fmla="*/ 0 h 2895600"/>
              <a:gd name="connsiteX0-13" fmla="*/ 0 w 1891628"/>
              <a:gd name="connsiteY0-14" fmla="*/ 3005559 h 3005559"/>
              <a:gd name="connsiteX1-15" fmla="*/ 1891628 w 1891628"/>
              <a:gd name="connsiteY1-16" fmla="*/ 0 h 3005559"/>
              <a:gd name="connsiteX0-17" fmla="*/ 0 w 1891628"/>
              <a:gd name="connsiteY0-18" fmla="*/ 3005559 h 3005559"/>
              <a:gd name="connsiteX1-19" fmla="*/ 1891628 w 1891628"/>
              <a:gd name="connsiteY1-20" fmla="*/ 0 h 3005559"/>
            </a:gdLst>
            <a:ahLst/>
            <a:cxnLst>
              <a:cxn ang="0">
                <a:pos x="connsiteX0-1" y="connsiteY0-2"/>
              </a:cxn>
              <a:cxn ang="0">
                <a:pos x="connsiteX1-3" y="connsiteY1-4"/>
              </a:cxn>
            </a:cxnLst>
            <a:rect l="l" t="t" r="r" b="b"/>
            <a:pathLst>
              <a:path w="1891628" h="3005559">
                <a:moveTo>
                  <a:pt x="0" y="3005559"/>
                </a:moveTo>
                <a:cubicBezTo>
                  <a:pt x="969433" y="2294359"/>
                  <a:pt x="1631717" y="1483007"/>
                  <a:pt x="1891628" y="0"/>
                </a:cubicBezTo>
              </a:path>
            </a:pathLst>
          </a:custGeom>
          <a:noFill/>
          <a:ln>
            <a:gradFill>
              <a:gsLst>
                <a:gs pos="0">
                  <a:schemeClr val="accent2"/>
                </a:gs>
                <a:gs pos="100000">
                  <a:schemeClr val="accent2">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pic>
        <p:nvPicPr>
          <p:cNvPr id="4" name="图片 3" descr="屋顶资源管理"/>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55600" y="186055"/>
            <a:ext cx="549910" cy="549910"/>
          </a:xfrm>
          <a:prstGeom prst="rect">
            <a:avLst/>
          </a:prstGeom>
        </p:spPr>
      </p:pic>
      <p:grpSp>
        <p:nvGrpSpPr>
          <p:cNvPr id="9" name="组合 8"/>
          <p:cNvGrpSpPr/>
          <p:nvPr/>
        </p:nvGrpSpPr>
        <p:grpSpPr>
          <a:xfrm>
            <a:off x="8715375" y="348615"/>
            <a:ext cx="3219450" cy="332740"/>
            <a:chOff x="13761" y="549"/>
            <a:chExt cx="5070" cy="524"/>
          </a:xfrm>
        </p:grpSpPr>
        <p:pic>
          <p:nvPicPr>
            <p:cNvPr id="10" name="图片 9"/>
            <p:cNvPicPr>
              <a:picLocks noChangeAspect="1"/>
            </p:cNvPicPr>
            <p:nvPr userDrawn="1"/>
          </p:nvPicPr>
          <p:blipFill>
            <a:blip r:embed="rId15"/>
            <a:srcRect l="17002" t="-1765" r="56499" b="-1176"/>
            <a:stretch>
              <a:fillRect/>
            </a:stretch>
          </p:blipFill>
          <p:spPr>
            <a:xfrm>
              <a:off x="13761" y="549"/>
              <a:ext cx="1582" cy="525"/>
            </a:xfrm>
            <a:prstGeom prst="rect">
              <a:avLst/>
            </a:prstGeom>
          </p:spPr>
        </p:pic>
        <p:sp>
          <p:nvSpPr>
            <p:cNvPr id="16" name="文本框 15"/>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
        <p:nvSpPr>
          <p:cNvPr id="2" name="文本框 1"/>
          <p:cNvSpPr txBox="1"/>
          <p:nvPr/>
        </p:nvSpPr>
        <p:spPr>
          <a:xfrm flipH="1">
            <a:off x="7437755" y="2794635"/>
            <a:ext cx="1367155" cy="245110"/>
          </a:xfrm>
          <a:prstGeom prst="rect">
            <a:avLst/>
          </a:prstGeom>
          <a:noFill/>
        </p:spPr>
        <p:txBody>
          <a:bodyPr wrap="squar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推出团队合作机制</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flipH="1">
            <a:off x="8154035" y="3403600"/>
            <a:ext cx="1325245" cy="245110"/>
          </a:xfrm>
          <a:prstGeom prst="rect">
            <a:avLst/>
          </a:prstGeom>
          <a:noFill/>
        </p:spPr>
        <p:txBody>
          <a:bodyPr wrap="squar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建立交付保障制度</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flipH="1">
            <a:off x="8505825" y="3954145"/>
            <a:ext cx="1634490" cy="245110"/>
          </a:xfrm>
          <a:prstGeom prst="rect">
            <a:avLst/>
          </a:prstGeom>
          <a:noFill/>
        </p:spPr>
        <p:txBody>
          <a:bodyPr wrap="square" rtlCol="0">
            <a:spAutoFit/>
          </a:bodyPr>
          <a:lstStyle/>
          <a:p>
            <a:pPr lvl="0" algn="ctr">
              <a:buClrTx/>
              <a:buSzTx/>
              <a:buFontTx/>
            </a:pPr>
            <a:r>
              <a:rPr lang="zh-CN" altLang="en-US" sz="1000" dirty="0">
                <a:solidFill>
                  <a:schemeClr val="accent5"/>
                </a:solidFill>
                <a:latin typeface="微软雅黑" panose="020B0503020204020204" charset="-122"/>
                <a:ea typeface="微软雅黑" panose="020B0503020204020204" charset="-122"/>
                <a:cs typeface="微软雅黑" panose="020B0503020204020204" charset="-122"/>
                <a:sym typeface="+mn-ea"/>
              </a:rPr>
              <a:t>推进</a:t>
            </a:r>
            <a:r>
              <a:rPr lang="zh-CN" altLang="en-US" sz="1000" dirty="0">
                <a:solidFill>
                  <a:schemeClr val="accent5"/>
                </a:solidFill>
                <a:latin typeface="微软雅黑" panose="020B0503020204020204" charset="-122"/>
                <a:ea typeface="微软雅黑" panose="020B0503020204020204" charset="-122"/>
                <a:cs typeface="微软雅黑" panose="020B0503020204020204" charset="-122"/>
                <a:sym typeface="+mn-ea"/>
              </a:rPr>
              <a:t>25</a:t>
            </a:r>
            <a:r>
              <a:rPr lang="zh-CN" altLang="en-US" sz="1000" dirty="0">
                <a:solidFill>
                  <a:schemeClr val="accent5"/>
                </a:solidFill>
                <a:latin typeface="微软雅黑" panose="020B0503020204020204" charset="-122"/>
                <a:ea typeface="微软雅黑" panose="020B0503020204020204" charset="-122"/>
                <a:cs typeface="微软雅黑" panose="020B0503020204020204" charset="-122"/>
                <a:sym typeface="+mn-ea"/>
              </a:rPr>
              <a:t>个普通客户签约</a:t>
            </a:r>
            <a:endParaRPr lang="zh-CN" altLang="en-US" sz="1000"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nvSpPr>
        <p:spPr>
          <a:xfrm flipH="1">
            <a:off x="8998903" y="4523105"/>
            <a:ext cx="1305560" cy="245110"/>
          </a:xfrm>
          <a:prstGeom prst="rect">
            <a:avLst/>
          </a:prstGeom>
          <a:noFill/>
        </p:spPr>
        <p:txBody>
          <a:bodyPr wrap="squar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攻坚</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5</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个</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KA</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大客户</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flipH="1">
            <a:off x="9499283" y="5165725"/>
            <a:ext cx="1346200" cy="245110"/>
          </a:xfrm>
          <a:prstGeom prst="rect">
            <a:avLst/>
          </a:prstGeom>
          <a:noFill/>
        </p:spPr>
        <p:txBody>
          <a:bodyPr wrap="square" rtlCol="0">
            <a:spAutoFit/>
          </a:bodyPr>
          <a:lstStyle/>
          <a:p>
            <a:pPr lvl="0" algn="ctr">
              <a:buClrTx/>
              <a:buSzTx/>
              <a:buFontTx/>
            </a:pPr>
            <a:r>
              <a:rPr lang="zh-CN" altLang="en-US" sz="1000" dirty="0">
                <a:solidFill>
                  <a:schemeClr val="accent5"/>
                </a:solidFill>
                <a:latin typeface="微软雅黑" panose="020B0503020204020204" charset="-122"/>
                <a:ea typeface="微软雅黑" panose="020B0503020204020204" charset="-122"/>
                <a:cs typeface="微软雅黑" panose="020B0503020204020204" charset="-122"/>
                <a:sym typeface="+mn-ea"/>
              </a:rPr>
              <a:t>招聘</a:t>
            </a:r>
            <a:r>
              <a:rPr lang="zh-CN" altLang="en-US" sz="1000" dirty="0">
                <a:solidFill>
                  <a:schemeClr val="accent5"/>
                </a:solidFill>
                <a:latin typeface="微软雅黑" panose="020B0503020204020204" charset="-122"/>
                <a:ea typeface="微软雅黑" panose="020B0503020204020204" charset="-122"/>
                <a:cs typeface="微软雅黑" panose="020B0503020204020204" charset="-122"/>
                <a:sym typeface="+mn-ea"/>
              </a:rPr>
              <a:t>25</a:t>
            </a:r>
            <a:r>
              <a:rPr lang="zh-CN" altLang="en-US" sz="1000" dirty="0">
                <a:solidFill>
                  <a:schemeClr val="accent5"/>
                </a:solidFill>
                <a:latin typeface="微软雅黑" panose="020B0503020204020204" charset="-122"/>
                <a:ea typeface="微软雅黑" panose="020B0503020204020204" charset="-122"/>
                <a:cs typeface="微软雅黑" panose="020B0503020204020204" charset="-122"/>
                <a:sym typeface="+mn-ea"/>
              </a:rPr>
              <a:t>名销售精英</a:t>
            </a:r>
            <a:endParaRPr lang="zh-CN" altLang="en-US" sz="1000"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12" name="文本框 11"/>
          <p:cNvSpPr txBox="1"/>
          <p:nvPr/>
        </p:nvSpPr>
        <p:spPr>
          <a:xfrm flipH="1">
            <a:off x="9962198" y="5728970"/>
            <a:ext cx="1263650" cy="245110"/>
          </a:xfrm>
          <a:prstGeom prst="rect">
            <a:avLst/>
          </a:prstGeom>
          <a:noFill/>
        </p:spPr>
        <p:txBody>
          <a:bodyPr wrap="square" rtlCol="0">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建设</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5</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个销售团队</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fill="hold"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年度述职</a:t>
            </a:r>
            <a:r>
              <a:rPr lang="en-US" altLang="zh-CN" sz="2500">
                <a:solidFill>
                  <a:schemeClr val="tx2"/>
                </a:solidFill>
                <a:effectLst/>
                <a:latin typeface="微软雅黑" panose="020B0503020204020204" charset="-122"/>
                <a:ea typeface="微软雅黑" panose="020B0503020204020204" charset="-122"/>
                <a:cs typeface="微软雅黑" panose="020B0503020204020204" charset="-122"/>
              </a:rPr>
              <a:t>-</a:t>
            </a:r>
            <a:r>
              <a:rPr sz="2500">
                <a:solidFill>
                  <a:schemeClr val="tx2"/>
                </a:solidFill>
                <a:effectLst/>
                <a:latin typeface="微软雅黑" panose="020B0503020204020204" charset="-122"/>
                <a:ea typeface="微软雅黑" panose="020B0503020204020204" charset="-122"/>
                <a:cs typeface="微软雅黑" panose="020B0503020204020204" charset="-122"/>
              </a:rPr>
              <a:t>重点工作回顾</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nvGrpSpPr>
          <p:cNvPr id="9" name="组合 8"/>
          <p:cNvGrpSpPr/>
          <p:nvPr/>
        </p:nvGrpSpPr>
        <p:grpSpPr>
          <a:xfrm>
            <a:off x="8715375" y="348615"/>
            <a:ext cx="3219450" cy="332740"/>
            <a:chOff x="13761" y="549"/>
            <a:chExt cx="5070" cy="524"/>
          </a:xfrm>
        </p:grpSpPr>
        <p:pic>
          <p:nvPicPr>
            <p:cNvPr id="10" name="图片 9"/>
            <p:cNvPicPr>
              <a:picLocks noChangeAspect="1"/>
            </p:cNvPicPr>
            <p:nvPr userDrawn="1"/>
          </p:nvPicPr>
          <p:blipFill>
            <a:blip r:embed="rId1"/>
            <a:srcRect l="17002" t="-1765" r="56499" b="-1176"/>
            <a:stretch>
              <a:fillRect/>
            </a:stretch>
          </p:blipFill>
          <p:spPr>
            <a:xfrm>
              <a:off x="13761" y="549"/>
              <a:ext cx="1582" cy="525"/>
            </a:xfrm>
            <a:prstGeom prst="rect">
              <a:avLst/>
            </a:prstGeom>
          </p:spPr>
        </p:pic>
        <p:sp>
          <p:nvSpPr>
            <p:cNvPr id="16" name="文本框 15"/>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
        <p:nvSpPr>
          <p:cNvPr id="97" name="任意多边形 96"/>
          <p:cNvSpPr/>
          <p:nvPr/>
        </p:nvSpPr>
        <p:spPr>
          <a:xfrm>
            <a:off x="2240029" y="1160780"/>
            <a:ext cx="1293111" cy="1053270"/>
          </a:xfrm>
          <a:custGeom>
            <a:avLst/>
            <a:gdLst>
              <a:gd name="adj" fmla="val 41743"/>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2036" h="1659">
                <a:moveTo>
                  <a:pt x="0" y="1659"/>
                </a:moveTo>
                <a:lnTo>
                  <a:pt x="692" y="0"/>
                </a:lnTo>
                <a:lnTo>
                  <a:pt x="2036" y="0"/>
                </a:lnTo>
                <a:lnTo>
                  <a:pt x="2036" y="1659"/>
                </a:lnTo>
                <a:lnTo>
                  <a:pt x="0" y="1659"/>
                </a:lnTo>
                <a:close/>
              </a:path>
            </a:pathLst>
          </a:custGeom>
          <a:gradFill>
            <a:gsLst>
              <a:gs pos="100000">
                <a:schemeClr val="accent5">
                  <a:lumMod val="40000"/>
                  <a:lumOff val="60000"/>
                </a:schemeClr>
              </a:gs>
              <a:gs pos="21000">
                <a:schemeClr val="accent5">
                  <a:lumMod val="60000"/>
                  <a:lumOff val="40000"/>
                </a:schemeClr>
              </a:gs>
            </a:gsLst>
            <a:lin ang="162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微软雅黑" panose="020B0503020204020204" charset="-122"/>
            </a:endParaRPr>
          </a:p>
        </p:txBody>
      </p:sp>
      <p:sp>
        <p:nvSpPr>
          <p:cNvPr id="98" name="任意多边形 97"/>
          <p:cNvSpPr/>
          <p:nvPr/>
        </p:nvSpPr>
        <p:spPr>
          <a:xfrm>
            <a:off x="1795771" y="2322050"/>
            <a:ext cx="1737369" cy="956260"/>
          </a:xfrm>
          <a:custGeom>
            <a:avLst/>
            <a:gdLst>
              <a:gd name="adj" fmla="val 41743"/>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2736" h="1506">
                <a:moveTo>
                  <a:pt x="0" y="1506"/>
                </a:moveTo>
                <a:lnTo>
                  <a:pt x="629" y="0"/>
                </a:lnTo>
                <a:lnTo>
                  <a:pt x="2736" y="0"/>
                </a:lnTo>
                <a:lnTo>
                  <a:pt x="2736" y="1506"/>
                </a:lnTo>
                <a:lnTo>
                  <a:pt x="0" y="1506"/>
                </a:lnTo>
                <a:close/>
              </a:path>
            </a:pathLst>
          </a:custGeom>
          <a:gradFill>
            <a:gsLst>
              <a:gs pos="100000">
                <a:schemeClr val="accent5">
                  <a:lumMod val="60000"/>
                  <a:lumOff val="40000"/>
                </a:schemeClr>
              </a:gs>
              <a:gs pos="15000">
                <a:schemeClr val="accent5"/>
              </a:gs>
            </a:gsLst>
            <a:lin ang="162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微软雅黑" panose="020B0503020204020204" charset="-122"/>
            </a:endParaRPr>
          </a:p>
        </p:txBody>
      </p:sp>
      <p:sp>
        <p:nvSpPr>
          <p:cNvPr id="99" name="任意多边形 98"/>
          <p:cNvSpPr/>
          <p:nvPr/>
        </p:nvSpPr>
        <p:spPr>
          <a:xfrm>
            <a:off x="1351513" y="3386310"/>
            <a:ext cx="2181627" cy="956260"/>
          </a:xfrm>
          <a:custGeom>
            <a:avLst/>
            <a:gdLst>
              <a:gd name="adj" fmla="val 41743"/>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3436" h="1506">
                <a:moveTo>
                  <a:pt x="0" y="1506"/>
                </a:moveTo>
                <a:lnTo>
                  <a:pt x="629" y="0"/>
                </a:lnTo>
                <a:lnTo>
                  <a:pt x="3436" y="0"/>
                </a:lnTo>
                <a:lnTo>
                  <a:pt x="3436" y="1506"/>
                </a:lnTo>
                <a:lnTo>
                  <a:pt x="0" y="1506"/>
                </a:lnTo>
                <a:close/>
              </a:path>
            </a:pathLst>
          </a:custGeom>
          <a:gradFill>
            <a:gsLst>
              <a:gs pos="100000">
                <a:schemeClr val="accent1">
                  <a:lumMod val="40000"/>
                  <a:lumOff val="60000"/>
                </a:schemeClr>
              </a:gs>
              <a:gs pos="0">
                <a:schemeClr val="accent1">
                  <a:lumMod val="40000"/>
                  <a:lumOff val="60000"/>
                </a:scheme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微软雅黑" panose="020B0503020204020204" charset="-122"/>
            </a:endParaRPr>
          </a:p>
        </p:txBody>
      </p:sp>
      <p:sp>
        <p:nvSpPr>
          <p:cNvPr id="100" name="任意多边形 99"/>
          <p:cNvSpPr/>
          <p:nvPr/>
        </p:nvSpPr>
        <p:spPr>
          <a:xfrm>
            <a:off x="907255" y="4450570"/>
            <a:ext cx="2625885" cy="956260"/>
          </a:xfrm>
          <a:custGeom>
            <a:avLst/>
            <a:gdLst>
              <a:gd name="adj" fmla="val 41743"/>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135" h="1506">
                <a:moveTo>
                  <a:pt x="0" y="1506"/>
                </a:moveTo>
                <a:lnTo>
                  <a:pt x="629" y="0"/>
                </a:lnTo>
                <a:lnTo>
                  <a:pt x="4135" y="0"/>
                </a:lnTo>
                <a:lnTo>
                  <a:pt x="4135" y="1506"/>
                </a:lnTo>
                <a:lnTo>
                  <a:pt x="0" y="1506"/>
                </a:lnTo>
                <a:close/>
              </a:path>
            </a:pathLst>
          </a:custGeom>
          <a:gradFill>
            <a:gsLst>
              <a:gs pos="100000">
                <a:schemeClr val="accent1">
                  <a:lumMod val="40000"/>
                  <a:lumOff val="60000"/>
                </a:schemeClr>
              </a:gs>
              <a:gs pos="9000">
                <a:schemeClr val="accent1">
                  <a:lumMod val="60000"/>
                  <a:lumOff val="40000"/>
                </a:schemeClr>
              </a:gs>
            </a:gsLst>
            <a:lin ang="162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微软雅黑" panose="020B0503020204020204" charset="-122"/>
            </a:endParaRPr>
          </a:p>
        </p:txBody>
      </p:sp>
      <p:sp>
        <p:nvSpPr>
          <p:cNvPr id="101" name="任意多边形 100"/>
          <p:cNvSpPr/>
          <p:nvPr/>
        </p:nvSpPr>
        <p:spPr>
          <a:xfrm>
            <a:off x="462915" y="5514830"/>
            <a:ext cx="3070225" cy="956455"/>
          </a:xfrm>
          <a:custGeom>
            <a:avLst/>
            <a:gdLst>
              <a:gd name="adj" fmla="val 41743"/>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4835" h="1506">
                <a:moveTo>
                  <a:pt x="0" y="1506"/>
                </a:moveTo>
                <a:lnTo>
                  <a:pt x="629" y="0"/>
                </a:lnTo>
                <a:lnTo>
                  <a:pt x="4835" y="0"/>
                </a:lnTo>
                <a:lnTo>
                  <a:pt x="4835" y="1506"/>
                </a:lnTo>
                <a:lnTo>
                  <a:pt x="0" y="1506"/>
                </a:lnTo>
                <a:close/>
              </a:path>
            </a:pathLst>
          </a:custGeom>
          <a:gradFill>
            <a:gsLst>
              <a:gs pos="100000">
                <a:schemeClr val="accent1">
                  <a:lumMod val="60000"/>
                  <a:lumOff val="40000"/>
                </a:schemeClr>
              </a:gs>
              <a:gs pos="14000">
                <a:schemeClr val="accent1"/>
              </a:gs>
            </a:gsLst>
            <a:lin ang="162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微软雅黑" panose="020B0503020204020204" charset="-122"/>
            </a:endParaRPr>
          </a:p>
        </p:txBody>
      </p:sp>
      <p:sp>
        <p:nvSpPr>
          <p:cNvPr id="127" name="矩形: 圆角 29"/>
          <p:cNvSpPr/>
          <p:nvPr/>
        </p:nvSpPr>
        <p:spPr>
          <a:xfrm>
            <a:off x="3627755" y="1164590"/>
            <a:ext cx="8209280" cy="1049655"/>
          </a:xfrm>
          <a:prstGeom prst="roundRect">
            <a:avLst>
              <a:gd name="adj" fmla="val 0"/>
            </a:avLst>
          </a:prstGeom>
          <a:solidFill>
            <a:schemeClr val="accent5">
              <a:lumMod val="20000"/>
              <a:lumOff val="80000"/>
              <a:alpha val="3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微软雅黑" panose="020B0503020204020204" charset="-122"/>
            </a:endParaRPr>
          </a:p>
        </p:txBody>
      </p:sp>
      <p:sp>
        <p:nvSpPr>
          <p:cNvPr id="128" name="矩形: 圆角 29"/>
          <p:cNvSpPr/>
          <p:nvPr/>
        </p:nvSpPr>
        <p:spPr>
          <a:xfrm>
            <a:off x="3627755" y="2324100"/>
            <a:ext cx="8209280" cy="937260"/>
          </a:xfrm>
          <a:prstGeom prst="roundRect">
            <a:avLst>
              <a:gd name="adj" fmla="val 0"/>
            </a:avLst>
          </a:prstGeom>
          <a:solidFill>
            <a:schemeClr val="accent5">
              <a:lumMod val="20000"/>
              <a:lumOff val="80000"/>
              <a:alpha val="3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微软雅黑" panose="020B0503020204020204" charset="-122"/>
            </a:endParaRPr>
          </a:p>
        </p:txBody>
      </p:sp>
      <p:sp>
        <p:nvSpPr>
          <p:cNvPr id="129" name="矩形: 圆角 29"/>
          <p:cNvSpPr/>
          <p:nvPr/>
        </p:nvSpPr>
        <p:spPr>
          <a:xfrm>
            <a:off x="3627755" y="3398520"/>
            <a:ext cx="8209280" cy="950595"/>
          </a:xfrm>
          <a:prstGeom prst="roundRect">
            <a:avLst>
              <a:gd name="adj" fmla="val 0"/>
            </a:avLst>
          </a:prstGeom>
          <a:solidFill>
            <a:schemeClr val="accent1">
              <a:lumMod val="20000"/>
              <a:lumOff val="80000"/>
              <a:alpha val="3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微软雅黑" panose="020B0503020204020204" charset="-122"/>
            </a:endParaRPr>
          </a:p>
        </p:txBody>
      </p:sp>
      <p:sp>
        <p:nvSpPr>
          <p:cNvPr id="130" name="矩形: 圆角 29"/>
          <p:cNvSpPr/>
          <p:nvPr/>
        </p:nvSpPr>
        <p:spPr>
          <a:xfrm>
            <a:off x="3627755" y="4450715"/>
            <a:ext cx="8209280" cy="956310"/>
          </a:xfrm>
          <a:prstGeom prst="roundRect">
            <a:avLst>
              <a:gd name="adj" fmla="val 0"/>
            </a:avLst>
          </a:prstGeom>
          <a:solidFill>
            <a:schemeClr val="accent1">
              <a:lumMod val="20000"/>
              <a:lumOff val="80000"/>
              <a:alpha val="3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微软雅黑" panose="020B0503020204020204" charset="-122"/>
            </a:endParaRPr>
          </a:p>
        </p:txBody>
      </p:sp>
      <p:sp>
        <p:nvSpPr>
          <p:cNvPr id="131" name="矩形: 圆角 29"/>
          <p:cNvSpPr/>
          <p:nvPr/>
        </p:nvSpPr>
        <p:spPr>
          <a:xfrm>
            <a:off x="3628390" y="5515610"/>
            <a:ext cx="8208645" cy="969645"/>
          </a:xfrm>
          <a:prstGeom prst="roundRect">
            <a:avLst>
              <a:gd name="adj" fmla="val 0"/>
            </a:avLst>
          </a:prstGeom>
          <a:solidFill>
            <a:schemeClr val="accent1">
              <a:lumMod val="20000"/>
              <a:lumOff val="80000"/>
              <a:alpha val="30000"/>
            </a:schemeClr>
          </a:solidFill>
          <a:ln w="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微软雅黑" panose="020B0503020204020204" charset="-122"/>
            </a:endParaRPr>
          </a:p>
        </p:txBody>
      </p:sp>
      <p:sp>
        <p:nvSpPr>
          <p:cNvPr id="137" name="任意形状 46"/>
          <p:cNvSpPr/>
          <p:nvPr/>
        </p:nvSpPr>
        <p:spPr>
          <a:xfrm>
            <a:off x="10807700" y="1163955"/>
            <a:ext cx="1029335" cy="1035050"/>
          </a:xfrm>
          <a:custGeom>
            <a:avLst/>
            <a:gdLst>
              <a:gd name="connsiteX0" fmla="*/ 0 w 1673351"/>
              <a:gd name="connsiteY0" fmla="*/ 0 h 1673351"/>
              <a:gd name="connsiteX1" fmla="*/ 1673352 w 1673351"/>
              <a:gd name="connsiteY1" fmla="*/ 0 h 1673351"/>
              <a:gd name="connsiteX2" fmla="*/ 1673352 w 1673351"/>
              <a:gd name="connsiteY2" fmla="*/ 1673352 h 1673351"/>
              <a:gd name="connsiteX3" fmla="*/ 0 w 1673351"/>
              <a:gd name="connsiteY3" fmla="*/ 1673352 h 1673351"/>
            </a:gdLst>
            <a:ahLst/>
            <a:cxnLst>
              <a:cxn ang="0">
                <a:pos x="connsiteX0" y="connsiteY0"/>
              </a:cxn>
              <a:cxn ang="0">
                <a:pos x="connsiteX1" y="connsiteY1"/>
              </a:cxn>
              <a:cxn ang="0">
                <a:pos x="connsiteX2" y="connsiteY2"/>
              </a:cxn>
              <a:cxn ang="0">
                <a:pos x="connsiteX3" y="connsiteY3"/>
              </a:cxn>
            </a:cxnLst>
            <a:rect l="l" t="t" r="r" b="b"/>
            <a:pathLst>
              <a:path w="1673351" h="1673351">
                <a:moveTo>
                  <a:pt x="0" y="0"/>
                </a:moveTo>
                <a:lnTo>
                  <a:pt x="1673352" y="0"/>
                </a:lnTo>
                <a:lnTo>
                  <a:pt x="1673352" y="1673352"/>
                </a:lnTo>
                <a:lnTo>
                  <a:pt x="0" y="1673352"/>
                </a:lnTo>
                <a:close/>
              </a:path>
            </a:pathLst>
          </a:custGeom>
          <a:gradFill>
            <a:gsLst>
              <a:gs pos="100000">
                <a:schemeClr val="accent5">
                  <a:lumMod val="40000"/>
                  <a:lumOff val="60000"/>
                </a:schemeClr>
              </a:gs>
              <a:gs pos="21000">
                <a:schemeClr val="accent5">
                  <a:lumMod val="60000"/>
                  <a:lumOff val="40000"/>
                </a:schemeClr>
              </a:gs>
            </a:gsLst>
            <a:lin ang="162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138" name="圆角矩形 137"/>
          <p:cNvSpPr/>
          <p:nvPr/>
        </p:nvSpPr>
        <p:spPr>
          <a:xfrm>
            <a:off x="11010900" y="1380490"/>
            <a:ext cx="622300" cy="616585"/>
          </a:xfrm>
          <a:prstGeom prst="roundRect">
            <a:avLst>
              <a:gd name="adj" fmla="val 11333"/>
            </a:avLst>
          </a:prstGeom>
          <a:solidFill>
            <a:schemeClr val="bg1"/>
          </a:solidFill>
          <a:ln w="762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42" name="任意形状 46"/>
          <p:cNvSpPr/>
          <p:nvPr/>
        </p:nvSpPr>
        <p:spPr>
          <a:xfrm>
            <a:off x="10807700" y="2313305"/>
            <a:ext cx="1029335" cy="948690"/>
          </a:xfrm>
          <a:custGeom>
            <a:avLst/>
            <a:gdLst>
              <a:gd name="connsiteX0" fmla="*/ 0 w 1673351"/>
              <a:gd name="connsiteY0" fmla="*/ 0 h 1673351"/>
              <a:gd name="connsiteX1" fmla="*/ 1673352 w 1673351"/>
              <a:gd name="connsiteY1" fmla="*/ 0 h 1673351"/>
              <a:gd name="connsiteX2" fmla="*/ 1673352 w 1673351"/>
              <a:gd name="connsiteY2" fmla="*/ 1673352 h 1673351"/>
              <a:gd name="connsiteX3" fmla="*/ 0 w 1673351"/>
              <a:gd name="connsiteY3" fmla="*/ 1673352 h 1673351"/>
            </a:gdLst>
            <a:ahLst/>
            <a:cxnLst>
              <a:cxn ang="0">
                <a:pos x="connsiteX0" y="connsiteY0"/>
              </a:cxn>
              <a:cxn ang="0">
                <a:pos x="connsiteX1" y="connsiteY1"/>
              </a:cxn>
              <a:cxn ang="0">
                <a:pos x="connsiteX2" y="connsiteY2"/>
              </a:cxn>
              <a:cxn ang="0">
                <a:pos x="connsiteX3" y="connsiteY3"/>
              </a:cxn>
            </a:cxnLst>
            <a:rect l="l" t="t" r="r" b="b"/>
            <a:pathLst>
              <a:path w="1673351" h="1673351">
                <a:moveTo>
                  <a:pt x="0" y="0"/>
                </a:moveTo>
                <a:lnTo>
                  <a:pt x="1673352" y="0"/>
                </a:lnTo>
                <a:lnTo>
                  <a:pt x="1673352" y="1673352"/>
                </a:lnTo>
                <a:lnTo>
                  <a:pt x="0" y="1673352"/>
                </a:lnTo>
                <a:close/>
              </a:path>
            </a:pathLst>
          </a:custGeom>
          <a:gradFill>
            <a:gsLst>
              <a:gs pos="100000">
                <a:schemeClr val="accent5">
                  <a:lumMod val="60000"/>
                  <a:lumOff val="40000"/>
                </a:schemeClr>
              </a:gs>
              <a:gs pos="15000">
                <a:schemeClr val="accent5"/>
              </a:gs>
            </a:gsLst>
            <a:lin ang="162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143" name="圆角矩形 142"/>
          <p:cNvSpPr/>
          <p:nvPr/>
        </p:nvSpPr>
        <p:spPr>
          <a:xfrm>
            <a:off x="11010900" y="2450465"/>
            <a:ext cx="622300" cy="606425"/>
          </a:xfrm>
          <a:prstGeom prst="roundRect">
            <a:avLst>
              <a:gd name="adj" fmla="val 11333"/>
            </a:avLst>
          </a:prstGeom>
          <a:solidFill>
            <a:schemeClr val="bg1"/>
          </a:solidFill>
          <a:ln w="762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46" name="任意形状 46"/>
          <p:cNvSpPr/>
          <p:nvPr/>
        </p:nvSpPr>
        <p:spPr>
          <a:xfrm>
            <a:off x="10807700" y="3398520"/>
            <a:ext cx="1029335" cy="959485"/>
          </a:xfrm>
          <a:custGeom>
            <a:avLst/>
            <a:gdLst>
              <a:gd name="connsiteX0" fmla="*/ 0 w 1673351"/>
              <a:gd name="connsiteY0" fmla="*/ 0 h 1673351"/>
              <a:gd name="connsiteX1" fmla="*/ 1673352 w 1673351"/>
              <a:gd name="connsiteY1" fmla="*/ 0 h 1673351"/>
              <a:gd name="connsiteX2" fmla="*/ 1673352 w 1673351"/>
              <a:gd name="connsiteY2" fmla="*/ 1673352 h 1673351"/>
              <a:gd name="connsiteX3" fmla="*/ 0 w 1673351"/>
              <a:gd name="connsiteY3" fmla="*/ 1673352 h 1673351"/>
            </a:gdLst>
            <a:ahLst/>
            <a:cxnLst>
              <a:cxn ang="0">
                <a:pos x="connsiteX0" y="connsiteY0"/>
              </a:cxn>
              <a:cxn ang="0">
                <a:pos x="connsiteX1" y="connsiteY1"/>
              </a:cxn>
              <a:cxn ang="0">
                <a:pos x="connsiteX2" y="connsiteY2"/>
              </a:cxn>
              <a:cxn ang="0">
                <a:pos x="connsiteX3" y="connsiteY3"/>
              </a:cxn>
            </a:cxnLst>
            <a:rect l="l" t="t" r="r" b="b"/>
            <a:pathLst>
              <a:path w="1673351" h="1673351">
                <a:moveTo>
                  <a:pt x="0" y="0"/>
                </a:moveTo>
                <a:lnTo>
                  <a:pt x="1673352" y="0"/>
                </a:lnTo>
                <a:lnTo>
                  <a:pt x="1673352" y="1673352"/>
                </a:lnTo>
                <a:lnTo>
                  <a:pt x="0" y="1673352"/>
                </a:lnTo>
                <a:close/>
              </a:path>
            </a:pathLst>
          </a:custGeom>
          <a:gradFill>
            <a:gsLst>
              <a:gs pos="100000">
                <a:schemeClr val="accent1">
                  <a:lumMod val="40000"/>
                  <a:lumOff val="60000"/>
                </a:schemeClr>
              </a:gs>
              <a:gs pos="0">
                <a:schemeClr val="accent1">
                  <a:lumMod val="40000"/>
                  <a:lumOff val="60000"/>
                </a:schemeClr>
              </a:gs>
            </a:gsLst>
            <a:lin ang="162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147" name="圆角矩形 146"/>
          <p:cNvSpPr/>
          <p:nvPr/>
        </p:nvSpPr>
        <p:spPr>
          <a:xfrm>
            <a:off x="11010900" y="3552825"/>
            <a:ext cx="622300" cy="606425"/>
          </a:xfrm>
          <a:prstGeom prst="roundRect">
            <a:avLst>
              <a:gd name="adj" fmla="val 11333"/>
            </a:avLst>
          </a:prstGeom>
          <a:solidFill>
            <a:schemeClr val="bg1"/>
          </a:solidFill>
          <a:ln w="762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50" name="任意形状 46"/>
          <p:cNvSpPr/>
          <p:nvPr/>
        </p:nvSpPr>
        <p:spPr>
          <a:xfrm>
            <a:off x="10807700" y="4450080"/>
            <a:ext cx="1029335" cy="953770"/>
          </a:xfrm>
          <a:custGeom>
            <a:avLst/>
            <a:gdLst>
              <a:gd name="connsiteX0" fmla="*/ 0 w 1673351"/>
              <a:gd name="connsiteY0" fmla="*/ 0 h 1673351"/>
              <a:gd name="connsiteX1" fmla="*/ 1673352 w 1673351"/>
              <a:gd name="connsiteY1" fmla="*/ 0 h 1673351"/>
              <a:gd name="connsiteX2" fmla="*/ 1673352 w 1673351"/>
              <a:gd name="connsiteY2" fmla="*/ 1673352 h 1673351"/>
              <a:gd name="connsiteX3" fmla="*/ 0 w 1673351"/>
              <a:gd name="connsiteY3" fmla="*/ 1673352 h 1673351"/>
            </a:gdLst>
            <a:ahLst/>
            <a:cxnLst>
              <a:cxn ang="0">
                <a:pos x="connsiteX0" y="connsiteY0"/>
              </a:cxn>
              <a:cxn ang="0">
                <a:pos x="connsiteX1" y="connsiteY1"/>
              </a:cxn>
              <a:cxn ang="0">
                <a:pos x="connsiteX2" y="connsiteY2"/>
              </a:cxn>
              <a:cxn ang="0">
                <a:pos x="connsiteX3" y="connsiteY3"/>
              </a:cxn>
            </a:cxnLst>
            <a:rect l="l" t="t" r="r" b="b"/>
            <a:pathLst>
              <a:path w="1673351" h="1673351">
                <a:moveTo>
                  <a:pt x="0" y="0"/>
                </a:moveTo>
                <a:lnTo>
                  <a:pt x="1673352" y="0"/>
                </a:lnTo>
                <a:lnTo>
                  <a:pt x="1673352" y="1673352"/>
                </a:lnTo>
                <a:lnTo>
                  <a:pt x="0" y="1673352"/>
                </a:lnTo>
                <a:close/>
              </a:path>
            </a:pathLst>
          </a:custGeom>
          <a:gradFill>
            <a:gsLst>
              <a:gs pos="100000">
                <a:schemeClr val="accent1">
                  <a:lumMod val="40000"/>
                  <a:lumOff val="60000"/>
                </a:schemeClr>
              </a:gs>
              <a:gs pos="9000">
                <a:schemeClr val="accent1">
                  <a:lumMod val="60000"/>
                  <a:lumOff val="40000"/>
                </a:schemeClr>
              </a:gs>
            </a:gsLst>
            <a:lin ang="162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151" name="圆角矩形 150"/>
          <p:cNvSpPr/>
          <p:nvPr/>
        </p:nvSpPr>
        <p:spPr>
          <a:xfrm>
            <a:off x="11010900" y="4598670"/>
            <a:ext cx="622300" cy="606425"/>
          </a:xfrm>
          <a:prstGeom prst="roundRect">
            <a:avLst>
              <a:gd name="adj" fmla="val 11333"/>
            </a:avLst>
          </a:prstGeom>
          <a:solidFill>
            <a:schemeClr val="bg1"/>
          </a:solidFill>
          <a:ln w="762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154" name="任意形状 46"/>
          <p:cNvSpPr/>
          <p:nvPr/>
        </p:nvSpPr>
        <p:spPr>
          <a:xfrm>
            <a:off x="10807700" y="5515610"/>
            <a:ext cx="1029335" cy="969645"/>
          </a:xfrm>
          <a:custGeom>
            <a:avLst/>
            <a:gdLst>
              <a:gd name="connsiteX0" fmla="*/ 0 w 1673351"/>
              <a:gd name="connsiteY0" fmla="*/ 0 h 1673351"/>
              <a:gd name="connsiteX1" fmla="*/ 1673352 w 1673351"/>
              <a:gd name="connsiteY1" fmla="*/ 0 h 1673351"/>
              <a:gd name="connsiteX2" fmla="*/ 1673352 w 1673351"/>
              <a:gd name="connsiteY2" fmla="*/ 1673352 h 1673351"/>
              <a:gd name="connsiteX3" fmla="*/ 0 w 1673351"/>
              <a:gd name="connsiteY3" fmla="*/ 1673352 h 1673351"/>
            </a:gdLst>
            <a:ahLst/>
            <a:cxnLst>
              <a:cxn ang="0">
                <a:pos x="connsiteX0" y="connsiteY0"/>
              </a:cxn>
              <a:cxn ang="0">
                <a:pos x="connsiteX1" y="connsiteY1"/>
              </a:cxn>
              <a:cxn ang="0">
                <a:pos x="connsiteX2" y="connsiteY2"/>
              </a:cxn>
              <a:cxn ang="0">
                <a:pos x="connsiteX3" y="connsiteY3"/>
              </a:cxn>
            </a:cxnLst>
            <a:rect l="l" t="t" r="r" b="b"/>
            <a:pathLst>
              <a:path w="1673351" h="1673351">
                <a:moveTo>
                  <a:pt x="0" y="0"/>
                </a:moveTo>
                <a:lnTo>
                  <a:pt x="1673352" y="0"/>
                </a:lnTo>
                <a:lnTo>
                  <a:pt x="1673352" y="1673352"/>
                </a:lnTo>
                <a:lnTo>
                  <a:pt x="0" y="1673352"/>
                </a:lnTo>
                <a:close/>
              </a:path>
            </a:pathLst>
          </a:custGeom>
          <a:gradFill>
            <a:gsLst>
              <a:gs pos="100000">
                <a:schemeClr val="accent1">
                  <a:lumMod val="60000"/>
                  <a:lumOff val="40000"/>
                </a:schemeClr>
              </a:gs>
              <a:gs pos="14000">
                <a:schemeClr val="accent1"/>
              </a:gs>
            </a:gsLst>
            <a:lin ang="162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155" name="圆角矩形 154"/>
          <p:cNvSpPr/>
          <p:nvPr/>
        </p:nvSpPr>
        <p:spPr>
          <a:xfrm>
            <a:off x="11010900" y="5680075"/>
            <a:ext cx="622300" cy="606425"/>
          </a:xfrm>
          <a:prstGeom prst="roundRect">
            <a:avLst>
              <a:gd name="adj" fmla="val 11333"/>
            </a:avLst>
          </a:prstGeom>
          <a:solidFill>
            <a:schemeClr val="bg1"/>
          </a:solidFill>
          <a:ln w="7620"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157" name="组合 156"/>
          <p:cNvGrpSpPr/>
          <p:nvPr/>
        </p:nvGrpSpPr>
        <p:grpSpPr>
          <a:xfrm>
            <a:off x="2380475" y="1318990"/>
            <a:ext cx="1246910" cy="736850"/>
            <a:chOff x="3217308" y="1574536"/>
            <a:chExt cx="1246910" cy="736850"/>
          </a:xfrm>
        </p:grpSpPr>
        <p:sp>
          <p:nvSpPr>
            <p:cNvPr id="158" name="文本框 157"/>
            <p:cNvSpPr txBox="1"/>
            <p:nvPr/>
          </p:nvSpPr>
          <p:spPr>
            <a:xfrm>
              <a:off x="3453335" y="1574536"/>
              <a:ext cx="756000" cy="475615"/>
            </a:xfrm>
            <a:prstGeom prst="rect">
              <a:avLst/>
            </a:prstGeom>
            <a:noFill/>
          </p:spPr>
          <p:txBody>
            <a:bodyPr wrap="square" rtlCol="0" anchor="ctr">
              <a:spAutoFit/>
            </a:bodyPr>
            <a:lstStyle/>
            <a:p>
              <a:pPr algn="ctr"/>
              <a:r>
                <a:rPr kumimoji="1" lang="en-US" altLang="zh-CN" sz="2500" b="1" dirty="0">
                  <a:solidFill>
                    <a:schemeClr val="bg1"/>
                  </a:solidFill>
                  <a:latin typeface="微软雅黑" panose="020B0503020204020204" charset="-122"/>
                  <a:ea typeface="微软雅黑" panose="020B0503020204020204" charset="-122"/>
                  <a:cs typeface="微软雅黑" panose="020B0503020204020204" charset="-122"/>
                </a:rPr>
                <a:t>01</a:t>
              </a:r>
              <a:endParaRPr kumimoji="1" lang="en-US" altLang="zh-CN" sz="25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59" name="文本框 158"/>
            <p:cNvSpPr txBox="1"/>
            <p:nvPr/>
          </p:nvSpPr>
          <p:spPr>
            <a:xfrm>
              <a:off x="3217308" y="1989441"/>
              <a:ext cx="1246910" cy="321945"/>
            </a:xfrm>
            <a:prstGeom prst="rect">
              <a:avLst/>
            </a:prstGeom>
            <a:noFill/>
          </p:spPr>
          <p:txBody>
            <a:bodyPr wrap="square" rtlCol="0">
              <a:spAutoFit/>
            </a:bodyPr>
            <a:lstStyle/>
            <a:p>
              <a:pPr algn="ctr"/>
              <a:r>
                <a:rPr kumimoji="1" lang="zh-CN" altLang="en-US" sz="1500" b="1" dirty="0">
                  <a:solidFill>
                    <a:schemeClr val="bg1"/>
                  </a:solidFill>
                  <a:latin typeface="微软雅黑" panose="020B0503020204020204" charset="-122"/>
                  <a:ea typeface="微软雅黑" panose="020B0503020204020204" charset="-122"/>
                  <a:cs typeface="微软雅黑" panose="020B0503020204020204" charset="-122"/>
                </a:rPr>
                <a:t>战略落地</a:t>
              </a:r>
              <a:endParaRPr kumimoji="1" lang="zh-CN" altLang="en-US" sz="15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160" name="组合 159"/>
          <p:cNvGrpSpPr/>
          <p:nvPr/>
        </p:nvGrpSpPr>
        <p:grpSpPr>
          <a:xfrm>
            <a:off x="2178161" y="2431755"/>
            <a:ext cx="1246910" cy="736850"/>
            <a:chOff x="3217308" y="1574536"/>
            <a:chExt cx="1246910" cy="736850"/>
          </a:xfrm>
        </p:grpSpPr>
        <p:sp>
          <p:nvSpPr>
            <p:cNvPr id="161" name="文本框 160"/>
            <p:cNvSpPr txBox="1"/>
            <p:nvPr/>
          </p:nvSpPr>
          <p:spPr>
            <a:xfrm>
              <a:off x="3453335" y="1574536"/>
              <a:ext cx="756000" cy="475615"/>
            </a:xfrm>
            <a:prstGeom prst="rect">
              <a:avLst/>
            </a:prstGeom>
            <a:noFill/>
          </p:spPr>
          <p:txBody>
            <a:bodyPr wrap="square" rtlCol="0" anchor="ctr">
              <a:spAutoFit/>
            </a:bodyPr>
            <a:lstStyle/>
            <a:p>
              <a:pPr algn="ctr"/>
              <a:r>
                <a:rPr kumimoji="1" lang="en-US" altLang="zh-CN" sz="2500" b="1" dirty="0">
                  <a:solidFill>
                    <a:schemeClr val="bg1"/>
                  </a:solidFill>
                  <a:latin typeface="微软雅黑" panose="020B0503020204020204" charset="-122"/>
                  <a:ea typeface="微软雅黑" panose="020B0503020204020204" charset="-122"/>
                  <a:cs typeface="微软雅黑" panose="020B0503020204020204" charset="-122"/>
                </a:rPr>
                <a:t>02</a:t>
              </a:r>
              <a:endParaRPr kumimoji="1" lang="en-US" altLang="zh-CN" sz="25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62" name="文本框 161"/>
            <p:cNvSpPr txBox="1"/>
            <p:nvPr/>
          </p:nvSpPr>
          <p:spPr>
            <a:xfrm>
              <a:off x="3217308" y="1989441"/>
              <a:ext cx="1246910" cy="321945"/>
            </a:xfrm>
            <a:prstGeom prst="rect">
              <a:avLst/>
            </a:prstGeom>
            <a:noFill/>
          </p:spPr>
          <p:txBody>
            <a:bodyPr wrap="square" rtlCol="0">
              <a:spAutoFit/>
            </a:bodyPr>
            <a:lstStyle/>
            <a:p>
              <a:pPr algn="ctr"/>
              <a:r>
                <a:rPr kumimoji="1" lang="zh-CN" altLang="en-US" sz="1500" b="1" dirty="0">
                  <a:solidFill>
                    <a:schemeClr val="bg1"/>
                  </a:solidFill>
                  <a:latin typeface="微软雅黑" panose="020B0503020204020204" charset="-122"/>
                  <a:ea typeface="微软雅黑" panose="020B0503020204020204" charset="-122"/>
                  <a:cs typeface="微软雅黑" panose="020B0503020204020204" charset="-122"/>
                </a:rPr>
                <a:t>数字化转型</a:t>
              </a:r>
              <a:endParaRPr kumimoji="1" lang="zh-CN" altLang="en-US" sz="15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163" name="组合 162"/>
          <p:cNvGrpSpPr/>
          <p:nvPr/>
        </p:nvGrpSpPr>
        <p:grpSpPr>
          <a:xfrm>
            <a:off x="1773151" y="3496015"/>
            <a:ext cx="1520825" cy="736600"/>
            <a:chOff x="3064908" y="1574536"/>
            <a:chExt cx="1520825" cy="736600"/>
          </a:xfrm>
        </p:grpSpPr>
        <p:sp>
          <p:nvSpPr>
            <p:cNvPr id="164" name="文本框 163"/>
            <p:cNvSpPr txBox="1"/>
            <p:nvPr/>
          </p:nvSpPr>
          <p:spPr>
            <a:xfrm>
              <a:off x="3453335" y="1574536"/>
              <a:ext cx="756000" cy="475615"/>
            </a:xfrm>
            <a:prstGeom prst="rect">
              <a:avLst/>
            </a:prstGeom>
            <a:noFill/>
          </p:spPr>
          <p:txBody>
            <a:bodyPr wrap="square" rtlCol="0" anchor="ctr">
              <a:spAutoFit/>
            </a:bodyPr>
            <a:lstStyle/>
            <a:p>
              <a:pPr algn="ctr"/>
              <a:r>
                <a:rPr kumimoji="1" lang="en-US" altLang="zh-CN" sz="2500" b="1" dirty="0">
                  <a:solidFill>
                    <a:schemeClr val="bg1"/>
                  </a:solidFill>
                  <a:latin typeface="微软雅黑" panose="020B0503020204020204" charset="-122"/>
                  <a:ea typeface="微软雅黑" panose="020B0503020204020204" charset="-122"/>
                  <a:cs typeface="微软雅黑" panose="020B0503020204020204" charset="-122"/>
                </a:rPr>
                <a:t>03</a:t>
              </a:r>
              <a:endParaRPr kumimoji="1" lang="en-US" altLang="zh-CN" sz="25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65" name="文本框 164"/>
            <p:cNvSpPr txBox="1"/>
            <p:nvPr/>
          </p:nvSpPr>
          <p:spPr>
            <a:xfrm>
              <a:off x="3064908" y="1989191"/>
              <a:ext cx="1520825" cy="321945"/>
            </a:xfrm>
            <a:prstGeom prst="rect">
              <a:avLst/>
            </a:prstGeom>
            <a:noFill/>
          </p:spPr>
          <p:txBody>
            <a:bodyPr wrap="square" rtlCol="0">
              <a:spAutoFit/>
            </a:bodyPr>
            <a:lstStyle/>
            <a:p>
              <a:pPr algn="ctr"/>
              <a:r>
                <a:rPr kumimoji="1" lang="zh-CN" altLang="en-US" sz="1500" b="1" dirty="0">
                  <a:solidFill>
                    <a:schemeClr val="bg1"/>
                  </a:solidFill>
                  <a:latin typeface="微软雅黑" panose="020B0503020204020204" charset="-122"/>
                  <a:ea typeface="微软雅黑" panose="020B0503020204020204" charset="-122"/>
                  <a:cs typeface="微软雅黑" panose="020B0503020204020204" charset="-122"/>
                </a:rPr>
                <a:t>成本控制与优化</a:t>
              </a:r>
              <a:endParaRPr kumimoji="1" lang="zh-CN" altLang="en-US" sz="15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167" name="组合 166"/>
          <p:cNvGrpSpPr/>
          <p:nvPr/>
        </p:nvGrpSpPr>
        <p:grpSpPr>
          <a:xfrm>
            <a:off x="1481172" y="4560275"/>
            <a:ext cx="1751330" cy="736600"/>
            <a:chOff x="2995058" y="1574536"/>
            <a:chExt cx="1751330" cy="736600"/>
          </a:xfrm>
        </p:grpSpPr>
        <p:sp>
          <p:nvSpPr>
            <p:cNvPr id="168" name="文本框 167"/>
            <p:cNvSpPr txBox="1"/>
            <p:nvPr/>
          </p:nvSpPr>
          <p:spPr>
            <a:xfrm>
              <a:off x="3453335" y="1574536"/>
              <a:ext cx="756000" cy="475615"/>
            </a:xfrm>
            <a:prstGeom prst="rect">
              <a:avLst/>
            </a:prstGeom>
            <a:noFill/>
          </p:spPr>
          <p:txBody>
            <a:bodyPr wrap="square" rtlCol="0" anchor="ctr">
              <a:spAutoFit/>
            </a:bodyPr>
            <a:lstStyle/>
            <a:p>
              <a:pPr algn="ctr"/>
              <a:r>
                <a:rPr kumimoji="1" lang="en-US" altLang="zh-CN" sz="2500" b="1" dirty="0">
                  <a:solidFill>
                    <a:schemeClr val="bg1"/>
                  </a:solidFill>
                  <a:latin typeface="微软雅黑" panose="020B0503020204020204" charset="-122"/>
                  <a:ea typeface="微软雅黑" panose="020B0503020204020204" charset="-122"/>
                  <a:cs typeface="微软雅黑" panose="020B0503020204020204" charset="-122"/>
                </a:rPr>
                <a:t>04</a:t>
              </a:r>
              <a:endParaRPr kumimoji="1" lang="en-US" altLang="zh-CN" sz="25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69" name="文本框 168"/>
            <p:cNvSpPr txBox="1"/>
            <p:nvPr/>
          </p:nvSpPr>
          <p:spPr>
            <a:xfrm>
              <a:off x="2995058" y="1989191"/>
              <a:ext cx="1751330" cy="321945"/>
            </a:xfrm>
            <a:prstGeom prst="rect">
              <a:avLst/>
            </a:prstGeom>
            <a:noFill/>
          </p:spPr>
          <p:txBody>
            <a:bodyPr wrap="square" rtlCol="0">
              <a:spAutoFit/>
            </a:bodyPr>
            <a:lstStyle/>
            <a:p>
              <a:pPr algn="ctr"/>
              <a:r>
                <a:rPr kumimoji="1" lang="zh-CN" altLang="en-US" sz="1500" b="1" dirty="0">
                  <a:solidFill>
                    <a:schemeClr val="bg1"/>
                  </a:solidFill>
                  <a:latin typeface="微软雅黑" panose="020B0503020204020204" charset="-122"/>
                  <a:ea typeface="微软雅黑" panose="020B0503020204020204" charset="-122"/>
                  <a:cs typeface="微软雅黑" panose="020B0503020204020204" charset="-122"/>
                </a:rPr>
                <a:t>安全生产与合规</a:t>
              </a:r>
              <a:endParaRPr kumimoji="1" lang="zh-CN" altLang="en-US" sz="15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170" name="组合 169"/>
          <p:cNvGrpSpPr/>
          <p:nvPr/>
        </p:nvGrpSpPr>
        <p:grpSpPr>
          <a:xfrm>
            <a:off x="1104697" y="5624632"/>
            <a:ext cx="2127885" cy="736600"/>
            <a:chOff x="2779793" y="1574536"/>
            <a:chExt cx="2127885" cy="736600"/>
          </a:xfrm>
        </p:grpSpPr>
        <p:sp>
          <p:nvSpPr>
            <p:cNvPr id="171" name="文本框 170"/>
            <p:cNvSpPr txBox="1"/>
            <p:nvPr/>
          </p:nvSpPr>
          <p:spPr>
            <a:xfrm>
              <a:off x="3453335" y="1574536"/>
              <a:ext cx="756000" cy="475615"/>
            </a:xfrm>
            <a:prstGeom prst="rect">
              <a:avLst/>
            </a:prstGeom>
            <a:noFill/>
          </p:spPr>
          <p:txBody>
            <a:bodyPr wrap="square" rtlCol="0" anchor="ctr">
              <a:spAutoFit/>
            </a:bodyPr>
            <a:lstStyle/>
            <a:p>
              <a:pPr algn="ctr"/>
              <a:r>
                <a:rPr kumimoji="1" lang="en-US" altLang="zh-CN" sz="2500" b="1" dirty="0">
                  <a:solidFill>
                    <a:schemeClr val="bg1"/>
                  </a:solidFill>
                  <a:latin typeface="微软雅黑" panose="020B0503020204020204" charset="-122"/>
                  <a:ea typeface="微软雅黑" panose="020B0503020204020204" charset="-122"/>
                  <a:cs typeface="微软雅黑" panose="020B0503020204020204" charset="-122"/>
                </a:rPr>
                <a:t>05</a:t>
              </a:r>
              <a:endParaRPr kumimoji="1" lang="en-US" altLang="zh-CN" sz="25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72" name="文本框 171"/>
            <p:cNvSpPr txBox="1"/>
            <p:nvPr/>
          </p:nvSpPr>
          <p:spPr>
            <a:xfrm>
              <a:off x="2779793" y="1989191"/>
              <a:ext cx="2127885" cy="321945"/>
            </a:xfrm>
            <a:prstGeom prst="rect">
              <a:avLst/>
            </a:prstGeom>
            <a:noFill/>
          </p:spPr>
          <p:txBody>
            <a:bodyPr wrap="square" rtlCol="0">
              <a:spAutoFit/>
            </a:bodyPr>
            <a:lstStyle/>
            <a:p>
              <a:pPr algn="ctr"/>
              <a:r>
                <a:rPr kumimoji="1" lang="zh-CN" altLang="en-US" sz="1500" b="1" dirty="0">
                  <a:solidFill>
                    <a:schemeClr val="bg1"/>
                  </a:solidFill>
                  <a:latin typeface="微软雅黑" panose="020B0503020204020204" charset="-122"/>
                  <a:ea typeface="微软雅黑" panose="020B0503020204020204" charset="-122"/>
                  <a:cs typeface="微软雅黑" panose="020B0503020204020204" charset="-122"/>
                </a:rPr>
                <a:t>人才培养与梯队建设</a:t>
              </a:r>
              <a:endParaRPr kumimoji="1" lang="zh-CN" altLang="en-US" sz="15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173" name="Disclaimer"/>
          <p:cNvSpPr/>
          <p:nvPr/>
        </p:nvSpPr>
        <p:spPr>
          <a:xfrm>
            <a:off x="3933190" y="1241425"/>
            <a:ext cx="6510655" cy="845820"/>
          </a:xfrm>
          <a:prstGeom prst="rect">
            <a:avLst/>
          </a:prstGeom>
          <a:noFill/>
          <a:ln w="19050">
            <a:noFill/>
          </a:ln>
        </p:spPr>
        <p:style>
          <a:lnRef idx="2">
            <a:srgbClr val="24396B">
              <a:shade val="50000"/>
            </a:srgbClr>
          </a:lnRef>
          <a:fillRef idx="1">
            <a:srgbClr val="24396B"/>
          </a:fillRef>
          <a:effectRef idx="0">
            <a:srgbClr val="24396B"/>
          </a:effectRef>
          <a:fontRef idx="minor">
            <a:srgbClr val="FFFFFF"/>
          </a:fontRef>
        </p:style>
        <p:txBody>
          <a:bodyPr wrap="square" lIns="0" tIns="0" rIns="0" bIns="0" rtlCol="0" anchor="ctr" anchorCtr="0">
            <a:spAutoFit/>
          </a:bodyPr>
          <a:lstStyle/>
          <a:p>
            <a:pPr marR="0" lvl="0" indent="0" defTabSz="914400" rtl="0" fontAlgn="auto">
              <a:lnSpc>
                <a:spcPts val="2200"/>
              </a:lnSpc>
              <a:spcBef>
                <a:spcPts val="0"/>
              </a:spcBef>
              <a:spcAft>
                <a:spcPts val="0"/>
              </a:spcAft>
              <a:buClrTx/>
              <a:buSzTx/>
              <a:buFontTx/>
              <a:buNone/>
              <a:defRPr/>
            </a:pPr>
            <a:r>
              <a:rPr lang="zh-CN" altLang="en-US" sz="1300" b="1" noProof="1">
                <a:solidFill>
                  <a:schemeClr val="tx2"/>
                </a:solidFill>
                <a:latin typeface="微软雅黑" panose="020B0503020204020204" charset="-122"/>
                <a:ea typeface="微软雅黑" panose="020B0503020204020204" charset="-122"/>
                <a:cs typeface="微软雅黑" panose="020B0503020204020204" charset="-122"/>
              </a:rPr>
              <a:t>工作成果：</a:t>
            </a:r>
            <a:r>
              <a:rPr lang="zh-CN" altLang="en-US" sz="1300" noProof="1">
                <a:solidFill>
                  <a:schemeClr val="tx2"/>
                </a:solidFill>
                <a:latin typeface="微软雅黑" panose="020B0503020204020204" charset="-122"/>
                <a:ea typeface="微软雅黑" panose="020B0503020204020204" charset="-122"/>
                <a:cs typeface="微软雅黑" panose="020B0503020204020204" charset="-122"/>
              </a:rPr>
              <a:t>年度战略规划完成率</a:t>
            </a:r>
            <a:r>
              <a:rPr lang="en-US" altLang="zh-CN" sz="1300" noProof="1">
                <a:solidFill>
                  <a:schemeClr val="tx2"/>
                </a:solidFill>
                <a:latin typeface="微软雅黑" panose="020B0503020204020204" charset="-122"/>
                <a:ea typeface="微软雅黑" panose="020B0503020204020204" charset="-122"/>
                <a:cs typeface="微软雅黑" panose="020B0503020204020204" charset="-122"/>
              </a:rPr>
              <a:t> 95%</a:t>
            </a:r>
            <a:r>
              <a:rPr lang="zh-CN" altLang="en-US" sz="1300" noProof="1">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300" noProof="1">
              <a:solidFill>
                <a:schemeClr val="tx2"/>
              </a:solidFill>
              <a:latin typeface="微软雅黑" panose="020B0503020204020204" charset="-122"/>
              <a:ea typeface="微软雅黑" panose="020B0503020204020204" charset="-122"/>
              <a:cs typeface="微软雅黑" panose="020B0503020204020204" charset="-122"/>
            </a:endParaRPr>
          </a:p>
          <a:p>
            <a:pPr marR="0" lvl="0" indent="0" defTabSz="914400" rtl="0" fontAlgn="auto">
              <a:lnSpc>
                <a:spcPts val="2200"/>
              </a:lnSpc>
              <a:spcBef>
                <a:spcPts val="0"/>
              </a:spcBef>
              <a:spcAft>
                <a:spcPts val="0"/>
              </a:spcAft>
              <a:buClrTx/>
              <a:buSzTx/>
              <a:buFontTx/>
              <a:buNone/>
              <a:defRPr/>
            </a:pPr>
            <a:r>
              <a:rPr lang="zh-CN" altLang="en-US" sz="1300" b="1" noProof="1">
                <a:solidFill>
                  <a:schemeClr val="tx2"/>
                </a:solidFill>
                <a:latin typeface="微软雅黑" panose="020B0503020204020204" charset="-122"/>
                <a:ea typeface="微软雅黑" panose="020B0503020204020204" charset="-122"/>
                <a:cs typeface="微软雅黑" panose="020B0503020204020204" charset="-122"/>
              </a:rPr>
              <a:t>执行方式：</a:t>
            </a:r>
            <a:r>
              <a:rPr lang="zh-CN" altLang="en-US" sz="1300" noProof="1">
                <a:solidFill>
                  <a:schemeClr val="tx2"/>
                </a:solidFill>
                <a:latin typeface="微软雅黑" panose="020B0503020204020204" charset="-122"/>
                <a:ea typeface="微软雅黑" panose="020B0503020204020204" charset="-122"/>
                <a:cs typeface="微软雅黑" panose="020B0503020204020204" charset="-122"/>
              </a:rPr>
              <a:t>将年度战略拆解为季度关键里程碑，通过跨部门协同机制定期复盘，确保核心目标按时推进。</a:t>
            </a:r>
            <a:endParaRPr lang="zh-CN" altLang="en-US" sz="1300" noProof="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4" name="Disclaimer"/>
          <p:cNvSpPr/>
          <p:nvPr/>
        </p:nvSpPr>
        <p:spPr>
          <a:xfrm>
            <a:off x="3933190" y="2317115"/>
            <a:ext cx="6510655" cy="845820"/>
          </a:xfrm>
          <a:prstGeom prst="rect">
            <a:avLst/>
          </a:prstGeom>
          <a:noFill/>
          <a:ln w="19050">
            <a:noFill/>
          </a:ln>
        </p:spPr>
        <p:style>
          <a:lnRef idx="2">
            <a:srgbClr val="24396B">
              <a:shade val="50000"/>
            </a:srgbClr>
          </a:lnRef>
          <a:fillRef idx="1">
            <a:srgbClr val="24396B"/>
          </a:fillRef>
          <a:effectRef idx="0">
            <a:srgbClr val="24396B"/>
          </a:effectRef>
          <a:fontRef idx="minor">
            <a:srgbClr val="FFFFFF"/>
          </a:fontRef>
        </p:style>
        <p:txBody>
          <a:bodyPr wrap="square" lIns="0" tIns="0" rIns="0" bIns="0" rtlCol="0" anchor="ctr" anchorCtr="0">
            <a:spAutoFit/>
          </a:bodyPr>
          <a:lstStyle/>
          <a:p>
            <a:pPr marR="0" lvl="0" indent="0" defTabSz="914400" rtl="0" fontAlgn="auto">
              <a:lnSpc>
                <a:spcPts val="2200"/>
              </a:lnSpc>
              <a:spcBef>
                <a:spcPts val="0"/>
              </a:spcBef>
              <a:spcAft>
                <a:spcPts val="0"/>
              </a:spcAft>
              <a:buClrTx/>
              <a:buSzTx/>
              <a:buFontTx/>
              <a:buNone/>
              <a:defRPr/>
            </a:pPr>
            <a:r>
              <a:rPr lang="zh-CN" altLang="en-US" sz="1300" b="1" noProof="1">
                <a:solidFill>
                  <a:schemeClr val="tx2"/>
                </a:solidFill>
                <a:latin typeface="微软雅黑" panose="020B0503020204020204" charset="-122"/>
                <a:ea typeface="微软雅黑" panose="020B0503020204020204" charset="-122"/>
                <a:cs typeface="微软雅黑" panose="020B0503020204020204" charset="-122"/>
              </a:rPr>
              <a:t>工作成果：</a:t>
            </a:r>
            <a:r>
              <a:rPr lang="zh-CN" altLang="en-US" sz="1300" noProof="1">
                <a:solidFill>
                  <a:schemeClr val="tx2"/>
                </a:solidFill>
                <a:latin typeface="微软雅黑" panose="020B0503020204020204" charset="-122"/>
                <a:ea typeface="微软雅黑" panose="020B0503020204020204" charset="-122"/>
                <a:cs typeface="微软雅黑" panose="020B0503020204020204" charset="-122"/>
              </a:rPr>
              <a:t>核心业务流程线上化覆盖率提升至</a:t>
            </a:r>
            <a:r>
              <a:rPr lang="en-US" altLang="zh-CN" sz="1300" noProof="1">
                <a:solidFill>
                  <a:schemeClr val="tx2"/>
                </a:solidFill>
                <a:latin typeface="微软雅黑" panose="020B0503020204020204" charset="-122"/>
                <a:ea typeface="微软雅黑" panose="020B0503020204020204" charset="-122"/>
                <a:cs typeface="微软雅黑" panose="020B0503020204020204" charset="-122"/>
              </a:rPr>
              <a:t> 85%</a:t>
            </a:r>
            <a:r>
              <a:rPr lang="zh-CN" altLang="en-US" sz="1300" noProof="1">
                <a:solidFill>
                  <a:schemeClr val="tx2"/>
                </a:solidFill>
                <a:latin typeface="微软雅黑" panose="020B0503020204020204" charset="-122"/>
                <a:ea typeface="微软雅黑" panose="020B0503020204020204" charset="-122"/>
                <a:cs typeface="微软雅黑" panose="020B0503020204020204" charset="-122"/>
              </a:rPr>
              <a:t>。</a:t>
            </a:r>
            <a:endParaRPr lang="en-US" altLang="zh-CN" sz="1300" noProof="1">
              <a:solidFill>
                <a:schemeClr val="tx2"/>
              </a:solidFill>
              <a:latin typeface="微软雅黑" panose="020B0503020204020204" charset="-122"/>
              <a:ea typeface="微软雅黑" panose="020B0503020204020204" charset="-122"/>
              <a:cs typeface="微软雅黑" panose="020B0503020204020204" charset="-122"/>
            </a:endParaRPr>
          </a:p>
          <a:p>
            <a:pPr marR="0" lvl="0" indent="0" defTabSz="914400" rtl="0" fontAlgn="auto">
              <a:lnSpc>
                <a:spcPts val="2200"/>
              </a:lnSpc>
              <a:spcBef>
                <a:spcPts val="0"/>
              </a:spcBef>
              <a:spcAft>
                <a:spcPts val="0"/>
              </a:spcAft>
              <a:buClrTx/>
              <a:buSzTx/>
              <a:buFontTx/>
              <a:buNone/>
              <a:defRPr/>
            </a:pPr>
            <a:r>
              <a:rPr lang="zh-CN" altLang="en-US" sz="1300" b="1" noProof="1">
                <a:solidFill>
                  <a:schemeClr val="tx2"/>
                </a:solidFill>
                <a:latin typeface="微软雅黑" panose="020B0503020204020204" charset="-122"/>
                <a:ea typeface="微软雅黑" panose="020B0503020204020204" charset="-122"/>
                <a:cs typeface="微软雅黑" panose="020B0503020204020204" charset="-122"/>
              </a:rPr>
              <a:t>执行方式：</a:t>
            </a:r>
            <a:r>
              <a:rPr lang="zh-CN" altLang="en-US" sz="1300" noProof="1">
                <a:solidFill>
                  <a:schemeClr val="tx2"/>
                </a:solidFill>
                <a:latin typeface="微软雅黑" panose="020B0503020204020204" charset="-122"/>
                <a:ea typeface="微软雅黑" panose="020B0503020204020204" charset="-122"/>
                <a:cs typeface="微软雅黑" panose="020B0503020204020204" charset="-122"/>
              </a:rPr>
              <a:t>引入低代码平台搭建业务管理系统，打通数据孤岛，实现生产、销售、库存数据的实时联动。</a:t>
            </a:r>
            <a:endParaRPr lang="zh-CN" altLang="en-US" sz="1300" noProof="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5" name="Disclaimer"/>
          <p:cNvSpPr/>
          <p:nvPr/>
        </p:nvSpPr>
        <p:spPr>
          <a:xfrm>
            <a:off x="3933190" y="3392805"/>
            <a:ext cx="6510655" cy="845820"/>
          </a:xfrm>
          <a:prstGeom prst="rect">
            <a:avLst/>
          </a:prstGeom>
          <a:noFill/>
          <a:ln w="19050">
            <a:noFill/>
          </a:ln>
        </p:spPr>
        <p:style>
          <a:lnRef idx="2">
            <a:srgbClr val="24396B">
              <a:shade val="50000"/>
            </a:srgbClr>
          </a:lnRef>
          <a:fillRef idx="1">
            <a:srgbClr val="24396B"/>
          </a:fillRef>
          <a:effectRef idx="0">
            <a:srgbClr val="24396B"/>
          </a:effectRef>
          <a:fontRef idx="minor">
            <a:srgbClr val="FFFFFF"/>
          </a:fontRef>
        </p:style>
        <p:txBody>
          <a:bodyPr wrap="square" lIns="0" tIns="0" rIns="0" bIns="0" rtlCol="0" anchor="ctr" anchorCtr="0">
            <a:spAutoFit/>
          </a:bodyPr>
          <a:lstStyle/>
          <a:p>
            <a:pPr marR="0" lvl="0" indent="0" defTabSz="914400" rtl="0" fontAlgn="auto">
              <a:lnSpc>
                <a:spcPts val="2200"/>
              </a:lnSpc>
              <a:spcBef>
                <a:spcPts val="0"/>
              </a:spcBef>
              <a:spcAft>
                <a:spcPts val="0"/>
              </a:spcAft>
              <a:buClrTx/>
              <a:buSzTx/>
              <a:buFontTx/>
              <a:buNone/>
              <a:defRPr/>
            </a:pPr>
            <a:r>
              <a:rPr lang="zh-CN" altLang="en-US" sz="1300" b="1" noProof="1">
                <a:solidFill>
                  <a:schemeClr val="tx2"/>
                </a:solidFill>
                <a:latin typeface="微软雅黑" panose="020B0503020204020204" charset="-122"/>
                <a:ea typeface="微软雅黑" panose="020B0503020204020204" charset="-122"/>
                <a:cs typeface="微软雅黑" panose="020B0503020204020204" charset="-122"/>
              </a:rPr>
              <a:t>工作成果：</a:t>
            </a:r>
            <a:r>
              <a:rPr lang="zh-CN" altLang="en-US" sz="1300" noProof="1">
                <a:solidFill>
                  <a:schemeClr val="tx2"/>
                </a:solidFill>
                <a:latin typeface="微软雅黑" panose="020B0503020204020204" charset="-122"/>
                <a:ea typeface="微软雅黑" panose="020B0503020204020204" charset="-122"/>
                <a:cs typeface="微软雅黑" panose="020B0503020204020204" charset="-122"/>
              </a:rPr>
              <a:t>运营成本同比降低</a:t>
            </a:r>
            <a:r>
              <a:rPr lang="en-US" altLang="zh-CN" sz="1300" noProof="1">
                <a:solidFill>
                  <a:schemeClr val="tx2"/>
                </a:solidFill>
                <a:latin typeface="微软雅黑" panose="020B0503020204020204" charset="-122"/>
                <a:ea typeface="微软雅黑" panose="020B0503020204020204" charset="-122"/>
                <a:cs typeface="微软雅黑" panose="020B0503020204020204" charset="-122"/>
              </a:rPr>
              <a:t> 12%</a:t>
            </a:r>
            <a:r>
              <a:rPr lang="zh-CN" altLang="en-US" sz="1300" noProof="1">
                <a:solidFill>
                  <a:schemeClr val="tx2"/>
                </a:solidFill>
                <a:latin typeface="微软雅黑" panose="020B0503020204020204" charset="-122"/>
                <a:ea typeface="微软雅黑" panose="020B0503020204020204" charset="-122"/>
                <a:cs typeface="微软雅黑" panose="020B0503020204020204" charset="-122"/>
              </a:rPr>
              <a:t>。</a:t>
            </a:r>
            <a:endParaRPr lang="en-US" altLang="zh-CN" sz="1300" noProof="1">
              <a:solidFill>
                <a:schemeClr val="tx2"/>
              </a:solidFill>
              <a:latin typeface="微软雅黑" panose="020B0503020204020204" charset="-122"/>
              <a:ea typeface="微软雅黑" panose="020B0503020204020204" charset="-122"/>
              <a:cs typeface="微软雅黑" panose="020B0503020204020204" charset="-122"/>
            </a:endParaRPr>
          </a:p>
          <a:p>
            <a:pPr marR="0" lvl="0" indent="0" defTabSz="914400" rtl="0" fontAlgn="auto">
              <a:lnSpc>
                <a:spcPts val="2200"/>
              </a:lnSpc>
              <a:spcBef>
                <a:spcPts val="0"/>
              </a:spcBef>
              <a:spcAft>
                <a:spcPts val="0"/>
              </a:spcAft>
              <a:buClrTx/>
              <a:buSzTx/>
              <a:buFontTx/>
              <a:buNone/>
              <a:defRPr/>
            </a:pPr>
            <a:r>
              <a:rPr lang="zh-CN" altLang="en-US" sz="1300" b="1" noProof="1">
                <a:solidFill>
                  <a:schemeClr val="tx2"/>
                </a:solidFill>
                <a:latin typeface="微软雅黑" panose="020B0503020204020204" charset="-122"/>
                <a:ea typeface="微软雅黑" panose="020B0503020204020204" charset="-122"/>
                <a:cs typeface="微软雅黑" panose="020B0503020204020204" charset="-122"/>
              </a:rPr>
              <a:t>执行方式：</a:t>
            </a:r>
            <a:r>
              <a:rPr lang="zh-CN" altLang="en-US" sz="1300" noProof="1">
                <a:solidFill>
                  <a:schemeClr val="tx2"/>
                </a:solidFill>
                <a:latin typeface="微软雅黑" panose="020B0503020204020204" charset="-122"/>
                <a:ea typeface="微软雅黑" panose="020B0503020204020204" charset="-122"/>
                <a:cs typeface="微软雅黑" panose="020B0503020204020204" charset="-122"/>
              </a:rPr>
              <a:t>重新评估供应链结构，集中采购核心物料；推行能耗监控系统，识别并削减非必要开支。</a:t>
            </a:r>
            <a:endParaRPr lang="zh-CN" altLang="en-US" sz="1300" noProof="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6" name="Disclaimer"/>
          <p:cNvSpPr/>
          <p:nvPr/>
        </p:nvSpPr>
        <p:spPr>
          <a:xfrm>
            <a:off x="3933190" y="4609465"/>
            <a:ext cx="6510655" cy="563880"/>
          </a:xfrm>
          <a:prstGeom prst="rect">
            <a:avLst/>
          </a:prstGeom>
          <a:noFill/>
          <a:ln w="19050">
            <a:noFill/>
          </a:ln>
        </p:spPr>
        <p:style>
          <a:lnRef idx="2">
            <a:srgbClr val="24396B">
              <a:shade val="50000"/>
            </a:srgbClr>
          </a:lnRef>
          <a:fillRef idx="1">
            <a:srgbClr val="24396B"/>
          </a:fillRef>
          <a:effectRef idx="0">
            <a:srgbClr val="24396B"/>
          </a:effectRef>
          <a:fontRef idx="minor">
            <a:srgbClr val="FFFFFF"/>
          </a:fontRef>
        </p:style>
        <p:txBody>
          <a:bodyPr wrap="square" lIns="0" tIns="0" rIns="0" bIns="0" rtlCol="0" anchor="ctr" anchorCtr="0">
            <a:spAutoFit/>
          </a:bodyPr>
          <a:lstStyle/>
          <a:p>
            <a:pPr marR="0" lvl="0" indent="0" defTabSz="914400" rtl="0" fontAlgn="auto">
              <a:lnSpc>
                <a:spcPts val="2200"/>
              </a:lnSpc>
              <a:spcBef>
                <a:spcPts val="0"/>
              </a:spcBef>
              <a:spcAft>
                <a:spcPts val="0"/>
              </a:spcAft>
              <a:buClrTx/>
              <a:buSzTx/>
              <a:buFontTx/>
              <a:buNone/>
              <a:defRPr/>
            </a:pPr>
            <a:r>
              <a:rPr lang="zh-CN" altLang="en-US" sz="1300" b="1" noProof="1">
                <a:solidFill>
                  <a:schemeClr val="tx2"/>
                </a:solidFill>
                <a:latin typeface="微软雅黑" panose="020B0503020204020204" charset="-122"/>
                <a:ea typeface="微软雅黑" panose="020B0503020204020204" charset="-122"/>
                <a:cs typeface="微软雅黑" panose="020B0503020204020204" charset="-122"/>
              </a:rPr>
              <a:t>工作成果：</a:t>
            </a:r>
            <a:r>
              <a:rPr lang="zh-CN" altLang="en-US" sz="1300" noProof="1">
                <a:solidFill>
                  <a:schemeClr val="tx2"/>
                </a:solidFill>
                <a:latin typeface="微软雅黑" panose="020B0503020204020204" charset="-122"/>
                <a:ea typeface="微软雅黑" panose="020B0503020204020204" charset="-122"/>
                <a:cs typeface="微软雅黑" panose="020B0503020204020204" charset="-122"/>
              </a:rPr>
              <a:t>全年重大安全事故为</a:t>
            </a:r>
            <a:r>
              <a:rPr lang="en-US" altLang="zh-CN" sz="1300" noProof="1">
                <a:solidFill>
                  <a:schemeClr val="tx2"/>
                </a:solidFill>
                <a:latin typeface="微软雅黑" panose="020B0503020204020204" charset="-122"/>
                <a:ea typeface="微软雅黑" panose="020B0503020204020204" charset="-122"/>
                <a:cs typeface="微软雅黑" panose="020B0503020204020204" charset="-122"/>
              </a:rPr>
              <a:t> 0</a:t>
            </a:r>
            <a:r>
              <a:rPr lang="zh-CN" altLang="en-US" sz="1300" noProof="1">
                <a:solidFill>
                  <a:schemeClr val="tx2"/>
                </a:solidFill>
                <a:latin typeface="微软雅黑" panose="020B0503020204020204" charset="-122"/>
                <a:ea typeface="微软雅黑" panose="020B0503020204020204" charset="-122"/>
                <a:cs typeface="微软雅黑" panose="020B0503020204020204" charset="-122"/>
              </a:rPr>
              <a:t>，合规审查通过率</a:t>
            </a:r>
            <a:r>
              <a:rPr lang="en-US" altLang="zh-CN" sz="1300" noProof="1">
                <a:solidFill>
                  <a:schemeClr val="tx2"/>
                </a:solidFill>
                <a:latin typeface="微软雅黑" panose="020B0503020204020204" charset="-122"/>
                <a:ea typeface="微软雅黑" panose="020B0503020204020204" charset="-122"/>
                <a:cs typeface="微软雅黑" panose="020B0503020204020204" charset="-122"/>
              </a:rPr>
              <a:t> 100%</a:t>
            </a:r>
            <a:r>
              <a:rPr lang="zh-CN" altLang="en-US" sz="1300" noProof="1">
                <a:solidFill>
                  <a:schemeClr val="tx2"/>
                </a:solidFill>
                <a:latin typeface="微软雅黑" panose="020B0503020204020204" charset="-122"/>
                <a:ea typeface="微软雅黑" panose="020B0503020204020204" charset="-122"/>
                <a:cs typeface="微软雅黑" panose="020B0503020204020204" charset="-122"/>
              </a:rPr>
              <a:t>。</a:t>
            </a:r>
            <a:endParaRPr lang="en-US" altLang="zh-CN" sz="1300" noProof="1">
              <a:solidFill>
                <a:schemeClr val="tx2"/>
              </a:solidFill>
              <a:latin typeface="微软雅黑" panose="020B0503020204020204" charset="-122"/>
              <a:ea typeface="微软雅黑" panose="020B0503020204020204" charset="-122"/>
              <a:cs typeface="微软雅黑" panose="020B0503020204020204" charset="-122"/>
            </a:endParaRPr>
          </a:p>
          <a:p>
            <a:pPr marR="0" lvl="0" indent="0" defTabSz="914400" rtl="0" fontAlgn="auto">
              <a:lnSpc>
                <a:spcPts val="2200"/>
              </a:lnSpc>
              <a:spcBef>
                <a:spcPts val="0"/>
              </a:spcBef>
              <a:spcAft>
                <a:spcPts val="0"/>
              </a:spcAft>
              <a:buClrTx/>
              <a:buSzTx/>
              <a:buFontTx/>
              <a:buNone/>
              <a:defRPr/>
            </a:pPr>
            <a:r>
              <a:rPr lang="zh-CN" altLang="en-US" sz="1300" b="1" noProof="1">
                <a:solidFill>
                  <a:schemeClr val="tx2"/>
                </a:solidFill>
                <a:latin typeface="微软雅黑" panose="020B0503020204020204" charset="-122"/>
                <a:ea typeface="微软雅黑" panose="020B0503020204020204" charset="-122"/>
                <a:cs typeface="微软雅黑" panose="020B0503020204020204" charset="-122"/>
              </a:rPr>
              <a:t>执行方式：</a:t>
            </a:r>
            <a:r>
              <a:rPr lang="zh-CN" altLang="en-US" sz="1300" noProof="1">
                <a:solidFill>
                  <a:schemeClr val="tx2"/>
                </a:solidFill>
                <a:latin typeface="微软雅黑" panose="020B0503020204020204" charset="-122"/>
                <a:ea typeface="微软雅黑" panose="020B0503020204020204" charset="-122"/>
                <a:cs typeface="微软雅黑" panose="020B0503020204020204" charset="-122"/>
              </a:rPr>
              <a:t>建立常态化安全巡检机制，组织季度应急演练，上线合规风险预警平台。</a:t>
            </a:r>
            <a:endParaRPr lang="en-US" altLang="zh-CN" sz="1300" noProof="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7" name="Disclaimer"/>
          <p:cNvSpPr/>
          <p:nvPr/>
        </p:nvSpPr>
        <p:spPr>
          <a:xfrm>
            <a:off x="3933190" y="5685155"/>
            <a:ext cx="6510655" cy="563880"/>
          </a:xfrm>
          <a:prstGeom prst="rect">
            <a:avLst/>
          </a:prstGeom>
          <a:noFill/>
          <a:ln w="19050">
            <a:noFill/>
          </a:ln>
        </p:spPr>
        <p:style>
          <a:lnRef idx="2">
            <a:srgbClr val="24396B">
              <a:shade val="50000"/>
            </a:srgbClr>
          </a:lnRef>
          <a:fillRef idx="1">
            <a:srgbClr val="24396B"/>
          </a:fillRef>
          <a:effectRef idx="0">
            <a:srgbClr val="24396B"/>
          </a:effectRef>
          <a:fontRef idx="minor">
            <a:srgbClr val="FFFFFF"/>
          </a:fontRef>
        </p:style>
        <p:txBody>
          <a:bodyPr wrap="square" lIns="0" tIns="0" rIns="0" bIns="0" rtlCol="0" anchor="ctr" anchorCtr="0">
            <a:spAutoFit/>
          </a:bodyPr>
          <a:lstStyle/>
          <a:p>
            <a:pPr marR="0" lvl="0" indent="0" defTabSz="914400" rtl="0" fontAlgn="auto">
              <a:lnSpc>
                <a:spcPts val="2200"/>
              </a:lnSpc>
              <a:spcBef>
                <a:spcPts val="0"/>
              </a:spcBef>
              <a:spcAft>
                <a:spcPts val="0"/>
              </a:spcAft>
              <a:buClrTx/>
              <a:buSzTx/>
              <a:buFontTx/>
              <a:buNone/>
              <a:defRPr/>
            </a:pPr>
            <a:r>
              <a:rPr lang="zh-CN" altLang="en-US" sz="1300" b="1" noProof="1">
                <a:solidFill>
                  <a:schemeClr val="tx2"/>
                </a:solidFill>
                <a:latin typeface="微软雅黑" panose="020B0503020204020204" charset="-122"/>
                <a:ea typeface="微软雅黑" panose="020B0503020204020204" charset="-122"/>
                <a:cs typeface="微软雅黑" panose="020B0503020204020204" charset="-122"/>
              </a:rPr>
              <a:t>工作成果：</a:t>
            </a:r>
            <a:r>
              <a:rPr lang="zh-CN" altLang="en-US" sz="1300" noProof="1">
                <a:solidFill>
                  <a:schemeClr val="tx2"/>
                </a:solidFill>
                <a:latin typeface="微软雅黑" panose="020B0503020204020204" charset="-122"/>
                <a:ea typeface="微软雅黑" panose="020B0503020204020204" charset="-122"/>
                <a:cs typeface="微软雅黑" panose="020B0503020204020204" charset="-122"/>
              </a:rPr>
              <a:t>关键岗位内部晋升比例达</a:t>
            </a:r>
            <a:r>
              <a:rPr lang="en-US" altLang="zh-CN" sz="1300" noProof="1">
                <a:solidFill>
                  <a:schemeClr val="tx2"/>
                </a:solidFill>
                <a:latin typeface="微软雅黑" panose="020B0503020204020204" charset="-122"/>
                <a:ea typeface="微软雅黑" panose="020B0503020204020204" charset="-122"/>
                <a:cs typeface="微软雅黑" panose="020B0503020204020204" charset="-122"/>
              </a:rPr>
              <a:t> 60%</a:t>
            </a:r>
            <a:r>
              <a:rPr lang="zh-CN" altLang="en-US" sz="1300" noProof="1">
                <a:solidFill>
                  <a:schemeClr val="tx2"/>
                </a:solidFill>
                <a:latin typeface="微软雅黑" panose="020B0503020204020204" charset="-122"/>
                <a:ea typeface="微软雅黑" panose="020B0503020204020204" charset="-122"/>
                <a:cs typeface="微软雅黑" panose="020B0503020204020204" charset="-122"/>
              </a:rPr>
              <a:t>。</a:t>
            </a:r>
            <a:endParaRPr lang="en-US" altLang="zh-CN" sz="1300" noProof="1">
              <a:solidFill>
                <a:schemeClr val="tx2"/>
              </a:solidFill>
              <a:latin typeface="微软雅黑" panose="020B0503020204020204" charset="-122"/>
              <a:ea typeface="微软雅黑" panose="020B0503020204020204" charset="-122"/>
              <a:cs typeface="微软雅黑" panose="020B0503020204020204" charset="-122"/>
            </a:endParaRPr>
          </a:p>
          <a:p>
            <a:pPr marR="0" lvl="0" indent="0" defTabSz="914400" rtl="0" fontAlgn="auto">
              <a:lnSpc>
                <a:spcPts val="2200"/>
              </a:lnSpc>
              <a:spcBef>
                <a:spcPts val="0"/>
              </a:spcBef>
              <a:spcAft>
                <a:spcPts val="0"/>
              </a:spcAft>
              <a:buClrTx/>
              <a:buSzTx/>
              <a:buFontTx/>
              <a:buNone/>
              <a:defRPr/>
            </a:pPr>
            <a:r>
              <a:rPr lang="zh-CN" altLang="en-US" sz="1300" b="1" noProof="1">
                <a:solidFill>
                  <a:schemeClr val="tx2"/>
                </a:solidFill>
                <a:latin typeface="微软雅黑" panose="020B0503020204020204" charset="-122"/>
                <a:ea typeface="微软雅黑" panose="020B0503020204020204" charset="-122"/>
                <a:cs typeface="微软雅黑" panose="020B0503020204020204" charset="-122"/>
              </a:rPr>
              <a:t>执行方式：</a:t>
            </a:r>
            <a:r>
              <a:rPr lang="zh-CN" altLang="en-US" sz="1300" noProof="1">
                <a:solidFill>
                  <a:schemeClr val="tx2"/>
                </a:solidFill>
                <a:latin typeface="微软雅黑" panose="020B0503020204020204" charset="-122"/>
                <a:ea typeface="微软雅黑" panose="020B0503020204020204" charset="-122"/>
                <a:cs typeface="微软雅黑" panose="020B0503020204020204" charset="-122"/>
              </a:rPr>
              <a:t>实施导师制培养计划，定期开展领导力培训与岗位轮换，建立人才储备池。</a:t>
            </a:r>
            <a:endParaRPr lang="en-US" altLang="zh-CN" sz="1300" noProof="1">
              <a:solidFill>
                <a:schemeClr val="tx2"/>
              </a:solidFill>
              <a:latin typeface="微软雅黑" panose="020B0503020204020204" charset="-122"/>
              <a:ea typeface="微软雅黑" panose="020B0503020204020204" charset="-122"/>
              <a:cs typeface="微软雅黑" panose="020B0503020204020204" charset="-122"/>
            </a:endParaRPr>
          </a:p>
        </p:txBody>
      </p:sp>
      <p:pic>
        <p:nvPicPr>
          <p:cNvPr id="178" name="图片 177" descr="战略分区"/>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32185" y="1520825"/>
            <a:ext cx="381000" cy="381000"/>
          </a:xfrm>
          <a:prstGeom prst="rect">
            <a:avLst/>
          </a:prstGeom>
        </p:spPr>
      </p:pic>
      <p:pic>
        <p:nvPicPr>
          <p:cNvPr id="179" name="图片 178" descr="企业弹性管理数字化转型s-百望云"/>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100435" y="2558415"/>
            <a:ext cx="412750" cy="382270"/>
          </a:xfrm>
          <a:prstGeom prst="rect">
            <a:avLst/>
          </a:prstGeom>
        </p:spPr>
      </p:pic>
      <p:pic>
        <p:nvPicPr>
          <p:cNvPr id="180" name="图片 179" descr="信息安全合规"/>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132185" y="4705985"/>
            <a:ext cx="392430" cy="392430"/>
          </a:xfrm>
          <a:prstGeom prst="rect">
            <a:avLst/>
          </a:prstGeom>
        </p:spPr>
      </p:pic>
      <p:pic>
        <p:nvPicPr>
          <p:cNvPr id="182" name="图片 181" descr="汽车配件销售"/>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150600" y="3684588"/>
            <a:ext cx="342900" cy="342900"/>
          </a:xfrm>
          <a:prstGeom prst="rect">
            <a:avLst/>
          </a:prstGeom>
        </p:spPr>
      </p:pic>
      <p:pic>
        <p:nvPicPr>
          <p:cNvPr id="183" name="图片 182" descr="组织谈话"/>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083290" y="5738495"/>
            <a:ext cx="490220" cy="490220"/>
          </a:xfrm>
          <a:prstGeom prst="rect">
            <a:avLst/>
          </a:prstGeom>
        </p:spPr>
      </p:pic>
      <p:cxnSp>
        <p:nvCxnSpPr>
          <p:cNvPr id="905" name="Google Shape;905;p33"/>
          <p:cNvCxnSpPr/>
          <p:nvPr/>
        </p:nvCxnSpPr>
        <p:spPr>
          <a:xfrm>
            <a:off x="462708" y="2269962"/>
            <a:ext cx="1722755" cy="0"/>
          </a:xfrm>
          <a:prstGeom prst="straightConnector1">
            <a:avLst/>
          </a:prstGeom>
          <a:noFill/>
          <a:ln w="9525" cap="flat" cmpd="sng">
            <a:solidFill>
              <a:schemeClr val="tx2">
                <a:lumMod val="60000"/>
                <a:lumOff val="40000"/>
              </a:schemeClr>
            </a:solidFill>
            <a:prstDash val="dash"/>
            <a:miter lim="400000"/>
            <a:headEnd type="none" w="sm" len="sm"/>
            <a:tailEnd type="none" w="sm" len="sm"/>
          </a:ln>
        </p:spPr>
      </p:cxnSp>
      <p:cxnSp>
        <p:nvCxnSpPr>
          <p:cNvPr id="928" name="Google Shape;928;p33"/>
          <p:cNvCxnSpPr/>
          <p:nvPr/>
        </p:nvCxnSpPr>
        <p:spPr>
          <a:xfrm>
            <a:off x="392632" y="1164825"/>
            <a:ext cx="141539" cy="0"/>
          </a:xfrm>
          <a:prstGeom prst="straightConnector1">
            <a:avLst/>
          </a:prstGeom>
          <a:noFill/>
          <a:ln w="28575" cap="flat" cmpd="sng">
            <a:solidFill>
              <a:schemeClr val="tx2"/>
            </a:solidFill>
            <a:prstDash val="solid"/>
            <a:round/>
            <a:headEnd type="none" w="sm" len="sm"/>
            <a:tailEnd type="none" w="sm" len="sm"/>
          </a:ln>
        </p:spPr>
      </p:cxnSp>
      <p:cxnSp>
        <p:nvCxnSpPr>
          <p:cNvPr id="184" name="Google Shape;905;p33"/>
          <p:cNvCxnSpPr/>
          <p:nvPr/>
        </p:nvCxnSpPr>
        <p:spPr>
          <a:xfrm>
            <a:off x="462708" y="3329142"/>
            <a:ext cx="1332865" cy="0"/>
          </a:xfrm>
          <a:prstGeom prst="straightConnector1">
            <a:avLst/>
          </a:prstGeom>
          <a:noFill/>
          <a:ln w="9525" cap="flat" cmpd="sng">
            <a:solidFill>
              <a:schemeClr val="tx2">
                <a:lumMod val="60000"/>
                <a:lumOff val="40000"/>
              </a:schemeClr>
            </a:solidFill>
            <a:prstDash val="dash"/>
            <a:miter lim="400000"/>
            <a:headEnd type="none" w="sm" len="sm"/>
            <a:tailEnd type="none" w="sm" len="sm"/>
          </a:ln>
        </p:spPr>
      </p:cxnSp>
      <p:cxnSp>
        <p:nvCxnSpPr>
          <p:cNvPr id="185" name="Google Shape;905;p33"/>
          <p:cNvCxnSpPr/>
          <p:nvPr/>
        </p:nvCxnSpPr>
        <p:spPr>
          <a:xfrm>
            <a:off x="462708" y="4412452"/>
            <a:ext cx="906145" cy="0"/>
          </a:xfrm>
          <a:prstGeom prst="straightConnector1">
            <a:avLst/>
          </a:prstGeom>
          <a:noFill/>
          <a:ln w="9525" cap="flat" cmpd="sng">
            <a:solidFill>
              <a:schemeClr val="tx2">
                <a:lumMod val="60000"/>
                <a:lumOff val="40000"/>
              </a:schemeClr>
            </a:solidFill>
            <a:prstDash val="dash"/>
            <a:miter lim="400000"/>
            <a:headEnd type="none" w="sm" len="sm"/>
            <a:tailEnd type="none" w="sm" len="sm"/>
          </a:ln>
        </p:spPr>
      </p:cxnSp>
      <p:cxnSp>
        <p:nvCxnSpPr>
          <p:cNvPr id="186" name="Google Shape;905;p33"/>
          <p:cNvCxnSpPr/>
          <p:nvPr/>
        </p:nvCxnSpPr>
        <p:spPr>
          <a:xfrm>
            <a:off x="462708" y="5462742"/>
            <a:ext cx="501650" cy="0"/>
          </a:xfrm>
          <a:prstGeom prst="straightConnector1">
            <a:avLst/>
          </a:prstGeom>
          <a:noFill/>
          <a:ln w="9525" cap="flat" cmpd="sng">
            <a:solidFill>
              <a:schemeClr val="tx2">
                <a:lumMod val="60000"/>
                <a:lumOff val="40000"/>
              </a:schemeClr>
            </a:solidFill>
            <a:prstDash val="dash"/>
            <a:miter lim="400000"/>
            <a:headEnd type="none" w="sm" len="sm"/>
            <a:tailEnd type="none" w="sm" len="sm"/>
          </a:ln>
        </p:spPr>
      </p:cxnSp>
      <p:cxnSp>
        <p:nvCxnSpPr>
          <p:cNvPr id="187" name="Google Shape;905;p33"/>
          <p:cNvCxnSpPr/>
          <p:nvPr/>
        </p:nvCxnSpPr>
        <p:spPr>
          <a:xfrm>
            <a:off x="463026" y="1184429"/>
            <a:ext cx="0" cy="5253990"/>
          </a:xfrm>
          <a:prstGeom prst="straightConnector1">
            <a:avLst/>
          </a:prstGeom>
          <a:noFill/>
          <a:ln w="9525" cap="flat" cmpd="sng">
            <a:solidFill>
              <a:schemeClr val="tx2">
                <a:lumMod val="60000"/>
                <a:lumOff val="40000"/>
              </a:schemeClr>
            </a:solidFill>
            <a:prstDash val="dash"/>
            <a:miter lim="400000"/>
            <a:headEnd type="none" w="sm" len="sm"/>
            <a:tailEnd type="none" w="sm" len="sm"/>
          </a:ln>
        </p:spPr>
      </p:cxnSp>
      <p:cxnSp>
        <p:nvCxnSpPr>
          <p:cNvPr id="188" name="Google Shape;928;p33"/>
          <p:cNvCxnSpPr/>
          <p:nvPr/>
        </p:nvCxnSpPr>
        <p:spPr>
          <a:xfrm>
            <a:off x="392632" y="2270360"/>
            <a:ext cx="141539" cy="0"/>
          </a:xfrm>
          <a:prstGeom prst="straightConnector1">
            <a:avLst/>
          </a:prstGeom>
          <a:noFill/>
          <a:ln w="28575" cap="flat" cmpd="sng">
            <a:solidFill>
              <a:schemeClr val="tx2"/>
            </a:solidFill>
            <a:prstDash val="solid"/>
            <a:round/>
            <a:headEnd type="none" w="sm" len="sm"/>
            <a:tailEnd type="none" w="sm" len="sm"/>
          </a:ln>
        </p:spPr>
      </p:cxnSp>
      <p:cxnSp>
        <p:nvCxnSpPr>
          <p:cNvPr id="189" name="Google Shape;928;p33"/>
          <p:cNvCxnSpPr/>
          <p:nvPr/>
        </p:nvCxnSpPr>
        <p:spPr>
          <a:xfrm>
            <a:off x="392632" y="3329540"/>
            <a:ext cx="141539" cy="0"/>
          </a:xfrm>
          <a:prstGeom prst="straightConnector1">
            <a:avLst/>
          </a:prstGeom>
          <a:noFill/>
          <a:ln w="28575" cap="flat" cmpd="sng">
            <a:solidFill>
              <a:schemeClr val="tx2"/>
            </a:solidFill>
            <a:prstDash val="solid"/>
            <a:round/>
            <a:headEnd type="none" w="sm" len="sm"/>
            <a:tailEnd type="none" w="sm" len="sm"/>
          </a:ln>
        </p:spPr>
      </p:cxnSp>
      <p:cxnSp>
        <p:nvCxnSpPr>
          <p:cNvPr id="190" name="Google Shape;928;p33"/>
          <p:cNvCxnSpPr/>
          <p:nvPr/>
        </p:nvCxnSpPr>
        <p:spPr>
          <a:xfrm>
            <a:off x="392632" y="4450950"/>
            <a:ext cx="141539" cy="0"/>
          </a:xfrm>
          <a:prstGeom prst="straightConnector1">
            <a:avLst/>
          </a:prstGeom>
          <a:noFill/>
          <a:ln w="28575" cap="flat" cmpd="sng">
            <a:solidFill>
              <a:schemeClr val="tx2"/>
            </a:solidFill>
            <a:prstDash val="solid"/>
            <a:round/>
            <a:headEnd type="none" w="sm" len="sm"/>
            <a:tailEnd type="none" w="sm" len="sm"/>
          </a:ln>
        </p:spPr>
      </p:cxnSp>
      <p:cxnSp>
        <p:nvCxnSpPr>
          <p:cNvPr id="191" name="Google Shape;928;p33"/>
          <p:cNvCxnSpPr/>
          <p:nvPr/>
        </p:nvCxnSpPr>
        <p:spPr>
          <a:xfrm>
            <a:off x="392632" y="5463140"/>
            <a:ext cx="141539" cy="0"/>
          </a:xfrm>
          <a:prstGeom prst="straightConnector1">
            <a:avLst/>
          </a:prstGeom>
          <a:noFill/>
          <a:ln w="28575" cap="flat" cmpd="sng">
            <a:solidFill>
              <a:schemeClr val="tx2"/>
            </a:solidFill>
            <a:prstDash val="solid"/>
            <a:round/>
            <a:headEnd type="none" w="sm" len="sm"/>
            <a:tailEnd type="none" w="sm" len="sm"/>
          </a:ln>
        </p:spPr>
      </p:cxnSp>
      <p:cxnSp>
        <p:nvCxnSpPr>
          <p:cNvPr id="192" name="Google Shape;905;p33"/>
          <p:cNvCxnSpPr/>
          <p:nvPr/>
        </p:nvCxnSpPr>
        <p:spPr>
          <a:xfrm>
            <a:off x="517318" y="1160617"/>
            <a:ext cx="2116455" cy="0"/>
          </a:xfrm>
          <a:prstGeom prst="straightConnector1">
            <a:avLst/>
          </a:prstGeom>
          <a:noFill/>
          <a:ln w="9525" cap="flat" cmpd="sng">
            <a:solidFill>
              <a:schemeClr val="tx2">
                <a:lumMod val="60000"/>
                <a:lumOff val="40000"/>
              </a:schemeClr>
            </a:solidFill>
            <a:prstDash val="dash"/>
            <a:miter lim="400000"/>
            <a:headEnd type="none" w="sm" len="sm"/>
            <a:tailEnd type="none" w="sm" len="sm"/>
          </a:ln>
        </p:spPr>
      </p:cxnSp>
      <p:sp>
        <p:nvSpPr>
          <p:cNvPr id="193" name="文本框 192"/>
          <p:cNvSpPr txBox="1"/>
          <p:nvPr/>
        </p:nvSpPr>
        <p:spPr>
          <a:xfrm>
            <a:off x="356235" y="1441450"/>
            <a:ext cx="1416685" cy="460375"/>
          </a:xfrm>
          <a:prstGeom prst="rect">
            <a:avLst/>
          </a:prstGeom>
          <a:noFill/>
        </p:spPr>
        <p:txBody>
          <a:bodyPr wrap="square" rtlCol="0">
            <a:spAutoFit/>
          </a:bodyPr>
          <a:lstStyle/>
          <a:p>
            <a:pPr lvl="0" algn="ctr">
              <a:buClrTx/>
              <a:buSzTx/>
              <a:buFontTx/>
            </a:pPr>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从战略规划</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到执行的转变</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94" name="文本框 193"/>
          <p:cNvSpPr txBox="1"/>
          <p:nvPr/>
        </p:nvSpPr>
        <p:spPr>
          <a:xfrm>
            <a:off x="356235" y="2558125"/>
            <a:ext cx="1246910" cy="460375"/>
          </a:xfrm>
          <a:prstGeom prst="rect">
            <a:avLst/>
          </a:prstGeom>
          <a:noFill/>
        </p:spPr>
        <p:txBody>
          <a:bodyPr wrap="square" rtlCol="0">
            <a:spAutoFit/>
          </a:bodyPr>
          <a:lstStyle/>
          <a:p>
            <a:pPr algn="ctr"/>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rPr>
              <a:t>用技术手段</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rPr>
              <a:t>提升效率</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95" name="文本框 194"/>
          <p:cNvSpPr txBox="1"/>
          <p:nvPr/>
        </p:nvSpPr>
        <p:spPr>
          <a:xfrm>
            <a:off x="356235" y="3696335"/>
            <a:ext cx="1125220" cy="275590"/>
          </a:xfrm>
          <a:prstGeom prst="rect">
            <a:avLst/>
          </a:prstGeom>
          <a:noFill/>
        </p:spPr>
        <p:txBody>
          <a:bodyPr wrap="square" rtlCol="0">
            <a:spAutoFit/>
          </a:bodyPr>
          <a:lstStyle/>
          <a:p>
            <a:pPr algn="ctr"/>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rPr>
              <a:t>降本增效</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96" name="文本框 195"/>
          <p:cNvSpPr txBox="1"/>
          <p:nvPr/>
        </p:nvSpPr>
        <p:spPr>
          <a:xfrm>
            <a:off x="356235" y="4699635"/>
            <a:ext cx="859155" cy="460375"/>
          </a:xfrm>
          <a:prstGeom prst="rect">
            <a:avLst/>
          </a:prstGeom>
          <a:noFill/>
        </p:spPr>
        <p:txBody>
          <a:bodyPr wrap="square" rtlCol="0">
            <a:spAutoFit/>
          </a:bodyPr>
          <a:lstStyle/>
          <a:p>
            <a:pPr algn="ctr"/>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rPr>
              <a:t>基础</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rPr>
              <a:t>保障</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97" name="文本框 196"/>
          <p:cNvSpPr txBox="1"/>
          <p:nvPr/>
        </p:nvSpPr>
        <p:spPr>
          <a:xfrm>
            <a:off x="179705" y="5523230"/>
            <a:ext cx="859155" cy="460375"/>
          </a:xfrm>
          <a:prstGeom prst="rect">
            <a:avLst/>
          </a:prstGeom>
          <a:noFill/>
        </p:spPr>
        <p:txBody>
          <a:bodyPr wrap="square" rtlCol="0">
            <a:spAutoFit/>
          </a:bodyPr>
          <a:lstStyle/>
          <a:p>
            <a:pPr algn="ctr"/>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rPr>
              <a:t>蓄</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rPr>
              <a:t>水</a:t>
            </a:r>
            <a:endParaRPr kumimoji="1"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pic>
        <p:nvPicPr>
          <p:cNvPr id="58" name="图片 57" descr="屋顶资源管理"/>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55600" y="186055"/>
            <a:ext cx="549910" cy="54991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nvSpPr>
        <p:spPr>
          <a:xfrm>
            <a:off x="1275080" y="1168400"/>
            <a:ext cx="10530205" cy="750570"/>
          </a:xfrm>
          <a:prstGeom prst="rect">
            <a:avLst/>
          </a:prstGeom>
          <a:solidFill>
            <a:schemeClr val="bg1"/>
          </a:solidFill>
          <a:ln w="19050">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FFFFFF"/>
                </a:solidFill>
                <a:effectLst/>
                <a:uLnTx/>
                <a:uFillTx/>
                <a:latin typeface="+mj-lt"/>
                <a:ea typeface="+mj-lt"/>
                <a:cs typeface="微软雅黑" panose="020B0503020204020204" charset="-122"/>
              </a:rPr>
              <a:t> </a:t>
            </a:r>
            <a:endParaRPr kumimoji="0" lang="en-US" altLang="zh-CN" sz="1800" b="0" i="0" u="none" strike="noStrike" kern="1200" cap="none" spc="0" normalizeH="0" baseline="0" noProof="0">
              <a:ln>
                <a:noFill/>
              </a:ln>
              <a:solidFill>
                <a:srgbClr val="FFFFFF"/>
              </a:solidFill>
              <a:effectLst/>
              <a:uLnTx/>
              <a:uFillTx/>
              <a:latin typeface="+mj-lt"/>
              <a:ea typeface="+mj-lt"/>
              <a:cs typeface="微软雅黑" panose="020B0503020204020204" charset="-122"/>
            </a:endParaRPr>
          </a:p>
        </p:txBody>
      </p:sp>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项目管理工作总结汇报</a:t>
            </a:r>
            <a:endParaRPr lang="en-US" altLang="zh-CN"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nvGrpSpPr>
          <p:cNvPr id="9" name="组合 8"/>
          <p:cNvGrpSpPr/>
          <p:nvPr/>
        </p:nvGrpSpPr>
        <p:grpSpPr>
          <a:xfrm>
            <a:off x="8715375" y="348615"/>
            <a:ext cx="3219450" cy="332740"/>
            <a:chOff x="13761" y="549"/>
            <a:chExt cx="5070" cy="524"/>
          </a:xfrm>
        </p:grpSpPr>
        <p:pic>
          <p:nvPicPr>
            <p:cNvPr id="10" name="图片 9"/>
            <p:cNvPicPr>
              <a:picLocks noChangeAspect="1"/>
            </p:cNvPicPr>
            <p:nvPr userDrawn="1"/>
          </p:nvPicPr>
          <p:blipFill>
            <a:blip r:embed="rId1"/>
            <a:srcRect l="17002" t="-1765" r="56499" b="-1176"/>
            <a:stretch>
              <a:fillRect/>
            </a:stretch>
          </p:blipFill>
          <p:spPr>
            <a:xfrm>
              <a:off x="13761" y="549"/>
              <a:ext cx="1582" cy="525"/>
            </a:xfrm>
            <a:prstGeom prst="rect">
              <a:avLst/>
            </a:prstGeom>
          </p:spPr>
        </p:pic>
        <p:sp>
          <p:nvSpPr>
            <p:cNvPr id="16" name="文本框 15"/>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
        <p:nvSpPr>
          <p:cNvPr id="2" name="五边形 1"/>
          <p:cNvSpPr/>
          <p:nvPr/>
        </p:nvSpPr>
        <p:spPr>
          <a:xfrm>
            <a:off x="1288064" y="2107617"/>
            <a:ext cx="3009840" cy="797108"/>
          </a:xfrm>
          <a:prstGeom prst="homePlate">
            <a:avLst>
              <a:gd name="adj" fmla="val 39379"/>
            </a:avLst>
          </a:prstGeom>
          <a:gradFill>
            <a:gsLst>
              <a:gs pos="100000">
                <a:schemeClr val="accent1">
                  <a:lumMod val="60000"/>
                  <a:lumOff val="40000"/>
                </a:schemeClr>
              </a:gs>
              <a:gs pos="14000">
                <a:schemeClr val="accent1"/>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bg1"/>
              </a:solidFill>
              <a:cs typeface="微软雅黑" panose="020B0503020204020204" charset="-122"/>
              <a:sym typeface="+mn-ea"/>
            </a:endParaRPr>
          </a:p>
        </p:txBody>
      </p:sp>
      <p:sp>
        <p:nvSpPr>
          <p:cNvPr id="123" name="五边形 122"/>
          <p:cNvSpPr/>
          <p:nvPr/>
        </p:nvSpPr>
        <p:spPr>
          <a:xfrm flipH="1">
            <a:off x="5409755" y="2107617"/>
            <a:ext cx="6395208" cy="797108"/>
          </a:xfrm>
          <a:prstGeom prst="homePlate">
            <a:avLst>
              <a:gd name="adj" fmla="val 39379"/>
            </a:avLst>
          </a:prstGeom>
          <a:gradFill>
            <a:gsLst>
              <a:gs pos="100000">
                <a:schemeClr val="accent1">
                  <a:lumMod val="60000"/>
                  <a:lumOff val="40000"/>
                </a:schemeClr>
              </a:gs>
              <a:gs pos="14000">
                <a:schemeClr val="accent1"/>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mj-lt"/>
              <a:ea typeface="+mj-lt"/>
              <a:cs typeface="微软雅黑" panose="020B0503020204020204" charset="-122"/>
              <a:sym typeface="+mn-ea"/>
            </a:endParaRPr>
          </a:p>
        </p:txBody>
      </p:sp>
      <p:sp>
        <p:nvSpPr>
          <p:cNvPr id="124" name="五边形 123"/>
          <p:cNvSpPr/>
          <p:nvPr/>
        </p:nvSpPr>
        <p:spPr>
          <a:xfrm>
            <a:off x="1288064" y="3013173"/>
            <a:ext cx="3009840" cy="797108"/>
          </a:xfrm>
          <a:prstGeom prst="homePlate">
            <a:avLst>
              <a:gd name="adj" fmla="val 39379"/>
            </a:avLst>
          </a:prstGeom>
          <a:solidFill>
            <a:schemeClr val="accent1">
              <a:lumMod val="60000"/>
              <a:lumOff val="4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bg1"/>
              </a:solidFill>
              <a:cs typeface="微软雅黑" panose="020B0503020204020204" charset="-122"/>
              <a:sym typeface="+mn-ea"/>
            </a:endParaRPr>
          </a:p>
        </p:txBody>
      </p:sp>
      <p:sp>
        <p:nvSpPr>
          <p:cNvPr id="125" name="五边形 124"/>
          <p:cNvSpPr/>
          <p:nvPr/>
        </p:nvSpPr>
        <p:spPr>
          <a:xfrm flipH="1">
            <a:off x="5409755" y="3013173"/>
            <a:ext cx="6395208" cy="797108"/>
          </a:xfrm>
          <a:prstGeom prst="homePlate">
            <a:avLst>
              <a:gd name="adj" fmla="val 39379"/>
            </a:avLst>
          </a:prstGeom>
          <a:gradFill>
            <a:gsLst>
              <a:gs pos="100000">
                <a:schemeClr val="accent1">
                  <a:lumMod val="40000"/>
                  <a:lumOff val="60000"/>
                </a:schemeClr>
              </a:gs>
              <a:gs pos="9000">
                <a:schemeClr val="accent1">
                  <a:lumMod val="40000"/>
                  <a:lumOff val="60000"/>
                </a:schemeClr>
              </a:gs>
            </a:gsLst>
            <a:lin ang="1620000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126" name="五边形 125"/>
          <p:cNvSpPr/>
          <p:nvPr/>
        </p:nvSpPr>
        <p:spPr>
          <a:xfrm>
            <a:off x="1275364" y="3957139"/>
            <a:ext cx="3009840" cy="797108"/>
          </a:xfrm>
          <a:prstGeom prst="homePlate">
            <a:avLst>
              <a:gd name="adj" fmla="val 39379"/>
            </a:avLst>
          </a:prstGeom>
          <a:solidFill>
            <a:schemeClr val="accent5">
              <a:lumMod val="40000"/>
              <a:lumOff val="6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bg1"/>
              </a:solidFill>
              <a:cs typeface="微软雅黑" panose="020B0503020204020204" charset="-122"/>
              <a:sym typeface="+mn-ea"/>
            </a:endParaRPr>
          </a:p>
        </p:txBody>
      </p:sp>
      <p:sp>
        <p:nvSpPr>
          <p:cNvPr id="3" name="五边形 2"/>
          <p:cNvSpPr/>
          <p:nvPr/>
        </p:nvSpPr>
        <p:spPr>
          <a:xfrm flipH="1">
            <a:off x="5397055" y="3957139"/>
            <a:ext cx="6395208" cy="797108"/>
          </a:xfrm>
          <a:prstGeom prst="homePlate">
            <a:avLst>
              <a:gd name="adj" fmla="val 39379"/>
            </a:avLst>
          </a:prstGeom>
          <a:solidFill>
            <a:schemeClr val="accent5">
              <a:lumMod val="40000"/>
              <a:lumOff val="6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6" name="五边形 5"/>
          <p:cNvSpPr/>
          <p:nvPr/>
        </p:nvSpPr>
        <p:spPr>
          <a:xfrm>
            <a:off x="1275364" y="4862209"/>
            <a:ext cx="3009840" cy="797108"/>
          </a:xfrm>
          <a:prstGeom prst="homePlate">
            <a:avLst>
              <a:gd name="adj" fmla="val 39379"/>
            </a:avLst>
          </a:prstGeom>
          <a:gradFill>
            <a:gsLst>
              <a:gs pos="100000">
                <a:schemeClr val="accent5">
                  <a:lumMod val="60000"/>
                  <a:lumOff val="40000"/>
                </a:schemeClr>
              </a:gs>
              <a:gs pos="14000">
                <a:schemeClr val="accent5"/>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bg1"/>
              </a:solidFill>
              <a:cs typeface="微软雅黑" panose="020B0503020204020204" charset="-122"/>
              <a:sym typeface="+mn-ea"/>
            </a:endParaRPr>
          </a:p>
        </p:txBody>
      </p:sp>
      <p:sp>
        <p:nvSpPr>
          <p:cNvPr id="134" name="五边形 133"/>
          <p:cNvSpPr/>
          <p:nvPr/>
        </p:nvSpPr>
        <p:spPr>
          <a:xfrm flipH="1">
            <a:off x="5397055" y="4862209"/>
            <a:ext cx="6395208" cy="797108"/>
          </a:xfrm>
          <a:prstGeom prst="homePlate">
            <a:avLst>
              <a:gd name="adj" fmla="val 39379"/>
            </a:avLst>
          </a:prstGeom>
          <a:gradFill>
            <a:gsLst>
              <a:gs pos="100000">
                <a:schemeClr val="accent5">
                  <a:lumMod val="60000"/>
                  <a:lumOff val="40000"/>
                </a:schemeClr>
              </a:gs>
              <a:gs pos="14000">
                <a:schemeClr val="accent5"/>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49" name="Line"/>
          <p:cNvSpPr/>
          <p:nvPr/>
        </p:nvSpPr>
        <p:spPr>
          <a:xfrm flipH="1" flipV="1">
            <a:off x="4361542" y="2513784"/>
            <a:ext cx="994230" cy="0"/>
          </a:xfrm>
          <a:prstGeom prst="line">
            <a:avLst/>
          </a:prstGeom>
          <a:noFill/>
          <a:ln w="15875" cap="rnd">
            <a:solidFill>
              <a:schemeClr val="accent1"/>
            </a:solidFill>
            <a:prstDash val="solid"/>
            <a:round/>
            <a:headEnd type="triangle"/>
            <a:tailEnd type="none" w="med" len="med"/>
          </a:ln>
          <a:effectLst/>
        </p:spPr>
        <p:txBody>
          <a:bodyPr wrap="square" lIns="22859" tIns="22859" rIns="22859" bIns="22859" numCol="1" anchor="t">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7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flipH="1">
            <a:off x="5843828" y="2556092"/>
            <a:ext cx="1360451" cy="189796"/>
          </a:xfrm>
          <a:prstGeom prst="rect">
            <a:avLst/>
          </a:prstGeom>
          <a:ln w="12700">
            <a:miter lim="400000"/>
          </a:ln>
        </p:spPr>
        <p:txBody>
          <a:bodyPr wrap="square" lIns="25400" tIns="25400" rIns="25400" bIns="25400">
            <a:spAutoFit/>
          </a:bodyPr>
          <a:lstStyle>
            <a:lvl1pPr>
              <a:defRPr sz="1800">
                <a:solidFill>
                  <a:srgbClr val="F7F5F6"/>
                </a:solidFill>
                <a:latin typeface="Barlow Medium"/>
                <a:ea typeface="Barlow Medium"/>
                <a:cs typeface="Barlow Medium"/>
                <a:sym typeface="Barlow Medium"/>
              </a:defRPr>
            </a:lvl1pPr>
          </a:lstStyle>
          <a:p>
            <a:pPr lvl="0" algn="ctr">
              <a:defRPr/>
            </a:pPr>
            <a:r>
              <a:rPr lang="zh-CN" altLang="en-US" sz="900" dirty="0">
                <a:solidFill>
                  <a:schemeClr val="bg1"/>
                </a:solidFill>
                <a:latin typeface="+mj-lt"/>
                <a:ea typeface="+mj-lt"/>
                <a:cs typeface="微软雅黑" panose="020B0503020204020204" charset="-122"/>
                <a:sym typeface="微软雅黑" panose="020B0503020204020204" charset="-122"/>
              </a:rPr>
              <a:t>市场调研：了解市场</a:t>
            </a:r>
            <a:endPar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sym typeface="微软雅黑" panose="020B0503020204020204" charset="-122"/>
            </a:endParaRPr>
          </a:p>
        </p:txBody>
      </p:sp>
      <p:sp>
        <p:nvSpPr>
          <p:cNvPr id="7" name="Description Text"/>
          <p:cNvSpPr txBox="1"/>
          <p:nvPr/>
        </p:nvSpPr>
        <p:spPr>
          <a:xfrm flipH="1">
            <a:off x="7630312" y="1226892"/>
            <a:ext cx="1046176" cy="285750"/>
          </a:xfrm>
          <a:prstGeom prst="rect">
            <a:avLst/>
          </a:prstGeom>
          <a:ln w="12700">
            <a:miter lim="400000"/>
          </a:ln>
        </p:spPr>
        <p:txBody>
          <a:bodyPr wrap="square" lIns="50800" tIns="50800" rIns="50800" bIns="50800" anchor="ctr">
            <a:spAutoFit/>
          </a:bodyPr>
          <a:lstStyle>
            <a:lvl1pPr algn="l">
              <a:defRPr>
                <a:latin typeface="Arial" panose="020B0604020202020204"/>
                <a:ea typeface="Arial" panose="020B0604020202020204"/>
                <a:cs typeface="Arial" panose="020B0604020202020204"/>
                <a:sym typeface="Arial" panose="020B0604020202020204"/>
              </a:defRPr>
            </a:lvl1pPr>
          </a:lstStyle>
          <a:p>
            <a:pPr lvl="0" algn="ctr">
              <a:buClrTx/>
              <a:buSzTx/>
              <a:buFontTx/>
              <a:defRPr/>
            </a:pPr>
            <a:r>
              <a:rPr lang="zh-CN" altLang="en-US" sz="1200" b="1" dirty="0">
                <a:solidFill>
                  <a:schemeClr val="accent1"/>
                </a:solidFill>
                <a:latin typeface="+mj-lt"/>
                <a:ea typeface="+mj-lt"/>
                <a:cs typeface="微软雅黑" panose="020B0503020204020204" charset="-122"/>
                <a:sym typeface="+mn-ea"/>
              </a:rPr>
              <a:t>用户需求</a:t>
            </a:r>
            <a:endParaRPr lang="zh-CN" altLang="en-US" sz="1200" b="1" dirty="0">
              <a:solidFill>
                <a:schemeClr val="accent1"/>
              </a:solidFill>
              <a:latin typeface="+mj-lt"/>
              <a:ea typeface="+mj-lt"/>
              <a:cs typeface="微软雅黑" panose="020B0503020204020204" charset="-122"/>
              <a:sym typeface="+mn-ea"/>
            </a:endParaRPr>
          </a:p>
        </p:txBody>
      </p:sp>
      <p:sp>
        <p:nvSpPr>
          <p:cNvPr id="8" name="Description Text"/>
          <p:cNvSpPr txBox="1"/>
          <p:nvPr/>
        </p:nvSpPr>
        <p:spPr>
          <a:xfrm flipH="1">
            <a:off x="2582749" y="1226892"/>
            <a:ext cx="955844" cy="285750"/>
          </a:xfrm>
          <a:prstGeom prst="rect">
            <a:avLst/>
          </a:prstGeom>
          <a:ln w="12700">
            <a:miter lim="400000"/>
          </a:ln>
        </p:spPr>
        <p:txBody>
          <a:bodyPr wrap="square" lIns="50800" tIns="50800" rIns="50800" bIns="50800" anchor="ctr">
            <a:spAutoFit/>
          </a:bodyPr>
          <a:lstStyle>
            <a:lvl1pPr algn="l">
              <a:defRPr>
                <a:latin typeface="Arial" panose="020B0604020202020204"/>
                <a:ea typeface="Arial" panose="020B0604020202020204"/>
                <a:cs typeface="Arial" panose="020B0604020202020204"/>
                <a:sym typeface="Arial" panose="020B0604020202020204"/>
              </a:defRPr>
            </a:lvl1pPr>
          </a:lstStyle>
          <a:p>
            <a:pPr lvl="0">
              <a:defRPr/>
            </a:pPr>
            <a:r>
              <a:rPr lang="zh-CN" altLang="en-US" sz="1200" b="1" dirty="0">
                <a:solidFill>
                  <a:schemeClr val="accent1"/>
                </a:solidFill>
                <a:latin typeface="+mj-lt"/>
                <a:ea typeface="+mj-lt"/>
                <a:cs typeface="微软雅黑" panose="020B0503020204020204" charset="-122"/>
                <a:sym typeface="微软雅黑" panose="020B0503020204020204" charset="-122"/>
              </a:rPr>
              <a:t>业务目标</a:t>
            </a:r>
            <a:endParaRPr kumimoji="0" lang="zh-CN" altLang="en-US" sz="1200" b="1" u="none" strike="noStrike" kern="1200" cap="none" spc="0" normalizeH="0" baseline="0" noProof="0" dirty="0">
              <a:ln>
                <a:noFill/>
              </a:ln>
              <a:solidFill>
                <a:schemeClr val="accent1"/>
              </a:solidFill>
              <a:effectLst/>
              <a:uLnTx/>
              <a:uFillTx/>
              <a:latin typeface="+mj-lt"/>
              <a:ea typeface="+mj-lt"/>
              <a:cs typeface="微软雅黑" panose="020B0503020204020204" charset="-122"/>
              <a:sym typeface="微软雅黑" panose="020B0503020204020204" charset="-122"/>
            </a:endParaRPr>
          </a:p>
        </p:txBody>
      </p:sp>
      <p:sp>
        <p:nvSpPr>
          <p:cNvPr id="11" name="矩形: 圆角 489"/>
          <p:cNvSpPr/>
          <p:nvPr/>
        </p:nvSpPr>
        <p:spPr>
          <a:xfrm>
            <a:off x="479613" y="5835560"/>
            <a:ext cx="522287" cy="647700"/>
          </a:xfrm>
          <a:prstGeom prst="roundRect">
            <a:avLst>
              <a:gd name="adj" fmla="val 110"/>
            </a:avLst>
          </a:prstGeom>
          <a:noFill/>
          <a:ln w="12700" cap="flat" cmpd="sng" algn="ctr">
            <a:solidFill>
              <a:schemeClr val="accent6">
                <a:alpha val="65000"/>
              </a:schemeClr>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chemeClr val="tx2"/>
              </a:solidFill>
              <a:effectLst/>
              <a:uLnTx/>
              <a:uFillTx/>
              <a:latin typeface="+mj-lt"/>
              <a:ea typeface="+mj-lt"/>
              <a:cs typeface="微软雅黑" panose="020B0503020204020204" charset="-122"/>
            </a:endParaRPr>
          </a:p>
        </p:txBody>
      </p:sp>
      <p:sp>
        <p:nvSpPr>
          <p:cNvPr id="132" name="矩形: 圆角 490"/>
          <p:cNvSpPr/>
          <p:nvPr/>
        </p:nvSpPr>
        <p:spPr>
          <a:xfrm>
            <a:off x="480248" y="3952253"/>
            <a:ext cx="522287" cy="1706615"/>
          </a:xfrm>
          <a:prstGeom prst="roundRect">
            <a:avLst>
              <a:gd name="adj" fmla="val 110"/>
            </a:avLst>
          </a:prstGeom>
          <a:noFill/>
          <a:ln w="12700" cap="flat" cmpd="sng" algn="ctr">
            <a:solidFill>
              <a:schemeClr val="accent6">
                <a:alpha val="65000"/>
              </a:schemeClr>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chemeClr val="tx2"/>
              </a:solidFill>
              <a:effectLst/>
              <a:uLnTx/>
              <a:uFillTx/>
              <a:latin typeface="+mj-lt"/>
              <a:ea typeface="+mj-lt"/>
              <a:cs typeface="微软雅黑" panose="020B0503020204020204" charset="-122"/>
            </a:endParaRPr>
          </a:p>
        </p:txBody>
      </p:sp>
      <p:sp>
        <p:nvSpPr>
          <p:cNvPr id="133" name="矩形: 圆角 487"/>
          <p:cNvSpPr/>
          <p:nvPr/>
        </p:nvSpPr>
        <p:spPr>
          <a:xfrm>
            <a:off x="492948" y="1168554"/>
            <a:ext cx="522287" cy="750652"/>
          </a:xfrm>
          <a:prstGeom prst="roundRect">
            <a:avLst>
              <a:gd name="adj" fmla="val 110"/>
            </a:avLst>
          </a:prstGeom>
          <a:noFill/>
          <a:ln w="12700" cap="flat" cmpd="sng" algn="ctr">
            <a:solidFill>
              <a:schemeClr val="accent6">
                <a:alpha val="65000"/>
              </a:schemeClr>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chemeClr val="tx2"/>
              </a:solidFill>
              <a:effectLst/>
              <a:uLnTx/>
              <a:uFillTx/>
              <a:latin typeface="+mj-lt"/>
              <a:ea typeface="+mj-lt"/>
              <a:cs typeface="微软雅黑" panose="020B0503020204020204" charset="-122"/>
            </a:endParaRPr>
          </a:p>
        </p:txBody>
      </p:sp>
      <p:sp>
        <p:nvSpPr>
          <p:cNvPr id="135" name="文本框 134"/>
          <p:cNvSpPr txBox="1"/>
          <p:nvPr/>
        </p:nvSpPr>
        <p:spPr>
          <a:xfrm>
            <a:off x="521443" y="1309568"/>
            <a:ext cx="477520" cy="455295"/>
          </a:xfrm>
          <a:prstGeom prst="rect">
            <a:avLst/>
          </a:prstGeom>
          <a:noFill/>
          <a:effectLst/>
        </p:spPr>
        <p:txBody>
          <a:bodyPr wrap="none" lIns="86868" tIns="43434" rIns="86868" bIns="43434" rtlCol="0">
            <a:spAutoFit/>
          </a:bodyPr>
          <a:lstStyle/>
          <a:p>
            <a:pPr lvl="0" algn="ctr">
              <a:defRPr/>
            </a:pPr>
            <a:r>
              <a:rPr lang="zh-CN" altLang="en-US" sz="1200" b="1" dirty="0">
                <a:solidFill>
                  <a:schemeClr val="tx2"/>
                </a:solidFill>
                <a:latin typeface="+mj-lt"/>
                <a:ea typeface="+mj-lt"/>
                <a:cs typeface="微软雅黑" panose="020B0503020204020204" charset="-122"/>
              </a:rPr>
              <a:t>项目</a:t>
            </a:r>
            <a:endParaRPr lang="en-US" altLang="zh-CN" sz="1200" b="1" dirty="0">
              <a:solidFill>
                <a:schemeClr val="tx2"/>
              </a:solidFill>
              <a:latin typeface="+mj-lt"/>
              <a:ea typeface="+mj-lt"/>
              <a:cs typeface="微软雅黑" panose="020B0503020204020204" charset="-122"/>
            </a:endParaRPr>
          </a:p>
          <a:p>
            <a:pPr lvl="0" algn="ctr">
              <a:defRPr/>
            </a:pPr>
            <a:r>
              <a:rPr lang="zh-CN" altLang="en-US" sz="1200" b="1" dirty="0">
                <a:solidFill>
                  <a:schemeClr val="tx2"/>
                </a:solidFill>
                <a:latin typeface="+mj-lt"/>
                <a:ea typeface="+mj-lt"/>
                <a:cs typeface="微软雅黑" panose="020B0503020204020204" charset="-122"/>
              </a:rPr>
              <a:t>目标</a:t>
            </a:r>
            <a:endParaRPr kumimoji="0" lang="zh-CN" altLang="en-US" sz="1200" b="1" i="0" u="none" strike="noStrike" kern="1200" cap="none" spc="0" normalizeH="0" baseline="0" noProof="0" dirty="0">
              <a:ln>
                <a:noFill/>
              </a:ln>
              <a:solidFill>
                <a:schemeClr val="tx2"/>
              </a:solidFill>
              <a:effectLst/>
              <a:uLnTx/>
              <a:uFillTx/>
              <a:latin typeface="+mj-lt"/>
              <a:ea typeface="+mj-lt"/>
              <a:cs typeface="微软雅黑" panose="020B0503020204020204" charset="-122"/>
            </a:endParaRPr>
          </a:p>
        </p:txBody>
      </p:sp>
      <p:sp>
        <p:nvSpPr>
          <p:cNvPr id="136" name="文本框 135"/>
          <p:cNvSpPr txBox="1"/>
          <p:nvPr/>
        </p:nvSpPr>
        <p:spPr>
          <a:xfrm>
            <a:off x="607646" y="2525069"/>
            <a:ext cx="286060" cy="824865"/>
          </a:xfrm>
          <a:prstGeom prst="rect">
            <a:avLst/>
          </a:prstGeom>
          <a:noFill/>
          <a:effectLst/>
        </p:spPr>
        <p:txBody>
          <a:bodyPr wrap="square" lIns="86868" tIns="43434" rIns="86868" bIns="43434" rtlCol="0">
            <a:spAutoFit/>
          </a:bodyPr>
          <a:lstStyle/>
          <a:p>
            <a:pPr lvl="0" algn="ctr">
              <a:defRPr/>
            </a:pPr>
            <a:r>
              <a:rPr lang="zh-CN" altLang="en-US" sz="1200" b="1" dirty="0">
                <a:solidFill>
                  <a:schemeClr val="tx2"/>
                </a:solidFill>
                <a:latin typeface="+mj-lt"/>
                <a:ea typeface="+mj-lt"/>
                <a:cs typeface="微软雅黑" panose="020B0503020204020204" charset="-122"/>
              </a:rPr>
              <a:t>策略步骤</a:t>
            </a:r>
            <a:endParaRPr kumimoji="0" lang="zh-CN" altLang="en-US" sz="1200" b="1" i="0" u="none" strike="noStrike" kern="1200" cap="none" spc="0" normalizeH="0" baseline="0" noProof="0" dirty="0">
              <a:ln>
                <a:noFill/>
              </a:ln>
              <a:solidFill>
                <a:schemeClr val="tx2"/>
              </a:solidFill>
              <a:effectLst/>
              <a:uLnTx/>
              <a:uFillTx/>
              <a:latin typeface="+mj-lt"/>
              <a:ea typeface="+mj-lt"/>
              <a:cs typeface="微软雅黑" panose="020B0503020204020204" charset="-122"/>
            </a:endParaRPr>
          </a:p>
        </p:txBody>
      </p:sp>
      <p:sp>
        <p:nvSpPr>
          <p:cNvPr id="12" name="文本框 11"/>
          <p:cNvSpPr txBox="1"/>
          <p:nvPr/>
        </p:nvSpPr>
        <p:spPr>
          <a:xfrm>
            <a:off x="501479" y="5932756"/>
            <a:ext cx="477520" cy="455295"/>
          </a:xfrm>
          <a:prstGeom prst="rect">
            <a:avLst/>
          </a:prstGeom>
          <a:noFill/>
          <a:effectLst/>
        </p:spPr>
        <p:txBody>
          <a:bodyPr wrap="none" lIns="86868" tIns="43434" rIns="86868" bIns="43434" rtlCol="0">
            <a:spAutoFit/>
          </a:bodyPr>
          <a:lstStyle/>
          <a:p>
            <a:pPr lvl="0" algn="ctr">
              <a:defRPr/>
            </a:pPr>
            <a:r>
              <a:rPr lang="zh-CN" altLang="en-US" sz="1200" b="1" dirty="0">
                <a:solidFill>
                  <a:schemeClr val="tx2"/>
                </a:solidFill>
                <a:latin typeface="+mj-lt"/>
                <a:ea typeface="+mj-lt"/>
                <a:cs typeface="微软雅黑" panose="020B0503020204020204" charset="-122"/>
              </a:rPr>
              <a:t>风险</a:t>
            </a:r>
            <a:endParaRPr lang="en-US" altLang="zh-CN" sz="1200" b="1" dirty="0">
              <a:solidFill>
                <a:schemeClr val="tx2"/>
              </a:solidFill>
              <a:latin typeface="+mj-lt"/>
              <a:ea typeface="+mj-lt"/>
              <a:cs typeface="微软雅黑" panose="020B0503020204020204" charset="-122"/>
            </a:endParaRPr>
          </a:p>
          <a:p>
            <a:pPr lvl="0" algn="ctr">
              <a:defRPr/>
            </a:pPr>
            <a:r>
              <a:rPr lang="zh-CN" altLang="en-US" sz="1200" b="1" dirty="0">
                <a:solidFill>
                  <a:schemeClr val="tx2"/>
                </a:solidFill>
                <a:latin typeface="+mj-lt"/>
                <a:ea typeface="+mj-lt"/>
                <a:cs typeface="微软雅黑" panose="020B0503020204020204" charset="-122"/>
              </a:rPr>
              <a:t>应对</a:t>
            </a:r>
            <a:endParaRPr kumimoji="0" lang="zh-CN" altLang="en-US" sz="1200" b="1" i="0" u="none" strike="noStrike" kern="1200" cap="none" spc="0" normalizeH="0" baseline="0" noProof="0" dirty="0">
              <a:ln>
                <a:noFill/>
              </a:ln>
              <a:solidFill>
                <a:schemeClr val="tx2"/>
              </a:solidFill>
              <a:effectLst/>
              <a:uLnTx/>
              <a:uFillTx/>
              <a:latin typeface="+mj-lt"/>
              <a:ea typeface="+mj-lt"/>
              <a:cs typeface="微软雅黑" panose="020B0503020204020204" charset="-122"/>
            </a:endParaRPr>
          </a:p>
        </p:txBody>
      </p:sp>
      <p:sp>
        <p:nvSpPr>
          <p:cNvPr id="13" name="文本框 12"/>
          <p:cNvSpPr txBox="1"/>
          <p:nvPr/>
        </p:nvSpPr>
        <p:spPr>
          <a:xfrm>
            <a:off x="594946" y="4382064"/>
            <a:ext cx="286060" cy="824865"/>
          </a:xfrm>
          <a:prstGeom prst="rect">
            <a:avLst/>
          </a:prstGeom>
          <a:noFill/>
          <a:effectLst/>
        </p:spPr>
        <p:txBody>
          <a:bodyPr wrap="square" lIns="86868" tIns="43434" rIns="86868" bIns="43434" rtlCol="0">
            <a:spAutoFit/>
          </a:bodyPr>
          <a:lstStyle/>
          <a:p>
            <a:pPr lvl="0" algn="ctr">
              <a:defRPr/>
            </a:pPr>
            <a:r>
              <a:rPr lang="zh-CN" altLang="en-US" sz="1200" b="1" dirty="0">
                <a:solidFill>
                  <a:schemeClr val="tx2"/>
                </a:solidFill>
                <a:latin typeface="+mj-lt"/>
                <a:ea typeface="+mj-lt"/>
                <a:cs typeface="微软雅黑" panose="020B0503020204020204" charset="-122"/>
              </a:rPr>
              <a:t>时间里程</a:t>
            </a:r>
            <a:endParaRPr kumimoji="0" lang="zh-CN" altLang="en-US" sz="1200" b="1" i="0" u="none" strike="noStrike" kern="1200" cap="none" spc="0" normalizeH="0" baseline="0" noProof="0" dirty="0">
              <a:ln>
                <a:noFill/>
              </a:ln>
              <a:solidFill>
                <a:schemeClr val="tx2"/>
              </a:solidFill>
              <a:effectLst/>
              <a:uLnTx/>
              <a:uFillTx/>
              <a:latin typeface="+mj-lt"/>
              <a:ea typeface="+mj-lt"/>
              <a:cs typeface="微软雅黑" panose="020B0503020204020204" charset="-122"/>
            </a:endParaRPr>
          </a:p>
        </p:txBody>
      </p:sp>
      <p:sp>
        <p:nvSpPr>
          <p:cNvPr id="139" name="文本框 138"/>
          <p:cNvSpPr txBox="1"/>
          <p:nvPr/>
        </p:nvSpPr>
        <p:spPr>
          <a:xfrm flipH="1">
            <a:off x="1617415" y="1505456"/>
            <a:ext cx="2886512" cy="344197"/>
          </a:xfrm>
          <a:prstGeom prst="rect">
            <a:avLst/>
          </a:prstGeom>
          <a:noFill/>
        </p:spPr>
        <p:txBody>
          <a:bodyPr wrap="square" lIns="0" tIns="0" rIns="0" bIns="0" rtlCol="0">
            <a:spAutoFit/>
          </a:bodyPr>
          <a:lstStyle/>
          <a:p>
            <a:pPr lvl="0" algn="ctr">
              <a:lnSpc>
                <a:spcPct val="114000"/>
              </a:lnSpc>
              <a:defRPr/>
            </a:pPr>
            <a:r>
              <a:rPr lang="zh-CN" altLang="en-US" sz="1000" dirty="0">
                <a:solidFill>
                  <a:schemeClr val="tx2"/>
                </a:solidFill>
                <a:latin typeface="+mj-lt"/>
                <a:ea typeface="+mj-lt"/>
                <a:cs typeface="微软雅黑" panose="020B0503020204020204" charset="-122"/>
              </a:rPr>
              <a:t>业务目标通常与企业的战略计划和长期目标相一致，是企业决策和行动的指导方针。</a:t>
            </a:r>
            <a:endParaRPr lang="zh-CN" altLang="en-US" sz="1000" dirty="0">
              <a:solidFill>
                <a:schemeClr val="tx2"/>
              </a:solidFill>
              <a:latin typeface="+mj-lt"/>
              <a:ea typeface="+mj-lt"/>
              <a:cs typeface="微软雅黑" panose="020B0503020204020204" charset="-122"/>
            </a:endParaRPr>
          </a:p>
        </p:txBody>
      </p:sp>
      <p:sp>
        <p:nvSpPr>
          <p:cNvPr id="140" name="文本框 139"/>
          <p:cNvSpPr txBox="1"/>
          <p:nvPr/>
        </p:nvSpPr>
        <p:spPr>
          <a:xfrm flipH="1">
            <a:off x="5518785" y="1505585"/>
            <a:ext cx="5269230" cy="349885"/>
          </a:xfrm>
          <a:prstGeom prst="rect">
            <a:avLst/>
          </a:prstGeom>
          <a:noFill/>
        </p:spPr>
        <p:txBody>
          <a:bodyPr wrap="square" lIns="0" tIns="0" rIns="0" bIns="0" rtlCol="0">
            <a:spAutoFit/>
          </a:bodyPr>
          <a:lstStyle/>
          <a:p>
            <a:pPr lvl="0" algn="ctr">
              <a:lnSpc>
                <a:spcPct val="114000"/>
              </a:lnSpc>
              <a:defRPr/>
            </a:pPr>
            <a:r>
              <a:rPr lang="zh-CN" altLang="en-US" sz="1000" dirty="0">
                <a:solidFill>
                  <a:schemeClr val="tx2"/>
                </a:solidFill>
                <a:latin typeface="+mj-lt"/>
                <a:ea typeface="+mj-lt"/>
                <a:cs typeface="微软雅黑" panose="020B0503020204020204" charset="-122"/>
              </a:rPr>
              <a:t>是指用户对于产品或服务的期望和要求。用户需求可以包括功能需求、性能需求、质量需求、安全需求等方面，是产品或服务设计和开发的重要依据。</a:t>
            </a:r>
            <a:endParaRPr lang="zh-CN" altLang="en-US" sz="1000" dirty="0">
              <a:solidFill>
                <a:schemeClr val="tx2"/>
              </a:solidFill>
              <a:latin typeface="+mj-lt"/>
              <a:ea typeface="+mj-lt"/>
              <a:cs typeface="微软雅黑" panose="020B0503020204020204" charset="-122"/>
            </a:endParaRPr>
          </a:p>
        </p:txBody>
      </p:sp>
      <p:sp>
        <p:nvSpPr>
          <p:cNvPr id="141" name="矩形: 圆角 490"/>
          <p:cNvSpPr/>
          <p:nvPr/>
        </p:nvSpPr>
        <p:spPr>
          <a:xfrm>
            <a:off x="492948" y="2090987"/>
            <a:ext cx="522287" cy="1706615"/>
          </a:xfrm>
          <a:prstGeom prst="roundRect">
            <a:avLst>
              <a:gd name="adj" fmla="val 110"/>
            </a:avLst>
          </a:prstGeom>
          <a:noFill/>
          <a:ln w="12700" cap="flat" cmpd="sng" algn="ctr">
            <a:solidFill>
              <a:schemeClr val="accent6">
                <a:alpha val="65000"/>
              </a:schemeClr>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1" i="0" u="none" strike="noStrike" kern="0" cap="none" spc="0" normalizeH="0" baseline="0" noProof="0">
              <a:ln>
                <a:noFill/>
              </a:ln>
              <a:solidFill>
                <a:schemeClr val="tx2"/>
              </a:solidFill>
              <a:effectLst/>
              <a:uLnTx/>
              <a:uFillTx/>
              <a:latin typeface="+mj-lt"/>
              <a:ea typeface="+mj-lt"/>
              <a:cs typeface="微软雅黑" panose="020B0503020204020204" charset="-122"/>
            </a:endParaRPr>
          </a:p>
        </p:txBody>
      </p:sp>
      <p:sp>
        <p:nvSpPr>
          <p:cNvPr id="14" name="文本框 13"/>
          <p:cNvSpPr txBox="1"/>
          <p:nvPr/>
        </p:nvSpPr>
        <p:spPr>
          <a:xfrm flipH="1">
            <a:off x="1467168" y="2473066"/>
            <a:ext cx="1710007" cy="309765"/>
          </a:xfrm>
          <a:prstGeom prst="rect">
            <a:avLst/>
          </a:prstGeom>
          <a:noFill/>
        </p:spPr>
        <p:txBody>
          <a:bodyPr wrap="square" lIns="0" tIns="0" rIns="0" bIns="0" rtlCol="0">
            <a:spAutoFit/>
          </a:bodyPr>
          <a:lstStyle/>
          <a:p>
            <a:pPr lvl="0">
              <a:lnSpc>
                <a:spcPct val="114000"/>
              </a:lnSpc>
              <a:defRPr/>
            </a:pPr>
            <a:r>
              <a:rPr lang="zh-CN" altLang="en-US" sz="900" dirty="0">
                <a:solidFill>
                  <a:schemeClr val="bg1"/>
                </a:solidFill>
                <a:latin typeface="+mj-lt"/>
                <a:ea typeface="+mj-lt"/>
                <a:cs typeface="微软雅黑" panose="020B0503020204020204" charset="-122"/>
              </a:rPr>
              <a:t>为了提高产品或服务的知名度、吸引客户</a:t>
            </a:r>
            <a:endPar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endParaRPr>
          </a:p>
        </p:txBody>
      </p:sp>
      <p:sp>
        <p:nvSpPr>
          <p:cNvPr id="15" name="文本框 14"/>
          <p:cNvSpPr txBox="1"/>
          <p:nvPr/>
        </p:nvSpPr>
        <p:spPr>
          <a:xfrm flipH="1">
            <a:off x="1467168" y="2249583"/>
            <a:ext cx="1227576" cy="184150"/>
          </a:xfrm>
          <a:prstGeom prst="rect">
            <a:avLst/>
          </a:prstGeom>
          <a:noFill/>
        </p:spPr>
        <p:txBody>
          <a:bodyPr wrap="square" lIns="0" tIns="0" rIns="0" bIns="0" rtlCol="0">
            <a:spAutoFit/>
          </a:bodyPr>
          <a:lstStyle/>
          <a:p>
            <a:pPr lvl="0">
              <a:defRPr/>
            </a:pPr>
            <a:r>
              <a:rPr lang="zh-CN" altLang="en-US" sz="1200" b="1" dirty="0">
                <a:solidFill>
                  <a:schemeClr val="bg1"/>
                </a:solidFill>
                <a:latin typeface="+mj-lt"/>
                <a:ea typeface="+mj-lt"/>
                <a:cs typeface="微软雅黑" panose="020B0503020204020204" charset="-122"/>
              </a:rPr>
              <a:t>市场推广</a:t>
            </a:r>
            <a:endParaRPr kumimoji="0" lang="zh-CN" altLang="en-US" sz="1200" b="1" u="none" strike="noStrike" kern="1200" cap="none" spc="0" normalizeH="0" baseline="0" noProof="0" dirty="0">
              <a:ln>
                <a:noFill/>
              </a:ln>
              <a:solidFill>
                <a:schemeClr val="bg1"/>
              </a:solidFill>
              <a:effectLst/>
              <a:uLnTx/>
              <a:uFillTx/>
              <a:latin typeface="+mj-lt"/>
              <a:ea typeface="+mj-lt"/>
              <a:cs typeface="微软雅黑" panose="020B0503020204020204" charset="-122"/>
            </a:endParaRPr>
          </a:p>
        </p:txBody>
      </p:sp>
      <p:cxnSp>
        <p:nvCxnSpPr>
          <p:cNvPr id="17" name="直接连接符 729"/>
          <p:cNvCxnSpPr/>
          <p:nvPr/>
        </p:nvCxnSpPr>
        <p:spPr>
          <a:xfrm>
            <a:off x="7268381" y="2218940"/>
            <a:ext cx="0" cy="53324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直接连接符 729"/>
          <p:cNvCxnSpPr/>
          <p:nvPr/>
        </p:nvCxnSpPr>
        <p:spPr>
          <a:xfrm>
            <a:off x="8781495" y="2218940"/>
            <a:ext cx="0" cy="53324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0" name="直接连接符 729"/>
          <p:cNvCxnSpPr/>
          <p:nvPr/>
        </p:nvCxnSpPr>
        <p:spPr>
          <a:xfrm>
            <a:off x="10294609" y="2218940"/>
            <a:ext cx="0" cy="53324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1" name="flag-pole-with-black-flag_38306"/>
          <p:cNvSpPr>
            <a:spLocks noChangeAspect="1"/>
          </p:cNvSpPr>
          <p:nvPr/>
        </p:nvSpPr>
        <p:spPr>
          <a:xfrm>
            <a:off x="6456561" y="2307693"/>
            <a:ext cx="181452" cy="216000"/>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bg1"/>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a:ln>
                <a:noFill/>
              </a:ln>
              <a:solidFill>
                <a:schemeClr val="bg1"/>
              </a:solidFill>
              <a:effectLst/>
              <a:uLnTx/>
              <a:uFillTx/>
              <a:latin typeface="+mj-lt"/>
              <a:ea typeface="+mj-lt"/>
              <a:cs typeface="微软雅黑" panose="020B0503020204020204" charset="-122"/>
            </a:endParaRPr>
          </a:p>
        </p:txBody>
      </p:sp>
      <p:sp>
        <p:nvSpPr>
          <p:cNvPr id="2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flipH="1">
            <a:off x="7335171" y="2556092"/>
            <a:ext cx="1360451" cy="189796"/>
          </a:xfrm>
          <a:prstGeom prst="rect">
            <a:avLst/>
          </a:prstGeom>
          <a:ln w="12700">
            <a:miter lim="400000"/>
          </a:ln>
        </p:spPr>
        <p:txBody>
          <a:bodyPr wrap="square" lIns="25400" tIns="25400" rIns="25400" bIns="25400">
            <a:spAutoFit/>
          </a:bodyPr>
          <a:lstStyle>
            <a:lvl1pPr>
              <a:defRPr sz="1800">
                <a:solidFill>
                  <a:srgbClr val="F7F5F6"/>
                </a:solidFill>
                <a:latin typeface="Barlow Medium"/>
                <a:ea typeface="Barlow Medium"/>
                <a:cs typeface="Barlow Medium"/>
                <a:sym typeface="Barlow Medium"/>
              </a:defRPr>
            </a:lvl1pPr>
          </a:lstStyle>
          <a:p>
            <a:pPr lvl="0" algn="ctr">
              <a:defRPr/>
            </a:pPr>
            <a:r>
              <a:rPr lang="zh-CN" altLang="en-US" sz="900" dirty="0">
                <a:solidFill>
                  <a:schemeClr val="bg1"/>
                </a:solidFill>
                <a:latin typeface="+mj-lt"/>
                <a:ea typeface="+mj-lt"/>
                <a:cs typeface="微软雅黑" panose="020B0503020204020204" charset="-122"/>
                <a:sym typeface="微软雅黑" panose="020B0503020204020204" charset="-122"/>
              </a:rPr>
              <a:t>目标受众：定位客户</a:t>
            </a:r>
            <a:endPar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sym typeface="微软雅黑" panose="020B0503020204020204" charset="-122"/>
            </a:endParaRPr>
          </a:p>
        </p:txBody>
      </p:sp>
      <p:sp>
        <p:nvSpPr>
          <p:cNvPr id="23"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flipH="1">
            <a:off x="8860084" y="2556092"/>
            <a:ext cx="1360451" cy="189796"/>
          </a:xfrm>
          <a:prstGeom prst="rect">
            <a:avLst/>
          </a:prstGeom>
          <a:ln w="12700">
            <a:miter lim="400000"/>
          </a:ln>
        </p:spPr>
        <p:txBody>
          <a:bodyPr wrap="square" lIns="25400" tIns="25400" rIns="25400" bIns="25400">
            <a:spAutoFit/>
          </a:bodyPr>
          <a:lstStyle>
            <a:lvl1pPr>
              <a:defRPr sz="1800">
                <a:solidFill>
                  <a:srgbClr val="F7F5F6"/>
                </a:solidFill>
                <a:latin typeface="Barlow Medium"/>
                <a:ea typeface="Barlow Medium"/>
                <a:cs typeface="Barlow Medium"/>
                <a:sym typeface="Barlow Medium"/>
              </a:defRPr>
            </a:lvl1pPr>
          </a:lstStyle>
          <a:p>
            <a:pPr lvl="0" algn="ctr">
              <a:defRPr/>
            </a:pPr>
            <a:r>
              <a:rPr lang="zh-CN" altLang="en-US" sz="900" dirty="0">
                <a:solidFill>
                  <a:schemeClr val="bg1"/>
                </a:solidFill>
                <a:latin typeface="+mj-lt"/>
                <a:ea typeface="+mj-lt"/>
                <a:cs typeface="微软雅黑" panose="020B0503020204020204" charset="-122"/>
                <a:sym typeface="微软雅黑" panose="020B0503020204020204" charset="-122"/>
              </a:rPr>
              <a:t>推广策略：制定计划</a:t>
            </a:r>
            <a:endPar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sym typeface="微软雅黑" panose="020B0503020204020204" charset="-122"/>
            </a:endParaRPr>
          </a:p>
        </p:txBody>
      </p:sp>
      <p:sp>
        <p:nvSpPr>
          <p:cNvPr id="2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flipH="1">
            <a:off x="10384084" y="2556092"/>
            <a:ext cx="1360451" cy="189796"/>
          </a:xfrm>
          <a:prstGeom prst="rect">
            <a:avLst/>
          </a:prstGeom>
          <a:ln w="12700">
            <a:miter lim="400000"/>
          </a:ln>
        </p:spPr>
        <p:txBody>
          <a:bodyPr wrap="square" lIns="25400" tIns="25400" rIns="25400" bIns="25400">
            <a:spAutoFit/>
          </a:bodyPr>
          <a:lstStyle>
            <a:lvl1pPr>
              <a:defRPr sz="1800">
                <a:solidFill>
                  <a:srgbClr val="F7F5F6"/>
                </a:solidFill>
                <a:latin typeface="Barlow Medium"/>
                <a:ea typeface="Barlow Medium"/>
                <a:cs typeface="Barlow Medium"/>
                <a:sym typeface="Barlow Medium"/>
              </a:defRPr>
            </a:lvl1pPr>
          </a:lstStyle>
          <a:p>
            <a:pPr lvl="0" algn="ctr">
              <a:defRPr/>
            </a:pPr>
            <a:r>
              <a:rPr lang="zh-CN" altLang="en-US" sz="900" dirty="0">
                <a:solidFill>
                  <a:schemeClr val="bg1"/>
                </a:solidFill>
                <a:latin typeface="+mj-lt"/>
                <a:ea typeface="+mj-lt"/>
                <a:cs typeface="微软雅黑" panose="020B0503020204020204" charset="-122"/>
                <a:sym typeface="微软雅黑" panose="020B0503020204020204" charset="-122"/>
              </a:rPr>
              <a:t>效果评估：反馈调整</a:t>
            </a:r>
            <a:endPar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sym typeface="微软雅黑" panose="020B0503020204020204" charset="-122"/>
            </a:endParaRPr>
          </a:p>
        </p:txBody>
      </p:sp>
      <p:sp>
        <p:nvSpPr>
          <p:cNvPr id="25" name="flag-pole-with-black-flag_38306"/>
          <p:cNvSpPr>
            <a:spLocks noChangeAspect="1"/>
          </p:cNvSpPr>
          <p:nvPr/>
        </p:nvSpPr>
        <p:spPr>
          <a:xfrm>
            <a:off x="10996817" y="2307693"/>
            <a:ext cx="181452" cy="216000"/>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bg1"/>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a:ln>
                <a:noFill/>
              </a:ln>
              <a:solidFill>
                <a:schemeClr val="bg1"/>
              </a:solidFill>
              <a:effectLst/>
              <a:uLnTx/>
              <a:uFillTx/>
              <a:latin typeface="+mj-lt"/>
              <a:ea typeface="+mj-lt"/>
              <a:cs typeface="微软雅黑" panose="020B0503020204020204" charset="-122"/>
            </a:endParaRPr>
          </a:p>
        </p:txBody>
      </p:sp>
      <p:sp>
        <p:nvSpPr>
          <p:cNvPr id="26" name="live-chat_72439"/>
          <p:cNvSpPr>
            <a:spLocks noChangeAspect="1"/>
          </p:cNvSpPr>
          <p:nvPr/>
        </p:nvSpPr>
        <p:spPr>
          <a:xfrm>
            <a:off x="7928396" y="2335098"/>
            <a:ext cx="206199" cy="180000"/>
          </a:xfrm>
          <a:custGeom>
            <a:avLst/>
            <a:gdLst>
              <a:gd name="connsiteX0" fmla="*/ 424975 w 608697"/>
              <a:gd name="connsiteY0" fmla="*/ 168488 h 531358"/>
              <a:gd name="connsiteX1" fmla="*/ 387604 w 608697"/>
              <a:gd name="connsiteY1" fmla="*/ 205806 h 531358"/>
              <a:gd name="connsiteX2" fmla="*/ 424975 w 608697"/>
              <a:gd name="connsiteY2" fmla="*/ 243124 h 531358"/>
              <a:gd name="connsiteX3" fmla="*/ 462346 w 608697"/>
              <a:gd name="connsiteY3" fmla="*/ 205806 h 531358"/>
              <a:gd name="connsiteX4" fmla="*/ 424975 w 608697"/>
              <a:gd name="connsiteY4" fmla="*/ 168488 h 531358"/>
              <a:gd name="connsiteX5" fmla="*/ 287947 w 608697"/>
              <a:gd name="connsiteY5" fmla="*/ 168488 h 531358"/>
              <a:gd name="connsiteX6" fmla="*/ 250576 w 608697"/>
              <a:gd name="connsiteY6" fmla="*/ 205806 h 531358"/>
              <a:gd name="connsiteX7" fmla="*/ 287947 w 608697"/>
              <a:gd name="connsiteY7" fmla="*/ 243124 h 531358"/>
              <a:gd name="connsiteX8" fmla="*/ 325318 w 608697"/>
              <a:gd name="connsiteY8" fmla="*/ 205806 h 531358"/>
              <a:gd name="connsiteX9" fmla="*/ 287947 w 608697"/>
              <a:gd name="connsiteY9" fmla="*/ 168488 h 531358"/>
              <a:gd name="connsiteX10" fmla="*/ 102356 w 608697"/>
              <a:gd name="connsiteY10" fmla="*/ 121231 h 531358"/>
              <a:gd name="connsiteX11" fmla="*/ 98850 w 608697"/>
              <a:gd name="connsiteY11" fmla="*/ 127711 h 531358"/>
              <a:gd name="connsiteX12" fmla="*/ 76842 w 608697"/>
              <a:gd name="connsiteY12" fmla="*/ 217990 h 531358"/>
              <a:gd name="connsiteX13" fmla="*/ 98850 w 608697"/>
              <a:gd name="connsiteY13" fmla="*/ 308194 h 531358"/>
              <a:gd name="connsiteX14" fmla="*/ 157488 w 608697"/>
              <a:gd name="connsiteY14" fmla="*/ 380223 h 531358"/>
              <a:gd name="connsiteX15" fmla="*/ 344668 w 608697"/>
              <a:gd name="connsiteY15" fmla="*/ 444729 h 531358"/>
              <a:gd name="connsiteX16" fmla="*/ 370257 w 608697"/>
              <a:gd name="connsiteY16" fmla="*/ 443687 h 531358"/>
              <a:gd name="connsiteX17" fmla="*/ 236717 w 608697"/>
              <a:gd name="connsiteY17" fmla="*/ 477876 h 531358"/>
              <a:gd name="connsiteX18" fmla="*/ 198072 w 608697"/>
              <a:gd name="connsiteY18" fmla="*/ 475344 h 531358"/>
              <a:gd name="connsiteX19" fmla="*/ 82437 w 608697"/>
              <a:gd name="connsiteY19" fmla="*/ 531284 h 531358"/>
              <a:gd name="connsiteX20" fmla="*/ 81542 w 608697"/>
              <a:gd name="connsiteY20" fmla="*/ 531358 h 531358"/>
              <a:gd name="connsiteX21" fmla="*/ 75051 w 608697"/>
              <a:gd name="connsiteY21" fmla="*/ 527857 h 531358"/>
              <a:gd name="connsiteX22" fmla="*/ 74753 w 608697"/>
              <a:gd name="connsiteY22" fmla="*/ 519738 h 531358"/>
              <a:gd name="connsiteX23" fmla="*/ 88778 w 608697"/>
              <a:gd name="connsiteY23" fmla="*/ 435046 h 531358"/>
              <a:gd name="connsiteX24" fmla="*/ 0 w 608697"/>
              <a:gd name="connsiteY24" fmla="*/ 282198 h 531358"/>
              <a:gd name="connsiteX25" fmla="*/ 102356 w 608697"/>
              <a:gd name="connsiteY25" fmla="*/ 121231 h 531358"/>
              <a:gd name="connsiteX26" fmla="*/ 356424 w 608697"/>
              <a:gd name="connsiteY26" fmla="*/ 0 h 531358"/>
              <a:gd name="connsiteX27" fmla="*/ 608697 w 608697"/>
              <a:gd name="connsiteY27" fmla="*/ 211244 h 531358"/>
              <a:gd name="connsiteX28" fmla="*/ 518290 w 608697"/>
              <a:gd name="connsiteY28" fmla="*/ 373401 h 531358"/>
              <a:gd name="connsiteX29" fmla="*/ 531941 w 608697"/>
              <a:gd name="connsiteY29" fmla="*/ 441109 h 531358"/>
              <a:gd name="connsiteX30" fmla="*/ 531120 w 608697"/>
              <a:gd name="connsiteY30" fmla="*/ 465391 h 531358"/>
              <a:gd name="connsiteX31" fmla="*/ 511577 w 608697"/>
              <a:gd name="connsiteY31" fmla="*/ 475894 h 531358"/>
              <a:gd name="connsiteX32" fmla="*/ 509041 w 608697"/>
              <a:gd name="connsiteY32" fmla="*/ 475745 h 531358"/>
              <a:gd name="connsiteX33" fmla="*/ 391408 w 608697"/>
              <a:gd name="connsiteY33" fmla="*/ 420476 h 531358"/>
              <a:gd name="connsiteX34" fmla="*/ 356424 w 608697"/>
              <a:gd name="connsiteY34" fmla="*/ 422487 h 531358"/>
              <a:gd name="connsiteX35" fmla="*/ 104225 w 608697"/>
              <a:gd name="connsiteY35" fmla="*/ 211244 h 531358"/>
              <a:gd name="connsiteX36" fmla="*/ 356424 w 608697"/>
              <a:gd name="connsiteY36" fmla="*/ 0 h 53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8697" h="531358">
                <a:moveTo>
                  <a:pt x="424975" y="168488"/>
                </a:moveTo>
                <a:cubicBezTo>
                  <a:pt x="404312" y="168488"/>
                  <a:pt x="387604" y="185248"/>
                  <a:pt x="387604" y="205806"/>
                </a:cubicBezTo>
                <a:cubicBezTo>
                  <a:pt x="387604" y="226439"/>
                  <a:pt x="404312" y="243124"/>
                  <a:pt x="424975" y="243124"/>
                </a:cubicBezTo>
                <a:cubicBezTo>
                  <a:pt x="445562" y="243124"/>
                  <a:pt x="462346" y="226439"/>
                  <a:pt x="462346" y="205806"/>
                </a:cubicBezTo>
                <a:cubicBezTo>
                  <a:pt x="462346" y="185248"/>
                  <a:pt x="445637" y="168488"/>
                  <a:pt x="424975" y="168488"/>
                </a:cubicBezTo>
                <a:close/>
                <a:moveTo>
                  <a:pt x="287947" y="168488"/>
                </a:moveTo>
                <a:cubicBezTo>
                  <a:pt x="267285" y="168488"/>
                  <a:pt x="250576" y="185248"/>
                  <a:pt x="250576" y="205806"/>
                </a:cubicBezTo>
                <a:cubicBezTo>
                  <a:pt x="250576" y="226439"/>
                  <a:pt x="267285" y="243124"/>
                  <a:pt x="287947" y="243124"/>
                </a:cubicBezTo>
                <a:cubicBezTo>
                  <a:pt x="308610" y="243124"/>
                  <a:pt x="325318" y="226439"/>
                  <a:pt x="325318" y="205806"/>
                </a:cubicBezTo>
                <a:cubicBezTo>
                  <a:pt x="325318" y="185248"/>
                  <a:pt x="308610" y="168488"/>
                  <a:pt x="287947" y="168488"/>
                </a:cubicBezTo>
                <a:close/>
                <a:moveTo>
                  <a:pt x="102356" y="121231"/>
                </a:moveTo>
                <a:cubicBezTo>
                  <a:pt x="101162" y="123317"/>
                  <a:pt x="99969" y="125477"/>
                  <a:pt x="98850" y="127711"/>
                </a:cubicBezTo>
                <a:cubicBezTo>
                  <a:pt x="84227" y="156240"/>
                  <a:pt x="76842" y="186631"/>
                  <a:pt x="76842" y="217990"/>
                </a:cubicBezTo>
                <a:cubicBezTo>
                  <a:pt x="76842" y="249275"/>
                  <a:pt x="84227" y="279666"/>
                  <a:pt x="98850" y="308194"/>
                </a:cubicBezTo>
                <a:cubicBezTo>
                  <a:pt x="112726" y="335308"/>
                  <a:pt x="132496" y="359516"/>
                  <a:pt x="157488" y="380223"/>
                </a:cubicBezTo>
                <a:cubicBezTo>
                  <a:pt x="207845" y="421787"/>
                  <a:pt x="274317" y="444729"/>
                  <a:pt x="344668" y="444729"/>
                </a:cubicBezTo>
                <a:cubicBezTo>
                  <a:pt x="353173" y="444729"/>
                  <a:pt x="361752" y="444357"/>
                  <a:pt x="370257" y="443687"/>
                </a:cubicBezTo>
                <a:cubicBezTo>
                  <a:pt x="332209" y="465288"/>
                  <a:pt x="286254" y="477876"/>
                  <a:pt x="236717" y="477876"/>
                </a:cubicBezTo>
                <a:cubicBezTo>
                  <a:pt x="223736" y="477876"/>
                  <a:pt x="210755" y="477057"/>
                  <a:pt x="198072" y="475344"/>
                </a:cubicBezTo>
                <a:cubicBezTo>
                  <a:pt x="160397" y="499478"/>
                  <a:pt x="110637" y="528155"/>
                  <a:pt x="82437" y="531284"/>
                </a:cubicBezTo>
                <a:cubicBezTo>
                  <a:pt x="82138" y="531358"/>
                  <a:pt x="81840" y="531358"/>
                  <a:pt x="81542" y="531358"/>
                </a:cubicBezTo>
                <a:cubicBezTo>
                  <a:pt x="78930" y="531358"/>
                  <a:pt x="76469" y="530017"/>
                  <a:pt x="75051" y="527857"/>
                </a:cubicBezTo>
                <a:cubicBezTo>
                  <a:pt x="73410" y="525399"/>
                  <a:pt x="73335" y="522271"/>
                  <a:pt x="74753" y="519738"/>
                </a:cubicBezTo>
                <a:cubicBezTo>
                  <a:pt x="75051" y="519291"/>
                  <a:pt x="99223" y="476014"/>
                  <a:pt x="88778" y="435046"/>
                </a:cubicBezTo>
                <a:cubicBezTo>
                  <a:pt x="32303" y="397653"/>
                  <a:pt x="0" y="342160"/>
                  <a:pt x="0" y="282198"/>
                </a:cubicBezTo>
                <a:cubicBezTo>
                  <a:pt x="0" y="215532"/>
                  <a:pt x="40584" y="156538"/>
                  <a:pt x="102356" y="121231"/>
                </a:cubicBezTo>
                <a:close/>
                <a:moveTo>
                  <a:pt x="356424" y="0"/>
                </a:moveTo>
                <a:cubicBezTo>
                  <a:pt x="495540" y="0"/>
                  <a:pt x="608697" y="94747"/>
                  <a:pt x="608697" y="211244"/>
                </a:cubicBezTo>
                <a:cubicBezTo>
                  <a:pt x="608697" y="274408"/>
                  <a:pt x="575802" y="333178"/>
                  <a:pt x="518290" y="373401"/>
                </a:cubicBezTo>
                <a:cubicBezTo>
                  <a:pt x="512845" y="406324"/>
                  <a:pt x="531717" y="440811"/>
                  <a:pt x="531941" y="441109"/>
                </a:cubicBezTo>
                <a:cubicBezTo>
                  <a:pt x="536267" y="448781"/>
                  <a:pt x="535969" y="458092"/>
                  <a:pt x="531120" y="465391"/>
                </a:cubicBezTo>
                <a:cubicBezTo>
                  <a:pt x="526794" y="472021"/>
                  <a:pt x="519484" y="475894"/>
                  <a:pt x="511577" y="475894"/>
                </a:cubicBezTo>
                <a:cubicBezTo>
                  <a:pt x="510756" y="475894"/>
                  <a:pt x="509936" y="475894"/>
                  <a:pt x="509041" y="475745"/>
                </a:cubicBezTo>
                <a:cubicBezTo>
                  <a:pt x="484574" y="473064"/>
                  <a:pt x="444966" y="454442"/>
                  <a:pt x="391408" y="420476"/>
                </a:cubicBezTo>
                <a:cubicBezTo>
                  <a:pt x="379920" y="421817"/>
                  <a:pt x="368135" y="422487"/>
                  <a:pt x="356424" y="422487"/>
                </a:cubicBezTo>
                <a:cubicBezTo>
                  <a:pt x="217382" y="422487"/>
                  <a:pt x="104225" y="327741"/>
                  <a:pt x="104225" y="211244"/>
                </a:cubicBezTo>
                <a:cubicBezTo>
                  <a:pt x="104225" y="94747"/>
                  <a:pt x="217382" y="0"/>
                  <a:pt x="356424" y="0"/>
                </a:cubicBezTo>
                <a:close/>
              </a:path>
            </a:pathLst>
          </a:custGeom>
          <a:solidFill>
            <a:schemeClr val="bg1"/>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dirty="0">
              <a:ln>
                <a:noFill/>
              </a:ln>
              <a:solidFill>
                <a:schemeClr val="bg1"/>
              </a:solidFill>
              <a:effectLst/>
              <a:uLnTx/>
              <a:uFillTx/>
              <a:latin typeface="+mj-lt"/>
              <a:ea typeface="+mj-lt"/>
              <a:cs typeface="微软雅黑" panose="020B0503020204020204" charset="-122"/>
            </a:endParaRPr>
          </a:p>
        </p:txBody>
      </p:sp>
      <p:sp>
        <p:nvSpPr>
          <p:cNvPr id="27" name="statistics-settings_72708"/>
          <p:cNvSpPr>
            <a:spLocks noChangeAspect="1"/>
          </p:cNvSpPr>
          <p:nvPr/>
        </p:nvSpPr>
        <p:spPr>
          <a:xfrm>
            <a:off x="9407621" y="2307693"/>
            <a:ext cx="224528" cy="216000"/>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1200" cap="none" spc="0" normalizeH="0" baseline="0" noProof="0">
              <a:ln>
                <a:noFill/>
              </a:ln>
              <a:solidFill>
                <a:schemeClr val="bg1"/>
              </a:solidFill>
              <a:effectLst/>
              <a:uLnTx/>
              <a:uFillTx/>
              <a:latin typeface="+mj-lt"/>
              <a:ea typeface="+mj-lt"/>
              <a:cs typeface="微软雅黑" panose="020B0503020204020204" charset="-122"/>
            </a:endParaRPr>
          </a:p>
        </p:txBody>
      </p:sp>
      <p:sp>
        <p:nvSpPr>
          <p:cNvPr id="220" name="Line"/>
          <p:cNvSpPr/>
          <p:nvPr/>
        </p:nvSpPr>
        <p:spPr>
          <a:xfrm flipH="1" flipV="1">
            <a:off x="4361542" y="3428184"/>
            <a:ext cx="994230" cy="0"/>
          </a:xfrm>
          <a:prstGeom prst="line">
            <a:avLst/>
          </a:prstGeom>
          <a:noFill/>
          <a:ln w="15875" cap="rnd">
            <a:solidFill>
              <a:schemeClr val="accent1">
                <a:lumMod val="60000"/>
                <a:lumOff val="40000"/>
              </a:schemeClr>
            </a:solidFill>
            <a:prstDash val="solid"/>
            <a:round/>
            <a:headEnd type="triangle"/>
            <a:tailEnd type="none" w="med" len="med"/>
          </a:ln>
          <a:effectLst/>
        </p:spPr>
        <p:txBody>
          <a:bodyPr wrap="square" lIns="22859" tIns="22859" rIns="22859" bIns="22859" numCol="1" anchor="t">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2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flipH="1">
            <a:off x="5843828" y="3447956"/>
            <a:ext cx="1360451" cy="189796"/>
          </a:xfrm>
          <a:prstGeom prst="rect">
            <a:avLst/>
          </a:prstGeom>
          <a:ln w="12700">
            <a:miter lim="400000"/>
          </a:ln>
        </p:spPr>
        <p:txBody>
          <a:bodyPr wrap="square" lIns="25400" tIns="25400" rIns="25400" bIns="25400">
            <a:spAutoFit/>
          </a:bodyPr>
          <a:lstStyle>
            <a:lvl1pPr>
              <a:defRPr sz="1800">
                <a:solidFill>
                  <a:srgbClr val="F7F5F6"/>
                </a:solidFill>
                <a:latin typeface="Barlow Medium"/>
                <a:ea typeface="Barlow Medium"/>
                <a:cs typeface="Barlow Medium"/>
                <a:sym typeface="Barlow Medium"/>
              </a:defRPr>
            </a:lvl1pPr>
          </a:lstStyle>
          <a:p>
            <a:pPr lvl="0" algn="ctr">
              <a:defRPr/>
            </a:pPr>
            <a:r>
              <a:rPr lang="zh-CN" altLang="en-US" sz="900" dirty="0">
                <a:solidFill>
                  <a:schemeClr val="bg1"/>
                </a:solidFill>
                <a:latin typeface="+mj-lt"/>
                <a:ea typeface="+mj-lt"/>
                <a:cs typeface="微软雅黑" panose="020B0503020204020204" charset="-122"/>
                <a:sym typeface="微软雅黑" panose="020B0503020204020204" charset="-122"/>
              </a:rPr>
              <a:t>需求分析：明确需求</a:t>
            </a:r>
            <a:endPar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sym typeface="微软雅黑" panose="020B0503020204020204" charset="-122"/>
            </a:endParaRPr>
          </a:p>
        </p:txBody>
      </p:sp>
      <p:sp>
        <p:nvSpPr>
          <p:cNvPr id="224" name="文本框 223"/>
          <p:cNvSpPr txBox="1"/>
          <p:nvPr/>
        </p:nvSpPr>
        <p:spPr>
          <a:xfrm flipH="1">
            <a:off x="1467168" y="3387466"/>
            <a:ext cx="1710007" cy="315727"/>
          </a:xfrm>
          <a:prstGeom prst="rect">
            <a:avLst/>
          </a:prstGeom>
          <a:noFill/>
        </p:spPr>
        <p:txBody>
          <a:bodyPr wrap="square" lIns="0" tIns="0" rIns="0" bIns="0" rtlCol="0">
            <a:spAutoFit/>
          </a:bodyPr>
          <a:lstStyle/>
          <a:p>
            <a:pPr lvl="0">
              <a:lnSpc>
                <a:spcPct val="114000"/>
              </a:lnSpc>
              <a:defRPr/>
            </a:pPr>
            <a:r>
              <a:rPr lang="zh-CN" altLang="en-US" sz="900" dirty="0">
                <a:solidFill>
                  <a:schemeClr val="bg1"/>
                </a:solidFill>
                <a:latin typeface="+mj-lt"/>
                <a:ea typeface="+mj-lt"/>
                <a:cs typeface="微软雅黑" panose="020B0503020204020204" charset="-122"/>
              </a:rPr>
              <a:t>通过研究、设计、开发、测试等一系列活动</a:t>
            </a:r>
            <a:endPar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endParaRPr>
          </a:p>
        </p:txBody>
      </p:sp>
      <p:sp>
        <p:nvSpPr>
          <p:cNvPr id="225" name="文本框 224"/>
          <p:cNvSpPr txBox="1"/>
          <p:nvPr/>
        </p:nvSpPr>
        <p:spPr>
          <a:xfrm flipH="1">
            <a:off x="1467168" y="3163983"/>
            <a:ext cx="1227576" cy="184150"/>
          </a:xfrm>
          <a:prstGeom prst="rect">
            <a:avLst/>
          </a:prstGeom>
          <a:noFill/>
        </p:spPr>
        <p:txBody>
          <a:bodyPr wrap="square" lIns="0" tIns="0" rIns="0" bIns="0" rtlCol="0">
            <a:spAutoFit/>
          </a:bodyPr>
          <a:lstStyle/>
          <a:p>
            <a:pPr lvl="0">
              <a:defRPr/>
            </a:pPr>
            <a:r>
              <a:rPr lang="zh-CN" altLang="en-US" sz="1200" b="1" dirty="0">
                <a:solidFill>
                  <a:schemeClr val="bg1"/>
                </a:solidFill>
                <a:latin typeface="+mj-lt"/>
                <a:ea typeface="+mj-lt"/>
                <a:cs typeface="微软雅黑" panose="020B0503020204020204" charset="-122"/>
              </a:rPr>
              <a:t>产品研发</a:t>
            </a:r>
            <a:endParaRPr kumimoji="0" lang="zh-CN" altLang="en-US" sz="1200" b="1" u="none" strike="noStrike" kern="1200" cap="none" spc="0" normalizeH="0" baseline="0" noProof="0" dirty="0">
              <a:ln>
                <a:noFill/>
              </a:ln>
              <a:solidFill>
                <a:schemeClr val="bg1"/>
              </a:solidFill>
              <a:effectLst/>
              <a:uLnTx/>
              <a:uFillTx/>
              <a:latin typeface="+mj-lt"/>
              <a:ea typeface="+mj-lt"/>
              <a:cs typeface="微软雅黑" panose="020B0503020204020204" charset="-122"/>
            </a:endParaRPr>
          </a:p>
        </p:txBody>
      </p:sp>
      <p:cxnSp>
        <p:nvCxnSpPr>
          <p:cNvPr id="226" name="直接连接符 729"/>
          <p:cNvCxnSpPr/>
          <p:nvPr/>
        </p:nvCxnSpPr>
        <p:spPr>
          <a:xfrm>
            <a:off x="7268381" y="3133340"/>
            <a:ext cx="0" cy="53324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28" name="直接连接符 729"/>
          <p:cNvCxnSpPr/>
          <p:nvPr/>
        </p:nvCxnSpPr>
        <p:spPr>
          <a:xfrm>
            <a:off x="8781495" y="3133340"/>
            <a:ext cx="0" cy="53324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29" name="直接连接符 729"/>
          <p:cNvCxnSpPr/>
          <p:nvPr/>
        </p:nvCxnSpPr>
        <p:spPr>
          <a:xfrm>
            <a:off x="10294609" y="3133340"/>
            <a:ext cx="0" cy="53324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30" name="flag-pole-with-black-flag_38306"/>
          <p:cNvSpPr>
            <a:spLocks noChangeAspect="1"/>
          </p:cNvSpPr>
          <p:nvPr/>
        </p:nvSpPr>
        <p:spPr>
          <a:xfrm>
            <a:off x="6456561" y="3199557"/>
            <a:ext cx="181452" cy="216000"/>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bg1"/>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a:ln>
                <a:noFill/>
              </a:ln>
              <a:solidFill>
                <a:schemeClr val="bg1"/>
              </a:solidFill>
              <a:effectLst/>
              <a:uLnTx/>
              <a:uFillTx/>
              <a:latin typeface="+mj-lt"/>
              <a:ea typeface="+mj-lt"/>
              <a:cs typeface="微软雅黑" panose="020B0503020204020204" charset="-122"/>
            </a:endParaRPr>
          </a:p>
        </p:txBody>
      </p:sp>
      <p:sp>
        <p:nvSpPr>
          <p:cNvPr id="23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flipH="1">
            <a:off x="7335171" y="3447956"/>
            <a:ext cx="1360451" cy="189796"/>
          </a:xfrm>
          <a:prstGeom prst="rect">
            <a:avLst/>
          </a:prstGeom>
          <a:ln w="12700">
            <a:miter lim="400000"/>
          </a:ln>
        </p:spPr>
        <p:txBody>
          <a:bodyPr wrap="square" lIns="25400" tIns="25400" rIns="25400" bIns="25400">
            <a:spAutoFit/>
          </a:bodyPr>
          <a:lstStyle>
            <a:lvl1pPr>
              <a:defRPr sz="1800">
                <a:solidFill>
                  <a:srgbClr val="F7F5F6"/>
                </a:solidFill>
                <a:latin typeface="Barlow Medium"/>
                <a:ea typeface="Barlow Medium"/>
                <a:cs typeface="Barlow Medium"/>
                <a:sym typeface="Barlow Medium"/>
              </a:defRPr>
            </a:lvl1pPr>
          </a:lstStyle>
          <a:p>
            <a:pPr lvl="0" algn="ctr">
              <a:defRPr/>
            </a:pPr>
            <a:r>
              <a:rPr lang="zh-CN" altLang="en-US" sz="900" dirty="0">
                <a:solidFill>
                  <a:schemeClr val="bg1"/>
                </a:solidFill>
                <a:latin typeface="+mj-lt"/>
                <a:ea typeface="+mj-lt"/>
                <a:cs typeface="微软雅黑" panose="020B0503020204020204" charset="-122"/>
                <a:sym typeface="微软雅黑" panose="020B0503020204020204" charset="-122"/>
              </a:rPr>
              <a:t>产品设计：构思创意</a:t>
            </a:r>
            <a:endPar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sym typeface="微软雅黑" panose="020B0503020204020204" charset="-122"/>
            </a:endParaRPr>
          </a:p>
        </p:txBody>
      </p:sp>
      <p:sp>
        <p:nvSpPr>
          <p:cNvPr id="23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flipH="1">
            <a:off x="8860084" y="3447956"/>
            <a:ext cx="1360451" cy="189796"/>
          </a:xfrm>
          <a:prstGeom prst="rect">
            <a:avLst/>
          </a:prstGeom>
          <a:ln w="12700">
            <a:miter lim="400000"/>
          </a:ln>
        </p:spPr>
        <p:txBody>
          <a:bodyPr wrap="square" lIns="25400" tIns="25400" rIns="25400" bIns="25400">
            <a:spAutoFit/>
          </a:bodyPr>
          <a:lstStyle>
            <a:lvl1pPr>
              <a:defRPr sz="1800">
                <a:solidFill>
                  <a:srgbClr val="F7F5F6"/>
                </a:solidFill>
                <a:latin typeface="Barlow Medium"/>
                <a:ea typeface="Barlow Medium"/>
                <a:cs typeface="Barlow Medium"/>
                <a:sym typeface="Barlow Medium"/>
              </a:defRPr>
            </a:lvl1pPr>
          </a:lstStyle>
          <a:p>
            <a:pPr lvl="0" algn="ctr">
              <a:defRPr/>
            </a:pPr>
            <a:r>
              <a:rPr lang="zh-CN" altLang="en-US" sz="900" dirty="0">
                <a:solidFill>
                  <a:schemeClr val="bg1"/>
                </a:solidFill>
                <a:latin typeface="+mj-lt"/>
                <a:ea typeface="+mj-lt"/>
                <a:cs typeface="微软雅黑" panose="020B0503020204020204" charset="-122"/>
                <a:sym typeface="微软雅黑" panose="020B0503020204020204" charset="-122"/>
              </a:rPr>
              <a:t>开发测试：实施方案</a:t>
            </a:r>
            <a:endPar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sym typeface="微软雅黑" panose="020B0503020204020204" charset="-122"/>
            </a:endParaRPr>
          </a:p>
        </p:txBody>
      </p:sp>
      <p:sp>
        <p:nvSpPr>
          <p:cNvPr id="233"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flipH="1">
            <a:off x="10384084" y="3447956"/>
            <a:ext cx="1360451" cy="189796"/>
          </a:xfrm>
          <a:prstGeom prst="rect">
            <a:avLst/>
          </a:prstGeom>
          <a:ln w="12700">
            <a:miter lim="400000"/>
          </a:ln>
        </p:spPr>
        <p:txBody>
          <a:bodyPr wrap="square" lIns="25400" tIns="25400" rIns="25400" bIns="25400">
            <a:spAutoFit/>
          </a:bodyPr>
          <a:lstStyle>
            <a:lvl1pPr>
              <a:defRPr sz="1800">
                <a:solidFill>
                  <a:srgbClr val="F7F5F6"/>
                </a:solidFill>
                <a:latin typeface="Barlow Medium"/>
                <a:ea typeface="Barlow Medium"/>
                <a:cs typeface="Barlow Medium"/>
                <a:sym typeface="Barlow Medium"/>
              </a:defRPr>
            </a:lvl1pPr>
          </a:lstStyle>
          <a:p>
            <a:pPr lvl="0" algn="ctr">
              <a:defRPr/>
            </a:pPr>
            <a:r>
              <a:rPr lang="zh-CN" altLang="en-US" sz="900" dirty="0">
                <a:solidFill>
                  <a:schemeClr val="bg1"/>
                </a:solidFill>
                <a:latin typeface="+mj-lt"/>
                <a:ea typeface="+mj-lt"/>
                <a:cs typeface="微软雅黑" panose="020B0503020204020204" charset="-122"/>
                <a:sym typeface="微软雅黑" panose="020B0503020204020204" charset="-122"/>
              </a:rPr>
              <a:t>产品发布：推向市场</a:t>
            </a:r>
            <a:endPar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sym typeface="微软雅黑" panose="020B0503020204020204" charset="-122"/>
            </a:endParaRPr>
          </a:p>
        </p:txBody>
      </p:sp>
      <p:sp>
        <p:nvSpPr>
          <p:cNvPr id="234" name="flag-pole-with-black-flag_38306"/>
          <p:cNvSpPr>
            <a:spLocks noChangeAspect="1"/>
          </p:cNvSpPr>
          <p:nvPr/>
        </p:nvSpPr>
        <p:spPr>
          <a:xfrm>
            <a:off x="10996817" y="3199557"/>
            <a:ext cx="181452" cy="216000"/>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bg1"/>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a:ln>
                <a:noFill/>
              </a:ln>
              <a:solidFill>
                <a:schemeClr val="bg1"/>
              </a:solidFill>
              <a:effectLst/>
              <a:uLnTx/>
              <a:uFillTx/>
              <a:latin typeface="+mj-lt"/>
              <a:ea typeface="+mj-lt"/>
              <a:cs typeface="微软雅黑" panose="020B0503020204020204" charset="-122"/>
            </a:endParaRPr>
          </a:p>
        </p:txBody>
      </p:sp>
      <p:sp>
        <p:nvSpPr>
          <p:cNvPr id="235" name="live-chat_72439"/>
          <p:cNvSpPr>
            <a:spLocks noChangeAspect="1"/>
          </p:cNvSpPr>
          <p:nvPr/>
        </p:nvSpPr>
        <p:spPr>
          <a:xfrm>
            <a:off x="7928396" y="3226962"/>
            <a:ext cx="206199" cy="180000"/>
          </a:xfrm>
          <a:custGeom>
            <a:avLst/>
            <a:gdLst>
              <a:gd name="connsiteX0" fmla="*/ 424975 w 608697"/>
              <a:gd name="connsiteY0" fmla="*/ 168488 h 531358"/>
              <a:gd name="connsiteX1" fmla="*/ 387604 w 608697"/>
              <a:gd name="connsiteY1" fmla="*/ 205806 h 531358"/>
              <a:gd name="connsiteX2" fmla="*/ 424975 w 608697"/>
              <a:gd name="connsiteY2" fmla="*/ 243124 h 531358"/>
              <a:gd name="connsiteX3" fmla="*/ 462346 w 608697"/>
              <a:gd name="connsiteY3" fmla="*/ 205806 h 531358"/>
              <a:gd name="connsiteX4" fmla="*/ 424975 w 608697"/>
              <a:gd name="connsiteY4" fmla="*/ 168488 h 531358"/>
              <a:gd name="connsiteX5" fmla="*/ 287947 w 608697"/>
              <a:gd name="connsiteY5" fmla="*/ 168488 h 531358"/>
              <a:gd name="connsiteX6" fmla="*/ 250576 w 608697"/>
              <a:gd name="connsiteY6" fmla="*/ 205806 h 531358"/>
              <a:gd name="connsiteX7" fmla="*/ 287947 w 608697"/>
              <a:gd name="connsiteY7" fmla="*/ 243124 h 531358"/>
              <a:gd name="connsiteX8" fmla="*/ 325318 w 608697"/>
              <a:gd name="connsiteY8" fmla="*/ 205806 h 531358"/>
              <a:gd name="connsiteX9" fmla="*/ 287947 w 608697"/>
              <a:gd name="connsiteY9" fmla="*/ 168488 h 531358"/>
              <a:gd name="connsiteX10" fmla="*/ 102356 w 608697"/>
              <a:gd name="connsiteY10" fmla="*/ 121231 h 531358"/>
              <a:gd name="connsiteX11" fmla="*/ 98850 w 608697"/>
              <a:gd name="connsiteY11" fmla="*/ 127711 h 531358"/>
              <a:gd name="connsiteX12" fmla="*/ 76842 w 608697"/>
              <a:gd name="connsiteY12" fmla="*/ 217990 h 531358"/>
              <a:gd name="connsiteX13" fmla="*/ 98850 w 608697"/>
              <a:gd name="connsiteY13" fmla="*/ 308194 h 531358"/>
              <a:gd name="connsiteX14" fmla="*/ 157488 w 608697"/>
              <a:gd name="connsiteY14" fmla="*/ 380223 h 531358"/>
              <a:gd name="connsiteX15" fmla="*/ 344668 w 608697"/>
              <a:gd name="connsiteY15" fmla="*/ 444729 h 531358"/>
              <a:gd name="connsiteX16" fmla="*/ 370257 w 608697"/>
              <a:gd name="connsiteY16" fmla="*/ 443687 h 531358"/>
              <a:gd name="connsiteX17" fmla="*/ 236717 w 608697"/>
              <a:gd name="connsiteY17" fmla="*/ 477876 h 531358"/>
              <a:gd name="connsiteX18" fmla="*/ 198072 w 608697"/>
              <a:gd name="connsiteY18" fmla="*/ 475344 h 531358"/>
              <a:gd name="connsiteX19" fmla="*/ 82437 w 608697"/>
              <a:gd name="connsiteY19" fmla="*/ 531284 h 531358"/>
              <a:gd name="connsiteX20" fmla="*/ 81542 w 608697"/>
              <a:gd name="connsiteY20" fmla="*/ 531358 h 531358"/>
              <a:gd name="connsiteX21" fmla="*/ 75051 w 608697"/>
              <a:gd name="connsiteY21" fmla="*/ 527857 h 531358"/>
              <a:gd name="connsiteX22" fmla="*/ 74753 w 608697"/>
              <a:gd name="connsiteY22" fmla="*/ 519738 h 531358"/>
              <a:gd name="connsiteX23" fmla="*/ 88778 w 608697"/>
              <a:gd name="connsiteY23" fmla="*/ 435046 h 531358"/>
              <a:gd name="connsiteX24" fmla="*/ 0 w 608697"/>
              <a:gd name="connsiteY24" fmla="*/ 282198 h 531358"/>
              <a:gd name="connsiteX25" fmla="*/ 102356 w 608697"/>
              <a:gd name="connsiteY25" fmla="*/ 121231 h 531358"/>
              <a:gd name="connsiteX26" fmla="*/ 356424 w 608697"/>
              <a:gd name="connsiteY26" fmla="*/ 0 h 531358"/>
              <a:gd name="connsiteX27" fmla="*/ 608697 w 608697"/>
              <a:gd name="connsiteY27" fmla="*/ 211244 h 531358"/>
              <a:gd name="connsiteX28" fmla="*/ 518290 w 608697"/>
              <a:gd name="connsiteY28" fmla="*/ 373401 h 531358"/>
              <a:gd name="connsiteX29" fmla="*/ 531941 w 608697"/>
              <a:gd name="connsiteY29" fmla="*/ 441109 h 531358"/>
              <a:gd name="connsiteX30" fmla="*/ 531120 w 608697"/>
              <a:gd name="connsiteY30" fmla="*/ 465391 h 531358"/>
              <a:gd name="connsiteX31" fmla="*/ 511577 w 608697"/>
              <a:gd name="connsiteY31" fmla="*/ 475894 h 531358"/>
              <a:gd name="connsiteX32" fmla="*/ 509041 w 608697"/>
              <a:gd name="connsiteY32" fmla="*/ 475745 h 531358"/>
              <a:gd name="connsiteX33" fmla="*/ 391408 w 608697"/>
              <a:gd name="connsiteY33" fmla="*/ 420476 h 531358"/>
              <a:gd name="connsiteX34" fmla="*/ 356424 w 608697"/>
              <a:gd name="connsiteY34" fmla="*/ 422487 h 531358"/>
              <a:gd name="connsiteX35" fmla="*/ 104225 w 608697"/>
              <a:gd name="connsiteY35" fmla="*/ 211244 h 531358"/>
              <a:gd name="connsiteX36" fmla="*/ 356424 w 608697"/>
              <a:gd name="connsiteY36" fmla="*/ 0 h 53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8697" h="531358">
                <a:moveTo>
                  <a:pt x="424975" y="168488"/>
                </a:moveTo>
                <a:cubicBezTo>
                  <a:pt x="404312" y="168488"/>
                  <a:pt x="387604" y="185248"/>
                  <a:pt x="387604" y="205806"/>
                </a:cubicBezTo>
                <a:cubicBezTo>
                  <a:pt x="387604" y="226439"/>
                  <a:pt x="404312" y="243124"/>
                  <a:pt x="424975" y="243124"/>
                </a:cubicBezTo>
                <a:cubicBezTo>
                  <a:pt x="445562" y="243124"/>
                  <a:pt x="462346" y="226439"/>
                  <a:pt x="462346" y="205806"/>
                </a:cubicBezTo>
                <a:cubicBezTo>
                  <a:pt x="462346" y="185248"/>
                  <a:pt x="445637" y="168488"/>
                  <a:pt x="424975" y="168488"/>
                </a:cubicBezTo>
                <a:close/>
                <a:moveTo>
                  <a:pt x="287947" y="168488"/>
                </a:moveTo>
                <a:cubicBezTo>
                  <a:pt x="267285" y="168488"/>
                  <a:pt x="250576" y="185248"/>
                  <a:pt x="250576" y="205806"/>
                </a:cubicBezTo>
                <a:cubicBezTo>
                  <a:pt x="250576" y="226439"/>
                  <a:pt x="267285" y="243124"/>
                  <a:pt x="287947" y="243124"/>
                </a:cubicBezTo>
                <a:cubicBezTo>
                  <a:pt x="308610" y="243124"/>
                  <a:pt x="325318" y="226439"/>
                  <a:pt x="325318" y="205806"/>
                </a:cubicBezTo>
                <a:cubicBezTo>
                  <a:pt x="325318" y="185248"/>
                  <a:pt x="308610" y="168488"/>
                  <a:pt x="287947" y="168488"/>
                </a:cubicBezTo>
                <a:close/>
                <a:moveTo>
                  <a:pt x="102356" y="121231"/>
                </a:moveTo>
                <a:cubicBezTo>
                  <a:pt x="101162" y="123317"/>
                  <a:pt x="99969" y="125477"/>
                  <a:pt x="98850" y="127711"/>
                </a:cubicBezTo>
                <a:cubicBezTo>
                  <a:pt x="84227" y="156240"/>
                  <a:pt x="76842" y="186631"/>
                  <a:pt x="76842" y="217990"/>
                </a:cubicBezTo>
                <a:cubicBezTo>
                  <a:pt x="76842" y="249275"/>
                  <a:pt x="84227" y="279666"/>
                  <a:pt x="98850" y="308194"/>
                </a:cubicBezTo>
                <a:cubicBezTo>
                  <a:pt x="112726" y="335308"/>
                  <a:pt x="132496" y="359516"/>
                  <a:pt x="157488" y="380223"/>
                </a:cubicBezTo>
                <a:cubicBezTo>
                  <a:pt x="207845" y="421787"/>
                  <a:pt x="274317" y="444729"/>
                  <a:pt x="344668" y="444729"/>
                </a:cubicBezTo>
                <a:cubicBezTo>
                  <a:pt x="353173" y="444729"/>
                  <a:pt x="361752" y="444357"/>
                  <a:pt x="370257" y="443687"/>
                </a:cubicBezTo>
                <a:cubicBezTo>
                  <a:pt x="332209" y="465288"/>
                  <a:pt x="286254" y="477876"/>
                  <a:pt x="236717" y="477876"/>
                </a:cubicBezTo>
                <a:cubicBezTo>
                  <a:pt x="223736" y="477876"/>
                  <a:pt x="210755" y="477057"/>
                  <a:pt x="198072" y="475344"/>
                </a:cubicBezTo>
                <a:cubicBezTo>
                  <a:pt x="160397" y="499478"/>
                  <a:pt x="110637" y="528155"/>
                  <a:pt x="82437" y="531284"/>
                </a:cubicBezTo>
                <a:cubicBezTo>
                  <a:pt x="82138" y="531358"/>
                  <a:pt x="81840" y="531358"/>
                  <a:pt x="81542" y="531358"/>
                </a:cubicBezTo>
                <a:cubicBezTo>
                  <a:pt x="78930" y="531358"/>
                  <a:pt x="76469" y="530017"/>
                  <a:pt x="75051" y="527857"/>
                </a:cubicBezTo>
                <a:cubicBezTo>
                  <a:pt x="73410" y="525399"/>
                  <a:pt x="73335" y="522271"/>
                  <a:pt x="74753" y="519738"/>
                </a:cubicBezTo>
                <a:cubicBezTo>
                  <a:pt x="75051" y="519291"/>
                  <a:pt x="99223" y="476014"/>
                  <a:pt x="88778" y="435046"/>
                </a:cubicBezTo>
                <a:cubicBezTo>
                  <a:pt x="32303" y="397653"/>
                  <a:pt x="0" y="342160"/>
                  <a:pt x="0" y="282198"/>
                </a:cubicBezTo>
                <a:cubicBezTo>
                  <a:pt x="0" y="215532"/>
                  <a:pt x="40584" y="156538"/>
                  <a:pt x="102356" y="121231"/>
                </a:cubicBezTo>
                <a:close/>
                <a:moveTo>
                  <a:pt x="356424" y="0"/>
                </a:moveTo>
                <a:cubicBezTo>
                  <a:pt x="495540" y="0"/>
                  <a:pt x="608697" y="94747"/>
                  <a:pt x="608697" y="211244"/>
                </a:cubicBezTo>
                <a:cubicBezTo>
                  <a:pt x="608697" y="274408"/>
                  <a:pt x="575802" y="333178"/>
                  <a:pt x="518290" y="373401"/>
                </a:cubicBezTo>
                <a:cubicBezTo>
                  <a:pt x="512845" y="406324"/>
                  <a:pt x="531717" y="440811"/>
                  <a:pt x="531941" y="441109"/>
                </a:cubicBezTo>
                <a:cubicBezTo>
                  <a:pt x="536267" y="448781"/>
                  <a:pt x="535969" y="458092"/>
                  <a:pt x="531120" y="465391"/>
                </a:cubicBezTo>
                <a:cubicBezTo>
                  <a:pt x="526794" y="472021"/>
                  <a:pt x="519484" y="475894"/>
                  <a:pt x="511577" y="475894"/>
                </a:cubicBezTo>
                <a:cubicBezTo>
                  <a:pt x="510756" y="475894"/>
                  <a:pt x="509936" y="475894"/>
                  <a:pt x="509041" y="475745"/>
                </a:cubicBezTo>
                <a:cubicBezTo>
                  <a:pt x="484574" y="473064"/>
                  <a:pt x="444966" y="454442"/>
                  <a:pt x="391408" y="420476"/>
                </a:cubicBezTo>
                <a:cubicBezTo>
                  <a:pt x="379920" y="421817"/>
                  <a:pt x="368135" y="422487"/>
                  <a:pt x="356424" y="422487"/>
                </a:cubicBezTo>
                <a:cubicBezTo>
                  <a:pt x="217382" y="422487"/>
                  <a:pt x="104225" y="327741"/>
                  <a:pt x="104225" y="211244"/>
                </a:cubicBezTo>
                <a:cubicBezTo>
                  <a:pt x="104225" y="94747"/>
                  <a:pt x="217382" y="0"/>
                  <a:pt x="356424" y="0"/>
                </a:cubicBezTo>
                <a:close/>
              </a:path>
            </a:pathLst>
          </a:custGeom>
          <a:solidFill>
            <a:schemeClr val="bg1"/>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dirty="0">
              <a:ln>
                <a:noFill/>
              </a:ln>
              <a:solidFill>
                <a:schemeClr val="bg1"/>
              </a:solidFill>
              <a:effectLst/>
              <a:uLnTx/>
              <a:uFillTx/>
              <a:latin typeface="+mj-lt"/>
              <a:ea typeface="+mj-lt"/>
              <a:cs typeface="微软雅黑" panose="020B0503020204020204" charset="-122"/>
            </a:endParaRPr>
          </a:p>
        </p:txBody>
      </p:sp>
      <p:sp>
        <p:nvSpPr>
          <p:cNvPr id="236" name="statistics-settings_72708"/>
          <p:cNvSpPr>
            <a:spLocks noChangeAspect="1"/>
          </p:cNvSpPr>
          <p:nvPr/>
        </p:nvSpPr>
        <p:spPr>
          <a:xfrm>
            <a:off x="9407621" y="3199557"/>
            <a:ext cx="224528" cy="216000"/>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1200" cap="none" spc="0" normalizeH="0" baseline="0" noProof="0">
              <a:ln>
                <a:noFill/>
              </a:ln>
              <a:solidFill>
                <a:schemeClr val="bg1"/>
              </a:solidFill>
              <a:effectLst/>
              <a:uLnTx/>
              <a:uFillTx/>
              <a:latin typeface="+mj-lt"/>
              <a:ea typeface="+mj-lt"/>
              <a:cs typeface="微软雅黑" panose="020B0503020204020204" charset="-122"/>
            </a:endParaRPr>
          </a:p>
        </p:txBody>
      </p:sp>
      <p:sp>
        <p:nvSpPr>
          <p:cNvPr id="239" name="Line"/>
          <p:cNvSpPr/>
          <p:nvPr/>
        </p:nvSpPr>
        <p:spPr>
          <a:xfrm flipH="1" flipV="1">
            <a:off x="4348842" y="4358726"/>
            <a:ext cx="994230" cy="0"/>
          </a:xfrm>
          <a:prstGeom prst="line">
            <a:avLst/>
          </a:prstGeom>
          <a:noFill/>
          <a:ln w="15875" cap="rnd">
            <a:solidFill>
              <a:schemeClr val="accent5">
                <a:lumMod val="40000"/>
                <a:lumOff val="60000"/>
              </a:schemeClr>
            </a:solidFill>
            <a:prstDash val="solid"/>
            <a:round/>
            <a:headEnd type="triangle"/>
            <a:tailEnd type="none" w="med" len="med"/>
          </a:ln>
          <a:effectLst/>
        </p:spPr>
        <p:txBody>
          <a:bodyPr wrap="square" lIns="22859" tIns="22859" rIns="22859" bIns="22859" numCol="1" anchor="t">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40"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flipH="1">
            <a:off x="5831128" y="4382064"/>
            <a:ext cx="1360451" cy="189796"/>
          </a:xfrm>
          <a:prstGeom prst="rect">
            <a:avLst/>
          </a:prstGeom>
          <a:ln w="12700">
            <a:miter lim="400000"/>
          </a:ln>
        </p:spPr>
        <p:txBody>
          <a:bodyPr wrap="square" lIns="25400" tIns="25400" rIns="25400" bIns="25400">
            <a:spAutoFit/>
          </a:bodyPr>
          <a:lstStyle>
            <a:lvl1pPr>
              <a:defRPr sz="1800">
                <a:solidFill>
                  <a:srgbClr val="F7F5F6"/>
                </a:solidFill>
                <a:latin typeface="Barlow Medium"/>
                <a:ea typeface="Barlow Medium"/>
                <a:cs typeface="Barlow Medium"/>
                <a:sym typeface="Barlow Medium"/>
              </a:defRPr>
            </a:lvl1pPr>
          </a:lstStyle>
          <a:p>
            <a:pPr lvl="0" algn="ctr">
              <a:defRPr/>
            </a:pPr>
            <a:r>
              <a:rPr lang="zh-CN" altLang="en-US" sz="900" dirty="0">
                <a:solidFill>
                  <a:schemeClr val="bg1"/>
                </a:solidFill>
                <a:latin typeface="+mj-lt"/>
                <a:ea typeface="+mj-lt"/>
                <a:cs typeface="微软雅黑" panose="020B0503020204020204" charset="-122"/>
                <a:sym typeface="微软雅黑" panose="020B0503020204020204" charset="-122"/>
              </a:rPr>
              <a:t>项目规划：明确目标</a:t>
            </a:r>
            <a:endPar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sym typeface="微软雅黑" panose="020B0503020204020204" charset="-122"/>
            </a:endParaRPr>
          </a:p>
        </p:txBody>
      </p:sp>
      <p:sp>
        <p:nvSpPr>
          <p:cNvPr id="243" name="文本框 242"/>
          <p:cNvSpPr txBox="1"/>
          <p:nvPr/>
        </p:nvSpPr>
        <p:spPr>
          <a:xfrm flipH="1">
            <a:off x="1454468" y="4318008"/>
            <a:ext cx="1710007" cy="309765"/>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rPr>
              <a:t>进行产品技术评估，提升产品性能和用户体验</a:t>
            </a:r>
            <a:endPar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endParaRPr>
          </a:p>
        </p:txBody>
      </p:sp>
      <p:sp>
        <p:nvSpPr>
          <p:cNvPr id="244" name="文本框 243"/>
          <p:cNvSpPr txBox="1"/>
          <p:nvPr/>
        </p:nvSpPr>
        <p:spPr>
          <a:xfrm flipH="1">
            <a:off x="1454468" y="4094525"/>
            <a:ext cx="1227576" cy="184150"/>
          </a:xfrm>
          <a:prstGeom prst="rect">
            <a:avLst/>
          </a:prstGeom>
          <a:noFill/>
        </p:spPr>
        <p:txBody>
          <a:bodyPr wrap="square" lIns="0" tIns="0" rIns="0" bIns="0" rtlCol="0">
            <a:spAutoFit/>
          </a:bodyPr>
          <a:lstStyle/>
          <a:p>
            <a:pPr lvl="0">
              <a:defRPr/>
            </a:pPr>
            <a:r>
              <a:rPr lang="zh-CN" altLang="en-US" sz="1200" b="1" dirty="0">
                <a:solidFill>
                  <a:schemeClr val="bg1"/>
                </a:solidFill>
                <a:latin typeface="+mj-lt"/>
                <a:ea typeface="+mj-lt"/>
                <a:cs typeface="微软雅黑" panose="020B0503020204020204" charset="-122"/>
              </a:rPr>
              <a:t>项目启动</a:t>
            </a:r>
            <a:endParaRPr kumimoji="0" lang="zh-CN" altLang="en-US" sz="1200" b="1" u="none" strike="noStrike" kern="1200" cap="none" spc="0" normalizeH="0" baseline="0" noProof="0" dirty="0">
              <a:ln>
                <a:noFill/>
              </a:ln>
              <a:solidFill>
                <a:schemeClr val="bg1"/>
              </a:solidFill>
              <a:effectLst/>
              <a:uLnTx/>
              <a:uFillTx/>
              <a:latin typeface="+mj-lt"/>
              <a:ea typeface="+mj-lt"/>
              <a:cs typeface="微软雅黑" panose="020B0503020204020204" charset="-122"/>
            </a:endParaRPr>
          </a:p>
        </p:txBody>
      </p:sp>
      <p:cxnSp>
        <p:nvCxnSpPr>
          <p:cNvPr id="245" name="直接连接符 729"/>
          <p:cNvCxnSpPr/>
          <p:nvPr/>
        </p:nvCxnSpPr>
        <p:spPr>
          <a:xfrm>
            <a:off x="7255681" y="4063882"/>
            <a:ext cx="0" cy="53324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47" name="直接连接符 729"/>
          <p:cNvCxnSpPr/>
          <p:nvPr/>
        </p:nvCxnSpPr>
        <p:spPr>
          <a:xfrm>
            <a:off x="8768795" y="4063882"/>
            <a:ext cx="0" cy="53324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48" name="直接连接符 729"/>
          <p:cNvCxnSpPr/>
          <p:nvPr/>
        </p:nvCxnSpPr>
        <p:spPr>
          <a:xfrm>
            <a:off x="10281909" y="4063882"/>
            <a:ext cx="0" cy="53324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49" name="flag-pole-with-black-flag_38306"/>
          <p:cNvSpPr>
            <a:spLocks noChangeAspect="1"/>
          </p:cNvSpPr>
          <p:nvPr/>
        </p:nvSpPr>
        <p:spPr>
          <a:xfrm>
            <a:off x="6443861" y="4133665"/>
            <a:ext cx="181452" cy="216000"/>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bg1"/>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a:ln>
                <a:noFill/>
              </a:ln>
              <a:solidFill>
                <a:schemeClr val="bg1"/>
              </a:solidFill>
              <a:effectLst/>
              <a:uLnTx/>
              <a:uFillTx/>
              <a:latin typeface="+mj-lt"/>
              <a:ea typeface="+mj-lt"/>
              <a:cs typeface="微软雅黑" panose="020B0503020204020204" charset="-122"/>
            </a:endParaRPr>
          </a:p>
        </p:txBody>
      </p:sp>
      <p:sp>
        <p:nvSpPr>
          <p:cNvPr id="250"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flipH="1">
            <a:off x="7322471" y="4382064"/>
            <a:ext cx="1360451" cy="189796"/>
          </a:xfrm>
          <a:prstGeom prst="rect">
            <a:avLst/>
          </a:prstGeom>
          <a:ln w="12700">
            <a:miter lim="400000"/>
          </a:ln>
        </p:spPr>
        <p:txBody>
          <a:bodyPr wrap="square" lIns="25400" tIns="25400" rIns="25400" bIns="25400">
            <a:spAutoFit/>
          </a:bodyPr>
          <a:lstStyle>
            <a:lvl1pPr>
              <a:defRPr sz="1800">
                <a:solidFill>
                  <a:srgbClr val="F7F5F6"/>
                </a:solidFill>
                <a:latin typeface="Barlow Medium"/>
                <a:ea typeface="Barlow Medium"/>
                <a:cs typeface="Barlow Medium"/>
                <a:sym typeface="Barlow Medium"/>
              </a:defRPr>
            </a:lvl1pPr>
          </a:lstStyle>
          <a:p>
            <a:pPr lvl="0" algn="ctr">
              <a:defRPr/>
            </a:pPr>
            <a:r>
              <a:rPr lang="zh-CN" altLang="en-US" sz="900" dirty="0">
                <a:solidFill>
                  <a:schemeClr val="bg1"/>
                </a:solidFill>
                <a:latin typeface="+mj-lt"/>
                <a:ea typeface="+mj-lt"/>
                <a:cs typeface="微软雅黑" panose="020B0503020204020204" charset="-122"/>
                <a:sym typeface="微软雅黑" panose="020B0503020204020204" charset="-122"/>
              </a:rPr>
              <a:t>团队组建：召集人员</a:t>
            </a:r>
            <a:endPar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sym typeface="微软雅黑" panose="020B0503020204020204" charset="-122"/>
            </a:endParaRPr>
          </a:p>
        </p:txBody>
      </p:sp>
      <p:sp>
        <p:nvSpPr>
          <p:cNvPr id="25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flipH="1">
            <a:off x="8847384" y="4382064"/>
            <a:ext cx="1360451" cy="189796"/>
          </a:xfrm>
          <a:prstGeom prst="rect">
            <a:avLst/>
          </a:prstGeom>
          <a:ln w="12700">
            <a:miter lim="400000"/>
          </a:ln>
        </p:spPr>
        <p:txBody>
          <a:bodyPr wrap="square" lIns="25400" tIns="25400" rIns="25400" bIns="25400">
            <a:spAutoFit/>
          </a:bodyPr>
          <a:lstStyle>
            <a:lvl1pPr>
              <a:defRPr sz="1800">
                <a:solidFill>
                  <a:srgbClr val="F7F5F6"/>
                </a:solidFill>
                <a:latin typeface="Barlow Medium"/>
                <a:ea typeface="Barlow Medium"/>
                <a:cs typeface="Barlow Medium"/>
                <a:sym typeface="Barlow Medium"/>
              </a:defRPr>
            </a:lvl1pPr>
          </a:lstStyle>
          <a:p>
            <a:pPr lvl="0" algn="ctr">
              <a:defRPr/>
            </a:pPr>
            <a:r>
              <a:rPr lang="zh-CN" altLang="en-US" sz="900" dirty="0">
                <a:solidFill>
                  <a:schemeClr val="bg1"/>
                </a:solidFill>
                <a:latin typeface="+mj-lt"/>
                <a:ea typeface="+mj-lt"/>
                <a:cs typeface="微软雅黑" panose="020B0503020204020204" charset="-122"/>
                <a:sym typeface="微软雅黑" panose="020B0503020204020204" charset="-122"/>
              </a:rPr>
              <a:t>资源配置：分配资源</a:t>
            </a:r>
            <a:endPar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sym typeface="微软雅黑" panose="020B0503020204020204" charset="-122"/>
            </a:endParaRPr>
          </a:p>
        </p:txBody>
      </p:sp>
      <p:sp>
        <p:nvSpPr>
          <p:cNvPr id="25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flipH="1">
            <a:off x="10371384" y="4382064"/>
            <a:ext cx="1360451" cy="189796"/>
          </a:xfrm>
          <a:prstGeom prst="rect">
            <a:avLst/>
          </a:prstGeom>
          <a:ln w="12700">
            <a:miter lim="400000"/>
          </a:ln>
        </p:spPr>
        <p:txBody>
          <a:bodyPr wrap="square" lIns="25400" tIns="25400" rIns="25400" bIns="25400">
            <a:spAutoFit/>
          </a:bodyPr>
          <a:lstStyle>
            <a:lvl1pPr>
              <a:defRPr sz="1800">
                <a:solidFill>
                  <a:srgbClr val="F7F5F6"/>
                </a:solidFill>
                <a:latin typeface="Barlow Medium"/>
                <a:ea typeface="Barlow Medium"/>
                <a:cs typeface="Barlow Medium"/>
                <a:sym typeface="Barlow Medium"/>
              </a:defRPr>
            </a:lvl1pPr>
          </a:lstStyle>
          <a:p>
            <a:pPr lvl="0" algn="ctr">
              <a:defRPr/>
            </a:pPr>
            <a:r>
              <a:rPr lang="zh-CN" altLang="en-US" sz="900" dirty="0">
                <a:solidFill>
                  <a:schemeClr val="bg1"/>
                </a:solidFill>
                <a:latin typeface="+mj-lt"/>
                <a:ea typeface="+mj-lt"/>
                <a:cs typeface="微软雅黑" panose="020B0503020204020204" charset="-122"/>
                <a:sym typeface="微软雅黑" panose="020B0503020204020204" charset="-122"/>
              </a:rPr>
              <a:t>项目启动：开始实施</a:t>
            </a:r>
            <a:endPar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sym typeface="微软雅黑" panose="020B0503020204020204" charset="-122"/>
            </a:endParaRPr>
          </a:p>
        </p:txBody>
      </p:sp>
      <p:sp>
        <p:nvSpPr>
          <p:cNvPr id="253" name="flag-pole-with-black-flag_38306"/>
          <p:cNvSpPr>
            <a:spLocks noChangeAspect="1"/>
          </p:cNvSpPr>
          <p:nvPr/>
        </p:nvSpPr>
        <p:spPr>
          <a:xfrm>
            <a:off x="10984117" y="4133665"/>
            <a:ext cx="181452" cy="216000"/>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bg1"/>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a:ln>
                <a:noFill/>
              </a:ln>
              <a:solidFill>
                <a:schemeClr val="bg1"/>
              </a:solidFill>
              <a:effectLst/>
              <a:uLnTx/>
              <a:uFillTx/>
              <a:latin typeface="+mj-lt"/>
              <a:ea typeface="+mj-lt"/>
              <a:cs typeface="微软雅黑" panose="020B0503020204020204" charset="-122"/>
            </a:endParaRPr>
          </a:p>
        </p:txBody>
      </p:sp>
      <p:sp>
        <p:nvSpPr>
          <p:cNvPr id="254" name="live-chat_72439"/>
          <p:cNvSpPr>
            <a:spLocks noChangeAspect="1"/>
          </p:cNvSpPr>
          <p:nvPr/>
        </p:nvSpPr>
        <p:spPr>
          <a:xfrm>
            <a:off x="7915696" y="4161070"/>
            <a:ext cx="206199" cy="180000"/>
          </a:xfrm>
          <a:custGeom>
            <a:avLst/>
            <a:gdLst>
              <a:gd name="connsiteX0" fmla="*/ 424975 w 608697"/>
              <a:gd name="connsiteY0" fmla="*/ 168488 h 531358"/>
              <a:gd name="connsiteX1" fmla="*/ 387604 w 608697"/>
              <a:gd name="connsiteY1" fmla="*/ 205806 h 531358"/>
              <a:gd name="connsiteX2" fmla="*/ 424975 w 608697"/>
              <a:gd name="connsiteY2" fmla="*/ 243124 h 531358"/>
              <a:gd name="connsiteX3" fmla="*/ 462346 w 608697"/>
              <a:gd name="connsiteY3" fmla="*/ 205806 h 531358"/>
              <a:gd name="connsiteX4" fmla="*/ 424975 w 608697"/>
              <a:gd name="connsiteY4" fmla="*/ 168488 h 531358"/>
              <a:gd name="connsiteX5" fmla="*/ 287947 w 608697"/>
              <a:gd name="connsiteY5" fmla="*/ 168488 h 531358"/>
              <a:gd name="connsiteX6" fmla="*/ 250576 w 608697"/>
              <a:gd name="connsiteY6" fmla="*/ 205806 h 531358"/>
              <a:gd name="connsiteX7" fmla="*/ 287947 w 608697"/>
              <a:gd name="connsiteY7" fmla="*/ 243124 h 531358"/>
              <a:gd name="connsiteX8" fmla="*/ 325318 w 608697"/>
              <a:gd name="connsiteY8" fmla="*/ 205806 h 531358"/>
              <a:gd name="connsiteX9" fmla="*/ 287947 w 608697"/>
              <a:gd name="connsiteY9" fmla="*/ 168488 h 531358"/>
              <a:gd name="connsiteX10" fmla="*/ 102356 w 608697"/>
              <a:gd name="connsiteY10" fmla="*/ 121231 h 531358"/>
              <a:gd name="connsiteX11" fmla="*/ 98850 w 608697"/>
              <a:gd name="connsiteY11" fmla="*/ 127711 h 531358"/>
              <a:gd name="connsiteX12" fmla="*/ 76842 w 608697"/>
              <a:gd name="connsiteY12" fmla="*/ 217990 h 531358"/>
              <a:gd name="connsiteX13" fmla="*/ 98850 w 608697"/>
              <a:gd name="connsiteY13" fmla="*/ 308194 h 531358"/>
              <a:gd name="connsiteX14" fmla="*/ 157488 w 608697"/>
              <a:gd name="connsiteY14" fmla="*/ 380223 h 531358"/>
              <a:gd name="connsiteX15" fmla="*/ 344668 w 608697"/>
              <a:gd name="connsiteY15" fmla="*/ 444729 h 531358"/>
              <a:gd name="connsiteX16" fmla="*/ 370257 w 608697"/>
              <a:gd name="connsiteY16" fmla="*/ 443687 h 531358"/>
              <a:gd name="connsiteX17" fmla="*/ 236717 w 608697"/>
              <a:gd name="connsiteY17" fmla="*/ 477876 h 531358"/>
              <a:gd name="connsiteX18" fmla="*/ 198072 w 608697"/>
              <a:gd name="connsiteY18" fmla="*/ 475344 h 531358"/>
              <a:gd name="connsiteX19" fmla="*/ 82437 w 608697"/>
              <a:gd name="connsiteY19" fmla="*/ 531284 h 531358"/>
              <a:gd name="connsiteX20" fmla="*/ 81542 w 608697"/>
              <a:gd name="connsiteY20" fmla="*/ 531358 h 531358"/>
              <a:gd name="connsiteX21" fmla="*/ 75051 w 608697"/>
              <a:gd name="connsiteY21" fmla="*/ 527857 h 531358"/>
              <a:gd name="connsiteX22" fmla="*/ 74753 w 608697"/>
              <a:gd name="connsiteY22" fmla="*/ 519738 h 531358"/>
              <a:gd name="connsiteX23" fmla="*/ 88778 w 608697"/>
              <a:gd name="connsiteY23" fmla="*/ 435046 h 531358"/>
              <a:gd name="connsiteX24" fmla="*/ 0 w 608697"/>
              <a:gd name="connsiteY24" fmla="*/ 282198 h 531358"/>
              <a:gd name="connsiteX25" fmla="*/ 102356 w 608697"/>
              <a:gd name="connsiteY25" fmla="*/ 121231 h 531358"/>
              <a:gd name="connsiteX26" fmla="*/ 356424 w 608697"/>
              <a:gd name="connsiteY26" fmla="*/ 0 h 531358"/>
              <a:gd name="connsiteX27" fmla="*/ 608697 w 608697"/>
              <a:gd name="connsiteY27" fmla="*/ 211244 h 531358"/>
              <a:gd name="connsiteX28" fmla="*/ 518290 w 608697"/>
              <a:gd name="connsiteY28" fmla="*/ 373401 h 531358"/>
              <a:gd name="connsiteX29" fmla="*/ 531941 w 608697"/>
              <a:gd name="connsiteY29" fmla="*/ 441109 h 531358"/>
              <a:gd name="connsiteX30" fmla="*/ 531120 w 608697"/>
              <a:gd name="connsiteY30" fmla="*/ 465391 h 531358"/>
              <a:gd name="connsiteX31" fmla="*/ 511577 w 608697"/>
              <a:gd name="connsiteY31" fmla="*/ 475894 h 531358"/>
              <a:gd name="connsiteX32" fmla="*/ 509041 w 608697"/>
              <a:gd name="connsiteY32" fmla="*/ 475745 h 531358"/>
              <a:gd name="connsiteX33" fmla="*/ 391408 w 608697"/>
              <a:gd name="connsiteY33" fmla="*/ 420476 h 531358"/>
              <a:gd name="connsiteX34" fmla="*/ 356424 w 608697"/>
              <a:gd name="connsiteY34" fmla="*/ 422487 h 531358"/>
              <a:gd name="connsiteX35" fmla="*/ 104225 w 608697"/>
              <a:gd name="connsiteY35" fmla="*/ 211244 h 531358"/>
              <a:gd name="connsiteX36" fmla="*/ 356424 w 608697"/>
              <a:gd name="connsiteY36" fmla="*/ 0 h 53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8697" h="531358">
                <a:moveTo>
                  <a:pt x="424975" y="168488"/>
                </a:moveTo>
                <a:cubicBezTo>
                  <a:pt x="404312" y="168488"/>
                  <a:pt x="387604" y="185248"/>
                  <a:pt x="387604" y="205806"/>
                </a:cubicBezTo>
                <a:cubicBezTo>
                  <a:pt x="387604" y="226439"/>
                  <a:pt x="404312" y="243124"/>
                  <a:pt x="424975" y="243124"/>
                </a:cubicBezTo>
                <a:cubicBezTo>
                  <a:pt x="445562" y="243124"/>
                  <a:pt x="462346" y="226439"/>
                  <a:pt x="462346" y="205806"/>
                </a:cubicBezTo>
                <a:cubicBezTo>
                  <a:pt x="462346" y="185248"/>
                  <a:pt x="445637" y="168488"/>
                  <a:pt x="424975" y="168488"/>
                </a:cubicBezTo>
                <a:close/>
                <a:moveTo>
                  <a:pt x="287947" y="168488"/>
                </a:moveTo>
                <a:cubicBezTo>
                  <a:pt x="267285" y="168488"/>
                  <a:pt x="250576" y="185248"/>
                  <a:pt x="250576" y="205806"/>
                </a:cubicBezTo>
                <a:cubicBezTo>
                  <a:pt x="250576" y="226439"/>
                  <a:pt x="267285" y="243124"/>
                  <a:pt x="287947" y="243124"/>
                </a:cubicBezTo>
                <a:cubicBezTo>
                  <a:pt x="308610" y="243124"/>
                  <a:pt x="325318" y="226439"/>
                  <a:pt x="325318" y="205806"/>
                </a:cubicBezTo>
                <a:cubicBezTo>
                  <a:pt x="325318" y="185248"/>
                  <a:pt x="308610" y="168488"/>
                  <a:pt x="287947" y="168488"/>
                </a:cubicBezTo>
                <a:close/>
                <a:moveTo>
                  <a:pt x="102356" y="121231"/>
                </a:moveTo>
                <a:cubicBezTo>
                  <a:pt x="101162" y="123317"/>
                  <a:pt x="99969" y="125477"/>
                  <a:pt x="98850" y="127711"/>
                </a:cubicBezTo>
                <a:cubicBezTo>
                  <a:pt x="84227" y="156240"/>
                  <a:pt x="76842" y="186631"/>
                  <a:pt x="76842" y="217990"/>
                </a:cubicBezTo>
                <a:cubicBezTo>
                  <a:pt x="76842" y="249275"/>
                  <a:pt x="84227" y="279666"/>
                  <a:pt x="98850" y="308194"/>
                </a:cubicBezTo>
                <a:cubicBezTo>
                  <a:pt x="112726" y="335308"/>
                  <a:pt x="132496" y="359516"/>
                  <a:pt x="157488" y="380223"/>
                </a:cubicBezTo>
                <a:cubicBezTo>
                  <a:pt x="207845" y="421787"/>
                  <a:pt x="274317" y="444729"/>
                  <a:pt x="344668" y="444729"/>
                </a:cubicBezTo>
                <a:cubicBezTo>
                  <a:pt x="353173" y="444729"/>
                  <a:pt x="361752" y="444357"/>
                  <a:pt x="370257" y="443687"/>
                </a:cubicBezTo>
                <a:cubicBezTo>
                  <a:pt x="332209" y="465288"/>
                  <a:pt x="286254" y="477876"/>
                  <a:pt x="236717" y="477876"/>
                </a:cubicBezTo>
                <a:cubicBezTo>
                  <a:pt x="223736" y="477876"/>
                  <a:pt x="210755" y="477057"/>
                  <a:pt x="198072" y="475344"/>
                </a:cubicBezTo>
                <a:cubicBezTo>
                  <a:pt x="160397" y="499478"/>
                  <a:pt x="110637" y="528155"/>
                  <a:pt x="82437" y="531284"/>
                </a:cubicBezTo>
                <a:cubicBezTo>
                  <a:pt x="82138" y="531358"/>
                  <a:pt x="81840" y="531358"/>
                  <a:pt x="81542" y="531358"/>
                </a:cubicBezTo>
                <a:cubicBezTo>
                  <a:pt x="78930" y="531358"/>
                  <a:pt x="76469" y="530017"/>
                  <a:pt x="75051" y="527857"/>
                </a:cubicBezTo>
                <a:cubicBezTo>
                  <a:pt x="73410" y="525399"/>
                  <a:pt x="73335" y="522271"/>
                  <a:pt x="74753" y="519738"/>
                </a:cubicBezTo>
                <a:cubicBezTo>
                  <a:pt x="75051" y="519291"/>
                  <a:pt x="99223" y="476014"/>
                  <a:pt x="88778" y="435046"/>
                </a:cubicBezTo>
                <a:cubicBezTo>
                  <a:pt x="32303" y="397653"/>
                  <a:pt x="0" y="342160"/>
                  <a:pt x="0" y="282198"/>
                </a:cubicBezTo>
                <a:cubicBezTo>
                  <a:pt x="0" y="215532"/>
                  <a:pt x="40584" y="156538"/>
                  <a:pt x="102356" y="121231"/>
                </a:cubicBezTo>
                <a:close/>
                <a:moveTo>
                  <a:pt x="356424" y="0"/>
                </a:moveTo>
                <a:cubicBezTo>
                  <a:pt x="495540" y="0"/>
                  <a:pt x="608697" y="94747"/>
                  <a:pt x="608697" y="211244"/>
                </a:cubicBezTo>
                <a:cubicBezTo>
                  <a:pt x="608697" y="274408"/>
                  <a:pt x="575802" y="333178"/>
                  <a:pt x="518290" y="373401"/>
                </a:cubicBezTo>
                <a:cubicBezTo>
                  <a:pt x="512845" y="406324"/>
                  <a:pt x="531717" y="440811"/>
                  <a:pt x="531941" y="441109"/>
                </a:cubicBezTo>
                <a:cubicBezTo>
                  <a:pt x="536267" y="448781"/>
                  <a:pt x="535969" y="458092"/>
                  <a:pt x="531120" y="465391"/>
                </a:cubicBezTo>
                <a:cubicBezTo>
                  <a:pt x="526794" y="472021"/>
                  <a:pt x="519484" y="475894"/>
                  <a:pt x="511577" y="475894"/>
                </a:cubicBezTo>
                <a:cubicBezTo>
                  <a:pt x="510756" y="475894"/>
                  <a:pt x="509936" y="475894"/>
                  <a:pt x="509041" y="475745"/>
                </a:cubicBezTo>
                <a:cubicBezTo>
                  <a:pt x="484574" y="473064"/>
                  <a:pt x="444966" y="454442"/>
                  <a:pt x="391408" y="420476"/>
                </a:cubicBezTo>
                <a:cubicBezTo>
                  <a:pt x="379920" y="421817"/>
                  <a:pt x="368135" y="422487"/>
                  <a:pt x="356424" y="422487"/>
                </a:cubicBezTo>
                <a:cubicBezTo>
                  <a:pt x="217382" y="422487"/>
                  <a:pt x="104225" y="327741"/>
                  <a:pt x="104225" y="211244"/>
                </a:cubicBezTo>
                <a:cubicBezTo>
                  <a:pt x="104225" y="94747"/>
                  <a:pt x="217382" y="0"/>
                  <a:pt x="356424" y="0"/>
                </a:cubicBezTo>
                <a:close/>
              </a:path>
            </a:pathLst>
          </a:custGeom>
          <a:solidFill>
            <a:schemeClr val="bg1"/>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dirty="0">
              <a:ln>
                <a:noFill/>
              </a:ln>
              <a:solidFill>
                <a:schemeClr val="bg1"/>
              </a:solidFill>
              <a:effectLst/>
              <a:uLnTx/>
              <a:uFillTx/>
              <a:latin typeface="+mj-lt"/>
              <a:ea typeface="+mj-lt"/>
              <a:cs typeface="微软雅黑" panose="020B0503020204020204" charset="-122"/>
            </a:endParaRPr>
          </a:p>
        </p:txBody>
      </p:sp>
      <p:sp>
        <p:nvSpPr>
          <p:cNvPr id="255" name="statistics-settings_72708"/>
          <p:cNvSpPr>
            <a:spLocks noChangeAspect="1"/>
          </p:cNvSpPr>
          <p:nvPr/>
        </p:nvSpPr>
        <p:spPr>
          <a:xfrm>
            <a:off x="9394921" y="4133665"/>
            <a:ext cx="224528" cy="216000"/>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1200" cap="none" spc="0" normalizeH="0" baseline="0" noProof="0">
              <a:ln>
                <a:noFill/>
              </a:ln>
              <a:solidFill>
                <a:schemeClr val="bg1"/>
              </a:solidFill>
              <a:effectLst/>
              <a:uLnTx/>
              <a:uFillTx/>
              <a:latin typeface="+mj-lt"/>
              <a:ea typeface="+mj-lt"/>
              <a:cs typeface="微软雅黑" panose="020B0503020204020204" charset="-122"/>
            </a:endParaRPr>
          </a:p>
        </p:txBody>
      </p:sp>
      <p:sp>
        <p:nvSpPr>
          <p:cNvPr id="258" name="Line"/>
          <p:cNvSpPr/>
          <p:nvPr/>
        </p:nvSpPr>
        <p:spPr>
          <a:xfrm flipH="1" flipV="1">
            <a:off x="4348842" y="5273126"/>
            <a:ext cx="994230" cy="0"/>
          </a:xfrm>
          <a:prstGeom prst="line">
            <a:avLst/>
          </a:prstGeom>
          <a:noFill/>
          <a:ln w="15875" cap="rnd">
            <a:solidFill>
              <a:schemeClr val="accent5"/>
            </a:solidFill>
            <a:prstDash val="solid"/>
            <a:round/>
            <a:headEnd type="triangle"/>
            <a:tailEnd type="none" w="med" len="med"/>
          </a:ln>
          <a:effectLst/>
        </p:spPr>
        <p:txBody>
          <a:bodyPr wrap="square" lIns="22859" tIns="22859" rIns="22859" bIns="22859" numCol="1" anchor="t">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5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flipH="1">
            <a:off x="5831128" y="5292995"/>
            <a:ext cx="1360451" cy="189796"/>
          </a:xfrm>
          <a:prstGeom prst="rect">
            <a:avLst/>
          </a:prstGeom>
          <a:ln w="12700">
            <a:miter lim="400000"/>
          </a:ln>
        </p:spPr>
        <p:txBody>
          <a:bodyPr wrap="square" lIns="25400" tIns="25400" rIns="25400" bIns="25400">
            <a:spAutoFit/>
          </a:bodyPr>
          <a:lstStyle>
            <a:lvl1pPr>
              <a:defRPr sz="1800">
                <a:solidFill>
                  <a:srgbClr val="F7F5F6"/>
                </a:solidFill>
                <a:latin typeface="Barlow Medium"/>
                <a:ea typeface="Barlow Medium"/>
                <a:cs typeface="Barlow Medium"/>
                <a:sym typeface="Barlow Medium"/>
              </a:defRPr>
            </a:lvl1pPr>
          </a:lstStyle>
          <a:p>
            <a:pPr lvl="0" algn="ctr">
              <a:defRPr/>
            </a:pPr>
            <a:r>
              <a:rPr lang="zh-CN" altLang="en-US" sz="900" dirty="0">
                <a:solidFill>
                  <a:schemeClr val="bg1"/>
                </a:solidFill>
                <a:latin typeface="+mj-lt"/>
                <a:ea typeface="+mj-lt"/>
                <a:cs typeface="微软雅黑" panose="020B0503020204020204" charset="-122"/>
                <a:sym typeface="微软雅黑" panose="020B0503020204020204" charset="-122"/>
              </a:rPr>
              <a:t>任务分配：分配工作</a:t>
            </a:r>
            <a:endPar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sym typeface="微软雅黑" panose="020B0503020204020204" charset="-122"/>
            </a:endParaRPr>
          </a:p>
        </p:txBody>
      </p:sp>
      <p:sp>
        <p:nvSpPr>
          <p:cNvPr id="262" name="文本框 261"/>
          <p:cNvSpPr txBox="1"/>
          <p:nvPr/>
        </p:nvSpPr>
        <p:spPr>
          <a:xfrm flipH="1">
            <a:off x="1454468" y="5232408"/>
            <a:ext cx="1710007" cy="309765"/>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rPr>
              <a:t>进行产品技术评估，提升产品性能和用户体验</a:t>
            </a:r>
            <a:endPar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endParaRPr>
          </a:p>
        </p:txBody>
      </p:sp>
      <p:sp>
        <p:nvSpPr>
          <p:cNvPr id="263" name="文本框 262"/>
          <p:cNvSpPr txBox="1"/>
          <p:nvPr/>
        </p:nvSpPr>
        <p:spPr>
          <a:xfrm flipH="1">
            <a:off x="1454468" y="5008925"/>
            <a:ext cx="1227576" cy="184150"/>
          </a:xfrm>
          <a:prstGeom prst="rect">
            <a:avLst/>
          </a:prstGeom>
          <a:noFill/>
        </p:spPr>
        <p:txBody>
          <a:bodyPr wrap="square" lIns="0" tIns="0" rIns="0" bIns="0" rtlCol="0">
            <a:spAutoFit/>
          </a:bodyPr>
          <a:lstStyle/>
          <a:p>
            <a:pPr lvl="0">
              <a:defRPr/>
            </a:pPr>
            <a:r>
              <a:rPr lang="zh-CN" altLang="en-US" sz="1200" b="1" dirty="0">
                <a:solidFill>
                  <a:schemeClr val="bg1"/>
                </a:solidFill>
                <a:latin typeface="+mj-lt"/>
                <a:ea typeface="+mj-lt"/>
                <a:cs typeface="微软雅黑" panose="020B0503020204020204" charset="-122"/>
              </a:rPr>
              <a:t>项目执行</a:t>
            </a:r>
            <a:endParaRPr kumimoji="0" lang="zh-CN" altLang="en-US" sz="1200" b="1" u="none" strike="noStrike" kern="1200" cap="none" spc="0" normalizeH="0" baseline="0" noProof="0" dirty="0">
              <a:ln>
                <a:noFill/>
              </a:ln>
              <a:solidFill>
                <a:schemeClr val="bg1"/>
              </a:solidFill>
              <a:effectLst/>
              <a:uLnTx/>
              <a:uFillTx/>
              <a:latin typeface="+mj-lt"/>
              <a:ea typeface="+mj-lt"/>
              <a:cs typeface="微软雅黑" panose="020B0503020204020204" charset="-122"/>
            </a:endParaRPr>
          </a:p>
        </p:txBody>
      </p:sp>
      <p:cxnSp>
        <p:nvCxnSpPr>
          <p:cNvPr id="264" name="直接连接符 729"/>
          <p:cNvCxnSpPr/>
          <p:nvPr/>
        </p:nvCxnSpPr>
        <p:spPr>
          <a:xfrm>
            <a:off x="7255681" y="4978282"/>
            <a:ext cx="0" cy="53324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66" name="直接连接符 729"/>
          <p:cNvCxnSpPr/>
          <p:nvPr/>
        </p:nvCxnSpPr>
        <p:spPr>
          <a:xfrm>
            <a:off x="8768795" y="4978282"/>
            <a:ext cx="0" cy="53324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67" name="直接连接符 729"/>
          <p:cNvCxnSpPr/>
          <p:nvPr/>
        </p:nvCxnSpPr>
        <p:spPr>
          <a:xfrm>
            <a:off x="10281909" y="4978282"/>
            <a:ext cx="0" cy="53324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68" name="flag-pole-with-black-flag_38306"/>
          <p:cNvSpPr>
            <a:spLocks noChangeAspect="1"/>
          </p:cNvSpPr>
          <p:nvPr/>
        </p:nvSpPr>
        <p:spPr>
          <a:xfrm>
            <a:off x="6443861" y="5044596"/>
            <a:ext cx="181452" cy="216000"/>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bg1"/>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a:ln>
                <a:noFill/>
              </a:ln>
              <a:solidFill>
                <a:schemeClr val="bg1"/>
              </a:solidFill>
              <a:effectLst/>
              <a:uLnTx/>
              <a:uFillTx/>
              <a:latin typeface="+mj-lt"/>
              <a:ea typeface="+mj-lt"/>
              <a:cs typeface="微软雅黑" panose="020B0503020204020204" charset="-122"/>
            </a:endParaRPr>
          </a:p>
        </p:txBody>
      </p:sp>
      <p:sp>
        <p:nvSpPr>
          <p:cNvPr id="26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flipH="1">
            <a:off x="7322471" y="5292995"/>
            <a:ext cx="1360451" cy="189796"/>
          </a:xfrm>
          <a:prstGeom prst="rect">
            <a:avLst/>
          </a:prstGeom>
          <a:ln w="12700">
            <a:miter lim="400000"/>
          </a:ln>
        </p:spPr>
        <p:txBody>
          <a:bodyPr wrap="square" lIns="25400" tIns="25400" rIns="25400" bIns="25400">
            <a:spAutoFit/>
          </a:bodyPr>
          <a:lstStyle>
            <a:lvl1pPr>
              <a:defRPr sz="1800">
                <a:solidFill>
                  <a:srgbClr val="F7F5F6"/>
                </a:solidFill>
                <a:latin typeface="Barlow Medium"/>
                <a:ea typeface="Barlow Medium"/>
                <a:cs typeface="Barlow Medium"/>
                <a:sym typeface="Barlow Medium"/>
              </a:defRPr>
            </a:lvl1pPr>
          </a:lstStyle>
          <a:p>
            <a:pPr lvl="0" algn="ctr">
              <a:defRPr/>
            </a:pPr>
            <a:r>
              <a:rPr lang="zh-CN" altLang="en-US" sz="900" dirty="0">
                <a:solidFill>
                  <a:schemeClr val="bg1"/>
                </a:solidFill>
                <a:latin typeface="+mj-lt"/>
                <a:ea typeface="+mj-lt"/>
                <a:cs typeface="微软雅黑" panose="020B0503020204020204" charset="-122"/>
                <a:sym typeface="微软雅黑" panose="020B0503020204020204" charset="-122"/>
              </a:rPr>
              <a:t>进度监控：跟踪进度</a:t>
            </a:r>
            <a:endPar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sym typeface="微软雅黑" panose="020B0503020204020204" charset="-122"/>
            </a:endParaRPr>
          </a:p>
        </p:txBody>
      </p:sp>
      <p:sp>
        <p:nvSpPr>
          <p:cNvPr id="270"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flipH="1">
            <a:off x="8847384" y="5292995"/>
            <a:ext cx="1360451" cy="189796"/>
          </a:xfrm>
          <a:prstGeom prst="rect">
            <a:avLst/>
          </a:prstGeom>
          <a:ln w="12700">
            <a:miter lim="400000"/>
          </a:ln>
        </p:spPr>
        <p:txBody>
          <a:bodyPr wrap="square" lIns="25400" tIns="25400" rIns="25400" bIns="25400">
            <a:spAutoFit/>
          </a:bodyPr>
          <a:lstStyle>
            <a:lvl1pPr>
              <a:defRPr sz="1800">
                <a:solidFill>
                  <a:srgbClr val="F7F5F6"/>
                </a:solidFill>
                <a:latin typeface="Barlow Medium"/>
                <a:ea typeface="Barlow Medium"/>
                <a:cs typeface="Barlow Medium"/>
                <a:sym typeface="Barlow Medium"/>
              </a:defRPr>
            </a:lvl1pPr>
          </a:lstStyle>
          <a:p>
            <a:pPr lvl="0" algn="ctr">
              <a:defRPr/>
            </a:pPr>
            <a:r>
              <a:rPr lang="zh-CN" altLang="en-US" sz="900" dirty="0">
                <a:solidFill>
                  <a:schemeClr val="bg1"/>
                </a:solidFill>
                <a:latin typeface="+mj-lt"/>
                <a:ea typeface="+mj-lt"/>
                <a:cs typeface="微软雅黑" panose="020B0503020204020204" charset="-122"/>
                <a:sym typeface="微软雅黑" panose="020B0503020204020204" charset="-122"/>
              </a:rPr>
              <a:t>问题解决：处理问题</a:t>
            </a:r>
            <a:endPar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sym typeface="微软雅黑" panose="020B0503020204020204" charset="-122"/>
            </a:endParaRPr>
          </a:p>
        </p:txBody>
      </p:sp>
      <p:sp>
        <p:nvSpPr>
          <p:cNvPr id="27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flipH="1">
            <a:off x="10371384" y="5292995"/>
            <a:ext cx="1360451" cy="189796"/>
          </a:xfrm>
          <a:prstGeom prst="rect">
            <a:avLst/>
          </a:prstGeom>
          <a:ln w="12700">
            <a:miter lim="400000"/>
          </a:ln>
        </p:spPr>
        <p:txBody>
          <a:bodyPr wrap="square" lIns="25400" tIns="25400" rIns="25400" bIns="25400">
            <a:spAutoFit/>
          </a:bodyPr>
          <a:lstStyle>
            <a:lvl1pPr>
              <a:defRPr sz="1800">
                <a:solidFill>
                  <a:srgbClr val="F7F5F6"/>
                </a:solidFill>
                <a:latin typeface="Barlow Medium"/>
                <a:ea typeface="Barlow Medium"/>
                <a:cs typeface="Barlow Medium"/>
                <a:sym typeface="Barlow Medium"/>
              </a:defRPr>
            </a:lvl1pPr>
          </a:lstStyle>
          <a:p>
            <a:pPr lvl="0" algn="ctr">
              <a:defRPr/>
            </a:pPr>
            <a:r>
              <a:rPr lang="zh-CN" altLang="en-US" sz="900" dirty="0">
                <a:solidFill>
                  <a:schemeClr val="bg1"/>
                </a:solidFill>
                <a:latin typeface="+mj-lt"/>
                <a:ea typeface="+mj-lt"/>
                <a:cs typeface="微软雅黑" panose="020B0503020204020204" charset="-122"/>
                <a:sym typeface="微软雅黑" panose="020B0503020204020204" charset="-122"/>
              </a:rPr>
              <a:t>质量控制：把控质量</a:t>
            </a:r>
            <a:endParaRPr kumimoji="0" lang="zh-CN" altLang="en-US" sz="900" u="none" strike="noStrike" kern="1200" cap="none" spc="0" normalizeH="0" baseline="0" noProof="0" dirty="0">
              <a:ln>
                <a:noFill/>
              </a:ln>
              <a:solidFill>
                <a:schemeClr val="bg1"/>
              </a:solidFill>
              <a:effectLst/>
              <a:uLnTx/>
              <a:uFillTx/>
              <a:latin typeface="+mj-lt"/>
              <a:ea typeface="+mj-lt"/>
              <a:cs typeface="微软雅黑" panose="020B0503020204020204" charset="-122"/>
              <a:sym typeface="微软雅黑" panose="020B0503020204020204" charset="-122"/>
            </a:endParaRPr>
          </a:p>
        </p:txBody>
      </p:sp>
      <p:sp>
        <p:nvSpPr>
          <p:cNvPr id="272" name="flag-pole-with-black-flag_38306"/>
          <p:cNvSpPr>
            <a:spLocks noChangeAspect="1"/>
          </p:cNvSpPr>
          <p:nvPr/>
        </p:nvSpPr>
        <p:spPr>
          <a:xfrm>
            <a:off x="10984117" y="5044596"/>
            <a:ext cx="181452" cy="216000"/>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chemeClr val="bg1"/>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a:ln>
                <a:noFill/>
              </a:ln>
              <a:solidFill>
                <a:schemeClr val="bg1"/>
              </a:solidFill>
              <a:effectLst/>
              <a:uLnTx/>
              <a:uFillTx/>
              <a:latin typeface="+mj-lt"/>
              <a:ea typeface="+mj-lt"/>
              <a:cs typeface="微软雅黑" panose="020B0503020204020204" charset="-122"/>
            </a:endParaRPr>
          </a:p>
        </p:txBody>
      </p:sp>
      <p:sp>
        <p:nvSpPr>
          <p:cNvPr id="273" name="live-chat_72439"/>
          <p:cNvSpPr>
            <a:spLocks noChangeAspect="1"/>
          </p:cNvSpPr>
          <p:nvPr/>
        </p:nvSpPr>
        <p:spPr>
          <a:xfrm>
            <a:off x="7915696" y="5072001"/>
            <a:ext cx="206199" cy="180000"/>
          </a:xfrm>
          <a:custGeom>
            <a:avLst/>
            <a:gdLst>
              <a:gd name="connsiteX0" fmla="*/ 424975 w 608697"/>
              <a:gd name="connsiteY0" fmla="*/ 168488 h 531358"/>
              <a:gd name="connsiteX1" fmla="*/ 387604 w 608697"/>
              <a:gd name="connsiteY1" fmla="*/ 205806 h 531358"/>
              <a:gd name="connsiteX2" fmla="*/ 424975 w 608697"/>
              <a:gd name="connsiteY2" fmla="*/ 243124 h 531358"/>
              <a:gd name="connsiteX3" fmla="*/ 462346 w 608697"/>
              <a:gd name="connsiteY3" fmla="*/ 205806 h 531358"/>
              <a:gd name="connsiteX4" fmla="*/ 424975 w 608697"/>
              <a:gd name="connsiteY4" fmla="*/ 168488 h 531358"/>
              <a:gd name="connsiteX5" fmla="*/ 287947 w 608697"/>
              <a:gd name="connsiteY5" fmla="*/ 168488 h 531358"/>
              <a:gd name="connsiteX6" fmla="*/ 250576 w 608697"/>
              <a:gd name="connsiteY6" fmla="*/ 205806 h 531358"/>
              <a:gd name="connsiteX7" fmla="*/ 287947 w 608697"/>
              <a:gd name="connsiteY7" fmla="*/ 243124 h 531358"/>
              <a:gd name="connsiteX8" fmla="*/ 325318 w 608697"/>
              <a:gd name="connsiteY8" fmla="*/ 205806 h 531358"/>
              <a:gd name="connsiteX9" fmla="*/ 287947 w 608697"/>
              <a:gd name="connsiteY9" fmla="*/ 168488 h 531358"/>
              <a:gd name="connsiteX10" fmla="*/ 102356 w 608697"/>
              <a:gd name="connsiteY10" fmla="*/ 121231 h 531358"/>
              <a:gd name="connsiteX11" fmla="*/ 98850 w 608697"/>
              <a:gd name="connsiteY11" fmla="*/ 127711 h 531358"/>
              <a:gd name="connsiteX12" fmla="*/ 76842 w 608697"/>
              <a:gd name="connsiteY12" fmla="*/ 217990 h 531358"/>
              <a:gd name="connsiteX13" fmla="*/ 98850 w 608697"/>
              <a:gd name="connsiteY13" fmla="*/ 308194 h 531358"/>
              <a:gd name="connsiteX14" fmla="*/ 157488 w 608697"/>
              <a:gd name="connsiteY14" fmla="*/ 380223 h 531358"/>
              <a:gd name="connsiteX15" fmla="*/ 344668 w 608697"/>
              <a:gd name="connsiteY15" fmla="*/ 444729 h 531358"/>
              <a:gd name="connsiteX16" fmla="*/ 370257 w 608697"/>
              <a:gd name="connsiteY16" fmla="*/ 443687 h 531358"/>
              <a:gd name="connsiteX17" fmla="*/ 236717 w 608697"/>
              <a:gd name="connsiteY17" fmla="*/ 477876 h 531358"/>
              <a:gd name="connsiteX18" fmla="*/ 198072 w 608697"/>
              <a:gd name="connsiteY18" fmla="*/ 475344 h 531358"/>
              <a:gd name="connsiteX19" fmla="*/ 82437 w 608697"/>
              <a:gd name="connsiteY19" fmla="*/ 531284 h 531358"/>
              <a:gd name="connsiteX20" fmla="*/ 81542 w 608697"/>
              <a:gd name="connsiteY20" fmla="*/ 531358 h 531358"/>
              <a:gd name="connsiteX21" fmla="*/ 75051 w 608697"/>
              <a:gd name="connsiteY21" fmla="*/ 527857 h 531358"/>
              <a:gd name="connsiteX22" fmla="*/ 74753 w 608697"/>
              <a:gd name="connsiteY22" fmla="*/ 519738 h 531358"/>
              <a:gd name="connsiteX23" fmla="*/ 88778 w 608697"/>
              <a:gd name="connsiteY23" fmla="*/ 435046 h 531358"/>
              <a:gd name="connsiteX24" fmla="*/ 0 w 608697"/>
              <a:gd name="connsiteY24" fmla="*/ 282198 h 531358"/>
              <a:gd name="connsiteX25" fmla="*/ 102356 w 608697"/>
              <a:gd name="connsiteY25" fmla="*/ 121231 h 531358"/>
              <a:gd name="connsiteX26" fmla="*/ 356424 w 608697"/>
              <a:gd name="connsiteY26" fmla="*/ 0 h 531358"/>
              <a:gd name="connsiteX27" fmla="*/ 608697 w 608697"/>
              <a:gd name="connsiteY27" fmla="*/ 211244 h 531358"/>
              <a:gd name="connsiteX28" fmla="*/ 518290 w 608697"/>
              <a:gd name="connsiteY28" fmla="*/ 373401 h 531358"/>
              <a:gd name="connsiteX29" fmla="*/ 531941 w 608697"/>
              <a:gd name="connsiteY29" fmla="*/ 441109 h 531358"/>
              <a:gd name="connsiteX30" fmla="*/ 531120 w 608697"/>
              <a:gd name="connsiteY30" fmla="*/ 465391 h 531358"/>
              <a:gd name="connsiteX31" fmla="*/ 511577 w 608697"/>
              <a:gd name="connsiteY31" fmla="*/ 475894 h 531358"/>
              <a:gd name="connsiteX32" fmla="*/ 509041 w 608697"/>
              <a:gd name="connsiteY32" fmla="*/ 475745 h 531358"/>
              <a:gd name="connsiteX33" fmla="*/ 391408 w 608697"/>
              <a:gd name="connsiteY33" fmla="*/ 420476 h 531358"/>
              <a:gd name="connsiteX34" fmla="*/ 356424 w 608697"/>
              <a:gd name="connsiteY34" fmla="*/ 422487 h 531358"/>
              <a:gd name="connsiteX35" fmla="*/ 104225 w 608697"/>
              <a:gd name="connsiteY35" fmla="*/ 211244 h 531358"/>
              <a:gd name="connsiteX36" fmla="*/ 356424 w 608697"/>
              <a:gd name="connsiteY36" fmla="*/ 0 h 53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8697" h="531358">
                <a:moveTo>
                  <a:pt x="424975" y="168488"/>
                </a:moveTo>
                <a:cubicBezTo>
                  <a:pt x="404312" y="168488"/>
                  <a:pt x="387604" y="185248"/>
                  <a:pt x="387604" y="205806"/>
                </a:cubicBezTo>
                <a:cubicBezTo>
                  <a:pt x="387604" y="226439"/>
                  <a:pt x="404312" y="243124"/>
                  <a:pt x="424975" y="243124"/>
                </a:cubicBezTo>
                <a:cubicBezTo>
                  <a:pt x="445562" y="243124"/>
                  <a:pt x="462346" y="226439"/>
                  <a:pt x="462346" y="205806"/>
                </a:cubicBezTo>
                <a:cubicBezTo>
                  <a:pt x="462346" y="185248"/>
                  <a:pt x="445637" y="168488"/>
                  <a:pt x="424975" y="168488"/>
                </a:cubicBezTo>
                <a:close/>
                <a:moveTo>
                  <a:pt x="287947" y="168488"/>
                </a:moveTo>
                <a:cubicBezTo>
                  <a:pt x="267285" y="168488"/>
                  <a:pt x="250576" y="185248"/>
                  <a:pt x="250576" y="205806"/>
                </a:cubicBezTo>
                <a:cubicBezTo>
                  <a:pt x="250576" y="226439"/>
                  <a:pt x="267285" y="243124"/>
                  <a:pt x="287947" y="243124"/>
                </a:cubicBezTo>
                <a:cubicBezTo>
                  <a:pt x="308610" y="243124"/>
                  <a:pt x="325318" y="226439"/>
                  <a:pt x="325318" y="205806"/>
                </a:cubicBezTo>
                <a:cubicBezTo>
                  <a:pt x="325318" y="185248"/>
                  <a:pt x="308610" y="168488"/>
                  <a:pt x="287947" y="168488"/>
                </a:cubicBezTo>
                <a:close/>
                <a:moveTo>
                  <a:pt x="102356" y="121231"/>
                </a:moveTo>
                <a:cubicBezTo>
                  <a:pt x="101162" y="123317"/>
                  <a:pt x="99969" y="125477"/>
                  <a:pt x="98850" y="127711"/>
                </a:cubicBezTo>
                <a:cubicBezTo>
                  <a:pt x="84227" y="156240"/>
                  <a:pt x="76842" y="186631"/>
                  <a:pt x="76842" y="217990"/>
                </a:cubicBezTo>
                <a:cubicBezTo>
                  <a:pt x="76842" y="249275"/>
                  <a:pt x="84227" y="279666"/>
                  <a:pt x="98850" y="308194"/>
                </a:cubicBezTo>
                <a:cubicBezTo>
                  <a:pt x="112726" y="335308"/>
                  <a:pt x="132496" y="359516"/>
                  <a:pt x="157488" y="380223"/>
                </a:cubicBezTo>
                <a:cubicBezTo>
                  <a:pt x="207845" y="421787"/>
                  <a:pt x="274317" y="444729"/>
                  <a:pt x="344668" y="444729"/>
                </a:cubicBezTo>
                <a:cubicBezTo>
                  <a:pt x="353173" y="444729"/>
                  <a:pt x="361752" y="444357"/>
                  <a:pt x="370257" y="443687"/>
                </a:cubicBezTo>
                <a:cubicBezTo>
                  <a:pt x="332209" y="465288"/>
                  <a:pt x="286254" y="477876"/>
                  <a:pt x="236717" y="477876"/>
                </a:cubicBezTo>
                <a:cubicBezTo>
                  <a:pt x="223736" y="477876"/>
                  <a:pt x="210755" y="477057"/>
                  <a:pt x="198072" y="475344"/>
                </a:cubicBezTo>
                <a:cubicBezTo>
                  <a:pt x="160397" y="499478"/>
                  <a:pt x="110637" y="528155"/>
                  <a:pt x="82437" y="531284"/>
                </a:cubicBezTo>
                <a:cubicBezTo>
                  <a:pt x="82138" y="531358"/>
                  <a:pt x="81840" y="531358"/>
                  <a:pt x="81542" y="531358"/>
                </a:cubicBezTo>
                <a:cubicBezTo>
                  <a:pt x="78930" y="531358"/>
                  <a:pt x="76469" y="530017"/>
                  <a:pt x="75051" y="527857"/>
                </a:cubicBezTo>
                <a:cubicBezTo>
                  <a:pt x="73410" y="525399"/>
                  <a:pt x="73335" y="522271"/>
                  <a:pt x="74753" y="519738"/>
                </a:cubicBezTo>
                <a:cubicBezTo>
                  <a:pt x="75051" y="519291"/>
                  <a:pt x="99223" y="476014"/>
                  <a:pt x="88778" y="435046"/>
                </a:cubicBezTo>
                <a:cubicBezTo>
                  <a:pt x="32303" y="397653"/>
                  <a:pt x="0" y="342160"/>
                  <a:pt x="0" y="282198"/>
                </a:cubicBezTo>
                <a:cubicBezTo>
                  <a:pt x="0" y="215532"/>
                  <a:pt x="40584" y="156538"/>
                  <a:pt x="102356" y="121231"/>
                </a:cubicBezTo>
                <a:close/>
                <a:moveTo>
                  <a:pt x="356424" y="0"/>
                </a:moveTo>
                <a:cubicBezTo>
                  <a:pt x="495540" y="0"/>
                  <a:pt x="608697" y="94747"/>
                  <a:pt x="608697" y="211244"/>
                </a:cubicBezTo>
                <a:cubicBezTo>
                  <a:pt x="608697" y="274408"/>
                  <a:pt x="575802" y="333178"/>
                  <a:pt x="518290" y="373401"/>
                </a:cubicBezTo>
                <a:cubicBezTo>
                  <a:pt x="512845" y="406324"/>
                  <a:pt x="531717" y="440811"/>
                  <a:pt x="531941" y="441109"/>
                </a:cubicBezTo>
                <a:cubicBezTo>
                  <a:pt x="536267" y="448781"/>
                  <a:pt x="535969" y="458092"/>
                  <a:pt x="531120" y="465391"/>
                </a:cubicBezTo>
                <a:cubicBezTo>
                  <a:pt x="526794" y="472021"/>
                  <a:pt x="519484" y="475894"/>
                  <a:pt x="511577" y="475894"/>
                </a:cubicBezTo>
                <a:cubicBezTo>
                  <a:pt x="510756" y="475894"/>
                  <a:pt x="509936" y="475894"/>
                  <a:pt x="509041" y="475745"/>
                </a:cubicBezTo>
                <a:cubicBezTo>
                  <a:pt x="484574" y="473064"/>
                  <a:pt x="444966" y="454442"/>
                  <a:pt x="391408" y="420476"/>
                </a:cubicBezTo>
                <a:cubicBezTo>
                  <a:pt x="379920" y="421817"/>
                  <a:pt x="368135" y="422487"/>
                  <a:pt x="356424" y="422487"/>
                </a:cubicBezTo>
                <a:cubicBezTo>
                  <a:pt x="217382" y="422487"/>
                  <a:pt x="104225" y="327741"/>
                  <a:pt x="104225" y="211244"/>
                </a:cubicBezTo>
                <a:cubicBezTo>
                  <a:pt x="104225" y="94747"/>
                  <a:pt x="217382" y="0"/>
                  <a:pt x="356424" y="0"/>
                </a:cubicBezTo>
                <a:close/>
              </a:path>
            </a:pathLst>
          </a:custGeom>
          <a:solidFill>
            <a:schemeClr val="bg1"/>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dirty="0">
              <a:ln>
                <a:noFill/>
              </a:ln>
              <a:solidFill>
                <a:schemeClr val="bg1"/>
              </a:solidFill>
              <a:effectLst/>
              <a:uLnTx/>
              <a:uFillTx/>
              <a:latin typeface="+mj-lt"/>
              <a:ea typeface="+mj-lt"/>
              <a:cs typeface="微软雅黑" panose="020B0503020204020204" charset="-122"/>
            </a:endParaRPr>
          </a:p>
        </p:txBody>
      </p:sp>
      <p:sp>
        <p:nvSpPr>
          <p:cNvPr id="274" name="statistics-settings_72708"/>
          <p:cNvSpPr>
            <a:spLocks noChangeAspect="1"/>
          </p:cNvSpPr>
          <p:nvPr/>
        </p:nvSpPr>
        <p:spPr>
          <a:xfrm>
            <a:off x="9394921" y="5044596"/>
            <a:ext cx="224528" cy="216000"/>
          </a:xfrm>
          <a:custGeom>
            <a:avLst/>
            <a:gdLst>
              <a:gd name="connsiteX0" fmla="*/ 195114 w 608814"/>
              <a:gd name="connsiteY0" fmla="*/ 351627 h 585693"/>
              <a:gd name="connsiteX1" fmla="*/ 258290 w 608814"/>
              <a:gd name="connsiteY1" fmla="*/ 351627 h 585693"/>
              <a:gd name="connsiteX2" fmla="*/ 282731 w 608814"/>
              <a:gd name="connsiteY2" fmla="*/ 376018 h 585693"/>
              <a:gd name="connsiteX3" fmla="*/ 282731 w 608814"/>
              <a:gd name="connsiteY3" fmla="*/ 561210 h 585693"/>
              <a:gd name="connsiteX4" fmla="*/ 258290 w 608814"/>
              <a:gd name="connsiteY4" fmla="*/ 585693 h 585693"/>
              <a:gd name="connsiteX5" fmla="*/ 195114 w 608814"/>
              <a:gd name="connsiteY5" fmla="*/ 585693 h 585693"/>
              <a:gd name="connsiteX6" fmla="*/ 170673 w 608814"/>
              <a:gd name="connsiteY6" fmla="*/ 561210 h 585693"/>
              <a:gd name="connsiteX7" fmla="*/ 170673 w 608814"/>
              <a:gd name="connsiteY7" fmla="*/ 376018 h 585693"/>
              <a:gd name="connsiteX8" fmla="*/ 195114 w 608814"/>
              <a:gd name="connsiteY8" fmla="*/ 351627 h 585693"/>
              <a:gd name="connsiteX9" fmla="*/ 358100 w 608814"/>
              <a:gd name="connsiteY9" fmla="*/ 249872 h 585693"/>
              <a:gd name="connsiteX10" fmla="*/ 421316 w 608814"/>
              <a:gd name="connsiteY10" fmla="*/ 249872 h 585693"/>
              <a:gd name="connsiteX11" fmla="*/ 445737 w 608814"/>
              <a:gd name="connsiteY11" fmla="*/ 274267 h 585693"/>
              <a:gd name="connsiteX12" fmla="*/ 445737 w 608814"/>
              <a:gd name="connsiteY12" fmla="*/ 561206 h 585693"/>
              <a:gd name="connsiteX13" fmla="*/ 421316 w 608814"/>
              <a:gd name="connsiteY13" fmla="*/ 585693 h 585693"/>
              <a:gd name="connsiteX14" fmla="*/ 358100 w 608814"/>
              <a:gd name="connsiteY14" fmla="*/ 585693 h 585693"/>
              <a:gd name="connsiteX15" fmla="*/ 333679 w 608814"/>
              <a:gd name="connsiteY15" fmla="*/ 561206 h 585693"/>
              <a:gd name="connsiteX16" fmla="*/ 333679 w 608814"/>
              <a:gd name="connsiteY16" fmla="*/ 274267 h 585693"/>
              <a:gd name="connsiteX17" fmla="*/ 358100 w 608814"/>
              <a:gd name="connsiteY17" fmla="*/ 249872 h 585693"/>
              <a:gd name="connsiteX18" fmla="*/ 140260 w 608814"/>
              <a:gd name="connsiteY18" fmla="*/ 224680 h 585693"/>
              <a:gd name="connsiteX19" fmla="*/ 191844 w 608814"/>
              <a:gd name="connsiteY19" fmla="*/ 276122 h 585693"/>
              <a:gd name="connsiteX20" fmla="*/ 140260 w 608814"/>
              <a:gd name="connsiteY20" fmla="*/ 327564 h 585693"/>
              <a:gd name="connsiteX21" fmla="*/ 88676 w 608814"/>
              <a:gd name="connsiteY21" fmla="*/ 276122 h 585693"/>
              <a:gd name="connsiteX22" fmla="*/ 140260 w 608814"/>
              <a:gd name="connsiteY22" fmla="*/ 224680 h 585693"/>
              <a:gd name="connsiteX23" fmla="*/ 521177 w 608814"/>
              <a:gd name="connsiteY23" fmla="*/ 148117 h 585693"/>
              <a:gd name="connsiteX24" fmla="*/ 584301 w 608814"/>
              <a:gd name="connsiteY24" fmla="*/ 148117 h 585693"/>
              <a:gd name="connsiteX25" fmla="*/ 608814 w 608814"/>
              <a:gd name="connsiteY25" fmla="*/ 172601 h 585693"/>
              <a:gd name="connsiteX26" fmla="*/ 608814 w 608814"/>
              <a:gd name="connsiteY26" fmla="*/ 561209 h 585693"/>
              <a:gd name="connsiteX27" fmla="*/ 584301 w 608814"/>
              <a:gd name="connsiteY27" fmla="*/ 585693 h 585693"/>
              <a:gd name="connsiteX28" fmla="*/ 521177 w 608814"/>
              <a:gd name="connsiteY28" fmla="*/ 585693 h 585693"/>
              <a:gd name="connsiteX29" fmla="*/ 496756 w 608814"/>
              <a:gd name="connsiteY29" fmla="*/ 561209 h 585693"/>
              <a:gd name="connsiteX30" fmla="*/ 496756 w 608814"/>
              <a:gd name="connsiteY30" fmla="*/ 172601 h 585693"/>
              <a:gd name="connsiteX31" fmla="*/ 521177 w 608814"/>
              <a:gd name="connsiteY31" fmla="*/ 148117 h 585693"/>
              <a:gd name="connsiteX32" fmla="*/ 116229 w 608814"/>
              <a:gd name="connsiteY32" fmla="*/ 131322 h 585693"/>
              <a:gd name="connsiteX33" fmla="*/ 164246 w 608814"/>
              <a:gd name="connsiteY33" fmla="*/ 131322 h 585693"/>
              <a:gd name="connsiteX34" fmla="*/ 184061 w 608814"/>
              <a:gd name="connsiteY34" fmla="*/ 151113 h 585693"/>
              <a:gd name="connsiteX35" fmla="*/ 184061 w 608814"/>
              <a:gd name="connsiteY35" fmla="*/ 171457 h 585693"/>
              <a:gd name="connsiteX36" fmla="*/ 208669 w 608814"/>
              <a:gd name="connsiteY36" fmla="*/ 186094 h 585693"/>
              <a:gd name="connsiteX37" fmla="*/ 226641 w 608814"/>
              <a:gd name="connsiteY37" fmla="*/ 175692 h 585693"/>
              <a:gd name="connsiteX38" fmla="*/ 253737 w 608814"/>
              <a:gd name="connsiteY38" fmla="*/ 182964 h 585693"/>
              <a:gd name="connsiteX39" fmla="*/ 277792 w 608814"/>
              <a:gd name="connsiteY39" fmla="*/ 224572 h 585693"/>
              <a:gd name="connsiteX40" fmla="*/ 279727 w 608814"/>
              <a:gd name="connsiteY40" fmla="*/ 239577 h 585693"/>
              <a:gd name="connsiteX41" fmla="*/ 270511 w 608814"/>
              <a:gd name="connsiteY41" fmla="*/ 251544 h 585693"/>
              <a:gd name="connsiteX42" fmla="*/ 252355 w 608814"/>
              <a:gd name="connsiteY42" fmla="*/ 262038 h 585693"/>
              <a:gd name="connsiteX43" fmla="*/ 253829 w 608814"/>
              <a:gd name="connsiteY43" fmla="*/ 276122 h 585693"/>
              <a:gd name="connsiteX44" fmla="*/ 252355 w 608814"/>
              <a:gd name="connsiteY44" fmla="*/ 290206 h 585693"/>
              <a:gd name="connsiteX45" fmla="*/ 270511 w 608814"/>
              <a:gd name="connsiteY45" fmla="*/ 300700 h 585693"/>
              <a:gd name="connsiteX46" fmla="*/ 278714 w 608814"/>
              <a:gd name="connsiteY46" fmla="*/ 325094 h 585693"/>
              <a:gd name="connsiteX47" fmla="*/ 258253 w 608814"/>
              <a:gd name="connsiteY47" fmla="*/ 321136 h 585693"/>
              <a:gd name="connsiteX48" fmla="*/ 195858 w 608814"/>
              <a:gd name="connsiteY48" fmla="*/ 321136 h 585693"/>
              <a:gd name="connsiteX49" fmla="*/ 212171 w 608814"/>
              <a:gd name="connsiteY49" fmla="*/ 276122 h 585693"/>
              <a:gd name="connsiteX50" fmla="*/ 140191 w 608814"/>
              <a:gd name="connsiteY50" fmla="*/ 204320 h 585693"/>
              <a:gd name="connsiteX51" fmla="*/ 68304 w 608814"/>
              <a:gd name="connsiteY51" fmla="*/ 276122 h 585693"/>
              <a:gd name="connsiteX52" fmla="*/ 140191 w 608814"/>
              <a:gd name="connsiteY52" fmla="*/ 348016 h 585693"/>
              <a:gd name="connsiteX53" fmla="*/ 148486 w 608814"/>
              <a:gd name="connsiteY53" fmla="*/ 347095 h 585693"/>
              <a:gd name="connsiteX54" fmla="*/ 140099 w 608814"/>
              <a:gd name="connsiteY54" fmla="*/ 376000 h 585693"/>
              <a:gd name="connsiteX55" fmla="*/ 140099 w 608814"/>
              <a:gd name="connsiteY55" fmla="*/ 420922 h 585693"/>
              <a:gd name="connsiteX56" fmla="*/ 116229 w 608814"/>
              <a:gd name="connsiteY56" fmla="*/ 420922 h 585693"/>
              <a:gd name="connsiteX57" fmla="*/ 96413 w 608814"/>
              <a:gd name="connsiteY57" fmla="*/ 401131 h 585693"/>
              <a:gd name="connsiteX58" fmla="*/ 96413 w 608814"/>
              <a:gd name="connsiteY58" fmla="*/ 380787 h 585693"/>
              <a:gd name="connsiteX59" fmla="*/ 71806 w 608814"/>
              <a:gd name="connsiteY59" fmla="*/ 366150 h 585693"/>
              <a:gd name="connsiteX60" fmla="*/ 53742 w 608814"/>
              <a:gd name="connsiteY60" fmla="*/ 376552 h 585693"/>
              <a:gd name="connsiteX61" fmla="*/ 38719 w 608814"/>
              <a:gd name="connsiteY61" fmla="*/ 378577 h 585693"/>
              <a:gd name="connsiteX62" fmla="*/ 26738 w 608814"/>
              <a:gd name="connsiteY62" fmla="*/ 369372 h 585693"/>
              <a:gd name="connsiteX63" fmla="*/ 2683 w 608814"/>
              <a:gd name="connsiteY63" fmla="*/ 327764 h 585693"/>
              <a:gd name="connsiteX64" fmla="*/ 9872 w 608814"/>
              <a:gd name="connsiteY64" fmla="*/ 300700 h 585693"/>
              <a:gd name="connsiteX65" fmla="*/ 28120 w 608814"/>
              <a:gd name="connsiteY65" fmla="*/ 290206 h 585693"/>
              <a:gd name="connsiteX66" fmla="*/ 26645 w 608814"/>
              <a:gd name="connsiteY66" fmla="*/ 276122 h 585693"/>
              <a:gd name="connsiteX67" fmla="*/ 28120 w 608814"/>
              <a:gd name="connsiteY67" fmla="*/ 262038 h 585693"/>
              <a:gd name="connsiteX68" fmla="*/ 9872 w 608814"/>
              <a:gd name="connsiteY68" fmla="*/ 251544 h 585693"/>
              <a:gd name="connsiteX69" fmla="*/ 2683 w 608814"/>
              <a:gd name="connsiteY69" fmla="*/ 224572 h 585693"/>
              <a:gd name="connsiteX70" fmla="*/ 26738 w 608814"/>
              <a:gd name="connsiteY70" fmla="*/ 182964 h 585693"/>
              <a:gd name="connsiteX71" fmla="*/ 38719 w 608814"/>
              <a:gd name="connsiteY71" fmla="*/ 173759 h 585693"/>
              <a:gd name="connsiteX72" fmla="*/ 53742 w 608814"/>
              <a:gd name="connsiteY72" fmla="*/ 175692 h 585693"/>
              <a:gd name="connsiteX73" fmla="*/ 71806 w 608814"/>
              <a:gd name="connsiteY73" fmla="*/ 186094 h 585693"/>
              <a:gd name="connsiteX74" fmla="*/ 96413 w 608814"/>
              <a:gd name="connsiteY74" fmla="*/ 171457 h 585693"/>
              <a:gd name="connsiteX75" fmla="*/ 96413 w 608814"/>
              <a:gd name="connsiteY75" fmla="*/ 151113 h 585693"/>
              <a:gd name="connsiteX76" fmla="*/ 116229 w 608814"/>
              <a:gd name="connsiteY76" fmla="*/ 131322 h 585693"/>
              <a:gd name="connsiteX77" fmla="*/ 445756 w 608814"/>
              <a:gd name="connsiteY77" fmla="*/ 83476 h 585693"/>
              <a:gd name="connsiteX78" fmla="*/ 414140 w 608814"/>
              <a:gd name="connsiteY78" fmla="*/ 115044 h 585693"/>
              <a:gd name="connsiteX79" fmla="*/ 445756 w 608814"/>
              <a:gd name="connsiteY79" fmla="*/ 146520 h 585693"/>
              <a:gd name="connsiteX80" fmla="*/ 477371 w 608814"/>
              <a:gd name="connsiteY80" fmla="*/ 115044 h 585693"/>
              <a:gd name="connsiteX81" fmla="*/ 445756 w 608814"/>
              <a:gd name="connsiteY81" fmla="*/ 83476 h 585693"/>
              <a:gd name="connsiteX82" fmla="*/ 426676 w 608814"/>
              <a:gd name="connsiteY82" fmla="*/ 0 h 585693"/>
              <a:gd name="connsiteX83" fmla="*/ 464835 w 608814"/>
              <a:gd name="connsiteY83" fmla="*/ 0 h 585693"/>
              <a:gd name="connsiteX84" fmla="*/ 480597 w 608814"/>
              <a:gd name="connsiteY84" fmla="*/ 15738 h 585693"/>
              <a:gd name="connsiteX85" fmla="*/ 480597 w 608814"/>
              <a:gd name="connsiteY85" fmla="*/ 31936 h 585693"/>
              <a:gd name="connsiteX86" fmla="*/ 500138 w 608814"/>
              <a:gd name="connsiteY86" fmla="*/ 43533 h 585693"/>
              <a:gd name="connsiteX87" fmla="*/ 514425 w 608814"/>
              <a:gd name="connsiteY87" fmla="*/ 35249 h 585693"/>
              <a:gd name="connsiteX88" fmla="*/ 535901 w 608814"/>
              <a:gd name="connsiteY88" fmla="*/ 40956 h 585693"/>
              <a:gd name="connsiteX89" fmla="*/ 554981 w 608814"/>
              <a:gd name="connsiteY89" fmla="*/ 73996 h 585693"/>
              <a:gd name="connsiteX90" fmla="*/ 556640 w 608814"/>
              <a:gd name="connsiteY90" fmla="*/ 85961 h 585693"/>
              <a:gd name="connsiteX91" fmla="*/ 549266 w 608814"/>
              <a:gd name="connsiteY91" fmla="*/ 95440 h 585693"/>
              <a:gd name="connsiteX92" fmla="*/ 534887 w 608814"/>
              <a:gd name="connsiteY92" fmla="*/ 103815 h 585693"/>
              <a:gd name="connsiteX93" fmla="*/ 535993 w 608814"/>
              <a:gd name="connsiteY93" fmla="*/ 115044 h 585693"/>
              <a:gd name="connsiteX94" fmla="*/ 535717 w 608814"/>
              <a:gd name="connsiteY94" fmla="*/ 117621 h 585693"/>
              <a:gd name="connsiteX95" fmla="*/ 521153 w 608814"/>
              <a:gd name="connsiteY95" fmla="*/ 117621 h 585693"/>
              <a:gd name="connsiteX96" fmla="*/ 466126 w 608814"/>
              <a:gd name="connsiteY96" fmla="*/ 172565 h 585693"/>
              <a:gd name="connsiteX97" fmla="*/ 466126 w 608814"/>
              <a:gd name="connsiteY97" fmla="*/ 229719 h 585693"/>
              <a:gd name="connsiteX98" fmla="*/ 466126 w 608814"/>
              <a:gd name="connsiteY98" fmla="*/ 242604 h 585693"/>
              <a:gd name="connsiteX99" fmla="*/ 453590 w 608814"/>
              <a:gd name="connsiteY99" fmla="*/ 229995 h 585693"/>
              <a:gd name="connsiteX100" fmla="*/ 421330 w 608814"/>
              <a:gd name="connsiteY100" fmla="*/ 219319 h 585693"/>
              <a:gd name="connsiteX101" fmla="*/ 411928 w 608814"/>
              <a:gd name="connsiteY101" fmla="*/ 219319 h 585693"/>
              <a:gd name="connsiteX102" fmla="*/ 410914 w 608814"/>
              <a:gd name="connsiteY102" fmla="*/ 214257 h 585693"/>
              <a:gd name="connsiteX103" fmla="*/ 410914 w 608814"/>
              <a:gd name="connsiteY103" fmla="*/ 198059 h 585693"/>
              <a:gd name="connsiteX104" fmla="*/ 391373 w 608814"/>
              <a:gd name="connsiteY104" fmla="*/ 186463 h 585693"/>
              <a:gd name="connsiteX105" fmla="*/ 377086 w 608814"/>
              <a:gd name="connsiteY105" fmla="*/ 194746 h 585693"/>
              <a:gd name="connsiteX106" fmla="*/ 365104 w 608814"/>
              <a:gd name="connsiteY106" fmla="*/ 196310 h 585693"/>
              <a:gd name="connsiteX107" fmla="*/ 355610 w 608814"/>
              <a:gd name="connsiteY107" fmla="*/ 189040 h 585693"/>
              <a:gd name="connsiteX108" fmla="*/ 336530 w 608814"/>
              <a:gd name="connsiteY108" fmla="*/ 155999 h 585693"/>
              <a:gd name="connsiteX109" fmla="*/ 342245 w 608814"/>
              <a:gd name="connsiteY109" fmla="*/ 134463 h 585693"/>
              <a:gd name="connsiteX110" fmla="*/ 356716 w 608814"/>
              <a:gd name="connsiteY110" fmla="*/ 126180 h 585693"/>
              <a:gd name="connsiteX111" fmla="*/ 355518 w 608814"/>
              <a:gd name="connsiteY111" fmla="*/ 115044 h 585693"/>
              <a:gd name="connsiteX112" fmla="*/ 356716 w 608814"/>
              <a:gd name="connsiteY112" fmla="*/ 103815 h 585693"/>
              <a:gd name="connsiteX113" fmla="*/ 342245 w 608814"/>
              <a:gd name="connsiteY113" fmla="*/ 95440 h 585693"/>
              <a:gd name="connsiteX114" fmla="*/ 336530 w 608814"/>
              <a:gd name="connsiteY114" fmla="*/ 73996 h 585693"/>
              <a:gd name="connsiteX115" fmla="*/ 355610 w 608814"/>
              <a:gd name="connsiteY115" fmla="*/ 40956 h 585693"/>
              <a:gd name="connsiteX116" fmla="*/ 365104 w 608814"/>
              <a:gd name="connsiteY116" fmla="*/ 33685 h 585693"/>
              <a:gd name="connsiteX117" fmla="*/ 377086 w 608814"/>
              <a:gd name="connsiteY117" fmla="*/ 35249 h 585693"/>
              <a:gd name="connsiteX118" fmla="*/ 391373 w 608814"/>
              <a:gd name="connsiteY118" fmla="*/ 43533 h 585693"/>
              <a:gd name="connsiteX119" fmla="*/ 410914 w 608814"/>
              <a:gd name="connsiteY119" fmla="*/ 31936 h 585693"/>
              <a:gd name="connsiteX120" fmla="*/ 410914 w 608814"/>
              <a:gd name="connsiteY120" fmla="*/ 15738 h 585693"/>
              <a:gd name="connsiteX121" fmla="*/ 426676 w 608814"/>
              <a:gd name="connsiteY121" fmla="*/ 0 h 5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608814" h="585693">
                <a:moveTo>
                  <a:pt x="195114" y="351627"/>
                </a:moveTo>
                <a:lnTo>
                  <a:pt x="258290" y="351627"/>
                </a:lnTo>
                <a:cubicBezTo>
                  <a:pt x="271848" y="351627"/>
                  <a:pt x="282731" y="362580"/>
                  <a:pt x="282731" y="376018"/>
                </a:cubicBezTo>
                <a:lnTo>
                  <a:pt x="282731" y="561210"/>
                </a:lnTo>
                <a:cubicBezTo>
                  <a:pt x="282731" y="574740"/>
                  <a:pt x="271848" y="585693"/>
                  <a:pt x="258290" y="585693"/>
                </a:cubicBezTo>
                <a:lnTo>
                  <a:pt x="195114" y="585693"/>
                </a:lnTo>
                <a:cubicBezTo>
                  <a:pt x="181556" y="585693"/>
                  <a:pt x="170673" y="574740"/>
                  <a:pt x="170673" y="561210"/>
                </a:cubicBezTo>
                <a:lnTo>
                  <a:pt x="170673" y="376018"/>
                </a:lnTo>
                <a:cubicBezTo>
                  <a:pt x="170673" y="362580"/>
                  <a:pt x="181556" y="351627"/>
                  <a:pt x="195114" y="351627"/>
                </a:cubicBezTo>
                <a:close/>
                <a:moveTo>
                  <a:pt x="358100" y="249872"/>
                </a:moveTo>
                <a:lnTo>
                  <a:pt x="421316" y="249872"/>
                </a:lnTo>
                <a:cubicBezTo>
                  <a:pt x="434771" y="249872"/>
                  <a:pt x="445737" y="260735"/>
                  <a:pt x="445737" y="274267"/>
                </a:cubicBezTo>
                <a:lnTo>
                  <a:pt x="445737" y="561206"/>
                </a:lnTo>
                <a:cubicBezTo>
                  <a:pt x="445737" y="574738"/>
                  <a:pt x="434771" y="585693"/>
                  <a:pt x="421316" y="585693"/>
                </a:cubicBezTo>
                <a:lnTo>
                  <a:pt x="358100" y="585693"/>
                </a:lnTo>
                <a:cubicBezTo>
                  <a:pt x="344645" y="585693"/>
                  <a:pt x="333679" y="574738"/>
                  <a:pt x="333679" y="561206"/>
                </a:cubicBezTo>
                <a:lnTo>
                  <a:pt x="333679" y="274267"/>
                </a:lnTo>
                <a:cubicBezTo>
                  <a:pt x="333679" y="260735"/>
                  <a:pt x="344645" y="249872"/>
                  <a:pt x="358100" y="249872"/>
                </a:cubicBezTo>
                <a:close/>
                <a:moveTo>
                  <a:pt x="140260" y="224680"/>
                </a:moveTo>
                <a:cubicBezTo>
                  <a:pt x="168749" y="224680"/>
                  <a:pt x="191844" y="247711"/>
                  <a:pt x="191844" y="276122"/>
                </a:cubicBezTo>
                <a:cubicBezTo>
                  <a:pt x="191844" y="304533"/>
                  <a:pt x="168749" y="327564"/>
                  <a:pt x="140260" y="327564"/>
                </a:cubicBezTo>
                <a:cubicBezTo>
                  <a:pt x="111771" y="327564"/>
                  <a:pt x="88676" y="304533"/>
                  <a:pt x="88676" y="276122"/>
                </a:cubicBezTo>
                <a:cubicBezTo>
                  <a:pt x="88676" y="247711"/>
                  <a:pt x="111771" y="224680"/>
                  <a:pt x="140260" y="224680"/>
                </a:cubicBezTo>
                <a:close/>
                <a:moveTo>
                  <a:pt x="521177" y="148117"/>
                </a:moveTo>
                <a:lnTo>
                  <a:pt x="584301" y="148117"/>
                </a:lnTo>
                <a:cubicBezTo>
                  <a:pt x="597848" y="148117"/>
                  <a:pt x="608814" y="159070"/>
                  <a:pt x="608814" y="172601"/>
                </a:cubicBezTo>
                <a:lnTo>
                  <a:pt x="608814" y="561209"/>
                </a:lnTo>
                <a:cubicBezTo>
                  <a:pt x="608814" y="574740"/>
                  <a:pt x="597848" y="585693"/>
                  <a:pt x="584301" y="585693"/>
                </a:cubicBezTo>
                <a:lnTo>
                  <a:pt x="521177" y="585693"/>
                </a:lnTo>
                <a:cubicBezTo>
                  <a:pt x="507722" y="585693"/>
                  <a:pt x="496756" y="574740"/>
                  <a:pt x="496756" y="561209"/>
                </a:cubicBezTo>
                <a:lnTo>
                  <a:pt x="496756" y="172601"/>
                </a:lnTo>
                <a:cubicBezTo>
                  <a:pt x="496756" y="159070"/>
                  <a:pt x="507722" y="148117"/>
                  <a:pt x="521177" y="148117"/>
                </a:cubicBezTo>
                <a:close/>
                <a:moveTo>
                  <a:pt x="116229" y="131322"/>
                </a:moveTo>
                <a:lnTo>
                  <a:pt x="164246" y="131322"/>
                </a:lnTo>
                <a:cubicBezTo>
                  <a:pt x="175214" y="131322"/>
                  <a:pt x="184061" y="140159"/>
                  <a:pt x="184061" y="151113"/>
                </a:cubicBezTo>
                <a:lnTo>
                  <a:pt x="184061" y="171457"/>
                </a:lnTo>
                <a:cubicBezTo>
                  <a:pt x="193001" y="175231"/>
                  <a:pt x="201019" y="180386"/>
                  <a:pt x="208669" y="186094"/>
                </a:cubicBezTo>
                <a:lnTo>
                  <a:pt x="226641" y="175692"/>
                </a:lnTo>
                <a:cubicBezTo>
                  <a:pt x="236134" y="170261"/>
                  <a:pt x="248300" y="173482"/>
                  <a:pt x="253737" y="182964"/>
                </a:cubicBezTo>
                <a:lnTo>
                  <a:pt x="277792" y="224572"/>
                </a:lnTo>
                <a:cubicBezTo>
                  <a:pt x="280465" y="229083"/>
                  <a:pt x="281110" y="234514"/>
                  <a:pt x="279727" y="239577"/>
                </a:cubicBezTo>
                <a:cubicBezTo>
                  <a:pt x="278437" y="244640"/>
                  <a:pt x="275119" y="248966"/>
                  <a:pt x="270511" y="251544"/>
                </a:cubicBezTo>
                <a:lnTo>
                  <a:pt x="252355" y="262038"/>
                </a:lnTo>
                <a:cubicBezTo>
                  <a:pt x="253000" y="266733"/>
                  <a:pt x="253829" y="271335"/>
                  <a:pt x="253829" y="276122"/>
                </a:cubicBezTo>
                <a:cubicBezTo>
                  <a:pt x="253829" y="281001"/>
                  <a:pt x="253000" y="285604"/>
                  <a:pt x="252355" y="290206"/>
                </a:cubicBezTo>
                <a:lnTo>
                  <a:pt x="270511" y="300700"/>
                </a:lnTo>
                <a:cubicBezTo>
                  <a:pt x="279174" y="305671"/>
                  <a:pt x="282308" y="316165"/>
                  <a:pt x="278714" y="325094"/>
                </a:cubicBezTo>
                <a:cubicBezTo>
                  <a:pt x="272354" y="322609"/>
                  <a:pt x="265442" y="321136"/>
                  <a:pt x="258253" y="321136"/>
                </a:cubicBezTo>
                <a:lnTo>
                  <a:pt x="195858" y="321136"/>
                </a:lnTo>
                <a:cubicBezTo>
                  <a:pt x="205904" y="308709"/>
                  <a:pt x="212171" y="293244"/>
                  <a:pt x="212171" y="276122"/>
                </a:cubicBezTo>
                <a:cubicBezTo>
                  <a:pt x="212171" y="236539"/>
                  <a:pt x="179914" y="204320"/>
                  <a:pt x="140191" y="204320"/>
                </a:cubicBezTo>
                <a:cubicBezTo>
                  <a:pt x="100561" y="204320"/>
                  <a:pt x="68304" y="236539"/>
                  <a:pt x="68304" y="276122"/>
                </a:cubicBezTo>
                <a:cubicBezTo>
                  <a:pt x="68304" y="315797"/>
                  <a:pt x="100561" y="348016"/>
                  <a:pt x="140191" y="348016"/>
                </a:cubicBezTo>
                <a:cubicBezTo>
                  <a:pt x="143048" y="348016"/>
                  <a:pt x="145721" y="347463"/>
                  <a:pt x="148486" y="347095"/>
                </a:cubicBezTo>
                <a:cubicBezTo>
                  <a:pt x="143233" y="355564"/>
                  <a:pt x="140099" y="365414"/>
                  <a:pt x="140099" y="376000"/>
                </a:cubicBezTo>
                <a:lnTo>
                  <a:pt x="140099" y="420922"/>
                </a:lnTo>
                <a:lnTo>
                  <a:pt x="116229" y="420922"/>
                </a:lnTo>
                <a:cubicBezTo>
                  <a:pt x="105261" y="420922"/>
                  <a:pt x="96413" y="412085"/>
                  <a:pt x="96413" y="401131"/>
                </a:cubicBezTo>
                <a:lnTo>
                  <a:pt x="96413" y="380787"/>
                </a:lnTo>
                <a:cubicBezTo>
                  <a:pt x="87474" y="377013"/>
                  <a:pt x="79455" y="371950"/>
                  <a:pt x="71806" y="366150"/>
                </a:cubicBezTo>
                <a:lnTo>
                  <a:pt x="53742" y="376552"/>
                </a:lnTo>
                <a:cubicBezTo>
                  <a:pt x="49226" y="379222"/>
                  <a:pt x="43788" y="379866"/>
                  <a:pt x="38719" y="378577"/>
                </a:cubicBezTo>
                <a:cubicBezTo>
                  <a:pt x="33650" y="377197"/>
                  <a:pt x="29318" y="373883"/>
                  <a:pt x="26738" y="369372"/>
                </a:cubicBezTo>
                <a:lnTo>
                  <a:pt x="2683" y="327764"/>
                </a:lnTo>
                <a:cubicBezTo>
                  <a:pt x="-2847" y="318282"/>
                  <a:pt x="471" y="306131"/>
                  <a:pt x="9872" y="300700"/>
                </a:cubicBezTo>
                <a:lnTo>
                  <a:pt x="28120" y="290206"/>
                </a:lnTo>
                <a:cubicBezTo>
                  <a:pt x="27475" y="285604"/>
                  <a:pt x="26645" y="281001"/>
                  <a:pt x="26645" y="276122"/>
                </a:cubicBezTo>
                <a:cubicBezTo>
                  <a:pt x="26645" y="271335"/>
                  <a:pt x="27475" y="266733"/>
                  <a:pt x="28120" y="262038"/>
                </a:cubicBezTo>
                <a:lnTo>
                  <a:pt x="9872" y="251544"/>
                </a:lnTo>
                <a:cubicBezTo>
                  <a:pt x="471" y="246113"/>
                  <a:pt x="-2847" y="233962"/>
                  <a:pt x="2683" y="224572"/>
                </a:cubicBezTo>
                <a:lnTo>
                  <a:pt x="26738" y="182964"/>
                </a:lnTo>
                <a:cubicBezTo>
                  <a:pt x="29318" y="178361"/>
                  <a:pt x="33650" y="175139"/>
                  <a:pt x="38719" y="173759"/>
                </a:cubicBezTo>
                <a:cubicBezTo>
                  <a:pt x="43788" y="172378"/>
                  <a:pt x="49226" y="173114"/>
                  <a:pt x="53742" y="175692"/>
                </a:cubicBezTo>
                <a:lnTo>
                  <a:pt x="71806" y="186094"/>
                </a:lnTo>
                <a:cubicBezTo>
                  <a:pt x="79455" y="180386"/>
                  <a:pt x="87474" y="175231"/>
                  <a:pt x="96413" y="171457"/>
                </a:cubicBezTo>
                <a:lnTo>
                  <a:pt x="96413" y="151113"/>
                </a:lnTo>
                <a:cubicBezTo>
                  <a:pt x="96413" y="140159"/>
                  <a:pt x="105261" y="131322"/>
                  <a:pt x="116229" y="131322"/>
                </a:cubicBezTo>
                <a:close/>
                <a:moveTo>
                  <a:pt x="445756" y="83476"/>
                </a:moveTo>
                <a:cubicBezTo>
                  <a:pt x="428335" y="83476"/>
                  <a:pt x="414140" y="97557"/>
                  <a:pt x="414140" y="115044"/>
                </a:cubicBezTo>
                <a:cubicBezTo>
                  <a:pt x="414140" y="132438"/>
                  <a:pt x="428335" y="146520"/>
                  <a:pt x="445756" y="146520"/>
                </a:cubicBezTo>
                <a:cubicBezTo>
                  <a:pt x="463176" y="146520"/>
                  <a:pt x="477371" y="132438"/>
                  <a:pt x="477371" y="115044"/>
                </a:cubicBezTo>
                <a:cubicBezTo>
                  <a:pt x="477371" y="97557"/>
                  <a:pt x="463176" y="83476"/>
                  <a:pt x="445756" y="83476"/>
                </a:cubicBezTo>
                <a:close/>
                <a:moveTo>
                  <a:pt x="426676" y="0"/>
                </a:moveTo>
                <a:lnTo>
                  <a:pt x="464835" y="0"/>
                </a:lnTo>
                <a:cubicBezTo>
                  <a:pt x="473500" y="0"/>
                  <a:pt x="480597" y="7087"/>
                  <a:pt x="480597" y="15738"/>
                </a:cubicBezTo>
                <a:lnTo>
                  <a:pt x="480597" y="31936"/>
                </a:lnTo>
                <a:cubicBezTo>
                  <a:pt x="487694" y="34881"/>
                  <a:pt x="494054" y="38931"/>
                  <a:pt x="500138" y="43533"/>
                </a:cubicBezTo>
                <a:lnTo>
                  <a:pt x="514425" y="35249"/>
                </a:lnTo>
                <a:cubicBezTo>
                  <a:pt x="521983" y="30924"/>
                  <a:pt x="531569" y="33501"/>
                  <a:pt x="535901" y="40956"/>
                </a:cubicBezTo>
                <a:lnTo>
                  <a:pt x="554981" y="73996"/>
                </a:lnTo>
                <a:cubicBezTo>
                  <a:pt x="557101" y="77585"/>
                  <a:pt x="557654" y="81911"/>
                  <a:pt x="556640" y="85961"/>
                </a:cubicBezTo>
                <a:cubicBezTo>
                  <a:pt x="555534" y="89918"/>
                  <a:pt x="552861" y="93415"/>
                  <a:pt x="549266" y="95440"/>
                </a:cubicBezTo>
                <a:lnTo>
                  <a:pt x="534887" y="103815"/>
                </a:lnTo>
                <a:cubicBezTo>
                  <a:pt x="535348" y="107497"/>
                  <a:pt x="535993" y="111178"/>
                  <a:pt x="535993" y="115044"/>
                </a:cubicBezTo>
                <a:cubicBezTo>
                  <a:pt x="535993" y="115872"/>
                  <a:pt x="535809" y="116700"/>
                  <a:pt x="535717" y="117621"/>
                </a:cubicBezTo>
                <a:lnTo>
                  <a:pt x="521153" y="117621"/>
                </a:lnTo>
                <a:cubicBezTo>
                  <a:pt x="490828" y="117621"/>
                  <a:pt x="466126" y="142286"/>
                  <a:pt x="466126" y="172565"/>
                </a:cubicBezTo>
                <a:lnTo>
                  <a:pt x="466126" y="229719"/>
                </a:lnTo>
                <a:lnTo>
                  <a:pt x="466126" y="242604"/>
                </a:lnTo>
                <a:cubicBezTo>
                  <a:pt x="462715" y="237726"/>
                  <a:pt x="458383" y="233493"/>
                  <a:pt x="453590" y="229995"/>
                </a:cubicBezTo>
                <a:cubicBezTo>
                  <a:pt x="444465" y="223369"/>
                  <a:pt x="433404" y="219319"/>
                  <a:pt x="421330" y="219319"/>
                </a:cubicBezTo>
                <a:lnTo>
                  <a:pt x="411928" y="219319"/>
                </a:lnTo>
                <a:cubicBezTo>
                  <a:pt x="411375" y="217755"/>
                  <a:pt x="410914" y="216098"/>
                  <a:pt x="410914" y="214257"/>
                </a:cubicBezTo>
                <a:lnTo>
                  <a:pt x="410914" y="198059"/>
                </a:lnTo>
                <a:cubicBezTo>
                  <a:pt x="403817" y="195114"/>
                  <a:pt x="397457" y="191064"/>
                  <a:pt x="391373" y="186463"/>
                </a:cubicBezTo>
                <a:lnTo>
                  <a:pt x="377086" y="194746"/>
                </a:lnTo>
                <a:cubicBezTo>
                  <a:pt x="373492" y="196863"/>
                  <a:pt x="369160" y="197415"/>
                  <a:pt x="365104" y="196310"/>
                </a:cubicBezTo>
                <a:cubicBezTo>
                  <a:pt x="361140" y="195206"/>
                  <a:pt x="357638" y="192629"/>
                  <a:pt x="355610" y="189040"/>
                </a:cubicBezTo>
                <a:lnTo>
                  <a:pt x="336530" y="155999"/>
                </a:lnTo>
                <a:cubicBezTo>
                  <a:pt x="332198" y="148452"/>
                  <a:pt x="334687" y="138881"/>
                  <a:pt x="342245" y="134463"/>
                </a:cubicBezTo>
                <a:lnTo>
                  <a:pt x="356716" y="126180"/>
                </a:lnTo>
                <a:cubicBezTo>
                  <a:pt x="356163" y="122498"/>
                  <a:pt x="355518" y="118817"/>
                  <a:pt x="355518" y="115044"/>
                </a:cubicBezTo>
                <a:cubicBezTo>
                  <a:pt x="355518" y="111178"/>
                  <a:pt x="356163" y="107497"/>
                  <a:pt x="356716" y="103815"/>
                </a:cubicBezTo>
                <a:lnTo>
                  <a:pt x="342245" y="95440"/>
                </a:lnTo>
                <a:cubicBezTo>
                  <a:pt x="334687" y="91115"/>
                  <a:pt x="332198" y="81543"/>
                  <a:pt x="336530" y="73996"/>
                </a:cubicBezTo>
                <a:lnTo>
                  <a:pt x="355610" y="40956"/>
                </a:lnTo>
                <a:cubicBezTo>
                  <a:pt x="357638" y="37366"/>
                  <a:pt x="361140" y="34789"/>
                  <a:pt x="365104" y="33685"/>
                </a:cubicBezTo>
                <a:cubicBezTo>
                  <a:pt x="369160" y="32580"/>
                  <a:pt x="373492" y="33133"/>
                  <a:pt x="377086" y="35249"/>
                </a:cubicBezTo>
                <a:lnTo>
                  <a:pt x="391373" y="43533"/>
                </a:lnTo>
                <a:cubicBezTo>
                  <a:pt x="397457" y="38931"/>
                  <a:pt x="403817" y="34881"/>
                  <a:pt x="410914" y="31936"/>
                </a:cubicBezTo>
                <a:lnTo>
                  <a:pt x="410914" y="15738"/>
                </a:lnTo>
                <a:cubicBezTo>
                  <a:pt x="410914" y="7087"/>
                  <a:pt x="418011" y="0"/>
                  <a:pt x="42667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1200" cap="none" spc="0" normalizeH="0" baseline="0" noProof="0">
              <a:ln>
                <a:noFill/>
              </a:ln>
              <a:solidFill>
                <a:schemeClr val="bg1"/>
              </a:solidFill>
              <a:effectLst/>
              <a:uLnTx/>
              <a:uFillTx/>
              <a:latin typeface="+mj-lt"/>
              <a:ea typeface="+mj-lt"/>
              <a:cs typeface="微软雅黑" panose="020B0503020204020204" charset="-122"/>
            </a:endParaRPr>
          </a:p>
        </p:txBody>
      </p:sp>
      <p:sp>
        <p:nvSpPr>
          <p:cNvPr id="275" name="矩形 274"/>
          <p:cNvSpPr/>
          <p:nvPr/>
        </p:nvSpPr>
        <p:spPr>
          <a:xfrm>
            <a:off x="1261648" y="5835560"/>
            <a:ext cx="10529981" cy="648000"/>
          </a:xfrm>
          <a:prstGeom prst="rect">
            <a:avLst/>
          </a:prstGeom>
          <a:solidFill>
            <a:schemeClr val="bg1"/>
          </a:solidFill>
          <a:ln w="19050">
            <a:solidFill>
              <a:schemeClr val="accent5"/>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a:ln>
                  <a:noFill/>
                </a:ln>
                <a:solidFill>
                  <a:srgbClr val="FFFFFF"/>
                </a:solidFill>
                <a:effectLst/>
                <a:uLnTx/>
                <a:uFillTx/>
                <a:latin typeface="+mj-lt"/>
                <a:ea typeface="+mj-lt"/>
                <a:cs typeface="微软雅黑" panose="020B0503020204020204" charset="-122"/>
              </a:rPr>
              <a:t> </a:t>
            </a:r>
            <a:endParaRPr kumimoji="0" lang="en-US" altLang="zh-CN" sz="1800" b="0" i="0" u="none" strike="noStrike" kern="1200" cap="none" spc="0" normalizeH="0" baseline="0" noProof="0">
              <a:ln>
                <a:noFill/>
              </a:ln>
              <a:solidFill>
                <a:srgbClr val="FFFFFF"/>
              </a:solidFill>
              <a:effectLst/>
              <a:uLnTx/>
              <a:uFillTx/>
              <a:latin typeface="+mj-lt"/>
              <a:ea typeface="+mj-lt"/>
              <a:cs typeface="微软雅黑" panose="020B0503020204020204" charset="-122"/>
            </a:endParaRPr>
          </a:p>
        </p:txBody>
      </p:sp>
      <p:sp>
        <p:nvSpPr>
          <p:cNvPr id="277" name="文本框 276"/>
          <p:cNvSpPr txBox="1"/>
          <p:nvPr/>
        </p:nvSpPr>
        <p:spPr>
          <a:xfrm>
            <a:off x="3013444" y="6086484"/>
            <a:ext cx="1148283" cy="200055"/>
          </a:xfrm>
          <a:prstGeom prst="rect">
            <a:avLst/>
          </a:prstGeom>
          <a:noFill/>
        </p:spPr>
        <p:txBody>
          <a:bodyPr wrap="square" lIns="0" tIns="0" rIns="0" bIns="0" rtlCol="0">
            <a:spAutoFit/>
          </a:bodyPr>
          <a:lstStyle>
            <a:defPPr>
              <a:defRPr lang="zh-CN"/>
            </a:defPPr>
            <a:lvl1pPr algn="ctr" defTabSz="731520">
              <a:defRPr sz="1400" i="0" kern="0">
                <a:gradFill>
                  <a:gsLst>
                    <a:gs pos="0">
                      <a:srgbClr val="FD9687"/>
                    </a:gs>
                    <a:gs pos="100000">
                      <a:srgbClr val="FF6261"/>
                    </a:gs>
                  </a:gsLst>
                  <a:lin ang="5400000" scaled="1"/>
                </a:gradFill>
                <a:latin typeface="OPPOSans M" panose="00020600040101010101" pitchFamily="18" charset="-122"/>
                <a:ea typeface="OPPOSans M" panose="00020600040101010101" pitchFamily="18" charset="-122"/>
                <a:cs typeface="OPPOSans M" panose="00020600040101010101" pitchFamily="18" charset="-122"/>
              </a:defRPr>
            </a:lvl1pPr>
          </a:lstStyle>
          <a:p>
            <a:pPr lvl="0">
              <a:defRPr/>
            </a:pPr>
            <a:r>
              <a:rPr lang="zh-CN" altLang="en-US" sz="1300" dirty="0">
                <a:solidFill>
                  <a:schemeClr val="tx2"/>
                </a:solidFill>
                <a:latin typeface="+mj-lt"/>
                <a:ea typeface="+mj-lt"/>
                <a:cs typeface="微软雅黑" panose="020B0503020204020204" charset="-122"/>
              </a:rPr>
              <a:t>风险识别</a:t>
            </a:r>
            <a:endParaRPr kumimoji="0" lang="zh-CN" altLang="en-US" sz="1300" b="0" i="0" u="none" strike="noStrike" kern="0" cap="none" spc="0" normalizeH="0" baseline="0" noProof="0" dirty="0">
              <a:ln>
                <a:noFill/>
              </a:ln>
              <a:solidFill>
                <a:schemeClr val="tx2"/>
              </a:solidFill>
              <a:effectLst/>
              <a:uLnTx/>
              <a:uFillTx/>
              <a:latin typeface="+mj-lt"/>
              <a:ea typeface="+mj-lt"/>
              <a:cs typeface="微软雅黑" panose="020B0503020204020204" charset="-122"/>
            </a:endParaRPr>
          </a:p>
        </p:txBody>
      </p:sp>
      <p:sp>
        <p:nvSpPr>
          <p:cNvPr id="278" name="文本框 277"/>
          <p:cNvSpPr txBox="1"/>
          <p:nvPr/>
        </p:nvSpPr>
        <p:spPr>
          <a:xfrm>
            <a:off x="4252177" y="6086484"/>
            <a:ext cx="1148283" cy="200055"/>
          </a:xfrm>
          <a:prstGeom prst="rect">
            <a:avLst/>
          </a:prstGeom>
          <a:noFill/>
        </p:spPr>
        <p:txBody>
          <a:bodyPr wrap="square" lIns="0" tIns="0" rIns="0" bIns="0" rtlCol="0">
            <a:spAutoFit/>
          </a:bodyPr>
          <a:lstStyle>
            <a:defPPr>
              <a:defRPr lang="zh-CN"/>
            </a:defPPr>
            <a:lvl1pPr algn="ctr" defTabSz="731520">
              <a:defRPr sz="1400" i="0" kern="0">
                <a:gradFill>
                  <a:gsLst>
                    <a:gs pos="0">
                      <a:srgbClr val="FD9687"/>
                    </a:gs>
                    <a:gs pos="100000">
                      <a:srgbClr val="FF6261"/>
                    </a:gs>
                  </a:gsLst>
                  <a:lin ang="5400000" scaled="1"/>
                </a:gradFill>
                <a:latin typeface="OPPOSans M" panose="00020600040101010101" pitchFamily="18" charset="-122"/>
                <a:ea typeface="OPPOSans M" panose="00020600040101010101" pitchFamily="18" charset="-122"/>
                <a:cs typeface="OPPOSans M" panose="00020600040101010101" pitchFamily="18" charset="-122"/>
              </a:defRPr>
            </a:lvl1pPr>
          </a:lstStyle>
          <a:p>
            <a:pPr lvl="0">
              <a:defRPr/>
            </a:pPr>
            <a:r>
              <a:rPr lang="zh-CN" altLang="en-US" sz="1300" dirty="0">
                <a:solidFill>
                  <a:schemeClr val="tx2"/>
                </a:solidFill>
                <a:latin typeface="+mj-lt"/>
                <a:ea typeface="+mj-lt"/>
                <a:cs typeface="微软雅黑" panose="020B0503020204020204" charset="-122"/>
              </a:rPr>
              <a:t>风险评估</a:t>
            </a:r>
            <a:endParaRPr kumimoji="0" lang="zh-CN" altLang="en-US" sz="1300" b="0" i="0" u="none" strike="noStrike" kern="0" cap="none" spc="0" normalizeH="0" baseline="0" noProof="0" dirty="0">
              <a:ln>
                <a:noFill/>
              </a:ln>
              <a:solidFill>
                <a:schemeClr val="tx2"/>
              </a:solidFill>
              <a:effectLst/>
              <a:uLnTx/>
              <a:uFillTx/>
              <a:latin typeface="+mj-lt"/>
              <a:ea typeface="+mj-lt"/>
              <a:cs typeface="微软雅黑" panose="020B0503020204020204" charset="-122"/>
            </a:endParaRPr>
          </a:p>
        </p:txBody>
      </p:sp>
      <p:sp>
        <p:nvSpPr>
          <p:cNvPr id="279" name="文本框 278"/>
          <p:cNvSpPr txBox="1"/>
          <p:nvPr/>
        </p:nvSpPr>
        <p:spPr>
          <a:xfrm>
            <a:off x="5490910" y="6086484"/>
            <a:ext cx="1148283" cy="200055"/>
          </a:xfrm>
          <a:prstGeom prst="rect">
            <a:avLst/>
          </a:prstGeom>
          <a:noFill/>
        </p:spPr>
        <p:txBody>
          <a:bodyPr wrap="square" lIns="0" tIns="0" rIns="0" bIns="0" rtlCol="0">
            <a:spAutoFit/>
          </a:bodyPr>
          <a:lstStyle>
            <a:defPPr>
              <a:defRPr lang="zh-CN"/>
            </a:defPPr>
            <a:lvl1pPr algn="ctr" defTabSz="731520">
              <a:defRPr sz="1400" i="0" kern="0">
                <a:gradFill>
                  <a:gsLst>
                    <a:gs pos="0">
                      <a:srgbClr val="FD9687"/>
                    </a:gs>
                    <a:gs pos="100000">
                      <a:srgbClr val="FF6261"/>
                    </a:gs>
                  </a:gsLst>
                  <a:lin ang="5400000" scaled="1"/>
                </a:gradFill>
                <a:latin typeface="OPPOSans M" panose="00020600040101010101" pitchFamily="18" charset="-122"/>
                <a:ea typeface="OPPOSans M" panose="00020600040101010101" pitchFamily="18" charset="-122"/>
                <a:cs typeface="OPPOSans M" panose="00020600040101010101" pitchFamily="18" charset="-122"/>
              </a:defRPr>
            </a:lvl1pPr>
          </a:lstStyle>
          <a:p>
            <a:pPr lvl="0">
              <a:defRPr/>
            </a:pPr>
            <a:r>
              <a:rPr lang="zh-CN" altLang="en-US" sz="1300" dirty="0">
                <a:solidFill>
                  <a:schemeClr val="tx2"/>
                </a:solidFill>
                <a:latin typeface="+mj-lt"/>
                <a:ea typeface="+mj-lt"/>
                <a:cs typeface="微软雅黑" panose="020B0503020204020204" charset="-122"/>
              </a:rPr>
              <a:t>风险管理</a:t>
            </a:r>
            <a:endParaRPr kumimoji="0" lang="zh-CN" altLang="en-US" sz="1300" b="0" i="0" u="none" strike="noStrike" kern="0" cap="none" spc="0" normalizeH="0" baseline="0" noProof="0" dirty="0">
              <a:ln>
                <a:noFill/>
              </a:ln>
              <a:solidFill>
                <a:schemeClr val="tx2"/>
              </a:solidFill>
              <a:effectLst/>
              <a:uLnTx/>
              <a:uFillTx/>
              <a:latin typeface="+mj-lt"/>
              <a:ea typeface="+mj-lt"/>
              <a:cs typeface="微软雅黑" panose="020B0503020204020204" charset="-122"/>
            </a:endParaRPr>
          </a:p>
        </p:txBody>
      </p:sp>
      <p:sp>
        <p:nvSpPr>
          <p:cNvPr id="280" name="文本框 279"/>
          <p:cNvSpPr txBox="1"/>
          <p:nvPr/>
        </p:nvSpPr>
        <p:spPr>
          <a:xfrm rot="10800000" flipH="1">
            <a:off x="3895905" y="6093830"/>
            <a:ext cx="622094" cy="200055"/>
          </a:xfrm>
          <a:prstGeom prst="rect">
            <a:avLst/>
          </a:prstGeom>
          <a:noFill/>
        </p:spPr>
        <p:txBody>
          <a:bodyPr wrap="square" lIns="0" tIns="0" rIns="0" bIns="0" rtlCol="0">
            <a:spAutoFit/>
          </a:bodyPr>
          <a:lstStyle>
            <a:defPPr>
              <a:defRPr lang="zh-CN"/>
            </a:defPPr>
            <a:lvl1pPr algn="ctr" defTabSz="731520">
              <a:defRPr sz="1400" i="0" kern="0">
                <a:gradFill>
                  <a:gsLst>
                    <a:gs pos="0">
                      <a:srgbClr val="FD9687"/>
                    </a:gs>
                    <a:gs pos="100000">
                      <a:srgbClr val="FF6261"/>
                    </a:gs>
                  </a:gsLst>
                  <a:lin ang="5400000" scaled="1"/>
                </a:gradFill>
                <a:latin typeface="OPPOSans M" panose="00020600040101010101" pitchFamily="18" charset="-122"/>
                <a:ea typeface="OPPOSans M" panose="00020600040101010101" pitchFamily="18" charset="-122"/>
                <a:cs typeface="OPPOSans M" panose="00020600040101010101" pitchFamily="18" charset="-122"/>
              </a:defRPr>
            </a:lvl1pPr>
          </a:lstStyle>
          <a:p>
            <a:pPr marL="0" marR="0" lvl="0" indent="0" algn="ctr" defTabSz="731520" rtl="0" eaLnBrk="1" fontAlgn="auto" latinLnBrk="0" hangingPunct="1">
              <a:lnSpc>
                <a:spcPct val="100000"/>
              </a:lnSpc>
              <a:spcBef>
                <a:spcPts val="0"/>
              </a:spcBef>
              <a:spcAft>
                <a:spcPts val="0"/>
              </a:spcAft>
              <a:buClrTx/>
              <a:buSzTx/>
              <a:buFontTx/>
              <a:buNone/>
              <a:defRPr/>
            </a:pPr>
            <a:r>
              <a:rPr lang="en-US" altLang="en-US" sz="1300" dirty="0">
                <a:solidFill>
                  <a:schemeClr val="tx2"/>
                </a:solidFill>
                <a:latin typeface="+mj-lt"/>
                <a:ea typeface="+mj-lt"/>
                <a:cs typeface="微软雅黑" panose="020B0503020204020204" charset="-122"/>
              </a:rPr>
              <a:t>&lt;&lt;&lt;</a:t>
            </a:r>
            <a:endParaRPr kumimoji="0" lang="en-US" altLang="en-US" sz="1300" b="0" i="0" u="none" strike="noStrike" kern="0" cap="none" spc="0" normalizeH="0" baseline="0" noProof="0" dirty="0">
              <a:ln>
                <a:noFill/>
              </a:ln>
              <a:solidFill>
                <a:schemeClr val="tx2"/>
              </a:solidFill>
              <a:effectLst/>
              <a:uLnTx/>
              <a:uFillTx/>
              <a:latin typeface="+mj-lt"/>
              <a:ea typeface="+mj-lt"/>
              <a:cs typeface="微软雅黑" panose="020B0503020204020204" charset="-122"/>
            </a:endParaRPr>
          </a:p>
        </p:txBody>
      </p:sp>
      <p:sp>
        <p:nvSpPr>
          <p:cNvPr id="281" name="文本框 280"/>
          <p:cNvSpPr txBox="1"/>
          <p:nvPr/>
        </p:nvSpPr>
        <p:spPr>
          <a:xfrm rot="10800000" flipH="1">
            <a:off x="5134637" y="6093830"/>
            <a:ext cx="622094" cy="200055"/>
          </a:xfrm>
          <a:prstGeom prst="rect">
            <a:avLst/>
          </a:prstGeom>
          <a:noFill/>
        </p:spPr>
        <p:txBody>
          <a:bodyPr wrap="square" lIns="0" tIns="0" rIns="0" bIns="0" rtlCol="0">
            <a:spAutoFit/>
          </a:bodyPr>
          <a:lstStyle>
            <a:defPPr>
              <a:defRPr lang="zh-CN"/>
            </a:defPPr>
            <a:lvl1pPr algn="ctr" defTabSz="731520">
              <a:defRPr sz="1400" i="0" kern="0">
                <a:gradFill>
                  <a:gsLst>
                    <a:gs pos="0">
                      <a:srgbClr val="FD9687"/>
                    </a:gs>
                    <a:gs pos="100000">
                      <a:srgbClr val="FF6261"/>
                    </a:gs>
                  </a:gsLst>
                  <a:lin ang="5400000" scaled="1"/>
                </a:gradFill>
                <a:latin typeface="OPPOSans M" panose="00020600040101010101" pitchFamily="18" charset="-122"/>
                <a:ea typeface="OPPOSans M" panose="00020600040101010101" pitchFamily="18" charset="-122"/>
                <a:cs typeface="OPPOSans M" panose="00020600040101010101" pitchFamily="18" charset="-122"/>
              </a:defRPr>
            </a:lvl1pP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altLang="en-US" sz="1300" b="0" i="0" u="none" strike="noStrike" kern="0" cap="none" spc="0" normalizeH="0" baseline="0" noProof="0" dirty="0">
                <a:ln>
                  <a:noFill/>
                </a:ln>
                <a:solidFill>
                  <a:schemeClr val="tx2"/>
                </a:solidFill>
                <a:effectLst/>
                <a:uLnTx/>
                <a:uFillTx/>
                <a:latin typeface="+mj-lt"/>
                <a:ea typeface="+mj-lt"/>
                <a:cs typeface="微软雅黑" panose="020B0503020204020204" charset="-122"/>
              </a:rPr>
              <a:t>&lt;&lt;&lt;</a:t>
            </a:r>
            <a:endParaRPr kumimoji="0" lang="en-US" altLang="en-US" sz="1300" b="0" i="0" u="none" strike="noStrike" kern="0" cap="none" spc="0" normalizeH="0" baseline="0" noProof="0" dirty="0">
              <a:ln>
                <a:noFill/>
              </a:ln>
              <a:solidFill>
                <a:schemeClr val="tx2"/>
              </a:solidFill>
              <a:effectLst/>
              <a:uLnTx/>
              <a:uFillTx/>
              <a:latin typeface="+mj-lt"/>
              <a:ea typeface="+mj-lt"/>
              <a:cs typeface="微软雅黑" panose="020B0503020204020204" charset="-122"/>
            </a:endParaRPr>
          </a:p>
        </p:txBody>
      </p:sp>
      <p:sp>
        <p:nvSpPr>
          <p:cNvPr id="283" name="圆角矩形 282"/>
          <p:cNvSpPr/>
          <p:nvPr/>
        </p:nvSpPr>
        <p:spPr>
          <a:xfrm>
            <a:off x="8382000" y="5995035"/>
            <a:ext cx="1500505" cy="345440"/>
          </a:xfrm>
          <a:prstGeom prst="roundRect">
            <a:avLst>
              <a:gd name="adj" fmla="val 50000"/>
            </a:avLst>
          </a:prstGeom>
          <a:solidFill>
            <a:schemeClr val="accent5">
              <a:lumMod val="20000"/>
              <a:lumOff val="80000"/>
              <a:alpha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kumimoji="1" lang="zh-CN" altLang="en-US" noProof="0">
              <a:ln>
                <a:noFill/>
              </a:ln>
              <a:solidFill>
                <a:srgbClr val="000000"/>
              </a:solidFill>
              <a:effectLst/>
              <a:uLnTx/>
              <a:uFillTx/>
              <a:latin typeface="+mj-lt"/>
              <a:ea typeface="+mj-lt"/>
              <a:cs typeface="微软雅黑" panose="020B0503020204020204" charset="-122"/>
              <a:sym typeface="+mn-ea"/>
            </a:endParaRPr>
          </a:p>
        </p:txBody>
      </p:sp>
      <p:sp>
        <p:nvSpPr>
          <p:cNvPr id="284" name="文本框 283"/>
          <p:cNvSpPr txBox="1"/>
          <p:nvPr/>
        </p:nvSpPr>
        <p:spPr>
          <a:xfrm>
            <a:off x="8802370" y="6079490"/>
            <a:ext cx="1032510" cy="184150"/>
          </a:xfrm>
          <a:prstGeom prst="rect">
            <a:avLst/>
          </a:prstGeom>
          <a:noFill/>
        </p:spPr>
        <p:txBody>
          <a:bodyPr wrap="square" lIns="0" tIns="0" rIns="0" bIns="0" rtlCol="0">
            <a:spAutoFit/>
          </a:bodyPr>
          <a:lstStyle/>
          <a:p>
            <a:pPr lvl="0" algn="l">
              <a:buClrTx/>
              <a:buSzTx/>
              <a:buFontTx/>
              <a:defRPr/>
            </a:pPr>
            <a:r>
              <a:rPr lang="zh-CN" altLang="en-US" sz="1200" dirty="0">
                <a:solidFill>
                  <a:schemeClr val="accent5">
                    <a:lumMod val="60000"/>
                    <a:lumOff val="40000"/>
                  </a:schemeClr>
                </a:solidFill>
                <a:latin typeface="+mj-lt"/>
                <a:ea typeface="+mj-lt"/>
                <a:cs typeface="微软雅黑" panose="020B0503020204020204" charset="-122"/>
                <a:sym typeface="+mn-ea"/>
              </a:rPr>
              <a:t>转移潜在风险</a:t>
            </a:r>
            <a:endParaRPr lang="zh-CN" altLang="en-US" sz="1200" dirty="0">
              <a:solidFill>
                <a:schemeClr val="accent5">
                  <a:lumMod val="60000"/>
                  <a:lumOff val="40000"/>
                </a:schemeClr>
              </a:solidFill>
              <a:latin typeface="+mj-lt"/>
              <a:ea typeface="+mj-lt"/>
              <a:cs typeface="微软雅黑" panose="020B0503020204020204" charset="-122"/>
              <a:sym typeface="+mn-ea"/>
            </a:endParaRPr>
          </a:p>
        </p:txBody>
      </p:sp>
      <p:sp>
        <p:nvSpPr>
          <p:cNvPr id="285" name="椭圆 284"/>
          <p:cNvSpPr>
            <a:spLocks noChangeAspect="1"/>
          </p:cNvSpPr>
          <p:nvPr/>
        </p:nvSpPr>
        <p:spPr>
          <a:xfrm>
            <a:off x="8430260" y="6040120"/>
            <a:ext cx="252095" cy="252095"/>
          </a:xfrm>
          <a:prstGeom prst="ellipse">
            <a:avLst/>
          </a:prstGeom>
          <a:solidFill>
            <a:schemeClr val="bg2"/>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mj-lt"/>
              <a:ea typeface="+mj-lt"/>
              <a:cs typeface="微软雅黑" panose="020B0503020204020204" charset="-122"/>
            </a:endParaRPr>
          </a:p>
        </p:txBody>
      </p:sp>
      <p:sp>
        <p:nvSpPr>
          <p:cNvPr id="286" name="矩形 2"/>
          <p:cNvSpPr/>
          <p:nvPr/>
        </p:nvSpPr>
        <p:spPr>
          <a:xfrm rot="2700000">
            <a:off x="8525510" y="6092190"/>
            <a:ext cx="66040" cy="113030"/>
          </a:xfrm>
          <a:custGeom>
            <a:avLst/>
            <a:gdLst>
              <a:gd name="connsiteX0" fmla="*/ 0 w 415436"/>
              <a:gd name="connsiteY0" fmla="*/ 0 h 415436"/>
              <a:gd name="connsiteX1" fmla="*/ 415436 w 415436"/>
              <a:gd name="connsiteY1" fmla="*/ 0 h 415436"/>
              <a:gd name="connsiteX2" fmla="*/ 415436 w 415436"/>
              <a:gd name="connsiteY2" fmla="*/ 415436 h 415436"/>
              <a:gd name="connsiteX3" fmla="*/ 0 w 415436"/>
              <a:gd name="connsiteY3" fmla="*/ 415436 h 415436"/>
              <a:gd name="connsiteX4" fmla="*/ 0 w 415436"/>
              <a:gd name="connsiteY4" fmla="*/ 0 h 415436"/>
              <a:gd name="connsiteX0-1" fmla="*/ 0 w 415436"/>
              <a:gd name="connsiteY0-2" fmla="*/ 415436 h 415436"/>
              <a:gd name="connsiteX1-3" fmla="*/ 415436 w 415436"/>
              <a:gd name="connsiteY1-4" fmla="*/ 0 h 415436"/>
              <a:gd name="connsiteX2-5" fmla="*/ 415436 w 415436"/>
              <a:gd name="connsiteY2-6" fmla="*/ 415436 h 415436"/>
              <a:gd name="connsiteX3-7" fmla="*/ 0 w 415436"/>
              <a:gd name="connsiteY3-8" fmla="*/ 415436 h 415436"/>
              <a:gd name="connsiteX0-9" fmla="*/ 0 w 218174"/>
              <a:gd name="connsiteY0-10" fmla="*/ 415436 h 415436"/>
              <a:gd name="connsiteX1-11" fmla="*/ 218174 w 218174"/>
              <a:gd name="connsiteY1-12" fmla="*/ 0 h 415436"/>
              <a:gd name="connsiteX2-13" fmla="*/ 218174 w 218174"/>
              <a:gd name="connsiteY2-14" fmla="*/ 415436 h 415436"/>
              <a:gd name="connsiteX3-15" fmla="*/ 0 w 218174"/>
              <a:gd name="connsiteY3-16" fmla="*/ 415436 h 415436"/>
              <a:gd name="connsiteX0-17" fmla="*/ 0 w 218174"/>
              <a:gd name="connsiteY0-18" fmla="*/ 415436 h 415436"/>
              <a:gd name="connsiteX1-19" fmla="*/ 118424 w 218174"/>
              <a:gd name="connsiteY1-20" fmla="*/ 208567 h 415436"/>
              <a:gd name="connsiteX2-21" fmla="*/ 218174 w 218174"/>
              <a:gd name="connsiteY2-22" fmla="*/ 0 h 415436"/>
              <a:gd name="connsiteX3-23" fmla="*/ 218174 w 218174"/>
              <a:gd name="connsiteY3-24" fmla="*/ 415436 h 415436"/>
              <a:gd name="connsiteX4-25" fmla="*/ 0 w 218174"/>
              <a:gd name="connsiteY4-26" fmla="*/ 415436 h 415436"/>
              <a:gd name="connsiteX0-27" fmla="*/ 27697 w 245871"/>
              <a:gd name="connsiteY0-28" fmla="*/ 415436 h 415436"/>
              <a:gd name="connsiteX1-29" fmla="*/ 0 w 245871"/>
              <a:gd name="connsiteY1-30" fmla="*/ 120895 h 415436"/>
              <a:gd name="connsiteX2-31" fmla="*/ 245871 w 245871"/>
              <a:gd name="connsiteY2-32" fmla="*/ 0 h 415436"/>
              <a:gd name="connsiteX3-33" fmla="*/ 245871 w 245871"/>
              <a:gd name="connsiteY3-34" fmla="*/ 415436 h 415436"/>
              <a:gd name="connsiteX4-35" fmla="*/ 27697 w 245871"/>
              <a:gd name="connsiteY4-36" fmla="*/ 415436 h 415436"/>
              <a:gd name="connsiteX0-37" fmla="*/ 0 w 245871"/>
              <a:gd name="connsiteY0-38" fmla="*/ 120895 h 415436"/>
              <a:gd name="connsiteX1-39" fmla="*/ 245871 w 245871"/>
              <a:gd name="connsiteY1-40" fmla="*/ 0 h 415436"/>
              <a:gd name="connsiteX2-41" fmla="*/ 245871 w 245871"/>
              <a:gd name="connsiteY2-42" fmla="*/ 415436 h 415436"/>
              <a:gd name="connsiteX3-43" fmla="*/ 27697 w 245871"/>
              <a:gd name="connsiteY3-44" fmla="*/ 415436 h 415436"/>
              <a:gd name="connsiteX4-45" fmla="*/ 91440 w 245871"/>
              <a:gd name="connsiteY4-46" fmla="*/ 212335 h 415436"/>
              <a:gd name="connsiteX0-47" fmla="*/ 0 w 245871"/>
              <a:gd name="connsiteY0-48" fmla="*/ 120895 h 415436"/>
              <a:gd name="connsiteX1-49" fmla="*/ 245871 w 245871"/>
              <a:gd name="connsiteY1-50" fmla="*/ 0 h 415436"/>
              <a:gd name="connsiteX2-51" fmla="*/ 245871 w 245871"/>
              <a:gd name="connsiteY2-52" fmla="*/ 415436 h 415436"/>
              <a:gd name="connsiteX3-53" fmla="*/ 27697 w 245871"/>
              <a:gd name="connsiteY3-54" fmla="*/ 415436 h 415436"/>
              <a:gd name="connsiteX0-55" fmla="*/ 218174 w 218174"/>
              <a:gd name="connsiteY0-56" fmla="*/ 0 h 415436"/>
              <a:gd name="connsiteX1-57" fmla="*/ 218174 w 218174"/>
              <a:gd name="connsiteY1-58" fmla="*/ 415436 h 415436"/>
              <a:gd name="connsiteX2-59" fmla="*/ 0 w 218174"/>
              <a:gd name="connsiteY2-60" fmla="*/ 415436 h 415436"/>
            </a:gdLst>
            <a:ahLst/>
            <a:cxnLst>
              <a:cxn ang="0">
                <a:pos x="connsiteX0-1" y="connsiteY0-2"/>
              </a:cxn>
              <a:cxn ang="0">
                <a:pos x="connsiteX1-3" y="connsiteY1-4"/>
              </a:cxn>
              <a:cxn ang="0">
                <a:pos x="connsiteX2-5" y="connsiteY2-6"/>
              </a:cxn>
            </a:cxnLst>
            <a:rect l="l" t="t" r="r" b="b"/>
            <a:pathLst>
              <a:path w="218174" h="415436">
                <a:moveTo>
                  <a:pt x="218174" y="0"/>
                </a:moveTo>
                <a:lnTo>
                  <a:pt x="218174" y="415436"/>
                </a:lnTo>
                <a:lnTo>
                  <a:pt x="0" y="415436"/>
                </a:lnTo>
              </a:path>
            </a:pathLst>
          </a:custGeom>
          <a:noFill/>
          <a:ln w="38100" cap="rnd">
            <a:gradFill>
              <a:gsLst>
                <a:gs pos="0">
                  <a:schemeClr val="accent5">
                    <a:lumMod val="60000"/>
                    <a:lumOff val="40000"/>
                  </a:schemeClr>
                </a:gs>
                <a:gs pos="100000">
                  <a:schemeClr val="accent5">
                    <a:lumMod val="60000"/>
                    <a:lumOff val="40000"/>
                  </a:schemeClr>
                </a:gs>
              </a:gsLst>
              <a:lin ang="5400000" scaled="1"/>
            </a:gradFill>
            <a:roun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kumimoji="1" lang="zh-CN" altLang="en-US" noProof="0">
              <a:ln>
                <a:noFill/>
              </a:ln>
              <a:solidFill>
                <a:srgbClr val="000000"/>
              </a:solidFill>
              <a:effectLst/>
              <a:uLnTx/>
              <a:uFillTx/>
              <a:latin typeface="+mj-lt"/>
              <a:ea typeface="+mj-lt"/>
              <a:cs typeface="微软雅黑" panose="020B0503020204020204" charset="-122"/>
              <a:sym typeface="+mn-ea"/>
            </a:endParaRPr>
          </a:p>
        </p:txBody>
      </p:sp>
      <p:sp>
        <p:nvSpPr>
          <p:cNvPr id="288" name="圆角矩形 287"/>
          <p:cNvSpPr/>
          <p:nvPr/>
        </p:nvSpPr>
        <p:spPr>
          <a:xfrm>
            <a:off x="10079355" y="5995035"/>
            <a:ext cx="1500505" cy="345440"/>
          </a:xfrm>
          <a:prstGeom prst="roundRect">
            <a:avLst>
              <a:gd name="adj" fmla="val 50000"/>
            </a:avLst>
          </a:prstGeom>
          <a:solidFill>
            <a:schemeClr val="accent5">
              <a:lumMod val="20000"/>
              <a:lumOff val="80000"/>
              <a:alpha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kumimoji="1" lang="zh-CN" altLang="en-US" noProof="0">
              <a:ln>
                <a:noFill/>
              </a:ln>
              <a:solidFill>
                <a:srgbClr val="000000"/>
              </a:solidFill>
              <a:effectLst/>
              <a:uLnTx/>
              <a:uFillTx/>
              <a:latin typeface="+mj-lt"/>
              <a:ea typeface="+mj-lt"/>
              <a:cs typeface="微软雅黑" panose="020B0503020204020204" charset="-122"/>
              <a:sym typeface="+mn-ea"/>
            </a:endParaRPr>
          </a:p>
        </p:txBody>
      </p:sp>
      <p:sp>
        <p:nvSpPr>
          <p:cNvPr id="289" name="文本框 288"/>
          <p:cNvSpPr txBox="1"/>
          <p:nvPr/>
        </p:nvSpPr>
        <p:spPr>
          <a:xfrm>
            <a:off x="10499725" y="6079490"/>
            <a:ext cx="1032510" cy="184785"/>
          </a:xfrm>
          <a:prstGeom prst="rect">
            <a:avLst/>
          </a:prstGeom>
          <a:noFill/>
        </p:spPr>
        <p:txBody>
          <a:bodyPr wrap="square" lIns="0" tIns="0" rIns="0" bIns="0" rtlCol="0">
            <a:spAutoFit/>
          </a:bodyPr>
          <a:lstStyle/>
          <a:p>
            <a:pPr lvl="0">
              <a:defRPr/>
            </a:pPr>
            <a:r>
              <a:rPr lang="zh-CN" altLang="en-US" sz="1200" dirty="0">
                <a:solidFill>
                  <a:schemeClr val="accent5">
                    <a:lumMod val="60000"/>
                    <a:lumOff val="40000"/>
                  </a:schemeClr>
                </a:solidFill>
                <a:latin typeface="+mj-lt"/>
                <a:ea typeface="+mj-lt"/>
                <a:cs typeface="微软雅黑" panose="020B0503020204020204" charset="-122"/>
              </a:rPr>
              <a:t>缓解现有风险</a:t>
            </a:r>
            <a:endParaRPr kumimoji="0" lang="zh-CN" altLang="en-US" sz="1200" b="0" i="0" u="none" strike="noStrike" kern="1200" cap="none" spc="0" normalizeH="0" baseline="0" noProof="0" dirty="0">
              <a:ln>
                <a:noFill/>
              </a:ln>
              <a:solidFill>
                <a:schemeClr val="accent5">
                  <a:lumMod val="60000"/>
                  <a:lumOff val="40000"/>
                </a:schemeClr>
              </a:solidFill>
              <a:effectLst/>
              <a:uLnTx/>
              <a:uFillTx/>
              <a:latin typeface="+mj-lt"/>
              <a:ea typeface="+mj-lt"/>
              <a:cs typeface="微软雅黑" panose="020B0503020204020204" charset="-122"/>
            </a:endParaRPr>
          </a:p>
        </p:txBody>
      </p:sp>
      <p:sp>
        <p:nvSpPr>
          <p:cNvPr id="290" name="椭圆 289"/>
          <p:cNvSpPr>
            <a:spLocks noChangeAspect="1"/>
          </p:cNvSpPr>
          <p:nvPr/>
        </p:nvSpPr>
        <p:spPr>
          <a:xfrm>
            <a:off x="10126980" y="6040120"/>
            <a:ext cx="252095" cy="252095"/>
          </a:xfrm>
          <a:prstGeom prst="ellipse">
            <a:avLst/>
          </a:prstGeom>
          <a:solidFill>
            <a:schemeClr val="bg2"/>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kumimoji="1" lang="zh-CN" altLang="en-US" noProof="0">
              <a:ln>
                <a:noFill/>
              </a:ln>
              <a:solidFill>
                <a:srgbClr val="000000"/>
              </a:solidFill>
              <a:effectLst/>
              <a:uLnTx/>
              <a:uFillTx/>
              <a:latin typeface="+mj-lt"/>
              <a:ea typeface="+mj-lt"/>
              <a:cs typeface="微软雅黑" panose="020B0503020204020204" charset="-122"/>
              <a:sym typeface="+mn-ea"/>
            </a:endParaRPr>
          </a:p>
        </p:txBody>
      </p:sp>
      <p:sp>
        <p:nvSpPr>
          <p:cNvPr id="291" name="矩形 2"/>
          <p:cNvSpPr/>
          <p:nvPr/>
        </p:nvSpPr>
        <p:spPr>
          <a:xfrm rot="2700000">
            <a:off x="10222865" y="6092190"/>
            <a:ext cx="66040" cy="113030"/>
          </a:xfrm>
          <a:custGeom>
            <a:avLst/>
            <a:gdLst>
              <a:gd name="connsiteX0" fmla="*/ 0 w 415436"/>
              <a:gd name="connsiteY0" fmla="*/ 0 h 415436"/>
              <a:gd name="connsiteX1" fmla="*/ 415436 w 415436"/>
              <a:gd name="connsiteY1" fmla="*/ 0 h 415436"/>
              <a:gd name="connsiteX2" fmla="*/ 415436 w 415436"/>
              <a:gd name="connsiteY2" fmla="*/ 415436 h 415436"/>
              <a:gd name="connsiteX3" fmla="*/ 0 w 415436"/>
              <a:gd name="connsiteY3" fmla="*/ 415436 h 415436"/>
              <a:gd name="connsiteX4" fmla="*/ 0 w 415436"/>
              <a:gd name="connsiteY4" fmla="*/ 0 h 415436"/>
              <a:gd name="connsiteX0-1" fmla="*/ 0 w 415436"/>
              <a:gd name="connsiteY0-2" fmla="*/ 415436 h 415436"/>
              <a:gd name="connsiteX1-3" fmla="*/ 415436 w 415436"/>
              <a:gd name="connsiteY1-4" fmla="*/ 0 h 415436"/>
              <a:gd name="connsiteX2-5" fmla="*/ 415436 w 415436"/>
              <a:gd name="connsiteY2-6" fmla="*/ 415436 h 415436"/>
              <a:gd name="connsiteX3-7" fmla="*/ 0 w 415436"/>
              <a:gd name="connsiteY3-8" fmla="*/ 415436 h 415436"/>
              <a:gd name="connsiteX0-9" fmla="*/ 0 w 218174"/>
              <a:gd name="connsiteY0-10" fmla="*/ 415436 h 415436"/>
              <a:gd name="connsiteX1-11" fmla="*/ 218174 w 218174"/>
              <a:gd name="connsiteY1-12" fmla="*/ 0 h 415436"/>
              <a:gd name="connsiteX2-13" fmla="*/ 218174 w 218174"/>
              <a:gd name="connsiteY2-14" fmla="*/ 415436 h 415436"/>
              <a:gd name="connsiteX3-15" fmla="*/ 0 w 218174"/>
              <a:gd name="connsiteY3-16" fmla="*/ 415436 h 415436"/>
              <a:gd name="connsiteX0-17" fmla="*/ 0 w 218174"/>
              <a:gd name="connsiteY0-18" fmla="*/ 415436 h 415436"/>
              <a:gd name="connsiteX1-19" fmla="*/ 118424 w 218174"/>
              <a:gd name="connsiteY1-20" fmla="*/ 208567 h 415436"/>
              <a:gd name="connsiteX2-21" fmla="*/ 218174 w 218174"/>
              <a:gd name="connsiteY2-22" fmla="*/ 0 h 415436"/>
              <a:gd name="connsiteX3-23" fmla="*/ 218174 w 218174"/>
              <a:gd name="connsiteY3-24" fmla="*/ 415436 h 415436"/>
              <a:gd name="connsiteX4-25" fmla="*/ 0 w 218174"/>
              <a:gd name="connsiteY4-26" fmla="*/ 415436 h 415436"/>
              <a:gd name="connsiteX0-27" fmla="*/ 27697 w 245871"/>
              <a:gd name="connsiteY0-28" fmla="*/ 415436 h 415436"/>
              <a:gd name="connsiteX1-29" fmla="*/ 0 w 245871"/>
              <a:gd name="connsiteY1-30" fmla="*/ 120895 h 415436"/>
              <a:gd name="connsiteX2-31" fmla="*/ 245871 w 245871"/>
              <a:gd name="connsiteY2-32" fmla="*/ 0 h 415436"/>
              <a:gd name="connsiteX3-33" fmla="*/ 245871 w 245871"/>
              <a:gd name="connsiteY3-34" fmla="*/ 415436 h 415436"/>
              <a:gd name="connsiteX4-35" fmla="*/ 27697 w 245871"/>
              <a:gd name="connsiteY4-36" fmla="*/ 415436 h 415436"/>
              <a:gd name="connsiteX0-37" fmla="*/ 0 w 245871"/>
              <a:gd name="connsiteY0-38" fmla="*/ 120895 h 415436"/>
              <a:gd name="connsiteX1-39" fmla="*/ 245871 w 245871"/>
              <a:gd name="connsiteY1-40" fmla="*/ 0 h 415436"/>
              <a:gd name="connsiteX2-41" fmla="*/ 245871 w 245871"/>
              <a:gd name="connsiteY2-42" fmla="*/ 415436 h 415436"/>
              <a:gd name="connsiteX3-43" fmla="*/ 27697 w 245871"/>
              <a:gd name="connsiteY3-44" fmla="*/ 415436 h 415436"/>
              <a:gd name="connsiteX4-45" fmla="*/ 91440 w 245871"/>
              <a:gd name="connsiteY4-46" fmla="*/ 212335 h 415436"/>
              <a:gd name="connsiteX0-47" fmla="*/ 0 w 245871"/>
              <a:gd name="connsiteY0-48" fmla="*/ 120895 h 415436"/>
              <a:gd name="connsiteX1-49" fmla="*/ 245871 w 245871"/>
              <a:gd name="connsiteY1-50" fmla="*/ 0 h 415436"/>
              <a:gd name="connsiteX2-51" fmla="*/ 245871 w 245871"/>
              <a:gd name="connsiteY2-52" fmla="*/ 415436 h 415436"/>
              <a:gd name="connsiteX3-53" fmla="*/ 27697 w 245871"/>
              <a:gd name="connsiteY3-54" fmla="*/ 415436 h 415436"/>
              <a:gd name="connsiteX0-55" fmla="*/ 218174 w 218174"/>
              <a:gd name="connsiteY0-56" fmla="*/ 0 h 415436"/>
              <a:gd name="connsiteX1-57" fmla="*/ 218174 w 218174"/>
              <a:gd name="connsiteY1-58" fmla="*/ 415436 h 415436"/>
              <a:gd name="connsiteX2-59" fmla="*/ 0 w 218174"/>
              <a:gd name="connsiteY2-60" fmla="*/ 415436 h 415436"/>
            </a:gdLst>
            <a:ahLst/>
            <a:cxnLst>
              <a:cxn ang="0">
                <a:pos x="connsiteX0-1" y="connsiteY0-2"/>
              </a:cxn>
              <a:cxn ang="0">
                <a:pos x="connsiteX1-3" y="connsiteY1-4"/>
              </a:cxn>
              <a:cxn ang="0">
                <a:pos x="connsiteX2-5" y="connsiteY2-6"/>
              </a:cxn>
            </a:cxnLst>
            <a:rect l="l" t="t" r="r" b="b"/>
            <a:pathLst>
              <a:path w="218174" h="415436">
                <a:moveTo>
                  <a:pt x="218174" y="0"/>
                </a:moveTo>
                <a:lnTo>
                  <a:pt x="218174" y="415436"/>
                </a:lnTo>
                <a:lnTo>
                  <a:pt x="0" y="415436"/>
                </a:lnTo>
              </a:path>
            </a:pathLst>
          </a:custGeom>
          <a:noFill/>
          <a:ln w="38100" cap="rnd">
            <a:gradFill>
              <a:gsLst>
                <a:gs pos="0">
                  <a:schemeClr val="accent5">
                    <a:lumMod val="60000"/>
                    <a:lumOff val="40000"/>
                  </a:schemeClr>
                </a:gs>
                <a:gs pos="100000">
                  <a:schemeClr val="accent5">
                    <a:lumMod val="60000"/>
                    <a:lumOff val="40000"/>
                  </a:schemeClr>
                </a:gs>
              </a:gsLst>
              <a:lin ang="5400000" scaled="1"/>
            </a:gradFill>
            <a:round/>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kumimoji="1" lang="zh-CN" altLang="en-US" noProof="0">
              <a:ln>
                <a:noFill/>
              </a:ln>
              <a:solidFill>
                <a:srgbClr val="000000"/>
              </a:solidFill>
              <a:effectLst/>
              <a:uLnTx/>
              <a:uFillTx/>
              <a:latin typeface="+mj-lt"/>
              <a:ea typeface="+mj-lt"/>
              <a:cs typeface="微软雅黑" panose="020B0503020204020204" charset="-122"/>
              <a:sym typeface="+mn-ea"/>
            </a:endParaRPr>
          </a:p>
        </p:txBody>
      </p:sp>
      <p:grpSp>
        <p:nvGrpSpPr>
          <p:cNvPr id="296" name="组合 295"/>
          <p:cNvGrpSpPr/>
          <p:nvPr/>
        </p:nvGrpSpPr>
        <p:grpSpPr>
          <a:xfrm>
            <a:off x="1483656" y="5995089"/>
            <a:ext cx="1500215" cy="345600"/>
            <a:chOff x="8931419" y="1750765"/>
            <a:chExt cx="1304937" cy="300614"/>
          </a:xfrm>
          <a:solidFill>
            <a:schemeClr val="accent5">
              <a:lumMod val="20000"/>
              <a:lumOff val="80000"/>
            </a:schemeClr>
          </a:solidFill>
        </p:grpSpPr>
        <p:sp>
          <p:nvSpPr>
            <p:cNvPr id="297" name="圆角矩形 296"/>
            <p:cNvSpPr/>
            <p:nvPr/>
          </p:nvSpPr>
          <p:spPr>
            <a:xfrm>
              <a:off x="8931419" y="1750765"/>
              <a:ext cx="1304937" cy="300614"/>
            </a:xfrm>
            <a:prstGeom prst="roundRect">
              <a:avLst>
                <a:gd name="adj" fmla="val 50000"/>
              </a:avLst>
            </a:prstGeom>
            <a:gradFill>
              <a:gsLst>
                <a:gs pos="100000">
                  <a:schemeClr val="accent5">
                    <a:lumMod val="60000"/>
                    <a:lumOff val="40000"/>
                  </a:schemeClr>
                </a:gs>
                <a:gs pos="0">
                  <a:schemeClr val="accent5"/>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mj-lt"/>
                <a:ea typeface="+mj-lt"/>
                <a:cs typeface="微软雅黑" panose="020B0503020204020204" charset="-122"/>
              </a:endParaRPr>
            </a:p>
          </p:txBody>
        </p:sp>
        <p:sp>
          <p:nvSpPr>
            <p:cNvPr id="298" name="文本框 297"/>
            <p:cNvSpPr txBox="1"/>
            <p:nvPr/>
          </p:nvSpPr>
          <p:spPr>
            <a:xfrm>
              <a:off x="9297054" y="1824191"/>
              <a:ext cx="898346" cy="160629"/>
            </a:xfrm>
            <a:prstGeom prst="rect">
              <a:avLst/>
            </a:prstGeom>
            <a:noFill/>
            <a:ln>
              <a:noFill/>
            </a:ln>
            <a:extLst>
              <a:ext uri="{909E8E84-426E-40DD-AFC4-6F175D3DCCD1}">
                <a14:hiddenFill xmlns:a14="http://schemas.microsoft.com/office/drawing/2010/main">
                  <a:grpFill/>
                </a14:hiddenFill>
              </a:ext>
            </a:extLst>
          </p:spPr>
          <p:txBody>
            <a:bodyPr wrap="square" lIns="0" tIns="0" rIns="0" bIns="0" rtlCol="0">
              <a:spAutoFit/>
            </a:bodyPr>
            <a:lstStyle/>
            <a:p>
              <a:pPr lvl="0">
                <a:defRPr/>
              </a:pPr>
              <a:r>
                <a:rPr lang="zh-CN" altLang="en-US" sz="1200" dirty="0">
                  <a:solidFill>
                    <a:schemeClr val="bg1"/>
                  </a:solidFill>
                  <a:latin typeface="+mj-lt"/>
                  <a:ea typeface="+mj-lt"/>
                  <a:cs typeface="微软雅黑" panose="020B0503020204020204" charset="-122"/>
                </a:rPr>
                <a:t>识别潜在风险</a:t>
              </a:r>
              <a:endParaRPr kumimoji="0" lang="zh-CN" altLang="en-US" sz="1200" b="0" i="0" u="none" strike="noStrike" kern="1200" cap="none" spc="0" normalizeH="0" baseline="0" noProof="0" dirty="0">
                <a:ln>
                  <a:noFill/>
                </a:ln>
                <a:solidFill>
                  <a:schemeClr val="bg1"/>
                </a:solidFill>
                <a:effectLst/>
                <a:uLnTx/>
                <a:uFillTx/>
                <a:latin typeface="+mj-lt"/>
                <a:ea typeface="+mj-lt"/>
                <a:cs typeface="微软雅黑" panose="020B0503020204020204" charset="-122"/>
              </a:endParaRPr>
            </a:p>
          </p:txBody>
        </p:sp>
        <p:sp>
          <p:nvSpPr>
            <p:cNvPr id="299" name="椭圆 298"/>
            <p:cNvSpPr>
              <a:spLocks noChangeAspect="1"/>
            </p:cNvSpPr>
            <p:nvPr/>
          </p:nvSpPr>
          <p:spPr>
            <a:xfrm>
              <a:off x="8972912" y="1790014"/>
              <a:ext cx="219198" cy="219197"/>
            </a:xfrm>
            <a:prstGeom prst="ellipse">
              <a:avLst/>
            </a:prstGeom>
            <a:solidFill>
              <a:schemeClr val="bg1"/>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mj-lt"/>
                <a:ea typeface="+mj-lt"/>
                <a:cs typeface="微软雅黑" panose="020B0503020204020204" charset="-122"/>
              </a:endParaRPr>
            </a:p>
          </p:txBody>
        </p:sp>
        <p:sp>
          <p:nvSpPr>
            <p:cNvPr id="300" name="矩形 2"/>
            <p:cNvSpPr/>
            <p:nvPr/>
          </p:nvSpPr>
          <p:spPr>
            <a:xfrm rot="2700000">
              <a:off x="9056210" y="1835105"/>
              <a:ext cx="57271" cy="98140"/>
            </a:xfrm>
            <a:custGeom>
              <a:avLst/>
              <a:gdLst>
                <a:gd name="connsiteX0" fmla="*/ 0 w 415436"/>
                <a:gd name="connsiteY0" fmla="*/ 0 h 415436"/>
                <a:gd name="connsiteX1" fmla="*/ 415436 w 415436"/>
                <a:gd name="connsiteY1" fmla="*/ 0 h 415436"/>
                <a:gd name="connsiteX2" fmla="*/ 415436 w 415436"/>
                <a:gd name="connsiteY2" fmla="*/ 415436 h 415436"/>
                <a:gd name="connsiteX3" fmla="*/ 0 w 415436"/>
                <a:gd name="connsiteY3" fmla="*/ 415436 h 415436"/>
                <a:gd name="connsiteX4" fmla="*/ 0 w 415436"/>
                <a:gd name="connsiteY4" fmla="*/ 0 h 415436"/>
                <a:gd name="connsiteX0-1" fmla="*/ 0 w 415436"/>
                <a:gd name="connsiteY0-2" fmla="*/ 415436 h 415436"/>
                <a:gd name="connsiteX1-3" fmla="*/ 415436 w 415436"/>
                <a:gd name="connsiteY1-4" fmla="*/ 0 h 415436"/>
                <a:gd name="connsiteX2-5" fmla="*/ 415436 w 415436"/>
                <a:gd name="connsiteY2-6" fmla="*/ 415436 h 415436"/>
                <a:gd name="connsiteX3-7" fmla="*/ 0 w 415436"/>
                <a:gd name="connsiteY3-8" fmla="*/ 415436 h 415436"/>
                <a:gd name="connsiteX0-9" fmla="*/ 0 w 218174"/>
                <a:gd name="connsiteY0-10" fmla="*/ 415436 h 415436"/>
                <a:gd name="connsiteX1-11" fmla="*/ 218174 w 218174"/>
                <a:gd name="connsiteY1-12" fmla="*/ 0 h 415436"/>
                <a:gd name="connsiteX2-13" fmla="*/ 218174 w 218174"/>
                <a:gd name="connsiteY2-14" fmla="*/ 415436 h 415436"/>
                <a:gd name="connsiteX3-15" fmla="*/ 0 w 218174"/>
                <a:gd name="connsiteY3-16" fmla="*/ 415436 h 415436"/>
                <a:gd name="connsiteX0-17" fmla="*/ 0 w 218174"/>
                <a:gd name="connsiteY0-18" fmla="*/ 415436 h 415436"/>
                <a:gd name="connsiteX1-19" fmla="*/ 118424 w 218174"/>
                <a:gd name="connsiteY1-20" fmla="*/ 208567 h 415436"/>
                <a:gd name="connsiteX2-21" fmla="*/ 218174 w 218174"/>
                <a:gd name="connsiteY2-22" fmla="*/ 0 h 415436"/>
                <a:gd name="connsiteX3-23" fmla="*/ 218174 w 218174"/>
                <a:gd name="connsiteY3-24" fmla="*/ 415436 h 415436"/>
                <a:gd name="connsiteX4-25" fmla="*/ 0 w 218174"/>
                <a:gd name="connsiteY4-26" fmla="*/ 415436 h 415436"/>
                <a:gd name="connsiteX0-27" fmla="*/ 27697 w 245871"/>
                <a:gd name="connsiteY0-28" fmla="*/ 415436 h 415436"/>
                <a:gd name="connsiteX1-29" fmla="*/ 0 w 245871"/>
                <a:gd name="connsiteY1-30" fmla="*/ 120895 h 415436"/>
                <a:gd name="connsiteX2-31" fmla="*/ 245871 w 245871"/>
                <a:gd name="connsiteY2-32" fmla="*/ 0 h 415436"/>
                <a:gd name="connsiteX3-33" fmla="*/ 245871 w 245871"/>
                <a:gd name="connsiteY3-34" fmla="*/ 415436 h 415436"/>
                <a:gd name="connsiteX4-35" fmla="*/ 27697 w 245871"/>
                <a:gd name="connsiteY4-36" fmla="*/ 415436 h 415436"/>
                <a:gd name="connsiteX0-37" fmla="*/ 0 w 245871"/>
                <a:gd name="connsiteY0-38" fmla="*/ 120895 h 415436"/>
                <a:gd name="connsiteX1-39" fmla="*/ 245871 w 245871"/>
                <a:gd name="connsiteY1-40" fmla="*/ 0 h 415436"/>
                <a:gd name="connsiteX2-41" fmla="*/ 245871 w 245871"/>
                <a:gd name="connsiteY2-42" fmla="*/ 415436 h 415436"/>
                <a:gd name="connsiteX3-43" fmla="*/ 27697 w 245871"/>
                <a:gd name="connsiteY3-44" fmla="*/ 415436 h 415436"/>
                <a:gd name="connsiteX4-45" fmla="*/ 91440 w 245871"/>
                <a:gd name="connsiteY4-46" fmla="*/ 212335 h 415436"/>
                <a:gd name="connsiteX0-47" fmla="*/ 0 w 245871"/>
                <a:gd name="connsiteY0-48" fmla="*/ 120895 h 415436"/>
                <a:gd name="connsiteX1-49" fmla="*/ 245871 w 245871"/>
                <a:gd name="connsiteY1-50" fmla="*/ 0 h 415436"/>
                <a:gd name="connsiteX2-51" fmla="*/ 245871 w 245871"/>
                <a:gd name="connsiteY2-52" fmla="*/ 415436 h 415436"/>
                <a:gd name="connsiteX3-53" fmla="*/ 27697 w 245871"/>
                <a:gd name="connsiteY3-54" fmla="*/ 415436 h 415436"/>
                <a:gd name="connsiteX0-55" fmla="*/ 218174 w 218174"/>
                <a:gd name="connsiteY0-56" fmla="*/ 0 h 415436"/>
                <a:gd name="connsiteX1-57" fmla="*/ 218174 w 218174"/>
                <a:gd name="connsiteY1-58" fmla="*/ 415436 h 415436"/>
                <a:gd name="connsiteX2-59" fmla="*/ 0 w 218174"/>
                <a:gd name="connsiteY2-60" fmla="*/ 415436 h 415436"/>
              </a:gdLst>
              <a:ahLst/>
              <a:cxnLst>
                <a:cxn ang="0">
                  <a:pos x="connsiteX0-1" y="connsiteY0-2"/>
                </a:cxn>
                <a:cxn ang="0">
                  <a:pos x="connsiteX1-3" y="connsiteY1-4"/>
                </a:cxn>
                <a:cxn ang="0">
                  <a:pos x="connsiteX2-5" y="connsiteY2-6"/>
                </a:cxn>
              </a:cxnLst>
              <a:rect l="l" t="t" r="r" b="b"/>
              <a:pathLst>
                <a:path w="218174" h="415436">
                  <a:moveTo>
                    <a:pt x="218174" y="0"/>
                  </a:moveTo>
                  <a:lnTo>
                    <a:pt x="218174" y="415436"/>
                  </a:lnTo>
                  <a:lnTo>
                    <a:pt x="0" y="415436"/>
                  </a:lnTo>
                </a:path>
              </a:pathLst>
            </a:custGeom>
            <a:solidFill>
              <a:schemeClr val="bg1"/>
            </a:solidFill>
            <a:ln w="38100" cap="rnd">
              <a:solidFill>
                <a:schemeClr val="accent5"/>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mj-lt"/>
                <a:ea typeface="+mj-lt"/>
                <a:cs typeface="微软雅黑" panose="020B0503020204020204" charset="-122"/>
              </a:endParaRPr>
            </a:p>
          </p:txBody>
        </p:sp>
      </p:grpSp>
      <p:sp>
        <p:nvSpPr>
          <p:cNvPr id="303" name="圆角矩形 302"/>
          <p:cNvSpPr/>
          <p:nvPr/>
        </p:nvSpPr>
        <p:spPr>
          <a:xfrm>
            <a:off x="6705600" y="5995035"/>
            <a:ext cx="1500505" cy="345440"/>
          </a:xfrm>
          <a:prstGeom prst="roundRect">
            <a:avLst>
              <a:gd name="adj" fmla="val 50000"/>
            </a:avLst>
          </a:prstGeom>
          <a:solidFill>
            <a:schemeClr val="accent5">
              <a:lumMod val="20000"/>
              <a:lumOff val="80000"/>
              <a:alpha val="40000"/>
            </a:schemeClr>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kumimoji="1" lang="zh-CN" altLang="en-US" noProof="0">
              <a:ln>
                <a:noFill/>
              </a:ln>
              <a:solidFill>
                <a:srgbClr val="000000"/>
              </a:solidFill>
              <a:effectLst/>
              <a:uLnTx/>
              <a:uFillTx/>
              <a:latin typeface="+mj-lt"/>
              <a:ea typeface="+mj-lt"/>
              <a:cs typeface="微软雅黑" panose="020B0503020204020204" charset="-122"/>
              <a:sym typeface="+mn-ea"/>
            </a:endParaRPr>
          </a:p>
        </p:txBody>
      </p:sp>
      <p:sp>
        <p:nvSpPr>
          <p:cNvPr id="304" name="文本框 303"/>
          <p:cNvSpPr txBox="1"/>
          <p:nvPr/>
        </p:nvSpPr>
        <p:spPr>
          <a:xfrm>
            <a:off x="7125970" y="6079490"/>
            <a:ext cx="1032510" cy="184785"/>
          </a:xfrm>
          <a:prstGeom prst="rect">
            <a:avLst/>
          </a:prstGeom>
          <a:noFill/>
        </p:spPr>
        <p:txBody>
          <a:bodyPr wrap="square" lIns="0" tIns="0" rIns="0" bIns="0" rtlCol="0">
            <a:spAutoFit/>
          </a:bodyPr>
          <a:lstStyle/>
          <a:p>
            <a:pPr lvl="0">
              <a:defRPr/>
            </a:pPr>
            <a:r>
              <a:rPr lang="zh-CN" altLang="en-US" sz="1200" dirty="0">
                <a:solidFill>
                  <a:schemeClr val="accent5">
                    <a:lumMod val="60000"/>
                    <a:lumOff val="40000"/>
                  </a:schemeClr>
                </a:solidFill>
                <a:latin typeface="+mj-lt"/>
                <a:ea typeface="+mj-lt"/>
                <a:cs typeface="微软雅黑" panose="020B0503020204020204" charset="-122"/>
              </a:rPr>
              <a:t>规避已知风险</a:t>
            </a:r>
            <a:endParaRPr kumimoji="0" lang="zh-CN" altLang="en-US" sz="1200" b="0" i="0" u="none" strike="noStrike" kern="1200" cap="none" spc="0" normalizeH="0" baseline="0" noProof="0" dirty="0">
              <a:ln>
                <a:noFill/>
              </a:ln>
              <a:solidFill>
                <a:schemeClr val="accent5">
                  <a:lumMod val="60000"/>
                  <a:lumOff val="40000"/>
                </a:schemeClr>
              </a:solidFill>
              <a:effectLst/>
              <a:uLnTx/>
              <a:uFillTx/>
              <a:latin typeface="+mj-lt"/>
              <a:ea typeface="+mj-lt"/>
              <a:cs typeface="微软雅黑" panose="020B0503020204020204" charset="-122"/>
            </a:endParaRPr>
          </a:p>
        </p:txBody>
      </p:sp>
      <p:sp>
        <p:nvSpPr>
          <p:cNvPr id="305" name="椭圆 304"/>
          <p:cNvSpPr>
            <a:spLocks noChangeAspect="1"/>
          </p:cNvSpPr>
          <p:nvPr/>
        </p:nvSpPr>
        <p:spPr>
          <a:xfrm>
            <a:off x="6753860" y="6040120"/>
            <a:ext cx="252095" cy="252095"/>
          </a:xfrm>
          <a:prstGeom prst="ellipse">
            <a:avLst/>
          </a:prstGeom>
          <a:solidFill>
            <a:schemeClr val="bg2"/>
          </a:solid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mj-lt"/>
              <a:ea typeface="+mj-lt"/>
              <a:cs typeface="微软雅黑" panose="020B0503020204020204" charset="-122"/>
            </a:endParaRPr>
          </a:p>
        </p:txBody>
      </p:sp>
      <p:sp>
        <p:nvSpPr>
          <p:cNvPr id="306" name="矩形 2"/>
          <p:cNvSpPr/>
          <p:nvPr/>
        </p:nvSpPr>
        <p:spPr>
          <a:xfrm rot="2700000">
            <a:off x="6849110" y="6092190"/>
            <a:ext cx="66040" cy="113030"/>
          </a:xfrm>
          <a:custGeom>
            <a:avLst/>
            <a:gdLst>
              <a:gd name="connsiteX0" fmla="*/ 0 w 415436"/>
              <a:gd name="connsiteY0" fmla="*/ 0 h 415436"/>
              <a:gd name="connsiteX1" fmla="*/ 415436 w 415436"/>
              <a:gd name="connsiteY1" fmla="*/ 0 h 415436"/>
              <a:gd name="connsiteX2" fmla="*/ 415436 w 415436"/>
              <a:gd name="connsiteY2" fmla="*/ 415436 h 415436"/>
              <a:gd name="connsiteX3" fmla="*/ 0 w 415436"/>
              <a:gd name="connsiteY3" fmla="*/ 415436 h 415436"/>
              <a:gd name="connsiteX4" fmla="*/ 0 w 415436"/>
              <a:gd name="connsiteY4" fmla="*/ 0 h 415436"/>
              <a:gd name="connsiteX0-1" fmla="*/ 0 w 415436"/>
              <a:gd name="connsiteY0-2" fmla="*/ 415436 h 415436"/>
              <a:gd name="connsiteX1-3" fmla="*/ 415436 w 415436"/>
              <a:gd name="connsiteY1-4" fmla="*/ 0 h 415436"/>
              <a:gd name="connsiteX2-5" fmla="*/ 415436 w 415436"/>
              <a:gd name="connsiteY2-6" fmla="*/ 415436 h 415436"/>
              <a:gd name="connsiteX3-7" fmla="*/ 0 w 415436"/>
              <a:gd name="connsiteY3-8" fmla="*/ 415436 h 415436"/>
              <a:gd name="connsiteX0-9" fmla="*/ 0 w 218174"/>
              <a:gd name="connsiteY0-10" fmla="*/ 415436 h 415436"/>
              <a:gd name="connsiteX1-11" fmla="*/ 218174 w 218174"/>
              <a:gd name="connsiteY1-12" fmla="*/ 0 h 415436"/>
              <a:gd name="connsiteX2-13" fmla="*/ 218174 w 218174"/>
              <a:gd name="connsiteY2-14" fmla="*/ 415436 h 415436"/>
              <a:gd name="connsiteX3-15" fmla="*/ 0 w 218174"/>
              <a:gd name="connsiteY3-16" fmla="*/ 415436 h 415436"/>
              <a:gd name="connsiteX0-17" fmla="*/ 0 w 218174"/>
              <a:gd name="connsiteY0-18" fmla="*/ 415436 h 415436"/>
              <a:gd name="connsiteX1-19" fmla="*/ 118424 w 218174"/>
              <a:gd name="connsiteY1-20" fmla="*/ 208567 h 415436"/>
              <a:gd name="connsiteX2-21" fmla="*/ 218174 w 218174"/>
              <a:gd name="connsiteY2-22" fmla="*/ 0 h 415436"/>
              <a:gd name="connsiteX3-23" fmla="*/ 218174 w 218174"/>
              <a:gd name="connsiteY3-24" fmla="*/ 415436 h 415436"/>
              <a:gd name="connsiteX4-25" fmla="*/ 0 w 218174"/>
              <a:gd name="connsiteY4-26" fmla="*/ 415436 h 415436"/>
              <a:gd name="connsiteX0-27" fmla="*/ 27697 w 245871"/>
              <a:gd name="connsiteY0-28" fmla="*/ 415436 h 415436"/>
              <a:gd name="connsiteX1-29" fmla="*/ 0 w 245871"/>
              <a:gd name="connsiteY1-30" fmla="*/ 120895 h 415436"/>
              <a:gd name="connsiteX2-31" fmla="*/ 245871 w 245871"/>
              <a:gd name="connsiteY2-32" fmla="*/ 0 h 415436"/>
              <a:gd name="connsiteX3-33" fmla="*/ 245871 w 245871"/>
              <a:gd name="connsiteY3-34" fmla="*/ 415436 h 415436"/>
              <a:gd name="connsiteX4-35" fmla="*/ 27697 w 245871"/>
              <a:gd name="connsiteY4-36" fmla="*/ 415436 h 415436"/>
              <a:gd name="connsiteX0-37" fmla="*/ 0 w 245871"/>
              <a:gd name="connsiteY0-38" fmla="*/ 120895 h 415436"/>
              <a:gd name="connsiteX1-39" fmla="*/ 245871 w 245871"/>
              <a:gd name="connsiteY1-40" fmla="*/ 0 h 415436"/>
              <a:gd name="connsiteX2-41" fmla="*/ 245871 w 245871"/>
              <a:gd name="connsiteY2-42" fmla="*/ 415436 h 415436"/>
              <a:gd name="connsiteX3-43" fmla="*/ 27697 w 245871"/>
              <a:gd name="connsiteY3-44" fmla="*/ 415436 h 415436"/>
              <a:gd name="connsiteX4-45" fmla="*/ 91440 w 245871"/>
              <a:gd name="connsiteY4-46" fmla="*/ 212335 h 415436"/>
              <a:gd name="connsiteX0-47" fmla="*/ 0 w 245871"/>
              <a:gd name="connsiteY0-48" fmla="*/ 120895 h 415436"/>
              <a:gd name="connsiteX1-49" fmla="*/ 245871 w 245871"/>
              <a:gd name="connsiteY1-50" fmla="*/ 0 h 415436"/>
              <a:gd name="connsiteX2-51" fmla="*/ 245871 w 245871"/>
              <a:gd name="connsiteY2-52" fmla="*/ 415436 h 415436"/>
              <a:gd name="connsiteX3-53" fmla="*/ 27697 w 245871"/>
              <a:gd name="connsiteY3-54" fmla="*/ 415436 h 415436"/>
              <a:gd name="connsiteX0-55" fmla="*/ 218174 w 218174"/>
              <a:gd name="connsiteY0-56" fmla="*/ 0 h 415436"/>
              <a:gd name="connsiteX1-57" fmla="*/ 218174 w 218174"/>
              <a:gd name="connsiteY1-58" fmla="*/ 415436 h 415436"/>
              <a:gd name="connsiteX2-59" fmla="*/ 0 w 218174"/>
              <a:gd name="connsiteY2-60" fmla="*/ 415436 h 415436"/>
            </a:gdLst>
            <a:ahLst/>
            <a:cxnLst>
              <a:cxn ang="0">
                <a:pos x="connsiteX0-1" y="connsiteY0-2"/>
              </a:cxn>
              <a:cxn ang="0">
                <a:pos x="connsiteX1-3" y="connsiteY1-4"/>
              </a:cxn>
              <a:cxn ang="0">
                <a:pos x="connsiteX2-5" y="connsiteY2-6"/>
              </a:cxn>
            </a:cxnLst>
            <a:rect l="l" t="t" r="r" b="b"/>
            <a:pathLst>
              <a:path w="218174" h="415436">
                <a:moveTo>
                  <a:pt x="218174" y="0"/>
                </a:moveTo>
                <a:lnTo>
                  <a:pt x="218174" y="415436"/>
                </a:lnTo>
                <a:lnTo>
                  <a:pt x="0" y="415436"/>
                </a:lnTo>
              </a:path>
            </a:pathLst>
          </a:custGeom>
          <a:noFill/>
          <a:ln w="38100" cap="rnd">
            <a:solidFill>
              <a:schemeClr val="accent5">
                <a:lumMod val="60000"/>
                <a:lumOff val="40000"/>
              </a:schemeClr>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mj-lt"/>
              <a:ea typeface="+mj-lt"/>
              <a:cs typeface="微软雅黑" panose="020B0503020204020204" charset="-122"/>
            </a:endParaRPr>
          </a:p>
        </p:txBody>
      </p:sp>
      <p:pic>
        <p:nvPicPr>
          <p:cNvPr id="33" name="图片 32" descr="推广"/>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30905" y="2249805"/>
            <a:ext cx="419100" cy="419100"/>
          </a:xfrm>
          <a:prstGeom prst="rect">
            <a:avLst/>
          </a:prstGeom>
        </p:spPr>
      </p:pic>
      <p:pic>
        <p:nvPicPr>
          <p:cNvPr id="34" name="图片 33" descr="研发"/>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430905" y="3263900"/>
            <a:ext cx="419100" cy="330200"/>
          </a:xfrm>
          <a:prstGeom prst="rect">
            <a:avLst/>
          </a:prstGeom>
        </p:spPr>
      </p:pic>
      <p:pic>
        <p:nvPicPr>
          <p:cNvPr id="35" name="图片 34" descr="icon_index_Cloud Gami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428683" y="4161155"/>
            <a:ext cx="423545" cy="423545"/>
          </a:xfrm>
          <a:prstGeom prst="rect">
            <a:avLst/>
          </a:prstGeom>
        </p:spPr>
      </p:pic>
      <p:pic>
        <p:nvPicPr>
          <p:cNvPr id="36" name="图片 35" descr="项目执行"/>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441383" y="5082540"/>
            <a:ext cx="398145" cy="398145"/>
          </a:xfrm>
          <a:prstGeom prst="rect">
            <a:avLst/>
          </a:prstGeom>
        </p:spPr>
      </p:pic>
      <p:cxnSp>
        <p:nvCxnSpPr>
          <p:cNvPr id="37" name="直接连接符 36"/>
          <p:cNvCxnSpPr/>
          <p:nvPr/>
        </p:nvCxnSpPr>
        <p:spPr>
          <a:xfrm>
            <a:off x="4869815" y="1170305"/>
            <a:ext cx="0" cy="761365"/>
          </a:xfrm>
          <a:prstGeom prst="line">
            <a:avLst/>
          </a:prstGeom>
          <a:ln w="19050">
            <a:solidFill>
              <a:schemeClr val="tx2">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pic>
        <p:nvPicPr>
          <p:cNvPr id="58" name="图片 57" descr="屋顶资源管理"/>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55600" y="186055"/>
            <a:ext cx="549910" cy="54991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显眼包PPT1"/>
          <p:cNvSpPr/>
          <p:nvPr/>
        </p:nvSpPr>
        <p:spPr>
          <a:xfrm>
            <a:off x="617220" y="2813685"/>
            <a:ext cx="1465580" cy="3304540"/>
          </a:xfrm>
          <a:prstGeom prst="roundRect">
            <a:avLst>
              <a:gd name="adj" fmla="val 3260"/>
            </a:avLst>
          </a:prstGeom>
          <a:gradFill>
            <a:gsLst>
              <a:gs pos="0">
                <a:schemeClr val="accent1">
                  <a:lumMod val="20000"/>
                  <a:lumOff val="80000"/>
                </a:schemeClr>
              </a:gs>
              <a:gs pos="100000">
                <a:schemeClr val="accent1">
                  <a:lumMod val="20000"/>
                  <a:lumOff val="80000"/>
                  <a:alpha val="0"/>
                </a:schemeClr>
              </a:gs>
            </a:gsLst>
            <a:lin ang="5400000" scaled="1"/>
          </a:gradFill>
          <a:ln>
            <a:gradFill>
              <a:gsLst>
                <a:gs pos="0">
                  <a:schemeClr val="accent1">
                    <a:lumMod val="60000"/>
                    <a:lumOff val="40000"/>
                  </a:schemeClr>
                </a:gs>
                <a:gs pos="66000">
                  <a:schemeClr val="accent1">
                    <a:lumMod val="60000"/>
                    <a:lumOff val="40000"/>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charset="-122"/>
            </a:endParaRPr>
          </a:p>
        </p:txBody>
      </p:sp>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latin typeface="微软雅黑" panose="020B0503020204020204" charset="-122"/>
                <a:ea typeface="微软雅黑" panose="020B0503020204020204" charset="-122"/>
                <a:cs typeface="微软雅黑" panose="020B0503020204020204" charset="-122"/>
              </a:rPr>
              <a:t>-</a:t>
            </a:r>
            <a:r>
              <a:rPr sz="2500">
                <a:solidFill>
                  <a:schemeClr val="accent1"/>
                </a:solidFill>
                <a:latin typeface="微软雅黑" panose="020B0503020204020204" charset="-122"/>
                <a:ea typeface="微软雅黑" panose="020B0503020204020204" charset="-122"/>
                <a:cs typeface="微软雅黑" panose="020B0503020204020204" charset="-122"/>
              </a:rPr>
              <a:t>多层平台架构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共建零售行业无界新生态</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8" name="上箭头 7"/>
          <p:cNvSpPr/>
          <p:nvPr/>
        </p:nvSpPr>
        <p:spPr>
          <a:xfrm>
            <a:off x="1203325" y="2446655"/>
            <a:ext cx="293370" cy="333375"/>
          </a:xfrm>
          <a:prstGeom prst="upArrow">
            <a:avLst/>
          </a:prstGeom>
          <a:gradFill>
            <a:gsLst>
              <a:gs pos="0">
                <a:schemeClr val="accent5">
                  <a:alpha val="0"/>
                </a:schemeClr>
              </a:gs>
              <a:gs pos="100000">
                <a:schemeClr val="accent5"/>
              </a:gs>
            </a:gsLst>
            <a:lin ang="1620000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2" name="矩形 11"/>
          <p:cNvSpPr/>
          <p:nvPr/>
        </p:nvSpPr>
        <p:spPr>
          <a:xfrm>
            <a:off x="2840355" y="3058160"/>
            <a:ext cx="6388735" cy="1824355"/>
          </a:xfrm>
          <a:prstGeom prst="rect">
            <a:avLst/>
          </a:prstGeom>
          <a:gradFill>
            <a:gsLst>
              <a:gs pos="0">
                <a:schemeClr val="accent1">
                  <a:lumMod val="60000"/>
                  <a:lumOff val="40000"/>
                  <a:alpha val="30000"/>
                </a:schemeClr>
              </a:gs>
              <a:gs pos="35000">
                <a:schemeClr val="accent1">
                  <a:lumMod val="60000"/>
                  <a:lumOff val="40000"/>
                  <a:alpha val="0"/>
                </a:schemeClr>
              </a:gs>
              <a:gs pos="65000">
                <a:schemeClr val="accent1">
                  <a:lumMod val="60000"/>
                  <a:lumOff val="40000"/>
                  <a:alpha val="0"/>
                </a:schemeClr>
              </a:gs>
              <a:gs pos="100000">
                <a:schemeClr val="accent1">
                  <a:lumMod val="60000"/>
                  <a:lumOff val="40000"/>
                  <a:alpha val="30000"/>
                </a:schemeClr>
              </a:gs>
            </a:gsLst>
            <a:lin ang="4200000" scaled="0"/>
          </a:gradFill>
          <a:ln w="12700" cap="flat">
            <a:gradFill>
              <a:gsLst>
                <a:gs pos="0">
                  <a:schemeClr val="accent1">
                    <a:lumMod val="60000"/>
                    <a:lumOff val="40000"/>
                  </a:schemeClr>
                </a:gs>
                <a:gs pos="100000">
                  <a:schemeClr val="accent1">
                    <a:lumMod val="60000"/>
                    <a:lumOff val="40000"/>
                    <a:alpha val="0"/>
                  </a:schemeClr>
                </a:gs>
              </a:gsLst>
              <a:lin ang="16200000" scaled="1"/>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noAutofit/>
          </a:bodyPr>
          <a:p>
            <a:pPr lvl="0" algn="l" defTabSz="825500">
              <a:buClrTx/>
              <a:buSzTx/>
              <a:buFontTx/>
            </a:pPr>
            <a:endParaRPr lang="zh-CN" altLang="en-US" sz="110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3" name="矩形 12"/>
          <p:cNvSpPr/>
          <p:nvPr/>
        </p:nvSpPr>
        <p:spPr>
          <a:xfrm>
            <a:off x="2840355" y="5260340"/>
            <a:ext cx="6388735" cy="918845"/>
          </a:xfrm>
          <a:prstGeom prst="rect">
            <a:avLst/>
          </a:prstGeom>
          <a:gradFill>
            <a:gsLst>
              <a:gs pos="0">
                <a:schemeClr val="accent1">
                  <a:alpha val="30000"/>
                </a:schemeClr>
              </a:gs>
              <a:gs pos="35000">
                <a:schemeClr val="accent1">
                  <a:alpha val="0"/>
                </a:schemeClr>
              </a:gs>
              <a:gs pos="65000">
                <a:schemeClr val="accent1">
                  <a:alpha val="0"/>
                </a:schemeClr>
              </a:gs>
              <a:gs pos="100000">
                <a:schemeClr val="accent1">
                  <a:alpha val="30000"/>
                </a:schemeClr>
              </a:gs>
            </a:gsLst>
            <a:lin ang="4200000" scaled="0"/>
          </a:gradFill>
          <a:ln w="12700" cap="flat">
            <a:gradFill>
              <a:gsLst>
                <a:gs pos="0">
                  <a:schemeClr val="accent1"/>
                </a:gs>
                <a:gs pos="100000">
                  <a:schemeClr val="accent1">
                    <a:alpha val="0"/>
                  </a:schemeClr>
                </a:gs>
              </a:gsLst>
              <a:lin ang="16200000" scaled="1"/>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noAutofit/>
          </a:bodyPr>
          <a:p>
            <a:pPr lvl="0" algn="l" defTabSz="825500">
              <a:buClrTx/>
              <a:buSzTx/>
              <a:buFontTx/>
            </a:pPr>
            <a:endParaRPr lang="zh-CN" altLang="en-US" sz="110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4" name="梯形 13"/>
          <p:cNvSpPr/>
          <p:nvPr/>
        </p:nvSpPr>
        <p:spPr>
          <a:xfrm>
            <a:off x="2842895" y="2642870"/>
            <a:ext cx="6389370" cy="515620"/>
          </a:xfrm>
          <a:prstGeom prst="trapezoid">
            <a:avLst>
              <a:gd name="adj" fmla="val 97352"/>
            </a:avLst>
          </a:prstGeom>
          <a:gradFill>
            <a:gsLst>
              <a:gs pos="0">
                <a:schemeClr val="accent1">
                  <a:lumMod val="60000"/>
                  <a:lumOff val="40000"/>
                  <a:alpha val="0"/>
                </a:schemeClr>
              </a:gs>
              <a:gs pos="100000">
                <a:schemeClr val="accent1">
                  <a:lumMod val="60000"/>
                  <a:lumOff val="40000"/>
                  <a:alpha val="54000"/>
                </a:schemeClr>
              </a:gs>
            </a:gsLst>
            <a:lin ang="5400000" scaled="0"/>
          </a:gradFill>
          <a:ln w="12700" cap="flat">
            <a:noFill/>
            <a:miter lim="400000"/>
          </a:ln>
          <a:effectLst/>
          <a:scene3d>
            <a:camera prst="orthographicFront">
              <a:rot lat="3000000" lon="0" rev="0"/>
            </a:camera>
            <a:lightRig rig="threePt" dir="t"/>
          </a:scene3d>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noAutofit/>
          </a:bodyPr>
          <a:p>
            <a:pPr lvl="0" algn="ctr" defTabSz="825500" hangingPunct="0">
              <a:spcBef>
                <a:spcPts val="0"/>
              </a:spcBef>
              <a:spcAft>
                <a:spcPts val="0"/>
              </a:spcAft>
              <a:buClrTx/>
              <a:buSzTx/>
              <a:buFontTx/>
            </a:pPr>
            <a:endParaRPr lang="zh-CN" altLang="en-US" sz="1100">
              <a:ln>
                <a:noFill/>
              </a:ln>
              <a:solidFill>
                <a:srgbClr val="FFFFFF"/>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 name="梯形 14"/>
          <p:cNvSpPr/>
          <p:nvPr/>
        </p:nvSpPr>
        <p:spPr>
          <a:xfrm>
            <a:off x="2840355" y="4934585"/>
            <a:ext cx="6389370" cy="407670"/>
          </a:xfrm>
          <a:prstGeom prst="trapezoid">
            <a:avLst>
              <a:gd name="adj" fmla="val 97352"/>
            </a:avLst>
          </a:prstGeom>
          <a:gradFill>
            <a:gsLst>
              <a:gs pos="0">
                <a:schemeClr val="accent1">
                  <a:alpha val="0"/>
                </a:schemeClr>
              </a:gs>
              <a:gs pos="100000">
                <a:schemeClr val="accent1">
                  <a:alpha val="54000"/>
                </a:schemeClr>
              </a:gs>
            </a:gsLst>
            <a:lin ang="5400000" scaled="0"/>
          </a:gradFill>
          <a:ln w="12700" cap="flat">
            <a:noFill/>
            <a:miter lim="400000"/>
          </a:ln>
          <a:effectLst/>
          <a:scene3d>
            <a:camera prst="orthographicFront">
              <a:rot lat="3000000" lon="0" rev="0"/>
            </a:camera>
            <a:lightRig rig="threePt" dir="t"/>
          </a:scene3d>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noAutofit/>
          </a:bodyPr>
          <a:p>
            <a:pPr lvl="0" algn="ctr" defTabSz="825500" hangingPunct="0">
              <a:spcBef>
                <a:spcPts val="0"/>
              </a:spcBef>
              <a:spcAft>
                <a:spcPts val="0"/>
              </a:spcAft>
              <a:buClrTx/>
              <a:buSzTx/>
              <a:buFontTx/>
            </a:pPr>
            <a:endParaRPr lang="zh-CN" altLang="en-US" sz="1100">
              <a:ln>
                <a:noFill/>
              </a:ln>
              <a:solidFill>
                <a:srgbClr val="FFFFFF"/>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2" name="矩形 21"/>
          <p:cNvSpPr/>
          <p:nvPr/>
        </p:nvSpPr>
        <p:spPr>
          <a:xfrm>
            <a:off x="2840990" y="1622425"/>
            <a:ext cx="6388735" cy="979805"/>
          </a:xfrm>
          <a:prstGeom prst="rect">
            <a:avLst/>
          </a:prstGeom>
          <a:gradFill>
            <a:gsLst>
              <a:gs pos="0">
                <a:schemeClr val="accent5">
                  <a:alpha val="30000"/>
                </a:schemeClr>
              </a:gs>
              <a:gs pos="35000">
                <a:schemeClr val="accent5">
                  <a:alpha val="0"/>
                </a:schemeClr>
              </a:gs>
              <a:gs pos="65000">
                <a:schemeClr val="accent5">
                  <a:alpha val="0"/>
                </a:schemeClr>
              </a:gs>
              <a:gs pos="100000">
                <a:schemeClr val="accent5">
                  <a:alpha val="30000"/>
                </a:schemeClr>
              </a:gs>
            </a:gsLst>
            <a:lin ang="4200000" scaled="0"/>
          </a:gradFill>
          <a:ln w="12700" cap="flat">
            <a:gradFill>
              <a:gsLst>
                <a:gs pos="0">
                  <a:schemeClr val="accent5">
                    <a:lumMod val="60000"/>
                    <a:lumOff val="40000"/>
                  </a:schemeClr>
                </a:gs>
                <a:gs pos="100000">
                  <a:schemeClr val="accent5">
                    <a:lumMod val="60000"/>
                    <a:lumOff val="40000"/>
                    <a:alpha val="0"/>
                  </a:schemeClr>
                </a:gs>
              </a:gsLst>
              <a:lin ang="16200000" scaled="0"/>
            </a:gra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noAutofit/>
          </a:bodyPr>
          <a:p>
            <a:pPr lvl="0" algn="l" defTabSz="825500">
              <a:buClrTx/>
              <a:buSzTx/>
              <a:buFontTx/>
            </a:pPr>
            <a:endParaRPr lang="zh-CN" altLang="en-US" sz="11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3" name="梯形 22"/>
          <p:cNvSpPr/>
          <p:nvPr/>
        </p:nvSpPr>
        <p:spPr>
          <a:xfrm>
            <a:off x="2835275" y="1292860"/>
            <a:ext cx="6389370" cy="407670"/>
          </a:xfrm>
          <a:prstGeom prst="trapezoid">
            <a:avLst>
              <a:gd name="adj" fmla="val 97352"/>
            </a:avLst>
          </a:prstGeom>
          <a:gradFill>
            <a:gsLst>
              <a:gs pos="0">
                <a:schemeClr val="accent5">
                  <a:alpha val="0"/>
                </a:schemeClr>
              </a:gs>
              <a:gs pos="100000">
                <a:schemeClr val="accent5">
                  <a:alpha val="54000"/>
                </a:schemeClr>
              </a:gs>
            </a:gsLst>
            <a:lin ang="5400000" scaled="0"/>
          </a:gradFill>
          <a:ln w="12700" cap="flat">
            <a:noFill/>
            <a:miter lim="400000"/>
          </a:ln>
          <a:effectLst/>
          <a:scene3d>
            <a:camera prst="orthographicFront">
              <a:rot lat="3000000" lon="0" rev="0"/>
            </a:camera>
            <a:lightRig rig="threePt" dir="t"/>
          </a:scene3d>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noAutofit/>
          </a:bodyPr>
          <a:p>
            <a:pPr lvl="0" algn="ctr" defTabSz="825500" hangingPunct="0">
              <a:spcBef>
                <a:spcPts val="0"/>
              </a:spcBef>
              <a:spcAft>
                <a:spcPts val="0"/>
              </a:spcAft>
              <a:buClrTx/>
              <a:buSzTx/>
              <a:buFontTx/>
            </a:pPr>
            <a:endParaRPr lang="zh-CN" altLang="en-US" sz="1100">
              <a:ln>
                <a:noFill/>
              </a:ln>
              <a:solidFill>
                <a:srgbClr val="FFFFFF"/>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5" name="椭圆 24"/>
          <p:cNvSpPr/>
          <p:nvPr/>
        </p:nvSpPr>
        <p:spPr>
          <a:xfrm>
            <a:off x="4309745" y="4577715"/>
            <a:ext cx="116840" cy="116840"/>
          </a:xfrm>
          <a:prstGeom prst="ellipse">
            <a:avLst/>
          </a:prstGeom>
          <a:solidFill>
            <a:schemeClr val="accent1">
              <a:lumMod val="60000"/>
              <a:lumOff val="40000"/>
            </a:schemeClr>
          </a:solidFill>
          <a:ln>
            <a:solidFill>
              <a:schemeClr val="accent1">
                <a:lumMod val="20000"/>
                <a:lumOff val="8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31" name="椭圆 30"/>
          <p:cNvSpPr/>
          <p:nvPr/>
        </p:nvSpPr>
        <p:spPr>
          <a:xfrm>
            <a:off x="8143240" y="3653155"/>
            <a:ext cx="116840" cy="116840"/>
          </a:xfrm>
          <a:prstGeom prst="ellipse">
            <a:avLst/>
          </a:prstGeom>
          <a:solidFill>
            <a:schemeClr val="accent1">
              <a:lumMod val="60000"/>
              <a:lumOff val="40000"/>
            </a:schemeClr>
          </a:solidFill>
          <a:ln>
            <a:solidFill>
              <a:schemeClr val="accent1">
                <a:lumMod val="20000"/>
                <a:lumOff val="8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32" name="椭圆 31"/>
          <p:cNvSpPr/>
          <p:nvPr/>
        </p:nvSpPr>
        <p:spPr>
          <a:xfrm>
            <a:off x="3284855" y="4011930"/>
            <a:ext cx="71755" cy="71755"/>
          </a:xfrm>
          <a:prstGeom prst="ellipse">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33" name="椭圆 32"/>
          <p:cNvSpPr/>
          <p:nvPr/>
        </p:nvSpPr>
        <p:spPr>
          <a:xfrm>
            <a:off x="3284855" y="4373880"/>
            <a:ext cx="71755" cy="71755"/>
          </a:xfrm>
          <a:prstGeom prst="ellipse">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36" name="椭圆 35"/>
          <p:cNvSpPr/>
          <p:nvPr/>
        </p:nvSpPr>
        <p:spPr>
          <a:xfrm>
            <a:off x="4770755" y="3243580"/>
            <a:ext cx="71755" cy="71755"/>
          </a:xfrm>
          <a:prstGeom prst="ellipse">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43" name="椭圆 42"/>
          <p:cNvSpPr/>
          <p:nvPr/>
        </p:nvSpPr>
        <p:spPr>
          <a:xfrm>
            <a:off x="7988935" y="3360420"/>
            <a:ext cx="71755" cy="71755"/>
          </a:xfrm>
          <a:prstGeom prst="ellipse">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44" name="椭圆 43"/>
          <p:cNvSpPr/>
          <p:nvPr/>
        </p:nvSpPr>
        <p:spPr>
          <a:xfrm>
            <a:off x="8727440" y="3243580"/>
            <a:ext cx="71755" cy="71755"/>
          </a:xfrm>
          <a:prstGeom prst="ellipse">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45" name="椭圆 44"/>
          <p:cNvSpPr/>
          <p:nvPr/>
        </p:nvSpPr>
        <p:spPr>
          <a:xfrm>
            <a:off x="8978265" y="4475480"/>
            <a:ext cx="71755" cy="71755"/>
          </a:xfrm>
          <a:prstGeom prst="ellipse">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46" name="椭圆 45"/>
          <p:cNvSpPr/>
          <p:nvPr/>
        </p:nvSpPr>
        <p:spPr>
          <a:xfrm>
            <a:off x="8437245" y="4105910"/>
            <a:ext cx="71755" cy="71755"/>
          </a:xfrm>
          <a:prstGeom prst="ellipse">
            <a:avLst/>
          </a:prstGeom>
          <a:solidFill>
            <a:schemeClr val="accent1">
              <a:lumMod val="60000"/>
              <a:lumOff val="40000"/>
            </a:schemeClr>
          </a:solidFill>
          <a:ln>
            <a:solidFill>
              <a:schemeClr val="accent1">
                <a:lumMod val="20000"/>
                <a:lumOff val="8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49" name="椭圆 48"/>
          <p:cNvSpPr/>
          <p:nvPr/>
        </p:nvSpPr>
        <p:spPr>
          <a:xfrm>
            <a:off x="8365490" y="4622800"/>
            <a:ext cx="71755" cy="71755"/>
          </a:xfrm>
          <a:prstGeom prst="ellipse">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cxnSp>
        <p:nvCxnSpPr>
          <p:cNvPr id="50" name="直接连接符 49"/>
          <p:cNvCxnSpPr>
            <a:stCxn id="32" idx="7"/>
          </p:cNvCxnSpPr>
          <p:nvPr/>
        </p:nvCxnSpPr>
        <p:spPr>
          <a:xfrm flipV="1">
            <a:off x="3345815" y="3662045"/>
            <a:ext cx="618490" cy="360680"/>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51" name="直接连接符 50"/>
          <p:cNvCxnSpPr>
            <a:endCxn id="36" idx="3"/>
          </p:cNvCxnSpPr>
          <p:nvPr/>
        </p:nvCxnSpPr>
        <p:spPr>
          <a:xfrm flipV="1">
            <a:off x="3346450" y="3304540"/>
            <a:ext cx="1435100" cy="1073785"/>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53" name="直接连接符 52"/>
          <p:cNvCxnSpPr>
            <a:stCxn id="34" idx="7"/>
            <a:endCxn id="35" idx="3"/>
          </p:cNvCxnSpPr>
          <p:nvPr/>
        </p:nvCxnSpPr>
        <p:spPr>
          <a:xfrm flipV="1">
            <a:off x="3645535" y="4118610"/>
            <a:ext cx="805180" cy="469900"/>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54" name="直接连接符 53"/>
          <p:cNvCxnSpPr>
            <a:stCxn id="24" idx="5"/>
            <a:endCxn id="35" idx="1"/>
          </p:cNvCxnSpPr>
          <p:nvPr/>
        </p:nvCxnSpPr>
        <p:spPr>
          <a:xfrm>
            <a:off x="4060825" y="3687445"/>
            <a:ext cx="389890" cy="381000"/>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55" name="直接连接符 54"/>
          <p:cNvCxnSpPr>
            <a:stCxn id="35" idx="6"/>
            <a:endCxn id="40" idx="2"/>
          </p:cNvCxnSpPr>
          <p:nvPr/>
        </p:nvCxnSpPr>
        <p:spPr>
          <a:xfrm>
            <a:off x="4511675" y="4093845"/>
            <a:ext cx="765810" cy="537210"/>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56" name="直接连接符 55"/>
          <p:cNvCxnSpPr>
            <a:stCxn id="25" idx="7"/>
            <a:endCxn id="38" idx="4"/>
          </p:cNvCxnSpPr>
          <p:nvPr/>
        </p:nvCxnSpPr>
        <p:spPr>
          <a:xfrm flipV="1">
            <a:off x="4409440" y="4128770"/>
            <a:ext cx="861695" cy="466090"/>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57" name="直接连接符 56"/>
          <p:cNvCxnSpPr>
            <a:stCxn id="33" idx="6"/>
            <a:endCxn id="38" idx="3"/>
          </p:cNvCxnSpPr>
          <p:nvPr/>
        </p:nvCxnSpPr>
        <p:spPr>
          <a:xfrm flipV="1">
            <a:off x="3356610" y="4117975"/>
            <a:ext cx="1889125" cy="291465"/>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58" name="直接连接符 57"/>
          <p:cNvCxnSpPr>
            <a:stCxn id="24" idx="6"/>
            <a:endCxn id="37" idx="1"/>
          </p:cNvCxnSpPr>
          <p:nvPr/>
        </p:nvCxnSpPr>
        <p:spPr>
          <a:xfrm>
            <a:off x="4078605" y="3646170"/>
            <a:ext cx="1016000" cy="398780"/>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59" name="直接连接符 58"/>
          <p:cNvCxnSpPr>
            <a:stCxn id="35" idx="6"/>
          </p:cNvCxnSpPr>
          <p:nvPr/>
        </p:nvCxnSpPr>
        <p:spPr>
          <a:xfrm flipV="1">
            <a:off x="4511675" y="4051935"/>
            <a:ext cx="579120" cy="41910"/>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60" name="直接连接符 59"/>
          <p:cNvCxnSpPr>
            <a:stCxn id="36" idx="5"/>
          </p:cNvCxnSpPr>
          <p:nvPr/>
        </p:nvCxnSpPr>
        <p:spPr>
          <a:xfrm>
            <a:off x="4831715" y="3304540"/>
            <a:ext cx="411480" cy="760095"/>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61" name="直接连接符 60"/>
          <p:cNvCxnSpPr>
            <a:endCxn id="39" idx="1"/>
          </p:cNvCxnSpPr>
          <p:nvPr/>
        </p:nvCxnSpPr>
        <p:spPr>
          <a:xfrm>
            <a:off x="4850765" y="3296285"/>
            <a:ext cx="920750" cy="676910"/>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62" name="直接连接符 61"/>
          <p:cNvCxnSpPr>
            <a:stCxn id="37" idx="5"/>
            <a:endCxn id="40" idx="1"/>
          </p:cNvCxnSpPr>
          <p:nvPr/>
        </p:nvCxnSpPr>
        <p:spPr>
          <a:xfrm>
            <a:off x="5144770" y="4095115"/>
            <a:ext cx="144145" cy="509905"/>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64" name="直接连接符 63"/>
          <p:cNvCxnSpPr>
            <a:stCxn id="37" idx="7"/>
            <a:endCxn id="41" idx="2"/>
          </p:cNvCxnSpPr>
          <p:nvPr/>
        </p:nvCxnSpPr>
        <p:spPr>
          <a:xfrm flipV="1">
            <a:off x="5144770" y="3688715"/>
            <a:ext cx="1325880" cy="356235"/>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66" name="直接连接符 65"/>
          <p:cNvCxnSpPr>
            <a:stCxn id="27" idx="6"/>
            <a:endCxn id="28" idx="1"/>
          </p:cNvCxnSpPr>
          <p:nvPr/>
        </p:nvCxnSpPr>
        <p:spPr>
          <a:xfrm>
            <a:off x="5973445" y="4123055"/>
            <a:ext cx="726440" cy="278130"/>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67" name="直接连接符 66"/>
          <p:cNvCxnSpPr>
            <a:stCxn id="41" idx="4"/>
            <a:endCxn id="28" idx="0"/>
          </p:cNvCxnSpPr>
          <p:nvPr/>
        </p:nvCxnSpPr>
        <p:spPr>
          <a:xfrm>
            <a:off x="6506845" y="3724910"/>
            <a:ext cx="234315" cy="659130"/>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68" name="直接连接符 67"/>
          <p:cNvCxnSpPr>
            <a:stCxn id="27" idx="7"/>
          </p:cNvCxnSpPr>
          <p:nvPr/>
        </p:nvCxnSpPr>
        <p:spPr>
          <a:xfrm flipV="1">
            <a:off x="5956300" y="3696970"/>
            <a:ext cx="509270" cy="384810"/>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70" name="直接连接符 69"/>
          <p:cNvCxnSpPr>
            <a:endCxn id="49" idx="2"/>
          </p:cNvCxnSpPr>
          <p:nvPr/>
        </p:nvCxnSpPr>
        <p:spPr>
          <a:xfrm>
            <a:off x="6799580" y="4450715"/>
            <a:ext cx="1565910" cy="208280"/>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71" name="直接连接符 70"/>
          <p:cNvCxnSpPr>
            <a:endCxn id="30" idx="2"/>
          </p:cNvCxnSpPr>
          <p:nvPr/>
        </p:nvCxnSpPr>
        <p:spPr>
          <a:xfrm flipV="1">
            <a:off x="6799580" y="4070985"/>
            <a:ext cx="1047115" cy="351790"/>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73" name="直接连接符 72"/>
          <p:cNvCxnSpPr>
            <a:stCxn id="30" idx="5"/>
            <a:endCxn id="49" idx="1"/>
          </p:cNvCxnSpPr>
          <p:nvPr/>
        </p:nvCxnSpPr>
        <p:spPr>
          <a:xfrm>
            <a:off x="7946390" y="4111625"/>
            <a:ext cx="429895" cy="521970"/>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74" name="直接连接符 73"/>
          <p:cNvCxnSpPr>
            <a:stCxn id="29" idx="6"/>
            <a:endCxn id="30" idx="2"/>
          </p:cNvCxnSpPr>
          <p:nvPr/>
        </p:nvCxnSpPr>
        <p:spPr>
          <a:xfrm>
            <a:off x="7110095" y="3868420"/>
            <a:ext cx="736600" cy="202565"/>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75" name="直接连接符 74"/>
          <p:cNvCxnSpPr>
            <a:stCxn id="29" idx="7"/>
            <a:endCxn id="42" idx="3"/>
          </p:cNvCxnSpPr>
          <p:nvPr/>
        </p:nvCxnSpPr>
        <p:spPr>
          <a:xfrm flipV="1">
            <a:off x="7092950" y="3529965"/>
            <a:ext cx="257175" cy="296545"/>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76" name="直接连接符 75"/>
          <p:cNvCxnSpPr>
            <a:stCxn id="29" idx="7"/>
            <a:endCxn id="43" idx="2"/>
          </p:cNvCxnSpPr>
          <p:nvPr/>
        </p:nvCxnSpPr>
        <p:spPr>
          <a:xfrm flipV="1">
            <a:off x="7092950" y="3396615"/>
            <a:ext cx="895985" cy="429895"/>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77" name="直接连接符 76"/>
          <p:cNvCxnSpPr>
            <a:stCxn id="39" idx="7"/>
            <a:endCxn id="42" idx="2"/>
          </p:cNvCxnSpPr>
          <p:nvPr/>
        </p:nvCxnSpPr>
        <p:spPr>
          <a:xfrm flipV="1">
            <a:off x="5821045" y="3505200"/>
            <a:ext cx="1518285" cy="467995"/>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78" name="直接连接符 77"/>
          <p:cNvCxnSpPr>
            <a:stCxn id="43" idx="6"/>
            <a:endCxn id="45" idx="1"/>
          </p:cNvCxnSpPr>
          <p:nvPr/>
        </p:nvCxnSpPr>
        <p:spPr>
          <a:xfrm>
            <a:off x="8060690" y="3396615"/>
            <a:ext cx="928370" cy="1089660"/>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79" name="直接连接符 78"/>
          <p:cNvCxnSpPr>
            <a:stCxn id="31" idx="7"/>
            <a:endCxn id="44" idx="3"/>
          </p:cNvCxnSpPr>
          <p:nvPr/>
        </p:nvCxnSpPr>
        <p:spPr>
          <a:xfrm flipV="1">
            <a:off x="8242300" y="3304540"/>
            <a:ext cx="495935" cy="365760"/>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80" name="直接连接符 79"/>
          <p:cNvCxnSpPr>
            <a:stCxn id="42" idx="6"/>
            <a:endCxn id="31" idx="1"/>
          </p:cNvCxnSpPr>
          <p:nvPr/>
        </p:nvCxnSpPr>
        <p:spPr>
          <a:xfrm>
            <a:off x="7411085" y="3505200"/>
            <a:ext cx="749300" cy="165735"/>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81" name="直接连接符 80"/>
          <p:cNvCxnSpPr>
            <a:stCxn id="43" idx="4"/>
            <a:endCxn id="30" idx="0"/>
          </p:cNvCxnSpPr>
          <p:nvPr/>
        </p:nvCxnSpPr>
        <p:spPr>
          <a:xfrm flipH="1">
            <a:off x="7905750" y="3432175"/>
            <a:ext cx="119380" cy="579755"/>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82" name="直接连接符 81"/>
          <p:cNvCxnSpPr>
            <a:stCxn id="45" idx="2"/>
            <a:endCxn id="30" idx="6"/>
          </p:cNvCxnSpPr>
          <p:nvPr/>
        </p:nvCxnSpPr>
        <p:spPr>
          <a:xfrm flipH="1" flipV="1">
            <a:off x="7963535" y="4070350"/>
            <a:ext cx="1014730" cy="441325"/>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83" name="直接连接符 82"/>
          <p:cNvCxnSpPr>
            <a:stCxn id="46" idx="1"/>
            <a:endCxn id="42" idx="5"/>
          </p:cNvCxnSpPr>
          <p:nvPr/>
        </p:nvCxnSpPr>
        <p:spPr>
          <a:xfrm flipH="1" flipV="1">
            <a:off x="7400290" y="3529965"/>
            <a:ext cx="1047750" cy="586740"/>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84" name="直接连接符 83"/>
          <p:cNvCxnSpPr>
            <a:stCxn id="31" idx="5"/>
          </p:cNvCxnSpPr>
          <p:nvPr/>
        </p:nvCxnSpPr>
        <p:spPr>
          <a:xfrm>
            <a:off x="8242300" y="3752215"/>
            <a:ext cx="199390" cy="365125"/>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85" name="直接连接符 84"/>
          <p:cNvCxnSpPr/>
          <p:nvPr/>
        </p:nvCxnSpPr>
        <p:spPr>
          <a:xfrm flipV="1">
            <a:off x="6347460" y="4128770"/>
            <a:ext cx="2083435" cy="494665"/>
          </a:xfrm>
          <a:prstGeom prst="line">
            <a:avLst/>
          </a:prstGeom>
          <a:ln>
            <a:solidFill>
              <a:schemeClr val="tx2">
                <a:lumMod val="40000"/>
                <a:lumOff val="60000"/>
              </a:schemeClr>
            </a:solidFill>
          </a:ln>
        </p:spPr>
        <p:style>
          <a:lnRef idx="2">
            <a:schemeClr val="accent1"/>
          </a:lnRef>
          <a:fillRef idx="0">
            <a:srgbClr val="FFFFFF"/>
          </a:fillRef>
          <a:effectRef idx="0">
            <a:srgbClr val="FFFFFF"/>
          </a:effectRef>
          <a:fontRef idx="minor">
            <a:schemeClr val="tx1"/>
          </a:fontRef>
        </p:style>
      </p:cxnSp>
      <p:grpSp>
        <p:nvGrpSpPr>
          <p:cNvPr id="298" name="组合 297"/>
          <p:cNvGrpSpPr/>
          <p:nvPr/>
        </p:nvGrpSpPr>
        <p:grpSpPr>
          <a:xfrm>
            <a:off x="4011295" y="1804035"/>
            <a:ext cx="4141470" cy="643890"/>
            <a:chOff x="6317" y="2841"/>
            <a:chExt cx="6522" cy="1014"/>
          </a:xfrm>
        </p:grpSpPr>
        <p:cxnSp>
          <p:nvCxnSpPr>
            <p:cNvPr id="108" name="肘形连接符 107"/>
            <p:cNvCxnSpPr/>
            <p:nvPr/>
          </p:nvCxnSpPr>
          <p:spPr>
            <a:xfrm>
              <a:off x="12666" y="3048"/>
              <a:ext cx="5" cy="533"/>
            </a:xfrm>
            <a:prstGeom prst="bentConnector3">
              <a:avLst>
                <a:gd name="adj1" fmla="val 7500000"/>
              </a:avLst>
            </a:prstGeom>
            <a:ln>
              <a:solidFill>
                <a:schemeClr val="tx2"/>
              </a:solidFill>
              <a:tailEnd type="triangle"/>
            </a:ln>
          </p:spPr>
          <p:style>
            <a:lnRef idx="2">
              <a:schemeClr val="accent1"/>
            </a:lnRef>
            <a:fillRef idx="0">
              <a:srgbClr val="FFFFFF"/>
            </a:fillRef>
            <a:effectRef idx="0">
              <a:srgbClr val="FFFFFF"/>
            </a:effectRef>
            <a:fontRef idx="minor">
              <a:schemeClr val="tx1"/>
            </a:fontRef>
          </p:style>
        </p:cxnSp>
        <p:grpSp>
          <p:nvGrpSpPr>
            <p:cNvPr id="297" name="组合 296"/>
            <p:cNvGrpSpPr/>
            <p:nvPr/>
          </p:nvGrpSpPr>
          <p:grpSpPr>
            <a:xfrm>
              <a:off x="6317" y="2841"/>
              <a:ext cx="6523" cy="1015"/>
              <a:chOff x="6317" y="2841"/>
              <a:chExt cx="6523" cy="1015"/>
            </a:xfrm>
          </p:grpSpPr>
          <p:sp>
            <p:nvSpPr>
              <p:cNvPr id="100" name="文本框 99"/>
              <p:cNvSpPr txBox="1"/>
              <p:nvPr/>
            </p:nvSpPr>
            <p:spPr>
              <a:xfrm>
                <a:off x="6317" y="2841"/>
                <a:ext cx="1841" cy="483"/>
              </a:xfrm>
              <a:prstGeom prst="rect">
                <a:avLst/>
              </a:prstGeom>
              <a:noFill/>
            </p:spPr>
            <p:txBody>
              <a:bodyPr wrap="square" rtlCol="0">
                <a:spAutoFit/>
              </a:bodyPr>
              <a:p>
                <a:pPr algn="ctr"/>
                <a:r>
                  <a:rPr lang="zh-CN" altLang="en-US" sz="1400">
                    <a:solidFill>
                      <a:schemeClr val="tx2"/>
                    </a:solidFill>
                    <a:latin typeface="微软雅黑" panose="020B0503020204020204" charset="-122"/>
                    <a:ea typeface="微软雅黑" panose="020B0503020204020204" charset="-122"/>
                    <a:cs typeface="微软雅黑" panose="020B0503020204020204" charset="-122"/>
                  </a:rPr>
                  <a:t>数据驱动</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1" name="文本框 100"/>
              <p:cNvSpPr txBox="1"/>
              <p:nvPr/>
            </p:nvSpPr>
            <p:spPr>
              <a:xfrm>
                <a:off x="8732" y="2841"/>
                <a:ext cx="1841" cy="483"/>
              </a:xfrm>
              <a:prstGeom prst="rect">
                <a:avLst/>
              </a:prstGeom>
              <a:noFill/>
            </p:spPr>
            <p:txBody>
              <a:bodyPr wrap="square" rtlCol="0">
                <a:spAutoFit/>
              </a:bodyPr>
              <a:p>
                <a:pPr algn="ctr"/>
                <a:r>
                  <a:rPr lang="zh-CN" altLang="en-US" sz="1400">
                    <a:solidFill>
                      <a:schemeClr val="tx2"/>
                    </a:solidFill>
                    <a:latin typeface="微软雅黑" panose="020B0503020204020204" charset="-122"/>
                    <a:ea typeface="微软雅黑" panose="020B0503020204020204" charset="-122"/>
                    <a:cs typeface="微软雅黑" panose="020B0503020204020204" charset="-122"/>
                  </a:rPr>
                  <a:t>生态协同</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2" name="文本框 101"/>
              <p:cNvSpPr txBox="1"/>
              <p:nvPr/>
            </p:nvSpPr>
            <p:spPr>
              <a:xfrm>
                <a:off x="11000" y="2841"/>
                <a:ext cx="1841" cy="483"/>
              </a:xfrm>
              <a:prstGeom prst="rect">
                <a:avLst/>
              </a:prstGeom>
              <a:noFill/>
            </p:spPr>
            <p:txBody>
              <a:bodyPr wrap="square" rtlCol="0">
                <a:spAutoFit/>
              </a:bodyPr>
              <a:p>
                <a:pPr algn="ctr"/>
                <a:r>
                  <a:rPr lang="zh-CN" altLang="en-US" sz="1400">
                    <a:solidFill>
                      <a:schemeClr val="tx2"/>
                    </a:solidFill>
                    <a:latin typeface="微软雅黑" panose="020B0503020204020204" charset="-122"/>
                    <a:ea typeface="微软雅黑" panose="020B0503020204020204" charset="-122"/>
                    <a:cs typeface="微软雅黑" panose="020B0503020204020204" charset="-122"/>
                  </a:rPr>
                  <a:t>智能互联</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3" name="文本框 102"/>
              <p:cNvSpPr txBox="1"/>
              <p:nvPr/>
            </p:nvSpPr>
            <p:spPr>
              <a:xfrm>
                <a:off x="11000" y="3374"/>
                <a:ext cx="1841" cy="483"/>
              </a:xfrm>
              <a:prstGeom prst="rect">
                <a:avLst/>
              </a:prstGeom>
              <a:noFill/>
            </p:spPr>
            <p:txBody>
              <a:bodyPr wrap="square" rtlCol="0">
                <a:spAutoFit/>
              </a:bodyPr>
              <a:p>
                <a:pPr algn="ctr"/>
                <a:r>
                  <a:rPr lang="zh-CN" altLang="en-US" sz="1400">
                    <a:solidFill>
                      <a:schemeClr val="tx2"/>
                    </a:solidFill>
                    <a:latin typeface="微软雅黑" panose="020B0503020204020204" charset="-122"/>
                    <a:ea typeface="微软雅黑" panose="020B0503020204020204" charset="-122"/>
                    <a:cs typeface="微软雅黑" panose="020B0503020204020204" charset="-122"/>
                  </a:rPr>
                  <a:t>价值共创</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4" name="文本框 103"/>
              <p:cNvSpPr txBox="1"/>
              <p:nvPr/>
            </p:nvSpPr>
            <p:spPr>
              <a:xfrm>
                <a:off x="8732" y="3374"/>
                <a:ext cx="1841" cy="483"/>
              </a:xfrm>
              <a:prstGeom prst="rect">
                <a:avLst/>
              </a:prstGeom>
              <a:noFill/>
            </p:spPr>
            <p:txBody>
              <a:bodyPr wrap="square" rtlCol="0">
                <a:spAutoFit/>
              </a:bodyPr>
              <a:p>
                <a:pPr algn="ctr"/>
                <a:r>
                  <a:rPr lang="zh-CN" altLang="en-US" sz="1400">
                    <a:solidFill>
                      <a:schemeClr val="tx2"/>
                    </a:solidFill>
                    <a:latin typeface="微软雅黑" panose="020B0503020204020204" charset="-122"/>
                    <a:ea typeface="微软雅黑" panose="020B0503020204020204" charset="-122"/>
                    <a:cs typeface="微软雅黑" panose="020B0503020204020204" charset="-122"/>
                  </a:rPr>
                  <a:t>柔性适配</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5" name="文本框 104"/>
              <p:cNvSpPr txBox="1"/>
              <p:nvPr/>
            </p:nvSpPr>
            <p:spPr>
              <a:xfrm>
                <a:off x="6317" y="3374"/>
                <a:ext cx="1841" cy="483"/>
              </a:xfrm>
              <a:prstGeom prst="rect">
                <a:avLst/>
              </a:prstGeom>
              <a:noFill/>
            </p:spPr>
            <p:txBody>
              <a:bodyPr wrap="square" rtlCol="0">
                <a:spAutoFit/>
              </a:bodyPr>
              <a:p>
                <a:pPr algn="ctr"/>
                <a:r>
                  <a:rPr lang="zh-CN" altLang="en-US" sz="1400">
                    <a:solidFill>
                      <a:schemeClr val="tx2"/>
                    </a:solidFill>
                    <a:latin typeface="微软雅黑" panose="020B0503020204020204" charset="-122"/>
                    <a:ea typeface="微软雅黑" panose="020B0503020204020204" charset="-122"/>
                    <a:cs typeface="微软雅黑" panose="020B0503020204020204" charset="-122"/>
                  </a:rPr>
                  <a:t>全域触达</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106" name="直接箭头连接符 105"/>
              <p:cNvCxnSpPr>
                <a:stCxn id="100" idx="3"/>
                <a:endCxn id="101" idx="1"/>
              </p:cNvCxnSpPr>
              <p:nvPr/>
            </p:nvCxnSpPr>
            <p:spPr>
              <a:xfrm>
                <a:off x="8158" y="3083"/>
                <a:ext cx="574" cy="0"/>
              </a:xfrm>
              <a:prstGeom prst="straightConnector1">
                <a:avLst/>
              </a:prstGeom>
              <a:ln>
                <a:solidFill>
                  <a:schemeClr val="tx2"/>
                </a:solidFill>
                <a:tailEnd type="triangle"/>
              </a:ln>
            </p:spPr>
            <p:style>
              <a:lnRef idx="2">
                <a:schemeClr val="accent1"/>
              </a:lnRef>
              <a:fillRef idx="0">
                <a:srgbClr val="FFFFFF"/>
              </a:fillRef>
              <a:effectRef idx="0">
                <a:srgbClr val="FFFFFF"/>
              </a:effectRef>
              <a:fontRef idx="minor">
                <a:schemeClr val="tx1"/>
              </a:fontRef>
            </p:style>
          </p:cxnSp>
          <p:cxnSp>
            <p:nvCxnSpPr>
              <p:cNvPr id="107" name="直接箭头连接符 106"/>
              <p:cNvCxnSpPr/>
              <p:nvPr/>
            </p:nvCxnSpPr>
            <p:spPr>
              <a:xfrm>
                <a:off x="10480" y="3083"/>
                <a:ext cx="574" cy="0"/>
              </a:xfrm>
              <a:prstGeom prst="straightConnector1">
                <a:avLst/>
              </a:prstGeom>
              <a:ln>
                <a:solidFill>
                  <a:schemeClr val="tx2"/>
                </a:solidFill>
                <a:tailEnd type="triangle"/>
              </a:ln>
            </p:spPr>
            <p:style>
              <a:lnRef idx="2">
                <a:schemeClr val="accent1"/>
              </a:lnRef>
              <a:fillRef idx="0">
                <a:srgbClr val="FFFFFF"/>
              </a:fillRef>
              <a:effectRef idx="0">
                <a:srgbClr val="FFFFFF"/>
              </a:effectRef>
              <a:fontRef idx="minor">
                <a:schemeClr val="tx1"/>
              </a:fontRef>
            </p:style>
          </p:cxnSp>
          <p:cxnSp>
            <p:nvCxnSpPr>
              <p:cNvPr id="109" name="直接箭头连接符 108"/>
              <p:cNvCxnSpPr/>
              <p:nvPr/>
            </p:nvCxnSpPr>
            <p:spPr>
              <a:xfrm flipH="1">
                <a:off x="10509" y="3616"/>
                <a:ext cx="574" cy="0"/>
              </a:xfrm>
              <a:prstGeom prst="straightConnector1">
                <a:avLst/>
              </a:prstGeom>
              <a:ln>
                <a:solidFill>
                  <a:schemeClr val="tx2"/>
                </a:solidFill>
                <a:tailEnd type="triangle"/>
              </a:ln>
            </p:spPr>
            <p:style>
              <a:lnRef idx="2">
                <a:schemeClr val="accent1"/>
              </a:lnRef>
              <a:fillRef idx="0">
                <a:srgbClr val="FFFFFF"/>
              </a:fillRef>
              <a:effectRef idx="0">
                <a:srgbClr val="FFFFFF"/>
              </a:effectRef>
              <a:fontRef idx="minor">
                <a:schemeClr val="tx1"/>
              </a:fontRef>
            </p:style>
          </p:cxnSp>
          <p:cxnSp>
            <p:nvCxnSpPr>
              <p:cNvPr id="110" name="直接箭头连接符 109"/>
              <p:cNvCxnSpPr/>
              <p:nvPr/>
            </p:nvCxnSpPr>
            <p:spPr>
              <a:xfrm flipH="1">
                <a:off x="8158" y="3616"/>
                <a:ext cx="574" cy="0"/>
              </a:xfrm>
              <a:prstGeom prst="straightConnector1">
                <a:avLst/>
              </a:prstGeom>
              <a:ln>
                <a:solidFill>
                  <a:schemeClr val="tx2"/>
                </a:solidFill>
                <a:tailEnd type="triangle"/>
              </a:ln>
            </p:spPr>
            <p:style>
              <a:lnRef idx="2">
                <a:schemeClr val="accent1"/>
              </a:lnRef>
              <a:fillRef idx="0">
                <a:srgbClr val="FFFFFF"/>
              </a:fillRef>
              <a:effectRef idx="0">
                <a:srgbClr val="FFFFFF"/>
              </a:effectRef>
              <a:fontRef idx="minor">
                <a:schemeClr val="tx1"/>
              </a:fontRef>
            </p:style>
          </p:cxnSp>
        </p:grpSp>
      </p:grpSp>
      <p:cxnSp>
        <p:nvCxnSpPr>
          <p:cNvPr id="219" name="直接连接符 218"/>
          <p:cNvCxnSpPr>
            <a:stCxn id="39" idx="5"/>
          </p:cNvCxnSpPr>
          <p:nvPr/>
        </p:nvCxnSpPr>
        <p:spPr>
          <a:xfrm>
            <a:off x="5821045" y="4023360"/>
            <a:ext cx="42545" cy="49530"/>
          </a:xfrm>
          <a:prstGeom prst="line">
            <a:avLst/>
          </a:prstGeom>
          <a:ln>
            <a:solidFill>
              <a:schemeClr val="accent2">
                <a:lumMod val="40000"/>
                <a:lumOff val="60000"/>
              </a:schemeClr>
            </a:solidFill>
          </a:ln>
        </p:spPr>
        <p:style>
          <a:lnRef idx="2">
            <a:schemeClr val="accent1"/>
          </a:lnRef>
          <a:fillRef idx="0">
            <a:srgbClr val="FFFFFF"/>
          </a:fillRef>
          <a:effectRef idx="0">
            <a:srgbClr val="FFFFFF"/>
          </a:effectRef>
          <a:fontRef idx="minor">
            <a:schemeClr val="tx1"/>
          </a:fontRef>
        </p:style>
      </p:cxnSp>
      <p:sp>
        <p:nvSpPr>
          <p:cNvPr id="220" name="文本框 219"/>
          <p:cNvSpPr txBox="1"/>
          <p:nvPr/>
        </p:nvSpPr>
        <p:spPr>
          <a:xfrm>
            <a:off x="5919470" y="3980815"/>
            <a:ext cx="438150" cy="223520"/>
          </a:xfrm>
          <a:prstGeom prst="rect">
            <a:avLst/>
          </a:prstGeom>
          <a:noFill/>
        </p:spPr>
        <p:txBody>
          <a:bodyPr wrap="square" rtlCol="0">
            <a:noAutofit/>
          </a:bodyPr>
          <a:p>
            <a:pPr algn="ctr"/>
            <a:r>
              <a:rPr lang="zh-CN" altLang="en-US" sz="800" b="1">
                <a:solidFill>
                  <a:schemeClr val="accent1"/>
                </a:solidFill>
                <a:latin typeface="微软雅黑" panose="020B0503020204020204" charset="-122"/>
                <a:ea typeface="微软雅黑" panose="020B0503020204020204" charset="-122"/>
                <a:cs typeface="微软雅黑" panose="020B0503020204020204" charset="-122"/>
              </a:rPr>
              <a:t>价值</a:t>
            </a:r>
            <a:endParaRPr lang="zh-CN" altLang="en-US" sz="8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25" name="文本框 224"/>
          <p:cNvSpPr txBox="1"/>
          <p:nvPr/>
        </p:nvSpPr>
        <p:spPr>
          <a:xfrm>
            <a:off x="4805680" y="3183890"/>
            <a:ext cx="471805" cy="144780"/>
          </a:xfrm>
          <a:prstGeom prst="rect">
            <a:avLst/>
          </a:prstGeom>
          <a:noFill/>
        </p:spPr>
        <p:txBody>
          <a:bodyPr wrap="square" rtlCol="0" anchor="ctr" anchorCtr="0">
            <a:noAutofit/>
          </a:bodyPr>
          <a:p>
            <a:pPr algn="ctr"/>
            <a:r>
              <a:rPr lang="zh-CN" altLang="en-US" sz="600" b="1">
                <a:solidFill>
                  <a:schemeClr val="tx2"/>
                </a:solidFill>
                <a:latin typeface="微软雅黑" panose="020B0503020204020204" charset="-122"/>
                <a:ea typeface="微软雅黑" panose="020B0503020204020204" charset="-122"/>
                <a:cs typeface="微软雅黑" panose="020B0503020204020204" charset="-122"/>
                <a:sym typeface="+mn-ea"/>
              </a:rPr>
              <a:t>消费者</a:t>
            </a:r>
            <a:endParaRPr lang="zh-CN" altLang="en-US" sz="600" b="1">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26" name="文本框 225"/>
          <p:cNvSpPr txBox="1"/>
          <p:nvPr/>
        </p:nvSpPr>
        <p:spPr>
          <a:xfrm>
            <a:off x="6347460" y="4649470"/>
            <a:ext cx="518795" cy="144780"/>
          </a:xfrm>
          <a:prstGeom prst="rect">
            <a:avLst/>
          </a:prstGeom>
          <a:noFill/>
        </p:spPr>
        <p:txBody>
          <a:bodyPr wrap="square" rtlCol="0" anchor="ctr" anchorCtr="0">
            <a:noAutofit/>
          </a:bodyPr>
          <a:p>
            <a:pPr algn="ctr"/>
            <a:r>
              <a:rPr lang="zh-CN" altLang="en-US" sz="600" b="1">
                <a:solidFill>
                  <a:schemeClr val="tx2"/>
                </a:solidFill>
                <a:latin typeface="微软雅黑" panose="020B0503020204020204" charset="-122"/>
                <a:ea typeface="微软雅黑" panose="020B0503020204020204" charset="-122"/>
                <a:cs typeface="微软雅黑" panose="020B0503020204020204" charset="-122"/>
                <a:sym typeface="+mn-ea"/>
              </a:rPr>
              <a:t>零售终端</a:t>
            </a:r>
            <a:endParaRPr lang="zh-CN" altLang="en-US" sz="600" b="1">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28" name="文本框 227"/>
          <p:cNvSpPr txBox="1"/>
          <p:nvPr/>
        </p:nvSpPr>
        <p:spPr>
          <a:xfrm>
            <a:off x="6981825" y="3939540"/>
            <a:ext cx="504825" cy="144780"/>
          </a:xfrm>
          <a:prstGeom prst="rect">
            <a:avLst/>
          </a:prstGeom>
          <a:noFill/>
        </p:spPr>
        <p:txBody>
          <a:bodyPr wrap="square" rtlCol="0" anchor="ctr" anchorCtr="0">
            <a:noAutofit/>
          </a:bodyPr>
          <a:p>
            <a:pPr algn="ctr"/>
            <a:r>
              <a:rPr lang="zh-CN" altLang="en-US" sz="600" b="1">
                <a:solidFill>
                  <a:schemeClr val="tx2"/>
                </a:solidFill>
                <a:latin typeface="微软雅黑" panose="020B0503020204020204" charset="-122"/>
                <a:ea typeface="微软雅黑" panose="020B0503020204020204" charset="-122"/>
                <a:cs typeface="微软雅黑" panose="020B0503020204020204" charset="-122"/>
              </a:rPr>
              <a:t>品牌商</a:t>
            </a:r>
            <a:endParaRPr lang="zh-CN" altLang="en-US" sz="6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29" name="文本框 228"/>
          <p:cNvSpPr txBox="1"/>
          <p:nvPr/>
        </p:nvSpPr>
        <p:spPr>
          <a:xfrm>
            <a:off x="7136130" y="3315335"/>
            <a:ext cx="424815" cy="144780"/>
          </a:xfrm>
          <a:prstGeom prst="rect">
            <a:avLst/>
          </a:prstGeom>
          <a:noFill/>
        </p:spPr>
        <p:txBody>
          <a:bodyPr wrap="square" rtlCol="0" anchor="ctr" anchorCtr="0">
            <a:noAutofit/>
          </a:bodyPr>
          <a:p>
            <a:pPr algn="ctr"/>
            <a:r>
              <a:rPr lang="zh-CN" altLang="en-US" sz="600" b="1">
                <a:solidFill>
                  <a:schemeClr val="tx2"/>
                </a:solidFill>
                <a:latin typeface="微软雅黑" panose="020B0503020204020204" charset="-122"/>
                <a:ea typeface="微软雅黑" panose="020B0503020204020204" charset="-122"/>
                <a:cs typeface="微软雅黑" panose="020B0503020204020204" charset="-122"/>
              </a:rPr>
              <a:t>消费者</a:t>
            </a:r>
            <a:endParaRPr lang="zh-CN" altLang="en-US" sz="6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30" name="文本框 229"/>
          <p:cNvSpPr txBox="1"/>
          <p:nvPr/>
        </p:nvSpPr>
        <p:spPr>
          <a:xfrm>
            <a:off x="8200390" y="3687445"/>
            <a:ext cx="465455" cy="144780"/>
          </a:xfrm>
          <a:prstGeom prst="rect">
            <a:avLst/>
          </a:prstGeom>
          <a:noFill/>
        </p:spPr>
        <p:txBody>
          <a:bodyPr wrap="square" rtlCol="0" anchor="ctr" anchorCtr="0">
            <a:noAutofit/>
          </a:bodyPr>
          <a:p>
            <a:pPr algn="ctr"/>
            <a:r>
              <a:rPr lang="zh-CN" altLang="en-US" sz="600" b="1">
                <a:solidFill>
                  <a:schemeClr val="tx2"/>
                </a:solidFill>
                <a:latin typeface="微软雅黑" panose="020B0503020204020204" charset="-122"/>
                <a:ea typeface="微软雅黑" panose="020B0503020204020204" charset="-122"/>
                <a:cs typeface="微软雅黑" panose="020B0503020204020204" charset="-122"/>
              </a:rPr>
              <a:t>品牌商</a:t>
            </a:r>
            <a:endParaRPr lang="zh-CN" altLang="en-US" sz="6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31" name="文本框 230"/>
          <p:cNvSpPr txBox="1"/>
          <p:nvPr/>
        </p:nvSpPr>
        <p:spPr>
          <a:xfrm>
            <a:off x="8335010" y="4195445"/>
            <a:ext cx="569595" cy="144780"/>
          </a:xfrm>
          <a:prstGeom prst="rect">
            <a:avLst/>
          </a:prstGeom>
          <a:noFill/>
        </p:spPr>
        <p:txBody>
          <a:bodyPr wrap="square" rtlCol="0" anchor="ctr" anchorCtr="0">
            <a:noAutofit/>
          </a:bodyPr>
          <a:p>
            <a:pPr algn="ctr"/>
            <a:r>
              <a:rPr lang="zh-CN" altLang="en-US" sz="600" b="1">
                <a:solidFill>
                  <a:schemeClr val="tx2"/>
                </a:solidFill>
                <a:latin typeface="微软雅黑" panose="020B0503020204020204" charset="-122"/>
                <a:ea typeface="微软雅黑" panose="020B0503020204020204" charset="-122"/>
                <a:cs typeface="微软雅黑" panose="020B0503020204020204" charset="-122"/>
                <a:sym typeface="+mn-ea"/>
              </a:rPr>
              <a:t>零售终端</a:t>
            </a:r>
            <a:endParaRPr lang="zh-CN" altLang="en-US" sz="600" b="1">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32" name="椭圆 231"/>
          <p:cNvSpPr/>
          <p:nvPr/>
        </p:nvSpPr>
        <p:spPr>
          <a:xfrm>
            <a:off x="4442460" y="4055745"/>
            <a:ext cx="71755" cy="71755"/>
          </a:xfrm>
          <a:prstGeom prst="ellipse">
            <a:avLst/>
          </a:prstGeom>
          <a:solidFill>
            <a:schemeClr val="accent1">
              <a:lumMod val="60000"/>
              <a:lumOff val="40000"/>
            </a:schemeClr>
          </a:solidFill>
          <a:ln>
            <a:solidFill>
              <a:schemeClr val="accent1">
                <a:lumMod val="20000"/>
                <a:lumOff val="8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grpSp>
        <p:nvGrpSpPr>
          <p:cNvPr id="272" name="组合 271"/>
          <p:cNvGrpSpPr/>
          <p:nvPr/>
        </p:nvGrpSpPr>
        <p:grpSpPr>
          <a:xfrm>
            <a:off x="9050020" y="1850390"/>
            <a:ext cx="2738755" cy="474345"/>
            <a:chOff x="14263" y="2665"/>
            <a:chExt cx="4313" cy="747"/>
          </a:xfrm>
        </p:grpSpPr>
        <p:sp>
          <p:nvSpPr>
            <p:cNvPr id="233" name="文本框 1"/>
            <p:cNvSpPr txBox="1"/>
            <p:nvPr/>
          </p:nvSpPr>
          <p:spPr>
            <a:xfrm>
              <a:off x="16159" y="2665"/>
              <a:ext cx="2311" cy="629"/>
            </a:xfrm>
            <a:prstGeom prst="parallelogram">
              <a:avLst/>
            </a:prstGeom>
            <a:gradFill flip="none" rotWithShape="1">
              <a:gsLst>
                <a:gs pos="0">
                  <a:schemeClr val="accent5"/>
                </a:gs>
                <a:gs pos="32000">
                  <a:schemeClr val="accent5">
                    <a:alpha val="0"/>
                  </a:schemeClr>
                </a:gs>
              </a:gsLst>
              <a:lin ang="2700000" scaled="1"/>
              <a:tileRect/>
            </a:gradFill>
            <a:ln w="19050" cap="flat">
              <a:gradFill>
                <a:gsLst>
                  <a:gs pos="0">
                    <a:schemeClr val="accent5"/>
                  </a:gs>
                  <a:gs pos="15000">
                    <a:schemeClr val="accent5">
                      <a:alpha val="0"/>
                    </a:schemeClr>
                  </a:gs>
                </a:gsLst>
                <a:lin ang="2700000" scaled="0"/>
              </a:gradFill>
              <a:miter lim="400000"/>
            </a:ln>
            <a:effectLst/>
            <a:sp3d/>
          </p:spPr>
          <p:txBody>
            <a:bodyPr rot="0" spcFirstLastPara="1" vertOverflow="overflow" horzOverflow="overflow" vert="horz" wrap="square" lIns="79998" tIns="79998" rIns="79998" bIns="79998" numCol="1" spcCol="38100" rtlCol="0" anchor="ctr">
              <a:noAutofit/>
            </a:bodyPr>
            <a:lstStyle/>
            <a:p>
              <a:pPr defTabSz="1299845" hangingPunct="1">
                <a:defRPr/>
              </a:pPr>
              <a:endParaRPr lang="en-US" altLang="zh-CN" sz="1050" kern="1200"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234" name="文本框 1"/>
            <p:cNvSpPr txBox="1"/>
            <p:nvPr/>
          </p:nvSpPr>
          <p:spPr>
            <a:xfrm>
              <a:off x="16266" y="2784"/>
              <a:ext cx="2311" cy="629"/>
            </a:xfrm>
            <a:prstGeom prst="parallelogram">
              <a:avLst/>
            </a:prstGeom>
            <a:gradFill flip="none" rotWithShape="1">
              <a:gsLst>
                <a:gs pos="100000">
                  <a:schemeClr val="accent5">
                    <a:alpha val="40000"/>
                  </a:schemeClr>
                </a:gs>
                <a:gs pos="61000">
                  <a:schemeClr val="accent5">
                    <a:alpha val="0"/>
                  </a:schemeClr>
                </a:gs>
              </a:gsLst>
              <a:path path="circle">
                <a:fillToRect l="50000" t="50000" r="50000" b="50000"/>
              </a:path>
              <a:tileRect/>
            </a:gradFill>
            <a:ln w="9525" cap="flat">
              <a:solidFill>
                <a:schemeClr val="accent5"/>
              </a:solidFill>
              <a:miter lim="400000"/>
            </a:ln>
            <a:effectLst/>
            <a:sp3d/>
          </p:spPr>
          <p:txBody>
            <a:bodyPr rot="0" spcFirstLastPara="1" vertOverflow="overflow" horzOverflow="overflow" vert="horz" wrap="square" lIns="79998" tIns="79998" rIns="79998" bIns="79998" numCol="1" spcCol="38100" rtlCol="0" anchor="ctr">
              <a:noAutofit/>
            </a:bodyPr>
            <a:lstStyle/>
            <a:p>
              <a:pPr algn="ctr" defTabSz="1299845" hangingPunct="1">
                <a:defRPr/>
              </a:pPr>
              <a:r>
                <a:rPr lang="zh-CN" altLang="en-US" sz="1200" b="1" kern="1200" dirty="0">
                  <a:solidFill>
                    <a:schemeClr val="accent5"/>
                  </a:solidFill>
                  <a:latin typeface="微软雅黑" panose="020B0503020204020204" charset="-122"/>
                  <a:ea typeface="微软雅黑" panose="020B0503020204020204" charset="-122"/>
                  <a:cs typeface="微软雅黑" panose="020B0503020204020204" charset="-122"/>
                </a:rPr>
                <a:t>价值跃升</a:t>
              </a:r>
              <a:endParaRPr lang="zh-CN" altLang="en-US" sz="1200" b="1" kern="1200" dirty="0">
                <a:solidFill>
                  <a:schemeClr val="accent5"/>
                </a:solidFill>
                <a:latin typeface="微软雅黑" panose="020B0503020204020204" charset="-122"/>
                <a:ea typeface="微软雅黑" panose="020B0503020204020204" charset="-122"/>
                <a:cs typeface="微软雅黑" panose="020B0503020204020204" charset="-122"/>
              </a:endParaRPr>
            </a:p>
          </p:txBody>
        </p:sp>
        <p:grpSp>
          <p:nvGrpSpPr>
            <p:cNvPr id="345" name="组合 344"/>
            <p:cNvGrpSpPr/>
            <p:nvPr/>
          </p:nvGrpSpPr>
          <p:grpSpPr>
            <a:xfrm>
              <a:off x="14263" y="3011"/>
              <a:ext cx="2043" cy="227"/>
              <a:chOff x="8823521" y="1860849"/>
              <a:chExt cx="1297315" cy="144000"/>
            </a:xfrm>
          </p:grpSpPr>
          <p:grpSp>
            <p:nvGrpSpPr>
              <p:cNvPr id="344" name="组合 343"/>
              <p:cNvGrpSpPr/>
              <p:nvPr/>
            </p:nvGrpSpPr>
            <p:grpSpPr>
              <a:xfrm>
                <a:off x="9976836" y="1860849"/>
                <a:ext cx="144000" cy="144000"/>
                <a:chOff x="9976836" y="1860849"/>
                <a:chExt cx="144000" cy="144000"/>
              </a:xfrm>
            </p:grpSpPr>
            <p:sp>
              <p:nvSpPr>
                <p:cNvPr id="241" name="椭圆 240"/>
                <p:cNvSpPr/>
                <p:nvPr/>
              </p:nvSpPr>
              <p:spPr>
                <a:xfrm>
                  <a:off x="9976836" y="1860849"/>
                  <a:ext cx="144000" cy="144000"/>
                </a:xfrm>
                <a:prstGeom prst="ellipse">
                  <a:avLst/>
                </a:prstGeom>
                <a:gradFill>
                  <a:gsLst>
                    <a:gs pos="2000">
                      <a:schemeClr val="accent5">
                        <a:alpha val="71000"/>
                      </a:schemeClr>
                    </a:gs>
                    <a:gs pos="100000">
                      <a:schemeClr val="accent5">
                        <a:alpha val="0"/>
                      </a:schemeClr>
                    </a:gs>
                  </a:gsLst>
                  <a:lin ang="5400000" scaled="1"/>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1100" b="0" i="0" u="none" strike="noStrike" cap="none" spc="0" normalizeH="0" baseline="0">
                    <a:ln>
                      <a:noFill/>
                    </a:ln>
                    <a:solidFill>
                      <a:schemeClr val="accent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42" name="椭圆 241"/>
                <p:cNvSpPr/>
                <p:nvPr/>
              </p:nvSpPr>
              <p:spPr>
                <a:xfrm>
                  <a:off x="10012836" y="1896849"/>
                  <a:ext cx="72000" cy="72000"/>
                </a:xfrm>
                <a:prstGeom prst="ellipse">
                  <a:avLst/>
                </a:prstGeom>
                <a:solidFill>
                  <a:schemeClr val="accent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pPr>
                  <a:endParaRPr kumimoji="0" lang="zh-CN" altLang="en-US" sz="1100" b="0" i="0" u="none" strike="noStrike" cap="none" spc="0" normalizeH="0" baseline="0">
                    <a:ln>
                      <a:noFill/>
                    </a:ln>
                    <a:solidFill>
                      <a:schemeClr val="accent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cxnSp>
            <p:nvCxnSpPr>
              <p:cNvPr id="243" name="直接连接符 242"/>
              <p:cNvCxnSpPr/>
              <p:nvPr/>
            </p:nvCxnSpPr>
            <p:spPr>
              <a:xfrm flipH="1">
                <a:off x="8823521" y="1932849"/>
                <a:ext cx="1209322" cy="0"/>
              </a:xfrm>
              <a:prstGeom prst="line">
                <a:avLst/>
              </a:prstGeom>
              <a:noFill/>
              <a:ln w="25400" cap="flat">
                <a:gradFill>
                  <a:gsLst>
                    <a:gs pos="0">
                      <a:schemeClr val="accent5"/>
                    </a:gs>
                    <a:gs pos="80000">
                      <a:schemeClr val="accent5">
                        <a:alpha val="0"/>
                      </a:schemeClr>
                    </a:gs>
                  </a:gsLst>
                  <a:lin ang="0" scaled="0"/>
                </a:gradFill>
                <a:prstDash val="solid"/>
                <a:miter lim="400000"/>
              </a:ln>
              <a:effectLst/>
              <a:sp3d/>
            </p:spPr>
            <p:style>
              <a:lnRef idx="0">
                <a:scrgbClr r="0" g="0" b="0"/>
              </a:lnRef>
              <a:fillRef idx="0">
                <a:scrgbClr r="0" g="0" b="0"/>
              </a:fillRef>
              <a:effectRef idx="0">
                <a:scrgbClr r="0" g="0" b="0"/>
              </a:effectRef>
              <a:fontRef idx="none"/>
            </p:style>
          </p:cxnSp>
        </p:grpSp>
      </p:grpSp>
      <p:sp>
        <p:nvSpPr>
          <p:cNvPr id="248" name="紫荆的职场Point99-4"/>
          <p:cNvSpPr/>
          <p:nvPr/>
        </p:nvSpPr>
        <p:spPr>
          <a:xfrm rot="16200000" flipH="1">
            <a:off x="2005965" y="1668145"/>
            <a:ext cx="647700" cy="869950"/>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lumMod val="60000"/>
                  <a:lumOff val="40000"/>
                  <a:alpha val="0"/>
                </a:schemeClr>
              </a:gs>
              <a:gs pos="100000">
                <a:schemeClr val="accent5"/>
              </a:gs>
            </a:gsLst>
            <a:lin ang="16200000" scaled="1"/>
            <a:tileRect/>
          </a:gradFill>
          <a:ln w="6350" cap="flat" cmpd="sng" algn="ctr">
            <a:noFill/>
            <a:prstDash val="lgDash"/>
            <a:miter lim="800000"/>
          </a:ln>
          <a:effectLst>
            <a:outerShdw blurRad="190500" algn="ctr" rotWithShape="0">
              <a:schemeClr val="accent5">
                <a:lumMod val="60000"/>
                <a:lumOff val="40000"/>
                <a:alpha val="40000"/>
              </a:schemeClr>
            </a:outerShdw>
          </a:effectLst>
        </p:spPr>
        <p:txBody>
          <a:bodyPr wrap="square" rtlCol="0" anchor="ctr">
            <a:noAutofit/>
          </a:bodyP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9" name="文本框 248"/>
          <p:cNvSpPr txBox="1"/>
          <p:nvPr/>
        </p:nvSpPr>
        <p:spPr>
          <a:xfrm>
            <a:off x="1882140" y="1939290"/>
            <a:ext cx="988695" cy="337185"/>
          </a:xfrm>
          <a:prstGeom prst="rect">
            <a:avLst/>
          </a:prstGeom>
          <a:noFill/>
        </p:spPr>
        <p:txBody>
          <a:bodyPr wrap="square" rtlCol="0">
            <a:spAutoFit/>
          </a:bodyPr>
          <a:p>
            <a:pPr algn="ctr"/>
            <a:r>
              <a:rPr lang="zh-CN" altLang="en-US" sz="800" b="1">
                <a:solidFill>
                  <a:schemeClr val="bg1"/>
                </a:solidFill>
                <a:latin typeface="微软雅黑" panose="020B0503020204020204" charset="-122"/>
                <a:ea typeface="微软雅黑" panose="020B0503020204020204" charset="-122"/>
                <a:cs typeface="微软雅黑" panose="020B0503020204020204" charset="-122"/>
              </a:rPr>
              <a:t>以客户</a:t>
            </a:r>
            <a:endParaRPr lang="zh-CN" altLang="en-US" sz="8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800" b="1">
                <a:solidFill>
                  <a:schemeClr val="bg1"/>
                </a:solidFill>
                <a:latin typeface="微软雅黑" panose="020B0503020204020204" charset="-122"/>
                <a:ea typeface="微软雅黑" panose="020B0503020204020204" charset="-122"/>
                <a:cs typeface="微软雅黑" panose="020B0503020204020204" charset="-122"/>
              </a:rPr>
              <a:t>为中心</a:t>
            </a:r>
            <a:endParaRPr lang="zh-CN" altLang="en-US" sz="8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57" name="文本框 256"/>
          <p:cNvSpPr txBox="1"/>
          <p:nvPr/>
        </p:nvSpPr>
        <p:spPr>
          <a:xfrm>
            <a:off x="4323080" y="1250950"/>
            <a:ext cx="3423285" cy="368300"/>
          </a:xfrm>
          <a:prstGeom prst="rect">
            <a:avLst/>
          </a:prstGeom>
          <a:noFill/>
        </p:spPr>
        <p:txBody>
          <a:bodyPr wrap="square" rtlCol="0">
            <a:spAutoFit/>
          </a:bodyPr>
          <a:p>
            <a:pPr algn="ctr"/>
            <a:r>
              <a:rPr lang="zh-CN" altLang="en-US" b="1">
                <a:solidFill>
                  <a:schemeClr val="accent5"/>
                </a:solidFill>
                <a:latin typeface="微软雅黑" panose="020B0503020204020204" charset="-122"/>
                <a:ea typeface="微软雅黑" panose="020B0503020204020204" charset="-122"/>
                <a:cs typeface="微软雅黑" panose="020B0503020204020204" charset="-122"/>
              </a:rPr>
              <a:t>战略层：</a:t>
            </a: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智启生态中枢</a:t>
            </a:r>
            <a:r>
              <a:rPr lang="en-US" altLang="zh-CN" sz="1200" b="1">
                <a:solidFill>
                  <a:schemeClr val="accent5"/>
                </a:solidFill>
                <a:latin typeface="微软雅黑" panose="020B0503020204020204" charset="-122"/>
                <a:ea typeface="微软雅黑" panose="020B0503020204020204" charset="-122"/>
                <a:cs typeface="微软雅黑" panose="020B0503020204020204" charset="-122"/>
              </a:rPr>
              <a:t> </a:t>
            </a: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创领无界零售</a:t>
            </a:r>
            <a:endParaRPr lang="zh-CN" altLang="en-US" sz="12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260" name="文本框 259"/>
          <p:cNvSpPr txBox="1"/>
          <p:nvPr/>
        </p:nvSpPr>
        <p:spPr>
          <a:xfrm>
            <a:off x="3823335" y="2637790"/>
            <a:ext cx="4422775" cy="553085"/>
          </a:xfrm>
          <a:prstGeom prst="rect">
            <a:avLst/>
          </a:prstGeom>
          <a:noFill/>
        </p:spPr>
        <p:txBody>
          <a:bodyPr wrap="square" rtlCol="0">
            <a:spAutoFit/>
          </a:bodyPr>
          <a:p>
            <a:pPr algn="ctr"/>
            <a:r>
              <a:rPr lang="zh-CN" altLang="en-US"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资源层：</a:t>
            </a:r>
            <a:r>
              <a:rPr lang="zh-CN" altLang="en-US" sz="12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rPr>
              <a:t>构建新零售资源网络，五大节点协同共振</a:t>
            </a:r>
            <a:endParaRPr lang="zh-CN" altLang="en-US" sz="12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endParaRPr lang="zh-CN" altLang="en-US" sz="12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61" name="文本框 260"/>
          <p:cNvSpPr txBox="1"/>
          <p:nvPr/>
        </p:nvSpPr>
        <p:spPr>
          <a:xfrm>
            <a:off x="4323080" y="4885055"/>
            <a:ext cx="3423285" cy="368300"/>
          </a:xfrm>
          <a:prstGeom prst="rect">
            <a:avLst/>
          </a:prstGeom>
          <a:noFill/>
        </p:spPr>
        <p:txBody>
          <a:bodyPr wrap="square" rtlCol="0">
            <a:spAutoFit/>
          </a:bodyPr>
          <a:p>
            <a:pPr algn="ctr"/>
            <a:r>
              <a:rPr lang="zh-CN" altLang="en-US" b="1">
                <a:solidFill>
                  <a:schemeClr val="accent1"/>
                </a:solidFill>
                <a:latin typeface="微软雅黑" panose="020B0503020204020204" charset="-122"/>
                <a:ea typeface="微软雅黑" panose="020B0503020204020204" charset="-122"/>
                <a:cs typeface="微软雅黑" panose="020B0503020204020204" charset="-122"/>
              </a:rPr>
              <a:t>创新层：</a:t>
            </a: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数智生态共生</a:t>
            </a:r>
            <a:r>
              <a:rPr lang="en-US" altLang="zh-CN" sz="1200" b="1">
                <a:solidFill>
                  <a:schemeClr val="accent1"/>
                </a:solidFill>
                <a:latin typeface="微软雅黑" panose="020B0503020204020204" charset="-122"/>
                <a:ea typeface="微软雅黑" panose="020B0503020204020204" charset="-122"/>
                <a:cs typeface="微软雅黑" panose="020B0503020204020204" charset="-122"/>
              </a:rPr>
              <a:t> </a:t>
            </a: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场景范式重构</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p:txBody>
      </p:sp>
      <p:grpSp>
        <p:nvGrpSpPr>
          <p:cNvPr id="273" name="组合 272"/>
          <p:cNvGrpSpPr/>
          <p:nvPr/>
        </p:nvGrpSpPr>
        <p:grpSpPr>
          <a:xfrm>
            <a:off x="9016365" y="3213100"/>
            <a:ext cx="2738755" cy="474345"/>
            <a:chOff x="14263" y="2665"/>
            <a:chExt cx="4313" cy="747"/>
          </a:xfrm>
        </p:grpSpPr>
        <p:sp>
          <p:nvSpPr>
            <p:cNvPr id="274" name="文本框 1"/>
            <p:cNvSpPr txBox="1"/>
            <p:nvPr/>
          </p:nvSpPr>
          <p:spPr>
            <a:xfrm>
              <a:off x="16159" y="2665"/>
              <a:ext cx="2311" cy="629"/>
            </a:xfrm>
            <a:prstGeom prst="parallelogram">
              <a:avLst/>
            </a:prstGeom>
            <a:gradFill flip="none" rotWithShape="1">
              <a:gsLst>
                <a:gs pos="0">
                  <a:schemeClr val="accent1">
                    <a:lumMod val="60000"/>
                    <a:lumOff val="40000"/>
                  </a:schemeClr>
                </a:gs>
                <a:gs pos="32000">
                  <a:schemeClr val="accent1">
                    <a:lumMod val="60000"/>
                    <a:lumOff val="40000"/>
                    <a:alpha val="0"/>
                  </a:schemeClr>
                </a:gs>
              </a:gsLst>
              <a:lin ang="2700000" scaled="1"/>
              <a:tileRect/>
            </a:gradFill>
            <a:ln w="19050" cap="flat">
              <a:gradFill>
                <a:gsLst>
                  <a:gs pos="0">
                    <a:schemeClr val="accent1">
                      <a:lumMod val="60000"/>
                      <a:lumOff val="40000"/>
                    </a:schemeClr>
                  </a:gs>
                  <a:gs pos="15000">
                    <a:schemeClr val="accent1">
                      <a:lumMod val="60000"/>
                      <a:lumOff val="40000"/>
                      <a:alpha val="0"/>
                    </a:schemeClr>
                  </a:gs>
                </a:gsLst>
                <a:lin ang="2700000" scaled="0"/>
              </a:gradFill>
              <a:miter lim="400000"/>
            </a:ln>
            <a:effectLst/>
            <a:sp3d/>
          </p:spPr>
          <p:txBody>
            <a:bodyPr rot="0" spcFirstLastPara="1" vertOverflow="overflow" horzOverflow="overflow" vert="horz" wrap="square" lIns="79998" tIns="79998" rIns="79998" bIns="79998" numCol="1" spcCol="38100" rtlCol="0" anchor="ctr">
              <a:noAutofit/>
            </a:bodyPr>
            <a:p>
              <a:pPr defTabSz="1299845" hangingPunct="1">
                <a:defRPr/>
              </a:pPr>
              <a:endParaRPr lang="en-US" altLang="zh-CN" sz="1050" kern="1200"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275" name="文本框 1"/>
            <p:cNvSpPr txBox="1"/>
            <p:nvPr/>
          </p:nvSpPr>
          <p:spPr>
            <a:xfrm>
              <a:off x="16266" y="2784"/>
              <a:ext cx="2311" cy="629"/>
            </a:xfrm>
            <a:prstGeom prst="parallelogram">
              <a:avLst/>
            </a:prstGeom>
            <a:gradFill flip="none" rotWithShape="1">
              <a:gsLst>
                <a:gs pos="100000">
                  <a:schemeClr val="accent1">
                    <a:lumMod val="60000"/>
                    <a:lumOff val="40000"/>
                  </a:schemeClr>
                </a:gs>
                <a:gs pos="61000">
                  <a:schemeClr val="accent1">
                    <a:lumMod val="60000"/>
                    <a:lumOff val="40000"/>
                    <a:alpha val="0"/>
                  </a:schemeClr>
                </a:gs>
              </a:gsLst>
              <a:path path="circle">
                <a:fillToRect l="50000" t="50000" r="50000" b="50000"/>
              </a:path>
              <a:tileRect/>
            </a:gradFill>
            <a:ln w="9525" cap="flat">
              <a:solidFill>
                <a:schemeClr val="accent1">
                  <a:lumMod val="60000"/>
                  <a:lumOff val="40000"/>
                </a:schemeClr>
              </a:solidFill>
              <a:miter lim="400000"/>
            </a:ln>
            <a:effectLst/>
            <a:sp3d/>
          </p:spPr>
          <p:txBody>
            <a:bodyPr rot="0" spcFirstLastPara="1" vertOverflow="overflow" horzOverflow="overflow" vert="horz" wrap="square" lIns="79998" tIns="79998" rIns="79998" bIns="79998" numCol="1" spcCol="38100" rtlCol="0" anchor="ctr">
              <a:noAutofit/>
            </a:bodyPr>
            <a:p>
              <a:pPr algn="ctr" defTabSz="1299845" hangingPunct="1">
                <a:defRPr/>
              </a:pPr>
              <a:r>
                <a:rPr lang="zh-CN" altLang="en-US" sz="1200" b="1" kern="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生态融通</a:t>
              </a:r>
              <a:endParaRPr lang="zh-CN" altLang="en-US" sz="1200" b="1" kern="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nvGrpSpPr>
            <p:cNvPr id="276" name="组合 275"/>
            <p:cNvGrpSpPr/>
            <p:nvPr/>
          </p:nvGrpSpPr>
          <p:grpSpPr>
            <a:xfrm>
              <a:off x="14263" y="3011"/>
              <a:ext cx="2043" cy="227"/>
              <a:chOff x="8823521" y="1860849"/>
              <a:chExt cx="1297315" cy="144000"/>
            </a:xfrm>
          </p:grpSpPr>
          <p:grpSp>
            <p:nvGrpSpPr>
              <p:cNvPr id="277" name="组合 276"/>
              <p:cNvGrpSpPr/>
              <p:nvPr/>
            </p:nvGrpSpPr>
            <p:grpSpPr>
              <a:xfrm>
                <a:off x="9976836" y="1860849"/>
                <a:ext cx="144000" cy="144000"/>
                <a:chOff x="9976836" y="1860849"/>
                <a:chExt cx="144000" cy="144000"/>
              </a:xfrm>
            </p:grpSpPr>
            <p:sp>
              <p:nvSpPr>
                <p:cNvPr id="278" name="椭圆 277"/>
                <p:cNvSpPr/>
                <p:nvPr/>
              </p:nvSpPr>
              <p:spPr>
                <a:xfrm>
                  <a:off x="9976836" y="1860849"/>
                  <a:ext cx="144000" cy="144000"/>
                </a:xfrm>
                <a:prstGeom prst="ellipse">
                  <a:avLst/>
                </a:prstGeom>
                <a:gradFill>
                  <a:gsLst>
                    <a:gs pos="2000">
                      <a:schemeClr val="accent1">
                        <a:lumMod val="60000"/>
                        <a:lumOff val="40000"/>
                      </a:schemeClr>
                    </a:gs>
                    <a:gs pos="100000">
                      <a:schemeClr val="accent1">
                        <a:lumMod val="60000"/>
                        <a:lumOff val="40000"/>
                        <a:alpha val="0"/>
                      </a:schemeClr>
                    </a:gs>
                  </a:gsLst>
                  <a:lin ang="5400000" scaled="1"/>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p>
                  <a:pPr marL="0" marR="0" indent="0" algn="ctr" defTabSz="825500" rtl="0" fontAlgn="auto" latinLnBrk="0" hangingPunct="0">
                    <a:lnSpc>
                      <a:spcPct val="100000"/>
                    </a:lnSpc>
                    <a:spcBef>
                      <a:spcPts val="0"/>
                    </a:spcBef>
                    <a:spcAft>
                      <a:spcPts val="0"/>
                    </a:spcAft>
                    <a:buClrTx/>
                    <a:buSzTx/>
                    <a:buFontTx/>
                    <a:buNone/>
                  </a:pPr>
                  <a:endParaRPr kumimoji="0" lang="zh-CN" altLang="en-US" sz="1100" b="0" i="0" u="none" strike="noStrike" cap="none" spc="0" normalizeH="0" baseline="0">
                    <a:ln>
                      <a:noFill/>
                    </a:ln>
                    <a:solidFill>
                      <a:schemeClr val="accent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79" name="椭圆 278"/>
                <p:cNvSpPr/>
                <p:nvPr/>
              </p:nvSpPr>
              <p:spPr>
                <a:xfrm>
                  <a:off x="10012836" y="1896849"/>
                  <a:ext cx="72000" cy="72000"/>
                </a:xfrm>
                <a:prstGeom prst="ellipse">
                  <a:avLst/>
                </a:prstGeom>
                <a:solidFill>
                  <a:schemeClr val="accent1">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p>
                  <a:pPr marL="0" marR="0" indent="0" algn="ctr" defTabSz="825500" rtl="0" fontAlgn="auto" latinLnBrk="0" hangingPunct="0">
                    <a:lnSpc>
                      <a:spcPct val="100000"/>
                    </a:lnSpc>
                    <a:spcBef>
                      <a:spcPts val="0"/>
                    </a:spcBef>
                    <a:spcAft>
                      <a:spcPts val="0"/>
                    </a:spcAft>
                    <a:buClrTx/>
                    <a:buSzTx/>
                    <a:buFontTx/>
                    <a:buNone/>
                  </a:pPr>
                  <a:endParaRPr kumimoji="0" lang="zh-CN" altLang="en-US" sz="1100" b="0" i="0" u="none" strike="noStrike" cap="none" spc="0" normalizeH="0" baseline="0">
                    <a:ln>
                      <a:noFill/>
                    </a:ln>
                    <a:solidFill>
                      <a:schemeClr val="accent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cxnSp>
            <p:nvCxnSpPr>
              <p:cNvPr id="280" name="直接连接符 279"/>
              <p:cNvCxnSpPr/>
              <p:nvPr/>
            </p:nvCxnSpPr>
            <p:spPr>
              <a:xfrm flipH="1">
                <a:off x="8823521" y="1932849"/>
                <a:ext cx="1209322" cy="0"/>
              </a:xfrm>
              <a:prstGeom prst="line">
                <a:avLst/>
              </a:prstGeom>
              <a:noFill/>
              <a:ln w="25400" cap="flat">
                <a:gradFill>
                  <a:gsLst>
                    <a:gs pos="0">
                      <a:schemeClr val="accent1">
                        <a:lumMod val="60000"/>
                        <a:lumOff val="40000"/>
                      </a:schemeClr>
                    </a:gs>
                    <a:gs pos="80000">
                      <a:schemeClr val="accent1">
                        <a:lumMod val="60000"/>
                        <a:lumOff val="40000"/>
                        <a:alpha val="0"/>
                      </a:schemeClr>
                    </a:gs>
                  </a:gsLst>
                  <a:lin ang="0" scaled="0"/>
                </a:gradFill>
                <a:prstDash val="solid"/>
                <a:miter lim="400000"/>
              </a:ln>
              <a:effectLst/>
              <a:sp3d/>
            </p:spPr>
            <p:style>
              <a:lnRef idx="0">
                <a:scrgbClr r="0" g="0" b="0"/>
              </a:lnRef>
              <a:fillRef idx="0">
                <a:scrgbClr r="0" g="0" b="0"/>
              </a:fillRef>
              <a:effectRef idx="0">
                <a:scrgbClr r="0" g="0" b="0"/>
              </a:effectRef>
              <a:fontRef idx="none"/>
            </p:style>
          </p:cxnSp>
        </p:grpSp>
      </p:grpSp>
      <p:pic>
        <p:nvPicPr>
          <p:cNvPr id="7" name="图片 6"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9" name="组合 8"/>
          <p:cNvGrpSpPr/>
          <p:nvPr/>
        </p:nvGrpSpPr>
        <p:grpSpPr>
          <a:xfrm>
            <a:off x="8715375" y="348615"/>
            <a:ext cx="3219450" cy="332740"/>
            <a:chOff x="13761" y="549"/>
            <a:chExt cx="5070" cy="524"/>
          </a:xfrm>
        </p:grpSpPr>
        <p:pic>
          <p:nvPicPr>
            <p:cNvPr id="10" name="图片 9"/>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6" name="文本框 15"/>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
        <p:nvSpPr>
          <p:cNvPr id="17" name="文本框 16"/>
          <p:cNvSpPr txBox="1"/>
          <p:nvPr/>
        </p:nvSpPr>
        <p:spPr>
          <a:xfrm>
            <a:off x="3543935" y="4568825"/>
            <a:ext cx="589915" cy="144780"/>
          </a:xfrm>
          <a:prstGeom prst="rect">
            <a:avLst/>
          </a:prstGeom>
          <a:noFill/>
        </p:spPr>
        <p:txBody>
          <a:bodyPr wrap="square" rtlCol="0" anchor="ctr" anchorCtr="0">
            <a:noAutofit/>
          </a:bodyPr>
          <a:p>
            <a:pPr algn="ctr"/>
            <a:r>
              <a:rPr lang="zh-CN" altLang="en-US" sz="600" b="1">
                <a:solidFill>
                  <a:schemeClr val="tx2"/>
                </a:solidFill>
                <a:latin typeface="微软雅黑" panose="020B0503020204020204" charset="-122"/>
                <a:ea typeface="微软雅黑" panose="020B0503020204020204" charset="-122"/>
                <a:cs typeface="微软雅黑" panose="020B0503020204020204" charset="-122"/>
              </a:rPr>
              <a:t>消费者</a:t>
            </a:r>
            <a:endParaRPr lang="zh-CN" altLang="en-US" sz="6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 name="文本框 17"/>
          <p:cNvSpPr txBox="1"/>
          <p:nvPr/>
        </p:nvSpPr>
        <p:spPr>
          <a:xfrm>
            <a:off x="4375150" y="4566920"/>
            <a:ext cx="518795" cy="144780"/>
          </a:xfrm>
          <a:prstGeom prst="rect">
            <a:avLst/>
          </a:prstGeom>
          <a:noFill/>
        </p:spPr>
        <p:txBody>
          <a:bodyPr wrap="square" rtlCol="0" anchor="ctr" anchorCtr="0">
            <a:noAutofit/>
          </a:bodyPr>
          <a:p>
            <a:pPr algn="ctr"/>
            <a:r>
              <a:rPr lang="zh-CN" altLang="en-US" sz="600" b="1">
                <a:solidFill>
                  <a:schemeClr val="tx2"/>
                </a:solidFill>
                <a:latin typeface="微软雅黑" panose="020B0503020204020204" charset="-122"/>
                <a:ea typeface="微软雅黑" panose="020B0503020204020204" charset="-122"/>
                <a:cs typeface="微软雅黑" panose="020B0503020204020204" charset="-122"/>
              </a:rPr>
              <a:t>合作伙伴</a:t>
            </a:r>
            <a:endParaRPr lang="zh-CN" altLang="en-US" sz="6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nvSpPr>
        <p:spPr>
          <a:xfrm>
            <a:off x="4344035" y="3907155"/>
            <a:ext cx="437515" cy="144780"/>
          </a:xfrm>
          <a:prstGeom prst="rect">
            <a:avLst/>
          </a:prstGeom>
          <a:noFill/>
        </p:spPr>
        <p:txBody>
          <a:bodyPr wrap="square" rtlCol="0" anchor="ctr" anchorCtr="0">
            <a:noAutofit/>
          </a:bodyPr>
          <a:p>
            <a:pPr algn="ctr"/>
            <a:r>
              <a:rPr lang="zh-CN" altLang="en-US" sz="600" b="1">
                <a:solidFill>
                  <a:schemeClr val="tx2"/>
                </a:solidFill>
                <a:latin typeface="微软雅黑" panose="020B0503020204020204" charset="-122"/>
                <a:ea typeface="微软雅黑" panose="020B0503020204020204" charset="-122"/>
                <a:cs typeface="微软雅黑" panose="020B0503020204020204" charset="-122"/>
              </a:rPr>
              <a:t>品牌商</a:t>
            </a:r>
            <a:endParaRPr lang="zh-CN" altLang="en-US" sz="600" b="1">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20" name="直接连接符 19"/>
          <p:cNvCxnSpPr/>
          <p:nvPr/>
        </p:nvCxnSpPr>
        <p:spPr>
          <a:xfrm>
            <a:off x="2841625" y="5267960"/>
            <a:ext cx="6370320" cy="0"/>
          </a:xfrm>
          <a:prstGeom prst="line">
            <a:avLst/>
          </a:prstGeom>
          <a:ln>
            <a:gradFill>
              <a:gsLst>
                <a:gs pos="0">
                  <a:schemeClr val="accent1">
                    <a:alpha val="0"/>
                  </a:schemeClr>
                </a:gs>
                <a:gs pos="78000">
                  <a:schemeClr val="accent1"/>
                </a:gs>
                <a:gs pos="17000">
                  <a:schemeClr val="accent1"/>
                </a:gs>
                <a:gs pos="100000">
                  <a:schemeClr val="accent1">
                    <a:alpha val="0"/>
                  </a:schemeClr>
                </a:gs>
              </a:gsLst>
              <a:lin ang="0" scaled="1"/>
            </a:gradFill>
          </a:ln>
        </p:spPr>
        <p:style>
          <a:lnRef idx="2">
            <a:schemeClr val="accent1"/>
          </a:lnRef>
          <a:fillRef idx="0">
            <a:srgbClr val="FFFFFF"/>
          </a:fillRef>
          <a:effectRef idx="0">
            <a:srgbClr val="FFFFFF"/>
          </a:effectRef>
          <a:fontRef idx="minor">
            <a:schemeClr val="tx1"/>
          </a:fontRef>
        </p:style>
      </p:cxnSp>
      <p:cxnSp>
        <p:nvCxnSpPr>
          <p:cNvPr id="21" name="直接连接符 20"/>
          <p:cNvCxnSpPr/>
          <p:nvPr/>
        </p:nvCxnSpPr>
        <p:spPr>
          <a:xfrm>
            <a:off x="2835275" y="3058160"/>
            <a:ext cx="6370320" cy="0"/>
          </a:xfrm>
          <a:prstGeom prst="line">
            <a:avLst/>
          </a:prstGeom>
          <a:ln>
            <a:gradFill>
              <a:gsLst>
                <a:gs pos="0">
                  <a:srgbClr val="4E88D4">
                    <a:alpha val="0"/>
                  </a:srgbClr>
                </a:gs>
                <a:gs pos="78000">
                  <a:srgbClr val="4E88D4">
                    <a:alpha val="100000"/>
                  </a:srgbClr>
                </a:gs>
                <a:gs pos="17000">
                  <a:schemeClr val="accent1">
                    <a:lumMod val="60000"/>
                    <a:lumOff val="40000"/>
                  </a:schemeClr>
                </a:gs>
                <a:gs pos="100000">
                  <a:schemeClr val="accent1">
                    <a:lumMod val="60000"/>
                    <a:lumOff val="40000"/>
                    <a:alpha val="0"/>
                  </a:schemeClr>
                </a:gs>
              </a:gsLst>
              <a:lin ang="0" scaled="1"/>
            </a:gradFill>
          </a:ln>
        </p:spPr>
        <p:style>
          <a:lnRef idx="2">
            <a:schemeClr val="accent1"/>
          </a:lnRef>
          <a:fillRef idx="0">
            <a:srgbClr val="FFFFFF"/>
          </a:fillRef>
          <a:effectRef idx="0">
            <a:srgbClr val="FFFFFF"/>
          </a:effectRef>
          <a:fontRef idx="minor">
            <a:schemeClr val="tx1"/>
          </a:fontRef>
        </p:style>
      </p:cxnSp>
      <p:cxnSp>
        <p:nvCxnSpPr>
          <p:cNvPr id="35" name="直接连接符 34"/>
          <p:cNvCxnSpPr/>
          <p:nvPr/>
        </p:nvCxnSpPr>
        <p:spPr>
          <a:xfrm>
            <a:off x="2911475" y="1619250"/>
            <a:ext cx="6370320" cy="0"/>
          </a:xfrm>
          <a:prstGeom prst="line">
            <a:avLst/>
          </a:prstGeom>
          <a:ln>
            <a:gradFill>
              <a:gsLst>
                <a:gs pos="0">
                  <a:schemeClr val="accent5">
                    <a:lumMod val="60000"/>
                    <a:lumOff val="40000"/>
                    <a:alpha val="0"/>
                  </a:schemeClr>
                </a:gs>
                <a:gs pos="78000">
                  <a:schemeClr val="accent5">
                    <a:lumMod val="60000"/>
                    <a:lumOff val="40000"/>
                  </a:schemeClr>
                </a:gs>
                <a:gs pos="17000">
                  <a:schemeClr val="accent5">
                    <a:lumMod val="60000"/>
                    <a:lumOff val="40000"/>
                  </a:schemeClr>
                </a:gs>
                <a:gs pos="100000">
                  <a:schemeClr val="accent5">
                    <a:lumMod val="60000"/>
                    <a:lumOff val="40000"/>
                    <a:alpha val="0"/>
                  </a:schemeClr>
                </a:gs>
              </a:gsLst>
              <a:lin ang="0" scaled="1"/>
            </a:gradFill>
          </a:ln>
        </p:spPr>
        <p:style>
          <a:lnRef idx="2">
            <a:schemeClr val="accent1"/>
          </a:lnRef>
          <a:fillRef idx="0">
            <a:srgbClr val="FFFFFF"/>
          </a:fillRef>
          <a:effectRef idx="0">
            <a:srgbClr val="FFFFFF"/>
          </a:effectRef>
          <a:fontRef idx="minor">
            <a:schemeClr val="tx1"/>
          </a:fontRef>
        </p:style>
      </p:cxnSp>
      <p:sp>
        <p:nvSpPr>
          <p:cNvPr id="48" name="椭圆 47"/>
          <p:cNvSpPr/>
          <p:nvPr/>
        </p:nvSpPr>
        <p:spPr>
          <a:xfrm>
            <a:off x="5235575" y="4057015"/>
            <a:ext cx="71755" cy="71755"/>
          </a:xfrm>
          <a:prstGeom prst="ellipse">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89" name="椭圆 88"/>
          <p:cNvSpPr/>
          <p:nvPr/>
        </p:nvSpPr>
        <p:spPr>
          <a:xfrm>
            <a:off x="7846695" y="4011930"/>
            <a:ext cx="116840" cy="116840"/>
          </a:xfrm>
          <a:prstGeom prst="ellipse">
            <a:avLst/>
          </a:prstGeom>
          <a:solidFill>
            <a:schemeClr val="accent1">
              <a:lumMod val="60000"/>
              <a:lumOff val="40000"/>
            </a:schemeClr>
          </a:solidFill>
          <a:ln>
            <a:solidFill>
              <a:schemeClr val="accent1">
                <a:lumMod val="20000"/>
                <a:lumOff val="8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90" name="椭圆 89"/>
          <p:cNvSpPr/>
          <p:nvPr/>
        </p:nvSpPr>
        <p:spPr>
          <a:xfrm>
            <a:off x="6235700" y="4594860"/>
            <a:ext cx="116840" cy="116840"/>
          </a:xfrm>
          <a:prstGeom prst="ellipse">
            <a:avLst/>
          </a:prstGeom>
          <a:solidFill>
            <a:schemeClr val="accent1">
              <a:lumMod val="60000"/>
              <a:lumOff val="40000"/>
            </a:schemeClr>
          </a:solidFill>
          <a:ln>
            <a:solidFill>
              <a:schemeClr val="accent1">
                <a:lumMod val="20000"/>
                <a:lumOff val="8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91" name="椭圆 90"/>
          <p:cNvSpPr/>
          <p:nvPr/>
        </p:nvSpPr>
        <p:spPr>
          <a:xfrm>
            <a:off x="5856605" y="4064000"/>
            <a:ext cx="116840" cy="116840"/>
          </a:xfrm>
          <a:prstGeom prst="ellipse">
            <a:avLst/>
          </a:prstGeom>
          <a:solidFill>
            <a:schemeClr val="accent1">
              <a:lumMod val="60000"/>
              <a:lumOff val="40000"/>
            </a:schemeClr>
          </a:solidFill>
          <a:ln>
            <a:solidFill>
              <a:schemeClr val="accent1">
                <a:lumMod val="20000"/>
                <a:lumOff val="8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92" name="椭圆 91"/>
          <p:cNvSpPr/>
          <p:nvPr/>
        </p:nvSpPr>
        <p:spPr>
          <a:xfrm>
            <a:off x="6682740" y="4384040"/>
            <a:ext cx="116840" cy="116840"/>
          </a:xfrm>
          <a:prstGeom prst="ellipse">
            <a:avLst/>
          </a:prstGeom>
          <a:solidFill>
            <a:schemeClr val="accent1">
              <a:lumMod val="60000"/>
              <a:lumOff val="40000"/>
            </a:schemeClr>
          </a:solidFill>
          <a:ln>
            <a:solidFill>
              <a:schemeClr val="accent1">
                <a:lumMod val="20000"/>
                <a:lumOff val="8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93" name="椭圆 92"/>
          <p:cNvSpPr/>
          <p:nvPr/>
        </p:nvSpPr>
        <p:spPr>
          <a:xfrm>
            <a:off x="6993255" y="3809365"/>
            <a:ext cx="116840" cy="116840"/>
          </a:xfrm>
          <a:prstGeom prst="ellipse">
            <a:avLst/>
          </a:prstGeom>
          <a:solidFill>
            <a:schemeClr val="accent1">
              <a:lumMod val="60000"/>
              <a:lumOff val="40000"/>
            </a:schemeClr>
          </a:solidFill>
          <a:ln>
            <a:solidFill>
              <a:schemeClr val="accent1">
                <a:lumMod val="20000"/>
                <a:lumOff val="8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94" name="文本框 93"/>
          <p:cNvSpPr txBox="1"/>
          <p:nvPr/>
        </p:nvSpPr>
        <p:spPr>
          <a:xfrm>
            <a:off x="6738620" y="4475480"/>
            <a:ext cx="431165" cy="144780"/>
          </a:xfrm>
          <a:prstGeom prst="rect">
            <a:avLst/>
          </a:prstGeom>
          <a:noFill/>
        </p:spPr>
        <p:txBody>
          <a:bodyPr wrap="square" rtlCol="0" anchor="ctr" anchorCtr="0">
            <a:noAutofit/>
          </a:bodyPr>
          <a:p>
            <a:pPr algn="ctr"/>
            <a:r>
              <a:rPr lang="zh-CN" altLang="en-US" sz="600" b="1">
                <a:solidFill>
                  <a:schemeClr val="tx2"/>
                </a:solidFill>
                <a:latin typeface="微软雅黑" panose="020B0503020204020204" charset="-122"/>
                <a:ea typeface="微软雅黑" panose="020B0503020204020204" charset="-122"/>
                <a:cs typeface="微软雅黑" panose="020B0503020204020204" charset="-122"/>
              </a:rPr>
              <a:t>消费者</a:t>
            </a:r>
            <a:endParaRPr lang="zh-CN" altLang="en-US" sz="6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5" name="椭圆 94"/>
          <p:cNvSpPr/>
          <p:nvPr/>
        </p:nvSpPr>
        <p:spPr>
          <a:xfrm>
            <a:off x="6470650" y="3653155"/>
            <a:ext cx="71755" cy="71755"/>
          </a:xfrm>
          <a:prstGeom prst="ellipse">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96" name="椭圆 95"/>
          <p:cNvSpPr/>
          <p:nvPr/>
        </p:nvSpPr>
        <p:spPr>
          <a:xfrm>
            <a:off x="7339330" y="3469005"/>
            <a:ext cx="71755" cy="71755"/>
          </a:xfrm>
          <a:prstGeom prst="ellipse">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97" name="椭圆 96"/>
          <p:cNvSpPr/>
          <p:nvPr/>
        </p:nvSpPr>
        <p:spPr>
          <a:xfrm>
            <a:off x="3584575" y="4577715"/>
            <a:ext cx="71755" cy="71755"/>
          </a:xfrm>
          <a:prstGeom prst="ellipse">
            <a:avLst/>
          </a:prstGeom>
          <a:solidFill>
            <a:schemeClr val="accent1">
              <a:lumMod val="60000"/>
              <a:lumOff val="40000"/>
            </a:schemeClr>
          </a:solidFill>
          <a:ln>
            <a:solidFill>
              <a:schemeClr val="accent1">
                <a:lumMod val="20000"/>
                <a:lumOff val="8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98" name="文本框 97"/>
          <p:cNvSpPr txBox="1"/>
          <p:nvPr/>
        </p:nvSpPr>
        <p:spPr>
          <a:xfrm>
            <a:off x="3727450" y="3432175"/>
            <a:ext cx="518795" cy="144780"/>
          </a:xfrm>
          <a:prstGeom prst="rect">
            <a:avLst/>
          </a:prstGeom>
          <a:noFill/>
        </p:spPr>
        <p:txBody>
          <a:bodyPr wrap="square" rtlCol="0" anchor="ctr" anchorCtr="0">
            <a:noAutofit/>
          </a:bodyPr>
          <a:p>
            <a:pPr algn="ctr"/>
            <a:r>
              <a:rPr lang="zh-CN" altLang="en-US" sz="600" b="1">
                <a:solidFill>
                  <a:schemeClr val="tx2"/>
                </a:solidFill>
                <a:latin typeface="微软雅黑" panose="020B0503020204020204" charset="-122"/>
                <a:ea typeface="微软雅黑" panose="020B0503020204020204" charset="-122"/>
                <a:cs typeface="微软雅黑" panose="020B0503020204020204" charset="-122"/>
              </a:rPr>
              <a:t>零售终端</a:t>
            </a:r>
            <a:endParaRPr lang="zh-CN" altLang="en-US" sz="6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9" name="椭圆 98"/>
          <p:cNvSpPr/>
          <p:nvPr/>
        </p:nvSpPr>
        <p:spPr>
          <a:xfrm>
            <a:off x="3961765" y="3587750"/>
            <a:ext cx="116840" cy="116840"/>
          </a:xfrm>
          <a:prstGeom prst="ellipse">
            <a:avLst/>
          </a:prstGeom>
          <a:solidFill>
            <a:schemeClr val="accent1">
              <a:lumMod val="60000"/>
              <a:lumOff val="40000"/>
            </a:schemeClr>
          </a:solidFill>
          <a:ln>
            <a:solidFill>
              <a:schemeClr val="accent1">
                <a:lumMod val="20000"/>
                <a:lumOff val="8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a:cs typeface="微软雅黑" panose="020B0503020204020204" charset="-122"/>
                <a:sym typeface="+mn-ea"/>
              </a:rPr>
              <a:t> </a:t>
            </a:r>
            <a:endParaRPr lang="zh-CN" altLang="en-US">
              <a:cs typeface="微软雅黑" panose="020B0503020204020204" charset="-122"/>
              <a:sym typeface="+mn-ea"/>
            </a:endParaRPr>
          </a:p>
        </p:txBody>
      </p:sp>
      <p:sp>
        <p:nvSpPr>
          <p:cNvPr id="111" name="椭圆 110"/>
          <p:cNvSpPr/>
          <p:nvPr/>
        </p:nvSpPr>
        <p:spPr>
          <a:xfrm>
            <a:off x="5083810" y="4034155"/>
            <a:ext cx="71755" cy="71755"/>
          </a:xfrm>
          <a:prstGeom prst="ellipse">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13" name="椭圆 112"/>
          <p:cNvSpPr/>
          <p:nvPr/>
        </p:nvSpPr>
        <p:spPr>
          <a:xfrm>
            <a:off x="5278120" y="4594860"/>
            <a:ext cx="71755" cy="71755"/>
          </a:xfrm>
          <a:prstGeom prst="ellipse">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14" name="椭圆 113"/>
          <p:cNvSpPr/>
          <p:nvPr/>
        </p:nvSpPr>
        <p:spPr>
          <a:xfrm>
            <a:off x="5760085" y="3962400"/>
            <a:ext cx="71755" cy="71755"/>
          </a:xfrm>
          <a:prstGeom prst="ellipse">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grpSp>
        <p:nvGrpSpPr>
          <p:cNvPr id="132" name="组合 131"/>
          <p:cNvGrpSpPr/>
          <p:nvPr/>
        </p:nvGrpSpPr>
        <p:grpSpPr>
          <a:xfrm>
            <a:off x="3138170" y="5467668"/>
            <a:ext cx="826770" cy="532765"/>
            <a:chOff x="4810" y="8630"/>
            <a:chExt cx="1302" cy="839"/>
          </a:xfrm>
        </p:grpSpPr>
        <p:sp>
          <p:nvSpPr>
            <p:cNvPr id="115" name="菱形 114"/>
            <p:cNvSpPr/>
            <p:nvPr/>
          </p:nvSpPr>
          <p:spPr>
            <a:xfrm>
              <a:off x="4813" y="9032"/>
              <a:ext cx="1298" cy="436"/>
            </a:xfrm>
            <a:prstGeom prst="diamond">
              <a:avLst/>
            </a:prstGeom>
            <a:noFill/>
            <a:ln w="12700" cap="flat" cmpd="sng" algn="ctr">
              <a:gradFill>
                <a:gsLst>
                  <a:gs pos="10000">
                    <a:schemeClr val="accent1">
                      <a:alpha val="0"/>
                    </a:schemeClr>
                  </a:gs>
                  <a:gs pos="100000">
                    <a:schemeClr val="accent1"/>
                  </a:gs>
                </a:gsLst>
                <a:lin ang="5400000" scaled="1"/>
              </a:gradFill>
              <a:prstDash val="solid"/>
              <a:miter lim="800000"/>
            </a:ln>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16" name="菱形 115"/>
            <p:cNvSpPr/>
            <p:nvPr/>
          </p:nvSpPr>
          <p:spPr>
            <a:xfrm>
              <a:off x="4933" y="9073"/>
              <a:ext cx="1058" cy="356"/>
            </a:xfrm>
            <a:prstGeom prst="diamond">
              <a:avLst/>
            </a:prstGeom>
            <a:gradFill>
              <a:gsLst>
                <a:gs pos="0">
                  <a:schemeClr val="accent1">
                    <a:alpha val="0"/>
                  </a:schemeClr>
                </a:gs>
                <a:gs pos="100000">
                  <a:schemeClr val="accent1">
                    <a:alpha val="28000"/>
                  </a:schemeClr>
                </a:gs>
              </a:gsLst>
              <a:lin ang="5400000" scaled="1"/>
            </a:gradFill>
            <a:ln w="9525" cap="flat" cmpd="sng" algn="ctr">
              <a:gradFill>
                <a:gsLst>
                  <a:gs pos="0">
                    <a:schemeClr val="accent1">
                      <a:alpha val="0"/>
                    </a:schemeClr>
                  </a:gs>
                  <a:gs pos="100000">
                    <a:schemeClr val="accent1">
                      <a:alpha val="53000"/>
                    </a:schemeClr>
                  </a:gs>
                </a:gsLst>
                <a:lin ang="5400000" scaled="1"/>
              </a:gradFill>
              <a:prstDash val="solid"/>
              <a:miter lim="800000"/>
            </a:ln>
            <a:effectLst>
              <a:innerShdw blurRad="279400">
                <a:schemeClr val="accent1">
                  <a:lumMod val="40000"/>
                  <a:lumOff val="60000"/>
                  <a:alpha val="63000"/>
                </a:schemeClr>
              </a:innerShdw>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17" name="菱形 116"/>
            <p:cNvSpPr/>
            <p:nvPr/>
          </p:nvSpPr>
          <p:spPr>
            <a:xfrm>
              <a:off x="5134" y="9141"/>
              <a:ext cx="654" cy="220"/>
            </a:xfrm>
            <a:prstGeom prst="diamond">
              <a:avLst/>
            </a:prstGeom>
            <a:gradFill>
              <a:gsLst>
                <a:gs pos="100000">
                  <a:schemeClr val="accent1">
                    <a:alpha val="50000"/>
                  </a:schemeClr>
                </a:gs>
                <a:gs pos="0">
                  <a:schemeClr val="accent1">
                    <a:alpha val="0"/>
                  </a:schemeClr>
                </a:gs>
              </a:gsLst>
              <a:lin ang="5400000" scaled="1"/>
            </a:gradFill>
            <a:ln w="6350" cap="flat" cmpd="sng" algn="ctr">
              <a:gradFill>
                <a:gsLst>
                  <a:gs pos="0">
                    <a:schemeClr val="accent1">
                      <a:alpha val="0"/>
                    </a:schemeClr>
                  </a:gs>
                  <a:gs pos="100000">
                    <a:schemeClr val="accent1"/>
                  </a:gs>
                </a:gsLst>
                <a:lin ang="5400000" scaled="1"/>
              </a:grad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grpSp>
          <p:nvGrpSpPr>
            <p:cNvPr id="120" name="组合 119"/>
            <p:cNvGrpSpPr/>
            <p:nvPr/>
          </p:nvGrpSpPr>
          <p:grpSpPr>
            <a:xfrm rot="0">
              <a:off x="6034" y="9225"/>
              <a:ext cx="79" cy="52"/>
              <a:chOff x="8353512" y="3886200"/>
              <a:chExt cx="307127" cy="266701"/>
            </a:xfrm>
          </p:grpSpPr>
          <p:cxnSp>
            <p:nvCxnSpPr>
              <p:cNvPr id="121" name="直接连接符 120"/>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122" name="直接连接符 121"/>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grpSp>
          <p:nvGrpSpPr>
            <p:cNvPr id="123" name="组合 122"/>
            <p:cNvGrpSpPr/>
            <p:nvPr/>
          </p:nvGrpSpPr>
          <p:grpSpPr>
            <a:xfrm rot="0" flipH="1">
              <a:off x="4810" y="9225"/>
              <a:ext cx="79" cy="52"/>
              <a:chOff x="8353512" y="3886200"/>
              <a:chExt cx="307127" cy="266701"/>
            </a:xfrm>
          </p:grpSpPr>
          <p:cxnSp>
            <p:nvCxnSpPr>
              <p:cNvPr id="124" name="直接连接符 123"/>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125" name="直接连接符 124"/>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cxnSp>
          <p:nvCxnSpPr>
            <p:cNvPr id="126" name="直接连接符 125"/>
            <p:cNvCxnSpPr/>
            <p:nvPr/>
          </p:nvCxnSpPr>
          <p:spPr>
            <a:xfrm flipV="1">
              <a:off x="5462" y="9442"/>
              <a:ext cx="79" cy="26"/>
            </a:xfrm>
            <a:prstGeom prst="line">
              <a:avLst/>
            </a:prstGeom>
            <a:noFill/>
            <a:ln w="19050" cap="flat" cmpd="sng" algn="ctr">
              <a:solidFill>
                <a:schemeClr val="accent1"/>
              </a:solidFill>
              <a:prstDash val="solid"/>
              <a:miter lim="800000"/>
            </a:ln>
            <a:effectLst/>
          </p:spPr>
        </p:cxnSp>
        <p:cxnSp>
          <p:nvCxnSpPr>
            <p:cNvPr id="127" name="直接连接符 126"/>
            <p:cNvCxnSpPr/>
            <p:nvPr/>
          </p:nvCxnSpPr>
          <p:spPr>
            <a:xfrm>
              <a:off x="5384" y="9443"/>
              <a:ext cx="79" cy="26"/>
            </a:xfrm>
            <a:prstGeom prst="line">
              <a:avLst/>
            </a:prstGeom>
            <a:noFill/>
            <a:ln w="19050" cap="flat" cmpd="sng" algn="ctr">
              <a:solidFill>
                <a:schemeClr val="accent1"/>
              </a:solidFill>
              <a:prstDash val="solid"/>
              <a:miter lim="800000"/>
            </a:ln>
            <a:effectLst/>
          </p:spPr>
        </p:cxnSp>
        <p:sp>
          <p:nvSpPr>
            <p:cNvPr id="130" name="梯形 129"/>
            <p:cNvSpPr/>
            <p:nvPr/>
          </p:nvSpPr>
          <p:spPr>
            <a:xfrm rot="10800000">
              <a:off x="5021" y="8630"/>
              <a:ext cx="883" cy="663"/>
            </a:xfrm>
            <a:prstGeom prst="trapezoid">
              <a:avLst>
                <a:gd name="adj" fmla="val 19469"/>
              </a:avLst>
            </a:prstGeom>
            <a:gradFill>
              <a:gsLst>
                <a:gs pos="100000">
                  <a:schemeClr val="accent1">
                    <a:alpha val="0"/>
                  </a:schemeClr>
                </a:gs>
                <a:gs pos="44100">
                  <a:schemeClr val="accent1">
                    <a:alpha val="15000"/>
                  </a:schemeClr>
                </a:gs>
                <a:gs pos="0">
                  <a:schemeClr val="accent1">
                    <a:alpha val="0"/>
                  </a:schemeClr>
                </a:gs>
              </a:gsLst>
              <a:lin ang="5400000" scaled="1"/>
            </a:gradFill>
            <a:ln w="12700" cap="flat" cmpd="sng" algn="ctr">
              <a:no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31" name="文本框 130"/>
            <p:cNvSpPr txBox="1"/>
            <p:nvPr/>
          </p:nvSpPr>
          <p:spPr>
            <a:xfrm>
              <a:off x="5034" y="8743"/>
              <a:ext cx="883" cy="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p>
              <a:pPr marL="0" marR="0" indent="0" algn="ctr" defTabSz="2438400" rtl="0" fontAlgn="auto" latinLnBrk="0" hangingPunct="0">
                <a:lnSpc>
                  <a:spcPct val="100000"/>
                </a:lnSpc>
                <a:spcBef>
                  <a:spcPts val="0"/>
                </a:spcBef>
                <a:spcAft>
                  <a:spcPts val="0"/>
                </a:spcAft>
                <a:buClrTx/>
                <a:buSzTx/>
                <a:buFontTx/>
                <a:buNone/>
              </a:pPr>
              <a:r>
                <a:rPr kumimoji="0" lang="zh-CN" altLang="en-US" sz="8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数据基建</a:t>
              </a:r>
              <a:endParaRPr kumimoji="0" lang="zh-CN" altLang="en-US" sz="8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163" name="组合 162"/>
          <p:cNvGrpSpPr/>
          <p:nvPr/>
        </p:nvGrpSpPr>
        <p:grpSpPr>
          <a:xfrm>
            <a:off x="3756025" y="7056438"/>
            <a:ext cx="827405" cy="532765"/>
            <a:chOff x="4810" y="8630"/>
            <a:chExt cx="1303" cy="839"/>
          </a:xfrm>
        </p:grpSpPr>
        <p:sp>
          <p:nvSpPr>
            <p:cNvPr id="164" name="菱形 163"/>
            <p:cNvSpPr/>
            <p:nvPr/>
          </p:nvSpPr>
          <p:spPr>
            <a:xfrm>
              <a:off x="4813" y="9032"/>
              <a:ext cx="1298" cy="436"/>
            </a:xfrm>
            <a:prstGeom prst="diamond">
              <a:avLst/>
            </a:prstGeom>
            <a:noFill/>
            <a:ln w="12700" cap="flat" cmpd="sng" algn="ctr">
              <a:gradFill>
                <a:gsLst>
                  <a:gs pos="10000">
                    <a:schemeClr val="accent1">
                      <a:lumMod val="60000"/>
                      <a:lumOff val="40000"/>
                      <a:alpha val="0"/>
                    </a:schemeClr>
                  </a:gs>
                  <a:gs pos="100000">
                    <a:schemeClr val="accent1">
                      <a:lumMod val="60000"/>
                      <a:lumOff val="40000"/>
                    </a:schemeClr>
                  </a:gs>
                </a:gsLst>
                <a:lin ang="5400000" scaled="1"/>
              </a:gradFill>
              <a:prstDash val="solid"/>
              <a:miter lim="800000"/>
            </a:ln>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67" name="菱形 166"/>
            <p:cNvSpPr/>
            <p:nvPr/>
          </p:nvSpPr>
          <p:spPr>
            <a:xfrm>
              <a:off x="4933" y="9073"/>
              <a:ext cx="1058" cy="356"/>
            </a:xfrm>
            <a:prstGeom prst="diamond">
              <a:avLst/>
            </a:prstGeom>
            <a:gradFill>
              <a:gsLst>
                <a:gs pos="0">
                  <a:schemeClr val="accent1">
                    <a:lumMod val="60000"/>
                    <a:lumOff val="40000"/>
                    <a:alpha val="0"/>
                  </a:schemeClr>
                </a:gs>
                <a:gs pos="100000">
                  <a:schemeClr val="accent1">
                    <a:lumMod val="60000"/>
                    <a:lumOff val="40000"/>
                    <a:alpha val="28000"/>
                  </a:schemeClr>
                </a:gs>
              </a:gsLst>
              <a:lin ang="5400000" scaled="1"/>
            </a:gradFill>
            <a:ln w="9525" cap="flat" cmpd="sng" algn="ctr">
              <a:gradFill>
                <a:gsLst>
                  <a:gs pos="0">
                    <a:schemeClr val="accent1">
                      <a:lumMod val="60000"/>
                      <a:lumOff val="40000"/>
                      <a:alpha val="0"/>
                    </a:schemeClr>
                  </a:gs>
                  <a:gs pos="100000">
                    <a:schemeClr val="accent1">
                      <a:lumMod val="60000"/>
                      <a:lumOff val="40000"/>
                      <a:alpha val="53000"/>
                    </a:schemeClr>
                  </a:gs>
                </a:gsLst>
                <a:lin ang="5400000" scaled="1"/>
              </a:gradFill>
              <a:prstDash val="solid"/>
              <a:miter lim="800000"/>
            </a:ln>
            <a:effectLst>
              <a:innerShdw blurRad="279400">
                <a:schemeClr val="accent1">
                  <a:lumMod val="40000"/>
                  <a:lumOff val="60000"/>
                  <a:alpha val="63000"/>
                </a:schemeClr>
              </a:innerShdw>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68" name="菱形 167"/>
            <p:cNvSpPr/>
            <p:nvPr/>
          </p:nvSpPr>
          <p:spPr>
            <a:xfrm>
              <a:off x="5134" y="9141"/>
              <a:ext cx="654" cy="220"/>
            </a:xfrm>
            <a:prstGeom prst="diamond">
              <a:avLst/>
            </a:prstGeom>
            <a:gradFill>
              <a:gsLst>
                <a:gs pos="100000">
                  <a:schemeClr val="accent1">
                    <a:lumMod val="60000"/>
                    <a:lumOff val="40000"/>
                    <a:alpha val="50000"/>
                  </a:schemeClr>
                </a:gs>
                <a:gs pos="0">
                  <a:schemeClr val="accent1">
                    <a:lumMod val="60000"/>
                    <a:lumOff val="40000"/>
                    <a:alpha val="0"/>
                  </a:schemeClr>
                </a:gs>
              </a:gsLst>
              <a:lin ang="5400000" scaled="1"/>
            </a:gradFill>
            <a:ln w="6350" cap="flat" cmpd="sng" algn="ctr">
              <a:gradFill>
                <a:gsLst>
                  <a:gs pos="0">
                    <a:schemeClr val="accent1">
                      <a:lumMod val="60000"/>
                      <a:lumOff val="40000"/>
                      <a:alpha val="0"/>
                    </a:schemeClr>
                  </a:gs>
                  <a:gs pos="100000">
                    <a:schemeClr val="accent1">
                      <a:lumMod val="60000"/>
                      <a:lumOff val="40000"/>
                    </a:schemeClr>
                  </a:gs>
                </a:gsLst>
                <a:lin ang="5400000" scaled="1"/>
              </a:grad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grpSp>
          <p:nvGrpSpPr>
            <p:cNvPr id="171" name="组合 170"/>
            <p:cNvGrpSpPr/>
            <p:nvPr/>
          </p:nvGrpSpPr>
          <p:grpSpPr>
            <a:xfrm rot="0">
              <a:off x="6034" y="9225"/>
              <a:ext cx="79" cy="52"/>
              <a:chOff x="8353512" y="3886200"/>
              <a:chExt cx="307127" cy="266701"/>
            </a:xfrm>
          </p:grpSpPr>
          <p:cxnSp>
            <p:nvCxnSpPr>
              <p:cNvPr id="173" name="直接连接符 172"/>
              <p:cNvCxnSpPr/>
              <p:nvPr/>
            </p:nvCxnSpPr>
            <p:spPr>
              <a:xfrm flipH="1" flipV="1">
                <a:off x="8353512" y="3886200"/>
                <a:ext cx="307127" cy="137161"/>
              </a:xfrm>
              <a:prstGeom prst="line">
                <a:avLst/>
              </a:prstGeom>
              <a:noFill/>
              <a:ln w="19050" cap="flat" cmpd="sng" algn="ctr">
                <a:solidFill>
                  <a:schemeClr val="accent1">
                    <a:lumMod val="60000"/>
                    <a:lumOff val="40000"/>
                  </a:schemeClr>
                </a:solidFill>
                <a:prstDash val="solid"/>
                <a:miter lim="800000"/>
              </a:ln>
              <a:effectLst/>
            </p:spPr>
          </p:cxnSp>
          <p:cxnSp>
            <p:nvCxnSpPr>
              <p:cNvPr id="180" name="直接连接符 179"/>
              <p:cNvCxnSpPr/>
              <p:nvPr/>
            </p:nvCxnSpPr>
            <p:spPr>
              <a:xfrm flipH="1">
                <a:off x="8353512" y="4015740"/>
                <a:ext cx="307127" cy="137161"/>
              </a:xfrm>
              <a:prstGeom prst="line">
                <a:avLst/>
              </a:prstGeom>
              <a:noFill/>
              <a:ln w="19050" cap="flat" cmpd="sng" algn="ctr">
                <a:solidFill>
                  <a:schemeClr val="accent1">
                    <a:lumMod val="60000"/>
                    <a:lumOff val="40000"/>
                  </a:schemeClr>
                </a:solidFill>
                <a:prstDash val="solid"/>
                <a:miter lim="800000"/>
              </a:ln>
              <a:effectLst/>
            </p:spPr>
          </p:cxnSp>
        </p:grpSp>
        <p:grpSp>
          <p:nvGrpSpPr>
            <p:cNvPr id="182" name="组合 181"/>
            <p:cNvGrpSpPr/>
            <p:nvPr/>
          </p:nvGrpSpPr>
          <p:grpSpPr>
            <a:xfrm rot="0" flipH="1">
              <a:off x="4810" y="9225"/>
              <a:ext cx="79" cy="52"/>
              <a:chOff x="8353512" y="3886200"/>
              <a:chExt cx="307127" cy="266701"/>
            </a:xfrm>
          </p:grpSpPr>
          <p:cxnSp>
            <p:nvCxnSpPr>
              <p:cNvPr id="183" name="直接连接符 182"/>
              <p:cNvCxnSpPr/>
              <p:nvPr/>
            </p:nvCxnSpPr>
            <p:spPr>
              <a:xfrm flipH="1" flipV="1">
                <a:off x="8353512" y="3886200"/>
                <a:ext cx="307127" cy="137161"/>
              </a:xfrm>
              <a:prstGeom prst="line">
                <a:avLst/>
              </a:prstGeom>
              <a:noFill/>
              <a:ln w="19050" cap="flat" cmpd="sng" algn="ctr">
                <a:solidFill>
                  <a:schemeClr val="accent1">
                    <a:lumMod val="60000"/>
                    <a:lumOff val="40000"/>
                  </a:schemeClr>
                </a:solidFill>
                <a:prstDash val="solid"/>
                <a:miter lim="800000"/>
              </a:ln>
              <a:effectLst/>
            </p:spPr>
          </p:cxnSp>
          <p:cxnSp>
            <p:nvCxnSpPr>
              <p:cNvPr id="184" name="直接连接符 183"/>
              <p:cNvCxnSpPr/>
              <p:nvPr/>
            </p:nvCxnSpPr>
            <p:spPr>
              <a:xfrm flipH="1">
                <a:off x="8353512" y="4015740"/>
                <a:ext cx="307127" cy="137161"/>
              </a:xfrm>
              <a:prstGeom prst="line">
                <a:avLst/>
              </a:prstGeom>
              <a:noFill/>
              <a:ln w="19050" cap="flat" cmpd="sng" algn="ctr">
                <a:solidFill>
                  <a:schemeClr val="accent1">
                    <a:lumMod val="60000"/>
                    <a:lumOff val="40000"/>
                  </a:schemeClr>
                </a:solidFill>
                <a:prstDash val="solid"/>
                <a:miter lim="800000"/>
              </a:ln>
              <a:effectLst/>
            </p:spPr>
          </p:cxnSp>
        </p:grpSp>
        <p:cxnSp>
          <p:nvCxnSpPr>
            <p:cNvPr id="185" name="直接连接符 184"/>
            <p:cNvCxnSpPr/>
            <p:nvPr/>
          </p:nvCxnSpPr>
          <p:spPr>
            <a:xfrm flipV="1">
              <a:off x="5462" y="9442"/>
              <a:ext cx="79" cy="26"/>
            </a:xfrm>
            <a:prstGeom prst="line">
              <a:avLst/>
            </a:prstGeom>
            <a:noFill/>
            <a:ln w="19050" cap="flat" cmpd="sng" algn="ctr">
              <a:solidFill>
                <a:schemeClr val="accent1">
                  <a:lumMod val="60000"/>
                  <a:lumOff val="40000"/>
                </a:schemeClr>
              </a:solidFill>
              <a:prstDash val="solid"/>
              <a:miter lim="800000"/>
            </a:ln>
            <a:effectLst/>
          </p:spPr>
        </p:cxnSp>
        <p:cxnSp>
          <p:nvCxnSpPr>
            <p:cNvPr id="186" name="直接连接符 185"/>
            <p:cNvCxnSpPr/>
            <p:nvPr/>
          </p:nvCxnSpPr>
          <p:spPr>
            <a:xfrm>
              <a:off x="5384" y="9443"/>
              <a:ext cx="79" cy="26"/>
            </a:xfrm>
            <a:prstGeom prst="line">
              <a:avLst/>
            </a:prstGeom>
            <a:noFill/>
            <a:ln w="19050" cap="flat" cmpd="sng" algn="ctr">
              <a:solidFill>
                <a:schemeClr val="accent1">
                  <a:lumMod val="60000"/>
                  <a:lumOff val="40000"/>
                </a:schemeClr>
              </a:solidFill>
              <a:prstDash val="solid"/>
              <a:miter lim="800000"/>
            </a:ln>
            <a:effectLst/>
          </p:spPr>
        </p:cxnSp>
        <p:sp>
          <p:nvSpPr>
            <p:cNvPr id="205" name="梯形 204"/>
            <p:cNvSpPr/>
            <p:nvPr/>
          </p:nvSpPr>
          <p:spPr>
            <a:xfrm rot="10800000">
              <a:off x="5021" y="8630"/>
              <a:ext cx="883" cy="663"/>
            </a:xfrm>
            <a:prstGeom prst="trapezoid">
              <a:avLst>
                <a:gd name="adj" fmla="val 19469"/>
              </a:avLst>
            </a:prstGeom>
            <a:gradFill>
              <a:gsLst>
                <a:gs pos="100000">
                  <a:schemeClr val="accent1">
                    <a:lumMod val="60000"/>
                    <a:lumOff val="40000"/>
                    <a:alpha val="0"/>
                  </a:schemeClr>
                </a:gs>
                <a:gs pos="44100">
                  <a:schemeClr val="accent1">
                    <a:lumMod val="60000"/>
                    <a:lumOff val="40000"/>
                    <a:alpha val="15000"/>
                  </a:schemeClr>
                </a:gs>
                <a:gs pos="0">
                  <a:schemeClr val="accent1">
                    <a:lumMod val="60000"/>
                    <a:lumOff val="40000"/>
                    <a:alpha val="0"/>
                  </a:schemeClr>
                </a:gs>
              </a:gsLst>
              <a:lin ang="5400000" scaled="1"/>
            </a:gradFill>
            <a:ln w="12700" cap="flat" cmpd="sng" algn="ctr">
              <a:no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217" name="文本框 216"/>
            <p:cNvSpPr txBox="1"/>
            <p:nvPr/>
          </p:nvSpPr>
          <p:spPr>
            <a:xfrm>
              <a:off x="5034" y="8743"/>
              <a:ext cx="883" cy="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p>
              <a:pPr marL="0" marR="0" indent="0" algn="ctr" defTabSz="2438400" rtl="0" fontAlgn="auto" latinLnBrk="0" hangingPunct="0">
                <a:lnSpc>
                  <a:spcPct val="100000"/>
                </a:lnSpc>
                <a:spcBef>
                  <a:spcPts val="0"/>
                </a:spcBef>
                <a:spcAft>
                  <a:spcPts val="0"/>
                </a:spcAft>
                <a:buClrTx/>
                <a:buSzTx/>
                <a:buFontTx/>
                <a:buNone/>
              </a:pPr>
              <a:r>
                <a:rPr kumimoji="0" lang="zh-CN" altLang="en-US" sz="800" b="0" i="0" u="none" strike="noStrike" cap="none" spc="0" normalizeH="0" baseline="0" dirty="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场景融合</a:t>
              </a:r>
              <a:endParaRPr kumimoji="0" lang="zh-CN" altLang="en-US" sz="800" b="0" i="0" u="none" strike="noStrike" cap="none" spc="0" normalizeH="0" baseline="0" dirty="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235" name="组合 234"/>
          <p:cNvGrpSpPr/>
          <p:nvPr/>
        </p:nvGrpSpPr>
        <p:grpSpPr>
          <a:xfrm>
            <a:off x="4782820" y="7056438"/>
            <a:ext cx="827405" cy="532765"/>
            <a:chOff x="4810" y="8630"/>
            <a:chExt cx="1303" cy="839"/>
          </a:xfrm>
        </p:grpSpPr>
        <p:sp>
          <p:nvSpPr>
            <p:cNvPr id="236" name="菱形 235"/>
            <p:cNvSpPr/>
            <p:nvPr/>
          </p:nvSpPr>
          <p:spPr>
            <a:xfrm>
              <a:off x="4813" y="9032"/>
              <a:ext cx="1298" cy="436"/>
            </a:xfrm>
            <a:prstGeom prst="diamond">
              <a:avLst/>
            </a:prstGeom>
            <a:noFill/>
            <a:ln w="12700" cap="flat" cmpd="sng" algn="ctr">
              <a:gradFill>
                <a:gsLst>
                  <a:gs pos="10000">
                    <a:schemeClr val="accent1">
                      <a:lumMod val="60000"/>
                      <a:lumOff val="40000"/>
                      <a:alpha val="0"/>
                    </a:schemeClr>
                  </a:gs>
                  <a:gs pos="100000">
                    <a:schemeClr val="accent1">
                      <a:lumMod val="60000"/>
                      <a:lumOff val="40000"/>
                    </a:schemeClr>
                  </a:gs>
                </a:gsLst>
                <a:lin ang="5400000" scaled="1"/>
              </a:gradFill>
              <a:prstDash val="solid"/>
              <a:miter lim="800000"/>
            </a:ln>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237" name="菱形 236"/>
            <p:cNvSpPr/>
            <p:nvPr/>
          </p:nvSpPr>
          <p:spPr>
            <a:xfrm>
              <a:off x="4933" y="9073"/>
              <a:ext cx="1058" cy="356"/>
            </a:xfrm>
            <a:prstGeom prst="diamond">
              <a:avLst/>
            </a:prstGeom>
            <a:gradFill>
              <a:gsLst>
                <a:gs pos="0">
                  <a:schemeClr val="accent1">
                    <a:lumMod val="60000"/>
                    <a:lumOff val="40000"/>
                    <a:alpha val="0"/>
                  </a:schemeClr>
                </a:gs>
                <a:gs pos="100000">
                  <a:schemeClr val="accent1">
                    <a:lumMod val="60000"/>
                    <a:lumOff val="40000"/>
                    <a:alpha val="28000"/>
                  </a:schemeClr>
                </a:gs>
              </a:gsLst>
              <a:lin ang="5400000" scaled="1"/>
            </a:gradFill>
            <a:ln w="9525" cap="flat" cmpd="sng" algn="ctr">
              <a:gradFill>
                <a:gsLst>
                  <a:gs pos="0">
                    <a:schemeClr val="accent1">
                      <a:lumMod val="60000"/>
                      <a:lumOff val="40000"/>
                      <a:alpha val="0"/>
                    </a:schemeClr>
                  </a:gs>
                  <a:gs pos="100000">
                    <a:schemeClr val="accent1">
                      <a:lumMod val="60000"/>
                      <a:lumOff val="40000"/>
                      <a:alpha val="53000"/>
                    </a:schemeClr>
                  </a:gs>
                </a:gsLst>
                <a:lin ang="5400000" scaled="1"/>
              </a:gradFill>
              <a:prstDash val="solid"/>
              <a:miter lim="800000"/>
            </a:ln>
            <a:effectLst>
              <a:innerShdw blurRad="279400">
                <a:schemeClr val="accent1">
                  <a:lumMod val="40000"/>
                  <a:lumOff val="60000"/>
                  <a:alpha val="63000"/>
                </a:schemeClr>
              </a:innerShdw>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238" name="菱形 237"/>
            <p:cNvSpPr/>
            <p:nvPr/>
          </p:nvSpPr>
          <p:spPr>
            <a:xfrm>
              <a:off x="5134" y="9141"/>
              <a:ext cx="654" cy="220"/>
            </a:xfrm>
            <a:prstGeom prst="diamond">
              <a:avLst/>
            </a:prstGeom>
            <a:gradFill>
              <a:gsLst>
                <a:gs pos="100000">
                  <a:schemeClr val="accent1">
                    <a:lumMod val="60000"/>
                    <a:lumOff val="40000"/>
                    <a:alpha val="50000"/>
                  </a:schemeClr>
                </a:gs>
                <a:gs pos="0">
                  <a:schemeClr val="accent1">
                    <a:lumMod val="60000"/>
                    <a:lumOff val="40000"/>
                    <a:alpha val="0"/>
                  </a:schemeClr>
                </a:gs>
              </a:gsLst>
              <a:lin ang="5400000" scaled="1"/>
            </a:gradFill>
            <a:ln w="6350" cap="flat" cmpd="sng" algn="ctr">
              <a:gradFill>
                <a:gsLst>
                  <a:gs pos="0">
                    <a:schemeClr val="accent1">
                      <a:lumMod val="60000"/>
                      <a:lumOff val="40000"/>
                      <a:alpha val="0"/>
                    </a:schemeClr>
                  </a:gs>
                  <a:gs pos="100000">
                    <a:schemeClr val="accent1">
                      <a:lumMod val="60000"/>
                      <a:lumOff val="40000"/>
                    </a:schemeClr>
                  </a:gs>
                </a:gsLst>
                <a:lin ang="5400000" scaled="1"/>
              </a:grad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grpSp>
          <p:nvGrpSpPr>
            <p:cNvPr id="239" name="组合 238"/>
            <p:cNvGrpSpPr/>
            <p:nvPr/>
          </p:nvGrpSpPr>
          <p:grpSpPr>
            <a:xfrm rot="0">
              <a:off x="6034" y="9225"/>
              <a:ext cx="79" cy="52"/>
              <a:chOff x="8353512" y="3886200"/>
              <a:chExt cx="307127" cy="266701"/>
            </a:xfrm>
          </p:grpSpPr>
          <p:cxnSp>
            <p:nvCxnSpPr>
              <p:cNvPr id="240" name="直接连接符 239"/>
              <p:cNvCxnSpPr/>
              <p:nvPr/>
            </p:nvCxnSpPr>
            <p:spPr>
              <a:xfrm flipH="1" flipV="1">
                <a:off x="8353512" y="3886200"/>
                <a:ext cx="307127" cy="137161"/>
              </a:xfrm>
              <a:prstGeom prst="line">
                <a:avLst/>
              </a:prstGeom>
              <a:noFill/>
              <a:ln w="19050" cap="flat" cmpd="sng" algn="ctr">
                <a:solidFill>
                  <a:schemeClr val="accent1">
                    <a:lumMod val="60000"/>
                    <a:lumOff val="40000"/>
                  </a:schemeClr>
                </a:solidFill>
                <a:prstDash val="solid"/>
                <a:miter lim="800000"/>
              </a:ln>
              <a:effectLst/>
            </p:spPr>
          </p:cxnSp>
          <p:cxnSp>
            <p:nvCxnSpPr>
              <p:cNvPr id="244" name="直接连接符 243"/>
              <p:cNvCxnSpPr/>
              <p:nvPr/>
            </p:nvCxnSpPr>
            <p:spPr>
              <a:xfrm flipH="1">
                <a:off x="8353512" y="4015740"/>
                <a:ext cx="307127" cy="137161"/>
              </a:xfrm>
              <a:prstGeom prst="line">
                <a:avLst/>
              </a:prstGeom>
              <a:noFill/>
              <a:ln w="19050" cap="flat" cmpd="sng" algn="ctr">
                <a:solidFill>
                  <a:schemeClr val="accent1">
                    <a:lumMod val="60000"/>
                    <a:lumOff val="40000"/>
                  </a:schemeClr>
                </a:solidFill>
                <a:prstDash val="solid"/>
                <a:miter lim="800000"/>
              </a:ln>
              <a:effectLst/>
            </p:spPr>
          </p:cxnSp>
        </p:grpSp>
        <p:grpSp>
          <p:nvGrpSpPr>
            <p:cNvPr id="258" name="组合 257"/>
            <p:cNvGrpSpPr/>
            <p:nvPr/>
          </p:nvGrpSpPr>
          <p:grpSpPr>
            <a:xfrm rot="0" flipH="1">
              <a:off x="4810" y="9225"/>
              <a:ext cx="79" cy="52"/>
              <a:chOff x="8353512" y="3886200"/>
              <a:chExt cx="307127" cy="266701"/>
            </a:xfrm>
          </p:grpSpPr>
          <p:cxnSp>
            <p:nvCxnSpPr>
              <p:cNvPr id="259" name="直接连接符 258"/>
              <p:cNvCxnSpPr/>
              <p:nvPr/>
            </p:nvCxnSpPr>
            <p:spPr>
              <a:xfrm flipH="1" flipV="1">
                <a:off x="8353512" y="3886200"/>
                <a:ext cx="307127" cy="137161"/>
              </a:xfrm>
              <a:prstGeom prst="line">
                <a:avLst/>
              </a:prstGeom>
              <a:noFill/>
              <a:ln w="19050" cap="flat" cmpd="sng" algn="ctr">
                <a:solidFill>
                  <a:schemeClr val="accent1">
                    <a:lumMod val="60000"/>
                    <a:lumOff val="40000"/>
                  </a:schemeClr>
                </a:solidFill>
                <a:prstDash val="solid"/>
                <a:miter lim="800000"/>
              </a:ln>
              <a:effectLst/>
            </p:spPr>
          </p:cxnSp>
          <p:cxnSp>
            <p:nvCxnSpPr>
              <p:cNvPr id="262" name="直接连接符 261"/>
              <p:cNvCxnSpPr/>
              <p:nvPr/>
            </p:nvCxnSpPr>
            <p:spPr>
              <a:xfrm flipH="1">
                <a:off x="8353512" y="4015740"/>
                <a:ext cx="307127" cy="137161"/>
              </a:xfrm>
              <a:prstGeom prst="line">
                <a:avLst/>
              </a:prstGeom>
              <a:noFill/>
              <a:ln w="19050" cap="flat" cmpd="sng" algn="ctr">
                <a:solidFill>
                  <a:schemeClr val="accent1">
                    <a:lumMod val="60000"/>
                    <a:lumOff val="40000"/>
                  </a:schemeClr>
                </a:solidFill>
                <a:prstDash val="solid"/>
                <a:miter lim="800000"/>
              </a:ln>
              <a:effectLst/>
            </p:spPr>
          </p:cxnSp>
        </p:grpSp>
        <p:cxnSp>
          <p:nvCxnSpPr>
            <p:cNvPr id="263" name="直接连接符 262"/>
            <p:cNvCxnSpPr/>
            <p:nvPr/>
          </p:nvCxnSpPr>
          <p:spPr>
            <a:xfrm flipV="1">
              <a:off x="5462" y="9442"/>
              <a:ext cx="79" cy="26"/>
            </a:xfrm>
            <a:prstGeom prst="line">
              <a:avLst/>
            </a:prstGeom>
            <a:noFill/>
            <a:ln w="19050" cap="flat" cmpd="sng" algn="ctr">
              <a:solidFill>
                <a:schemeClr val="accent1">
                  <a:lumMod val="60000"/>
                  <a:lumOff val="40000"/>
                </a:schemeClr>
              </a:solidFill>
              <a:prstDash val="solid"/>
              <a:miter lim="800000"/>
            </a:ln>
            <a:effectLst/>
          </p:spPr>
        </p:cxnSp>
        <p:cxnSp>
          <p:nvCxnSpPr>
            <p:cNvPr id="264" name="直接连接符 263"/>
            <p:cNvCxnSpPr/>
            <p:nvPr/>
          </p:nvCxnSpPr>
          <p:spPr>
            <a:xfrm>
              <a:off x="5384" y="9443"/>
              <a:ext cx="79" cy="26"/>
            </a:xfrm>
            <a:prstGeom prst="line">
              <a:avLst/>
            </a:prstGeom>
            <a:noFill/>
            <a:ln w="19050" cap="flat" cmpd="sng" algn="ctr">
              <a:solidFill>
                <a:schemeClr val="accent1">
                  <a:lumMod val="60000"/>
                  <a:lumOff val="40000"/>
                </a:schemeClr>
              </a:solidFill>
              <a:prstDash val="solid"/>
              <a:miter lim="800000"/>
            </a:ln>
            <a:effectLst/>
          </p:spPr>
        </p:cxnSp>
        <p:sp>
          <p:nvSpPr>
            <p:cNvPr id="265" name="梯形 264"/>
            <p:cNvSpPr/>
            <p:nvPr/>
          </p:nvSpPr>
          <p:spPr>
            <a:xfrm rot="10800000">
              <a:off x="5021" y="8630"/>
              <a:ext cx="883" cy="663"/>
            </a:xfrm>
            <a:prstGeom prst="trapezoid">
              <a:avLst>
                <a:gd name="adj" fmla="val 19469"/>
              </a:avLst>
            </a:prstGeom>
            <a:gradFill>
              <a:gsLst>
                <a:gs pos="100000">
                  <a:schemeClr val="accent1">
                    <a:lumMod val="60000"/>
                    <a:lumOff val="40000"/>
                    <a:alpha val="0"/>
                  </a:schemeClr>
                </a:gs>
                <a:gs pos="44100">
                  <a:schemeClr val="accent1">
                    <a:lumMod val="60000"/>
                    <a:lumOff val="40000"/>
                    <a:alpha val="15000"/>
                  </a:schemeClr>
                </a:gs>
                <a:gs pos="0">
                  <a:schemeClr val="accent1">
                    <a:lumMod val="60000"/>
                    <a:lumOff val="40000"/>
                    <a:alpha val="0"/>
                  </a:schemeClr>
                </a:gs>
              </a:gsLst>
              <a:lin ang="5400000" scaled="1"/>
            </a:gradFill>
            <a:ln w="12700" cap="flat" cmpd="sng" algn="ctr">
              <a:no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266" name="文本框 265"/>
            <p:cNvSpPr txBox="1"/>
            <p:nvPr/>
          </p:nvSpPr>
          <p:spPr>
            <a:xfrm>
              <a:off x="5034" y="8743"/>
              <a:ext cx="883" cy="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p>
              <a:pPr marL="0" marR="0" indent="0" algn="ctr" defTabSz="2438400" rtl="0" fontAlgn="auto" latinLnBrk="0" hangingPunct="0">
                <a:lnSpc>
                  <a:spcPct val="100000"/>
                </a:lnSpc>
                <a:spcBef>
                  <a:spcPts val="0"/>
                </a:spcBef>
                <a:spcAft>
                  <a:spcPts val="0"/>
                </a:spcAft>
                <a:buClrTx/>
                <a:buSzTx/>
                <a:buFontTx/>
                <a:buNone/>
              </a:pPr>
              <a:r>
                <a:rPr kumimoji="0" lang="zh-CN" altLang="en-US" sz="800" b="0" i="0" u="none" strike="noStrike" cap="none" spc="0" normalizeH="0" baseline="0" dirty="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数字孪生</a:t>
              </a:r>
              <a:endParaRPr kumimoji="0" lang="zh-CN" altLang="en-US" sz="800" b="0" i="0" u="none" strike="noStrike" cap="none" spc="0" normalizeH="0" baseline="0" dirty="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267" name="组合 266"/>
          <p:cNvGrpSpPr/>
          <p:nvPr/>
        </p:nvGrpSpPr>
        <p:grpSpPr>
          <a:xfrm>
            <a:off x="5809615" y="7056438"/>
            <a:ext cx="827405" cy="532765"/>
            <a:chOff x="4810" y="8630"/>
            <a:chExt cx="1303" cy="839"/>
          </a:xfrm>
        </p:grpSpPr>
        <p:sp>
          <p:nvSpPr>
            <p:cNvPr id="268" name="菱形 267"/>
            <p:cNvSpPr/>
            <p:nvPr/>
          </p:nvSpPr>
          <p:spPr>
            <a:xfrm>
              <a:off x="4813" y="9032"/>
              <a:ext cx="1298" cy="436"/>
            </a:xfrm>
            <a:prstGeom prst="diamond">
              <a:avLst/>
            </a:prstGeom>
            <a:noFill/>
            <a:ln w="12700" cap="flat" cmpd="sng" algn="ctr">
              <a:gradFill>
                <a:gsLst>
                  <a:gs pos="10000">
                    <a:schemeClr val="accent1">
                      <a:lumMod val="60000"/>
                      <a:lumOff val="40000"/>
                      <a:alpha val="0"/>
                    </a:schemeClr>
                  </a:gs>
                  <a:gs pos="100000">
                    <a:schemeClr val="accent1">
                      <a:lumMod val="60000"/>
                      <a:lumOff val="40000"/>
                    </a:schemeClr>
                  </a:gs>
                </a:gsLst>
                <a:lin ang="5400000" scaled="1"/>
              </a:gradFill>
              <a:prstDash val="solid"/>
              <a:miter lim="800000"/>
            </a:ln>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269" name="菱形 268"/>
            <p:cNvSpPr/>
            <p:nvPr/>
          </p:nvSpPr>
          <p:spPr>
            <a:xfrm>
              <a:off x="4933" y="9073"/>
              <a:ext cx="1058" cy="356"/>
            </a:xfrm>
            <a:prstGeom prst="diamond">
              <a:avLst/>
            </a:prstGeom>
            <a:gradFill>
              <a:gsLst>
                <a:gs pos="0">
                  <a:schemeClr val="accent1">
                    <a:lumMod val="60000"/>
                    <a:lumOff val="40000"/>
                    <a:alpha val="0"/>
                  </a:schemeClr>
                </a:gs>
                <a:gs pos="100000">
                  <a:schemeClr val="accent1">
                    <a:lumMod val="60000"/>
                    <a:lumOff val="40000"/>
                    <a:alpha val="28000"/>
                  </a:schemeClr>
                </a:gs>
              </a:gsLst>
              <a:lin ang="5400000" scaled="1"/>
            </a:gradFill>
            <a:ln w="9525" cap="flat" cmpd="sng" algn="ctr">
              <a:gradFill>
                <a:gsLst>
                  <a:gs pos="0">
                    <a:schemeClr val="accent1">
                      <a:lumMod val="60000"/>
                      <a:lumOff val="40000"/>
                      <a:alpha val="0"/>
                    </a:schemeClr>
                  </a:gs>
                  <a:gs pos="100000">
                    <a:schemeClr val="accent1">
                      <a:lumMod val="60000"/>
                      <a:lumOff val="40000"/>
                      <a:alpha val="53000"/>
                    </a:schemeClr>
                  </a:gs>
                </a:gsLst>
                <a:lin ang="5400000" scaled="1"/>
              </a:gradFill>
              <a:prstDash val="solid"/>
              <a:miter lim="800000"/>
            </a:ln>
            <a:effectLst>
              <a:innerShdw blurRad="279400">
                <a:schemeClr val="accent1">
                  <a:lumMod val="40000"/>
                  <a:lumOff val="60000"/>
                  <a:alpha val="63000"/>
                </a:schemeClr>
              </a:innerShdw>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270" name="菱形 269"/>
            <p:cNvSpPr/>
            <p:nvPr/>
          </p:nvSpPr>
          <p:spPr>
            <a:xfrm>
              <a:off x="5134" y="9141"/>
              <a:ext cx="654" cy="220"/>
            </a:xfrm>
            <a:prstGeom prst="diamond">
              <a:avLst/>
            </a:prstGeom>
            <a:gradFill>
              <a:gsLst>
                <a:gs pos="100000">
                  <a:schemeClr val="accent1">
                    <a:lumMod val="60000"/>
                    <a:lumOff val="40000"/>
                    <a:alpha val="50000"/>
                  </a:schemeClr>
                </a:gs>
                <a:gs pos="0">
                  <a:schemeClr val="accent1">
                    <a:lumMod val="60000"/>
                    <a:lumOff val="40000"/>
                    <a:alpha val="0"/>
                  </a:schemeClr>
                </a:gs>
              </a:gsLst>
              <a:lin ang="5400000" scaled="1"/>
            </a:gradFill>
            <a:ln w="6350" cap="flat" cmpd="sng" algn="ctr">
              <a:gradFill>
                <a:gsLst>
                  <a:gs pos="0">
                    <a:schemeClr val="accent1">
                      <a:lumMod val="60000"/>
                      <a:lumOff val="40000"/>
                      <a:alpha val="0"/>
                    </a:schemeClr>
                  </a:gs>
                  <a:gs pos="100000">
                    <a:schemeClr val="accent1">
                      <a:lumMod val="60000"/>
                      <a:lumOff val="40000"/>
                    </a:schemeClr>
                  </a:gs>
                </a:gsLst>
                <a:lin ang="5400000" scaled="1"/>
              </a:grad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grpSp>
          <p:nvGrpSpPr>
            <p:cNvPr id="271" name="组合 270"/>
            <p:cNvGrpSpPr/>
            <p:nvPr/>
          </p:nvGrpSpPr>
          <p:grpSpPr>
            <a:xfrm rot="0">
              <a:off x="6034" y="9225"/>
              <a:ext cx="79" cy="52"/>
              <a:chOff x="8353512" y="3886200"/>
              <a:chExt cx="307127" cy="266701"/>
            </a:xfrm>
          </p:grpSpPr>
          <p:cxnSp>
            <p:nvCxnSpPr>
              <p:cNvPr id="299" name="直接连接符 298"/>
              <p:cNvCxnSpPr/>
              <p:nvPr/>
            </p:nvCxnSpPr>
            <p:spPr>
              <a:xfrm flipH="1" flipV="1">
                <a:off x="8353512" y="3886200"/>
                <a:ext cx="307127" cy="137161"/>
              </a:xfrm>
              <a:prstGeom prst="line">
                <a:avLst/>
              </a:prstGeom>
              <a:noFill/>
              <a:ln w="19050" cap="flat" cmpd="sng" algn="ctr">
                <a:solidFill>
                  <a:schemeClr val="accent1">
                    <a:lumMod val="60000"/>
                    <a:lumOff val="40000"/>
                  </a:schemeClr>
                </a:solidFill>
                <a:prstDash val="solid"/>
                <a:miter lim="800000"/>
              </a:ln>
              <a:effectLst/>
            </p:spPr>
          </p:cxnSp>
          <p:cxnSp>
            <p:nvCxnSpPr>
              <p:cNvPr id="300" name="直接连接符 299"/>
              <p:cNvCxnSpPr/>
              <p:nvPr/>
            </p:nvCxnSpPr>
            <p:spPr>
              <a:xfrm flipH="1">
                <a:off x="8353512" y="4015740"/>
                <a:ext cx="307127" cy="137161"/>
              </a:xfrm>
              <a:prstGeom prst="line">
                <a:avLst/>
              </a:prstGeom>
              <a:noFill/>
              <a:ln w="19050" cap="flat" cmpd="sng" algn="ctr">
                <a:solidFill>
                  <a:schemeClr val="accent1">
                    <a:lumMod val="60000"/>
                    <a:lumOff val="40000"/>
                  </a:schemeClr>
                </a:solidFill>
                <a:prstDash val="solid"/>
                <a:miter lim="800000"/>
              </a:ln>
              <a:effectLst/>
            </p:spPr>
          </p:cxnSp>
        </p:grpSp>
        <p:grpSp>
          <p:nvGrpSpPr>
            <p:cNvPr id="301" name="组合 300"/>
            <p:cNvGrpSpPr/>
            <p:nvPr/>
          </p:nvGrpSpPr>
          <p:grpSpPr>
            <a:xfrm rot="0" flipH="1">
              <a:off x="4810" y="9225"/>
              <a:ext cx="79" cy="52"/>
              <a:chOff x="8353512" y="3886200"/>
              <a:chExt cx="307127" cy="266701"/>
            </a:xfrm>
          </p:grpSpPr>
          <p:cxnSp>
            <p:nvCxnSpPr>
              <p:cNvPr id="302" name="直接连接符 301"/>
              <p:cNvCxnSpPr/>
              <p:nvPr/>
            </p:nvCxnSpPr>
            <p:spPr>
              <a:xfrm flipH="1" flipV="1">
                <a:off x="8353512" y="3886200"/>
                <a:ext cx="307127" cy="137161"/>
              </a:xfrm>
              <a:prstGeom prst="line">
                <a:avLst/>
              </a:prstGeom>
              <a:noFill/>
              <a:ln w="19050" cap="flat" cmpd="sng" algn="ctr">
                <a:solidFill>
                  <a:schemeClr val="accent1">
                    <a:lumMod val="60000"/>
                    <a:lumOff val="40000"/>
                  </a:schemeClr>
                </a:solidFill>
                <a:prstDash val="solid"/>
                <a:miter lim="800000"/>
              </a:ln>
              <a:effectLst/>
            </p:spPr>
          </p:cxnSp>
          <p:cxnSp>
            <p:nvCxnSpPr>
              <p:cNvPr id="303" name="直接连接符 302"/>
              <p:cNvCxnSpPr/>
              <p:nvPr/>
            </p:nvCxnSpPr>
            <p:spPr>
              <a:xfrm flipH="1">
                <a:off x="8353512" y="4015740"/>
                <a:ext cx="307127" cy="137161"/>
              </a:xfrm>
              <a:prstGeom prst="line">
                <a:avLst/>
              </a:prstGeom>
              <a:noFill/>
              <a:ln w="19050" cap="flat" cmpd="sng" algn="ctr">
                <a:solidFill>
                  <a:schemeClr val="accent1">
                    <a:lumMod val="60000"/>
                    <a:lumOff val="40000"/>
                  </a:schemeClr>
                </a:solidFill>
                <a:prstDash val="solid"/>
                <a:miter lim="800000"/>
              </a:ln>
              <a:effectLst/>
            </p:spPr>
          </p:cxnSp>
        </p:grpSp>
        <p:cxnSp>
          <p:nvCxnSpPr>
            <p:cNvPr id="304" name="直接连接符 303"/>
            <p:cNvCxnSpPr/>
            <p:nvPr/>
          </p:nvCxnSpPr>
          <p:spPr>
            <a:xfrm flipV="1">
              <a:off x="5462" y="9442"/>
              <a:ext cx="79" cy="26"/>
            </a:xfrm>
            <a:prstGeom prst="line">
              <a:avLst/>
            </a:prstGeom>
            <a:noFill/>
            <a:ln w="19050" cap="flat" cmpd="sng" algn="ctr">
              <a:solidFill>
                <a:schemeClr val="accent1">
                  <a:lumMod val="60000"/>
                  <a:lumOff val="40000"/>
                </a:schemeClr>
              </a:solidFill>
              <a:prstDash val="solid"/>
              <a:miter lim="800000"/>
            </a:ln>
            <a:effectLst/>
          </p:spPr>
        </p:cxnSp>
        <p:cxnSp>
          <p:nvCxnSpPr>
            <p:cNvPr id="305" name="直接连接符 304"/>
            <p:cNvCxnSpPr/>
            <p:nvPr/>
          </p:nvCxnSpPr>
          <p:spPr>
            <a:xfrm>
              <a:off x="5384" y="9443"/>
              <a:ext cx="79" cy="26"/>
            </a:xfrm>
            <a:prstGeom prst="line">
              <a:avLst/>
            </a:prstGeom>
            <a:noFill/>
            <a:ln w="19050" cap="flat" cmpd="sng" algn="ctr">
              <a:solidFill>
                <a:schemeClr val="accent1">
                  <a:lumMod val="60000"/>
                  <a:lumOff val="40000"/>
                </a:schemeClr>
              </a:solidFill>
              <a:prstDash val="solid"/>
              <a:miter lim="800000"/>
            </a:ln>
            <a:effectLst/>
          </p:spPr>
        </p:cxnSp>
        <p:sp>
          <p:nvSpPr>
            <p:cNvPr id="306" name="梯形 305"/>
            <p:cNvSpPr/>
            <p:nvPr/>
          </p:nvSpPr>
          <p:spPr>
            <a:xfrm rot="10800000">
              <a:off x="5021" y="8630"/>
              <a:ext cx="883" cy="663"/>
            </a:xfrm>
            <a:prstGeom prst="trapezoid">
              <a:avLst>
                <a:gd name="adj" fmla="val 19469"/>
              </a:avLst>
            </a:prstGeom>
            <a:gradFill>
              <a:gsLst>
                <a:gs pos="100000">
                  <a:schemeClr val="accent1">
                    <a:lumMod val="60000"/>
                    <a:lumOff val="40000"/>
                    <a:alpha val="0"/>
                  </a:schemeClr>
                </a:gs>
                <a:gs pos="44100">
                  <a:schemeClr val="accent1">
                    <a:lumMod val="60000"/>
                    <a:lumOff val="40000"/>
                    <a:alpha val="15000"/>
                  </a:schemeClr>
                </a:gs>
                <a:gs pos="0">
                  <a:schemeClr val="accent1">
                    <a:lumMod val="60000"/>
                    <a:lumOff val="40000"/>
                    <a:alpha val="0"/>
                  </a:schemeClr>
                </a:gs>
              </a:gsLst>
              <a:lin ang="5400000" scaled="1"/>
            </a:gradFill>
            <a:ln w="12700" cap="flat" cmpd="sng" algn="ctr">
              <a:no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307" name="文本框 306"/>
            <p:cNvSpPr txBox="1"/>
            <p:nvPr/>
          </p:nvSpPr>
          <p:spPr>
            <a:xfrm>
              <a:off x="5034" y="8743"/>
              <a:ext cx="883" cy="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p>
              <a:pPr marL="0" marR="0" indent="0" algn="ctr" defTabSz="2438400" rtl="0" fontAlgn="auto" latinLnBrk="0" hangingPunct="0">
                <a:lnSpc>
                  <a:spcPct val="100000"/>
                </a:lnSpc>
                <a:spcBef>
                  <a:spcPts val="0"/>
                </a:spcBef>
                <a:spcAft>
                  <a:spcPts val="0"/>
                </a:spcAft>
                <a:buClrTx/>
                <a:buSzTx/>
                <a:buFontTx/>
                <a:buNone/>
              </a:pPr>
              <a:r>
                <a:rPr kumimoji="0" lang="zh-CN" altLang="en-US" sz="800" b="0" i="0" u="none" strike="noStrike" cap="none" spc="0" normalizeH="0" baseline="0" dirty="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全域触达</a:t>
              </a:r>
              <a:endParaRPr kumimoji="0" lang="zh-CN" altLang="en-US" sz="800" b="0" i="0" u="none" strike="noStrike" cap="none" spc="0" normalizeH="0" baseline="0" dirty="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308" name="组合 307"/>
          <p:cNvGrpSpPr/>
          <p:nvPr/>
        </p:nvGrpSpPr>
        <p:grpSpPr>
          <a:xfrm>
            <a:off x="6836410" y="7056438"/>
            <a:ext cx="827405" cy="532765"/>
            <a:chOff x="4810" y="8630"/>
            <a:chExt cx="1303" cy="839"/>
          </a:xfrm>
        </p:grpSpPr>
        <p:sp>
          <p:nvSpPr>
            <p:cNvPr id="309" name="菱形 308"/>
            <p:cNvSpPr/>
            <p:nvPr/>
          </p:nvSpPr>
          <p:spPr>
            <a:xfrm>
              <a:off x="4813" y="9032"/>
              <a:ext cx="1298" cy="436"/>
            </a:xfrm>
            <a:prstGeom prst="diamond">
              <a:avLst/>
            </a:prstGeom>
            <a:noFill/>
            <a:ln w="12700" cap="flat" cmpd="sng" algn="ctr">
              <a:gradFill>
                <a:gsLst>
                  <a:gs pos="10000">
                    <a:schemeClr val="accent1">
                      <a:lumMod val="60000"/>
                      <a:lumOff val="40000"/>
                      <a:alpha val="0"/>
                    </a:schemeClr>
                  </a:gs>
                  <a:gs pos="100000">
                    <a:schemeClr val="accent1">
                      <a:lumMod val="60000"/>
                      <a:lumOff val="40000"/>
                    </a:schemeClr>
                  </a:gs>
                </a:gsLst>
                <a:lin ang="5400000" scaled="1"/>
              </a:gradFill>
              <a:prstDash val="solid"/>
              <a:miter lim="800000"/>
            </a:ln>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310" name="菱形 309"/>
            <p:cNvSpPr/>
            <p:nvPr/>
          </p:nvSpPr>
          <p:spPr>
            <a:xfrm>
              <a:off x="4933" y="9073"/>
              <a:ext cx="1058" cy="356"/>
            </a:xfrm>
            <a:prstGeom prst="diamond">
              <a:avLst/>
            </a:prstGeom>
            <a:gradFill>
              <a:gsLst>
                <a:gs pos="0">
                  <a:schemeClr val="accent1">
                    <a:lumMod val="60000"/>
                    <a:lumOff val="40000"/>
                    <a:alpha val="0"/>
                  </a:schemeClr>
                </a:gs>
                <a:gs pos="100000">
                  <a:schemeClr val="accent1">
                    <a:lumMod val="60000"/>
                    <a:lumOff val="40000"/>
                    <a:alpha val="28000"/>
                  </a:schemeClr>
                </a:gs>
              </a:gsLst>
              <a:lin ang="5400000" scaled="1"/>
            </a:gradFill>
            <a:ln w="9525" cap="flat" cmpd="sng" algn="ctr">
              <a:gradFill>
                <a:gsLst>
                  <a:gs pos="0">
                    <a:schemeClr val="accent1">
                      <a:lumMod val="60000"/>
                      <a:lumOff val="40000"/>
                      <a:alpha val="0"/>
                    </a:schemeClr>
                  </a:gs>
                  <a:gs pos="100000">
                    <a:schemeClr val="accent1">
                      <a:lumMod val="60000"/>
                      <a:lumOff val="40000"/>
                      <a:alpha val="53000"/>
                    </a:schemeClr>
                  </a:gs>
                </a:gsLst>
                <a:lin ang="5400000" scaled="1"/>
              </a:gradFill>
              <a:prstDash val="solid"/>
              <a:miter lim="800000"/>
            </a:ln>
            <a:effectLst>
              <a:innerShdw blurRad="279400">
                <a:schemeClr val="accent1">
                  <a:lumMod val="40000"/>
                  <a:lumOff val="60000"/>
                  <a:alpha val="63000"/>
                </a:schemeClr>
              </a:innerShdw>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311" name="菱形 310"/>
            <p:cNvSpPr/>
            <p:nvPr/>
          </p:nvSpPr>
          <p:spPr>
            <a:xfrm>
              <a:off x="5134" y="9141"/>
              <a:ext cx="654" cy="220"/>
            </a:xfrm>
            <a:prstGeom prst="diamond">
              <a:avLst/>
            </a:prstGeom>
            <a:gradFill>
              <a:gsLst>
                <a:gs pos="100000">
                  <a:schemeClr val="accent1">
                    <a:lumMod val="60000"/>
                    <a:lumOff val="40000"/>
                    <a:alpha val="50000"/>
                  </a:schemeClr>
                </a:gs>
                <a:gs pos="0">
                  <a:schemeClr val="accent1">
                    <a:lumMod val="60000"/>
                    <a:lumOff val="40000"/>
                    <a:alpha val="0"/>
                  </a:schemeClr>
                </a:gs>
              </a:gsLst>
              <a:lin ang="5400000" scaled="1"/>
            </a:gradFill>
            <a:ln w="6350" cap="flat" cmpd="sng" algn="ctr">
              <a:gradFill>
                <a:gsLst>
                  <a:gs pos="0">
                    <a:schemeClr val="accent1">
                      <a:lumMod val="60000"/>
                      <a:lumOff val="40000"/>
                      <a:alpha val="0"/>
                    </a:schemeClr>
                  </a:gs>
                  <a:gs pos="100000">
                    <a:schemeClr val="accent1">
                      <a:lumMod val="60000"/>
                      <a:lumOff val="40000"/>
                    </a:schemeClr>
                  </a:gs>
                </a:gsLst>
                <a:lin ang="5400000" scaled="1"/>
              </a:grad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grpSp>
          <p:nvGrpSpPr>
            <p:cNvPr id="312" name="组合 311"/>
            <p:cNvGrpSpPr/>
            <p:nvPr/>
          </p:nvGrpSpPr>
          <p:grpSpPr>
            <a:xfrm rot="0">
              <a:off x="6034" y="9225"/>
              <a:ext cx="79" cy="52"/>
              <a:chOff x="8353512" y="3886200"/>
              <a:chExt cx="307127" cy="266701"/>
            </a:xfrm>
          </p:grpSpPr>
          <p:cxnSp>
            <p:nvCxnSpPr>
              <p:cNvPr id="313" name="直接连接符 312"/>
              <p:cNvCxnSpPr/>
              <p:nvPr/>
            </p:nvCxnSpPr>
            <p:spPr>
              <a:xfrm flipH="1" flipV="1">
                <a:off x="8353512" y="3886200"/>
                <a:ext cx="307127" cy="137161"/>
              </a:xfrm>
              <a:prstGeom prst="line">
                <a:avLst/>
              </a:prstGeom>
              <a:noFill/>
              <a:ln w="19050" cap="flat" cmpd="sng" algn="ctr">
                <a:solidFill>
                  <a:schemeClr val="accent1">
                    <a:lumMod val="60000"/>
                    <a:lumOff val="40000"/>
                  </a:schemeClr>
                </a:solidFill>
                <a:prstDash val="solid"/>
                <a:miter lim="800000"/>
              </a:ln>
              <a:effectLst/>
            </p:spPr>
          </p:cxnSp>
          <p:cxnSp>
            <p:nvCxnSpPr>
              <p:cNvPr id="314" name="直接连接符 313"/>
              <p:cNvCxnSpPr/>
              <p:nvPr/>
            </p:nvCxnSpPr>
            <p:spPr>
              <a:xfrm flipH="1">
                <a:off x="8353512" y="4015740"/>
                <a:ext cx="307127" cy="137161"/>
              </a:xfrm>
              <a:prstGeom prst="line">
                <a:avLst/>
              </a:prstGeom>
              <a:noFill/>
              <a:ln w="19050" cap="flat" cmpd="sng" algn="ctr">
                <a:solidFill>
                  <a:schemeClr val="accent1">
                    <a:lumMod val="60000"/>
                    <a:lumOff val="40000"/>
                  </a:schemeClr>
                </a:solidFill>
                <a:prstDash val="solid"/>
                <a:miter lim="800000"/>
              </a:ln>
              <a:effectLst/>
            </p:spPr>
          </p:cxnSp>
        </p:grpSp>
        <p:grpSp>
          <p:nvGrpSpPr>
            <p:cNvPr id="315" name="组合 314"/>
            <p:cNvGrpSpPr/>
            <p:nvPr/>
          </p:nvGrpSpPr>
          <p:grpSpPr>
            <a:xfrm rot="0" flipH="1">
              <a:off x="4810" y="9225"/>
              <a:ext cx="79" cy="52"/>
              <a:chOff x="8353512" y="3886200"/>
              <a:chExt cx="307127" cy="266701"/>
            </a:xfrm>
          </p:grpSpPr>
          <p:cxnSp>
            <p:nvCxnSpPr>
              <p:cNvPr id="316" name="直接连接符 315"/>
              <p:cNvCxnSpPr/>
              <p:nvPr/>
            </p:nvCxnSpPr>
            <p:spPr>
              <a:xfrm flipH="1" flipV="1">
                <a:off x="8353512" y="3886200"/>
                <a:ext cx="307127" cy="137161"/>
              </a:xfrm>
              <a:prstGeom prst="line">
                <a:avLst/>
              </a:prstGeom>
              <a:noFill/>
              <a:ln w="19050" cap="flat" cmpd="sng" algn="ctr">
                <a:solidFill>
                  <a:schemeClr val="accent1">
                    <a:lumMod val="60000"/>
                    <a:lumOff val="40000"/>
                  </a:schemeClr>
                </a:solidFill>
                <a:prstDash val="solid"/>
                <a:miter lim="800000"/>
              </a:ln>
              <a:effectLst/>
            </p:spPr>
          </p:cxnSp>
          <p:cxnSp>
            <p:nvCxnSpPr>
              <p:cNvPr id="317" name="直接连接符 316"/>
              <p:cNvCxnSpPr/>
              <p:nvPr/>
            </p:nvCxnSpPr>
            <p:spPr>
              <a:xfrm flipH="1">
                <a:off x="8353512" y="4015740"/>
                <a:ext cx="307127" cy="137161"/>
              </a:xfrm>
              <a:prstGeom prst="line">
                <a:avLst/>
              </a:prstGeom>
              <a:noFill/>
              <a:ln w="19050" cap="flat" cmpd="sng" algn="ctr">
                <a:solidFill>
                  <a:schemeClr val="accent1">
                    <a:lumMod val="60000"/>
                    <a:lumOff val="40000"/>
                  </a:schemeClr>
                </a:solidFill>
                <a:prstDash val="solid"/>
                <a:miter lim="800000"/>
              </a:ln>
              <a:effectLst/>
            </p:spPr>
          </p:cxnSp>
        </p:grpSp>
        <p:cxnSp>
          <p:nvCxnSpPr>
            <p:cNvPr id="318" name="直接连接符 317"/>
            <p:cNvCxnSpPr/>
            <p:nvPr/>
          </p:nvCxnSpPr>
          <p:spPr>
            <a:xfrm flipV="1">
              <a:off x="5462" y="9442"/>
              <a:ext cx="79" cy="26"/>
            </a:xfrm>
            <a:prstGeom prst="line">
              <a:avLst/>
            </a:prstGeom>
            <a:noFill/>
            <a:ln w="19050" cap="flat" cmpd="sng" algn="ctr">
              <a:solidFill>
                <a:schemeClr val="accent1">
                  <a:lumMod val="60000"/>
                  <a:lumOff val="40000"/>
                </a:schemeClr>
              </a:solidFill>
              <a:prstDash val="solid"/>
              <a:miter lim="800000"/>
            </a:ln>
            <a:effectLst/>
          </p:spPr>
        </p:cxnSp>
        <p:cxnSp>
          <p:nvCxnSpPr>
            <p:cNvPr id="319" name="直接连接符 318"/>
            <p:cNvCxnSpPr/>
            <p:nvPr/>
          </p:nvCxnSpPr>
          <p:spPr>
            <a:xfrm>
              <a:off x="5384" y="9443"/>
              <a:ext cx="79" cy="26"/>
            </a:xfrm>
            <a:prstGeom prst="line">
              <a:avLst/>
            </a:prstGeom>
            <a:noFill/>
            <a:ln w="19050" cap="flat" cmpd="sng" algn="ctr">
              <a:solidFill>
                <a:schemeClr val="accent1">
                  <a:lumMod val="60000"/>
                  <a:lumOff val="40000"/>
                </a:schemeClr>
              </a:solidFill>
              <a:prstDash val="solid"/>
              <a:miter lim="800000"/>
            </a:ln>
            <a:effectLst/>
          </p:spPr>
        </p:cxnSp>
        <p:sp>
          <p:nvSpPr>
            <p:cNvPr id="320" name="梯形 319"/>
            <p:cNvSpPr/>
            <p:nvPr/>
          </p:nvSpPr>
          <p:spPr>
            <a:xfrm rot="10800000">
              <a:off x="5021" y="8630"/>
              <a:ext cx="883" cy="663"/>
            </a:xfrm>
            <a:prstGeom prst="trapezoid">
              <a:avLst>
                <a:gd name="adj" fmla="val 19469"/>
              </a:avLst>
            </a:prstGeom>
            <a:gradFill>
              <a:gsLst>
                <a:gs pos="100000">
                  <a:schemeClr val="accent1">
                    <a:lumMod val="60000"/>
                    <a:lumOff val="40000"/>
                    <a:alpha val="0"/>
                  </a:schemeClr>
                </a:gs>
                <a:gs pos="44100">
                  <a:schemeClr val="accent1">
                    <a:lumMod val="60000"/>
                    <a:lumOff val="40000"/>
                    <a:alpha val="15000"/>
                  </a:schemeClr>
                </a:gs>
                <a:gs pos="0">
                  <a:schemeClr val="accent1">
                    <a:lumMod val="60000"/>
                    <a:lumOff val="40000"/>
                    <a:alpha val="0"/>
                  </a:schemeClr>
                </a:gs>
              </a:gsLst>
              <a:lin ang="5400000" scaled="1"/>
            </a:gradFill>
            <a:ln w="12700" cap="flat" cmpd="sng" algn="ctr">
              <a:no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321" name="文本框 320"/>
            <p:cNvSpPr txBox="1"/>
            <p:nvPr/>
          </p:nvSpPr>
          <p:spPr>
            <a:xfrm>
              <a:off x="5034" y="8743"/>
              <a:ext cx="883" cy="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p>
              <a:pPr marL="0" marR="0" indent="0" algn="ctr" defTabSz="2438400" rtl="0" fontAlgn="auto" latinLnBrk="0" hangingPunct="0">
                <a:lnSpc>
                  <a:spcPct val="100000"/>
                </a:lnSpc>
                <a:spcBef>
                  <a:spcPts val="0"/>
                </a:spcBef>
                <a:spcAft>
                  <a:spcPts val="0"/>
                </a:spcAft>
                <a:buClrTx/>
                <a:buSzTx/>
                <a:buFontTx/>
                <a:buNone/>
              </a:pPr>
              <a:r>
                <a:rPr kumimoji="0" lang="zh-CN" altLang="en-US" sz="800" b="0" i="0" u="none" strike="noStrike" cap="none" spc="0" normalizeH="0" baseline="0" dirty="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价值循环</a:t>
              </a:r>
              <a:endParaRPr kumimoji="0" lang="zh-CN" altLang="en-US" sz="800" b="0" i="0" u="none" strike="noStrike" cap="none" spc="0" normalizeH="0" baseline="0" dirty="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322" name="组合 321"/>
          <p:cNvGrpSpPr/>
          <p:nvPr/>
        </p:nvGrpSpPr>
        <p:grpSpPr>
          <a:xfrm>
            <a:off x="7863205" y="7056438"/>
            <a:ext cx="827405" cy="532765"/>
            <a:chOff x="4810" y="8630"/>
            <a:chExt cx="1303" cy="839"/>
          </a:xfrm>
        </p:grpSpPr>
        <p:sp>
          <p:nvSpPr>
            <p:cNvPr id="323" name="菱形 322"/>
            <p:cNvSpPr/>
            <p:nvPr/>
          </p:nvSpPr>
          <p:spPr>
            <a:xfrm>
              <a:off x="4813" y="9032"/>
              <a:ext cx="1298" cy="436"/>
            </a:xfrm>
            <a:prstGeom prst="diamond">
              <a:avLst/>
            </a:prstGeom>
            <a:noFill/>
            <a:ln w="12700" cap="flat" cmpd="sng" algn="ctr">
              <a:gradFill>
                <a:gsLst>
                  <a:gs pos="10000">
                    <a:schemeClr val="accent1">
                      <a:lumMod val="60000"/>
                      <a:lumOff val="40000"/>
                      <a:alpha val="0"/>
                    </a:schemeClr>
                  </a:gs>
                  <a:gs pos="100000">
                    <a:schemeClr val="accent1">
                      <a:lumMod val="60000"/>
                      <a:lumOff val="40000"/>
                    </a:schemeClr>
                  </a:gs>
                </a:gsLst>
                <a:lin ang="5400000" scaled="1"/>
              </a:gradFill>
              <a:prstDash val="solid"/>
              <a:miter lim="800000"/>
            </a:ln>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324" name="菱形 323"/>
            <p:cNvSpPr/>
            <p:nvPr/>
          </p:nvSpPr>
          <p:spPr>
            <a:xfrm>
              <a:off x="4933" y="9073"/>
              <a:ext cx="1058" cy="356"/>
            </a:xfrm>
            <a:prstGeom prst="diamond">
              <a:avLst/>
            </a:prstGeom>
            <a:gradFill>
              <a:gsLst>
                <a:gs pos="0">
                  <a:schemeClr val="accent1">
                    <a:lumMod val="60000"/>
                    <a:lumOff val="40000"/>
                    <a:alpha val="0"/>
                  </a:schemeClr>
                </a:gs>
                <a:gs pos="100000">
                  <a:schemeClr val="accent1">
                    <a:lumMod val="60000"/>
                    <a:lumOff val="40000"/>
                    <a:alpha val="28000"/>
                  </a:schemeClr>
                </a:gs>
              </a:gsLst>
              <a:lin ang="5400000" scaled="1"/>
            </a:gradFill>
            <a:ln w="9525" cap="flat" cmpd="sng" algn="ctr">
              <a:gradFill>
                <a:gsLst>
                  <a:gs pos="0">
                    <a:schemeClr val="accent1">
                      <a:lumMod val="60000"/>
                      <a:lumOff val="40000"/>
                      <a:alpha val="0"/>
                    </a:schemeClr>
                  </a:gs>
                  <a:gs pos="100000">
                    <a:schemeClr val="accent1">
                      <a:lumMod val="60000"/>
                      <a:lumOff val="40000"/>
                      <a:alpha val="53000"/>
                    </a:schemeClr>
                  </a:gs>
                </a:gsLst>
                <a:lin ang="5400000" scaled="1"/>
              </a:gradFill>
              <a:prstDash val="solid"/>
              <a:miter lim="800000"/>
            </a:ln>
            <a:effectLst>
              <a:innerShdw blurRad="279400">
                <a:schemeClr val="accent1">
                  <a:lumMod val="40000"/>
                  <a:lumOff val="60000"/>
                  <a:alpha val="63000"/>
                </a:schemeClr>
              </a:innerShdw>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325" name="菱形 324"/>
            <p:cNvSpPr/>
            <p:nvPr/>
          </p:nvSpPr>
          <p:spPr>
            <a:xfrm>
              <a:off x="5134" y="9141"/>
              <a:ext cx="654" cy="220"/>
            </a:xfrm>
            <a:prstGeom prst="diamond">
              <a:avLst/>
            </a:prstGeom>
            <a:gradFill>
              <a:gsLst>
                <a:gs pos="100000">
                  <a:schemeClr val="accent1">
                    <a:lumMod val="60000"/>
                    <a:lumOff val="40000"/>
                    <a:alpha val="50000"/>
                  </a:schemeClr>
                </a:gs>
                <a:gs pos="0">
                  <a:schemeClr val="accent1">
                    <a:lumMod val="60000"/>
                    <a:lumOff val="40000"/>
                    <a:alpha val="0"/>
                  </a:schemeClr>
                </a:gs>
              </a:gsLst>
              <a:lin ang="5400000" scaled="1"/>
            </a:gradFill>
            <a:ln w="6350" cap="flat" cmpd="sng" algn="ctr">
              <a:gradFill>
                <a:gsLst>
                  <a:gs pos="0">
                    <a:schemeClr val="accent1">
                      <a:lumMod val="60000"/>
                      <a:lumOff val="40000"/>
                      <a:alpha val="0"/>
                    </a:schemeClr>
                  </a:gs>
                  <a:gs pos="100000">
                    <a:schemeClr val="accent1">
                      <a:lumMod val="60000"/>
                      <a:lumOff val="40000"/>
                    </a:schemeClr>
                  </a:gs>
                </a:gsLst>
                <a:lin ang="5400000" scaled="1"/>
              </a:grad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grpSp>
          <p:nvGrpSpPr>
            <p:cNvPr id="326" name="组合 325"/>
            <p:cNvGrpSpPr/>
            <p:nvPr/>
          </p:nvGrpSpPr>
          <p:grpSpPr>
            <a:xfrm rot="0">
              <a:off x="6034" y="9225"/>
              <a:ext cx="79" cy="52"/>
              <a:chOff x="8353512" y="3886200"/>
              <a:chExt cx="307127" cy="266701"/>
            </a:xfrm>
          </p:grpSpPr>
          <p:cxnSp>
            <p:nvCxnSpPr>
              <p:cNvPr id="327" name="直接连接符 326"/>
              <p:cNvCxnSpPr/>
              <p:nvPr/>
            </p:nvCxnSpPr>
            <p:spPr>
              <a:xfrm flipH="1" flipV="1">
                <a:off x="8353512" y="3886200"/>
                <a:ext cx="307127" cy="137161"/>
              </a:xfrm>
              <a:prstGeom prst="line">
                <a:avLst/>
              </a:prstGeom>
              <a:noFill/>
              <a:ln w="19050" cap="flat" cmpd="sng" algn="ctr">
                <a:solidFill>
                  <a:schemeClr val="accent1">
                    <a:lumMod val="60000"/>
                    <a:lumOff val="40000"/>
                  </a:schemeClr>
                </a:solidFill>
                <a:prstDash val="solid"/>
                <a:miter lim="800000"/>
              </a:ln>
              <a:effectLst/>
            </p:spPr>
          </p:cxnSp>
          <p:cxnSp>
            <p:nvCxnSpPr>
              <p:cNvPr id="328" name="直接连接符 327"/>
              <p:cNvCxnSpPr/>
              <p:nvPr/>
            </p:nvCxnSpPr>
            <p:spPr>
              <a:xfrm flipH="1">
                <a:off x="8353512" y="4015740"/>
                <a:ext cx="307127" cy="137161"/>
              </a:xfrm>
              <a:prstGeom prst="line">
                <a:avLst/>
              </a:prstGeom>
              <a:noFill/>
              <a:ln w="19050" cap="flat" cmpd="sng" algn="ctr">
                <a:solidFill>
                  <a:schemeClr val="accent1">
                    <a:lumMod val="60000"/>
                    <a:lumOff val="40000"/>
                  </a:schemeClr>
                </a:solidFill>
                <a:prstDash val="solid"/>
                <a:miter lim="800000"/>
              </a:ln>
              <a:effectLst/>
            </p:spPr>
          </p:cxnSp>
        </p:grpSp>
        <p:grpSp>
          <p:nvGrpSpPr>
            <p:cNvPr id="329" name="组合 328"/>
            <p:cNvGrpSpPr/>
            <p:nvPr/>
          </p:nvGrpSpPr>
          <p:grpSpPr>
            <a:xfrm rot="0" flipH="1">
              <a:off x="4810" y="9225"/>
              <a:ext cx="79" cy="52"/>
              <a:chOff x="8353512" y="3886200"/>
              <a:chExt cx="307127" cy="266701"/>
            </a:xfrm>
          </p:grpSpPr>
          <p:cxnSp>
            <p:nvCxnSpPr>
              <p:cNvPr id="330" name="直接连接符 329"/>
              <p:cNvCxnSpPr/>
              <p:nvPr/>
            </p:nvCxnSpPr>
            <p:spPr>
              <a:xfrm flipH="1" flipV="1">
                <a:off x="8353512" y="3886200"/>
                <a:ext cx="307127" cy="137161"/>
              </a:xfrm>
              <a:prstGeom prst="line">
                <a:avLst/>
              </a:prstGeom>
              <a:noFill/>
              <a:ln w="19050" cap="flat" cmpd="sng" algn="ctr">
                <a:solidFill>
                  <a:schemeClr val="accent1">
                    <a:lumMod val="60000"/>
                    <a:lumOff val="40000"/>
                  </a:schemeClr>
                </a:solidFill>
                <a:prstDash val="solid"/>
                <a:miter lim="800000"/>
              </a:ln>
              <a:effectLst/>
            </p:spPr>
          </p:cxnSp>
          <p:cxnSp>
            <p:nvCxnSpPr>
              <p:cNvPr id="331" name="直接连接符 330"/>
              <p:cNvCxnSpPr/>
              <p:nvPr/>
            </p:nvCxnSpPr>
            <p:spPr>
              <a:xfrm flipH="1">
                <a:off x="8353512" y="4015740"/>
                <a:ext cx="307127" cy="137161"/>
              </a:xfrm>
              <a:prstGeom prst="line">
                <a:avLst/>
              </a:prstGeom>
              <a:noFill/>
              <a:ln w="19050" cap="flat" cmpd="sng" algn="ctr">
                <a:solidFill>
                  <a:schemeClr val="accent1">
                    <a:lumMod val="60000"/>
                    <a:lumOff val="40000"/>
                  </a:schemeClr>
                </a:solidFill>
                <a:prstDash val="solid"/>
                <a:miter lim="800000"/>
              </a:ln>
              <a:effectLst/>
            </p:spPr>
          </p:cxnSp>
        </p:grpSp>
        <p:cxnSp>
          <p:nvCxnSpPr>
            <p:cNvPr id="332" name="直接连接符 331"/>
            <p:cNvCxnSpPr/>
            <p:nvPr/>
          </p:nvCxnSpPr>
          <p:spPr>
            <a:xfrm flipV="1">
              <a:off x="5462" y="9442"/>
              <a:ext cx="79" cy="26"/>
            </a:xfrm>
            <a:prstGeom prst="line">
              <a:avLst/>
            </a:prstGeom>
            <a:noFill/>
            <a:ln w="19050" cap="flat" cmpd="sng" algn="ctr">
              <a:solidFill>
                <a:schemeClr val="accent1">
                  <a:lumMod val="60000"/>
                  <a:lumOff val="40000"/>
                </a:schemeClr>
              </a:solidFill>
              <a:prstDash val="solid"/>
              <a:miter lim="800000"/>
            </a:ln>
            <a:effectLst/>
          </p:spPr>
        </p:cxnSp>
        <p:cxnSp>
          <p:nvCxnSpPr>
            <p:cNvPr id="333" name="直接连接符 332"/>
            <p:cNvCxnSpPr/>
            <p:nvPr/>
          </p:nvCxnSpPr>
          <p:spPr>
            <a:xfrm>
              <a:off x="5384" y="9443"/>
              <a:ext cx="79" cy="26"/>
            </a:xfrm>
            <a:prstGeom prst="line">
              <a:avLst/>
            </a:prstGeom>
            <a:noFill/>
            <a:ln w="19050" cap="flat" cmpd="sng" algn="ctr">
              <a:solidFill>
                <a:schemeClr val="accent1">
                  <a:lumMod val="60000"/>
                  <a:lumOff val="40000"/>
                </a:schemeClr>
              </a:solidFill>
              <a:prstDash val="solid"/>
              <a:miter lim="800000"/>
            </a:ln>
            <a:effectLst/>
          </p:spPr>
        </p:cxnSp>
        <p:sp>
          <p:nvSpPr>
            <p:cNvPr id="334" name="梯形 333"/>
            <p:cNvSpPr/>
            <p:nvPr/>
          </p:nvSpPr>
          <p:spPr>
            <a:xfrm rot="10800000">
              <a:off x="5021" y="8630"/>
              <a:ext cx="883" cy="663"/>
            </a:xfrm>
            <a:prstGeom prst="trapezoid">
              <a:avLst>
                <a:gd name="adj" fmla="val 19469"/>
              </a:avLst>
            </a:prstGeom>
            <a:gradFill>
              <a:gsLst>
                <a:gs pos="100000">
                  <a:schemeClr val="accent1">
                    <a:lumMod val="60000"/>
                    <a:lumOff val="40000"/>
                    <a:alpha val="0"/>
                  </a:schemeClr>
                </a:gs>
                <a:gs pos="44100">
                  <a:schemeClr val="accent1">
                    <a:lumMod val="60000"/>
                    <a:lumOff val="40000"/>
                    <a:alpha val="15000"/>
                  </a:schemeClr>
                </a:gs>
                <a:gs pos="0">
                  <a:schemeClr val="accent1">
                    <a:lumMod val="60000"/>
                    <a:lumOff val="40000"/>
                    <a:alpha val="0"/>
                  </a:schemeClr>
                </a:gs>
              </a:gsLst>
              <a:lin ang="5400000" scaled="1"/>
            </a:gradFill>
            <a:ln w="12700" cap="flat" cmpd="sng" algn="ctr">
              <a:no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335" name="文本框 334"/>
            <p:cNvSpPr txBox="1"/>
            <p:nvPr/>
          </p:nvSpPr>
          <p:spPr>
            <a:xfrm>
              <a:off x="5034" y="8743"/>
              <a:ext cx="883" cy="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p>
              <a:pPr marL="0" marR="0" indent="0" algn="ctr" defTabSz="2438400" rtl="0" fontAlgn="auto" latinLnBrk="0" hangingPunct="0">
                <a:lnSpc>
                  <a:spcPct val="100000"/>
                </a:lnSpc>
                <a:spcBef>
                  <a:spcPts val="0"/>
                </a:spcBef>
                <a:spcAft>
                  <a:spcPts val="0"/>
                </a:spcAft>
                <a:buClrTx/>
                <a:buSzTx/>
                <a:buFontTx/>
                <a:buNone/>
              </a:pPr>
              <a:r>
                <a:rPr kumimoji="0" lang="zh-CN" altLang="en-US" sz="800" b="0" i="0" u="none" strike="noStrike" cap="none" spc="0" normalizeH="0" baseline="0" dirty="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生态孵化</a:t>
              </a:r>
              <a:endParaRPr kumimoji="0" lang="zh-CN" altLang="en-US" sz="800" b="0" i="0" u="none" strike="noStrike" cap="none" spc="0" normalizeH="0" baseline="0" dirty="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338" name="组合 337"/>
          <p:cNvGrpSpPr/>
          <p:nvPr/>
        </p:nvGrpSpPr>
        <p:grpSpPr>
          <a:xfrm>
            <a:off x="9036050" y="4222115"/>
            <a:ext cx="2738755" cy="474345"/>
            <a:chOff x="14263" y="2665"/>
            <a:chExt cx="4313" cy="747"/>
          </a:xfrm>
        </p:grpSpPr>
        <p:sp>
          <p:nvSpPr>
            <p:cNvPr id="339" name="文本框 1"/>
            <p:cNvSpPr txBox="1"/>
            <p:nvPr/>
          </p:nvSpPr>
          <p:spPr>
            <a:xfrm>
              <a:off x="16159" y="2665"/>
              <a:ext cx="2311" cy="629"/>
            </a:xfrm>
            <a:prstGeom prst="parallelogram">
              <a:avLst/>
            </a:prstGeom>
            <a:gradFill flip="none" rotWithShape="1">
              <a:gsLst>
                <a:gs pos="0">
                  <a:schemeClr val="accent1">
                    <a:lumMod val="60000"/>
                    <a:lumOff val="40000"/>
                  </a:schemeClr>
                </a:gs>
                <a:gs pos="32000">
                  <a:schemeClr val="accent1">
                    <a:lumMod val="60000"/>
                    <a:lumOff val="40000"/>
                    <a:alpha val="0"/>
                  </a:schemeClr>
                </a:gs>
              </a:gsLst>
              <a:lin ang="2700000" scaled="1"/>
              <a:tileRect/>
            </a:gradFill>
            <a:ln w="19050" cap="flat">
              <a:gradFill>
                <a:gsLst>
                  <a:gs pos="0">
                    <a:schemeClr val="accent1">
                      <a:lumMod val="60000"/>
                      <a:lumOff val="40000"/>
                    </a:schemeClr>
                  </a:gs>
                  <a:gs pos="15000">
                    <a:schemeClr val="accent1">
                      <a:lumMod val="60000"/>
                      <a:lumOff val="40000"/>
                      <a:alpha val="0"/>
                    </a:schemeClr>
                  </a:gs>
                </a:gsLst>
                <a:lin ang="2700000" scaled="0"/>
              </a:gradFill>
              <a:miter lim="400000"/>
            </a:ln>
            <a:effectLst/>
            <a:sp3d/>
          </p:spPr>
          <p:txBody>
            <a:bodyPr rot="0" spcFirstLastPara="1" vertOverflow="overflow" horzOverflow="overflow" vert="horz" wrap="square" lIns="79998" tIns="79998" rIns="79998" bIns="79998" numCol="1" spcCol="38100" rtlCol="0" anchor="ctr">
              <a:noAutofit/>
            </a:bodyPr>
            <a:p>
              <a:pPr defTabSz="1299845" hangingPunct="1">
                <a:defRPr/>
              </a:pPr>
              <a:endParaRPr lang="en-US" altLang="zh-CN" sz="1050" kern="1200"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340" name="文本框 1"/>
            <p:cNvSpPr txBox="1"/>
            <p:nvPr/>
          </p:nvSpPr>
          <p:spPr>
            <a:xfrm>
              <a:off x="16266" y="2784"/>
              <a:ext cx="2311" cy="629"/>
            </a:xfrm>
            <a:prstGeom prst="parallelogram">
              <a:avLst/>
            </a:prstGeom>
            <a:gradFill flip="none" rotWithShape="1">
              <a:gsLst>
                <a:gs pos="100000">
                  <a:schemeClr val="accent1">
                    <a:lumMod val="60000"/>
                    <a:lumOff val="40000"/>
                  </a:schemeClr>
                </a:gs>
                <a:gs pos="61000">
                  <a:schemeClr val="accent1">
                    <a:lumMod val="60000"/>
                    <a:lumOff val="40000"/>
                    <a:alpha val="0"/>
                  </a:schemeClr>
                </a:gs>
              </a:gsLst>
              <a:path path="circle">
                <a:fillToRect l="50000" t="50000" r="50000" b="50000"/>
              </a:path>
              <a:tileRect/>
            </a:gradFill>
            <a:ln w="9525" cap="flat">
              <a:solidFill>
                <a:schemeClr val="accent1">
                  <a:lumMod val="60000"/>
                  <a:lumOff val="40000"/>
                </a:schemeClr>
              </a:solidFill>
              <a:miter lim="400000"/>
            </a:ln>
            <a:effectLst/>
            <a:sp3d/>
          </p:spPr>
          <p:txBody>
            <a:bodyPr rot="0" spcFirstLastPara="1" vertOverflow="overflow" horzOverflow="overflow" vert="horz" wrap="square" lIns="79998" tIns="79998" rIns="79998" bIns="79998" numCol="1" spcCol="38100" rtlCol="0" anchor="ctr">
              <a:noAutofit/>
            </a:bodyPr>
            <a:p>
              <a:pPr algn="ctr" defTabSz="1299845" hangingPunct="1">
                <a:defRPr/>
              </a:pPr>
              <a:r>
                <a:rPr lang="zh-CN" altLang="en-US" sz="1200" b="1" kern="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模式蝶变</a:t>
              </a:r>
              <a:endParaRPr lang="zh-CN" altLang="en-US" sz="1200" b="1" kern="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nvGrpSpPr>
            <p:cNvPr id="341" name="组合 340"/>
            <p:cNvGrpSpPr/>
            <p:nvPr/>
          </p:nvGrpSpPr>
          <p:grpSpPr>
            <a:xfrm>
              <a:off x="14263" y="3011"/>
              <a:ext cx="2043" cy="227"/>
              <a:chOff x="8823521" y="1860849"/>
              <a:chExt cx="1297315" cy="144000"/>
            </a:xfrm>
          </p:grpSpPr>
          <p:grpSp>
            <p:nvGrpSpPr>
              <p:cNvPr id="342" name="组合 341"/>
              <p:cNvGrpSpPr/>
              <p:nvPr/>
            </p:nvGrpSpPr>
            <p:grpSpPr>
              <a:xfrm>
                <a:off x="9976836" y="1860849"/>
                <a:ext cx="144000" cy="144000"/>
                <a:chOff x="9976836" y="1860849"/>
                <a:chExt cx="144000" cy="144000"/>
              </a:xfrm>
            </p:grpSpPr>
            <p:sp>
              <p:nvSpPr>
                <p:cNvPr id="343" name="椭圆 342"/>
                <p:cNvSpPr/>
                <p:nvPr/>
              </p:nvSpPr>
              <p:spPr>
                <a:xfrm>
                  <a:off x="9976836" y="1860849"/>
                  <a:ext cx="144000" cy="144000"/>
                </a:xfrm>
                <a:prstGeom prst="ellipse">
                  <a:avLst/>
                </a:prstGeom>
                <a:gradFill>
                  <a:gsLst>
                    <a:gs pos="2000">
                      <a:schemeClr val="accent1">
                        <a:lumMod val="60000"/>
                        <a:lumOff val="40000"/>
                      </a:schemeClr>
                    </a:gs>
                    <a:gs pos="100000">
                      <a:schemeClr val="accent1">
                        <a:lumMod val="60000"/>
                        <a:lumOff val="40000"/>
                        <a:alpha val="0"/>
                      </a:schemeClr>
                    </a:gs>
                  </a:gsLst>
                  <a:lin ang="5400000" scaled="1"/>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p>
                  <a:pPr marL="0" marR="0" indent="0" algn="ctr" defTabSz="825500" rtl="0" fontAlgn="auto" latinLnBrk="0" hangingPunct="0">
                    <a:lnSpc>
                      <a:spcPct val="100000"/>
                    </a:lnSpc>
                    <a:spcBef>
                      <a:spcPts val="0"/>
                    </a:spcBef>
                    <a:spcAft>
                      <a:spcPts val="0"/>
                    </a:spcAft>
                    <a:buClrTx/>
                    <a:buSzTx/>
                    <a:buFontTx/>
                    <a:buNone/>
                  </a:pPr>
                  <a:endParaRPr kumimoji="0" lang="zh-CN" altLang="en-US" sz="1100" b="0" i="0" u="none" strike="noStrike" cap="none" spc="0" normalizeH="0" baseline="0">
                    <a:ln>
                      <a:noFill/>
                    </a:ln>
                    <a:solidFill>
                      <a:schemeClr val="accent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46" name="椭圆 345"/>
                <p:cNvSpPr/>
                <p:nvPr/>
              </p:nvSpPr>
              <p:spPr>
                <a:xfrm>
                  <a:off x="10012836" y="1896849"/>
                  <a:ext cx="72000" cy="72000"/>
                </a:xfrm>
                <a:prstGeom prst="ellipse">
                  <a:avLst/>
                </a:prstGeom>
                <a:solidFill>
                  <a:schemeClr val="accent1">
                    <a:lumMod val="60000"/>
                    <a:lumOff val="4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p>
                  <a:pPr marL="0" marR="0" indent="0" algn="ctr" defTabSz="825500" rtl="0" fontAlgn="auto" latinLnBrk="0" hangingPunct="0">
                    <a:lnSpc>
                      <a:spcPct val="100000"/>
                    </a:lnSpc>
                    <a:spcBef>
                      <a:spcPts val="0"/>
                    </a:spcBef>
                    <a:spcAft>
                      <a:spcPts val="0"/>
                    </a:spcAft>
                    <a:buClrTx/>
                    <a:buSzTx/>
                    <a:buFontTx/>
                    <a:buNone/>
                  </a:pPr>
                  <a:endParaRPr kumimoji="0" lang="zh-CN" altLang="en-US" sz="1100" b="0" i="0" u="none" strike="noStrike" cap="none" spc="0" normalizeH="0" baseline="0">
                    <a:ln>
                      <a:noFill/>
                    </a:ln>
                    <a:solidFill>
                      <a:schemeClr val="accent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cxnSp>
            <p:nvCxnSpPr>
              <p:cNvPr id="347" name="直接连接符 346"/>
              <p:cNvCxnSpPr/>
              <p:nvPr/>
            </p:nvCxnSpPr>
            <p:spPr>
              <a:xfrm flipH="1">
                <a:off x="8823521" y="1932849"/>
                <a:ext cx="1209322" cy="0"/>
              </a:xfrm>
              <a:prstGeom prst="line">
                <a:avLst/>
              </a:prstGeom>
              <a:noFill/>
              <a:ln w="25400" cap="flat">
                <a:gradFill>
                  <a:gsLst>
                    <a:gs pos="0">
                      <a:schemeClr val="accent1">
                        <a:lumMod val="60000"/>
                        <a:lumOff val="40000"/>
                      </a:schemeClr>
                    </a:gs>
                    <a:gs pos="80000">
                      <a:schemeClr val="accent1">
                        <a:lumMod val="60000"/>
                        <a:lumOff val="40000"/>
                        <a:alpha val="0"/>
                      </a:schemeClr>
                    </a:gs>
                  </a:gsLst>
                  <a:lin ang="0" scaled="0"/>
                </a:gradFill>
                <a:prstDash val="solid"/>
                <a:miter lim="400000"/>
              </a:ln>
              <a:effectLst/>
              <a:sp3d/>
            </p:spPr>
            <p:style>
              <a:lnRef idx="0">
                <a:scrgbClr r="0" g="0" b="0"/>
              </a:lnRef>
              <a:fillRef idx="0">
                <a:scrgbClr r="0" g="0" b="0"/>
              </a:fillRef>
              <a:effectRef idx="0">
                <a:scrgbClr r="0" g="0" b="0"/>
              </a:effectRef>
              <a:fontRef idx="none"/>
            </p:style>
          </p:cxnSp>
        </p:grpSp>
      </p:grpSp>
      <p:grpSp>
        <p:nvGrpSpPr>
          <p:cNvPr id="348" name="组合 347"/>
          <p:cNvGrpSpPr/>
          <p:nvPr/>
        </p:nvGrpSpPr>
        <p:grpSpPr>
          <a:xfrm>
            <a:off x="9036050" y="5487035"/>
            <a:ext cx="2738755" cy="474345"/>
            <a:chOff x="14263" y="2665"/>
            <a:chExt cx="4313" cy="747"/>
          </a:xfrm>
        </p:grpSpPr>
        <p:sp>
          <p:nvSpPr>
            <p:cNvPr id="349" name="文本框 1"/>
            <p:cNvSpPr txBox="1"/>
            <p:nvPr/>
          </p:nvSpPr>
          <p:spPr>
            <a:xfrm>
              <a:off x="16159" y="2665"/>
              <a:ext cx="2311" cy="629"/>
            </a:xfrm>
            <a:prstGeom prst="parallelogram">
              <a:avLst/>
            </a:prstGeom>
            <a:gradFill flip="none" rotWithShape="1">
              <a:gsLst>
                <a:gs pos="0">
                  <a:schemeClr val="accent1"/>
                </a:gs>
                <a:gs pos="32000">
                  <a:schemeClr val="accent1">
                    <a:alpha val="0"/>
                  </a:schemeClr>
                </a:gs>
              </a:gsLst>
              <a:lin ang="2700000" scaled="1"/>
              <a:tileRect/>
            </a:gradFill>
            <a:ln w="19050" cap="flat">
              <a:gradFill>
                <a:gsLst>
                  <a:gs pos="0">
                    <a:schemeClr val="accent1"/>
                  </a:gs>
                  <a:gs pos="15000">
                    <a:schemeClr val="accent1">
                      <a:alpha val="0"/>
                    </a:schemeClr>
                  </a:gs>
                </a:gsLst>
                <a:lin ang="2700000" scaled="0"/>
              </a:gradFill>
              <a:miter lim="400000"/>
            </a:ln>
            <a:effectLst/>
            <a:sp3d/>
          </p:spPr>
          <p:txBody>
            <a:bodyPr rot="0" spcFirstLastPara="1" vertOverflow="overflow" horzOverflow="overflow" vert="horz" wrap="square" lIns="79998" tIns="79998" rIns="79998" bIns="79998" numCol="1" spcCol="38100" rtlCol="0" anchor="ctr">
              <a:noAutofit/>
            </a:bodyPr>
            <a:p>
              <a:pPr defTabSz="1299845" hangingPunct="1">
                <a:defRPr/>
              </a:pPr>
              <a:endParaRPr lang="en-US" altLang="zh-CN" sz="1050" kern="1200" dirty="0">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350" name="文本框 1"/>
            <p:cNvSpPr txBox="1"/>
            <p:nvPr/>
          </p:nvSpPr>
          <p:spPr>
            <a:xfrm>
              <a:off x="16266" y="2784"/>
              <a:ext cx="2311" cy="629"/>
            </a:xfrm>
            <a:prstGeom prst="parallelogram">
              <a:avLst/>
            </a:prstGeom>
            <a:gradFill flip="none" rotWithShape="1">
              <a:gsLst>
                <a:gs pos="100000">
                  <a:schemeClr val="accent1"/>
                </a:gs>
                <a:gs pos="61000">
                  <a:schemeClr val="accent1">
                    <a:alpha val="0"/>
                  </a:schemeClr>
                </a:gs>
              </a:gsLst>
              <a:path path="circle">
                <a:fillToRect l="50000" t="50000" r="50000" b="50000"/>
              </a:path>
              <a:tileRect/>
            </a:gradFill>
            <a:ln w="9525" cap="flat">
              <a:solidFill>
                <a:schemeClr val="accent1"/>
              </a:solidFill>
              <a:miter lim="400000"/>
            </a:ln>
            <a:effectLst/>
            <a:sp3d/>
          </p:spPr>
          <p:txBody>
            <a:bodyPr rot="0" spcFirstLastPara="1" vertOverflow="overflow" horzOverflow="overflow" vert="horz" wrap="square" lIns="79998" tIns="79998" rIns="79998" bIns="79998" numCol="1" spcCol="38100" rtlCol="0" anchor="ctr">
              <a:noAutofit/>
            </a:bodyPr>
            <a:p>
              <a:pPr algn="ctr" defTabSz="1299845" hangingPunct="1">
                <a:defRPr/>
              </a:pPr>
              <a:r>
                <a:rPr lang="zh-CN" altLang="en-US" sz="1200" b="1" kern="1200" dirty="0">
                  <a:solidFill>
                    <a:schemeClr val="accent1"/>
                  </a:solidFill>
                  <a:latin typeface="微软雅黑" panose="020B0503020204020204" charset="-122"/>
                  <a:ea typeface="微软雅黑" panose="020B0503020204020204" charset="-122"/>
                  <a:cs typeface="微软雅黑" panose="020B0503020204020204" charset="-122"/>
                </a:rPr>
                <a:t>技术筑基</a:t>
              </a:r>
              <a:endParaRPr lang="zh-CN" altLang="en-US" sz="1200" b="1" kern="1200" dirty="0">
                <a:solidFill>
                  <a:schemeClr val="accent1"/>
                </a:solidFill>
                <a:latin typeface="微软雅黑" panose="020B0503020204020204" charset="-122"/>
                <a:ea typeface="微软雅黑" panose="020B0503020204020204" charset="-122"/>
                <a:cs typeface="微软雅黑" panose="020B0503020204020204" charset="-122"/>
              </a:endParaRPr>
            </a:p>
          </p:txBody>
        </p:sp>
        <p:grpSp>
          <p:nvGrpSpPr>
            <p:cNvPr id="351" name="组合 350"/>
            <p:cNvGrpSpPr/>
            <p:nvPr/>
          </p:nvGrpSpPr>
          <p:grpSpPr>
            <a:xfrm>
              <a:off x="14263" y="3011"/>
              <a:ext cx="2043" cy="227"/>
              <a:chOff x="8823521" y="1860849"/>
              <a:chExt cx="1297315" cy="144000"/>
            </a:xfrm>
          </p:grpSpPr>
          <p:grpSp>
            <p:nvGrpSpPr>
              <p:cNvPr id="352" name="组合 351"/>
              <p:cNvGrpSpPr/>
              <p:nvPr/>
            </p:nvGrpSpPr>
            <p:grpSpPr>
              <a:xfrm>
                <a:off x="9976836" y="1860849"/>
                <a:ext cx="144000" cy="144000"/>
                <a:chOff x="9976836" y="1860849"/>
                <a:chExt cx="144000" cy="144000"/>
              </a:xfrm>
            </p:grpSpPr>
            <p:sp>
              <p:nvSpPr>
                <p:cNvPr id="353" name="椭圆 352"/>
                <p:cNvSpPr/>
                <p:nvPr/>
              </p:nvSpPr>
              <p:spPr>
                <a:xfrm>
                  <a:off x="9976836" y="1860849"/>
                  <a:ext cx="144000" cy="144000"/>
                </a:xfrm>
                <a:prstGeom prst="ellipse">
                  <a:avLst/>
                </a:prstGeom>
                <a:gradFill>
                  <a:gsLst>
                    <a:gs pos="2000">
                      <a:schemeClr val="accent1"/>
                    </a:gs>
                    <a:gs pos="100000">
                      <a:schemeClr val="accent1">
                        <a:alpha val="0"/>
                      </a:schemeClr>
                    </a:gs>
                  </a:gsLst>
                  <a:lin ang="5400000" scaled="1"/>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p>
                  <a:pPr marL="0" marR="0" indent="0" algn="ctr" defTabSz="825500" rtl="0" fontAlgn="auto" latinLnBrk="0" hangingPunct="0">
                    <a:lnSpc>
                      <a:spcPct val="100000"/>
                    </a:lnSpc>
                    <a:spcBef>
                      <a:spcPts val="0"/>
                    </a:spcBef>
                    <a:spcAft>
                      <a:spcPts val="0"/>
                    </a:spcAft>
                    <a:buClrTx/>
                    <a:buSzTx/>
                    <a:buFontTx/>
                    <a:buNone/>
                  </a:pPr>
                  <a:endParaRPr kumimoji="0" lang="zh-CN" altLang="en-US" sz="1100" b="0" i="0" u="none" strike="noStrike" cap="none" spc="0" normalizeH="0" baseline="0">
                    <a:ln>
                      <a:noFill/>
                    </a:ln>
                    <a:solidFill>
                      <a:schemeClr val="accent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54" name="椭圆 353"/>
                <p:cNvSpPr/>
                <p:nvPr/>
              </p:nvSpPr>
              <p:spPr>
                <a:xfrm>
                  <a:off x="10012836" y="1896849"/>
                  <a:ext cx="72000" cy="72000"/>
                </a:xfrm>
                <a:prstGeom prst="ellipse">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p>
                  <a:pPr marL="0" marR="0" indent="0" algn="ctr" defTabSz="825500" rtl="0" fontAlgn="auto" latinLnBrk="0" hangingPunct="0">
                    <a:lnSpc>
                      <a:spcPct val="100000"/>
                    </a:lnSpc>
                    <a:spcBef>
                      <a:spcPts val="0"/>
                    </a:spcBef>
                    <a:spcAft>
                      <a:spcPts val="0"/>
                    </a:spcAft>
                    <a:buClrTx/>
                    <a:buSzTx/>
                    <a:buFontTx/>
                    <a:buNone/>
                  </a:pPr>
                  <a:endParaRPr kumimoji="0" lang="zh-CN" altLang="en-US" sz="1100" b="0" i="0" u="none" strike="noStrike" cap="none" spc="0" normalizeH="0" baseline="0">
                    <a:ln>
                      <a:noFill/>
                    </a:ln>
                    <a:solidFill>
                      <a:schemeClr val="accent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cxnSp>
            <p:nvCxnSpPr>
              <p:cNvPr id="355" name="直接连接符 354"/>
              <p:cNvCxnSpPr/>
              <p:nvPr/>
            </p:nvCxnSpPr>
            <p:spPr>
              <a:xfrm flipH="1">
                <a:off x="8823521" y="1932849"/>
                <a:ext cx="1209322" cy="0"/>
              </a:xfrm>
              <a:prstGeom prst="line">
                <a:avLst/>
              </a:prstGeom>
              <a:noFill/>
              <a:ln w="25400" cap="flat">
                <a:gradFill>
                  <a:gsLst>
                    <a:gs pos="0">
                      <a:schemeClr val="accent1"/>
                    </a:gs>
                    <a:gs pos="80000">
                      <a:schemeClr val="accent1">
                        <a:alpha val="0"/>
                      </a:schemeClr>
                    </a:gs>
                  </a:gsLst>
                  <a:lin ang="0" scaled="0"/>
                </a:gradFill>
                <a:prstDash val="solid"/>
                <a:miter lim="400000"/>
              </a:ln>
              <a:effectLst/>
              <a:sp3d/>
            </p:spPr>
            <p:style>
              <a:lnRef idx="0">
                <a:scrgbClr r="0" g="0" b="0"/>
              </a:lnRef>
              <a:fillRef idx="0">
                <a:scrgbClr r="0" g="0" b="0"/>
              </a:fillRef>
              <a:effectRef idx="0">
                <a:scrgbClr r="0" g="0" b="0"/>
              </a:effectRef>
              <a:fontRef idx="none"/>
            </p:style>
          </p:cxnSp>
        </p:grpSp>
      </p:grpSp>
      <p:grpSp>
        <p:nvGrpSpPr>
          <p:cNvPr id="129" name="组合 128"/>
          <p:cNvGrpSpPr/>
          <p:nvPr/>
        </p:nvGrpSpPr>
        <p:grpSpPr>
          <a:xfrm>
            <a:off x="4135755" y="5467668"/>
            <a:ext cx="827405" cy="532765"/>
            <a:chOff x="4810" y="8630"/>
            <a:chExt cx="1303" cy="839"/>
          </a:xfrm>
        </p:grpSpPr>
        <p:sp>
          <p:nvSpPr>
            <p:cNvPr id="133" name="菱形 132"/>
            <p:cNvSpPr/>
            <p:nvPr/>
          </p:nvSpPr>
          <p:spPr>
            <a:xfrm>
              <a:off x="4813" y="9032"/>
              <a:ext cx="1298" cy="436"/>
            </a:xfrm>
            <a:prstGeom prst="diamond">
              <a:avLst/>
            </a:prstGeom>
            <a:noFill/>
            <a:ln w="12700" cap="flat" cmpd="sng" algn="ctr">
              <a:gradFill>
                <a:gsLst>
                  <a:gs pos="10000">
                    <a:schemeClr val="accent1">
                      <a:alpha val="0"/>
                    </a:schemeClr>
                  </a:gs>
                  <a:gs pos="100000">
                    <a:schemeClr val="accent1"/>
                  </a:gs>
                </a:gsLst>
                <a:lin ang="5400000" scaled="1"/>
              </a:gradFill>
              <a:prstDash val="solid"/>
              <a:miter lim="800000"/>
            </a:ln>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34" name="菱形 133"/>
            <p:cNvSpPr/>
            <p:nvPr/>
          </p:nvSpPr>
          <p:spPr>
            <a:xfrm>
              <a:off x="4933" y="9073"/>
              <a:ext cx="1058" cy="356"/>
            </a:xfrm>
            <a:prstGeom prst="diamond">
              <a:avLst/>
            </a:prstGeom>
            <a:gradFill>
              <a:gsLst>
                <a:gs pos="0">
                  <a:schemeClr val="accent1">
                    <a:alpha val="0"/>
                  </a:schemeClr>
                </a:gs>
                <a:gs pos="100000">
                  <a:schemeClr val="accent1">
                    <a:alpha val="28000"/>
                  </a:schemeClr>
                </a:gs>
              </a:gsLst>
              <a:lin ang="5400000" scaled="1"/>
            </a:gradFill>
            <a:ln w="9525" cap="flat" cmpd="sng" algn="ctr">
              <a:gradFill>
                <a:gsLst>
                  <a:gs pos="0">
                    <a:schemeClr val="accent1">
                      <a:alpha val="0"/>
                    </a:schemeClr>
                  </a:gs>
                  <a:gs pos="100000">
                    <a:schemeClr val="accent1">
                      <a:alpha val="53000"/>
                    </a:schemeClr>
                  </a:gs>
                </a:gsLst>
                <a:lin ang="5400000" scaled="1"/>
              </a:gradFill>
              <a:prstDash val="solid"/>
              <a:miter lim="800000"/>
            </a:ln>
            <a:effectLst>
              <a:innerShdw blurRad="279400">
                <a:schemeClr val="accent1">
                  <a:lumMod val="40000"/>
                  <a:lumOff val="60000"/>
                  <a:alpha val="63000"/>
                </a:schemeClr>
              </a:innerShdw>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35" name="菱形 134"/>
            <p:cNvSpPr/>
            <p:nvPr/>
          </p:nvSpPr>
          <p:spPr>
            <a:xfrm>
              <a:off x="5134" y="9141"/>
              <a:ext cx="654" cy="220"/>
            </a:xfrm>
            <a:prstGeom prst="diamond">
              <a:avLst/>
            </a:prstGeom>
            <a:gradFill>
              <a:gsLst>
                <a:gs pos="100000">
                  <a:schemeClr val="accent1">
                    <a:alpha val="50000"/>
                  </a:schemeClr>
                </a:gs>
                <a:gs pos="0">
                  <a:schemeClr val="accent1">
                    <a:alpha val="0"/>
                  </a:schemeClr>
                </a:gs>
              </a:gsLst>
              <a:lin ang="5400000" scaled="1"/>
            </a:gradFill>
            <a:ln w="6350" cap="flat" cmpd="sng" algn="ctr">
              <a:gradFill>
                <a:gsLst>
                  <a:gs pos="0">
                    <a:schemeClr val="accent1">
                      <a:alpha val="0"/>
                    </a:schemeClr>
                  </a:gs>
                  <a:gs pos="100000">
                    <a:schemeClr val="accent1"/>
                  </a:gs>
                </a:gsLst>
                <a:lin ang="5400000" scaled="1"/>
              </a:grad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grpSp>
          <p:nvGrpSpPr>
            <p:cNvPr id="136" name="组合 135"/>
            <p:cNvGrpSpPr/>
            <p:nvPr/>
          </p:nvGrpSpPr>
          <p:grpSpPr>
            <a:xfrm rot="0">
              <a:off x="6034" y="9225"/>
              <a:ext cx="79" cy="52"/>
              <a:chOff x="8353512" y="3886200"/>
              <a:chExt cx="307127" cy="266701"/>
            </a:xfrm>
          </p:grpSpPr>
          <p:cxnSp>
            <p:nvCxnSpPr>
              <p:cNvPr id="137" name="直接连接符 136"/>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138" name="直接连接符 137"/>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grpSp>
          <p:nvGrpSpPr>
            <p:cNvPr id="139" name="组合 138"/>
            <p:cNvGrpSpPr/>
            <p:nvPr/>
          </p:nvGrpSpPr>
          <p:grpSpPr>
            <a:xfrm rot="0" flipH="1">
              <a:off x="4810" y="9225"/>
              <a:ext cx="79" cy="52"/>
              <a:chOff x="8353512" y="3886200"/>
              <a:chExt cx="307127" cy="266701"/>
            </a:xfrm>
          </p:grpSpPr>
          <p:cxnSp>
            <p:nvCxnSpPr>
              <p:cNvPr id="140" name="直接连接符 139"/>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141" name="直接连接符 140"/>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cxnSp>
          <p:nvCxnSpPr>
            <p:cNvPr id="142" name="直接连接符 141"/>
            <p:cNvCxnSpPr/>
            <p:nvPr/>
          </p:nvCxnSpPr>
          <p:spPr>
            <a:xfrm flipV="1">
              <a:off x="5462" y="9442"/>
              <a:ext cx="79" cy="26"/>
            </a:xfrm>
            <a:prstGeom prst="line">
              <a:avLst/>
            </a:prstGeom>
            <a:noFill/>
            <a:ln w="19050" cap="flat" cmpd="sng" algn="ctr">
              <a:solidFill>
                <a:schemeClr val="accent1"/>
              </a:solidFill>
              <a:prstDash val="solid"/>
              <a:miter lim="800000"/>
            </a:ln>
            <a:effectLst/>
          </p:spPr>
        </p:cxnSp>
        <p:cxnSp>
          <p:nvCxnSpPr>
            <p:cNvPr id="143" name="直接连接符 142"/>
            <p:cNvCxnSpPr/>
            <p:nvPr/>
          </p:nvCxnSpPr>
          <p:spPr>
            <a:xfrm>
              <a:off x="5384" y="9443"/>
              <a:ext cx="79" cy="26"/>
            </a:xfrm>
            <a:prstGeom prst="line">
              <a:avLst/>
            </a:prstGeom>
            <a:noFill/>
            <a:ln w="19050" cap="flat" cmpd="sng" algn="ctr">
              <a:solidFill>
                <a:schemeClr val="accent1"/>
              </a:solidFill>
              <a:prstDash val="solid"/>
              <a:miter lim="800000"/>
            </a:ln>
            <a:effectLst/>
          </p:spPr>
        </p:cxnSp>
        <p:sp>
          <p:nvSpPr>
            <p:cNvPr id="144" name="梯形 143"/>
            <p:cNvSpPr/>
            <p:nvPr/>
          </p:nvSpPr>
          <p:spPr>
            <a:xfrm rot="10800000">
              <a:off x="5021" y="8630"/>
              <a:ext cx="883" cy="663"/>
            </a:xfrm>
            <a:prstGeom prst="trapezoid">
              <a:avLst>
                <a:gd name="adj" fmla="val 19469"/>
              </a:avLst>
            </a:prstGeom>
            <a:gradFill>
              <a:gsLst>
                <a:gs pos="100000">
                  <a:schemeClr val="accent1">
                    <a:alpha val="0"/>
                  </a:schemeClr>
                </a:gs>
                <a:gs pos="44100">
                  <a:schemeClr val="accent1">
                    <a:alpha val="15000"/>
                  </a:schemeClr>
                </a:gs>
                <a:gs pos="0">
                  <a:schemeClr val="accent1">
                    <a:alpha val="0"/>
                  </a:schemeClr>
                </a:gs>
              </a:gsLst>
              <a:lin ang="5400000" scaled="1"/>
            </a:gradFill>
            <a:ln w="12700" cap="flat" cmpd="sng" algn="ctr">
              <a:no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45" name="文本框 144"/>
            <p:cNvSpPr txBox="1"/>
            <p:nvPr/>
          </p:nvSpPr>
          <p:spPr>
            <a:xfrm>
              <a:off x="5034" y="8743"/>
              <a:ext cx="883" cy="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p>
              <a:pPr marL="0" marR="0" indent="0" algn="ctr" defTabSz="2438400" rtl="0" fontAlgn="auto" latinLnBrk="0" hangingPunct="0">
                <a:lnSpc>
                  <a:spcPct val="100000"/>
                </a:lnSpc>
                <a:spcBef>
                  <a:spcPts val="0"/>
                </a:spcBef>
                <a:spcAft>
                  <a:spcPts val="0"/>
                </a:spcAft>
                <a:buClrTx/>
                <a:buSzTx/>
                <a:buFontTx/>
                <a:buNone/>
              </a:pPr>
              <a:r>
                <a:rPr kumimoji="0" lang="zh-CN" altLang="en-US" sz="8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场景融合</a:t>
              </a:r>
              <a:endParaRPr kumimoji="0" lang="zh-CN" altLang="en-US" sz="8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146" name="组合 145"/>
          <p:cNvGrpSpPr/>
          <p:nvPr/>
        </p:nvGrpSpPr>
        <p:grpSpPr>
          <a:xfrm>
            <a:off x="5133340" y="5467668"/>
            <a:ext cx="827405" cy="532765"/>
            <a:chOff x="4810" y="8630"/>
            <a:chExt cx="1303" cy="839"/>
          </a:xfrm>
        </p:grpSpPr>
        <p:sp>
          <p:nvSpPr>
            <p:cNvPr id="147" name="菱形 146"/>
            <p:cNvSpPr/>
            <p:nvPr/>
          </p:nvSpPr>
          <p:spPr>
            <a:xfrm>
              <a:off x="4813" y="9032"/>
              <a:ext cx="1298" cy="436"/>
            </a:xfrm>
            <a:prstGeom prst="diamond">
              <a:avLst/>
            </a:prstGeom>
            <a:noFill/>
            <a:ln w="12700" cap="flat" cmpd="sng" algn="ctr">
              <a:gradFill>
                <a:gsLst>
                  <a:gs pos="10000">
                    <a:schemeClr val="accent1">
                      <a:alpha val="0"/>
                    </a:schemeClr>
                  </a:gs>
                  <a:gs pos="100000">
                    <a:schemeClr val="accent1"/>
                  </a:gs>
                </a:gsLst>
                <a:lin ang="5400000" scaled="1"/>
              </a:gradFill>
              <a:prstDash val="solid"/>
              <a:miter lim="800000"/>
            </a:ln>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48" name="菱形 147"/>
            <p:cNvSpPr/>
            <p:nvPr/>
          </p:nvSpPr>
          <p:spPr>
            <a:xfrm>
              <a:off x="4933" y="9073"/>
              <a:ext cx="1058" cy="356"/>
            </a:xfrm>
            <a:prstGeom prst="diamond">
              <a:avLst/>
            </a:prstGeom>
            <a:gradFill>
              <a:gsLst>
                <a:gs pos="0">
                  <a:schemeClr val="accent1">
                    <a:alpha val="0"/>
                  </a:schemeClr>
                </a:gs>
                <a:gs pos="100000">
                  <a:schemeClr val="accent1">
                    <a:alpha val="28000"/>
                  </a:schemeClr>
                </a:gs>
              </a:gsLst>
              <a:lin ang="5400000" scaled="1"/>
            </a:gradFill>
            <a:ln w="9525" cap="flat" cmpd="sng" algn="ctr">
              <a:gradFill>
                <a:gsLst>
                  <a:gs pos="0">
                    <a:schemeClr val="accent1">
                      <a:alpha val="0"/>
                    </a:schemeClr>
                  </a:gs>
                  <a:gs pos="100000">
                    <a:schemeClr val="accent1">
                      <a:alpha val="53000"/>
                    </a:schemeClr>
                  </a:gs>
                </a:gsLst>
                <a:lin ang="5400000" scaled="1"/>
              </a:gradFill>
              <a:prstDash val="solid"/>
              <a:miter lim="800000"/>
            </a:ln>
            <a:effectLst>
              <a:innerShdw blurRad="279400">
                <a:schemeClr val="accent1">
                  <a:lumMod val="40000"/>
                  <a:lumOff val="60000"/>
                  <a:alpha val="63000"/>
                </a:schemeClr>
              </a:innerShdw>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49" name="菱形 148"/>
            <p:cNvSpPr/>
            <p:nvPr/>
          </p:nvSpPr>
          <p:spPr>
            <a:xfrm>
              <a:off x="5134" y="9141"/>
              <a:ext cx="654" cy="220"/>
            </a:xfrm>
            <a:prstGeom prst="diamond">
              <a:avLst/>
            </a:prstGeom>
            <a:gradFill>
              <a:gsLst>
                <a:gs pos="100000">
                  <a:schemeClr val="accent1">
                    <a:alpha val="50000"/>
                  </a:schemeClr>
                </a:gs>
                <a:gs pos="0">
                  <a:schemeClr val="accent1">
                    <a:alpha val="0"/>
                  </a:schemeClr>
                </a:gs>
              </a:gsLst>
              <a:lin ang="5400000" scaled="1"/>
            </a:gradFill>
            <a:ln w="6350" cap="flat" cmpd="sng" algn="ctr">
              <a:gradFill>
                <a:gsLst>
                  <a:gs pos="0">
                    <a:schemeClr val="accent1">
                      <a:alpha val="0"/>
                    </a:schemeClr>
                  </a:gs>
                  <a:gs pos="100000">
                    <a:schemeClr val="accent1"/>
                  </a:gs>
                </a:gsLst>
                <a:lin ang="5400000" scaled="1"/>
              </a:grad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grpSp>
          <p:nvGrpSpPr>
            <p:cNvPr id="150" name="组合 149"/>
            <p:cNvGrpSpPr/>
            <p:nvPr/>
          </p:nvGrpSpPr>
          <p:grpSpPr>
            <a:xfrm rot="0">
              <a:off x="6034" y="9225"/>
              <a:ext cx="79" cy="52"/>
              <a:chOff x="8353512" y="3886200"/>
              <a:chExt cx="307127" cy="266701"/>
            </a:xfrm>
          </p:grpSpPr>
          <p:cxnSp>
            <p:nvCxnSpPr>
              <p:cNvPr id="151" name="直接连接符 150"/>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152" name="直接连接符 151"/>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grpSp>
          <p:nvGrpSpPr>
            <p:cNvPr id="153" name="组合 152"/>
            <p:cNvGrpSpPr/>
            <p:nvPr/>
          </p:nvGrpSpPr>
          <p:grpSpPr>
            <a:xfrm rot="0" flipH="1">
              <a:off x="4810" y="9225"/>
              <a:ext cx="79" cy="52"/>
              <a:chOff x="8353512" y="3886200"/>
              <a:chExt cx="307127" cy="266701"/>
            </a:xfrm>
          </p:grpSpPr>
          <p:cxnSp>
            <p:nvCxnSpPr>
              <p:cNvPr id="154" name="直接连接符 153"/>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155" name="直接连接符 154"/>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cxnSp>
          <p:nvCxnSpPr>
            <p:cNvPr id="156" name="直接连接符 155"/>
            <p:cNvCxnSpPr/>
            <p:nvPr/>
          </p:nvCxnSpPr>
          <p:spPr>
            <a:xfrm flipV="1">
              <a:off x="5462" y="9442"/>
              <a:ext cx="79" cy="26"/>
            </a:xfrm>
            <a:prstGeom prst="line">
              <a:avLst/>
            </a:prstGeom>
            <a:noFill/>
            <a:ln w="19050" cap="flat" cmpd="sng" algn="ctr">
              <a:solidFill>
                <a:schemeClr val="accent1"/>
              </a:solidFill>
              <a:prstDash val="solid"/>
              <a:miter lim="800000"/>
            </a:ln>
            <a:effectLst/>
          </p:spPr>
        </p:cxnSp>
        <p:cxnSp>
          <p:nvCxnSpPr>
            <p:cNvPr id="157" name="直接连接符 156"/>
            <p:cNvCxnSpPr/>
            <p:nvPr/>
          </p:nvCxnSpPr>
          <p:spPr>
            <a:xfrm>
              <a:off x="5384" y="9443"/>
              <a:ext cx="79" cy="26"/>
            </a:xfrm>
            <a:prstGeom prst="line">
              <a:avLst/>
            </a:prstGeom>
            <a:noFill/>
            <a:ln w="19050" cap="flat" cmpd="sng" algn="ctr">
              <a:solidFill>
                <a:schemeClr val="accent1"/>
              </a:solidFill>
              <a:prstDash val="solid"/>
              <a:miter lim="800000"/>
            </a:ln>
            <a:effectLst/>
          </p:spPr>
        </p:cxnSp>
        <p:sp>
          <p:nvSpPr>
            <p:cNvPr id="158" name="梯形 157"/>
            <p:cNvSpPr/>
            <p:nvPr/>
          </p:nvSpPr>
          <p:spPr>
            <a:xfrm rot="10800000">
              <a:off x="5021" y="8630"/>
              <a:ext cx="883" cy="663"/>
            </a:xfrm>
            <a:prstGeom prst="trapezoid">
              <a:avLst>
                <a:gd name="adj" fmla="val 19469"/>
              </a:avLst>
            </a:prstGeom>
            <a:gradFill>
              <a:gsLst>
                <a:gs pos="100000">
                  <a:schemeClr val="accent1">
                    <a:alpha val="0"/>
                  </a:schemeClr>
                </a:gs>
                <a:gs pos="44100">
                  <a:schemeClr val="accent1">
                    <a:alpha val="15000"/>
                  </a:schemeClr>
                </a:gs>
                <a:gs pos="0">
                  <a:schemeClr val="accent1">
                    <a:alpha val="0"/>
                  </a:schemeClr>
                </a:gs>
              </a:gsLst>
              <a:lin ang="5400000" scaled="1"/>
            </a:gradFill>
            <a:ln w="12700" cap="flat" cmpd="sng" algn="ctr">
              <a:no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59" name="文本框 158"/>
            <p:cNvSpPr txBox="1"/>
            <p:nvPr/>
          </p:nvSpPr>
          <p:spPr>
            <a:xfrm>
              <a:off x="5034" y="8743"/>
              <a:ext cx="883" cy="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p>
              <a:pPr marL="0" marR="0" indent="0" algn="ctr" defTabSz="2438400" rtl="0" fontAlgn="auto" latinLnBrk="0" hangingPunct="0">
                <a:lnSpc>
                  <a:spcPct val="100000"/>
                </a:lnSpc>
                <a:spcBef>
                  <a:spcPts val="0"/>
                </a:spcBef>
                <a:spcAft>
                  <a:spcPts val="0"/>
                </a:spcAft>
                <a:buClrTx/>
                <a:buSzTx/>
                <a:buFontTx/>
                <a:buNone/>
              </a:pPr>
              <a:r>
                <a:rPr kumimoji="0" lang="zh-CN" altLang="en-US" sz="8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数字孪生</a:t>
              </a:r>
              <a:endParaRPr kumimoji="0" lang="zh-CN" altLang="en-US" sz="8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160" name="组合 159"/>
          <p:cNvGrpSpPr/>
          <p:nvPr/>
        </p:nvGrpSpPr>
        <p:grpSpPr>
          <a:xfrm>
            <a:off x="6130925" y="5467668"/>
            <a:ext cx="827405" cy="532765"/>
            <a:chOff x="4810" y="8630"/>
            <a:chExt cx="1303" cy="839"/>
          </a:xfrm>
        </p:grpSpPr>
        <p:sp>
          <p:nvSpPr>
            <p:cNvPr id="161" name="菱形 160"/>
            <p:cNvSpPr/>
            <p:nvPr/>
          </p:nvSpPr>
          <p:spPr>
            <a:xfrm>
              <a:off x="4813" y="9032"/>
              <a:ext cx="1298" cy="436"/>
            </a:xfrm>
            <a:prstGeom prst="diamond">
              <a:avLst/>
            </a:prstGeom>
            <a:noFill/>
            <a:ln w="12700" cap="flat" cmpd="sng" algn="ctr">
              <a:gradFill>
                <a:gsLst>
                  <a:gs pos="10000">
                    <a:schemeClr val="accent1">
                      <a:alpha val="0"/>
                    </a:schemeClr>
                  </a:gs>
                  <a:gs pos="100000">
                    <a:schemeClr val="accent1"/>
                  </a:gs>
                </a:gsLst>
                <a:lin ang="5400000" scaled="1"/>
              </a:gradFill>
              <a:prstDash val="solid"/>
              <a:miter lim="800000"/>
            </a:ln>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62" name="菱形 161"/>
            <p:cNvSpPr/>
            <p:nvPr/>
          </p:nvSpPr>
          <p:spPr>
            <a:xfrm>
              <a:off x="4933" y="9073"/>
              <a:ext cx="1058" cy="356"/>
            </a:xfrm>
            <a:prstGeom prst="diamond">
              <a:avLst/>
            </a:prstGeom>
            <a:gradFill>
              <a:gsLst>
                <a:gs pos="0">
                  <a:schemeClr val="accent1">
                    <a:alpha val="0"/>
                  </a:schemeClr>
                </a:gs>
                <a:gs pos="100000">
                  <a:schemeClr val="accent1">
                    <a:alpha val="28000"/>
                  </a:schemeClr>
                </a:gs>
              </a:gsLst>
              <a:lin ang="5400000" scaled="1"/>
            </a:gradFill>
            <a:ln w="9525" cap="flat" cmpd="sng" algn="ctr">
              <a:gradFill>
                <a:gsLst>
                  <a:gs pos="0">
                    <a:schemeClr val="accent1">
                      <a:alpha val="0"/>
                    </a:schemeClr>
                  </a:gs>
                  <a:gs pos="100000">
                    <a:schemeClr val="accent1">
                      <a:alpha val="53000"/>
                    </a:schemeClr>
                  </a:gs>
                </a:gsLst>
                <a:lin ang="5400000" scaled="1"/>
              </a:gradFill>
              <a:prstDash val="solid"/>
              <a:miter lim="800000"/>
            </a:ln>
            <a:effectLst>
              <a:innerShdw blurRad="279400">
                <a:schemeClr val="accent1">
                  <a:lumMod val="40000"/>
                  <a:lumOff val="60000"/>
                  <a:alpha val="63000"/>
                </a:schemeClr>
              </a:innerShdw>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65" name="菱形 164"/>
            <p:cNvSpPr/>
            <p:nvPr/>
          </p:nvSpPr>
          <p:spPr>
            <a:xfrm>
              <a:off x="5134" y="9141"/>
              <a:ext cx="654" cy="220"/>
            </a:xfrm>
            <a:prstGeom prst="diamond">
              <a:avLst/>
            </a:prstGeom>
            <a:gradFill>
              <a:gsLst>
                <a:gs pos="100000">
                  <a:schemeClr val="accent1">
                    <a:alpha val="50000"/>
                  </a:schemeClr>
                </a:gs>
                <a:gs pos="0">
                  <a:schemeClr val="accent1">
                    <a:alpha val="0"/>
                  </a:schemeClr>
                </a:gs>
              </a:gsLst>
              <a:lin ang="5400000" scaled="1"/>
            </a:gradFill>
            <a:ln w="6350" cap="flat" cmpd="sng" algn="ctr">
              <a:gradFill>
                <a:gsLst>
                  <a:gs pos="0">
                    <a:schemeClr val="accent1">
                      <a:alpha val="0"/>
                    </a:schemeClr>
                  </a:gs>
                  <a:gs pos="100000">
                    <a:schemeClr val="accent1"/>
                  </a:gs>
                </a:gsLst>
                <a:lin ang="5400000" scaled="1"/>
              </a:grad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grpSp>
          <p:nvGrpSpPr>
            <p:cNvPr id="166" name="组合 165"/>
            <p:cNvGrpSpPr/>
            <p:nvPr/>
          </p:nvGrpSpPr>
          <p:grpSpPr>
            <a:xfrm rot="0">
              <a:off x="6034" y="9225"/>
              <a:ext cx="79" cy="52"/>
              <a:chOff x="8353512" y="3886200"/>
              <a:chExt cx="307127" cy="266701"/>
            </a:xfrm>
          </p:grpSpPr>
          <p:cxnSp>
            <p:nvCxnSpPr>
              <p:cNvPr id="169" name="直接连接符 168"/>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170" name="直接连接符 169"/>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grpSp>
          <p:nvGrpSpPr>
            <p:cNvPr id="172" name="组合 171"/>
            <p:cNvGrpSpPr/>
            <p:nvPr/>
          </p:nvGrpSpPr>
          <p:grpSpPr>
            <a:xfrm rot="0" flipH="1">
              <a:off x="4810" y="9225"/>
              <a:ext cx="79" cy="52"/>
              <a:chOff x="8353512" y="3886200"/>
              <a:chExt cx="307127" cy="266701"/>
            </a:xfrm>
          </p:grpSpPr>
          <p:cxnSp>
            <p:nvCxnSpPr>
              <p:cNvPr id="174" name="直接连接符 173"/>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175" name="直接连接符 174"/>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cxnSp>
          <p:nvCxnSpPr>
            <p:cNvPr id="176" name="直接连接符 175"/>
            <p:cNvCxnSpPr/>
            <p:nvPr/>
          </p:nvCxnSpPr>
          <p:spPr>
            <a:xfrm flipV="1">
              <a:off x="5462" y="9442"/>
              <a:ext cx="79" cy="26"/>
            </a:xfrm>
            <a:prstGeom prst="line">
              <a:avLst/>
            </a:prstGeom>
            <a:noFill/>
            <a:ln w="19050" cap="flat" cmpd="sng" algn="ctr">
              <a:solidFill>
                <a:schemeClr val="accent1"/>
              </a:solidFill>
              <a:prstDash val="solid"/>
              <a:miter lim="800000"/>
            </a:ln>
            <a:effectLst/>
          </p:spPr>
        </p:cxnSp>
        <p:cxnSp>
          <p:nvCxnSpPr>
            <p:cNvPr id="177" name="直接连接符 176"/>
            <p:cNvCxnSpPr/>
            <p:nvPr/>
          </p:nvCxnSpPr>
          <p:spPr>
            <a:xfrm>
              <a:off x="5384" y="9443"/>
              <a:ext cx="79" cy="26"/>
            </a:xfrm>
            <a:prstGeom prst="line">
              <a:avLst/>
            </a:prstGeom>
            <a:noFill/>
            <a:ln w="19050" cap="flat" cmpd="sng" algn="ctr">
              <a:solidFill>
                <a:schemeClr val="accent1"/>
              </a:solidFill>
              <a:prstDash val="solid"/>
              <a:miter lim="800000"/>
            </a:ln>
            <a:effectLst/>
          </p:spPr>
        </p:cxnSp>
        <p:sp>
          <p:nvSpPr>
            <p:cNvPr id="178" name="梯形 177"/>
            <p:cNvSpPr/>
            <p:nvPr/>
          </p:nvSpPr>
          <p:spPr>
            <a:xfrm rot="10800000">
              <a:off x="5021" y="8630"/>
              <a:ext cx="883" cy="663"/>
            </a:xfrm>
            <a:prstGeom prst="trapezoid">
              <a:avLst>
                <a:gd name="adj" fmla="val 19469"/>
              </a:avLst>
            </a:prstGeom>
            <a:gradFill>
              <a:gsLst>
                <a:gs pos="100000">
                  <a:schemeClr val="accent1">
                    <a:alpha val="0"/>
                  </a:schemeClr>
                </a:gs>
                <a:gs pos="44100">
                  <a:schemeClr val="accent1">
                    <a:alpha val="15000"/>
                  </a:schemeClr>
                </a:gs>
                <a:gs pos="0">
                  <a:schemeClr val="accent1">
                    <a:alpha val="0"/>
                  </a:schemeClr>
                </a:gs>
              </a:gsLst>
              <a:lin ang="5400000" scaled="1"/>
            </a:gradFill>
            <a:ln w="12700" cap="flat" cmpd="sng" algn="ctr">
              <a:no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79" name="文本框 178"/>
            <p:cNvSpPr txBox="1"/>
            <p:nvPr/>
          </p:nvSpPr>
          <p:spPr>
            <a:xfrm>
              <a:off x="5034" y="8743"/>
              <a:ext cx="883" cy="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p>
              <a:pPr marL="0" marR="0" indent="0" algn="ctr" defTabSz="2438400" rtl="0" fontAlgn="auto" latinLnBrk="0" hangingPunct="0">
                <a:lnSpc>
                  <a:spcPct val="100000"/>
                </a:lnSpc>
                <a:spcBef>
                  <a:spcPts val="0"/>
                </a:spcBef>
                <a:spcAft>
                  <a:spcPts val="0"/>
                </a:spcAft>
                <a:buClrTx/>
                <a:buSzTx/>
                <a:buFontTx/>
                <a:buNone/>
              </a:pPr>
              <a:r>
                <a:rPr kumimoji="0" lang="zh-CN" altLang="en-US" sz="8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全域触达</a:t>
              </a:r>
              <a:endParaRPr kumimoji="0" lang="zh-CN" altLang="en-US" sz="8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181" name="组合 180"/>
          <p:cNvGrpSpPr/>
          <p:nvPr/>
        </p:nvGrpSpPr>
        <p:grpSpPr>
          <a:xfrm>
            <a:off x="7128510" y="5467668"/>
            <a:ext cx="827405" cy="532765"/>
            <a:chOff x="4810" y="8630"/>
            <a:chExt cx="1303" cy="839"/>
          </a:xfrm>
        </p:grpSpPr>
        <p:sp>
          <p:nvSpPr>
            <p:cNvPr id="187" name="菱形 186"/>
            <p:cNvSpPr/>
            <p:nvPr/>
          </p:nvSpPr>
          <p:spPr>
            <a:xfrm>
              <a:off x="4813" y="9032"/>
              <a:ext cx="1298" cy="436"/>
            </a:xfrm>
            <a:prstGeom prst="diamond">
              <a:avLst/>
            </a:prstGeom>
            <a:noFill/>
            <a:ln w="12700" cap="flat" cmpd="sng" algn="ctr">
              <a:gradFill>
                <a:gsLst>
                  <a:gs pos="10000">
                    <a:schemeClr val="accent1">
                      <a:alpha val="0"/>
                    </a:schemeClr>
                  </a:gs>
                  <a:gs pos="100000">
                    <a:schemeClr val="accent1"/>
                  </a:gs>
                </a:gsLst>
                <a:lin ang="5400000" scaled="1"/>
              </a:gradFill>
              <a:prstDash val="solid"/>
              <a:miter lim="800000"/>
            </a:ln>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88" name="菱形 187"/>
            <p:cNvSpPr/>
            <p:nvPr/>
          </p:nvSpPr>
          <p:spPr>
            <a:xfrm>
              <a:off x="4933" y="9073"/>
              <a:ext cx="1058" cy="356"/>
            </a:xfrm>
            <a:prstGeom prst="diamond">
              <a:avLst/>
            </a:prstGeom>
            <a:gradFill>
              <a:gsLst>
                <a:gs pos="0">
                  <a:schemeClr val="accent1">
                    <a:alpha val="0"/>
                  </a:schemeClr>
                </a:gs>
                <a:gs pos="100000">
                  <a:schemeClr val="accent1">
                    <a:alpha val="28000"/>
                  </a:schemeClr>
                </a:gs>
              </a:gsLst>
              <a:lin ang="5400000" scaled="1"/>
            </a:gradFill>
            <a:ln w="9525" cap="flat" cmpd="sng" algn="ctr">
              <a:gradFill>
                <a:gsLst>
                  <a:gs pos="0">
                    <a:schemeClr val="accent1">
                      <a:alpha val="0"/>
                    </a:schemeClr>
                  </a:gs>
                  <a:gs pos="100000">
                    <a:schemeClr val="accent1">
                      <a:alpha val="53000"/>
                    </a:schemeClr>
                  </a:gs>
                </a:gsLst>
                <a:lin ang="5400000" scaled="1"/>
              </a:gradFill>
              <a:prstDash val="solid"/>
              <a:miter lim="800000"/>
            </a:ln>
            <a:effectLst>
              <a:innerShdw blurRad="279400">
                <a:schemeClr val="accent1">
                  <a:lumMod val="40000"/>
                  <a:lumOff val="60000"/>
                  <a:alpha val="63000"/>
                </a:schemeClr>
              </a:innerShdw>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89" name="菱形 188"/>
            <p:cNvSpPr/>
            <p:nvPr/>
          </p:nvSpPr>
          <p:spPr>
            <a:xfrm>
              <a:off x="5134" y="9141"/>
              <a:ext cx="654" cy="220"/>
            </a:xfrm>
            <a:prstGeom prst="diamond">
              <a:avLst/>
            </a:prstGeom>
            <a:gradFill>
              <a:gsLst>
                <a:gs pos="100000">
                  <a:schemeClr val="accent1">
                    <a:alpha val="50000"/>
                  </a:schemeClr>
                </a:gs>
                <a:gs pos="0">
                  <a:schemeClr val="accent1">
                    <a:alpha val="0"/>
                  </a:schemeClr>
                </a:gs>
              </a:gsLst>
              <a:lin ang="5400000" scaled="1"/>
            </a:gradFill>
            <a:ln w="6350" cap="flat" cmpd="sng" algn="ctr">
              <a:gradFill>
                <a:gsLst>
                  <a:gs pos="0">
                    <a:schemeClr val="accent1">
                      <a:alpha val="0"/>
                    </a:schemeClr>
                  </a:gs>
                  <a:gs pos="100000">
                    <a:schemeClr val="accent1"/>
                  </a:gs>
                </a:gsLst>
                <a:lin ang="5400000" scaled="1"/>
              </a:grad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grpSp>
          <p:nvGrpSpPr>
            <p:cNvPr id="190" name="组合 189"/>
            <p:cNvGrpSpPr/>
            <p:nvPr/>
          </p:nvGrpSpPr>
          <p:grpSpPr>
            <a:xfrm rot="0">
              <a:off x="6034" y="9225"/>
              <a:ext cx="79" cy="52"/>
              <a:chOff x="8353512" y="3886200"/>
              <a:chExt cx="307127" cy="266701"/>
            </a:xfrm>
          </p:grpSpPr>
          <p:cxnSp>
            <p:nvCxnSpPr>
              <p:cNvPr id="191" name="直接连接符 190"/>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192" name="直接连接符 191"/>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grpSp>
          <p:nvGrpSpPr>
            <p:cNvPr id="193" name="组合 192"/>
            <p:cNvGrpSpPr/>
            <p:nvPr/>
          </p:nvGrpSpPr>
          <p:grpSpPr>
            <a:xfrm rot="0" flipH="1">
              <a:off x="4810" y="9225"/>
              <a:ext cx="79" cy="52"/>
              <a:chOff x="8353512" y="3886200"/>
              <a:chExt cx="307127" cy="266701"/>
            </a:xfrm>
          </p:grpSpPr>
          <p:cxnSp>
            <p:nvCxnSpPr>
              <p:cNvPr id="194" name="直接连接符 193"/>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195" name="直接连接符 194"/>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cxnSp>
          <p:nvCxnSpPr>
            <p:cNvPr id="196" name="直接连接符 195"/>
            <p:cNvCxnSpPr/>
            <p:nvPr/>
          </p:nvCxnSpPr>
          <p:spPr>
            <a:xfrm flipV="1">
              <a:off x="5462" y="9442"/>
              <a:ext cx="79" cy="26"/>
            </a:xfrm>
            <a:prstGeom prst="line">
              <a:avLst/>
            </a:prstGeom>
            <a:noFill/>
            <a:ln w="19050" cap="flat" cmpd="sng" algn="ctr">
              <a:solidFill>
                <a:schemeClr val="accent1"/>
              </a:solidFill>
              <a:prstDash val="solid"/>
              <a:miter lim="800000"/>
            </a:ln>
            <a:effectLst/>
          </p:spPr>
        </p:cxnSp>
        <p:cxnSp>
          <p:nvCxnSpPr>
            <p:cNvPr id="197" name="直接连接符 196"/>
            <p:cNvCxnSpPr/>
            <p:nvPr/>
          </p:nvCxnSpPr>
          <p:spPr>
            <a:xfrm>
              <a:off x="5384" y="9443"/>
              <a:ext cx="79" cy="26"/>
            </a:xfrm>
            <a:prstGeom prst="line">
              <a:avLst/>
            </a:prstGeom>
            <a:noFill/>
            <a:ln w="19050" cap="flat" cmpd="sng" algn="ctr">
              <a:solidFill>
                <a:schemeClr val="accent1"/>
              </a:solidFill>
              <a:prstDash val="solid"/>
              <a:miter lim="800000"/>
            </a:ln>
            <a:effectLst/>
          </p:spPr>
        </p:cxnSp>
        <p:sp>
          <p:nvSpPr>
            <p:cNvPr id="198" name="梯形 197"/>
            <p:cNvSpPr/>
            <p:nvPr/>
          </p:nvSpPr>
          <p:spPr>
            <a:xfrm rot="10800000">
              <a:off x="5021" y="8630"/>
              <a:ext cx="883" cy="663"/>
            </a:xfrm>
            <a:prstGeom prst="trapezoid">
              <a:avLst>
                <a:gd name="adj" fmla="val 19469"/>
              </a:avLst>
            </a:prstGeom>
            <a:gradFill>
              <a:gsLst>
                <a:gs pos="100000">
                  <a:schemeClr val="accent1">
                    <a:alpha val="0"/>
                  </a:schemeClr>
                </a:gs>
                <a:gs pos="44100">
                  <a:schemeClr val="accent1">
                    <a:alpha val="15000"/>
                  </a:schemeClr>
                </a:gs>
                <a:gs pos="0">
                  <a:schemeClr val="accent1">
                    <a:alpha val="0"/>
                  </a:schemeClr>
                </a:gs>
              </a:gsLst>
              <a:lin ang="5400000" scaled="1"/>
            </a:gradFill>
            <a:ln w="12700" cap="flat" cmpd="sng" algn="ctr">
              <a:no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199" name="文本框 198"/>
            <p:cNvSpPr txBox="1"/>
            <p:nvPr/>
          </p:nvSpPr>
          <p:spPr>
            <a:xfrm>
              <a:off x="5034" y="8743"/>
              <a:ext cx="883" cy="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p>
              <a:pPr marL="0" marR="0" indent="0" algn="ctr" defTabSz="2438400" rtl="0" fontAlgn="auto" latinLnBrk="0" hangingPunct="0">
                <a:lnSpc>
                  <a:spcPct val="100000"/>
                </a:lnSpc>
                <a:spcBef>
                  <a:spcPts val="0"/>
                </a:spcBef>
                <a:spcAft>
                  <a:spcPts val="0"/>
                </a:spcAft>
                <a:buClrTx/>
                <a:buSzTx/>
                <a:buFontTx/>
                <a:buNone/>
              </a:pPr>
              <a:r>
                <a:rPr kumimoji="0" lang="zh-CN" altLang="en-US" sz="8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价值循环</a:t>
              </a:r>
              <a:endParaRPr kumimoji="0" lang="zh-CN" altLang="en-US" sz="8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200" name="组合 199"/>
          <p:cNvGrpSpPr/>
          <p:nvPr/>
        </p:nvGrpSpPr>
        <p:grpSpPr>
          <a:xfrm>
            <a:off x="8126095" y="5467668"/>
            <a:ext cx="827405" cy="532765"/>
            <a:chOff x="4810" y="8630"/>
            <a:chExt cx="1303" cy="839"/>
          </a:xfrm>
        </p:grpSpPr>
        <p:sp>
          <p:nvSpPr>
            <p:cNvPr id="201" name="菱形 200"/>
            <p:cNvSpPr/>
            <p:nvPr/>
          </p:nvSpPr>
          <p:spPr>
            <a:xfrm>
              <a:off x="4813" y="9032"/>
              <a:ext cx="1298" cy="436"/>
            </a:xfrm>
            <a:prstGeom prst="diamond">
              <a:avLst/>
            </a:prstGeom>
            <a:noFill/>
            <a:ln w="12700" cap="flat" cmpd="sng" algn="ctr">
              <a:gradFill>
                <a:gsLst>
                  <a:gs pos="10000">
                    <a:schemeClr val="accent1">
                      <a:alpha val="0"/>
                    </a:schemeClr>
                  </a:gs>
                  <a:gs pos="100000">
                    <a:schemeClr val="accent1"/>
                  </a:gs>
                </a:gsLst>
                <a:lin ang="5400000" scaled="1"/>
              </a:gradFill>
              <a:prstDash val="solid"/>
              <a:miter lim="800000"/>
            </a:ln>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202" name="菱形 201"/>
            <p:cNvSpPr/>
            <p:nvPr/>
          </p:nvSpPr>
          <p:spPr>
            <a:xfrm>
              <a:off x="4933" y="9073"/>
              <a:ext cx="1058" cy="356"/>
            </a:xfrm>
            <a:prstGeom prst="diamond">
              <a:avLst/>
            </a:prstGeom>
            <a:gradFill>
              <a:gsLst>
                <a:gs pos="0">
                  <a:schemeClr val="accent1">
                    <a:alpha val="0"/>
                  </a:schemeClr>
                </a:gs>
                <a:gs pos="100000">
                  <a:schemeClr val="accent1">
                    <a:alpha val="28000"/>
                  </a:schemeClr>
                </a:gs>
              </a:gsLst>
              <a:lin ang="5400000" scaled="1"/>
            </a:gradFill>
            <a:ln w="9525" cap="flat" cmpd="sng" algn="ctr">
              <a:gradFill>
                <a:gsLst>
                  <a:gs pos="0">
                    <a:schemeClr val="accent1">
                      <a:alpha val="0"/>
                    </a:schemeClr>
                  </a:gs>
                  <a:gs pos="100000">
                    <a:schemeClr val="accent1">
                      <a:alpha val="53000"/>
                    </a:schemeClr>
                  </a:gs>
                </a:gsLst>
                <a:lin ang="5400000" scaled="1"/>
              </a:gradFill>
              <a:prstDash val="solid"/>
              <a:miter lim="800000"/>
            </a:ln>
            <a:effectLst>
              <a:innerShdw blurRad="279400">
                <a:schemeClr val="accent1">
                  <a:lumMod val="40000"/>
                  <a:lumOff val="60000"/>
                  <a:alpha val="63000"/>
                </a:schemeClr>
              </a:innerShdw>
            </a:effectLst>
          </p:spPr>
          <p:txBody>
            <a:bodyPr rtlCol="0" anchor="ctr"/>
            <a:p>
              <a:pPr algn="ctr" defTabSz="1920240">
                <a:defRPr/>
              </a:pPr>
              <a:endParaRPr lang="zh-CN" altLang="en-US" sz="140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203" name="菱形 202"/>
            <p:cNvSpPr/>
            <p:nvPr/>
          </p:nvSpPr>
          <p:spPr>
            <a:xfrm>
              <a:off x="5134" y="9141"/>
              <a:ext cx="654" cy="220"/>
            </a:xfrm>
            <a:prstGeom prst="diamond">
              <a:avLst/>
            </a:prstGeom>
            <a:gradFill>
              <a:gsLst>
                <a:gs pos="100000">
                  <a:schemeClr val="accent1">
                    <a:alpha val="50000"/>
                  </a:schemeClr>
                </a:gs>
                <a:gs pos="0">
                  <a:schemeClr val="accent1">
                    <a:alpha val="0"/>
                  </a:schemeClr>
                </a:gs>
              </a:gsLst>
              <a:lin ang="5400000" scaled="1"/>
            </a:gradFill>
            <a:ln w="6350" cap="flat" cmpd="sng" algn="ctr">
              <a:gradFill>
                <a:gsLst>
                  <a:gs pos="0">
                    <a:schemeClr val="accent1">
                      <a:alpha val="0"/>
                    </a:schemeClr>
                  </a:gs>
                  <a:gs pos="100000">
                    <a:schemeClr val="accent1"/>
                  </a:gs>
                </a:gsLst>
                <a:lin ang="5400000" scaled="1"/>
              </a:grad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grpSp>
          <p:nvGrpSpPr>
            <p:cNvPr id="204" name="组合 203"/>
            <p:cNvGrpSpPr/>
            <p:nvPr/>
          </p:nvGrpSpPr>
          <p:grpSpPr>
            <a:xfrm rot="0">
              <a:off x="6034" y="9225"/>
              <a:ext cx="79" cy="52"/>
              <a:chOff x="8353512" y="3886200"/>
              <a:chExt cx="307127" cy="266701"/>
            </a:xfrm>
          </p:grpSpPr>
          <p:cxnSp>
            <p:nvCxnSpPr>
              <p:cNvPr id="206" name="直接连接符 205"/>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207" name="直接连接符 206"/>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grpSp>
          <p:nvGrpSpPr>
            <p:cNvPr id="208" name="组合 207"/>
            <p:cNvGrpSpPr/>
            <p:nvPr/>
          </p:nvGrpSpPr>
          <p:grpSpPr>
            <a:xfrm rot="0" flipH="1">
              <a:off x="4810" y="9225"/>
              <a:ext cx="79" cy="52"/>
              <a:chOff x="8353512" y="3886200"/>
              <a:chExt cx="307127" cy="266701"/>
            </a:xfrm>
          </p:grpSpPr>
          <p:cxnSp>
            <p:nvCxnSpPr>
              <p:cNvPr id="209" name="直接连接符 208"/>
              <p:cNvCxnSpPr/>
              <p:nvPr/>
            </p:nvCxnSpPr>
            <p:spPr>
              <a:xfrm flipH="1" flipV="1">
                <a:off x="8353512" y="3886200"/>
                <a:ext cx="307127" cy="137161"/>
              </a:xfrm>
              <a:prstGeom prst="line">
                <a:avLst/>
              </a:prstGeom>
              <a:noFill/>
              <a:ln w="19050" cap="flat" cmpd="sng" algn="ctr">
                <a:solidFill>
                  <a:schemeClr val="accent1"/>
                </a:solidFill>
                <a:prstDash val="solid"/>
                <a:miter lim="800000"/>
              </a:ln>
              <a:effectLst/>
            </p:spPr>
          </p:cxnSp>
          <p:cxnSp>
            <p:nvCxnSpPr>
              <p:cNvPr id="210" name="直接连接符 209"/>
              <p:cNvCxnSpPr/>
              <p:nvPr/>
            </p:nvCxnSpPr>
            <p:spPr>
              <a:xfrm flipH="1">
                <a:off x="8353512" y="4015740"/>
                <a:ext cx="307127" cy="137161"/>
              </a:xfrm>
              <a:prstGeom prst="line">
                <a:avLst/>
              </a:prstGeom>
              <a:noFill/>
              <a:ln w="19050" cap="flat" cmpd="sng" algn="ctr">
                <a:solidFill>
                  <a:schemeClr val="accent1"/>
                </a:solidFill>
                <a:prstDash val="solid"/>
                <a:miter lim="800000"/>
              </a:ln>
              <a:effectLst/>
            </p:spPr>
          </p:cxnSp>
        </p:grpSp>
        <p:cxnSp>
          <p:nvCxnSpPr>
            <p:cNvPr id="211" name="直接连接符 210"/>
            <p:cNvCxnSpPr/>
            <p:nvPr/>
          </p:nvCxnSpPr>
          <p:spPr>
            <a:xfrm flipV="1">
              <a:off x="5462" y="9442"/>
              <a:ext cx="79" cy="26"/>
            </a:xfrm>
            <a:prstGeom prst="line">
              <a:avLst/>
            </a:prstGeom>
            <a:noFill/>
            <a:ln w="19050" cap="flat" cmpd="sng" algn="ctr">
              <a:solidFill>
                <a:schemeClr val="accent1"/>
              </a:solidFill>
              <a:prstDash val="solid"/>
              <a:miter lim="800000"/>
            </a:ln>
            <a:effectLst/>
          </p:spPr>
        </p:cxnSp>
        <p:cxnSp>
          <p:nvCxnSpPr>
            <p:cNvPr id="212" name="直接连接符 211"/>
            <p:cNvCxnSpPr/>
            <p:nvPr/>
          </p:nvCxnSpPr>
          <p:spPr>
            <a:xfrm>
              <a:off x="5384" y="9443"/>
              <a:ext cx="79" cy="26"/>
            </a:xfrm>
            <a:prstGeom prst="line">
              <a:avLst/>
            </a:prstGeom>
            <a:noFill/>
            <a:ln w="19050" cap="flat" cmpd="sng" algn="ctr">
              <a:solidFill>
                <a:schemeClr val="accent1"/>
              </a:solidFill>
              <a:prstDash val="solid"/>
              <a:miter lim="800000"/>
            </a:ln>
            <a:effectLst/>
          </p:spPr>
        </p:cxnSp>
        <p:sp>
          <p:nvSpPr>
            <p:cNvPr id="213" name="梯形 212"/>
            <p:cNvSpPr/>
            <p:nvPr/>
          </p:nvSpPr>
          <p:spPr>
            <a:xfrm rot="10800000">
              <a:off x="5021" y="8630"/>
              <a:ext cx="883" cy="663"/>
            </a:xfrm>
            <a:prstGeom prst="trapezoid">
              <a:avLst>
                <a:gd name="adj" fmla="val 19469"/>
              </a:avLst>
            </a:prstGeom>
            <a:gradFill>
              <a:gsLst>
                <a:gs pos="100000">
                  <a:schemeClr val="accent1">
                    <a:alpha val="0"/>
                  </a:schemeClr>
                </a:gs>
                <a:gs pos="44100">
                  <a:schemeClr val="accent1">
                    <a:alpha val="15000"/>
                  </a:schemeClr>
                </a:gs>
                <a:gs pos="0">
                  <a:schemeClr val="accent1">
                    <a:alpha val="0"/>
                  </a:schemeClr>
                </a:gs>
              </a:gsLst>
              <a:lin ang="5400000" scaled="1"/>
            </a:gradFill>
            <a:ln w="12700" cap="flat" cmpd="sng" algn="ctr">
              <a:noFill/>
              <a:prstDash val="solid"/>
              <a:miter lim="800000"/>
            </a:ln>
            <a:effectLst/>
          </p:spPr>
          <p:txBody>
            <a:bodyPr rtlCol="0" anchor="ctr"/>
            <a:p>
              <a:pPr algn="ctr" defTabSz="1920240">
                <a:defRPr/>
              </a:pPr>
              <a:endParaRPr lang="zh-CN" altLang="en-US" sz="140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214" name="文本框 213"/>
            <p:cNvSpPr txBox="1"/>
            <p:nvPr/>
          </p:nvSpPr>
          <p:spPr>
            <a:xfrm>
              <a:off x="5034" y="8743"/>
              <a:ext cx="883" cy="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p>
              <a:pPr marL="0" marR="0" indent="0" algn="ctr" defTabSz="2438400" rtl="0" fontAlgn="auto" latinLnBrk="0" hangingPunct="0">
                <a:lnSpc>
                  <a:spcPct val="100000"/>
                </a:lnSpc>
                <a:spcBef>
                  <a:spcPts val="0"/>
                </a:spcBef>
                <a:spcAft>
                  <a:spcPts val="0"/>
                </a:spcAft>
                <a:buClrTx/>
                <a:buSzTx/>
                <a:buFontTx/>
                <a:buNone/>
              </a:pPr>
              <a:r>
                <a:rPr kumimoji="0" lang="zh-CN" altLang="en-US" sz="8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rPr>
                <a:t>生态孵化</a:t>
              </a:r>
              <a:endParaRPr kumimoji="0" lang="zh-CN" altLang="en-US" sz="800" b="0" i="0" u="none" strike="noStrike" cap="none" spc="0" normalizeH="0" baseline="0" dirty="0">
                <a:ln>
                  <a:noFill/>
                </a:ln>
                <a:solidFill>
                  <a:schemeClr val="tx2"/>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118" name="组合 117"/>
          <p:cNvGrpSpPr/>
          <p:nvPr/>
        </p:nvGrpSpPr>
        <p:grpSpPr>
          <a:xfrm>
            <a:off x="511810" y="5142230"/>
            <a:ext cx="1659890" cy="1063625"/>
            <a:chOff x="806" y="8098"/>
            <a:chExt cx="2614" cy="1675"/>
          </a:xfrm>
        </p:grpSpPr>
        <p:grpSp>
          <p:nvGrpSpPr>
            <p:cNvPr id="215" name="组合 214"/>
            <p:cNvGrpSpPr/>
            <p:nvPr/>
          </p:nvGrpSpPr>
          <p:grpSpPr>
            <a:xfrm rot="0">
              <a:off x="972" y="8595"/>
              <a:ext cx="2287" cy="1178"/>
              <a:chOff x="3848744" y="2995810"/>
              <a:chExt cx="4494508" cy="2313904"/>
            </a:xfrm>
          </p:grpSpPr>
          <p:sp>
            <p:nvSpPr>
              <p:cNvPr id="216" name="显眼包PPT1-1"/>
              <p:cNvSpPr/>
              <p:nvPr/>
            </p:nvSpPr>
            <p:spPr>
              <a:xfrm>
                <a:off x="3848744" y="4312518"/>
                <a:ext cx="4494508" cy="997196"/>
              </a:xfrm>
              <a:prstGeom prst="ellipse">
                <a:avLst/>
              </a:prstGeom>
              <a:gradFill flip="none" rotWithShape="1">
                <a:gsLst>
                  <a:gs pos="75000">
                    <a:schemeClr val="accent1">
                      <a:alpha val="0"/>
                    </a:schemeClr>
                  </a:gs>
                  <a:gs pos="100000">
                    <a:schemeClr val="accent1">
                      <a:lumMod val="20000"/>
                      <a:lumOff val="80000"/>
                    </a:schemeClr>
                  </a:gs>
                  <a:gs pos="90000">
                    <a:schemeClr val="accent1">
                      <a:alpha val="40000"/>
                    </a:schemeClr>
                  </a:gs>
                </a:gsLst>
                <a:path path="shape">
                  <a:fillToRect l="50000" t="50000" r="50000" b="50000"/>
                </a:path>
                <a:tileRect/>
              </a:gradFill>
              <a:ln w="19050">
                <a:gradFill flip="none" rotWithShape="1">
                  <a:gsLst>
                    <a:gs pos="0">
                      <a:schemeClr val="accent1">
                        <a:lumMod val="20000"/>
                        <a:lumOff val="80000"/>
                        <a:alpha val="0"/>
                      </a:schemeClr>
                    </a:gs>
                    <a:gs pos="46000">
                      <a:schemeClr val="accent1">
                        <a:lumMod val="20000"/>
                        <a:lumOff val="80000"/>
                      </a:schemeClr>
                    </a:gs>
                  </a:gsLst>
                  <a:lin ang="54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zh-CN" altLang="en-US" sz="5400">
                  <a:latin typeface="微软雅黑" panose="020B0503020204020204" charset="-122"/>
                  <a:ea typeface="微软雅黑" panose="020B0503020204020204" charset="-122"/>
                  <a:cs typeface="微软雅黑" panose="020B0503020204020204" charset="-122"/>
                </a:endParaRPr>
              </a:p>
            </p:txBody>
          </p:sp>
          <p:grpSp>
            <p:nvGrpSpPr>
              <p:cNvPr id="221" name="底座"/>
              <p:cNvGrpSpPr/>
              <p:nvPr/>
            </p:nvGrpSpPr>
            <p:grpSpPr>
              <a:xfrm>
                <a:off x="3864520" y="3511914"/>
                <a:ext cx="4466894" cy="1651989"/>
                <a:chOff x="3864520" y="3511914"/>
                <a:chExt cx="4466894" cy="1651989"/>
              </a:xfrm>
            </p:grpSpPr>
            <p:sp>
              <p:nvSpPr>
                <p:cNvPr id="222" name="显眼包PPT1-2"/>
                <p:cNvSpPr/>
                <p:nvPr/>
              </p:nvSpPr>
              <p:spPr>
                <a:xfrm>
                  <a:off x="3864868" y="4038359"/>
                  <a:ext cx="4462268" cy="1089078"/>
                </a:xfrm>
                <a:prstGeom prst="ellipse">
                  <a:avLst/>
                </a:prstGeom>
                <a:gradFill>
                  <a:gsLst>
                    <a:gs pos="0">
                      <a:schemeClr val="accent1">
                        <a:lumMod val="20000"/>
                        <a:lumOff val="80000"/>
                      </a:schemeClr>
                    </a:gs>
                    <a:gs pos="33000">
                      <a:schemeClr val="accent1">
                        <a:lumMod val="60000"/>
                        <a:lumOff val="40000"/>
                      </a:schemeClr>
                    </a:gs>
                    <a:gs pos="100000">
                      <a:schemeClr val="accent1">
                        <a:lumMod val="60000"/>
                        <a:lumOff val="40000"/>
                        <a:alpha val="0"/>
                      </a:schemeClr>
                    </a:gs>
                  </a:gsLst>
                  <a:lin ang="13800000" scaled="0"/>
                </a:gradFill>
                <a:ln w="19050">
                  <a:gradFill>
                    <a:gsLst>
                      <a:gs pos="0">
                        <a:schemeClr val="accent1">
                          <a:lumMod val="20000"/>
                          <a:lumOff val="80000"/>
                          <a:alpha val="0"/>
                        </a:schemeClr>
                      </a:gs>
                      <a:gs pos="100000">
                        <a:schemeClr val="accent1">
                          <a:lumMod val="20000"/>
                          <a:lumOff val="8000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zh-CN" altLang="en-US" sz="5400">
                    <a:latin typeface="微软雅黑" panose="020B0503020204020204" charset="-122"/>
                    <a:ea typeface="微软雅黑" panose="020B0503020204020204" charset="-122"/>
                    <a:cs typeface="微软雅黑" panose="020B0503020204020204" charset="-122"/>
                  </a:endParaRPr>
                </a:p>
              </p:txBody>
            </p:sp>
            <p:sp>
              <p:nvSpPr>
                <p:cNvPr id="223" name="显眼包PPT1-3"/>
                <p:cNvSpPr/>
                <p:nvPr/>
              </p:nvSpPr>
              <p:spPr>
                <a:xfrm flipV="1">
                  <a:off x="3864520" y="3878494"/>
                  <a:ext cx="4466894" cy="1285409"/>
                </a:xfrm>
                <a:custGeom>
                  <a:avLst/>
                  <a:gdLst>
                    <a:gd name="connsiteX0" fmla="*/ 371613 w 4466894"/>
                    <a:gd name="connsiteY0" fmla="*/ 1285409 h 1285409"/>
                    <a:gd name="connsiteX1" fmla="*/ 386628 w 4466894"/>
                    <a:gd name="connsiteY1" fmla="*/ 1285409 h 1285409"/>
                    <a:gd name="connsiteX2" fmla="*/ 356932 w 4466894"/>
                    <a:gd name="connsiteY2" fmla="*/ 1224463 h 1285409"/>
                    <a:gd name="connsiteX3" fmla="*/ 2233447 w 4466894"/>
                    <a:gd name="connsiteY3" fmla="*/ 836231 h 1285409"/>
                    <a:gd name="connsiteX4" fmla="*/ 4109962 w 4466894"/>
                    <a:gd name="connsiteY4" fmla="*/ 1224463 h 1285409"/>
                    <a:gd name="connsiteX5" fmla="*/ 4080266 w 4466894"/>
                    <a:gd name="connsiteY5" fmla="*/ 1285409 h 1285409"/>
                    <a:gd name="connsiteX6" fmla="*/ 4095280 w 4466894"/>
                    <a:gd name="connsiteY6" fmla="*/ 1285409 h 1285409"/>
                    <a:gd name="connsiteX7" fmla="*/ 4428160 w 4466894"/>
                    <a:gd name="connsiteY7" fmla="*/ 667759 h 1285409"/>
                    <a:gd name="connsiteX8" fmla="*/ 4466894 w 4466894"/>
                    <a:gd name="connsiteY8" fmla="*/ 569745 h 1285409"/>
                    <a:gd name="connsiteX9" fmla="*/ 2233447 w 4466894"/>
                    <a:gd name="connsiteY9" fmla="*/ 0 h 1285409"/>
                    <a:gd name="connsiteX10" fmla="*/ 0 w 4466894"/>
                    <a:gd name="connsiteY10" fmla="*/ 569745 h 1285409"/>
                    <a:gd name="connsiteX11" fmla="*/ 38734 w 4466894"/>
                    <a:gd name="connsiteY11" fmla="*/ 667759 h 128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66894" h="1285409">
                      <a:moveTo>
                        <a:pt x="371613" y="1285409"/>
                      </a:moveTo>
                      <a:lnTo>
                        <a:pt x="386628" y="1285409"/>
                      </a:lnTo>
                      <a:lnTo>
                        <a:pt x="356932" y="1224463"/>
                      </a:lnTo>
                      <a:cubicBezTo>
                        <a:pt x="356932" y="1010048"/>
                        <a:pt x="1197076" y="836231"/>
                        <a:pt x="2233447" y="836231"/>
                      </a:cubicBezTo>
                      <a:cubicBezTo>
                        <a:pt x="3269818" y="836231"/>
                        <a:pt x="4109962" y="1010048"/>
                        <a:pt x="4109962" y="1224463"/>
                      </a:cubicBezTo>
                      <a:lnTo>
                        <a:pt x="4080266" y="1285409"/>
                      </a:lnTo>
                      <a:lnTo>
                        <a:pt x="4095280" y="1285409"/>
                      </a:lnTo>
                      <a:lnTo>
                        <a:pt x="4428160" y="667759"/>
                      </a:lnTo>
                      <a:lnTo>
                        <a:pt x="4466894" y="569745"/>
                      </a:lnTo>
                      <a:cubicBezTo>
                        <a:pt x="4466894" y="255083"/>
                        <a:pt x="3466947" y="0"/>
                        <a:pt x="2233447" y="0"/>
                      </a:cubicBezTo>
                      <a:cubicBezTo>
                        <a:pt x="999947" y="0"/>
                        <a:pt x="0" y="255083"/>
                        <a:pt x="0" y="569745"/>
                      </a:cubicBezTo>
                      <a:lnTo>
                        <a:pt x="38734" y="667759"/>
                      </a:lnTo>
                      <a:close/>
                    </a:path>
                  </a:pathLst>
                </a:custGeom>
                <a:gradFill flip="none" rotWithShape="1">
                  <a:gsLst>
                    <a:gs pos="0">
                      <a:schemeClr val="accent1">
                        <a:lumMod val="20000"/>
                        <a:lumOff val="80000"/>
                      </a:schemeClr>
                    </a:gs>
                    <a:gs pos="100000">
                      <a:schemeClr val="accent1"/>
                    </a:gs>
                    <a:gs pos="22000">
                      <a:schemeClr val="accent1"/>
                    </a:gs>
                  </a:gsLst>
                  <a:lin ang="13800000" scaled="0"/>
                  <a:tileRect/>
                </a:gra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274320" tIns="137160" rIns="274320" bIns="137160" rtlCol="0" anchor="ctr">
                  <a:noAutofit/>
                </a:bodyPr>
                <a:lstStyle/>
                <a:p>
                  <a:pPr algn="ctr"/>
                  <a:endParaRPr lang="zh-CN" altLang="en-US" sz="5400">
                    <a:latin typeface="微软雅黑" panose="020B0503020204020204" charset="-122"/>
                    <a:ea typeface="微软雅黑" panose="020B0503020204020204" charset="-122"/>
                    <a:cs typeface="微软雅黑" panose="020B0503020204020204" charset="-122"/>
                  </a:endParaRPr>
                </a:p>
              </p:txBody>
            </p:sp>
            <p:sp>
              <p:nvSpPr>
                <p:cNvPr id="224" name="显眼包PPT1-4"/>
                <p:cNvSpPr/>
                <p:nvPr/>
              </p:nvSpPr>
              <p:spPr>
                <a:xfrm>
                  <a:off x="4219487" y="3511914"/>
                  <a:ext cx="3753030" cy="776464"/>
                </a:xfrm>
                <a:prstGeom prst="ellipse">
                  <a:avLst/>
                </a:prstGeom>
                <a:gradFill>
                  <a:gsLst>
                    <a:gs pos="0">
                      <a:schemeClr val="accent1">
                        <a:lumMod val="40000"/>
                        <a:lumOff val="60000"/>
                      </a:schemeClr>
                    </a:gs>
                    <a:gs pos="33000">
                      <a:schemeClr val="accent1"/>
                    </a:gs>
                    <a:gs pos="100000">
                      <a:schemeClr val="accent1">
                        <a:lumMod val="60000"/>
                        <a:lumOff val="40000"/>
                      </a:schemeClr>
                    </a:gs>
                  </a:gsLst>
                  <a:lin ang="8400000" scaled="0"/>
                </a:gradFill>
                <a:ln w="19050">
                  <a:gradFill>
                    <a:gsLst>
                      <a:gs pos="0">
                        <a:schemeClr val="accent2">
                          <a:lumMod val="20000"/>
                          <a:lumOff val="80000"/>
                          <a:alpha val="0"/>
                        </a:schemeClr>
                      </a:gs>
                      <a:gs pos="100000">
                        <a:schemeClr val="accent2">
                          <a:lumMod val="20000"/>
                          <a:lumOff val="8000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zh-CN" altLang="en-US" sz="5400">
                    <a:latin typeface="微软雅黑" panose="020B0503020204020204" charset="-122"/>
                    <a:ea typeface="微软雅黑" panose="020B0503020204020204" charset="-122"/>
                    <a:cs typeface="微软雅黑" panose="020B0503020204020204" charset="-122"/>
                  </a:endParaRPr>
                </a:p>
              </p:txBody>
            </p:sp>
          </p:grpSp>
          <p:sp>
            <p:nvSpPr>
              <p:cNvPr id="227" name="显眼包PPT1-6"/>
              <p:cNvSpPr/>
              <p:nvPr/>
            </p:nvSpPr>
            <p:spPr>
              <a:xfrm>
                <a:off x="4896124" y="3735976"/>
                <a:ext cx="2399748" cy="328341"/>
              </a:xfrm>
              <a:prstGeom prst="ellipse">
                <a:avLst/>
              </a:prstGeom>
              <a:gradFill flip="none" rotWithShape="1">
                <a:gsLst>
                  <a:gs pos="0">
                    <a:schemeClr val="accent1">
                      <a:lumMod val="20000"/>
                      <a:lumOff val="80000"/>
                    </a:schemeClr>
                  </a:gs>
                  <a:gs pos="33000">
                    <a:schemeClr val="accent1">
                      <a:lumMod val="75000"/>
                    </a:schemeClr>
                  </a:gs>
                  <a:gs pos="100000">
                    <a:schemeClr val="accent1">
                      <a:lumMod val="75000"/>
                    </a:schemeClr>
                  </a:gs>
                </a:gsLst>
                <a:lin ang="16200000" scaled="1"/>
                <a:tileRect/>
              </a:gradFill>
              <a:ln w="19050">
                <a:gradFill flip="none" rotWithShape="1">
                  <a:gsLst>
                    <a:gs pos="0">
                      <a:schemeClr val="accent2">
                        <a:lumMod val="20000"/>
                        <a:lumOff val="80000"/>
                        <a:alpha val="0"/>
                      </a:schemeClr>
                    </a:gs>
                    <a:gs pos="100000">
                      <a:schemeClr val="accent2">
                        <a:lumMod val="20000"/>
                        <a:lumOff val="80000"/>
                      </a:schemeClr>
                    </a:gs>
                  </a:gsLst>
                  <a:lin ang="1620000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zh-CN" altLang="en-US" sz="5400">
                  <a:latin typeface="微软雅黑" panose="020B0503020204020204" charset="-122"/>
                  <a:ea typeface="微软雅黑" panose="020B0503020204020204" charset="-122"/>
                  <a:cs typeface="微软雅黑" panose="020B0503020204020204" charset="-122"/>
                </a:endParaRPr>
              </a:p>
            </p:txBody>
          </p:sp>
          <p:grpSp>
            <p:nvGrpSpPr>
              <p:cNvPr id="281" name="投射物"/>
              <p:cNvGrpSpPr/>
              <p:nvPr/>
            </p:nvGrpSpPr>
            <p:grpSpPr>
              <a:xfrm>
                <a:off x="4524127" y="2995810"/>
                <a:ext cx="3143751" cy="819250"/>
                <a:chOff x="-318972" y="2144933"/>
                <a:chExt cx="3570955" cy="930578"/>
              </a:xfrm>
            </p:grpSpPr>
            <p:sp>
              <p:nvSpPr>
                <p:cNvPr id="282" name="显眼包PPT1-8"/>
                <p:cNvSpPr/>
                <p:nvPr/>
              </p:nvSpPr>
              <p:spPr>
                <a:xfrm>
                  <a:off x="-113231" y="2524736"/>
                  <a:ext cx="3159475" cy="550775"/>
                </a:xfrm>
                <a:prstGeom prst="ellipse">
                  <a:avLst/>
                </a:prstGeom>
                <a:noFill/>
                <a:ln w="0">
                  <a:gradFill flip="none" rotWithShape="1">
                    <a:gsLst>
                      <a:gs pos="0">
                        <a:schemeClr val="accent1">
                          <a:lumMod val="20000"/>
                          <a:lumOff val="80000"/>
                          <a:alpha val="50000"/>
                        </a:schemeClr>
                      </a:gs>
                      <a:gs pos="90000">
                        <a:schemeClr val="accent1">
                          <a:lumMod val="20000"/>
                          <a:lumOff val="80000"/>
                          <a:alpha val="0"/>
                        </a:schemeClr>
                      </a:gs>
                      <a:gs pos="10000">
                        <a:schemeClr val="accent1">
                          <a:lumMod val="21000"/>
                          <a:lumOff val="79000"/>
                          <a:alpha val="0"/>
                        </a:schemeClr>
                      </a:gs>
                      <a:gs pos="100000">
                        <a:schemeClr val="accent1">
                          <a:lumMod val="20000"/>
                          <a:lumOff val="80000"/>
                          <a:alpha val="50000"/>
                        </a:schemeClr>
                      </a:gs>
                    </a:gsLst>
                    <a:lin ang="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zh-CN" altLang="en-US" sz="5400">
                    <a:latin typeface="微软雅黑" panose="020B0503020204020204" charset="-122"/>
                    <a:ea typeface="微软雅黑" panose="020B0503020204020204" charset="-122"/>
                    <a:cs typeface="微软雅黑" panose="020B0503020204020204" charset="-122"/>
                  </a:endParaRPr>
                </a:p>
              </p:txBody>
            </p:sp>
            <p:sp>
              <p:nvSpPr>
                <p:cNvPr id="283" name="显眼包PPT1-9"/>
                <p:cNvSpPr/>
                <p:nvPr/>
              </p:nvSpPr>
              <p:spPr>
                <a:xfrm>
                  <a:off x="-318972" y="2144933"/>
                  <a:ext cx="3570955" cy="622503"/>
                </a:xfrm>
                <a:prstGeom prst="ellipse">
                  <a:avLst/>
                </a:prstGeom>
                <a:noFill/>
                <a:ln w="0">
                  <a:gradFill flip="none" rotWithShape="1">
                    <a:gsLst>
                      <a:gs pos="0">
                        <a:schemeClr val="accent1">
                          <a:lumMod val="20000"/>
                          <a:lumOff val="80000"/>
                          <a:alpha val="50000"/>
                        </a:schemeClr>
                      </a:gs>
                      <a:gs pos="90000">
                        <a:schemeClr val="accent1">
                          <a:lumMod val="20000"/>
                          <a:lumOff val="80000"/>
                          <a:alpha val="0"/>
                        </a:schemeClr>
                      </a:gs>
                      <a:gs pos="10000">
                        <a:schemeClr val="accent1">
                          <a:lumMod val="21000"/>
                          <a:lumOff val="79000"/>
                          <a:alpha val="0"/>
                        </a:schemeClr>
                      </a:gs>
                      <a:gs pos="100000">
                        <a:schemeClr val="accent1">
                          <a:lumMod val="20000"/>
                          <a:lumOff val="80000"/>
                          <a:alpha val="50000"/>
                        </a:schemeClr>
                      </a:gs>
                    </a:gsLst>
                    <a:lin ang="0" scaled="1"/>
                    <a:tileRect/>
                  </a:gradFill>
                </a:ln>
                <a:effectLst/>
              </p:spPr>
              <p:style>
                <a:lnRef idx="2">
                  <a:schemeClr val="accent1">
                    <a:shade val="15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zh-CN" altLang="en-US" sz="5400">
                    <a:latin typeface="微软雅黑" panose="020B0503020204020204" charset="-122"/>
                    <a:ea typeface="微软雅黑" panose="020B0503020204020204" charset="-122"/>
                    <a:cs typeface="微软雅黑" panose="020B0503020204020204" charset="-122"/>
                  </a:endParaRPr>
                </a:p>
              </p:txBody>
            </p:sp>
          </p:grpSp>
        </p:grpSp>
        <p:sp>
          <p:nvSpPr>
            <p:cNvPr id="284" name="显眼包PPT1-7"/>
            <p:cNvSpPr/>
            <p:nvPr/>
          </p:nvSpPr>
          <p:spPr>
            <a:xfrm flipV="1">
              <a:off x="1014" y="8098"/>
              <a:ext cx="2236" cy="1014"/>
            </a:xfrm>
            <a:prstGeom prst="trapezoid">
              <a:avLst>
                <a:gd name="adj" fmla="val 62034"/>
              </a:avLst>
            </a:prstGeom>
            <a:gradFill flip="none" rotWithShape="1">
              <a:gsLst>
                <a:gs pos="0">
                  <a:schemeClr val="accent1">
                    <a:lumMod val="60000"/>
                    <a:lumOff val="40000"/>
                    <a:alpha val="0"/>
                  </a:schemeClr>
                </a:gs>
                <a:gs pos="100000">
                  <a:schemeClr val="accent1">
                    <a:lumMod val="60000"/>
                    <a:lumOff val="40000"/>
                    <a:alpha val="0"/>
                  </a:schemeClr>
                </a:gs>
                <a:gs pos="90000">
                  <a:schemeClr val="accent1">
                    <a:lumMod val="60000"/>
                    <a:lumOff val="40000"/>
                    <a:alpha val="34000"/>
                  </a:schemeClr>
                </a:gs>
              </a:gsLst>
              <a:lin ang="16200000" scaled="1"/>
              <a:tileRect/>
            </a:gradFill>
            <a:ln>
              <a:noFill/>
            </a:ln>
            <a:effectLst>
              <a:softEdge rad="0"/>
            </a:effectLst>
          </p:spPr>
          <p:style>
            <a:lnRef idx="2">
              <a:schemeClr val="accent1">
                <a:shade val="15000"/>
              </a:schemeClr>
            </a:lnRef>
            <a:fillRef idx="1">
              <a:schemeClr val="accent1"/>
            </a:fillRef>
            <a:effectRef idx="0">
              <a:schemeClr val="accent1"/>
            </a:effectRef>
            <a:fontRef idx="minor">
              <a:schemeClr val="lt1"/>
            </a:fontRef>
          </p:style>
          <p:txBody>
            <a:bodyPr lIns="274320" tIns="137160" rIns="274320" bIns="137160" rtlCol="0" anchor="ctr"/>
            <a:lstStyle/>
            <a:p>
              <a:pPr algn="ctr"/>
              <a:endParaRPr lang="zh-CN" altLang="en-US" sz="5400" dirty="0">
                <a:latin typeface="微软雅黑" panose="020B0503020204020204" charset="-122"/>
                <a:ea typeface="微软雅黑" panose="020B0503020204020204" charset="-122"/>
                <a:cs typeface="微软雅黑" panose="020B0503020204020204" charset="-122"/>
              </a:endParaRPr>
            </a:p>
          </p:txBody>
        </p:sp>
        <p:sp>
          <p:nvSpPr>
            <p:cNvPr id="285" name="显眼包PPT1-10"/>
            <p:cNvSpPr/>
            <p:nvPr/>
          </p:nvSpPr>
          <p:spPr>
            <a:xfrm>
              <a:off x="806" y="8239"/>
              <a:ext cx="2614" cy="428"/>
            </a:xfrm>
            <a:prstGeom prst="ellipse">
              <a:avLst/>
            </a:prstGeom>
            <a:noFill/>
            <a:ln w="9525">
              <a:gradFill>
                <a:gsLst>
                  <a:gs pos="41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86" name="显眼包PPT1-11"/>
            <p:cNvSpPr/>
            <p:nvPr/>
          </p:nvSpPr>
          <p:spPr>
            <a:xfrm>
              <a:off x="946" y="8456"/>
              <a:ext cx="2334" cy="339"/>
            </a:xfrm>
            <a:prstGeom prst="ellipse">
              <a:avLst/>
            </a:prstGeom>
            <a:noFill/>
            <a:ln w="9525">
              <a:gradFill>
                <a:gsLst>
                  <a:gs pos="41000">
                    <a:schemeClr val="accent1">
                      <a:alpha val="0"/>
                    </a:schemeClr>
                  </a:gs>
                  <a:gs pos="100000">
                    <a:schemeClr val="accent1"/>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grpSp>
      <p:sp>
        <p:nvSpPr>
          <p:cNvPr id="34" name="紫荆的职场Point99-4"/>
          <p:cNvSpPr/>
          <p:nvPr/>
        </p:nvSpPr>
        <p:spPr>
          <a:xfrm rot="5400000">
            <a:off x="1935480" y="3475355"/>
            <a:ext cx="647700" cy="85153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35000">
                <a:schemeClr val="tx1">
                  <a:lumMod val="60000"/>
                  <a:lumOff val="40000"/>
                  <a:alpha val="50000"/>
                </a:schemeClr>
              </a:gs>
              <a:gs pos="0">
                <a:schemeClr val="accent1">
                  <a:lumMod val="60000"/>
                  <a:lumOff val="40000"/>
                  <a:alpha val="0"/>
                </a:schemeClr>
              </a:gs>
              <a:gs pos="100000">
                <a:schemeClr val="accent1">
                  <a:lumMod val="60000"/>
                  <a:lumOff val="40000"/>
                </a:schemeClr>
              </a:gs>
            </a:gsLst>
            <a:lin ang="16200000" scaled="1"/>
            <a:tileRect/>
          </a:gradFill>
          <a:ln w="6350" cap="flat" cmpd="sng" algn="ctr">
            <a:noFill/>
            <a:prstDash val="lgDash"/>
            <a:miter lim="800000"/>
          </a:ln>
          <a:effectLst>
            <a:outerShdw blurRad="190500" algn="ctr" rotWithShape="0">
              <a:schemeClr val="accent1">
                <a:lumMod val="60000"/>
                <a:lumOff val="40000"/>
                <a:alpha val="40000"/>
              </a:schemeClr>
            </a:outerShdw>
          </a:effectLst>
        </p:spPr>
        <p:txBody>
          <a:bodyPr wrap="square" rtlCol="0" anchor="ctr">
            <a:noAutofit/>
          </a:bodyP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7" name="文本框 36"/>
          <p:cNvSpPr txBox="1"/>
          <p:nvPr/>
        </p:nvSpPr>
        <p:spPr>
          <a:xfrm>
            <a:off x="1788795" y="3735705"/>
            <a:ext cx="821690" cy="337185"/>
          </a:xfrm>
          <a:prstGeom prst="rect">
            <a:avLst/>
          </a:prstGeom>
          <a:noFill/>
        </p:spPr>
        <p:txBody>
          <a:bodyPr wrap="square" rtlCol="0">
            <a:spAutoFit/>
          </a:bodyPr>
          <a:p>
            <a:pPr algn="ctr"/>
            <a:r>
              <a:rPr lang="zh-CN" altLang="en-US" sz="800" b="1">
                <a:solidFill>
                  <a:schemeClr val="bg1"/>
                </a:solidFill>
                <a:latin typeface="微软雅黑" panose="020B0503020204020204" charset="-122"/>
                <a:ea typeface="微软雅黑" panose="020B0503020204020204" charset="-122"/>
                <a:cs typeface="微软雅黑" panose="020B0503020204020204" charset="-122"/>
              </a:rPr>
              <a:t>互为伙伴</a:t>
            </a:r>
            <a:endParaRPr lang="zh-CN" altLang="en-US" sz="8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800" b="1">
                <a:solidFill>
                  <a:schemeClr val="bg1"/>
                </a:solidFill>
                <a:latin typeface="微软雅黑" panose="020B0503020204020204" charset="-122"/>
                <a:ea typeface="微软雅黑" panose="020B0503020204020204" charset="-122"/>
                <a:cs typeface="微软雅黑" panose="020B0503020204020204" charset="-122"/>
              </a:rPr>
              <a:t>彼此赋能</a:t>
            </a:r>
            <a:endParaRPr lang="zh-CN" altLang="en-US" sz="800" b="1">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38" name="组合 37"/>
          <p:cNvGrpSpPr/>
          <p:nvPr/>
        </p:nvGrpSpPr>
        <p:grpSpPr>
          <a:xfrm>
            <a:off x="1066800" y="2946400"/>
            <a:ext cx="558800" cy="558800"/>
            <a:chOff x="-2170" y="9389"/>
            <a:chExt cx="1670" cy="1670"/>
          </a:xfrm>
        </p:grpSpPr>
        <p:sp>
          <p:nvSpPr>
            <p:cNvPr id="710" name="显眼包PPT-2"/>
            <p:cNvSpPr/>
            <p:nvPr/>
          </p:nvSpPr>
          <p:spPr>
            <a:xfrm>
              <a:off x="-2170" y="9389"/>
              <a:ext cx="1670" cy="1670"/>
            </a:xfrm>
            <a:prstGeom prst="ellipse">
              <a:avLst/>
            </a:prstGeom>
            <a:gradFill flip="none" rotWithShape="1">
              <a:gsLst>
                <a:gs pos="60000">
                  <a:schemeClr val="bg1">
                    <a:alpha val="56000"/>
                  </a:schemeClr>
                </a:gs>
                <a:gs pos="100000">
                  <a:schemeClr val="accent1">
                    <a:lumMod val="40000"/>
                    <a:lumOff val="60000"/>
                    <a:alpha val="93000"/>
                  </a:schemeClr>
                </a:gs>
              </a:gsLst>
              <a:path path="shape">
                <a:fillToRect l="50000" t="50000" r="50000" b="50000"/>
              </a:path>
              <a:tileRect/>
            </a:gradFill>
            <a:ln w="31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12" name="显眼包PPT-4"/>
            <p:cNvSpPr txBox="1"/>
            <p:nvPr/>
          </p:nvSpPr>
          <p:spPr>
            <a:xfrm>
              <a:off x="-1851" y="9789"/>
              <a:ext cx="1033" cy="91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1000" b="1" i="0" u="none" strike="noStrike" kern="1200" cap="none" spc="0" normalizeH="0" baseline="0" noProof="0" dirty="0">
                  <a:ln>
                    <a:noFill/>
                  </a:ln>
                  <a:gradFill>
                    <a:gsLst>
                      <a:gs pos="0">
                        <a:schemeClr val="accent1">
                          <a:lumMod val="60000"/>
                          <a:lumOff val="40000"/>
                        </a:schemeClr>
                      </a:gs>
                      <a:gs pos="100000">
                        <a:schemeClr val="accent1"/>
                      </a:gs>
                    </a:gsLst>
                    <a:lin ang="5400000" scaled="1"/>
                  </a:gradFill>
                  <a:effectLst>
                    <a:reflection blurRad="101600" stA="42000" endPos="36000" dist="25400" dir="5400000" sy="-100000" algn="bl" rotWithShape="0"/>
                  </a:effectLst>
                  <a:uLnTx/>
                  <a:uFillTx/>
                  <a:latin typeface="+mj-ea"/>
                  <a:ea typeface="+mj-ea"/>
                  <a:cs typeface="微软雅黑" panose="020B0503020204020204" charset="-122"/>
                </a:rPr>
                <a:t>零售</a:t>
              </a:r>
              <a:endParaRPr kumimoji="0" lang="zh-CN" sz="1000" b="1" i="0" u="none" strike="noStrike" kern="1200" cap="none" spc="0" normalizeH="0" baseline="0" noProof="0" dirty="0">
                <a:ln>
                  <a:noFill/>
                </a:ln>
                <a:gradFill>
                  <a:gsLst>
                    <a:gs pos="0">
                      <a:schemeClr val="accent1">
                        <a:lumMod val="60000"/>
                        <a:lumOff val="40000"/>
                      </a:schemeClr>
                    </a:gs>
                    <a:gs pos="100000">
                      <a:schemeClr val="accent1"/>
                    </a:gs>
                  </a:gsLst>
                  <a:lin ang="5400000" scaled="1"/>
                </a:gradFill>
                <a:effectLst>
                  <a:reflection blurRad="101600" stA="42000" endPos="36000" dist="25400" dir="5400000" sy="-100000" algn="bl" rotWithShape="0"/>
                </a:effectLst>
                <a:uLnTx/>
                <a:uFillTx/>
                <a:latin typeface="+mj-ea"/>
                <a:ea typeface="+mj-ea"/>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sz="1000" b="1" i="0" u="none" strike="noStrike" kern="1200" cap="none" spc="0" normalizeH="0" baseline="0" noProof="0" dirty="0">
                  <a:ln>
                    <a:noFill/>
                  </a:ln>
                  <a:gradFill>
                    <a:gsLst>
                      <a:gs pos="0">
                        <a:schemeClr val="accent1">
                          <a:lumMod val="60000"/>
                          <a:lumOff val="40000"/>
                        </a:schemeClr>
                      </a:gs>
                      <a:gs pos="100000">
                        <a:schemeClr val="accent1"/>
                      </a:gs>
                    </a:gsLst>
                    <a:lin ang="5400000" scaled="1"/>
                  </a:gradFill>
                  <a:effectLst>
                    <a:reflection blurRad="101600" stA="42000" endPos="36000" dist="25400" dir="5400000" sy="-100000" algn="bl" rotWithShape="0"/>
                  </a:effectLst>
                  <a:uLnTx/>
                  <a:uFillTx/>
                  <a:latin typeface="+mj-ea"/>
                  <a:ea typeface="+mj-ea"/>
                  <a:cs typeface="微软雅黑" panose="020B0503020204020204" charset="-122"/>
                </a:rPr>
                <a:t>终端</a:t>
              </a:r>
              <a:endParaRPr kumimoji="0" lang="zh-CN" sz="1000" b="1" i="0" u="none" strike="noStrike" kern="1200" cap="none" spc="0" normalizeH="0" baseline="0" noProof="0" dirty="0">
                <a:ln>
                  <a:noFill/>
                </a:ln>
                <a:gradFill>
                  <a:gsLst>
                    <a:gs pos="0">
                      <a:schemeClr val="accent1">
                        <a:lumMod val="60000"/>
                        <a:lumOff val="40000"/>
                      </a:schemeClr>
                    </a:gs>
                    <a:gs pos="100000">
                      <a:schemeClr val="accent1"/>
                    </a:gs>
                  </a:gsLst>
                  <a:lin ang="5400000" scaled="1"/>
                </a:gradFill>
                <a:effectLst>
                  <a:reflection blurRad="101600" stA="42000" endPos="36000" dist="25400" dir="5400000" sy="-100000" algn="bl" rotWithShape="0"/>
                </a:effectLst>
                <a:uLnTx/>
                <a:uFillTx/>
                <a:latin typeface="+mj-ea"/>
                <a:ea typeface="+mj-ea"/>
                <a:cs typeface="微软雅黑" panose="020B0503020204020204" charset="-122"/>
              </a:endParaRPr>
            </a:p>
          </p:txBody>
        </p:sp>
      </p:grpSp>
      <p:grpSp>
        <p:nvGrpSpPr>
          <p:cNvPr id="39" name="组合 38"/>
          <p:cNvGrpSpPr/>
          <p:nvPr/>
        </p:nvGrpSpPr>
        <p:grpSpPr>
          <a:xfrm>
            <a:off x="1066800" y="3876040"/>
            <a:ext cx="558800" cy="558800"/>
            <a:chOff x="-2170" y="9389"/>
            <a:chExt cx="1670" cy="1670"/>
          </a:xfrm>
        </p:grpSpPr>
        <p:sp>
          <p:nvSpPr>
            <p:cNvPr id="40" name="显眼包PPT-2"/>
            <p:cNvSpPr/>
            <p:nvPr/>
          </p:nvSpPr>
          <p:spPr>
            <a:xfrm>
              <a:off x="-2170" y="9389"/>
              <a:ext cx="1670" cy="1670"/>
            </a:xfrm>
            <a:prstGeom prst="ellipse">
              <a:avLst/>
            </a:prstGeom>
            <a:gradFill flip="none" rotWithShape="1">
              <a:gsLst>
                <a:gs pos="60000">
                  <a:schemeClr val="bg1">
                    <a:alpha val="56000"/>
                  </a:schemeClr>
                </a:gs>
                <a:gs pos="100000">
                  <a:schemeClr val="accent1">
                    <a:lumMod val="40000"/>
                    <a:lumOff val="60000"/>
                    <a:alpha val="93000"/>
                  </a:schemeClr>
                </a:gs>
              </a:gsLst>
              <a:path path="shape">
                <a:fillToRect l="50000" t="50000" r="50000" b="50000"/>
              </a:path>
              <a:tileRect/>
            </a:gradFill>
            <a:ln w="31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1" name="显眼包PPT-4"/>
            <p:cNvSpPr txBox="1"/>
            <p:nvPr/>
          </p:nvSpPr>
          <p:spPr>
            <a:xfrm>
              <a:off x="-1851" y="9789"/>
              <a:ext cx="1033" cy="91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1000" b="1" i="0" u="none" strike="noStrike" kern="1200" cap="none" spc="0" normalizeH="0" baseline="0" noProof="0" dirty="0">
                  <a:ln>
                    <a:noFill/>
                  </a:ln>
                  <a:gradFill>
                    <a:gsLst>
                      <a:gs pos="0">
                        <a:schemeClr val="accent1">
                          <a:lumMod val="60000"/>
                          <a:lumOff val="40000"/>
                        </a:schemeClr>
                      </a:gs>
                      <a:gs pos="100000">
                        <a:schemeClr val="accent1"/>
                      </a:gs>
                    </a:gsLst>
                    <a:lin ang="5400000" scaled="1"/>
                  </a:gradFill>
                  <a:effectLst>
                    <a:reflection blurRad="101600" stA="42000" endPos="36000" dist="25400" dir="5400000" sy="-100000" algn="bl" rotWithShape="0"/>
                  </a:effectLst>
                  <a:uLnTx/>
                  <a:uFillTx/>
                  <a:latin typeface="+mj-ea"/>
                  <a:ea typeface="+mj-ea"/>
                  <a:cs typeface="微软雅黑" panose="020B0503020204020204" charset="-122"/>
                </a:rPr>
                <a:t>零售商</a:t>
              </a:r>
              <a:endParaRPr kumimoji="0" lang="zh-CN" sz="1000" b="1" i="0" u="none" strike="noStrike" kern="1200" cap="none" spc="0" normalizeH="0" baseline="0" noProof="0" dirty="0">
                <a:ln>
                  <a:noFill/>
                </a:ln>
                <a:gradFill>
                  <a:gsLst>
                    <a:gs pos="0">
                      <a:schemeClr val="accent1">
                        <a:lumMod val="60000"/>
                        <a:lumOff val="40000"/>
                      </a:schemeClr>
                    </a:gs>
                    <a:gs pos="100000">
                      <a:schemeClr val="accent1"/>
                    </a:gs>
                  </a:gsLst>
                  <a:lin ang="5400000" scaled="1"/>
                </a:gradFill>
                <a:effectLst>
                  <a:reflection blurRad="101600" stA="42000" endPos="36000" dist="25400" dir="5400000" sy="-100000" algn="bl" rotWithShape="0"/>
                </a:effectLst>
                <a:uLnTx/>
                <a:uFillTx/>
                <a:latin typeface="+mj-ea"/>
                <a:ea typeface="+mj-ea"/>
                <a:cs typeface="微软雅黑" panose="020B0503020204020204" charset="-122"/>
              </a:endParaRPr>
            </a:p>
          </p:txBody>
        </p:sp>
      </p:grpSp>
      <p:grpSp>
        <p:nvGrpSpPr>
          <p:cNvPr id="42" name="组合 41"/>
          <p:cNvGrpSpPr/>
          <p:nvPr/>
        </p:nvGrpSpPr>
        <p:grpSpPr>
          <a:xfrm>
            <a:off x="1066800" y="4805680"/>
            <a:ext cx="558800" cy="558800"/>
            <a:chOff x="-2170" y="9389"/>
            <a:chExt cx="1670" cy="1670"/>
          </a:xfrm>
        </p:grpSpPr>
        <p:sp>
          <p:nvSpPr>
            <p:cNvPr id="47" name="显眼包PPT-2"/>
            <p:cNvSpPr/>
            <p:nvPr/>
          </p:nvSpPr>
          <p:spPr>
            <a:xfrm>
              <a:off x="-2170" y="9389"/>
              <a:ext cx="1670" cy="1670"/>
            </a:xfrm>
            <a:prstGeom prst="ellipse">
              <a:avLst/>
            </a:prstGeom>
            <a:gradFill flip="none" rotWithShape="1">
              <a:gsLst>
                <a:gs pos="60000">
                  <a:schemeClr val="bg1">
                    <a:alpha val="56000"/>
                  </a:schemeClr>
                </a:gs>
                <a:gs pos="100000">
                  <a:schemeClr val="accent1">
                    <a:lumMod val="40000"/>
                    <a:lumOff val="60000"/>
                    <a:alpha val="93000"/>
                  </a:schemeClr>
                </a:gs>
              </a:gsLst>
              <a:path path="shape">
                <a:fillToRect l="50000" t="50000" r="50000" b="50000"/>
              </a:path>
              <a:tileRect/>
            </a:gradFill>
            <a:ln w="31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7" name="显眼包PPT-4"/>
            <p:cNvSpPr txBox="1"/>
            <p:nvPr/>
          </p:nvSpPr>
          <p:spPr>
            <a:xfrm>
              <a:off x="-1851" y="9789"/>
              <a:ext cx="1033" cy="91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1000" b="1" i="0" u="none" strike="noStrike" kern="1200" cap="none" spc="0" normalizeH="0" baseline="0" noProof="0" dirty="0">
                  <a:ln>
                    <a:noFill/>
                  </a:ln>
                  <a:gradFill>
                    <a:gsLst>
                      <a:gs pos="0">
                        <a:schemeClr val="accent1">
                          <a:lumMod val="60000"/>
                          <a:lumOff val="40000"/>
                        </a:schemeClr>
                      </a:gs>
                      <a:gs pos="100000">
                        <a:schemeClr val="accent1"/>
                      </a:gs>
                    </a:gsLst>
                    <a:lin ang="5400000" scaled="1"/>
                  </a:gradFill>
                  <a:effectLst>
                    <a:reflection blurRad="101600" stA="42000" endPos="36000" dist="25400" dir="5400000" sy="-100000" algn="bl" rotWithShape="0"/>
                  </a:effectLst>
                  <a:uLnTx/>
                  <a:uFillTx/>
                  <a:latin typeface="+mj-ea"/>
                  <a:ea typeface="+mj-ea"/>
                  <a:cs typeface="微软雅黑" panose="020B0503020204020204" charset="-122"/>
                </a:rPr>
                <a:t>生态伙伴</a:t>
              </a:r>
              <a:endParaRPr kumimoji="0" lang="zh-CN" sz="1000" b="1" i="0" u="none" strike="noStrike" kern="1200" cap="none" spc="0" normalizeH="0" baseline="0" noProof="0" dirty="0">
                <a:ln>
                  <a:noFill/>
                </a:ln>
                <a:gradFill>
                  <a:gsLst>
                    <a:gs pos="0">
                      <a:schemeClr val="accent1">
                        <a:lumMod val="60000"/>
                        <a:lumOff val="40000"/>
                      </a:schemeClr>
                    </a:gs>
                    <a:gs pos="100000">
                      <a:schemeClr val="accent1"/>
                    </a:gs>
                  </a:gsLst>
                  <a:lin ang="5400000" scaled="1"/>
                </a:gradFill>
                <a:effectLst>
                  <a:reflection blurRad="101600" stA="42000" endPos="36000" dist="25400" dir="5400000" sy="-100000" algn="bl" rotWithShape="0"/>
                </a:effectLst>
                <a:uLnTx/>
                <a:uFillTx/>
                <a:latin typeface="+mj-ea"/>
                <a:ea typeface="+mj-ea"/>
                <a:cs typeface="微软雅黑" panose="020B0503020204020204" charset="-122"/>
              </a:endParaRPr>
            </a:p>
          </p:txBody>
        </p:sp>
      </p:grpSp>
      <p:sp>
        <p:nvSpPr>
          <p:cNvPr id="88" name="显眼包PPT-4"/>
          <p:cNvSpPr txBox="1"/>
          <p:nvPr/>
        </p:nvSpPr>
        <p:spPr>
          <a:xfrm>
            <a:off x="782003" y="6272530"/>
            <a:ext cx="1122680" cy="23050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1500" b="1" i="0" u="none" strike="noStrike" kern="1200" cap="none" spc="0" normalizeH="0" baseline="0" noProof="0" dirty="0">
                <a:ln>
                  <a:noFill/>
                </a:ln>
                <a:solidFill>
                  <a:schemeClr val="accent1"/>
                </a:solidFill>
                <a:effectLst>
                  <a:reflection blurRad="101600" stA="42000" endPos="36000" dist="25400" dir="5400000" sy="-100000" algn="bl" rotWithShape="0"/>
                </a:effectLst>
                <a:uLnTx/>
                <a:uFillTx/>
                <a:latin typeface="+mj-ea"/>
                <a:ea typeface="+mj-ea"/>
                <a:cs typeface="微软雅黑" panose="020B0503020204020204" charset="-122"/>
              </a:rPr>
              <a:t>传统零售</a:t>
            </a:r>
            <a:endParaRPr kumimoji="0" lang="zh-CN" sz="1500" b="1" i="0" u="none" strike="noStrike" kern="1200" cap="none" spc="0" normalizeH="0" baseline="0" noProof="0" dirty="0">
              <a:ln>
                <a:noFill/>
              </a:ln>
              <a:solidFill>
                <a:schemeClr val="accent1"/>
              </a:solidFill>
              <a:effectLst>
                <a:reflection blurRad="101600" stA="42000" endPos="36000" dist="25400" dir="5400000" sy="-100000" algn="bl" rotWithShape="0"/>
              </a:effectLst>
              <a:uLnTx/>
              <a:uFillTx/>
              <a:latin typeface="+mj-ea"/>
              <a:ea typeface="+mj-ea"/>
              <a:cs typeface="微软雅黑" panose="020B0503020204020204" charset="-122"/>
            </a:endParaRPr>
          </a:p>
        </p:txBody>
      </p:sp>
      <p:grpSp>
        <p:nvGrpSpPr>
          <p:cNvPr id="119" name="组合 118"/>
          <p:cNvGrpSpPr/>
          <p:nvPr/>
        </p:nvGrpSpPr>
        <p:grpSpPr>
          <a:xfrm rot="0">
            <a:off x="913448" y="1552575"/>
            <a:ext cx="873125" cy="879475"/>
            <a:chOff x="8509" y="5445"/>
            <a:chExt cx="2275" cy="2291"/>
          </a:xfrm>
        </p:grpSpPr>
        <p:grpSp>
          <p:nvGrpSpPr>
            <p:cNvPr id="128" name="组合 127"/>
            <p:cNvGrpSpPr/>
            <p:nvPr/>
          </p:nvGrpSpPr>
          <p:grpSpPr>
            <a:xfrm>
              <a:off x="8597" y="5634"/>
              <a:ext cx="2102" cy="2102"/>
              <a:chOff x="8692" y="4304"/>
              <a:chExt cx="2102" cy="2102"/>
            </a:xfrm>
          </p:grpSpPr>
          <p:grpSp>
            <p:nvGrpSpPr>
              <p:cNvPr id="251" name="显眼包PPT1"/>
              <p:cNvGrpSpPr/>
              <p:nvPr/>
            </p:nvGrpSpPr>
            <p:grpSpPr>
              <a:xfrm rot="0">
                <a:off x="8692" y="4304"/>
                <a:ext cx="2102" cy="2102"/>
                <a:chOff x="3096337" y="2750630"/>
                <a:chExt cx="1949116" cy="1949116"/>
              </a:xfrm>
              <a:effectLst/>
            </p:grpSpPr>
            <p:sp>
              <p:nvSpPr>
                <p:cNvPr id="252" name="显眼包PPT1-1"/>
                <p:cNvSpPr/>
                <p:nvPr/>
              </p:nvSpPr>
              <p:spPr>
                <a:xfrm rot="2700000">
                  <a:off x="3096337" y="2750630"/>
                  <a:ext cx="1949116" cy="1949116"/>
                </a:xfrm>
                <a:prstGeom prst="ellipse">
                  <a:avLst/>
                </a:prstGeom>
                <a:gradFill flip="none" rotWithShape="1">
                  <a:gsLst>
                    <a:gs pos="59000">
                      <a:schemeClr val="accent5">
                        <a:lumMod val="60000"/>
                        <a:lumOff val="40000"/>
                        <a:alpha val="0"/>
                      </a:schemeClr>
                    </a:gs>
                    <a:gs pos="100000">
                      <a:schemeClr val="accent5">
                        <a:lumMod val="60000"/>
                        <a:lumOff val="40000"/>
                        <a:alpha val="50000"/>
                      </a:schemeClr>
                    </a:gs>
                  </a:gsLst>
                  <a:path path="circle">
                    <a:fillToRect l="50000" t="130000" r="50000" b="-3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253" name="显眼包PPT1-2"/>
                <p:cNvSpPr/>
                <p:nvPr/>
              </p:nvSpPr>
              <p:spPr>
                <a:xfrm rot="2700000" flipV="1">
                  <a:off x="3096337" y="2750630"/>
                  <a:ext cx="1949116" cy="1949116"/>
                </a:xfrm>
                <a:prstGeom prst="ellipse">
                  <a:avLst/>
                </a:prstGeom>
                <a:gradFill flip="none" rotWithShape="1">
                  <a:gsLst>
                    <a:gs pos="59000">
                      <a:schemeClr val="accent5">
                        <a:lumMod val="60000"/>
                        <a:lumOff val="40000"/>
                        <a:alpha val="0"/>
                      </a:schemeClr>
                    </a:gs>
                    <a:gs pos="100000">
                      <a:schemeClr val="accent5">
                        <a:lumMod val="60000"/>
                        <a:lumOff val="40000"/>
                        <a:alpha val="70000"/>
                      </a:schemeClr>
                    </a:gs>
                  </a:gsLst>
                  <a:path path="circle">
                    <a:fillToRect l="50000" t="130000" r="50000" b="-30000"/>
                  </a:path>
                  <a:tileRect/>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charset="-122"/>
                    <a:ea typeface="微软雅黑" panose="020B0503020204020204" charset="-122"/>
                    <a:cs typeface="微软雅黑" panose="020B0503020204020204" charset="-122"/>
                  </a:endParaRPr>
                </a:p>
              </p:txBody>
            </p:sp>
          </p:grpSp>
          <p:grpSp>
            <p:nvGrpSpPr>
              <p:cNvPr id="358" name="显眼包PPT2"/>
              <p:cNvGrpSpPr/>
              <p:nvPr/>
            </p:nvGrpSpPr>
            <p:grpSpPr>
              <a:xfrm rot="0">
                <a:off x="8846" y="5484"/>
                <a:ext cx="1798" cy="787"/>
                <a:chOff x="5304781" y="4389892"/>
                <a:chExt cx="1582435" cy="692477"/>
              </a:xfrm>
              <a:effectLst>
                <a:outerShdw blurRad="203200" dist="203200" dir="5400000" algn="t" rotWithShape="0">
                  <a:schemeClr val="accent5">
                    <a:alpha val="31000"/>
                  </a:schemeClr>
                </a:outerShdw>
              </a:effectLst>
            </p:grpSpPr>
            <p:sp>
              <p:nvSpPr>
                <p:cNvPr id="359" name="显眼包PPT2-1"/>
                <p:cNvSpPr/>
                <p:nvPr/>
              </p:nvSpPr>
              <p:spPr>
                <a:xfrm>
                  <a:off x="5304781" y="4490420"/>
                  <a:ext cx="1582435" cy="591949"/>
                </a:xfrm>
                <a:custGeom>
                  <a:avLst/>
                  <a:gdLst>
                    <a:gd name="connsiteX0" fmla="*/ 0 w 1582435"/>
                    <a:gd name="connsiteY0" fmla="*/ 0 h 591949"/>
                    <a:gd name="connsiteX1" fmla="*/ 1582435 w 1582435"/>
                    <a:gd name="connsiteY1" fmla="*/ 0 h 591949"/>
                    <a:gd name="connsiteX2" fmla="*/ 1581901 w 1582435"/>
                    <a:gd name="connsiteY2" fmla="*/ 2701 h 591949"/>
                    <a:gd name="connsiteX3" fmla="*/ 791217 w 1582435"/>
                    <a:gd name="connsiteY3" fmla="*/ 591949 h 591949"/>
                    <a:gd name="connsiteX4" fmla="*/ 534 w 1582435"/>
                    <a:gd name="connsiteY4" fmla="*/ 2701 h 591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2435" h="591949">
                      <a:moveTo>
                        <a:pt x="0" y="0"/>
                      </a:moveTo>
                      <a:lnTo>
                        <a:pt x="1582435" y="0"/>
                      </a:lnTo>
                      <a:lnTo>
                        <a:pt x="1581901" y="2701"/>
                      </a:lnTo>
                      <a:cubicBezTo>
                        <a:pt x="1480534" y="343456"/>
                        <a:pt x="1164895" y="591949"/>
                        <a:pt x="791217" y="591949"/>
                      </a:cubicBezTo>
                      <a:cubicBezTo>
                        <a:pt x="417540" y="591949"/>
                        <a:pt x="101901" y="343456"/>
                        <a:pt x="534" y="2701"/>
                      </a:cubicBezTo>
                      <a:close/>
                    </a:path>
                  </a:pathLst>
                </a:custGeom>
                <a:gradFill flip="none" rotWithShape="1">
                  <a:gsLst>
                    <a:gs pos="0">
                      <a:schemeClr val="accent5">
                        <a:lumMod val="40000"/>
                        <a:lumOff val="60000"/>
                      </a:schemeClr>
                    </a:gs>
                    <a:gs pos="46000">
                      <a:schemeClr val="accent5"/>
                    </a:gs>
                    <a:gs pos="100000">
                      <a:schemeClr val="accent5">
                        <a:lumMod val="75000"/>
                      </a:schemeClr>
                    </a:gs>
                  </a:gsLst>
                  <a:path path="circle">
                    <a:fillToRect l="50000" t="130000" r="50000" b="-3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360" name="显眼包PPT2-2"/>
                <p:cNvSpPr/>
                <p:nvPr/>
              </p:nvSpPr>
              <p:spPr>
                <a:xfrm>
                  <a:off x="5304782" y="4389892"/>
                  <a:ext cx="1582432" cy="206650"/>
                </a:xfrm>
                <a:prstGeom prst="ellipse">
                  <a:avLst/>
                </a:prstGeom>
                <a:gradFill flip="none" rotWithShape="1">
                  <a:gsLst>
                    <a:gs pos="0">
                      <a:schemeClr val="accent5">
                        <a:lumMod val="20000"/>
                        <a:lumOff val="80000"/>
                      </a:schemeClr>
                    </a:gs>
                    <a:gs pos="76000">
                      <a:schemeClr val="accent5">
                        <a:lumMod val="60000"/>
                        <a:lumOff val="4000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微软雅黑" panose="020B0503020204020204" charset="-122"/>
                    <a:ea typeface="微软雅黑" panose="020B0503020204020204" charset="-122"/>
                    <a:cs typeface="微软雅黑" panose="020B0503020204020204" charset="-122"/>
                  </a:endParaRPr>
                </a:p>
              </p:txBody>
            </p:sp>
          </p:grpSp>
        </p:grpSp>
        <p:sp>
          <p:nvSpPr>
            <p:cNvPr id="361" name="椭圆 360"/>
            <p:cNvSpPr/>
            <p:nvPr/>
          </p:nvSpPr>
          <p:spPr>
            <a:xfrm>
              <a:off x="8509" y="5445"/>
              <a:ext cx="2275" cy="2278"/>
            </a:xfrm>
            <a:prstGeom prst="ellipse">
              <a:avLst/>
            </a:prstGeom>
            <a:gradFill flip="none" rotWithShape="1">
              <a:gsLst>
                <a:gs pos="70000">
                  <a:schemeClr val="bg1">
                    <a:alpha val="0"/>
                  </a:schemeClr>
                </a:gs>
                <a:gs pos="100000">
                  <a:schemeClr val="bg1"/>
                </a:gs>
              </a:gsLst>
              <a:lin ang="2700000" scaled="1"/>
              <a:tileRect/>
            </a:gradFill>
            <a:ln w="19050">
              <a:gradFill flip="none" rotWithShape="1">
                <a:gsLst>
                  <a:gs pos="70000">
                    <a:schemeClr val="bg1">
                      <a:alpha val="0"/>
                    </a:schemeClr>
                  </a:gs>
                  <a:gs pos="100000">
                    <a:schemeClr val="bg1"/>
                  </a:gs>
                </a:gsLst>
                <a:lin ang="54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dirty="0">
                <a:latin typeface="微软雅黑" panose="020B0503020204020204" charset="-122"/>
                <a:ea typeface="微软雅黑" panose="020B0503020204020204" charset="-122"/>
                <a:cs typeface="微软雅黑" panose="020B0503020204020204" charset="-122"/>
              </a:endParaRPr>
            </a:p>
          </p:txBody>
        </p:sp>
        <p:sp>
          <p:nvSpPr>
            <p:cNvPr id="362" name="椭圆 361"/>
            <p:cNvSpPr/>
            <p:nvPr/>
          </p:nvSpPr>
          <p:spPr>
            <a:xfrm rot="19518187">
              <a:off x="8844" y="5822"/>
              <a:ext cx="781" cy="496"/>
            </a:xfrm>
            <a:prstGeom prst="ellipse">
              <a:avLst/>
            </a:prstGeom>
            <a:gradFill flip="none" rotWithShape="1">
              <a:gsLst>
                <a:gs pos="0">
                  <a:schemeClr val="bg1"/>
                </a:gs>
                <a:gs pos="100000">
                  <a:schemeClr val="bg1">
                    <a:lumMod val="95000"/>
                  </a:schemeClr>
                </a:gs>
              </a:gsLst>
              <a:path path="circle">
                <a:fillToRect l="50000" t="50000" r="50000" b="50000"/>
              </a:path>
              <a:tileRect/>
            </a:gradFill>
            <a:ln>
              <a:noFill/>
            </a:ln>
            <a:effectLst>
              <a:softEdge rad="127000"/>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363" name="显眼包PPT4"/>
            <p:cNvSpPr txBox="1"/>
            <p:nvPr>
              <p:custDataLst>
                <p:tags r:id="rId4"/>
              </p:custDataLst>
            </p:nvPr>
          </p:nvSpPr>
          <p:spPr>
            <a:xfrm>
              <a:off x="8839" y="6224"/>
              <a:ext cx="1600" cy="480"/>
            </a:xfrm>
            <a:prstGeom prst="rect">
              <a:avLst/>
            </a:prstGeom>
            <a:noFill/>
            <a:effectLst/>
          </p:spPr>
          <p:txBody>
            <a:bodyPr wrap="square" lIns="0" tIns="0" rIns="0" bIns="0" rtlCol="0">
              <a:spAutoFit/>
              <a:scene3d>
                <a:camera prst="orthographicFront"/>
                <a:lightRig rig="glow" dir="t"/>
              </a:scene3d>
              <a:sp3d>
                <a:bevelT w="0" h="0"/>
                <a:bevelB w="0" h="0"/>
              </a:sp3d>
            </a:bodyPr>
            <a:lstStyle/>
            <a:p>
              <a:pPr algn="ctr"/>
              <a:r>
                <a:rPr lang="zh-CN" altLang="en-US" sz="1200" b="1">
                  <a:gradFill flip="none" rotWithShape="1">
                    <a:gsLst>
                      <a:gs pos="69000">
                        <a:schemeClr val="accent5"/>
                      </a:gs>
                      <a:gs pos="0">
                        <a:schemeClr val="accent5">
                          <a:lumMod val="60000"/>
                          <a:lumOff val="40000"/>
                        </a:schemeClr>
                      </a:gs>
                    </a:gsLst>
                    <a:lin ang="5400000" scaled="1"/>
                    <a:tileRect/>
                  </a:gradFill>
                  <a:effectLst/>
                  <a:latin typeface="微软雅黑" panose="020B0503020204020204" charset="-122"/>
                  <a:ea typeface="微软雅黑" panose="020B0503020204020204" charset="-122"/>
                  <a:cs typeface="微软雅黑" panose="020B0503020204020204" charset="-122"/>
                  <a:sym typeface="+mj-ea"/>
                </a:rPr>
                <a:t>消费者</a:t>
              </a:r>
              <a:endParaRPr lang="zh-CN" altLang="en-US" sz="1200" b="1">
                <a:gradFill flip="none" rotWithShape="1">
                  <a:gsLst>
                    <a:gs pos="69000">
                      <a:schemeClr val="accent5"/>
                    </a:gs>
                    <a:gs pos="0">
                      <a:schemeClr val="accent5">
                        <a:lumMod val="60000"/>
                        <a:lumOff val="40000"/>
                      </a:schemeClr>
                    </a:gs>
                  </a:gsLst>
                  <a:lin ang="5400000" scaled="1"/>
                  <a:tileRect/>
                </a:gradFill>
                <a:effectLst/>
                <a:latin typeface="微软雅黑" panose="020B0503020204020204" charset="-122"/>
                <a:ea typeface="微软雅黑" panose="020B0503020204020204" charset="-122"/>
                <a:cs typeface="微软雅黑" panose="020B0503020204020204" charset="-122"/>
                <a:sym typeface="+mj-ea"/>
              </a:endParaRPr>
            </a:p>
          </p:txBody>
        </p:sp>
      </p:grpSp>
      <p:pic>
        <p:nvPicPr>
          <p:cNvPr id="367" name="图片 366" descr="加"/>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29995" y="4504055"/>
            <a:ext cx="232410" cy="232410"/>
          </a:xfrm>
          <a:prstGeom prst="rect">
            <a:avLst/>
          </a:prstGeom>
        </p:spPr>
      </p:pic>
      <p:pic>
        <p:nvPicPr>
          <p:cNvPr id="368" name="图片 367" descr="加"/>
          <p:cNvPicPr>
            <a:picLocks noChangeAspect="1"/>
          </p:cNvPicPr>
          <p:nvPr/>
        </p:nvPicPr>
        <p:blipFill>
          <a:blip r:embed="rId5">
            <a:extLst>
              <a:ext uri="{96DAC541-7B7A-43D3-8B79-37D633B846F1}">
                <asvg:svgBlip xmlns:asvg="http://schemas.microsoft.com/office/drawing/2016/SVG/main" r:embed="rId7"/>
              </a:ext>
            </a:extLst>
          </a:blip>
          <a:stretch>
            <a:fillRect/>
          </a:stretch>
        </p:blipFill>
        <p:spPr>
          <a:xfrm>
            <a:off x="1229995" y="3574415"/>
            <a:ext cx="232410" cy="23241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sym typeface="+mn-ea"/>
              </a:rPr>
              <a:t>年度述职</a:t>
            </a:r>
            <a:r>
              <a:rPr lang="en-US" altLang="zh-CN" sz="2500">
                <a:solidFill>
                  <a:schemeClr val="tx2"/>
                </a:solidFill>
                <a:effectLst/>
                <a:latin typeface="微软雅黑" panose="020B0503020204020204" charset="-122"/>
                <a:ea typeface="微软雅黑" panose="020B0503020204020204" charset="-122"/>
                <a:cs typeface="微软雅黑" panose="020B0503020204020204" charset="-122"/>
                <a:sym typeface="+mn-ea"/>
              </a:rPr>
              <a:t>-</a:t>
            </a:r>
            <a:r>
              <a:rPr sz="2500">
                <a:solidFill>
                  <a:schemeClr val="tx2"/>
                </a:solidFill>
                <a:effectLst/>
                <a:latin typeface="微软雅黑" panose="020B0503020204020204" charset="-122"/>
                <a:ea typeface="微软雅黑" panose="020B0503020204020204" charset="-122"/>
                <a:cs typeface="微软雅黑" panose="020B0503020204020204" charset="-122"/>
                <a:sym typeface="+mn-ea"/>
              </a:rPr>
              <a:t>年度工作规划</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nvGrpSpPr>
          <p:cNvPr id="9" name="组合 8"/>
          <p:cNvGrpSpPr/>
          <p:nvPr/>
        </p:nvGrpSpPr>
        <p:grpSpPr>
          <a:xfrm>
            <a:off x="8715375" y="348615"/>
            <a:ext cx="3219450" cy="332740"/>
            <a:chOff x="13761" y="549"/>
            <a:chExt cx="5070" cy="524"/>
          </a:xfrm>
        </p:grpSpPr>
        <p:pic>
          <p:nvPicPr>
            <p:cNvPr id="10" name="图片 9"/>
            <p:cNvPicPr>
              <a:picLocks noChangeAspect="1"/>
            </p:cNvPicPr>
            <p:nvPr userDrawn="1"/>
          </p:nvPicPr>
          <p:blipFill>
            <a:blip r:embed="rId1"/>
            <a:srcRect l="17002" t="-1765" r="56499" b="-1176"/>
            <a:stretch>
              <a:fillRect/>
            </a:stretch>
          </p:blipFill>
          <p:spPr>
            <a:xfrm>
              <a:off x="13761" y="549"/>
              <a:ext cx="1582" cy="525"/>
            </a:xfrm>
            <a:prstGeom prst="rect">
              <a:avLst/>
            </a:prstGeom>
          </p:spPr>
        </p:pic>
        <p:sp>
          <p:nvSpPr>
            <p:cNvPr id="16" name="文本框 15"/>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
        <p:nvSpPr>
          <p:cNvPr id="602" name="矩形: 圆角 12"/>
          <p:cNvSpPr/>
          <p:nvPr/>
        </p:nvSpPr>
        <p:spPr>
          <a:xfrm>
            <a:off x="2051458" y="1158257"/>
            <a:ext cx="9777553" cy="825818"/>
          </a:xfrm>
          <a:prstGeom prst="roundRect">
            <a:avLst>
              <a:gd name="adj" fmla="val 0"/>
            </a:avLst>
          </a:prstGeom>
          <a:solidFill>
            <a:schemeClr val="accent5">
              <a:lumMod val="20000"/>
              <a:lumOff val="80000"/>
              <a:alpha val="50000"/>
            </a:schemeClr>
          </a:solidFill>
          <a:ln w="11430" cap="flat" cmpd="sng" algn="ctr">
            <a:solidFill>
              <a:schemeClr val="accent5">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2F5F6"/>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99" name="矩形: 圆角 37"/>
          <p:cNvSpPr/>
          <p:nvPr/>
        </p:nvSpPr>
        <p:spPr>
          <a:xfrm>
            <a:off x="386703" y="1158252"/>
            <a:ext cx="2089700" cy="825817"/>
          </a:xfrm>
          <a:prstGeom prst="roundRect">
            <a:avLst>
              <a:gd name="adj" fmla="val 0"/>
            </a:avLst>
          </a:prstGeom>
          <a:gradFill>
            <a:gsLst>
              <a:gs pos="0">
                <a:schemeClr val="accent5">
                  <a:lumMod val="60000"/>
                  <a:lumOff val="40000"/>
                </a:schemeClr>
              </a:gs>
              <a:gs pos="100000">
                <a:schemeClr val="accent5"/>
              </a:gs>
            </a:gsLst>
            <a:lin ang="5400000" scaled="0"/>
          </a:gra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dirty="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507" name="矩形 506"/>
          <p:cNvSpPr/>
          <p:nvPr/>
        </p:nvSpPr>
        <p:spPr>
          <a:xfrm>
            <a:off x="958215" y="4485005"/>
            <a:ext cx="10281920" cy="52387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508" name="TextBox 50"/>
          <p:cNvSpPr txBox="1"/>
          <p:nvPr/>
        </p:nvSpPr>
        <p:spPr>
          <a:xfrm>
            <a:off x="4965065" y="4589780"/>
            <a:ext cx="2261870" cy="36957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dirty="0">
                <a:solidFill>
                  <a:schemeClr val="bg1"/>
                </a:solidFill>
                <a:latin typeface="微软雅黑" panose="020B0503020204020204" charset="-122"/>
                <a:ea typeface="微软雅黑" panose="020B0503020204020204" charset="-122"/>
                <a:cs typeface="微软雅黑" panose="020B0503020204020204" charset="-122"/>
              </a:rPr>
              <a:t>中游生产与质量控制</a:t>
            </a:r>
            <a:endParaRPr kumimoji="0" lang="zh-CN" altLang="en-US"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09" name="梯形 508"/>
          <p:cNvSpPr/>
          <p:nvPr/>
        </p:nvSpPr>
        <p:spPr>
          <a:xfrm>
            <a:off x="958215" y="3961130"/>
            <a:ext cx="10281920" cy="523875"/>
          </a:xfrm>
          <a:prstGeom prst="trapezoid">
            <a:avLst>
              <a:gd name="adj" fmla="val 234692"/>
            </a:avLst>
          </a:prstGeom>
          <a:gradFill>
            <a:gsLst>
              <a:gs pos="0">
                <a:schemeClr val="accent1">
                  <a:lumMod val="60000"/>
                  <a:lumOff val="40000"/>
                  <a:alpha val="0"/>
                </a:schemeClr>
              </a:gs>
              <a:gs pos="100000">
                <a:schemeClr val="accent1">
                  <a:lumMod val="60000"/>
                  <a:lumOff val="40000"/>
                  <a:alpha val="50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mn-ea"/>
            </a:endParaRPr>
          </a:p>
        </p:txBody>
      </p:sp>
      <p:grpSp>
        <p:nvGrpSpPr>
          <p:cNvPr id="553" name="组合 552"/>
          <p:cNvGrpSpPr/>
          <p:nvPr/>
        </p:nvGrpSpPr>
        <p:grpSpPr>
          <a:xfrm rot="0">
            <a:off x="1241425" y="3915410"/>
            <a:ext cx="1062990" cy="389890"/>
            <a:chOff x="1146872" y="3922183"/>
            <a:chExt cx="1063071" cy="390133"/>
          </a:xfrm>
        </p:grpSpPr>
        <p:sp>
          <p:nvSpPr>
            <p:cNvPr id="510" name="圆角矩形 509"/>
            <p:cNvSpPr/>
            <p:nvPr/>
          </p:nvSpPr>
          <p:spPr>
            <a:xfrm>
              <a:off x="1146872" y="3922183"/>
              <a:ext cx="1063071" cy="390133"/>
            </a:xfrm>
            <a:prstGeom prst="roundRect">
              <a:avLst>
                <a:gd name="adj" fmla="val 50000"/>
              </a:avLst>
            </a:prstGeom>
            <a:solidFill>
              <a:schemeClr val="bg2"/>
            </a:solidFill>
            <a:ln w="12700" cap="flat" cmpd="sng" algn="ctr">
              <a:solidFill>
                <a:schemeClr val="accent1">
                  <a:lumMod val="60000"/>
                  <a:lumOff val="40000"/>
                  <a:alpha val="5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11" name="文本框 510"/>
            <p:cNvSpPr txBox="1"/>
            <p:nvPr/>
          </p:nvSpPr>
          <p:spPr>
            <a:xfrm>
              <a:off x="1370630" y="4024916"/>
              <a:ext cx="615554"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机械制造</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52" name="组合 551"/>
          <p:cNvGrpSpPr/>
          <p:nvPr/>
        </p:nvGrpSpPr>
        <p:grpSpPr>
          <a:xfrm rot="0">
            <a:off x="2476500" y="3915410"/>
            <a:ext cx="1062990" cy="389890"/>
            <a:chOff x="2366072" y="3922183"/>
            <a:chExt cx="1063071" cy="390133"/>
          </a:xfrm>
        </p:grpSpPr>
        <p:sp>
          <p:nvSpPr>
            <p:cNvPr id="512" name="圆角矩形 511"/>
            <p:cNvSpPr/>
            <p:nvPr/>
          </p:nvSpPr>
          <p:spPr>
            <a:xfrm>
              <a:off x="2366072" y="3922183"/>
              <a:ext cx="1063071" cy="390133"/>
            </a:xfrm>
            <a:prstGeom prst="roundRect">
              <a:avLst>
                <a:gd name="adj" fmla="val 50000"/>
              </a:avLst>
            </a:prstGeom>
            <a:solidFill>
              <a:schemeClr val="bg2"/>
            </a:solidFill>
            <a:ln w="12700" cap="flat" cmpd="sng" algn="ctr">
              <a:solidFill>
                <a:schemeClr val="accent1">
                  <a:lumMod val="60000"/>
                  <a:lumOff val="40000"/>
                  <a:alpha val="5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13" name="文本框 512"/>
            <p:cNvSpPr txBox="1"/>
            <p:nvPr/>
          </p:nvSpPr>
          <p:spPr>
            <a:xfrm>
              <a:off x="2589830" y="4024916"/>
              <a:ext cx="615554"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生产工艺</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51" name="组合 550"/>
          <p:cNvGrpSpPr/>
          <p:nvPr/>
        </p:nvGrpSpPr>
        <p:grpSpPr>
          <a:xfrm rot="0">
            <a:off x="3712210" y="3915410"/>
            <a:ext cx="1062990" cy="389890"/>
            <a:chOff x="3585078" y="3922183"/>
            <a:chExt cx="1063071" cy="390133"/>
          </a:xfrm>
        </p:grpSpPr>
        <p:sp>
          <p:nvSpPr>
            <p:cNvPr id="514" name="圆角矩形 513"/>
            <p:cNvSpPr/>
            <p:nvPr/>
          </p:nvSpPr>
          <p:spPr>
            <a:xfrm>
              <a:off x="3585078" y="3922183"/>
              <a:ext cx="1063071" cy="390133"/>
            </a:xfrm>
            <a:prstGeom prst="roundRect">
              <a:avLst>
                <a:gd name="adj" fmla="val 50000"/>
              </a:avLst>
            </a:prstGeom>
            <a:solidFill>
              <a:schemeClr val="bg2"/>
            </a:solidFill>
            <a:ln w="12700" cap="flat" cmpd="sng" algn="ctr">
              <a:solidFill>
                <a:schemeClr val="accent1">
                  <a:lumMod val="60000"/>
                  <a:lumOff val="40000"/>
                  <a:alpha val="5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15" name="文本框 514"/>
            <p:cNvSpPr txBox="1"/>
            <p:nvPr/>
          </p:nvSpPr>
          <p:spPr>
            <a:xfrm>
              <a:off x="3808836" y="4024916"/>
              <a:ext cx="615553"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质量认证</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50" name="组合 549"/>
          <p:cNvGrpSpPr/>
          <p:nvPr/>
        </p:nvGrpSpPr>
        <p:grpSpPr>
          <a:xfrm rot="0">
            <a:off x="4947285" y="3915410"/>
            <a:ext cx="1062990" cy="389890"/>
            <a:chOff x="4804278" y="3922183"/>
            <a:chExt cx="1063071" cy="390133"/>
          </a:xfrm>
        </p:grpSpPr>
        <p:sp>
          <p:nvSpPr>
            <p:cNvPr id="516" name="圆角矩形 515"/>
            <p:cNvSpPr/>
            <p:nvPr/>
          </p:nvSpPr>
          <p:spPr>
            <a:xfrm>
              <a:off x="4804278" y="3922183"/>
              <a:ext cx="1063071" cy="390133"/>
            </a:xfrm>
            <a:prstGeom prst="roundRect">
              <a:avLst>
                <a:gd name="adj" fmla="val 50000"/>
              </a:avLst>
            </a:prstGeom>
            <a:solidFill>
              <a:schemeClr val="bg2"/>
            </a:solidFill>
            <a:ln w="12700" cap="flat" cmpd="sng" algn="ctr">
              <a:solidFill>
                <a:schemeClr val="accent1">
                  <a:lumMod val="60000"/>
                  <a:lumOff val="40000"/>
                  <a:alpha val="5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17" name="文本框 516"/>
            <p:cNvSpPr txBox="1"/>
            <p:nvPr/>
          </p:nvSpPr>
          <p:spPr>
            <a:xfrm>
              <a:off x="4951093" y="4024916"/>
              <a:ext cx="769441"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半成品加工</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49" name="组合 548"/>
          <p:cNvGrpSpPr/>
          <p:nvPr/>
        </p:nvGrpSpPr>
        <p:grpSpPr>
          <a:xfrm rot="0">
            <a:off x="6182360" y="3915410"/>
            <a:ext cx="1062990" cy="389890"/>
            <a:chOff x="6054977" y="3922183"/>
            <a:chExt cx="1063071" cy="390133"/>
          </a:xfrm>
        </p:grpSpPr>
        <p:sp>
          <p:nvSpPr>
            <p:cNvPr id="518" name="圆角矩形 517"/>
            <p:cNvSpPr/>
            <p:nvPr/>
          </p:nvSpPr>
          <p:spPr>
            <a:xfrm>
              <a:off x="6054977" y="3922183"/>
              <a:ext cx="1063071" cy="390133"/>
            </a:xfrm>
            <a:prstGeom prst="roundRect">
              <a:avLst>
                <a:gd name="adj" fmla="val 50000"/>
              </a:avLst>
            </a:prstGeom>
            <a:solidFill>
              <a:schemeClr val="bg2"/>
            </a:solidFill>
            <a:ln w="12700" cap="flat" cmpd="sng" algn="ctr">
              <a:solidFill>
                <a:schemeClr val="accent1">
                  <a:lumMod val="60000"/>
                  <a:lumOff val="40000"/>
                  <a:alpha val="50000"/>
                </a:schemeClr>
              </a:solidFill>
              <a:prstDash val="solid"/>
              <a:miter lim="800000"/>
            </a:ln>
            <a:effectLst>
              <a:reflection blurRad="6350" stA="19881" endPos="35000" dir="5400000" sy="-100000" algn="bl" rotWithShape="0"/>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1" lang="zh-CN" altLang="en-US" sz="900" b="1" i="0" u="none" strike="noStrike" kern="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19" name="文本框 518"/>
            <p:cNvSpPr txBox="1"/>
            <p:nvPr/>
          </p:nvSpPr>
          <p:spPr>
            <a:xfrm>
              <a:off x="6278735" y="4024916"/>
              <a:ext cx="615554"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在线监测</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48" name="组合 547"/>
          <p:cNvGrpSpPr/>
          <p:nvPr/>
        </p:nvGrpSpPr>
        <p:grpSpPr>
          <a:xfrm rot="0">
            <a:off x="7417435" y="3915410"/>
            <a:ext cx="1062990" cy="389890"/>
            <a:chOff x="7308938" y="3922183"/>
            <a:chExt cx="1063071" cy="390133"/>
          </a:xfrm>
        </p:grpSpPr>
        <p:sp>
          <p:nvSpPr>
            <p:cNvPr id="520" name="圆角矩形 519"/>
            <p:cNvSpPr/>
            <p:nvPr/>
          </p:nvSpPr>
          <p:spPr>
            <a:xfrm>
              <a:off x="7308938" y="3922183"/>
              <a:ext cx="1063071" cy="390133"/>
            </a:xfrm>
            <a:prstGeom prst="roundRect">
              <a:avLst>
                <a:gd name="adj" fmla="val 50000"/>
              </a:avLst>
            </a:prstGeom>
            <a:solidFill>
              <a:schemeClr val="bg2"/>
            </a:solidFill>
            <a:ln w="12700" cap="flat" cmpd="sng" algn="ctr">
              <a:solidFill>
                <a:schemeClr val="accent1">
                  <a:lumMod val="60000"/>
                  <a:lumOff val="40000"/>
                  <a:alpha val="5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21" name="文本框 520"/>
            <p:cNvSpPr txBox="1"/>
            <p:nvPr/>
          </p:nvSpPr>
          <p:spPr>
            <a:xfrm>
              <a:off x="7532696" y="4024916"/>
              <a:ext cx="615554"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生产安全</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47" name="组合 546"/>
          <p:cNvGrpSpPr/>
          <p:nvPr/>
        </p:nvGrpSpPr>
        <p:grpSpPr>
          <a:xfrm rot="0">
            <a:off x="8653145" y="3915410"/>
            <a:ext cx="1062990" cy="389890"/>
            <a:chOff x="8508932" y="3922183"/>
            <a:chExt cx="1063071" cy="390133"/>
          </a:xfrm>
        </p:grpSpPr>
        <p:sp>
          <p:nvSpPr>
            <p:cNvPr id="522" name="圆角矩形 521"/>
            <p:cNvSpPr/>
            <p:nvPr/>
          </p:nvSpPr>
          <p:spPr>
            <a:xfrm>
              <a:off x="8508932" y="3922183"/>
              <a:ext cx="1063071" cy="390133"/>
            </a:xfrm>
            <a:prstGeom prst="roundRect">
              <a:avLst>
                <a:gd name="adj" fmla="val 50000"/>
              </a:avLst>
            </a:prstGeom>
            <a:solidFill>
              <a:schemeClr val="bg2"/>
            </a:solidFill>
            <a:ln w="12700" cap="flat" cmpd="sng" algn="ctr">
              <a:solidFill>
                <a:schemeClr val="accent1">
                  <a:lumMod val="60000"/>
                  <a:lumOff val="40000"/>
                  <a:alpha val="5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23" name="文本框 522"/>
            <p:cNvSpPr txBox="1"/>
            <p:nvPr/>
          </p:nvSpPr>
          <p:spPr>
            <a:xfrm>
              <a:off x="8655747" y="4024916"/>
              <a:ext cx="769441"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生产自动化</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46" name="组合 545"/>
          <p:cNvGrpSpPr/>
          <p:nvPr/>
        </p:nvGrpSpPr>
        <p:grpSpPr>
          <a:xfrm rot="0">
            <a:off x="9888220" y="3915410"/>
            <a:ext cx="1062990" cy="389890"/>
            <a:chOff x="9793446" y="3922183"/>
            <a:chExt cx="1063071" cy="390133"/>
          </a:xfrm>
        </p:grpSpPr>
        <p:sp>
          <p:nvSpPr>
            <p:cNvPr id="524" name="圆角矩形 523"/>
            <p:cNvSpPr/>
            <p:nvPr/>
          </p:nvSpPr>
          <p:spPr>
            <a:xfrm>
              <a:off x="9793446" y="3922183"/>
              <a:ext cx="1063071" cy="390133"/>
            </a:xfrm>
            <a:prstGeom prst="roundRect">
              <a:avLst>
                <a:gd name="adj" fmla="val 50000"/>
              </a:avLst>
            </a:prstGeom>
            <a:solidFill>
              <a:schemeClr val="bg2"/>
            </a:solidFill>
            <a:ln w="12700" cap="flat" cmpd="sng" algn="ctr">
              <a:solidFill>
                <a:schemeClr val="accent1">
                  <a:lumMod val="60000"/>
                  <a:lumOff val="40000"/>
                  <a:alpha val="19706"/>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25" name="文本框 524"/>
            <p:cNvSpPr txBox="1"/>
            <p:nvPr/>
          </p:nvSpPr>
          <p:spPr>
            <a:xfrm>
              <a:off x="10017204" y="4024916"/>
              <a:ext cx="615554"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人员培训</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545" name="TextBox 3"/>
          <p:cNvSpPr txBox="1"/>
          <p:nvPr/>
        </p:nvSpPr>
        <p:spPr>
          <a:xfrm>
            <a:off x="2737442" y="1300240"/>
            <a:ext cx="8731212" cy="540982"/>
          </a:xfrm>
          <a:prstGeom prst="rect">
            <a:avLst/>
          </a:prstGeom>
          <a:noFill/>
        </p:spPr>
        <p:txBody>
          <a:bodyPr wrap="square" rtlCol="0">
            <a:spAutoFit/>
          </a:bodyPr>
          <a:lstStyle/>
          <a:p>
            <a:pPr defTabSz="1827530">
              <a:lnSpc>
                <a:spcPct val="125000"/>
              </a:lnSpc>
              <a:defRPr/>
            </a:pPr>
            <a:r>
              <a:rPr lang="zh-CN" altLang="en-US" sz="1200" spc="-60" dirty="0">
                <a:solidFill>
                  <a:schemeClr val="tx1">
                    <a:alpha val="65000"/>
                  </a:schemeClr>
                </a:solidFill>
                <a:latin typeface="微软雅黑" panose="020B0503020204020204" charset="-122"/>
                <a:ea typeface="微软雅黑" panose="020B0503020204020204" charset="-122"/>
                <a:cs typeface="微软雅黑" panose="020B0503020204020204" charset="-122"/>
              </a:rPr>
              <a:t>通过对上游供应商、中游生产与质量控制以及下游销售与客户服务的全面规划，采购部门将能够更好地服务于公司整体战略，确保采购活动的顺利进行，为公司的发展提供有力支持。同时，与各行业的合作与整合也将为公司带来更多的商业机会和发展空间</a:t>
            </a:r>
            <a:endParaRPr lang="zh-CN" altLang="en-US" sz="1200" spc="-60" dirty="0">
              <a:solidFill>
                <a:schemeClr val="tx1">
                  <a:alpha val="65000"/>
                </a:schemeClr>
              </a:solidFill>
              <a:latin typeface="微软雅黑" panose="020B0503020204020204" charset="-122"/>
              <a:ea typeface="微软雅黑" panose="020B0503020204020204" charset="-122"/>
              <a:cs typeface="微软雅黑" panose="020B0503020204020204" charset="-122"/>
            </a:endParaRPr>
          </a:p>
        </p:txBody>
      </p:sp>
      <p:sp>
        <p:nvSpPr>
          <p:cNvPr id="28" name="矩形 27"/>
          <p:cNvSpPr/>
          <p:nvPr/>
        </p:nvSpPr>
        <p:spPr>
          <a:xfrm>
            <a:off x="368935" y="5987415"/>
            <a:ext cx="11459845" cy="5238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29" name="TextBox 50"/>
          <p:cNvSpPr txBox="1"/>
          <p:nvPr/>
        </p:nvSpPr>
        <p:spPr>
          <a:xfrm>
            <a:off x="4965065" y="6092825"/>
            <a:ext cx="2261870" cy="36957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下游销售与客户服务</a:t>
            </a:r>
            <a:endParaRPr kumimoji="0" lang="zh-CN" altLang="en-US"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0" name="梯形 29"/>
          <p:cNvSpPr/>
          <p:nvPr/>
        </p:nvSpPr>
        <p:spPr>
          <a:xfrm>
            <a:off x="368935" y="5463540"/>
            <a:ext cx="11459845" cy="523875"/>
          </a:xfrm>
          <a:prstGeom prst="trapezoid">
            <a:avLst>
              <a:gd name="adj" fmla="val 234692"/>
            </a:avLst>
          </a:prstGeom>
          <a:gradFill>
            <a:gsLst>
              <a:gs pos="0">
                <a:schemeClr val="accent1">
                  <a:alpha val="0"/>
                </a:schemeClr>
              </a:gs>
              <a:gs pos="100000">
                <a:schemeClr val="accent1">
                  <a:alpha val="50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grpSp>
        <p:nvGrpSpPr>
          <p:cNvPr id="566" name="组合 565"/>
          <p:cNvGrpSpPr/>
          <p:nvPr/>
        </p:nvGrpSpPr>
        <p:grpSpPr>
          <a:xfrm rot="0">
            <a:off x="723265" y="5417820"/>
            <a:ext cx="10745470" cy="389890"/>
            <a:chOff x="730188" y="5460019"/>
            <a:chExt cx="10745308" cy="390133"/>
          </a:xfrm>
        </p:grpSpPr>
        <p:grpSp>
          <p:nvGrpSpPr>
            <p:cNvPr id="555" name="组合 554"/>
            <p:cNvGrpSpPr/>
            <p:nvPr/>
          </p:nvGrpSpPr>
          <p:grpSpPr>
            <a:xfrm>
              <a:off x="730188" y="5460019"/>
              <a:ext cx="1063071" cy="390133"/>
              <a:chOff x="1146872" y="5460019"/>
              <a:chExt cx="1063071" cy="390133"/>
            </a:xfrm>
          </p:grpSpPr>
          <p:sp>
            <p:nvSpPr>
              <p:cNvPr id="486" name="圆角矩形 485"/>
              <p:cNvSpPr/>
              <p:nvPr/>
            </p:nvSpPr>
            <p:spPr>
              <a:xfrm>
                <a:off x="1146872" y="5460019"/>
                <a:ext cx="1063071" cy="390133"/>
              </a:xfrm>
              <a:prstGeom prst="roundRect">
                <a:avLst>
                  <a:gd name="adj" fmla="val 50000"/>
                </a:avLst>
              </a:prstGeom>
              <a:solidFill>
                <a:schemeClr val="bg2"/>
              </a:solidFill>
              <a:ln w="12700" cap="flat" cmpd="sng" algn="ctr">
                <a:solidFill>
                  <a:schemeClr val="accent1">
                    <a:alpha val="5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87" name="文本框 486"/>
              <p:cNvSpPr txBox="1"/>
              <p:nvPr/>
            </p:nvSpPr>
            <p:spPr>
              <a:xfrm>
                <a:off x="1293687" y="5562752"/>
                <a:ext cx="769441"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分销与零售</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56" name="组合 555"/>
            <p:cNvGrpSpPr/>
            <p:nvPr/>
          </p:nvGrpSpPr>
          <p:grpSpPr>
            <a:xfrm>
              <a:off x="1940468" y="5460019"/>
              <a:ext cx="1063071" cy="390133"/>
              <a:chOff x="2366072" y="5460019"/>
              <a:chExt cx="1063071" cy="390133"/>
            </a:xfrm>
          </p:grpSpPr>
          <p:sp>
            <p:nvSpPr>
              <p:cNvPr id="493" name="圆角矩形 492"/>
              <p:cNvSpPr/>
              <p:nvPr/>
            </p:nvSpPr>
            <p:spPr>
              <a:xfrm>
                <a:off x="2366072" y="5460019"/>
                <a:ext cx="1063071" cy="390133"/>
              </a:xfrm>
              <a:prstGeom prst="roundRect">
                <a:avLst>
                  <a:gd name="adj" fmla="val 50000"/>
                </a:avLst>
              </a:prstGeom>
              <a:solidFill>
                <a:schemeClr val="bg2"/>
              </a:solidFill>
              <a:ln w="12700" cap="flat" cmpd="sng" algn="ctr">
                <a:solidFill>
                  <a:schemeClr val="accent1">
                    <a:alpha val="5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94" name="文本框 493"/>
              <p:cNvSpPr txBox="1"/>
              <p:nvPr/>
            </p:nvSpPr>
            <p:spPr>
              <a:xfrm>
                <a:off x="2589830" y="5562752"/>
                <a:ext cx="615554"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电商平台</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57" name="组合 556"/>
            <p:cNvGrpSpPr/>
            <p:nvPr/>
          </p:nvGrpSpPr>
          <p:grpSpPr>
            <a:xfrm>
              <a:off x="3150748" y="5460019"/>
              <a:ext cx="1063071" cy="390133"/>
              <a:chOff x="3585078" y="5460019"/>
              <a:chExt cx="1063071" cy="390133"/>
            </a:xfrm>
          </p:grpSpPr>
          <p:sp>
            <p:nvSpPr>
              <p:cNvPr id="495" name="圆角矩形 494"/>
              <p:cNvSpPr/>
              <p:nvPr/>
            </p:nvSpPr>
            <p:spPr>
              <a:xfrm>
                <a:off x="3585078" y="5460019"/>
                <a:ext cx="1063071" cy="390133"/>
              </a:xfrm>
              <a:prstGeom prst="roundRect">
                <a:avLst>
                  <a:gd name="adj" fmla="val 50000"/>
                </a:avLst>
              </a:prstGeom>
              <a:solidFill>
                <a:schemeClr val="bg2"/>
              </a:solidFill>
              <a:ln w="12700" cap="flat" cmpd="sng" algn="ctr">
                <a:solidFill>
                  <a:schemeClr val="accent1">
                    <a:alpha val="5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96" name="文本框 495"/>
              <p:cNvSpPr txBox="1"/>
              <p:nvPr/>
            </p:nvSpPr>
            <p:spPr>
              <a:xfrm>
                <a:off x="3808836" y="5562752"/>
                <a:ext cx="615554"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广告服务</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58" name="组合 557"/>
            <p:cNvGrpSpPr/>
            <p:nvPr/>
          </p:nvGrpSpPr>
          <p:grpSpPr>
            <a:xfrm>
              <a:off x="4361028" y="5460019"/>
              <a:ext cx="1063071" cy="390133"/>
              <a:chOff x="4804278" y="5460019"/>
              <a:chExt cx="1063071" cy="390133"/>
            </a:xfrm>
          </p:grpSpPr>
          <p:sp>
            <p:nvSpPr>
              <p:cNvPr id="497" name="圆角矩形 496"/>
              <p:cNvSpPr/>
              <p:nvPr/>
            </p:nvSpPr>
            <p:spPr>
              <a:xfrm>
                <a:off x="4804278" y="5460019"/>
                <a:ext cx="1063071" cy="390133"/>
              </a:xfrm>
              <a:prstGeom prst="roundRect">
                <a:avLst>
                  <a:gd name="adj" fmla="val 50000"/>
                </a:avLst>
              </a:prstGeom>
              <a:solidFill>
                <a:schemeClr val="bg2"/>
              </a:solidFill>
              <a:ln w="12700" cap="flat" cmpd="sng" algn="ctr">
                <a:solidFill>
                  <a:schemeClr val="accent1">
                    <a:alpha val="5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98" name="文本框 497"/>
              <p:cNvSpPr txBox="1"/>
              <p:nvPr/>
            </p:nvSpPr>
            <p:spPr>
              <a:xfrm>
                <a:off x="5028036" y="5562752"/>
                <a:ext cx="615554"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市场调研</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59" name="组合 558"/>
            <p:cNvGrpSpPr/>
            <p:nvPr/>
          </p:nvGrpSpPr>
          <p:grpSpPr>
            <a:xfrm>
              <a:off x="5571308" y="5460019"/>
              <a:ext cx="1063071" cy="390133"/>
              <a:chOff x="6054977" y="5460019"/>
              <a:chExt cx="1063071" cy="390133"/>
            </a:xfrm>
          </p:grpSpPr>
          <p:sp>
            <p:nvSpPr>
              <p:cNvPr id="499" name="圆角矩形 498"/>
              <p:cNvSpPr/>
              <p:nvPr/>
            </p:nvSpPr>
            <p:spPr>
              <a:xfrm>
                <a:off x="6054977" y="5460019"/>
                <a:ext cx="1063071" cy="390133"/>
              </a:xfrm>
              <a:prstGeom prst="roundRect">
                <a:avLst>
                  <a:gd name="adj" fmla="val 50000"/>
                </a:avLst>
              </a:prstGeom>
              <a:solidFill>
                <a:schemeClr val="bg2"/>
              </a:solidFill>
              <a:ln w="12700" cap="flat" cmpd="sng" algn="ctr">
                <a:solidFill>
                  <a:schemeClr val="accent1">
                    <a:alpha val="5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00" name="文本框 499"/>
              <p:cNvSpPr txBox="1"/>
              <p:nvPr/>
            </p:nvSpPr>
            <p:spPr>
              <a:xfrm>
                <a:off x="6278735" y="5562752"/>
                <a:ext cx="615554"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客户服务</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60" name="组合 559"/>
            <p:cNvGrpSpPr/>
            <p:nvPr/>
          </p:nvGrpSpPr>
          <p:grpSpPr>
            <a:xfrm>
              <a:off x="6781588" y="5460019"/>
              <a:ext cx="1063071" cy="390133"/>
              <a:chOff x="7308938" y="5460019"/>
              <a:chExt cx="1063071" cy="390133"/>
            </a:xfrm>
          </p:grpSpPr>
          <p:sp>
            <p:nvSpPr>
              <p:cNvPr id="501" name="圆角矩形 500"/>
              <p:cNvSpPr/>
              <p:nvPr/>
            </p:nvSpPr>
            <p:spPr>
              <a:xfrm>
                <a:off x="7308938" y="5460019"/>
                <a:ext cx="1063071" cy="390133"/>
              </a:xfrm>
              <a:prstGeom prst="roundRect">
                <a:avLst>
                  <a:gd name="adj" fmla="val 50000"/>
                </a:avLst>
              </a:prstGeom>
              <a:solidFill>
                <a:schemeClr val="bg2"/>
              </a:solidFill>
              <a:ln w="12700" cap="flat" cmpd="sng" algn="ctr">
                <a:solidFill>
                  <a:schemeClr val="accent1">
                    <a:alpha val="5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02" name="文本框 501"/>
              <p:cNvSpPr txBox="1"/>
              <p:nvPr/>
            </p:nvSpPr>
            <p:spPr>
              <a:xfrm>
                <a:off x="7532696" y="5562752"/>
                <a:ext cx="615554"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渠道管理</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61" name="组合 560"/>
            <p:cNvGrpSpPr/>
            <p:nvPr/>
          </p:nvGrpSpPr>
          <p:grpSpPr>
            <a:xfrm>
              <a:off x="7991868" y="5460019"/>
              <a:ext cx="1063071" cy="390133"/>
              <a:chOff x="8508932" y="5460019"/>
              <a:chExt cx="1063071" cy="390133"/>
            </a:xfrm>
          </p:grpSpPr>
          <p:sp>
            <p:nvSpPr>
              <p:cNvPr id="503" name="圆角矩形 502"/>
              <p:cNvSpPr/>
              <p:nvPr/>
            </p:nvSpPr>
            <p:spPr>
              <a:xfrm>
                <a:off x="8508932" y="5460019"/>
                <a:ext cx="1063071" cy="390133"/>
              </a:xfrm>
              <a:prstGeom prst="roundRect">
                <a:avLst>
                  <a:gd name="adj" fmla="val 50000"/>
                </a:avLst>
              </a:prstGeom>
              <a:solidFill>
                <a:schemeClr val="bg2"/>
              </a:solidFill>
              <a:ln w="12700" cap="flat" cmpd="sng" algn="ctr">
                <a:solidFill>
                  <a:schemeClr val="accent1">
                    <a:alpha val="5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04" name="文本框 503"/>
              <p:cNvSpPr txBox="1"/>
              <p:nvPr/>
            </p:nvSpPr>
            <p:spPr>
              <a:xfrm>
                <a:off x="8732690" y="5562752"/>
                <a:ext cx="615554"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竞争分析</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62" name="组合 561"/>
            <p:cNvGrpSpPr/>
            <p:nvPr/>
          </p:nvGrpSpPr>
          <p:grpSpPr>
            <a:xfrm>
              <a:off x="9202148" y="5460019"/>
              <a:ext cx="1063071" cy="390133"/>
              <a:chOff x="9793446" y="5460019"/>
              <a:chExt cx="1063071" cy="390133"/>
            </a:xfrm>
          </p:grpSpPr>
          <p:sp>
            <p:nvSpPr>
              <p:cNvPr id="505" name="圆角矩形 504"/>
              <p:cNvSpPr/>
              <p:nvPr/>
            </p:nvSpPr>
            <p:spPr>
              <a:xfrm>
                <a:off x="9793446" y="5460019"/>
                <a:ext cx="1063071" cy="390133"/>
              </a:xfrm>
              <a:prstGeom prst="roundRect">
                <a:avLst>
                  <a:gd name="adj" fmla="val 50000"/>
                </a:avLst>
              </a:prstGeom>
              <a:solidFill>
                <a:schemeClr val="bg2"/>
              </a:solidFill>
              <a:ln w="12700" cap="flat" cmpd="sng" algn="ctr">
                <a:solidFill>
                  <a:schemeClr val="accent1">
                    <a:alpha val="5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06" name="文本框 505"/>
              <p:cNvSpPr txBox="1"/>
              <p:nvPr/>
            </p:nvSpPr>
            <p:spPr>
              <a:xfrm>
                <a:off x="10017204" y="5562752"/>
                <a:ext cx="615554"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客户关系</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63" name="组合 562"/>
            <p:cNvGrpSpPr/>
            <p:nvPr/>
          </p:nvGrpSpPr>
          <p:grpSpPr>
            <a:xfrm>
              <a:off x="10412425" y="5460019"/>
              <a:ext cx="1063071" cy="390133"/>
              <a:chOff x="9793446" y="5460019"/>
              <a:chExt cx="1063071" cy="390133"/>
            </a:xfrm>
          </p:grpSpPr>
          <p:sp>
            <p:nvSpPr>
              <p:cNvPr id="564" name="圆角矩形 563"/>
              <p:cNvSpPr/>
              <p:nvPr/>
            </p:nvSpPr>
            <p:spPr>
              <a:xfrm>
                <a:off x="9793446" y="5460019"/>
                <a:ext cx="1063071" cy="390133"/>
              </a:xfrm>
              <a:prstGeom prst="roundRect">
                <a:avLst>
                  <a:gd name="adj" fmla="val 50000"/>
                </a:avLst>
              </a:prstGeom>
              <a:solidFill>
                <a:schemeClr val="bg2"/>
              </a:solidFill>
              <a:ln w="12700" cap="flat" cmpd="sng" algn="ctr">
                <a:solidFill>
                  <a:schemeClr val="accent1">
                    <a:alpha val="5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65" name="文本框 564"/>
              <p:cNvSpPr txBox="1"/>
              <p:nvPr/>
            </p:nvSpPr>
            <p:spPr>
              <a:xfrm>
                <a:off x="10017204" y="5562752"/>
                <a:ext cx="615554"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销售培训</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sp>
        <p:nvSpPr>
          <p:cNvPr id="526" name="矩形 525"/>
          <p:cNvSpPr/>
          <p:nvPr/>
        </p:nvSpPr>
        <p:spPr>
          <a:xfrm>
            <a:off x="1471112" y="2982360"/>
            <a:ext cx="9255952" cy="52401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527" name="TextBox 50"/>
          <p:cNvSpPr txBox="1"/>
          <p:nvPr/>
        </p:nvSpPr>
        <p:spPr>
          <a:xfrm>
            <a:off x="5195760" y="3087516"/>
            <a:ext cx="1800493"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上游供应商管理</a:t>
            </a:r>
            <a:endParaRPr kumimoji="0" lang="zh-CN" altLang="en-US"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28" name="梯形 527"/>
          <p:cNvSpPr/>
          <p:nvPr/>
        </p:nvSpPr>
        <p:spPr>
          <a:xfrm>
            <a:off x="1471112" y="2458337"/>
            <a:ext cx="9255952" cy="524012"/>
          </a:xfrm>
          <a:prstGeom prst="trapezoid">
            <a:avLst>
              <a:gd name="adj" fmla="val 234692"/>
            </a:avLst>
          </a:prstGeom>
          <a:gradFill>
            <a:gsLst>
              <a:gs pos="0">
                <a:schemeClr val="accent1">
                  <a:lumMod val="40000"/>
                  <a:lumOff val="60000"/>
                  <a:alpha val="0"/>
                </a:schemeClr>
              </a:gs>
              <a:gs pos="100000">
                <a:schemeClr val="accent1">
                  <a:lumMod val="40000"/>
                  <a:lumOff val="60000"/>
                  <a:alpha val="50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mn-ea"/>
            </a:endParaRPr>
          </a:p>
        </p:txBody>
      </p:sp>
      <p:grpSp>
        <p:nvGrpSpPr>
          <p:cNvPr id="572" name="组合 571"/>
          <p:cNvGrpSpPr/>
          <p:nvPr/>
        </p:nvGrpSpPr>
        <p:grpSpPr>
          <a:xfrm>
            <a:off x="1931573" y="2354877"/>
            <a:ext cx="1063071" cy="390133"/>
            <a:chOff x="1834536" y="2354877"/>
            <a:chExt cx="1063071" cy="390133"/>
          </a:xfrm>
        </p:grpSpPr>
        <p:sp>
          <p:nvSpPr>
            <p:cNvPr id="531" name="圆角矩形 530"/>
            <p:cNvSpPr/>
            <p:nvPr/>
          </p:nvSpPr>
          <p:spPr>
            <a:xfrm>
              <a:off x="1834536" y="2354877"/>
              <a:ext cx="1063071" cy="390133"/>
            </a:xfrm>
            <a:prstGeom prst="roundRect">
              <a:avLst>
                <a:gd name="adj" fmla="val 50000"/>
              </a:avLst>
            </a:prstGeom>
            <a:solidFill>
              <a:schemeClr val="bg2"/>
            </a:solidFill>
            <a:ln w="12700" cap="flat" cmpd="sng" algn="ctr">
              <a:solidFill>
                <a:schemeClr val="accent1">
                  <a:lumMod val="20000"/>
                  <a:lumOff val="8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32" name="文本框 531"/>
            <p:cNvSpPr txBox="1"/>
            <p:nvPr/>
          </p:nvSpPr>
          <p:spPr>
            <a:xfrm>
              <a:off x="1981351" y="2457610"/>
              <a:ext cx="769441"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原材料供应</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71" name="组合 570"/>
          <p:cNvGrpSpPr/>
          <p:nvPr/>
        </p:nvGrpSpPr>
        <p:grpSpPr>
          <a:xfrm>
            <a:off x="3142537" y="2354877"/>
            <a:ext cx="1063071" cy="390133"/>
            <a:chOff x="3053542" y="2354877"/>
            <a:chExt cx="1063071" cy="390133"/>
          </a:xfrm>
        </p:grpSpPr>
        <p:sp>
          <p:nvSpPr>
            <p:cNvPr id="533" name="圆角矩形 532"/>
            <p:cNvSpPr/>
            <p:nvPr/>
          </p:nvSpPr>
          <p:spPr>
            <a:xfrm>
              <a:off x="3053542" y="2354877"/>
              <a:ext cx="1063071" cy="390133"/>
            </a:xfrm>
            <a:prstGeom prst="roundRect">
              <a:avLst>
                <a:gd name="adj" fmla="val 50000"/>
              </a:avLst>
            </a:prstGeom>
            <a:solidFill>
              <a:schemeClr val="bg2"/>
            </a:solidFill>
            <a:ln w="12700" cap="flat" cmpd="sng" algn="ctr">
              <a:solidFill>
                <a:schemeClr val="accent1">
                  <a:lumMod val="20000"/>
                  <a:lumOff val="8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34" name="文本框 533"/>
            <p:cNvSpPr txBox="1"/>
            <p:nvPr/>
          </p:nvSpPr>
          <p:spPr>
            <a:xfrm>
              <a:off x="3200356" y="2457610"/>
              <a:ext cx="769441"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零部件组件</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70" name="组合 569"/>
          <p:cNvGrpSpPr/>
          <p:nvPr/>
        </p:nvGrpSpPr>
        <p:grpSpPr>
          <a:xfrm>
            <a:off x="4353501" y="2354877"/>
            <a:ext cx="1063071" cy="390133"/>
            <a:chOff x="4272742" y="2354877"/>
            <a:chExt cx="1063071" cy="390133"/>
          </a:xfrm>
        </p:grpSpPr>
        <p:sp>
          <p:nvSpPr>
            <p:cNvPr id="535" name="圆角矩形 534"/>
            <p:cNvSpPr/>
            <p:nvPr/>
          </p:nvSpPr>
          <p:spPr>
            <a:xfrm>
              <a:off x="4272742" y="2354877"/>
              <a:ext cx="1063071" cy="390133"/>
            </a:xfrm>
            <a:prstGeom prst="roundRect">
              <a:avLst>
                <a:gd name="adj" fmla="val 50000"/>
              </a:avLst>
            </a:prstGeom>
            <a:solidFill>
              <a:schemeClr val="bg2"/>
            </a:solidFill>
            <a:ln w="12700" cap="flat" cmpd="sng" algn="ctr">
              <a:solidFill>
                <a:schemeClr val="accent1">
                  <a:lumMod val="20000"/>
                  <a:lumOff val="8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36" name="文本框 535"/>
            <p:cNvSpPr txBox="1"/>
            <p:nvPr/>
          </p:nvSpPr>
          <p:spPr>
            <a:xfrm>
              <a:off x="4496500" y="2457610"/>
              <a:ext cx="615554"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包装材料</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68" name="组合 567"/>
          <p:cNvGrpSpPr/>
          <p:nvPr/>
        </p:nvGrpSpPr>
        <p:grpSpPr>
          <a:xfrm>
            <a:off x="5564465" y="2354877"/>
            <a:ext cx="1063071" cy="390133"/>
            <a:chOff x="5523441" y="2354877"/>
            <a:chExt cx="1063071" cy="390133"/>
          </a:xfrm>
        </p:grpSpPr>
        <p:sp>
          <p:nvSpPr>
            <p:cNvPr id="537" name="圆角矩形 536"/>
            <p:cNvSpPr/>
            <p:nvPr/>
          </p:nvSpPr>
          <p:spPr>
            <a:xfrm>
              <a:off x="5523441" y="2354877"/>
              <a:ext cx="1063071" cy="390133"/>
            </a:xfrm>
            <a:prstGeom prst="roundRect">
              <a:avLst>
                <a:gd name="adj" fmla="val 50000"/>
              </a:avLst>
            </a:prstGeom>
            <a:solidFill>
              <a:schemeClr val="bg2"/>
            </a:solidFill>
            <a:ln w="12700" cap="flat" cmpd="sng" algn="ctr">
              <a:solidFill>
                <a:schemeClr val="accent1">
                  <a:lumMod val="20000"/>
                  <a:lumOff val="8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38" name="文本框 537"/>
            <p:cNvSpPr txBox="1"/>
            <p:nvPr/>
          </p:nvSpPr>
          <p:spPr>
            <a:xfrm>
              <a:off x="5747199" y="2457610"/>
              <a:ext cx="615554"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物流服务</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69" name="组合 568"/>
          <p:cNvGrpSpPr/>
          <p:nvPr/>
        </p:nvGrpSpPr>
        <p:grpSpPr>
          <a:xfrm>
            <a:off x="6775429" y="2354877"/>
            <a:ext cx="1063071" cy="390133"/>
            <a:chOff x="6777402" y="2354877"/>
            <a:chExt cx="1063071" cy="390133"/>
          </a:xfrm>
        </p:grpSpPr>
        <p:sp>
          <p:nvSpPr>
            <p:cNvPr id="539" name="圆角矩形 538"/>
            <p:cNvSpPr/>
            <p:nvPr/>
          </p:nvSpPr>
          <p:spPr>
            <a:xfrm>
              <a:off x="6777402" y="2354877"/>
              <a:ext cx="1063071" cy="390133"/>
            </a:xfrm>
            <a:prstGeom prst="roundRect">
              <a:avLst>
                <a:gd name="adj" fmla="val 50000"/>
              </a:avLst>
            </a:prstGeom>
            <a:solidFill>
              <a:schemeClr val="bg2"/>
            </a:solidFill>
            <a:ln w="12700" cap="flat" cmpd="sng" algn="ctr">
              <a:solidFill>
                <a:schemeClr val="accent1">
                  <a:lumMod val="20000"/>
                  <a:lumOff val="8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40" name="文本框 539"/>
            <p:cNvSpPr txBox="1"/>
            <p:nvPr/>
          </p:nvSpPr>
          <p:spPr>
            <a:xfrm>
              <a:off x="7001160" y="2457610"/>
              <a:ext cx="615554"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技术研发</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67" name="组合 566"/>
          <p:cNvGrpSpPr/>
          <p:nvPr/>
        </p:nvGrpSpPr>
        <p:grpSpPr>
          <a:xfrm>
            <a:off x="7986393" y="2354877"/>
            <a:ext cx="1063071" cy="390133"/>
            <a:chOff x="7977396" y="2354877"/>
            <a:chExt cx="1063071" cy="390133"/>
          </a:xfrm>
        </p:grpSpPr>
        <p:sp>
          <p:nvSpPr>
            <p:cNvPr id="541" name="圆角矩形 540"/>
            <p:cNvSpPr/>
            <p:nvPr/>
          </p:nvSpPr>
          <p:spPr>
            <a:xfrm>
              <a:off x="7977396" y="2354877"/>
              <a:ext cx="1063071" cy="390133"/>
            </a:xfrm>
            <a:prstGeom prst="roundRect">
              <a:avLst>
                <a:gd name="adj" fmla="val 50000"/>
              </a:avLst>
            </a:prstGeom>
            <a:solidFill>
              <a:schemeClr val="bg2"/>
            </a:solidFill>
            <a:ln w="12700" cap="flat" cmpd="sng" algn="ctr">
              <a:solidFill>
                <a:schemeClr val="accent1">
                  <a:lumMod val="20000"/>
                  <a:lumOff val="8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42" name="文本框 541"/>
            <p:cNvSpPr txBox="1"/>
            <p:nvPr/>
          </p:nvSpPr>
          <p:spPr>
            <a:xfrm>
              <a:off x="8201154" y="2457610"/>
              <a:ext cx="615554"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能源供应</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573" name="组合 572"/>
          <p:cNvGrpSpPr/>
          <p:nvPr/>
        </p:nvGrpSpPr>
        <p:grpSpPr>
          <a:xfrm>
            <a:off x="9197357" y="2354877"/>
            <a:ext cx="1063071" cy="390133"/>
            <a:chOff x="7977396" y="2354877"/>
            <a:chExt cx="1063071" cy="390133"/>
          </a:xfrm>
        </p:grpSpPr>
        <p:sp>
          <p:nvSpPr>
            <p:cNvPr id="574" name="圆角矩形 573"/>
            <p:cNvSpPr/>
            <p:nvPr/>
          </p:nvSpPr>
          <p:spPr>
            <a:xfrm>
              <a:off x="7977396" y="2354877"/>
              <a:ext cx="1063071" cy="390133"/>
            </a:xfrm>
            <a:prstGeom prst="roundRect">
              <a:avLst>
                <a:gd name="adj" fmla="val 50000"/>
              </a:avLst>
            </a:prstGeom>
            <a:solidFill>
              <a:schemeClr val="bg2"/>
            </a:solidFill>
            <a:ln w="12700" cap="flat" cmpd="sng" algn="ctr">
              <a:solidFill>
                <a:schemeClr val="accent1">
                  <a:lumMod val="20000"/>
                  <a:lumOff val="80000"/>
                </a:schemeClr>
              </a:solidFill>
              <a:prstDash val="solid"/>
              <a:miter lim="800000"/>
            </a:ln>
            <a:effectLst>
              <a:reflection blurRad="6350" stA="19881" endPos="35000" dir="5400000" sy="-100000" algn="bl" rotWithShape="0"/>
            </a:effectLst>
          </p:spPr>
          <p:txBody>
            <a:bodyPr rtlCol="0" anchor="ctr"/>
            <a:lstStyle/>
            <a:p>
              <a:pPr algn="ctr" defTabSz="456565"/>
              <a:endParaRPr kumimoji="1" lang="zh-CN" altLang="en-US" sz="900" b="1"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75" name="文本框 574"/>
            <p:cNvSpPr txBox="1"/>
            <p:nvPr/>
          </p:nvSpPr>
          <p:spPr>
            <a:xfrm>
              <a:off x="8201154" y="2457610"/>
              <a:ext cx="615554"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金融服务</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598" name="文本框 597"/>
          <p:cNvSpPr txBox="1"/>
          <p:nvPr/>
        </p:nvSpPr>
        <p:spPr>
          <a:xfrm>
            <a:off x="1211900" y="1249391"/>
            <a:ext cx="1151481" cy="292100"/>
          </a:xfrm>
          <a:prstGeom prst="rect">
            <a:avLst/>
          </a:prstGeom>
          <a:noFill/>
          <a:effectLst/>
        </p:spPr>
        <p:txBody>
          <a:bodyPr wrap="square" lIns="73474" tIns="36737" rIns="73474" bIns="36737"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100" b="1" i="0" u="none" strike="noStrike" kern="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采购金额</a:t>
            </a:r>
            <a:endParaRPr kumimoji="0" lang="zh-CN" altLang="en-US" sz="1100" b="1" i="0" u="none" strike="noStrike" kern="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00" name="文本框 599"/>
          <p:cNvSpPr txBox="1"/>
          <p:nvPr/>
        </p:nvSpPr>
        <p:spPr>
          <a:xfrm>
            <a:off x="1211900" y="1453148"/>
            <a:ext cx="1053467" cy="411271"/>
          </a:xfrm>
          <a:prstGeom prst="rect">
            <a:avLst/>
          </a:prstGeom>
          <a:noFill/>
          <a:effectLst/>
        </p:spPr>
        <p:txBody>
          <a:bodyPr wrap="square" lIns="73474" tIns="36737" rIns="73474" bIns="36737"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939,29</a:t>
            </a:r>
            <a:endParaRPr kumimoji="0" lang="en-US" altLang="zh-CN" sz="1800" b="0" i="0" u="none" strike="noStrike" kern="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01" name="Freeform 680"/>
          <p:cNvSpPr/>
          <p:nvPr/>
        </p:nvSpPr>
        <p:spPr>
          <a:xfrm>
            <a:off x="693213" y="1351694"/>
            <a:ext cx="407026" cy="435634"/>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7737" y="0"/>
                  <a:pt x="5249" y="2556"/>
                  <a:pt x="5249" y="5705"/>
                </a:cubicBezTo>
                <a:cubicBezTo>
                  <a:pt x="5250" y="8853"/>
                  <a:pt x="7737" y="11409"/>
                  <a:pt x="10800" y="11409"/>
                </a:cubicBezTo>
                <a:cubicBezTo>
                  <a:pt x="13863" y="11409"/>
                  <a:pt x="16332" y="8853"/>
                  <a:pt x="16332" y="5705"/>
                </a:cubicBezTo>
                <a:cubicBezTo>
                  <a:pt x="16332" y="2556"/>
                  <a:pt x="13863" y="0"/>
                  <a:pt x="10800" y="0"/>
                </a:cubicBezTo>
                <a:close/>
                <a:moveTo>
                  <a:pt x="7300" y="12898"/>
                </a:moveTo>
                <a:cubicBezTo>
                  <a:pt x="3371" y="12898"/>
                  <a:pt x="134" y="14771"/>
                  <a:pt x="0" y="17094"/>
                </a:cubicBezTo>
                <a:lnTo>
                  <a:pt x="0" y="21600"/>
                </a:lnTo>
                <a:lnTo>
                  <a:pt x="8655" y="21600"/>
                </a:lnTo>
                <a:lnTo>
                  <a:pt x="9916" y="17694"/>
                </a:lnTo>
                <a:lnTo>
                  <a:pt x="8166" y="15006"/>
                </a:lnTo>
                <a:lnTo>
                  <a:pt x="13415" y="15006"/>
                </a:lnTo>
                <a:lnTo>
                  <a:pt x="11666" y="17694"/>
                </a:lnTo>
                <a:lnTo>
                  <a:pt x="12926" y="21600"/>
                </a:lnTo>
                <a:lnTo>
                  <a:pt x="21600" y="21600"/>
                </a:lnTo>
                <a:lnTo>
                  <a:pt x="21581" y="17094"/>
                </a:lnTo>
                <a:cubicBezTo>
                  <a:pt x="21447" y="14771"/>
                  <a:pt x="18229" y="12898"/>
                  <a:pt x="14300" y="12898"/>
                </a:cubicBezTo>
                <a:lnTo>
                  <a:pt x="7300" y="12898"/>
                </a:lnTo>
                <a:close/>
              </a:path>
            </a:pathLst>
          </a:custGeom>
          <a:solidFill>
            <a:srgbClr val="F7F5F6"/>
          </a:solidFill>
          <a:ln w="12700">
            <a:miter lim="400000"/>
          </a:ln>
        </p:spPr>
        <p:txBody>
          <a:bodyPr lIns="45719" rIns="45719" anchor="ctr"/>
          <a:lstStyle/>
          <a:p>
            <a:pPr marL="0" marR="0" lvl="0" indent="0" algn="l" defTabSz="914400" rtl="0" eaLnBrk="1" fontAlgn="auto" latinLnBrk="0" hangingPunct="1">
              <a:lnSpc>
                <a:spcPct val="100000"/>
              </a:lnSpc>
              <a:spcBef>
                <a:spcPts val="0"/>
              </a:spcBef>
              <a:spcAft>
                <a:spcPts val="0"/>
              </a:spcAft>
              <a:buClrTx/>
              <a:buSzTx/>
              <a:buFontTx/>
              <a:buNone/>
              <a:defRPr sz="1800">
                <a:noFill/>
                <a:latin typeface="Calibri" panose="020F0502020204030204"/>
                <a:ea typeface="Calibri" panose="020F0502020204030204"/>
                <a:cs typeface="Calibri" panose="020F0502020204030204"/>
                <a:sym typeface="Calibri" panose="020F0502020204030204"/>
              </a:defRPr>
            </a:pPr>
            <a:endParaRPr kumimoji="0" sz="1800" b="0" i="0" u="none" strike="noStrike" kern="0" cap="none" spc="0" normalizeH="0" baseline="0" noProof="0">
              <a:ln>
                <a:noFill/>
              </a:ln>
              <a:no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58" name="图片 57" descr="屋顶资源管理"/>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5600" y="186055"/>
            <a:ext cx="549910" cy="54991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汽车行业客户增长策略</a:t>
            </a:r>
            <a:endParaRPr lang="en-US" altLang="zh-CN" sz="250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4" name="梯形 3"/>
          <p:cNvSpPr/>
          <p:nvPr/>
        </p:nvSpPr>
        <p:spPr>
          <a:xfrm>
            <a:off x="1683385" y="5186680"/>
            <a:ext cx="8488680" cy="1392555"/>
          </a:xfrm>
          <a:prstGeom prst="trapezoid">
            <a:avLst>
              <a:gd name="adj" fmla="val 55319"/>
            </a:avLst>
          </a:prstGeom>
          <a:solidFill>
            <a:schemeClr val="accent1">
              <a:lumMod val="20000"/>
              <a:lumOff val="80000"/>
              <a:alpha val="10000"/>
            </a:schemeClr>
          </a:solidFill>
          <a:ln>
            <a:solidFill>
              <a:schemeClr val="accent1">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grpSp>
        <p:nvGrpSpPr>
          <p:cNvPr id="8" name="组合 7"/>
          <p:cNvGrpSpPr/>
          <p:nvPr/>
        </p:nvGrpSpPr>
        <p:grpSpPr>
          <a:xfrm>
            <a:off x="2522855" y="5278120"/>
            <a:ext cx="1542415" cy="781050"/>
            <a:chOff x="3733" y="8152"/>
            <a:chExt cx="2429" cy="1230"/>
          </a:xfrm>
        </p:grpSpPr>
        <p:sp>
          <p:nvSpPr>
            <p:cNvPr id="47" name="矩形 46"/>
            <p:cNvSpPr/>
            <p:nvPr/>
          </p:nvSpPr>
          <p:spPr>
            <a:xfrm>
              <a:off x="3740" y="8516"/>
              <a:ext cx="2409" cy="866"/>
            </a:xfrm>
            <a:prstGeom prst="rect">
              <a:avLst/>
            </a:prstGeom>
            <a:solidFill>
              <a:schemeClr val="accent1">
                <a:lumMod val="20000"/>
                <a:lumOff val="80000"/>
                <a:alpha val="10000"/>
              </a:schemeClr>
            </a:solidFill>
            <a:ln>
              <a:solidFill>
                <a:schemeClr val="accent1">
                  <a:lumMod val="75000"/>
                  <a:alpha val="2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8" name="矩形 47"/>
            <p:cNvSpPr/>
            <p:nvPr/>
          </p:nvSpPr>
          <p:spPr>
            <a:xfrm>
              <a:off x="3733" y="8152"/>
              <a:ext cx="2429" cy="364"/>
            </a:xfrm>
            <a:prstGeom prst="rect">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cs typeface="微软雅黑" panose="020B0503020204020204" charset="-122"/>
                </a:rPr>
                <a:t>在线购车</a:t>
              </a:r>
              <a:endParaRPr lang="zh-CN" altLang="en-US" sz="1200" b="1">
                <a:cs typeface="微软雅黑" panose="020B0503020204020204" charset="-122"/>
              </a:endParaRPr>
            </a:p>
          </p:txBody>
        </p:sp>
      </p:grpSp>
      <p:grpSp>
        <p:nvGrpSpPr>
          <p:cNvPr id="9" name="组合 8"/>
          <p:cNvGrpSpPr/>
          <p:nvPr/>
        </p:nvGrpSpPr>
        <p:grpSpPr>
          <a:xfrm>
            <a:off x="4283710" y="5278120"/>
            <a:ext cx="1536700" cy="781050"/>
            <a:chOff x="3739" y="8152"/>
            <a:chExt cx="2420" cy="1230"/>
          </a:xfrm>
        </p:grpSpPr>
        <p:sp>
          <p:nvSpPr>
            <p:cNvPr id="11" name="矩形 10"/>
            <p:cNvSpPr/>
            <p:nvPr/>
          </p:nvSpPr>
          <p:spPr>
            <a:xfrm>
              <a:off x="3740" y="8516"/>
              <a:ext cx="2409" cy="866"/>
            </a:xfrm>
            <a:prstGeom prst="rect">
              <a:avLst/>
            </a:prstGeom>
            <a:solidFill>
              <a:schemeClr val="accent1">
                <a:lumMod val="20000"/>
                <a:lumOff val="80000"/>
                <a:alpha val="10000"/>
              </a:schemeClr>
            </a:solidFill>
            <a:ln>
              <a:solidFill>
                <a:schemeClr val="accent1">
                  <a:lumMod val="75000"/>
                  <a:alpha val="2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2" name="矩形 11"/>
            <p:cNvSpPr/>
            <p:nvPr/>
          </p:nvSpPr>
          <p:spPr>
            <a:xfrm>
              <a:off x="3739" y="8152"/>
              <a:ext cx="2420" cy="364"/>
            </a:xfrm>
            <a:prstGeom prst="rect">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cs typeface="微软雅黑" panose="020B0503020204020204" charset="-122"/>
                </a:rPr>
                <a:t>智能展厅</a:t>
              </a:r>
              <a:endParaRPr lang="zh-CN" altLang="en-US" sz="1200" b="1">
                <a:cs typeface="微软雅黑" panose="020B0503020204020204" charset="-122"/>
              </a:endParaRPr>
            </a:p>
          </p:txBody>
        </p:sp>
      </p:grpSp>
      <p:grpSp>
        <p:nvGrpSpPr>
          <p:cNvPr id="13" name="组合 12"/>
          <p:cNvGrpSpPr/>
          <p:nvPr/>
        </p:nvGrpSpPr>
        <p:grpSpPr>
          <a:xfrm>
            <a:off x="6038215" y="5278120"/>
            <a:ext cx="1539240" cy="781050"/>
            <a:chOff x="3735" y="8152"/>
            <a:chExt cx="2424" cy="1230"/>
          </a:xfrm>
        </p:grpSpPr>
        <p:sp>
          <p:nvSpPr>
            <p:cNvPr id="14" name="矩形 13"/>
            <p:cNvSpPr/>
            <p:nvPr/>
          </p:nvSpPr>
          <p:spPr>
            <a:xfrm>
              <a:off x="3740" y="8516"/>
              <a:ext cx="2409" cy="866"/>
            </a:xfrm>
            <a:prstGeom prst="rect">
              <a:avLst/>
            </a:prstGeom>
            <a:solidFill>
              <a:schemeClr val="accent1">
                <a:lumMod val="20000"/>
                <a:lumOff val="80000"/>
                <a:alpha val="10000"/>
              </a:schemeClr>
            </a:solidFill>
            <a:ln>
              <a:solidFill>
                <a:schemeClr val="accent1">
                  <a:lumMod val="75000"/>
                  <a:alpha val="2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5" name="矩形 14"/>
            <p:cNvSpPr/>
            <p:nvPr/>
          </p:nvSpPr>
          <p:spPr>
            <a:xfrm>
              <a:off x="3735" y="8152"/>
              <a:ext cx="2424" cy="364"/>
            </a:xfrm>
            <a:prstGeom prst="rect">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cs typeface="微软雅黑" panose="020B0503020204020204" charset="-122"/>
                </a:rPr>
                <a:t>精准营销</a:t>
              </a:r>
              <a:endParaRPr lang="zh-CN" altLang="en-US" sz="1200" b="1">
                <a:cs typeface="微软雅黑" panose="020B0503020204020204" charset="-122"/>
              </a:endParaRPr>
            </a:p>
          </p:txBody>
        </p:sp>
      </p:grpSp>
      <p:grpSp>
        <p:nvGrpSpPr>
          <p:cNvPr id="16" name="组合 15"/>
          <p:cNvGrpSpPr/>
          <p:nvPr/>
        </p:nvGrpSpPr>
        <p:grpSpPr>
          <a:xfrm>
            <a:off x="7798435" y="5278120"/>
            <a:ext cx="1529080" cy="781050"/>
            <a:chOff x="3740" y="8152"/>
            <a:chExt cx="2408" cy="1230"/>
          </a:xfrm>
        </p:grpSpPr>
        <p:sp>
          <p:nvSpPr>
            <p:cNvPr id="17" name="矩形 16"/>
            <p:cNvSpPr/>
            <p:nvPr/>
          </p:nvSpPr>
          <p:spPr>
            <a:xfrm>
              <a:off x="3740" y="8516"/>
              <a:ext cx="2409" cy="866"/>
            </a:xfrm>
            <a:prstGeom prst="rect">
              <a:avLst/>
            </a:prstGeom>
            <a:solidFill>
              <a:schemeClr val="accent1">
                <a:lumMod val="20000"/>
                <a:lumOff val="80000"/>
                <a:alpha val="10000"/>
              </a:schemeClr>
            </a:solidFill>
            <a:ln>
              <a:solidFill>
                <a:schemeClr val="accent1">
                  <a:lumMod val="75000"/>
                  <a:alpha val="2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8" name="矩形 17"/>
            <p:cNvSpPr/>
            <p:nvPr/>
          </p:nvSpPr>
          <p:spPr>
            <a:xfrm>
              <a:off x="3740" y="8152"/>
              <a:ext cx="2409" cy="364"/>
            </a:xfrm>
            <a:prstGeom prst="rect">
              <a:avLst/>
            </a:prstGeom>
            <a:solidFill>
              <a:schemeClr val="accent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cs typeface="微软雅黑" panose="020B0503020204020204" charset="-122"/>
                </a:rPr>
                <a:t>智能售后</a:t>
              </a:r>
              <a:endParaRPr lang="zh-CN" altLang="en-US" sz="1200" b="1">
                <a:cs typeface="微软雅黑" panose="020B0503020204020204" charset="-122"/>
              </a:endParaRPr>
            </a:p>
          </p:txBody>
        </p:sp>
      </p:grpSp>
      <p:sp>
        <p:nvSpPr>
          <p:cNvPr id="19" name="矩形 18"/>
          <p:cNvSpPr/>
          <p:nvPr/>
        </p:nvSpPr>
        <p:spPr>
          <a:xfrm>
            <a:off x="3784600" y="6177280"/>
            <a:ext cx="2082800" cy="2933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cs typeface="微软雅黑" panose="020B0503020204020204" charset="-122"/>
              </a:rPr>
              <a:t>业务中台</a:t>
            </a:r>
            <a:endParaRPr lang="zh-CN" altLang="en-US" sz="1400" b="1">
              <a:cs typeface="微软雅黑" panose="020B0503020204020204" charset="-122"/>
            </a:endParaRPr>
          </a:p>
        </p:txBody>
      </p:sp>
      <p:grpSp>
        <p:nvGrpSpPr>
          <p:cNvPr id="21" name="组合 20"/>
          <p:cNvGrpSpPr/>
          <p:nvPr/>
        </p:nvGrpSpPr>
        <p:grpSpPr>
          <a:xfrm>
            <a:off x="2768600" y="4175760"/>
            <a:ext cx="6342380" cy="914400"/>
            <a:chOff x="3740" y="7942"/>
            <a:chExt cx="2409" cy="1440"/>
          </a:xfrm>
        </p:grpSpPr>
        <p:sp>
          <p:nvSpPr>
            <p:cNvPr id="22" name="矩形 21"/>
            <p:cNvSpPr/>
            <p:nvPr/>
          </p:nvSpPr>
          <p:spPr>
            <a:xfrm>
              <a:off x="3740" y="8516"/>
              <a:ext cx="2409" cy="866"/>
            </a:xfrm>
            <a:prstGeom prst="rect">
              <a:avLst/>
            </a:prstGeom>
            <a:solidFill>
              <a:schemeClr val="accent1">
                <a:lumMod val="60000"/>
                <a:lumOff val="40000"/>
                <a:alpha val="10000"/>
              </a:schemeClr>
            </a:solidFill>
            <a:ln>
              <a:solidFill>
                <a:schemeClr val="accent1">
                  <a:lumMod val="60000"/>
                  <a:lumOff val="40000"/>
                  <a:alpha val="2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3" name="矩形 22"/>
            <p:cNvSpPr/>
            <p:nvPr/>
          </p:nvSpPr>
          <p:spPr>
            <a:xfrm>
              <a:off x="3740" y="7942"/>
              <a:ext cx="2409" cy="574"/>
            </a:xfrm>
            <a:prstGeom prst="rect">
              <a:avLst/>
            </a:prstGeom>
            <a:solidFill>
              <a:schemeClr val="accent1">
                <a:lumMod val="60000"/>
                <a:lumOff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cs typeface="微软雅黑" panose="020B0503020204020204" charset="-122"/>
                </a:rPr>
                <a:t>客户全生命周期运营</a:t>
              </a:r>
              <a:endParaRPr lang="zh-CN" altLang="en-US" sz="1400" b="1">
                <a:cs typeface="微软雅黑" panose="020B0503020204020204" charset="-122"/>
              </a:endParaRPr>
            </a:p>
          </p:txBody>
        </p:sp>
      </p:grpSp>
      <p:grpSp>
        <p:nvGrpSpPr>
          <p:cNvPr id="24" name="组合 23"/>
          <p:cNvGrpSpPr/>
          <p:nvPr/>
        </p:nvGrpSpPr>
        <p:grpSpPr>
          <a:xfrm>
            <a:off x="2324100" y="1300480"/>
            <a:ext cx="2336165" cy="2628265"/>
            <a:chOff x="3740" y="8092"/>
            <a:chExt cx="2409" cy="4139"/>
          </a:xfrm>
        </p:grpSpPr>
        <p:sp>
          <p:nvSpPr>
            <p:cNvPr id="25" name="矩形 24"/>
            <p:cNvSpPr/>
            <p:nvPr/>
          </p:nvSpPr>
          <p:spPr>
            <a:xfrm>
              <a:off x="3740" y="8516"/>
              <a:ext cx="2409" cy="3715"/>
            </a:xfrm>
            <a:prstGeom prst="rect">
              <a:avLst/>
            </a:prstGeom>
            <a:solidFill>
              <a:schemeClr val="accent5">
                <a:alpha val="10000"/>
              </a:schemeClr>
            </a:solidFill>
            <a:ln>
              <a:solidFill>
                <a:schemeClr val="accent5">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6" name="矩形 25"/>
            <p:cNvSpPr/>
            <p:nvPr/>
          </p:nvSpPr>
          <p:spPr>
            <a:xfrm>
              <a:off x="3740" y="8092"/>
              <a:ext cx="2409" cy="728"/>
            </a:xfrm>
            <a:prstGeom prst="rect">
              <a:avLst/>
            </a:prstGeom>
            <a:gradFill>
              <a:gsLst>
                <a:gs pos="0">
                  <a:schemeClr val="accent5">
                    <a:lumMod val="60000"/>
                    <a:lumOff val="40000"/>
                  </a:schemeClr>
                </a:gs>
                <a:gs pos="100000">
                  <a:schemeClr val="accent5"/>
                </a:gs>
              </a:gsLst>
              <a:lin ang="0" scaled="0"/>
            </a:gra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sp>
        <p:nvSpPr>
          <p:cNvPr id="30" name="矩形 29"/>
          <p:cNvSpPr/>
          <p:nvPr/>
        </p:nvSpPr>
        <p:spPr>
          <a:xfrm>
            <a:off x="5187950" y="2022475"/>
            <a:ext cx="1431925" cy="1419225"/>
          </a:xfrm>
          <a:prstGeom prst="rect">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1" name="等腰三角形 30"/>
          <p:cNvSpPr/>
          <p:nvPr/>
        </p:nvSpPr>
        <p:spPr>
          <a:xfrm rot="16200000">
            <a:off x="4720590" y="2686685"/>
            <a:ext cx="378460" cy="165735"/>
          </a:xfrm>
          <a:prstGeom prst="triangl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2" name="等腰三角形 31"/>
          <p:cNvSpPr/>
          <p:nvPr/>
        </p:nvSpPr>
        <p:spPr>
          <a:xfrm rot="5400000" flipH="1">
            <a:off x="6708140" y="2641600"/>
            <a:ext cx="378460" cy="165735"/>
          </a:xfrm>
          <a:prstGeom prst="triangle">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cxnSp>
        <p:nvCxnSpPr>
          <p:cNvPr id="33" name="肘形连接符 32"/>
          <p:cNvCxnSpPr>
            <a:stCxn id="27" idx="2"/>
            <a:endCxn id="22" idx="1"/>
          </p:cNvCxnSpPr>
          <p:nvPr/>
        </p:nvCxnSpPr>
        <p:spPr>
          <a:xfrm rot="10800000" flipH="1" flipV="1">
            <a:off x="2273300" y="2142490"/>
            <a:ext cx="495300" cy="2672715"/>
          </a:xfrm>
          <a:prstGeom prst="bentConnector3">
            <a:avLst>
              <a:gd name="adj1" fmla="val -141666"/>
            </a:avLst>
          </a:prstGeom>
          <a:ln>
            <a:solidFill>
              <a:schemeClr val="accent5"/>
            </a:solidFill>
            <a:headEnd type="triangle" w="lg" len="med"/>
          </a:ln>
        </p:spPr>
        <p:style>
          <a:lnRef idx="2">
            <a:schemeClr val="accent1"/>
          </a:lnRef>
          <a:fillRef idx="0">
            <a:srgbClr val="FFFFFF"/>
          </a:fillRef>
          <a:effectRef idx="0">
            <a:srgbClr val="FFFFFF"/>
          </a:effectRef>
          <a:fontRef idx="minor">
            <a:schemeClr val="tx1"/>
          </a:fontRef>
        </p:style>
      </p:cxnSp>
      <p:sp>
        <p:nvSpPr>
          <p:cNvPr id="34" name="矩形 33"/>
          <p:cNvSpPr/>
          <p:nvPr/>
        </p:nvSpPr>
        <p:spPr>
          <a:xfrm>
            <a:off x="6092190" y="6177280"/>
            <a:ext cx="2082800" cy="2933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cs typeface="微软雅黑" panose="020B0503020204020204" charset="-122"/>
              </a:rPr>
              <a:t>数据中台</a:t>
            </a:r>
            <a:endParaRPr lang="zh-CN" altLang="en-US" sz="1400" b="1">
              <a:cs typeface="微软雅黑" panose="020B0503020204020204" charset="-122"/>
            </a:endParaRPr>
          </a:p>
        </p:txBody>
      </p:sp>
      <p:sp>
        <p:nvSpPr>
          <p:cNvPr id="36" name="文本框 35"/>
          <p:cNvSpPr txBox="1"/>
          <p:nvPr/>
        </p:nvSpPr>
        <p:spPr>
          <a:xfrm>
            <a:off x="2534920" y="5769610"/>
            <a:ext cx="550545" cy="198755"/>
          </a:xfrm>
          <a:prstGeom prst="rect">
            <a:avLst/>
          </a:prstGeom>
          <a:noFill/>
        </p:spPr>
        <p:txBody>
          <a:bodyPr wrap="square" rtlCol="0">
            <a:spAutoFit/>
          </a:bodyPr>
          <a:p>
            <a:pPr algn="ctr"/>
            <a:r>
              <a:rPr lang="zh-CN" altLang="en-US" sz="700">
                <a:latin typeface="微软雅黑" panose="020B0503020204020204" charset="-122"/>
                <a:ea typeface="微软雅黑" panose="020B0503020204020204" charset="-122"/>
                <a:cs typeface="微软雅黑" panose="020B0503020204020204" charset="-122"/>
              </a:rPr>
              <a:t>官网购车</a:t>
            </a:r>
            <a:endParaRPr lang="zh-CN" altLang="en-US" sz="700">
              <a:latin typeface="微软雅黑" panose="020B0503020204020204" charset="-122"/>
              <a:ea typeface="微软雅黑" panose="020B0503020204020204" charset="-122"/>
              <a:cs typeface="微软雅黑" panose="020B0503020204020204" charset="-122"/>
            </a:endParaRPr>
          </a:p>
        </p:txBody>
      </p:sp>
      <p:sp>
        <p:nvSpPr>
          <p:cNvPr id="37" name="文本框 36"/>
          <p:cNvSpPr txBox="1"/>
          <p:nvPr/>
        </p:nvSpPr>
        <p:spPr>
          <a:xfrm>
            <a:off x="2901315" y="5769610"/>
            <a:ext cx="760730" cy="198755"/>
          </a:xfrm>
          <a:prstGeom prst="rect">
            <a:avLst/>
          </a:prstGeom>
          <a:noFill/>
        </p:spPr>
        <p:txBody>
          <a:bodyPr wrap="square" rtlCol="0">
            <a:spAutoFit/>
          </a:bodyPr>
          <a:p>
            <a:pPr algn="ctr"/>
            <a:r>
              <a:rPr lang="zh-CN" altLang="en-US" sz="700">
                <a:latin typeface="微软雅黑" panose="020B0503020204020204" charset="-122"/>
                <a:ea typeface="微软雅黑" panose="020B0503020204020204" charset="-122"/>
                <a:cs typeface="微软雅黑" panose="020B0503020204020204" charset="-122"/>
              </a:rPr>
              <a:t>虚拟试驾</a:t>
            </a:r>
            <a:endParaRPr lang="zh-CN" altLang="en-US" sz="700">
              <a:latin typeface="微软雅黑" panose="020B0503020204020204" charset="-122"/>
              <a:ea typeface="微软雅黑" panose="020B0503020204020204" charset="-122"/>
              <a:cs typeface="微软雅黑" panose="020B0503020204020204" charset="-122"/>
            </a:endParaRPr>
          </a:p>
        </p:txBody>
      </p:sp>
      <p:sp>
        <p:nvSpPr>
          <p:cNvPr id="38" name="文本框 37"/>
          <p:cNvSpPr txBox="1"/>
          <p:nvPr/>
        </p:nvSpPr>
        <p:spPr>
          <a:xfrm>
            <a:off x="3449955" y="5769610"/>
            <a:ext cx="544830" cy="198755"/>
          </a:xfrm>
          <a:prstGeom prst="rect">
            <a:avLst/>
          </a:prstGeom>
          <a:noFill/>
        </p:spPr>
        <p:txBody>
          <a:bodyPr wrap="square" rtlCol="0">
            <a:spAutoFit/>
          </a:bodyPr>
          <a:p>
            <a:pPr algn="ctr"/>
            <a:r>
              <a:rPr lang="zh-CN" altLang="en-US" sz="700">
                <a:latin typeface="微软雅黑" panose="020B0503020204020204" charset="-122"/>
                <a:ea typeface="微软雅黑" panose="020B0503020204020204" charset="-122"/>
                <a:cs typeface="微软雅黑" panose="020B0503020204020204" charset="-122"/>
              </a:rPr>
              <a:t>个性配置</a:t>
            </a:r>
            <a:endParaRPr lang="zh-CN" altLang="en-US" sz="700">
              <a:latin typeface="微软雅黑" panose="020B0503020204020204" charset="-122"/>
              <a:ea typeface="微软雅黑" panose="020B0503020204020204" charset="-122"/>
              <a:cs typeface="微软雅黑" panose="020B0503020204020204" charset="-122"/>
            </a:endParaRPr>
          </a:p>
        </p:txBody>
      </p:sp>
      <p:pic>
        <p:nvPicPr>
          <p:cNvPr id="39" name="图片 38" descr="个性配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657700" y="5587365"/>
            <a:ext cx="196215" cy="168275"/>
          </a:xfrm>
          <a:prstGeom prst="rect">
            <a:avLst/>
          </a:prstGeom>
        </p:spPr>
      </p:pic>
      <p:pic>
        <p:nvPicPr>
          <p:cNvPr id="40" name="图片 39" descr="试驾"/>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02405" y="5574715"/>
            <a:ext cx="173990" cy="173990"/>
          </a:xfrm>
          <a:prstGeom prst="rect">
            <a:avLst/>
          </a:prstGeom>
        </p:spPr>
      </p:pic>
      <p:pic>
        <p:nvPicPr>
          <p:cNvPr id="41" name="图片 40" descr="买车"/>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05100" y="5553710"/>
            <a:ext cx="216000" cy="216000"/>
          </a:xfrm>
          <a:prstGeom prst="rect">
            <a:avLst/>
          </a:prstGeom>
        </p:spPr>
      </p:pic>
      <p:sp>
        <p:nvSpPr>
          <p:cNvPr id="42" name="文本框 41"/>
          <p:cNvSpPr txBox="1"/>
          <p:nvPr/>
        </p:nvSpPr>
        <p:spPr>
          <a:xfrm>
            <a:off x="4283710" y="5783580"/>
            <a:ext cx="599440" cy="198755"/>
          </a:xfrm>
          <a:prstGeom prst="rect">
            <a:avLst/>
          </a:prstGeom>
          <a:noFill/>
        </p:spPr>
        <p:txBody>
          <a:bodyPr wrap="square" rtlCol="0">
            <a:spAutoFit/>
          </a:bodyPr>
          <a:p>
            <a:pPr algn="ctr"/>
            <a:r>
              <a:rPr lang="zh-CN" altLang="en-US" sz="700">
                <a:latin typeface="微软雅黑" panose="020B0503020204020204" charset="-122"/>
                <a:ea typeface="微软雅黑" panose="020B0503020204020204" charset="-122"/>
                <a:cs typeface="微软雅黑" panose="020B0503020204020204" charset="-122"/>
                <a:sym typeface="+mn-ea"/>
              </a:rPr>
              <a:t>全景展厅</a:t>
            </a:r>
            <a:endParaRPr lang="zh-CN" altLang="en-US" sz="700">
              <a:latin typeface="微软雅黑" panose="020B0503020204020204" charset="-122"/>
              <a:ea typeface="微软雅黑" panose="020B0503020204020204" charset="-122"/>
              <a:cs typeface="微软雅黑" panose="020B0503020204020204" charset="-122"/>
            </a:endParaRPr>
          </a:p>
        </p:txBody>
      </p:sp>
      <p:sp>
        <p:nvSpPr>
          <p:cNvPr id="43" name="文本框 42"/>
          <p:cNvSpPr txBox="1"/>
          <p:nvPr/>
        </p:nvSpPr>
        <p:spPr>
          <a:xfrm>
            <a:off x="4685665" y="5783580"/>
            <a:ext cx="760730" cy="198755"/>
          </a:xfrm>
          <a:prstGeom prst="rect">
            <a:avLst/>
          </a:prstGeom>
          <a:noFill/>
        </p:spPr>
        <p:txBody>
          <a:bodyPr wrap="square" rtlCol="0">
            <a:spAutoFit/>
          </a:bodyPr>
          <a:p>
            <a:pPr algn="ctr"/>
            <a:r>
              <a:rPr lang="zh-CN" altLang="en-US" sz="700">
                <a:latin typeface="微软雅黑" panose="020B0503020204020204" charset="-122"/>
                <a:ea typeface="微软雅黑" panose="020B0503020204020204" charset="-122"/>
                <a:cs typeface="微软雅黑" panose="020B0503020204020204" charset="-122"/>
              </a:rPr>
              <a:t>智能讲解</a:t>
            </a:r>
            <a:endParaRPr lang="zh-CN" altLang="en-US" sz="700">
              <a:latin typeface="微软雅黑" panose="020B0503020204020204" charset="-122"/>
              <a:ea typeface="微软雅黑" panose="020B0503020204020204" charset="-122"/>
              <a:cs typeface="微软雅黑" panose="020B0503020204020204" charset="-122"/>
            </a:endParaRPr>
          </a:p>
        </p:txBody>
      </p:sp>
      <p:sp>
        <p:nvSpPr>
          <p:cNvPr id="44" name="文本框 43"/>
          <p:cNvSpPr txBox="1"/>
          <p:nvPr/>
        </p:nvSpPr>
        <p:spPr>
          <a:xfrm>
            <a:off x="5234305" y="5783580"/>
            <a:ext cx="544830" cy="198755"/>
          </a:xfrm>
          <a:prstGeom prst="rect">
            <a:avLst/>
          </a:prstGeom>
          <a:noFill/>
        </p:spPr>
        <p:txBody>
          <a:bodyPr wrap="square" rtlCol="0">
            <a:spAutoFit/>
          </a:bodyPr>
          <a:p>
            <a:pPr algn="ctr"/>
            <a:r>
              <a:rPr lang="en-US" altLang="zh-CN" sz="700">
                <a:latin typeface="微软雅黑" panose="020B0503020204020204" charset="-122"/>
                <a:ea typeface="微软雅黑" panose="020B0503020204020204" charset="-122"/>
                <a:cs typeface="微软雅黑" panose="020B0503020204020204" charset="-122"/>
              </a:rPr>
              <a:t>VR</a:t>
            </a:r>
            <a:r>
              <a:rPr lang="zh-CN" altLang="en-US" sz="700">
                <a:latin typeface="微软雅黑" panose="020B0503020204020204" charset="-122"/>
                <a:ea typeface="微软雅黑" panose="020B0503020204020204" charset="-122"/>
                <a:cs typeface="微软雅黑" panose="020B0503020204020204" charset="-122"/>
              </a:rPr>
              <a:t>配置</a:t>
            </a:r>
            <a:endParaRPr lang="zh-CN" altLang="en-US" sz="700">
              <a:latin typeface="微软雅黑" panose="020B0503020204020204" charset="-122"/>
              <a:ea typeface="微软雅黑" panose="020B0503020204020204" charset="-122"/>
              <a:cs typeface="微软雅黑" panose="020B0503020204020204" charset="-122"/>
            </a:endParaRPr>
          </a:p>
        </p:txBody>
      </p:sp>
      <p:pic>
        <p:nvPicPr>
          <p:cNvPr id="50" name="图片 49" descr="全景展厅"/>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71670" y="5552073"/>
            <a:ext cx="216000" cy="216000"/>
          </a:xfrm>
          <a:prstGeom prst="rect">
            <a:avLst/>
          </a:prstGeom>
        </p:spPr>
      </p:pic>
      <p:pic>
        <p:nvPicPr>
          <p:cNvPr id="51" name="图片 50" descr="icon-train"/>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956175" y="5564505"/>
            <a:ext cx="191135" cy="191135"/>
          </a:xfrm>
          <a:prstGeom prst="rect">
            <a:avLst/>
          </a:prstGeom>
        </p:spPr>
      </p:pic>
      <p:pic>
        <p:nvPicPr>
          <p:cNvPr id="52" name="图片 51" descr="V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397500" y="5562600"/>
            <a:ext cx="194945" cy="194945"/>
          </a:xfrm>
          <a:prstGeom prst="rect">
            <a:avLst/>
          </a:prstGeom>
        </p:spPr>
      </p:pic>
      <p:sp>
        <p:nvSpPr>
          <p:cNvPr id="53" name="文本框 52"/>
          <p:cNvSpPr txBox="1"/>
          <p:nvPr/>
        </p:nvSpPr>
        <p:spPr>
          <a:xfrm>
            <a:off x="6074410" y="5799455"/>
            <a:ext cx="599440" cy="198755"/>
          </a:xfrm>
          <a:prstGeom prst="rect">
            <a:avLst/>
          </a:prstGeom>
          <a:noFill/>
        </p:spPr>
        <p:txBody>
          <a:bodyPr wrap="square" rtlCol="0">
            <a:spAutoFit/>
          </a:bodyPr>
          <a:p>
            <a:pPr algn="ctr"/>
            <a:r>
              <a:rPr lang="zh-CN" altLang="en-US" sz="700">
                <a:latin typeface="微软雅黑" panose="020B0503020204020204" charset="-122"/>
                <a:ea typeface="微软雅黑" panose="020B0503020204020204" charset="-122"/>
                <a:cs typeface="微软雅黑" panose="020B0503020204020204" charset="-122"/>
                <a:sym typeface="+mn-ea"/>
              </a:rPr>
              <a:t>数据融合</a:t>
            </a:r>
            <a:endParaRPr lang="zh-CN" altLang="en-US" sz="700">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6476365" y="5799455"/>
            <a:ext cx="760730" cy="198755"/>
          </a:xfrm>
          <a:prstGeom prst="rect">
            <a:avLst/>
          </a:prstGeom>
          <a:noFill/>
        </p:spPr>
        <p:txBody>
          <a:bodyPr wrap="square" rtlCol="0">
            <a:spAutoFit/>
          </a:bodyPr>
          <a:p>
            <a:pPr algn="ctr"/>
            <a:r>
              <a:rPr lang="zh-CN" altLang="en-US" sz="700">
                <a:latin typeface="微软雅黑" panose="020B0503020204020204" charset="-122"/>
                <a:ea typeface="微软雅黑" panose="020B0503020204020204" charset="-122"/>
                <a:cs typeface="微软雅黑" panose="020B0503020204020204" charset="-122"/>
              </a:rPr>
              <a:t>精准渠道</a:t>
            </a:r>
            <a:endParaRPr lang="zh-CN" altLang="en-US" sz="700">
              <a:latin typeface="微软雅黑" panose="020B0503020204020204" charset="-122"/>
              <a:ea typeface="微软雅黑" panose="020B0503020204020204" charset="-122"/>
              <a:cs typeface="微软雅黑" panose="020B0503020204020204" charset="-122"/>
            </a:endParaRPr>
          </a:p>
        </p:txBody>
      </p:sp>
      <p:sp>
        <p:nvSpPr>
          <p:cNvPr id="55" name="文本框 54"/>
          <p:cNvSpPr txBox="1"/>
          <p:nvPr/>
        </p:nvSpPr>
        <p:spPr>
          <a:xfrm>
            <a:off x="7025005" y="5799455"/>
            <a:ext cx="544830" cy="198755"/>
          </a:xfrm>
          <a:prstGeom prst="rect">
            <a:avLst/>
          </a:prstGeom>
          <a:noFill/>
        </p:spPr>
        <p:txBody>
          <a:bodyPr wrap="square" rtlCol="0">
            <a:spAutoFit/>
          </a:bodyPr>
          <a:p>
            <a:pPr algn="ctr"/>
            <a:r>
              <a:rPr lang="zh-CN" sz="700">
                <a:latin typeface="微软雅黑" panose="020B0503020204020204" charset="-122"/>
                <a:ea typeface="微软雅黑" panose="020B0503020204020204" charset="-122"/>
                <a:cs typeface="微软雅黑" panose="020B0503020204020204" charset="-122"/>
              </a:rPr>
              <a:t>智能营销</a:t>
            </a:r>
            <a:endParaRPr lang="zh-CN" sz="700">
              <a:latin typeface="微软雅黑" panose="020B0503020204020204" charset="-122"/>
              <a:ea typeface="微软雅黑" panose="020B0503020204020204" charset="-122"/>
              <a:cs typeface="微软雅黑" panose="020B0503020204020204" charset="-122"/>
            </a:endParaRPr>
          </a:p>
        </p:txBody>
      </p:sp>
      <p:pic>
        <p:nvPicPr>
          <p:cNvPr id="59" name="图片 58" descr="数据融合-01"/>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266180" y="5556885"/>
            <a:ext cx="216000" cy="216000"/>
          </a:xfrm>
          <a:prstGeom prst="rect">
            <a:avLst/>
          </a:prstGeom>
        </p:spPr>
      </p:pic>
      <p:pic>
        <p:nvPicPr>
          <p:cNvPr id="62" name="图片 61" descr="map"/>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694805" y="5556885"/>
            <a:ext cx="226800" cy="216000"/>
          </a:xfrm>
          <a:prstGeom prst="rect">
            <a:avLst/>
          </a:prstGeom>
        </p:spPr>
      </p:pic>
      <p:pic>
        <p:nvPicPr>
          <p:cNvPr id="63" name="图片 62" descr="智能营销 (1)"/>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144385" y="5556885"/>
            <a:ext cx="216000" cy="216000"/>
          </a:xfrm>
          <a:prstGeom prst="rect">
            <a:avLst/>
          </a:prstGeom>
        </p:spPr>
      </p:pic>
      <p:sp>
        <p:nvSpPr>
          <p:cNvPr id="65" name="文本框 64"/>
          <p:cNvSpPr txBox="1"/>
          <p:nvPr/>
        </p:nvSpPr>
        <p:spPr>
          <a:xfrm>
            <a:off x="7862570" y="5835015"/>
            <a:ext cx="599440" cy="198755"/>
          </a:xfrm>
          <a:prstGeom prst="rect">
            <a:avLst/>
          </a:prstGeom>
          <a:noFill/>
        </p:spPr>
        <p:txBody>
          <a:bodyPr wrap="square" rtlCol="0">
            <a:spAutoFit/>
          </a:bodyPr>
          <a:p>
            <a:pPr algn="ctr"/>
            <a:r>
              <a:rPr lang="zh-CN" altLang="en-US" sz="700">
                <a:latin typeface="微软雅黑" panose="020B0503020204020204" charset="-122"/>
                <a:ea typeface="微软雅黑" panose="020B0503020204020204" charset="-122"/>
                <a:cs typeface="微软雅黑" panose="020B0503020204020204" charset="-122"/>
                <a:sym typeface="+mn-ea"/>
              </a:rPr>
              <a:t>智能客服</a:t>
            </a:r>
            <a:endParaRPr lang="zh-CN" altLang="en-US" sz="700">
              <a:latin typeface="微软雅黑" panose="020B0503020204020204" charset="-122"/>
              <a:ea typeface="微软雅黑" panose="020B0503020204020204" charset="-122"/>
              <a:cs typeface="微软雅黑" panose="020B0503020204020204" charset="-122"/>
              <a:sym typeface="+mn-ea"/>
            </a:endParaRPr>
          </a:p>
        </p:txBody>
      </p:sp>
      <p:sp>
        <p:nvSpPr>
          <p:cNvPr id="66" name="文本框 65"/>
          <p:cNvSpPr txBox="1"/>
          <p:nvPr/>
        </p:nvSpPr>
        <p:spPr>
          <a:xfrm>
            <a:off x="8242300" y="5835015"/>
            <a:ext cx="760730" cy="198755"/>
          </a:xfrm>
          <a:prstGeom prst="rect">
            <a:avLst/>
          </a:prstGeom>
          <a:noFill/>
        </p:spPr>
        <p:txBody>
          <a:bodyPr wrap="square" rtlCol="0">
            <a:spAutoFit/>
          </a:bodyPr>
          <a:p>
            <a:pPr algn="ctr"/>
            <a:r>
              <a:rPr lang="zh-CN" altLang="en-US" sz="700">
                <a:latin typeface="微软雅黑" panose="020B0503020204020204" charset="-122"/>
                <a:ea typeface="微软雅黑" panose="020B0503020204020204" charset="-122"/>
                <a:cs typeface="微软雅黑" panose="020B0503020204020204" charset="-122"/>
              </a:rPr>
              <a:t>远程诊断</a:t>
            </a:r>
            <a:endParaRPr lang="zh-CN" altLang="en-US" sz="700">
              <a:latin typeface="微软雅黑" panose="020B0503020204020204" charset="-122"/>
              <a:ea typeface="微软雅黑" panose="020B0503020204020204" charset="-122"/>
              <a:cs typeface="微软雅黑" panose="020B0503020204020204" charset="-122"/>
            </a:endParaRPr>
          </a:p>
        </p:txBody>
      </p:sp>
      <p:sp>
        <p:nvSpPr>
          <p:cNvPr id="67" name="文本框 66"/>
          <p:cNvSpPr txBox="1"/>
          <p:nvPr/>
        </p:nvSpPr>
        <p:spPr>
          <a:xfrm>
            <a:off x="8783320" y="5835015"/>
            <a:ext cx="544830" cy="198755"/>
          </a:xfrm>
          <a:prstGeom prst="rect">
            <a:avLst/>
          </a:prstGeom>
          <a:noFill/>
        </p:spPr>
        <p:txBody>
          <a:bodyPr wrap="square" rtlCol="0">
            <a:spAutoFit/>
          </a:bodyPr>
          <a:p>
            <a:pPr algn="ctr"/>
            <a:r>
              <a:rPr lang="zh-CN" sz="700">
                <a:latin typeface="微软雅黑" panose="020B0503020204020204" charset="-122"/>
                <a:ea typeface="微软雅黑" panose="020B0503020204020204" charset="-122"/>
                <a:cs typeface="微软雅黑" panose="020B0503020204020204" charset="-122"/>
              </a:rPr>
              <a:t>车联网</a:t>
            </a:r>
            <a:endParaRPr lang="zh-CN" sz="700">
              <a:latin typeface="微软雅黑" panose="020B0503020204020204" charset="-122"/>
              <a:ea typeface="微软雅黑" panose="020B0503020204020204" charset="-122"/>
              <a:cs typeface="微软雅黑" panose="020B0503020204020204" charset="-122"/>
            </a:endParaRPr>
          </a:p>
        </p:txBody>
      </p:sp>
      <p:pic>
        <p:nvPicPr>
          <p:cNvPr id="71" name="图片 70" descr="车联网"/>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947785" y="5587365"/>
            <a:ext cx="216000" cy="216000"/>
          </a:xfrm>
          <a:prstGeom prst="rect">
            <a:avLst/>
          </a:prstGeom>
        </p:spPr>
      </p:pic>
      <p:pic>
        <p:nvPicPr>
          <p:cNvPr id="72" name="图片 71" descr="智能客服"/>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8026400" y="5574665"/>
            <a:ext cx="216000" cy="216000"/>
          </a:xfrm>
          <a:prstGeom prst="rect">
            <a:avLst/>
          </a:prstGeom>
        </p:spPr>
      </p:pic>
      <p:pic>
        <p:nvPicPr>
          <p:cNvPr id="73" name="图片 72" descr="故障诊断分析"/>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8494395" y="5587365"/>
            <a:ext cx="255960" cy="216000"/>
          </a:xfrm>
          <a:prstGeom prst="rect">
            <a:avLst/>
          </a:prstGeom>
        </p:spPr>
      </p:pic>
      <p:sp>
        <p:nvSpPr>
          <p:cNvPr id="74" name="矩形 73"/>
          <p:cNvSpPr/>
          <p:nvPr/>
        </p:nvSpPr>
        <p:spPr>
          <a:xfrm>
            <a:off x="2946400" y="4656455"/>
            <a:ext cx="838200" cy="317500"/>
          </a:xfrm>
          <a:prstGeom prst="rect">
            <a:avLst/>
          </a:prstGeom>
          <a:solidFill>
            <a:schemeClr val="bg1">
              <a:alpha val="2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5" name="矩形 74"/>
          <p:cNvSpPr/>
          <p:nvPr/>
        </p:nvSpPr>
        <p:spPr>
          <a:xfrm>
            <a:off x="5011420" y="4656455"/>
            <a:ext cx="838200" cy="317500"/>
          </a:xfrm>
          <a:prstGeom prst="rect">
            <a:avLst/>
          </a:prstGeom>
          <a:solidFill>
            <a:schemeClr val="bg1">
              <a:alpha val="2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6" name="矩形 75"/>
          <p:cNvSpPr/>
          <p:nvPr/>
        </p:nvSpPr>
        <p:spPr>
          <a:xfrm>
            <a:off x="6043930" y="4656455"/>
            <a:ext cx="838200" cy="317500"/>
          </a:xfrm>
          <a:prstGeom prst="rect">
            <a:avLst/>
          </a:prstGeom>
          <a:solidFill>
            <a:schemeClr val="bg1">
              <a:alpha val="2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7" name="矩形 76"/>
          <p:cNvSpPr/>
          <p:nvPr/>
        </p:nvSpPr>
        <p:spPr>
          <a:xfrm>
            <a:off x="3978910" y="4656455"/>
            <a:ext cx="838200" cy="317500"/>
          </a:xfrm>
          <a:prstGeom prst="rect">
            <a:avLst/>
          </a:prstGeom>
          <a:solidFill>
            <a:schemeClr val="bg1">
              <a:alpha val="2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8" name="矩形 77"/>
          <p:cNvSpPr/>
          <p:nvPr/>
        </p:nvSpPr>
        <p:spPr>
          <a:xfrm>
            <a:off x="7076440" y="4656455"/>
            <a:ext cx="838200" cy="317500"/>
          </a:xfrm>
          <a:prstGeom prst="rect">
            <a:avLst/>
          </a:prstGeom>
          <a:solidFill>
            <a:schemeClr val="bg1">
              <a:alpha val="2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9" name="矩形 78"/>
          <p:cNvSpPr/>
          <p:nvPr/>
        </p:nvSpPr>
        <p:spPr>
          <a:xfrm>
            <a:off x="8108950" y="4656455"/>
            <a:ext cx="838200" cy="317500"/>
          </a:xfrm>
          <a:prstGeom prst="rect">
            <a:avLst/>
          </a:prstGeom>
          <a:solidFill>
            <a:schemeClr val="bg1">
              <a:alpha val="2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0" name="文本框 79"/>
          <p:cNvSpPr txBox="1"/>
          <p:nvPr/>
        </p:nvSpPr>
        <p:spPr>
          <a:xfrm>
            <a:off x="2941955" y="4702810"/>
            <a:ext cx="907415" cy="194310"/>
          </a:xfrm>
          <a:prstGeom prst="rect">
            <a:avLst/>
          </a:prstGeom>
          <a:noFill/>
        </p:spPr>
        <p:txBody>
          <a:bodyPr wrap="square" rtlCol="0">
            <a:no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潜客画像</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1" name="文本框 80"/>
          <p:cNvSpPr txBox="1"/>
          <p:nvPr/>
        </p:nvSpPr>
        <p:spPr>
          <a:xfrm>
            <a:off x="5003165" y="4702810"/>
            <a:ext cx="907415" cy="194310"/>
          </a:xfrm>
          <a:prstGeom prst="rect">
            <a:avLst/>
          </a:prstGeom>
          <a:noFill/>
        </p:spPr>
        <p:txBody>
          <a:bodyPr wrap="square" rtlCol="0">
            <a:no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购车决策</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2" name="文本框 81"/>
          <p:cNvSpPr txBox="1"/>
          <p:nvPr/>
        </p:nvSpPr>
        <p:spPr>
          <a:xfrm>
            <a:off x="3972560" y="4702810"/>
            <a:ext cx="907415" cy="194310"/>
          </a:xfrm>
          <a:prstGeom prst="rect">
            <a:avLst/>
          </a:prstGeom>
          <a:noFill/>
        </p:spPr>
        <p:txBody>
          <a:bodyPr wrap="square" rtlCol="0">
            <a:no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留资转化</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3" name="文本框 82"/>
          <p:cNvSpPr txBox="1"/>
          <p:nvPr/>
        </p:nvSpPr>
        <p:spPr>
          <a:xfrm>
            <a:off x="6033770" y="4702810"/>
            <a:ext cx="907415" cy="194310"/>
          </a:xfrm>
          <a:prstGeom prst="rect">
            <a:avLst/>
          </a:prstGeom>
          <a:noFill/>
        </p:spPr>
        <p:txBody>
          <a:bodyPr wrap="square" rtlCol="0">
            <a:no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首保体验</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4" name="文本框 83"/>
          <p:cNvSpPr txBox="1"/>
          <p:nvPr/>
        </p:nvSpPr>
        <p:spPr>
          <a:xfrm>
            <a:off x="7064375" y="4702810"/>
            <a:ext cx="907415" cy="194310"/>
          </a:xfrm>
          <a:prstGeom prst="rect">
            <a:avLst/>
          </a:prstGeom>
          <a:noFill/>
        </p:spPr>
        <p:txBody>
          <a:bodyPr wrap="square" rtlCol="0">
            <a:no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全服务触点</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5" name="文本框 84"/>
          <p:cNvSpPr txBox="1"/>
          <p:nvPr/>
        </p:nvSpPr>
        <p:spPr>
          <a:xfrm>
            <a:off x="8094980" y="4702810"/>
            <a:ext cx="907415" cy="194310"/>
          </a:xfrm>
          <a:prstGeom prst="rect">
            <a:avLst/>
          </a:prstGeom>
          <a:noFill/>
        </p:spPr>
        <p:txBody>
          <a:bodyPr wrap="square" rtlCol="0">
            <a:no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流失预警</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6" name="文本框 85"/>
          <p:cNvSpPr txBox="1"/>
          <p:nvPr/>
        </p:nvSpPr>
        <p:spPr>
          <a:xfrm>
            <a:off x="5293360" y="2517775"/>
            <a:ext cx="1241425" cy="194310"/>
          </a:xfrm>
          <a:prstGeom prst="rect">
            <a:avLst/>
          </a:prstGeom>
          <a:noFill/>
        </p:spPr>
        <p:txBody>
          <a:bodyPr wrap="square" rtlCol="0" anchor="ctr" anchorCtr="0">
            <a:noAutofit/>
          </a:bodyPr>
          <a:p>
            <a:pPr algn="ctr"/>
            <a:r>
              <a:rPr lang="zh-CN" altLang="en-US" sz="1200" b="1">
                <a:solidFill>
                  <a:schemeClr val="bg1"/>
                </a:solidFill>
                <a:latin typeface="微软雅黑" panose="020B0503020204020204" charset="-122"/>
                <a:ea typeface="微软雅黑" panose="020B0503020204020204" charset="-122"/>
                <a:cs typeface="微软雅黑" panose="020B0503020204020204" charset="-122"/>
              </a:rPr>
              <a:t>全域客户增长</a:t>
            </a:r>
            <a:endParaRPr lang="en-US" altLang="zh-CN" sz="1200" b="1">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87" name="图片 86" descr="全部客户"/>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5551805" y="2083435"/>
            <a:ext cx="701040" cy="394970"/>
          </a:xfrm>
          <a:prstGeom prst="rect">
            <a:avLst/>
          </a:prstGeom>
        </p:spPr>
      </p:pic>
      <p:sp>
        <p:nvSpPr>
          <p:cNvPr id="88" name="文本框 87"/>
          <p:cNvSpPr txBox="1"/>
          <p:nvPr/>
        </p:nvSpPr>
        <p:spPr>
          <a:xfrm>
            <a:off x="5280025" y="2869565"/>
            <a:ext cx="673100" cy="194310"/>
          </a:xfrm>
          <a:prstGeom prst="rect">
            <a:avLst/>
          </a:prstGeom>
          <a:noFill/>
        </p:spPr>
        <p:txBody>
          <a:bodyPr wrap="square" rtlCol="0" anchor="ctr" anchorCtr="0">
            <a:noAutofit/>
          </a:bodyPr>
          <a:p>
            <a:pPr algn="ctr"/>
            <a:r>
              <a:rPr lang="zh-CN" altLang="en-US" sz="800">
                <a:solidFill>
                  <a:schemeClr val="bg1"/>
                </a:solidFill>
                <a:latin typeface="微软雅黑" panose="020B0503020204020204" charset="-122"/>
                <a:ea typeface="微软雅黑" panose="020B0503020204020204" charset="-122"/>
                <a:cs typeface="微软雅黑" panose="020B0503020204020204" charset="-122"/>
              </a:rPr>
              <a:t>会员体系</a:t>
            </a:r>
            <a:endParaRPr lang="zh-CN" altLang="en-US" sz="8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9" name="文本框 88"/>
          <p:cNvSpPr txBox="1"/>
          <p:nvPr/>
        </p:nvSpPr>
        <p:spPr>
          <a:xfrm>
            <a:off x="5280025" y="3063875"/>
            <a:ext cx="673100" cy="194310"/>
          </a:xfrm>
          <a:prstGeom prst="rect">
            <a:avLst/>
          </a:prstGeom>
          <a:noFill/>
        </p:spPr>
        <p:txBody>
          <a:bodyPr wrap="square" rtlCol="0" anchor="ctr" anchorCtr="0">
            <a:noAutofit/>
          </a:bodyPr>
          <a:p>
            <a:pPr algn="ctr"/>
            <a:r>
              <a:rPr lang="zh-CN" altLang="en-US" sz="800">
                <a:solidFill>
                  <a:schemeClr val="bg1"/>
                </a:solidFill>
                <a:latin typeface="微软雅黑" panose="020B0503020204020204" charset="-122"/>
                <a:ea typeface="微软雅黑" panose="020B0503020204020204" charset="-122"/>
                <a:cs typeface="微软雅黑" panose="020B0503020204020204" charset="-122"/>
              </a:rPr>
              <a:t>权益共享</a:t>
            </a:r>
            <a:endParaRPr lang="zh-CN" altLang="en-US" sz="8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0" name="文本框 89"/>
          <p:cNvSpPr txBox="1"/>
          <p:nvPr/>
        </p:nvSpPr>
        <p:spPr>
          <a:xfrm>
            <a:off x="5897245" y="2869565"/>
            <a:ext cx="673100" cy="194310"/>
          </a:xfrm>
          <a:prstGeom prst="rect">
            <a:avLst/>
          </a:prstGeom>
          <a:noFill/>
        </p:spPr>
        <p:txBody>
          <a:bodyPr wrap="square" rtlCol="0" anchor="ctr" anchorCtr="0">
            <a:noAutofit/>
          </a:bodyPr>
          <a:p>
            <a:pPr algn="ctr"/>
            <a:r>
              <a:rPr lang="zh-CN" altLang="en-US" sz="800">
                <a:solidFill>
                  <a:schemeClr val="bg1"/>
                </a:solidFill>
                <a:latin typeface="微软雅黑" panose="020B0503020204020204" charset="-122"/>
                <a:ea typeface="微软雅黑" panose="020B0503020204020204" charset="-122"/>
                <a:cs typeface="微软雅黑" panose="020B0503020204020204" charset="-122"/>
              </a:rPr>
              <a:t>积分互通</a:t>
            </a:r>
            <a:endParaRPr lang="zh-CN" altLang="en-US" sz="8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1" name="文本框 90"/>
          <p:cNvSpPr txBox="1"/>
          <p:nvPr/>
        </p:nvSpPr>
        <p:spPr>
          <a:xfrm>
            <a:off x="5897245" y="3063875"/>
            <a:ext cx="673100" cy="194310"/>
          </a:xfrm>
          <a:prstGeom prst="rect">
            <a:avLst/>
          </a:prstGeom>
          <a:noFill/>
        </p:spPr>
        <p:txBody>
          <a:bodyPr wrap="square" rtlCol="0" anchor="ctr" anchorCtr="0">
            <a:noAutofit/>
          </a:bodyPr>
          <a:p>
            <a:pPr algn="ctr"/>
            <a:r>
              <a:rPr lang="zh-CN" altLang="en-US" sz="800">
                <a:solidFill>
                  <a:schemeClr val="bg1"/>
                </a:solidFill>
                <a:latin typeface="微软雅黑" panose="020B0503020204020204" charset="-122"/>
                <a:ea typeface="微软雅黑" panose="020B0503020204020204" charset="-122"/>
                <a:cs typeface="微软雅黑" panose="020B0503020204020204" charset="-122"/>
              </a:rPr>
              <a:t>车主裂变</a:t>
            </a:r>
            <a:endParaRPr lang="zh-CN" altLang="en-US" sz="800">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2" name="组合 1"/>
          <p:cNvGrpSpPr/>
          <p:nvPr/>
        </p:nvGrpSpPr>
        <p:grpSpPr>
          <a:xfrm>
            <a:off x="7144385" y="1300480"/>
            <a:ext cx="2336165" cy="2628265"/>
            <a:chOff x="3740" y="8092"/>
            <a:chExt cx="2409" cy="4139"/>
          </a:xfrm>
        </p:grpSpPr>
        <p:sp>
          <p:nvSpPr>
            <p:cNvPr id="3" name="矩形 2"/>
            <p:cNvSpPr/>
            <p:nvPr/>
          </p:nvSpPr>
          <p:spPr>
            <a:xfrm>
              <a:off x="3740" y="8516"/>
              <a:ext cx="2409" cy="3715"/>
            </a:xfrm>
            <a:prstGeom prst="rect">
              <a:avLst/>
            </a:prstGeom>
            <a:solidFill>
              <a:schemeClr val="accent5">
                <a:alpha val="10000"/>
              </a:schemeClr>
            </a:solidFill>
            <a:ln>
              <a:solidFill>
                <a:schemeClr val="accent5">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 name="矩形 5"/>
            <p:cNvSpPr/>
            <p:nvPr/>
          </p:nvSpPr>
          <p:spPr>
            <a:xfrm>
              <a:off x="3740" y="8092"/>
              <a:ext cx="2409" cy="667"/>
            </a:xfrm>
            <a:prstGeom prst="rect">
              <a:avLst/>
            </a:prstGeom>
            <a:gradFill>
              <a:gsLst>
                <a:gs pos="0">
                  <a:schemeClr val="accent5">
                    <a:lumMod val="60000"/>
                    <a:lumOff val="40000"/>
                  </a:schemeClr>
                </a:gs>
                <a:gs pos="100000">
                  <a:schemeClr val="accent5"/>
                </a:gs>
              </a:gsLst>
              <a:lin ang="0" scaled="0"/>
            </a:gra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sp>
        <p:nvSpPr>
          <p:cNvPr id="7" name="文本框 6"/>
          <p:cNvSpPr txBox="1"/>
          <p:nvPr/>
        </p:nvSpPr>
        <p:spPr>
          <a:xfrm>
            <a:off x="2379980" y="1397635"/>
            <a:ext cx="936625" cy="294640"/>
          </a:xfrm>
          <a:prstGeom prst="rect">
            <a:avLst/>
          </a:prstGeom>
          <a:noFill/>
        </p:spPr>
        <p:txBody>
          <a:bodyPr wrap="square" rtlCol="0" anchor="ctr" anchorCtr="0">
            <a:noAutofit/>
          </a:bodyPr>
          <a:p>
            <a:pPr algn="ctr"/>
            <a:r>
              <a:rPr lang="zh-CN" altLang="en-US" sz="2000" b="1">
                <a:solidFill>
                  <a:schemeClr val="bg1"/>
                </a:solidFill>
                <a:latin typeface="微软雅黑" panose="020B0503020204020204" charset="-122"/>
                <a:ea typeface="微软雅黑" panose="020B0503020204020204" charset="-122"/>
                <a:cs typeface="微软雅黑" panose="020B0503020204020204" charset="-122"/>
              </a:rPr>
              <a:t>私域</a:t>
            </a:r>
            <a:endParaRPr lang="en-US" altLang="zh-CN" sz="20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nvSpPr>
        <p:spPr>
          <a:xfrm>
            <a:off x="3161665" y="1397635"/>
            <a:ext cx="1191895" cy="294640"/>
          </a:xfrm>
          <a:prstGeom prst="rect">
            <a:avLst/>
          </a:prstGeom>
          <a:noFill/>
        </p:spPr>
        <p:txBody>
          <a:bodyPr wrap="square" rtlCol="0" anchor="ctr" anchorCtr="0">
            <a:noAutofit/>
          </a:bodyPr>
          <a:p>
            <a:pPr algn="ctr"/>
            <a:r>
              <a:rPr lang="zh-CN" altLang="en-US" sz="1200">
                <a:solidFill>
                  <a:schemeClr val="bg1"/>
                </a:solidFill>
                <a:latin typeface="微软雅黑" panose="020B0503020204020204" charset="-122"/>
                <a:ea typeface="微软雅黑" panose="020B0503020204020204" charset="-122"/>
                <a:cs typeface="微软雅黑" panose="020B0503020204020204" charset="-122"/>
              </a:rPr>
              <a:t>会员深度运营</a:t>
            </a:r>
            <a:endParaRPr lang="en-US" altLang="zh-CN" sz="12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7" name="椭圆 26"/>
          <p:cNvSpPr/>
          <p:nvPr/>
        </p:nvSpPr>
        <p:spPr>
          <a:xfrm>
            <a:off x="2273300" y="2089150"/>
            <a:ext cx="106680" cy="106680"/>
          </a:xfrm>
          <a:prstGeom prst="ellipse">
            <a:avLst/>
          </a:prstGeom>
          <a:solidFill>
            <a:schemeClr val="accent5"/>
          </a:solidFill>
          <a:ln>
            <a:solidFill>
              <a:schemeClr val="bg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cxnSp>
        <p:nvCxnSpPr>
          <p:cNvPr id="28" name="肘形连接符 27"/>
          <p:cNvCxnSpPr>
            <a:stCxn id="29" idx="2"/>
            <a:endCxn id="22" idx="3"/>
          </p:cNvCxnSpPr>
          <p:nvPr/>
        </p:nvCxnSpPr>
        <p:spPr>
          <a:xfrm flipH="1">
            <a:off x="9110980" y="2089150"/>
            <a:ext cx="431165" cy="2726055"/>
          </a:xfrm>
          <a:prstGeom prst="bentConnector3">
            <a:avLst>
              <a:gd name="adj1" fmla="val -190721"/>
            </a:avLst>
          </a:prstGeom>
          <a:ln>
            <a:solidFill>
              <a:schemeClr val="accent5"/>
            </a:solidFill>
            <a:headEnd type="triangle" w="lg" len="med"/>
          </a:ln>
        </p:spPr>
        <p:style>
          <a:lnRef idx="2">
            <a:schemeClr val="accent1"/>
          </a:lnRef>
          <a:fillRef idx="0">
            <a:srgbClr val="FFFFFF"/>
          </a:fillRef>
          <a:effectRef idx="0">
            <a:srgbClr val="FFFFFF"/>
          </a:effectRef>
          <a:fontRef idx="minor">
            <a:schemeClr val="tx1"/>
          </a:fontRef>
        </p:style>
      </p:cxnSp>
      <p:sp>
        <p:nvSpPr>
          <p:cNvPr id="29" name="椭圆 28"/>
          <p:cNvSpPr/>
          <p:nvPr/>
        </p:nvSpPr>
        <p:spPr>
          <a:xfrm flipH="1">
            <a:off x="9435465" y="2035810"/>
            <a:ext cx="106680" cy="106680"/>
          </a:xfrm>
          <a:prstGeom prst="ellipse">
            <a:avLst/>
          </a:prstGeom>
          <a:solidFill>
            <a:schemeClr val="accent5"/>
          </a:solidFill>
          <a:ln>
            <a:solidFill>
              <a:schemeClr val="bg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5" name="文本框 34"/>
          <p:cNvSpPr txBox="1"/>
          <p:nvPr/>
        </p:nvSpPr>
        <p:spPr>
          <a:xfrm>
            <a:off x="2465070" y="1887220"/>
            <a:ext cx="2121535" cy="648335"/>
          </a:xfrm>
          <a:prstGeom prst="rect">
            <a:avLst/>
          </a:prstGeom>
          <a:noFill/>
        </p:spPr>
        <p:txBody>
          <a:bodyPr wrap="square" rtlCol="0">
            <a:noAutofit/>
          </a:bodyPr>
          <a:p>
            <a:pPr algn="l"/>
            <a:r>
              <a:rPr lang="zh-CN" altLang="en-US" sz="1000">
                <a:solidFill>
                  <a:schemeClr val="tx2"/>
                </a:solidFill>
                <a:latin typeface="微软雅黑" panose="020B0503020204020204" charset="-122"/>
                <a:ea typeface="微软雅黑" panose="020B0503020204020204" charset="-122"/>
                <a:cs typeface="微软雅黑" panose="020B0503020204020204" charset="-122"/>
              </a:rPr>
              <a:t>以品牌</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APP/</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车机为核心入口，构建</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体验</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服务</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社交</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闭环（如蔚来</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NIO Life</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生态）。</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5" name="文本框 44"/>
          <p:cNvSpPr txBox="1"/>
          <p:nvPr/>
        </p:nvSpPr>
        <p:spPr>
          <a:xfrm>
            <a:off x="7206615" y="1830070"/>
            <a:ext cx="2121535" cy="648335"/>
          </a:xfrm>
          <a:prstGeom prst="rect">
            <a:avLst/>
          </a:prstGeom>
          <a:noFill/>
        </p:spPr>
        <p:txBody>
          <a:bodyPr wrap="square" rtlCol="0">
            <a:noAutofit/>
          </a:bodyPr>
          <a:p>
            <a:pPr algn="l"/>
            <a:r>
              <a:rPr lang="zh-CN" altLang="en-US" sz="1000">
                <a:solidFill>
                  <a:schemeClr val="tx2"/>
                </a:solidFill>
                <a:latin typeface="微软雅黑" panose="020B0503020204020204" charset="-122"/>
                <a:ea typeface="微软雅黑" panose="020B0503020204020204" charset="-122"/>
                <a:cs typeface="微软雅黑" panose="020B0503020204020204" charset="-122"/>
              </a:rPr>
              <a:t>通过垂媒广告、跨界合作扩大潜客池，并利用数据中台实现精准导流至私域。</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6" name="文本框 45"/>
          <p:cNvSpPr txBox="1"/>
          <p:nvPr/>
        </p:nvSpPr>
        <p:spPr>
          <a:xfrm>
            <a:off x="8529955" y="1364615"/>
            <a:ext cx="936625" cy="294640"/>
          </a:xfrm>
          <a:prstGeom prst="rect">
            <a:avLst/>
          </a:prstGeom>
          <a:noFill/>
        </p:spPr>
        <p:txBody>
          <a:bodyPr wrap="square" rtlCol="0" anchor="ctr" anchorCtr="0">
            <a:noAutofit/>
          </a:bodyPr>
          <a:p>
            <a:pPr algn="ctr"/>
            <a:r>
              <a:rPr lang="zh-CN" altLang="en-US" sz="2000" b="1">
                <a:solidFill>
                  <a:schemeClr val="bg1"/>
                </a:solidFill>
                <a:latin typeface="微软雅黑" panose="020B0503020204020204" charset="-122"/>
                <a:ea typeface="微软雅黑" panose="020B0503020204020204" charset="-122"/>
                <a:cs typeface="微软雅黑" panose="020B0503020204020204" charset="-122"/>
              </a:rPr>
              <a:t>公域</a:t>
            </a:r>
            <a:endParaRPr lang="en-US" altLang="zh-CN" sz="20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9" name="文本框 48"/>
          <p:cNvSpPr txBox="1"/>
          <p:nvPr/>
        </p:nvSpPr>
        <p:spPr>
          <a:xfrm>
            <a:off x="7401560" y="1397635"/>
            <a:ext cx="1191895" cy="294640"/>
          </a:xfrm>
          <a:prstGeom prst="rect">
            <a:avLst/>
          </a:prstGeom>
          <a:noFill/>
        </p:spPr>
        <p:txBody>
          <a:bodyPr wrap="square" rtlCol="0" anchor="ctr" anchorCtr="0">
            <a:noAutofit/>
          </a:bodyPr>
          <a:p>
            <a:pPr algn="ctr"/>
            <a:r>
              <a:rPr lang="zh-CN" altLang="en-US" sz="1200">
                <a:solidFill>
                  <a:schemeClr val="bg1"/>
                </a:solidFill>
                <a:latin typeface="微软雅黑" panose="020B0503020204020204" charset="-122"/>
                <a:ea typeface="微软雅黑" panose="020B0503020204020204" charset="-122"/>
                <a:cs typeface="微软雅黑" panose="020B0503020204020204" charset="-122"/>
              </a:rPr>
              <a:t>客户互动拉新</a:t>
            </a:r>
            <a:endParaRPr lang="zh-CN" altLang="en-US" sz="12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6" name="文本框 55"/>
          <p:cNvSpPr txBox="1"/>
          <p:nvPr/>
        </p:nvSpPr>
        <p:spPr>
          <a:xfrm>
            <a:off x="2573020" y="2883535"/>
            <a:ext cx="92138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场景化服务</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57" name="文本框 56"/>
          <p:cNvSpPr txBox="1"/>
          <p:nvPr/>
        </p:nvSpPr>
        <p:spPr>
          <a:xfrm>
            <a:off x="3462020" y="2891155"/>
            <a:ext cx="109029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会员积分体系</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69" name="文本框 68"/>
          <p:cNvSpPr txBox="1"/>
          <p:nvPr/>
        </p:nvSpPr>
        <p:spPr>
          <a:xfrm>
            <a:off x="2573020" y="3575685"/>
            <a:ext cx="92138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车主俱乐部</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70" name="文本框 69"/>
          <p:cNvSpPr txBox="1"/>
          <p:nvPr/>
        </p:nvSpPr>
        <p:spPr>
          <a:xfrm>
            <a:off x="3546475" y="3575685"/>
            <a:ext cx="92138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口碑传播</a:t>
            </a:r>
            <a:endParaRPr lang="zh-CN" altLang="en-US" sz="1000">
              <a:latin typeface="微软雅黑" panose="020B0503020204020204" charset="-122"/>
              <a:ea typeface="微软雅黑" panose="020B0503020204020204" charset="-122"/>
              <a:cs typeface="微软雅黑" panose="020B0503020204020204" charset="-122"/>
            </a:endParaRPr>
          </a:p>
        </p:txBody>
      </p:sp>
      <p:pic>
        <p:nvPicPr>
          <p:cNvPr id="92" name="图片 91" descr="口碑传播"/>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3791168" y="3181985"/>
            <a:ext cx="432000" cy="432000"/>
          </a:xfrm>
          <a:prstGeom prst="rect">
            <a:avLst/>
          </a:prstGeom>
        </p:spPr>
      </p:pic>
      <p:pic>
        <p:nvPicPr>
          <p:cNvPr id="93" name="图片 92" descr="置入场景"/>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2817713" y="2437765"/>
            <a:ext cx="432000" cy="432000"/>
          </a:xfrm>
          <a:prstGeom prst="rect">
            <a:avLst/>
          </a:prstGeom>
        </p:spPr>
      </p:pic>
      <p:pic>
        <p:nvPicPr>
          <p:cNvPr id="94" name="图片 93" descr="营销_积分体系"/>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3811588" y="2478405"/>
            <a:ext cx="391160" cy="391160"/>
          </a:xfrm>
          <a:prstGeom prst="rect">
            <a:avLst/>
          </a:prstGeom>
        </p:spPr>
      </p:pic>
      <p:pic>
        <p:nvPicPr>
          <p:cNvPr id="95" name="图片 94" descr="会员俱乐部"/>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2844800" y="3151505"/>
            <a:ext cx="377825" cy="377825"/>
          </a:xfrm>
          <a:prstGeom prst="rect">
            <a:avLst/>
          </a:prstGeom>
        </p:spPr>
      </p:pic>
      <p:sp>
        <p:nvSpPr>
          <p:cNvPr id="96" name="文本框 95"/>
          <p:cNvSpPr txBox="1"/>
          <p:nvPr/>
        </p:nvSpPr>
        <p:spPr>
          <a:xfrm>
            <a:off x="7432675" y="2905125"/>
            <a:ext cx="92138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垂媒广告</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97" name="文本框 96"/>
          <p:cNvSpPr txBox="1"/>
          <p:nvPr/>
        </p:nvSpPr>
        <p:spPr>
          <a:xfrm>
            <a:off x="8321675" y="2912745"/>
            <a:ext cx="109029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异业合作</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98" name="文本框 97"/>
          <p:cNvSpPr txBox="1"/>
          <p:nvPr/>
        </p:nvSpPr>
        <p:spPr>
          <a:xfrm>
            <a:off x="7432675" y="3597275"/>
            <a:ext cx="92138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新媒体直播</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99" name="文本框 98"/>
          <p:cNvSpPr txBox="1"/>
          <p:nvPr/>
        </p:nvSpPr>
        <p:spPr>
          <a:xfrm>
            <a:off x="8406130" y="3597275"/>
            <a:ext cx="921385" cy="245110"/>
          </a:xfrm>
          <a:prstGeom prst="rect">
            <a:avLst/>
          </a:prstGeom>
          <a:noFill/>
        </p:spPr>
        <p:txBody>
          <a:bodyPr wrap="square" rtlCol="0">
            <a:spAutoFit/>
          </a:bodyPr>
          <a:p>
            <a:pPr algn="ctr"/>
            <a:r>
              <a:rPr lang="zh-CN" altLang="en-US" sz="1000">
                <a:latin typeface="微软雅黑" panose="020B0503020204020204" charset="-122"/>
                <a:ea typeface="微软雅黑" panose="020B0503020204020204" charset="-122"/>
                <a:cs typeface="微软雅黑" panose="020B0503020204020204" charset="-122"/>
              </a:rPr>
              <a:t>搜索引擎</a:t>
            </a:r>
            <a:endParaRPr lang="zh-CN" altLang="en-US" sz="1000">
              <a:latin typeface="微软雅黑" panose="020B0503020204020204" charset="-122"/>
              <a:ea typeface="微软雅黑" panose="020B0503020204020204" charset="-122"/>
              <a:cs typeface="微软雅黑" panose="020B0503020204020204" charset="-122"/>
            </a:endParaRPr>
          </a:p>
        </p:txBody>
      </p:sp>
      <p:pic>
        <p:nvPicPr>
          <p:cNvPr id="104" name="图片 103" descr="05结构化数据"/>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8692515" y="3226435"/>
            <a:ext cx="324485" cy="324485"/>
          </a:xfrm>
          <a:prstGeom prst="rect">
            <a:avLst/>
          </a:prstGeom>
        </p:spPr>
      </p:pic>
      <p:pic>
        <p:nvPicPr>
          <p:cNvPr id="105" name="图片 104" descr="汽车之家2"/>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7715250" y="2535555"/>
            <a:ext cx="311150" cy="311150"/>
          </a:xfrm>
          <a:prstGeom prst="rect">
            <a:avLst/>
          </a:prstGeom>
        </p:spPr>
      </p:pic>
      <p:pic>
        <p:nvPicPr>
          <p:cNvPr id="106" name="图片 105" descr="服务诉求"/>
          <p:cNvPicPr>
            <a:picLocks noChangeAspect="1"/>
          </p:cNvPicPr>
          <p:nvPr/>
        </p:nvPicPr>
        <p:blipFill>
          <a:blip r:embed="rId39">
            <a:extLst>
              <a:ext uri="{96DAC541-7B7A-43D3-8B79-37D633B846F1}">
                <asvg:svgBlip xmlns:asvg="http://schemas.microsoft.com/office/drawing/2016/SVG/main" r:embed="rId40"/>
              </a:ext>
            </a:extLst>
          </a:blip>
          <a:stretch>
            <a:fillRect/>
          </a:stretch>
        </p:blipFill>
        <p:spPr>
          <a:xfrm>
            <a:off x="8692515" y="2560320"/>
            <a:ext cx="349250" cy="276225"/>
          </a:xfrm>
          <a:prstGeom prst="rect">
            <a:avLst/>
          </a:prstGeom>
        </p:spPr>
      </p:pic>
      <p:pic>
        <p:nvPicPr>
          <p:cNvPr id="109" name="图片 108" descr="云直播"/>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7739380" y="3307080"/>
            <a:ext cx="287020" cy="222250"/>
          </a:xfrm>
          <a:prstGeom prst="rect">
            <a:avLst/>
          </a:prstGeom>
        </p:spPr>
      </p:pic>
      <p:sp>
        <p:nvSpPr>
          <p:cNvPr id="110" name="文本框 109"/>
          <p:cNvSpPr txBox="1"/>
          <p:nvPr/>
        </p:nvSpPr>
        <p:spPr>
          <a:xfrm>
            <a:off x="9932035" y="2761933"/>
            <a:ext cx="431165" cy="1106170"/>
          </a:xfrm>
          <a:prstGeom prst="rect">
            <a:avLst/>
          </a:prstGeom>
          <a:noFill/>
        </p:spPr>
        <p:txBody>
          <a:bodyPr wrap="square" rtlCol="0" anchor="ctr" anchorCtr="0">
            <a:noAutofit/>
          </a:bodyPr>
          <a:p>
            <a:pPr algn="ctr"/>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全渠道拓客</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11" name="文本框 110"/>
          <p:cNvSpPr txBox="1"/>
          <p:nvPr/>
        </p:nvSpPr>
        <p:spPr>
          <a:xfrm>
            <a:off x="1621155" y="2761933"/>
            <a:ext cx="431165" cy="1106170"/>
          </a:xfrm>
          <a:prstGeom prst="rect">
            <a:avLst/>
          </a:prstGeom>
          <a:noFill/>
        </p:spPr>
        <p:txBody>
          <a:bodyPr wrap="square" rtlCol="0" anchor="ctr" anchorCtr="0">
            <a:noAutofit/>
          </a:bodyPr>
          <a:p>
            <a:pPr algn="ctr"/>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自有客户挖掘</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endParaRPr>
          </a:p>
        </p:txBody>
      </p:sp>
      <p:pic>
        <p:nvPicPr>
          <p:cNvPr id="58" name="图片 57" descr="屋顶资源管理"/>
          <p:cNvPicPr>
            <a:picLocks noChangeAspect="1"/>
          </p:cNvPicPr>
          <p:nvPr/>
        </p:nvPicPr>
        <p:blipFill>
          <a:blip r:embed="rId43">
            <a:extLst>
              <a:ext uri="{96DAC541-7B7A-43D3-8B79-37D633B846F1}">
                <asvg:svgBlip xmlns:asvg="http://schemas.microsoft.com/office/drawing/2016/SVG/main" r:embed="rId44"/>
              </a:ext>
            </a:extLst>
          </a:blip>
          <a:stretch>
            <a:fillRect/>
          </a:stretch>
        </p:blipFill>
        <p:spPr>
          <a:xfrm>
            <a:off x="355600" y="186055"/>
            <a:ext cx="549910" cy="549910"/>
          </a:xfrm>
          <a:prstGeom prst="rect">
            <a:avLst/>
          </a:prstGeom>
        </p:spPr>
      </p:pic>
      <p:grpSp>
        <p:nvGrpSpPr>
          <p:cNvPr id="10" name="组合 9"/>
          <p:cNvGrpSpPr/>
          <p:nvPr/>
        </p:nvGrpSpPr>
        <p:grpSpPr>
          <a:xfrm>
            <a:off x="8738235" y="348615"/>
            <a:ext cx="3219450" cy="332740"/>
            <a:chOff x="13761" y="549"/>
            <a:chExt cx="5070" cy="524"/>
          </a:xfrm>
        </p:grpSpPr>
        <p:pic>
          <p:nvPicPr>
            <p:cNvPr id="60" name="图片 59"/>
            <p:cNvPicPr>
              <a:picLocks noChangeAspect="1"/>
            </p:cNvPicPr>
            <p:nvPr userDrawn="1"/>
          </p:nvPicPr>
          <p:blipFill>
            <a:blip r:embed="rId45"/>
            <a:srcRect l="17002" t="-1765" r="56499" b="-1176"/>
            <a:stretch>
              <a:fillRect/>
            </a:stretch>
          </p:blipFill>
          <p:spPr>
            <a:xfrm>
              <a:off x="13761" y="549"/>
              <a:ext cx="1582" cy="525"/>
            </a:xfrm>
            <a:prstGeom prst="rect">
              <a:avLst/>
            </a:prstGeom>
          </p:spPr>
        </p:pic>
        <p:sp>
          <p:nvSpPr>
            <p:cNvPr id="61" name="文本框 6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4168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构建三位一体的运营体系</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nvGrpSpPr>
          <p:cNvPr id="79" name="组合 78"/>
          <p:cNvGrpSpPr/>
          <p:nvPr/>
        </p:nvGrpSpPr>
        <p:grpSpPr>
          <a:xfrm>
            <a:off x="10119360" y="2583815"/>
            <a:ext cx="1052195" cy="2965450"/>
            <a:chOff x="15973" y="4069"/>
            <a:chExt cx="1657" cy="4670"/>
          </a:xfrm>
        </p:grpSpPr>
        <p:sp>
          <p:nvSpPr>
            <p:cNvPr id="7" name="三角形 35"/>
            <p:cNvSpPr/>
            <p:nvPr/>
          </p:nvSpPr>
          <p:spPr>
            <a:xfrm rot="5400000">
              <a:off x="14224" y="5818"/>
              <a:ext cx="4671" cy="1172"/>
            </a:xfrm>
            <a:prstGeom prst="triangle">
              <a:avLst/>
            </a:prstGeom>
            <a:noFill/>
            <a:ln w="15875" cap="flat">
              <a:gradFill>
                <a:gsLst>
                  <a:gs pos="0">
                    <a:srgbClr val="BAB2D4">
                      <a:lumMod val="70000"/>
                      <a:lumOff val="30000"/>
                    </a:srgbClr>
                  </a:gs>
                  <a:gs pos="73000">
                    <a:srgbClr val="BAB2D4">
                      <a:alpha val="0"/>
                    </a:srgbClr>
                  </a:gs>
                </a:gsLst>
                <a:lin ang="5400000" scaled="0"/>
              </a:gra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24396B"/>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三角形 36"/>
            <p:cNvSpPr/>
            <p:nvPr/>
          </p:nvSpPr>
          <p:spPr>
            <a:xfrm rot="5400000">
              <a:off x="14706" y="5818"/>
              <a:ext cx="4671" cy="1172"/>
            </a:xfrm>
            <a:prstGeom prst="triangle">
              <a:avLst/>
            </a:prstGeom>
            <a:noFill/>
            <a:ln w="15875" cap="flat">
              <a:gradFill>
                <a:gsLst>
                  <a:gs pos="0">
                    <a:srgbClr val="BAB2D4"/>
                  </a:gs>
                  <a:gs pos="83000">
                    <a:srgbClr val="BAB2D4">
                      <a:alpha val="0"/>
                    </a:srgbClr>
                  </a:gs>
                </a:gsLst>
                <a:lin ang="5400000" scaled="0"/>
              </a:gra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24396B"/>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6" name="直线连接符 32"/>
            <p:cNvCxnSpPr/>
            <p:nvPr/>
          </p:nvCxnSpPr>
          <p:spPr>
            <a:xfrm rot="10800000" flipH="1">
              <a:off x="16361" y="6386"/>
              <a:ext cx="780" cy="1577"/>
            </a:xfrm>
            <a:prstGeom prst="line">
              <a:avLst/>
            </a:prstGeom>
            <a:noFill/>
            <a:ln w="34925"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cxnSp>
          <p:nvCxnSpPr>
            <p:cNvPr id="17" name="直线连接符 33"/>
            <p:cNvCxnSpPr/>
            <p:nvPr/>
          </p:nvCxnSpPr>
          <p:spPr>
            <a:xfrm rot="10800000" flipH="1" flipV="1">
              <a:off x="16725" y="5571"/>
              <a:ext cx="416" cy="828"/>
            </a:xfrm>
            <a:prstGeom prst="line">
              <a:avLst/>
            </a:prstGeom>
            <a:noFill/>
            <a:ln w="34925"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sp>
          <p:nvSpPr>
            <p:cNvPr id="22" name="椭圆 21"/>
            <p:cNvSpPr/>
            <p:nvPr/>
          </p:nvSpPr>
          <p:spPr>
            <a:xfrm rot="10800000">
              <a:off x="16303" y="7905"/>
              <a:ext cx="116" cy="116"/>
            </a:xfrm>
            <a:prstGeom prst="ellipse">
              <a:avLst/>
            </a:prstGeom>
          </p:spPr>
          <p:style>
            <a:lnRef idx="0">
              <a:srgbClr val="FFFFFF"/>
            </a:lnRef>
            <a:fillRef idx="1">
              <a:schemeClr val="accent1"/>
            </a:fillRef>
            <a:effectRef idx="0">
              <a:srgbClr val="FFFFFF"/>
            </a:effectRef>
            <a:fontRef idx="minor">
              <a:schemeClr val="dk1"/>
            </a:fontRef>
          </p:style>
          <p:txBody>
            <a:bodyPr rot="0" spcFirstLastPara="1" vertOverflow="overflow" horzOverflow="overflow" vert="horz" wrap="square" lIns="45719" tIns="45719" rIns="45719" bIns="45719" numCol="1" spcCol="38100" rtlCol="0" anchor="ctr">
              <a:noAutofit/>
            </a:bodyPr>
            <a:lstStyle/>
            <a:p>
              <a:pPr hangingPunct="0"/>
              <a:endParaRPr lang="zh-CN" altLang="en-US">
                <a:solidFill>
                  <a:srgbClr val="24396B"/>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24" name="直线连接符 29"/>
            <p:cNvCxnSpPr/>
            <p:nvPr/>
          </p:nvCxnSpPr>
          <p:spPr>
            <a:xfrm>
              <a:off x="16850" y="4836"/>
              <a:ext cx="780" cy="1577"/>
            </a:xfrm>
            <a:prstGeom prst="line">
              <a:avLst/>
            </a:prstGeom>
            <a:noFill/>
            <a:ln w="34925"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cxnSp>
          <p:nvCxnSpPr>
            <p:cNvPr id="25" name="直线连接符 30"/>
            <p:cNvCxnSpPr/>
            <p:nvPr/>
          </p:nvCxnSpPr>
          <p:spPr>
            <a:xfrm flipV="1">
              <a:off x="17214" y="6396"/>
              <a:ext cx="416" cy="828"/>
            </a:xfrm>
            <a:prstGeom prst="line">
              <a:avLst/>
            </a:prstGeom>
            <a:noFill/>
            <a:ln w="34925"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sp>
          <p:nvSpPr>
            <p:cNvPr id="26" name="椭圆 25"/>
            <p:cNvSpPr/>
            <p:nvPr/>
          </p:nvSpPr>
          <p:spPr>
            <a:xfrm flipH="1">
              <a:off x="16791" y="4751"/>
              <a:ext cx="116" cy="116"/>
            </a:xfrm>
            <a:prstGeom prst="ellipse">
              <a:avLst/>
            </a:prstGeom>
          </p:spPr>
          <p:style>
            <a:lnRef idx="0">
              <a:srgbClr val="FFFFFF"/>
            </a:lnRef>
            <a:fillRef idx="1">
              <a:schemeClr val="accent1"/>
            </a:fillRef>
            <a:effectRef idx="0">
              <a:srgbClr val="FFFFFF"/>
            </a:effectRef>
            <a:fontRef idx="minor">
              <a:schemeClr val="dk1"/>
            </a:fontRef>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24396B"/>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28" name="梯形 27"/>
          <p:cNvSpPr/>
          <p:nvPr/>
        </p:nvSpPr>
        <p:spPr>
          <a:xfrm>
            <a:off x="2239010" y="5743575"/>
            <a:ext cx="8205470" cy="362585"/>
          </a:xfrm>
          <a:prstGeom prst="trapezoid">
            <a:avLst>
              <a:gd name="adj" fmla="val 187465"/>
            </a:avLst>
          </a:prstGeom>
          <a:gradFill>
            <a:gsLst>
              <a:gs pos="0">
                <a:schemeClr val="accent1">
                  <a:lumMod val="60000"/>
                  <a:lumOff val="40000"/>
                  <a:alpha val="0"/>
                </a:schemeClr>
              </a:gs>
              <a:gs pos="100000">
                <a:schemeClr val="accent1">
                  <a:lumMod val="60000"/>
                  <a:lumOff val="40000"/>
                  <a:alpha val="50000"/>
                </a:schemeClr>
              </a:gs>
            </a:gsLst>
          </a:gradFill>
        </p:spPr>
        <p:style>
          <a:lnRef idx="0">
            <a:srgbClr val="FFFFFF"/>
          </a:lnRef>
          <a:fillRef idx="2">
            <a:schemeClr val="accent1"/>
          </a:fillRef>
          <a:effectRef idx="0">
            <a:srgbClr val="FFFFFF"/>
          </a:effectRef>
          <a:fontRef idx="minor">
            <a:schemeClr val="dk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9" name="梯形 28"/>
          <p:cNvSpPr/>
          <p:nvPr/>
        </p:nvSpPr>
        <p:spPr>
          <a:xfrm>
            <a:off x="2239010" y="3956050"/>
            <a:ext cx="8205470" cy="362585"/>
          </a:xfrm>
          <a:prstGeom prst="trapezoid">
            <a:avLst>
              <a:gd name="adj" fmla="val 187465"/>
            </a:avLst>
          </a:prstGeom>
          <a:gradFill>
            <a:gsLst>
              <a:gs pos="0">
                <a:schemeClr val="accent1">
                  <a:lumMod val="40000"/>
                  <a:lumOff val="60000"/>
                  <a:alpha val="0"/>
                </a:schemeClr>
              </a:gs>
              <a:gs pos="100000">
                <a:schemeClr val="accent1">
                  <a:lumMod val="40000"/>
                  <a:lumOff val="60000"/>
                  <a:alpha val="50000"/>
                </a:schemeClr>
              </a:gs>
            </a:gsLst>
          </a:gradFill>
        </p:spPr>
        <p:style>
          <a:lnRef idx="0">
            <a:srgbClr val="FFFFFF"/>
          </a:lnRef>
          <a:fillRef idx="2">
            <a:schemeClr val="accent2"/>
          </a:fillRef>
          <a:effectRef idx="0">
            <a:srgbClr val="FFFFFF"/>
          </a:effectRef>
          <a:fontRef idx="minor">
            <a:schemeClr val="dk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0" name="梯形 29"/>
          <p:cNvSpPr/>
          <p:nvPr/>
        </p:nvSpPr>
        <p:spPr>
          <a:xfrm>
            <a:off x="2237740" y="2164715"/>
            <a:ext cx="8205470" cy="362585"/>
          </a:xfrm>
          <a:prstGeom prst="trapezoid">
            <a:avLst>
              <a:gd name="adj" fmla="val 187465"/>
            </a:avLst>
          </a:prstGeom>
          <a:gradFill>
            <a:gsLst>
              <a:gs pos="0">
                <a:schemeClr val="accent5">
                  <a:lumMod val="60000"/>
                  <a:lumOff val="40000"/>
                  <a:alpha val="0"/>
                </a:schemeClr>
              </a:gs>
              <a:gs pos="100000">
                <a:schemeClr val="accent5">
                  <a:lumMod val="60000"/>
                  <a:lumOff val="40000"/>
                  <a:alpha val="50000"/>
                </a:schemeClr>
              </a:gs>
            </a:gsLst>
          </a:gradFill>
        </p:spPr>
        <p:style>
          <a:lnRef idx="0">
            <a:srgbClr val="FFFFFF"/>
          </a:lnRef>
          <a:fillRef idx="2">
            <a:schemeClr val="accent5"/>
          </a:fillRef>
          <a:effectRef idx="0">
            <a:srgbClr val="FFFFFF"/>
          </a:effectRef>
          <a:fontRef idx="minor">
            <a:schemeClr val="dk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1" name="Freeform 1482"/>
          <p:cNvSpPr/>
          <p:nvPr/>
        </p:nvSpPr>
        <p:spPr>
          <a:xfrm>
            <a:off x="2251710" y="6102350"/>
            <a:ext cx="8192135" cy="362585"/>
          </a:xfrm>
          <a:custGeom>
            <a:avLst/>
            <a:gdLst/>
            <a:ahLst/>
            <a:cxnLst/>
            <a:rect l="0" t="0" r="0" b="0"/>
            <a:pathLst>
              <a:path w="10750295" h="362712">
                <a:moveTo>
                  <a:pt x="0" y="362712"/>
                </a:moveTo>
                <a:lnTo>
                  <a:pt x="10750295" y="362712"/>
                </a:lnTo>
                <a:lnTo>
                  <a:pt x="10750295" y="0"/>
                </a:lnTo>
                <a:lnTo>
                  <a:pt x="0" y="0"/>
                </a:lnTo>
                <a:lnTo>
                  <a:pt x="0" y="362712"/>
                </a:lnTo>
                <a:close/>
              </a:path>
            </a:pathLst>
          </a:custGeom>
          <a:gradFill>
            <a:gsLst>
              <a:gs pos="0">
                <a:schemeClr val="accent1">
                  <a:lumMod val="60000"/>
                  <a:lumOff val="40000"/>
                </a:schemeClr>
              </a:gs>
              <a:gs pos="100000">
                <a:schemeClr val="accent1"/>
              </a:gs>
            </a:gsLst>
            <a:lin ang="10800000" scaled="0"/>
          </a:gradFill>
        </p:spPr>
        <p:style>
          <a:lnRef idx="0">
            <a:srgbClr val="FFFFFF"/>
          </a:lnRef>
          <a:fillRef idx="1">
            <a:schemeClr val="accent1"/>
          </a:fillRef>
          <a:effectRef idx="0">
            <a:srgbClr val="FFFFFF"/>
          </a:effectRef>
          <a:fontRef idx="minor">
            <a:schemeClr val="dk1"/>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32" name="Freeform 1484"/>
          <p:cNvSpPr/>
          <p:nvPr/>
        </p:nvSpPr>
        <p:spPr>
          <a:xfrm>
            <a:off x="2251710" y="4314825"/>
            <a:ext cx="8191500" cy="362585"/>
          </a:xfrm>
          <a:custGeom>
            <a:avLst/>
            <a:gdLst/>
            <a:ahLst/>
            <a:cxnLst/>
            <a:rect l="0" t="0" r="0" b="0"/>
            <a:pathLst>
              <a:path w="10750295" h="362712">
                <a:moveTo>
                  <a:pt x="0" y="362712"/>
                </a:moveTo>
                <a:lnTo>
                  <a:pt x="10750295" y="362712"/>
                </a:lnTo>
                <a:lnTo>
                  <a:pt x="10750295" y="0"/>
                </a:lnTo>
                <a:lnTo>
                  <a:pt x="0" y="0"/>
                </a:lnTo>
                <a:lnTo>
                  <a:pt x="0" y="362712"/>
                </a:lnTo>
                <a:close/>
              </a:path>
            </a:pathLst>
          </a:custGeom>
          <a:gradFill>
            <a:gsLst>
              <a:gs pos="0">
                <a:schemeClr val="accent1">
                  <a:lumMod val="40000"/>
                  <a:lumOff val="60000"/>
                </a:schemeClr>
              </a:gs>
              <a:gs pos="100000">
                <a:schemeClr val="accent1">
                  <a:lumMod val="60000"/>
                  <a:lumOff val="40000"/>
                </a:schemeClr>
              </a:gs>
            </a:gsLst>
            <a:lin ang="10800000" scaled="0"/>
          </a:gradFill>
        </p:spPr>
        <p:style>
          <a:lnRef idx="0">
            <a:srgbClr val="FFFFFF"/>
          </a:lnRef>
          <a:fillRef idx="1">
            <a:schemeClr val="accent2"/>
          </a:fillRef>
          <a:effectRef idx="0">
            <a:srgbClr val="FFFFFF"/>
          </a:effectRef>
          <a:fontRef idx="minor">
            <a:schemeClr val="dk1"/>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33" name="Freeform 1486"/>
          <p:cNvSpPr/>
          <p:nvPr/>
        </p:nvSpPr>
        <p:spPr>
          <a:xfrm>
            <a:off x="2251710" y="2527300"/>
            <a:ext cx="8192770" cy="362585"/>
          </a:xfrm>
          <a:custGeom>
            <a:avLst/>
            <a:gdLst/>
            <a:ahLst/>
            <a:cxnLst/>
            <a:rect l="0" t="0" r="0" b="0"/>
            <a:pathLst>
              <a:path w="10750295" h="362712">
                <a:moveTo>
                  <a:pt x="0" y="362712"/>
                </a:moveTo>
                <a:lnTo>
                  <a:pt x="10750295" y="362712"/>
                </a:lnTo>
                <a:lnTo>
                  <a:pt x="10750295" y="0"/>
                </a:lnTo>
                <a:lnTo>
                  <a:pt x="0" y="0"/>
                </a:lnTo>
                <a:lnTo>
                  <a:pt x="0" y="362712"/>
                </a:lnTo>
                <a:close/>
              </a:path>
            </a:pathLst>
          </a:custGeom>
          <a:gradFill>
            <a:gsLst>
              <a:gs pos="0">
                <a:schemeClr val="accent5"/>
              </a:gs>
              <a:gs pos="100000">
                <a:schemeClr val="accent5">
                  <a:lumMod val="60000"/>
                  <a:lumOff val="40000"/>
                </a:schemeClr>
              </a:gs>
            </a:gsLst>
            <a:lin ang="0" scaled="0"/>
          </a:gradFill>
        </p:spPr>
        <p:style>
          <a:lnRef idx="0">
            <a:srgbClr val="FFFFFF"/>
          </a:lnRef>
          <a:fillRef idx="1">
            <a:schemeClr val="accent5"/>
          </a:fillRef>
          <a:effectRef idx="0">
            <a:srgbClr val="FFFFFF"/>
          </a:effectRef>
          <a:fontRef idx="minor">
            <a:schemeClr val="dk1"/>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34" name="矩形: 圆角 43"/>
          <p:cNvSpPr/>
          <p:nvPr/>
        </p:nvSpPr>
        <p:spPr>
          <a:xfrm>
            <a:off x="3019425" y="3018790"/>
            <a:ext cx="1920240" cy="886460"/>
          </a:xfrm>
          <a:prstGeom prst="roundRect">
            <a:avLst>
              <a:gd name="adj" fmla="val 1871"/>
            </a:avLst>
          </a:prstGeom>
          <a:ln w="6350" cap="flat" cmpd="sng" algn="ctr">
            <a:solidFill>
              <a:schemeClr val="accent1">
                <a:lumMod val="60000"/>
                <a:lumOff val="40000"/>
              </a:schemeClr>
            </a:solidFill>
            <a:prstDash val="dash"/>
            <a:miter lim="800000"/>
          </a:ln>
        </p:spPr>
        <p:style>
          <a:lnRef idx="0">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35" name="Freeform 1529"/>
          <p:cNvSpPr/>
          <p:nvPr/>
        </p:nvSpPr>
        <p:spPr>
          <a:xfrm>
            <a:off x="3128010" y="3119755"/>
            <a:ext cx="1675765" cy="242570"/>
          </a:xfrm>
          <a:custGeom>
            <a:avLst/>
            <a:gdLst/>
            <a:ahLst/>
            <a:cxnLst/>
            <a:rect l="0" t="0" r="0" b="0"/>
            <a:pathLst>
              <a:path w="2674620" h="242317">
                <a:moveTo>
                  <a:pt x="0" y="23623"/>
                </a:moveTo>
                <a:cubicBezTo>
                  <a:pt x="0" y="10542"/>
                  <a:pt x="10541" y="0"/>
                  <a:pt x="23622" y="0"/>
                </a:cubicBezTo>
                <a:lnTo>
                  <a:pt x="2650999" y="0"/>
                </a:lnTo>
                <a:cubicBezTo>
                  <a:pt x="2664080" y="0"/>
                  <a:pt x="2674620" y="10542"/>
                  <a:pt x="2674620" y="23623"/>
                </a:cubicBezTo>
                <a:lnTo>
                  <a:pt x="2674620" y="218694"/>
                </a:lnTo>
                <a:cubicBezTo>
                  <a:pt x="2674620" y="231775"/>
                  <a:pt x="2664080" y="242317"/>
                  <a:pt x="2650999" y="242317"/>
                </a:cubicBezTo>
                <a:lnTo>
                  <a:pt x="23622" y="242317"/>
                </a:lnTo>
                <a:cubicBezTo>
                  <a:pt x="10541" y="242317"/>
                  <a:pt x="0" y="231775"/>
                  <a:pt x="0" y="218694"/>
                </a:cubicBezTo>
                <a:close/>
              </a:path>
            </a:pathLst>
          </a:custGeom>
          <a:gradFill>
            <a:gsLst>
              <a:gs pos="0">
                <a:schemeClr val="accent1">
                  <a:lumMod val="40000"/>
                  <a:lumOff val="60000"/>
                </a:schemeClr>
              </a:gs>
              <a:gs pos="100000">
                <a:schemeClr val="accent1">
                  <a:lumMod val="60000"/>
                  <a:lumOff val="40000"/>
                </a:schemeClr>
              </a:gs>
            </a:gsLst>
            <a:lin ang="5400000" scaled="0"/>
          </a:gradFill>
        </p:spPr>
        <p:style>
          <a:lnRef idx="0">
            <a:srgbClr val="FFFFFF"/>
          </a:lnRef>
          <a:fillRef idx="1">
            <a:schemeClr val="accent2"/>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37" name="Rectangle 1553"/>
          <p:cNvSpPr/>
          <p:nvPr/>
        </p:nvSpPr>
        <p:spPr>
          <a:xfrm>
            <a:off x="5473700" y="2581910"/>
            <a:ext cx="1838960" cy="276860"/>
          </a:xfrm>
          <a:prstGeom prst="rect">
            <a:avLst/>
          </a:prstGeom>
        </p:spPr>
        <p:txBody>
          <a:bodyPr wrap="square" lIns="0" tIns="0" rIns="0" bIns="0">
            <a:spAutoFit/>
          </a:bodyPr>
          <a:lstStyle/>
          <a:p>
            <a:pPr marL="0" algn="ctr"/>
            <a:r>
              <a:rPr lang="zh-CN" altLang="en-US" sz="1800" b="1" spc="0" baseline="0" dirty="0">
                <a:solidFill>
                  <a:srgbClr val="FFFFFF"/>
                </a:solidFill>
                <a:latin typeface="微软雅黑" panose="020B0503020204020204" charset="-122"/>
                <a:ea typeface="微软雅黑" panose="020B0503020204020204" charset="-122"/>
                <a:cs typeface="微软雅黑" panose="020B0503020204020204" charset="-122"/>
              </a:rPr>
              <a:t>智能服务体验</a:t>
            </a:r>
            <a:endParaRPr lang="zh-CN" altLang="en-US" sz="1800" b="1" spc="0" baseline="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8" name="Rectangle 1554"/>
          <p:cNvSpPr/>
          <p:nvPr/>
        </p:nvSpPr>
        <p:spPr>
          <a:xfrm>
            <a:off x="4210050" y="2167890"/>
            <a:ext cx="1219835" cy="215265"/>
          </a:xfrm>
          <a:prstGeom prst="rect">
            <a:avLst/>
          </a:prstGeom>
        </p:spPr>
        <p:txBody>
          <a:bodyPr wrap="square" lIns="0" tIns="0" rIns="0" bIns="0">
            <a:spAutoFit/>
          </a:bodyPr>
          <a:lstStyle/>
          <a:p>
            <a:pPr marL="0" algn="ctr">
              <a:tabLst>
                <a:tab pos="4657090" algn="l"/>
              </a:tabLst>
            </a:pPr>
            <a:r>
              <a:rPr lang="en-US" sz="1400" b="1" spc="0" baseline="0" dirty="0">
                <a:solidFill>
                  <a:schemeClr val="accent5"/>
                </a:solidFill>
                <a:latin typeface="微软雅黑" panose="020B0503020204020204" charset="-122"/>
                <a:ea typeface="微软雅黑" panose="020B0503020204020204" charset="-122"/>
                <a:cs typeface="微软雅黑" panose="020B0503020204020204" charset="-122"/>
              </a:rPr>
              <a:t>智能化场景</a:t>
            </a:r>
            <a:endParaRPr lang="en-US" sz="1400" b="1" spc="0" baseline="0"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40" name="矩形: 圆角 8"/>
          <p:cNvSpPr/>
          <p:nvPr/>
        </p:nvSpPr>
        <p:spPr>
          <a:xfrm>
            <a:off x="3237230" y="1193800"/>
            <a:ext cx="1399540" cy="868680"/>
          </a:xfrm>
          <a:prstGeom prst="roundRect">
            <a:avLst>
              <a:gd name="adj" fmla="val 1871"/>
            </a:avLst>
          </a:prstGeom>
          <a:ln w="6350" cap="flat" cmpd="sng" algn="ctr">
            <a:solidFill>
              <a:schemeClr val="accent5"/>
            </a:solidFill>
            <a:prstDash val="dash"/>
            <a:miter lim="800000"/>
          </a:ln>
        </p:spPr>
        <p:style>
          <a:lnRef idx="0">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41" name="Freeform 1493"/>
          <p:cNvSpPr/>
          <p:nvPr/>
        </p:nvSpPr>
        <p:spPr>
          <a:xfrm>
            <a:off x="3343910" y="1247140"/>
            <a:ext cx="1174115" cy="24828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gradFill>
            <a:gsLst>
              <a:gs pos="0">
                <a:schemeClr val="accent5">
                  <a:lumMod val="60000"/>
                  <a:lumOff val="40000"/>
                </a:schemeClr>
              </a:gs>
              <a:gs pos="100000">
                <a:schemeClr val="accent5"/>
              </a:gs>
            </a:gsLst>
            <a:lin ang="5400000" scaled="0"/>
          </a:gradFill>
        </p:spPr>
        <p:style>
          <a:lnRef idx="0">
            <a:srgbClr val="FFFFFF"/>
          </a:lnRef>
          <a:fillRef idx="1">
            <a:schemeClr val="accent5"/>
          </a:fillRef>
          <a:effectRef idx="0">
            <a:srgbClr val="FFFFFF"/>
          </a:effectRef>
          <a:fontRef idx="minor">
            <a:schemeClr val="dk1"/>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43" name="Rectangle 1556"/>
          <p:cNvSpPr/>
          <p:nvPr/>
        </p:nvSpPr>
        <p:spPr>
          <a:xfrm>
            <a:off x="3521075" y="1568450"/>
            <a:ext cx="969645" cy="429895"/>
          </a:xfrm>
          <a:prstGeom prst="rect">
            <a:avLst/>
          </a:prstGeom>
        </p:spPr>
        <p:txBody>
          <a:bodyPr wrap="none" lIns="0" tIns="0" rIns="0" bIns="0">
            <a:spAutoFit/>
          </a:bodyPr>
          <a:lstStyle/>
          <a:p>
            <a:pPr marL="0"/>
            <a:r>
              <a:rPr lang="en-US" sz="2795" b="1" spc="0" baseline="0" dirty="0">
                <a:solidFill>
                  <a:schemeClr val="accent5"/>
                </a:solidFill>
                <a:latin typeface="微软雅黑" panose="020B0503020204020204" charset="-122"/>
                <a:ea typeface="微软雅黑" panose="020B0503020204020204" charset="-122"/>
                <a:cs typeface="微软雅黑" panose="020B0503020204020204" charset="-122"/>
              </a:rPr>
              <a:t>200</a:t>
            </a:r>
            <a:r>
              <a:rPr lang="zh-CN" altLang="en-US" sz="1200" b="1" spc="0" baseline="0" dirty="0">
                <a:solidFill>
                  <a:schemeClr val="accent5"/>
                </a:solidFill>
                <a:latin typeface="微软雅黑" panose="020B0503020204020204" charset="-122"/>
                <a:ea typeface="微软雅黑" panose="020B0503020204020204" charset="-122"/>
                <a:cs typeface="微软雅黑" panose="020B0503020204020204" charset="-122"/>
              </a:rPr>
              <a:t>万</a:t>
            </a:r>
            <a:r>
              <a:rPr lang="en-US" sz="1200" b="1" spc="0" baseline="0" dirty="0">
                <a:solidFill>
                  <a:schemeClr val="accent5"/>
                </a:solidFill>
                <a:latin typeface="微软雅黑" panose="020B0503020204020204" charset="-122"/>
                <a:ea typeface="微软雅黑" panose="020B0503020204020204" charset="-122"/>
                <a:cs typeface="微软雅黑" panose="020B0503020204020204" charset="-122"/>
              </a:rPr>
              <a:t>+</a:t>
            </a:r>
            <a:endParaRPr lang="en-US" sz="1200" b="1" spc="0" baseline="0"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44" name="Rectangle 1564"/>
          <p:cNvSpPr/>
          <p:nvPr/>
        </p:nvSpPr>
        <p:spPr>
          <a:xfrm>
            <a:off x="3471545" y="3996690"/>
            <a:ext cx="1231265" cy="215265"/>
          </a:xfrm>
          <a:prstGeom prst="rect">
            <a:avLst/>
          </a:prstGeom>
        </p:spPr>
        <p:txBody>
          <a:bodyPr wrap="square" lIns="0" tIns="0" rIns="0" bIns="0">
            <a:spAutoFit/>
          </a:bodyPr>
          <a:lstStyle/>
          <a:p>
            <a:pPr lvl="0" algn="l">
              <a:buClrTx/>
              <a:buSzTx/>
              <a:buFontTx/>
              <a:tabLst>
                <a:tab pos="4657090" algn="l"/>
              </a:tabLst>
            </a:pPr>
            <a:r>
              <a:rPr lang="en-US"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rPr>
              <a:t>综合开放服务</a:t>
            </a:r>
            <a:endParaRPr lang="en-US"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45" name="Rectangle 1554"/>
          <p:cNvSpPr/>
          <p:nvPr/>
        </p:nvSpPr>
        <p:spPr>
          <a:xfrm>
            <a:off x="7559040" y="2167890"/>
            <a:ext cx="1219835" cy="215265"/>
          </a:xfrm>
          <a:prstGeom prst="rect">
            <a:avLst/>
          </a:prstGeom>
        </p:spPr>
        <p:txBody>
          <a:bodyPr wrap="square" lIns="0" tIns="0" rIns="0" bIns="0">
            <a:spAutoFit/>
          </a:bodyPr>
          <a:lstStyle/>
          <a:p>
            <a:pPr lvl="0" algn="l">
              <a:buClrTx/>
              <a:buSzTx/>
              <a:buFontTx/>
              <a:tabLst>
                <a:tab pos="4657090" algn="l"/>
              </a:tabLst>
            </a:pPr>
            <a:r>
              <a:rPr lang="en-US" sz="1400" b="1" dirty="0">
                <a:solidFill>
                  <a:schemeClr val="accent5"/>
                </a:solidFill>
                <a:latin typeface="微软雅黑" panose="020B0503020204020204" charset="-122"/>
                <a:ea typeface="微软雅黑" panose="020B0503020204020204" charset="-122"/>
                <a:cs typeface="微软雅黑" panose="020B0503020204020204" charset="-122"/>
                <a:sym typeface="+mn-ea"/>
              </a:rPr>
              <a:t>智能化沟通</a:t>
            </a:r>
            <a:endParaRPr lang="en-US" sz="1400" b="1"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46" name="Rectangle 1564"/>
          <p:cNvSpPr/>
          <p:nvPr/>
        </p:nvSpPr>
        <p:spPr>
          <a:xfrm>
            <a:off x="5593080" y="3996690"/>
            <a:ext cx="1447165" cy="215265"/>
          </a:xfrm>
          <a:prstGeom prst="rect">
            <a:avLst/>
          </a:prstGeom>
        </p:spPr>
        <p:txBody>
          <a:bodyPr wrap="square" lIns="0" tIns="0" rIns="0" bIns="0">
            <a:spAutoFit/>
          </a:bodyPr>
          <a:lstStyle/>
          <a:p>
            <a:pPr lvl="0" algn="l">
              <a:buClrTx/>
              <a:buSzTx/>
              <a:buFontTx/>
              <a:tabLst>
                <a:tab pos="4657090" algn="l"/>
              </a:tabLst>
            </a:pPr>
            <a:r>
              <a:rPr lang="en-US"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rPr>
              <a:t>全商业场景服务</a:t>
            </a:r>
            <a:endParaRPr lang="en-US"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57" name="矩形: 圆角 8"/>
          <p:cNvSpPr/>
          <p:nvPr/>
        </p:nvSpPr>
        <p:spPr>
          <a:xfrm>
            <a:off x="4892675" y="1193800"/>
            <a:ext cx="1399540" cy="868680"/>
          </a:xfrm>
          <a:prstGeom prst="roundRect">
            <a:avLst>
              <a:gd name="adj" fmla="val 1871"/>
            </a:avLst>
          </a:prstGeom>
          <a:ln w="6350" cap="flat" cmpd="sng" algn="ctr">
            <a:solidFill>
              <a:schemeClr val="accent5"/>
            </a:solidFill>
            <a:prstDash val="dash"/>
            <a:miter lim="800000"/>
          </a:ln>
        </p:spPr>
        <p:style>
          <a:lnRef idx="0">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58" name="Freeform 1493"/>
          <p:cNvSpPr/>
          <p:nvPr/>
        </p:nvSpPr>
        <p:spPr>
          <a:xfrm>
            <a:off x="4999355" y="1247140"/>
            <a:ext cx="1174115" cy="24828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gradFill>
            <a:gsLst>
              <a:gs pos="0">
                <a:schemeClr val="accent5">
                  <a:lumMod val="60000"/>
                  <a:lumOff val="40000"/>
                </a:schemeClr>
              </a:gs>
              <a:gs pos="100000">
                <a:schemeClr val="accent5"/>
              </a:gs>
            </a:gsLst>
            <a:lin ang="5400000" scaled="0"/>
          </a:gradFill>
        </p:spPr>
        <p:style>
          <a:lnRef idx="0">
            <a:srgbClr val="FFFFFF"/>
          </a:lnRef>
          <a:fillRef idx="1">
            <a:schemeClr val="accent5"/>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61" name="Rectangle 1556"/>
          <p:cNvSpPr/>
          <p:nvPr/>
        </p:nvSpPr>
        <p:spPr>
          <a:xfrm>
            <a:off x="5100955" y="1568450"/>
            <a:ext cx="1061085" cy="430530"/>
          </a:xfrm>
          <a:prstGeom prst="rect">
            <a:avLst/>
          </a:prstGeom>
        </p:spPr>
        <p:txBody>
          <a:bodyPr wrap="none" lIns="0" tIns="0" rIns="0" bIns="0">
            <a:spAutoFit/>
          </a:bodyPr>
          <a:lstStyle/>
          <a:p>
            <a:pPr marL="0"/>
            <a:r>
              <a:rPr lang="en-US" sz="2795" b="1" spc="0" baseline="0" dirty="0">
                <a:solidFill>
                  <a:schemeClr val="accent5"/>
                </a:solidFill>
                <a:latin typeface="微软雅黑" panose="020B0503020204020204" charset="-122"/>
                <a:ea typeface="微软雅黑" panose="020B0503020204020204" charset="-122"/>
                <a:cs typeface="微软雅黑" panose="020B0503020204020204" charset="-122"/>
              </a:rPr>
              <a:t>8000</a:t>
            </a:r>
            <a:r>
              <a:rPr lang="zh-CN" altLang="en-US" sz="1200" b="1" spc="0" baseline="0" dirty="0">
                <a:solidFill>
                  <a:schemeClr val="accent5"/>
                </a:solidFill>
                <a:latin typeface="微软雅黑" panose="020B0503020204020204" charset="-122"/>
                <a:ea typeface="微软雅黑" panose="020B0503020204020204" charset="-122"/>
                <a:cs typeface="微软雅黑" panose="020B0503020204020204" charset="-122"/>
              </a:rPr>
              <a:t>万</a:t>
            </a:r>
            <a:r>
              <a:rPr lang="en-US" sz="1200" b="1" spc="0" baseline="0" dirty="0">
                <a:solidFill>
                  <a:schemeClr val="accent5"/>
                </a:solidFill>
                <a:latin typeface="微软雅黑" panose="020B0503020204020204" charset="-122"/>
                <a:ea typeface="微软雅黑" panose="020B0503020204020204" charset="-122"/>
                <a:cs typeface="微软雅黑" panose="020B0503020204020204" charset="-122"/>
              </a:rPr>
              <a:t>+</a:t>
            </a:r>
            <a:endParaRPr lang="en-US" sz="1200" b="1" spc="0" baseline="0"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64" name="矩形: 圆角 8"/>
          <p:cNvSpPr/>
          <p:nvPr/>
        </p:nvSpPr>
        <p:spPr>
          <a:xfrm>
            <a:off x="6548120" y="1193800"/>
            <a:ext cx="1399540" cy="868680"/>
          </a:xfrm>
          <a:prstGeom prst="roundRect">
            <a:avLst>
              <a:gd name="adj" fmla="val 1871"/>
            </a:avLst>
          </a:prstGeom>
          <a:ln w="6350" cap="flat" cmpd="sng" algn="ctr">
            <a:solidFill>
              <a:schemeClr val="accent5"/>
            </a:solidFill>
            <a:prstDash val="dash"/>
            <a:miter lim="800000"/>
          </a:ln>
        </p:spPr>
        <p:style>
          <a:lnRef idx="0">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65" name="Freeform 1493"/>
          <p:cNvSpPr/>
          <p:nvPr/>
        </p:nvSpPr>
        <p:spPr>
          <a:xfrm>
            <a:off x="6654800" y="1247140"/>
            <a:ext cx="1174115" cy="24828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gradFill>
            <a:gsLst>
              <a:gs pos="0">
                <a:schemeClr val="accent5">
                  <a:lumMod val="60000"/>
                  <a:lumOff val="40000"/>
                </a:schemeClr>
              </a:gs>
              <a:gs pos="100000">
                <a:schemeClr val="accent5"/>
              </a:gs>
            </a:gsLst>
            <a:lin ang="5400000" scaled="0"/>
          </a:gradFill>
        </p:spPr>
        <p:style>
          <a:lnRef idx="0">
            <a:srgbClr val="FFFFFF"/>
          </a:lnRef>
          <a:fillRef idx="1">
            <a:schemeClr val="accent5"/>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67" name="Rectangle 1556"/>
          <p:cNvSpPr/>
          <p:nvPr/>
        </p:nvSpPr>
        <p:spPr>
          <a:xfrm>
            <a:off x="6831965" y="1568450"/>
            <a:ext cx="856615" cy="430530"/>
          </a:xfrm>
          <a:prstGeom prst="rect">
            <a:avLst/>
          </a:prstGeom>
        </p:spPr>
        <p:txBody>
          <a:bodyPr wrap="none" lIns="0" tIns="0" rIns="0" bIns="0">
            <a:spAutoFit/>
          </a:bodyPr>
          <a:lstStyle/>
          <a:p>
            <a:pPr marL="0"/>
            <a:r>
              <a:rPr lang="en-US" sz="2795" b="1" spc="0" baseline="0" dirty="0">
                <a:solidFill>
                  <a:schemeClr val="accent5"/>
                </a:solidFill>
                <a:latin typeface="微软雅黑" panose="020B0503020204020204" charset="-122"/>
                <a:ea typeface="微软雅黑" panose="020B0503020204020204" charset="-122"/>
                <a:cs typeface="微软雅黑" panose="020B0503020204020204" charset="-122"/>
              </a:rPr>
              <a:t>100</a:t>
            </a:r>
            <a:r>
              <a:rPr lang="zh-CN" altLang="en-US" sz="1200" b="1" spc="0" baseline="0" dirty="0">
                <a:solidFill>
                  <a:schemeClr val="accent5"/>
                </a:solidFill>
                <a:latin typeface="微软雅黑" panose="020B0503020204020204" charset="-122"/>
                <a:ea typeface="微软雅黑" panose="020B0503020204020204" charset="-122"/>
                <a:cs typeface="微软雅黑" panose="020B0503020204020204" charset="-122"/>
              </a:rPr>
              <a:t>万</a:t>
            </a:r>
            <a:r>
              <a:rPr lang="en-US" sz="1200" b="1" spc="0" baseline="0" dirty="0">
                <a:solidFill>
                  <a:schemeClr val="accent5"/>
                </a:solidFill>
                <a:latin typeface="微软雅黑" panose="020B0503020204020204" charset="-122"/>
                <a:ea typeface="微软雅黑" panose="020B0503020204020204" charset="-122"/>
                <a:cs typeface="微软雅黑" panose="020B0503020204020204" charset="-122"/>
              </a:rPr>
              <a:t>+</a:t>
            </a:r>
            <a:endParaRPr lang="en-US" sz="1200" b="1" spc="0" baseline="0"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73" name="矩形: 圆角 8"/>
          <p:cNvSpPr/>
          <p:nvPr/>
        </p:nvSpPr>
        <p:spPr>
          <a:xfrm>
            <a:off x="8203565" y="1193800"/>
            <a:ext cx="1399540" cy="868680"/>
          </a:xfrm>
          <a:prstGeom prst="roundRect">
            <a:avLst>
              <a:gd name="adj" fmla="val 1871"/>
            </a:avLst>
          </a:prstGeom>
          <a:ln w="6350" cap="flat" cmpd="sng" algn="ctr">
            <a:solidFill>
              <a:schemeClr val="accent5"/>
            </a:solidFill>
            <a:prstDash val="dash"/>
            <a:miter lim="800000"/>
          </a:ln>
        </p:spPr>
        <p:style>
          <a:lnRef idx="0">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74" name="Freeform 1493"/>
          <p:cNvSpPr/>
          <p:nvPr/>
        </p:nvSpPr>
        <p:spPr>
          <a:xfrm>
            <a:off x="8310245" y="1247140"/>
            <a:ext cx="1174115" cy="24828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gradFill>
            <a:gsLst>
              <a:gs pos="0">
                <a:schemeClr val="accent5">
                  <a:lumMod val="60000"/>
                  <a:lumOff val="40000"/>
                </a:schemeClr>
              </a:gs>
              <a:gs pos="100000">
                <a:schemeClr val="accent5"/>
              </a:gs>
            </a:gsLst>
            <a:lin ang="5400000" scaled="0"/>
          </a:gradFill>
        </p:spPr>
        <p:style>
          <a:lnRef idx="0">
            <a:srgbClr val="FFFFFF"/>
          </a:lnRef>
          <a:fillRef idx="1">
            <a:schemeClr val="accent5"/>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82" name="Rectangle 1556"/>
          <p:cNvSpPr/>
          <p:nvPr/>
        </p:nvSpPr>
        <p:spPr>
          <a:xfrm>
            <a:off x="8487410" y="1568450"/>
            <a:ext cx="749300" cy="430530"/>
          </a:xfrm>
          <a:prstGeom prst="rect">
            <a:avLst/>
          </a:prstGeom>
        </p:spPr>
        <p:txBody>
          <a:bodyPr wrap="none" lIns="0" tIns="0" rIns="0" bIns="0">
            <a:spAutoFit/>
          </a:bodyPr>
          <a:lstStyle/>
          <a:p>
            <a:pPr marL="0"/>
            <a:r>
              <a:rPr lang="en-US" sz="2795" b="1" spc="0" baseline="0" dirty="0">
                <a:solidFill>
                  <a:schemeClr val="accent5"/>
                </a:solidFill>
                <a:latin typeface="微软雅黑" panose="020B0503020204020204" charset="-122"/>
                <a:ea typeface="微软雅黑" panose="020B0503020204020204" charset="-122"/>
                <a:cs typeface="微软雅黑" panose="020B0503020204020204" charset="-122"/>
              </a:rPr>
              <a:t>1.5</a:t>
            </a:r>
            <a:r>
              <a:rPr lang="zh-CN" altLang="en-US" sz="1200" b="1" spc="0" baseline="0" dirty="0">
                <a:solidFill>
                  <a:schemeClr val="accent5"/>
                </a:solidFill>
                <a:latin typeface="微软雅黑" panose="020B0503020204020204" charset="-122"/>
                <a:ea typeface="微软雅黑" panose="020B0503020204020204" charset="-122"/>
                <a:cs typeface="微软雅黑" panose="020B0503020204020204" charset="-122"/>
              </a:rPr>
              <a:t>亿</a:t>
            </a:r>
            <a:r>
              <a:rPr lang="en-US" sz="1200" b="1" spc="0" baseline="0" dirty="0">
                <a:solidFill>
                  <a:schemeClr val="accent5"/>
                </a:solidFill>
                <a:latin typeface="微软雅黑" panose="020B0503020204020204" charset="-122"/>
                <a:ea typeface="微软雅黑" panose="020B0503020204020204" charset="-122"/>
                <a:cs typeface="微软雅黑" panose="020B0503020204020204" charset="-122"/>
              </a:rPr>
              <a:t>+</a:t>
            </a:r>
            <a:endParaRPr lang="en-US" sz="1200" b="1" spc="0" baseline="0"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84" name="Rectangle 1553"/>
          <p:cNvSpPr/>
          <p:nvPr/>
        </p:nvSpPr>
        <p:spPr>
          <a:xfrm>
            <a:off x="5473700" y="4352290"/>
            <a:ext cx="1838960" cy="276860"/>
          </a:xfrm>
          <a:prstGeom prst="rect">
            <a:avLst/>
          </a:prstGeom>
        </p:spPr>
        <p:txBody>
          <a:bodyPr wrap="square" lIns="0" tIns="0" rIns="0" bIns="0">
            <a:spAutoFit/>
          </a:bodyPr>
          <a:lstStyle/>
          <a:p>
            <a:pPr marL="0" algn="ctr"/>
            <a:r>
              <a:rPr lang="zh-CN" altLang="en-US" sz="1800" b="1" spc="0" baseline="0" dirty="0">
                <a:solidFill>
                  <a:srgbClr val="FFFFFF"/>
                </a:solidFill>
                <a:latin typeface="微软雅黑" panose="020B0503020204020204" charset="-122"/>
                <a:ea typeface="微软雅黑" panose="020B0503020204020204" charset="-122"/>
                <a:cs typeface="微软雅黑" panose="020B0503020204020204" charset="-122"/>
              </a:rPr>
              <a:t>服务生态转化</a:t>
            </a:r>
            <a:endParaRPr lang="zh-CN" altLang="en-US" sz="1800" b="1" spc="0" baseline="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5" name="矩形: 圆角 43"/>
          <p:cNvSpPr/>
          <p:nvPr/>
        </p:nvSpPr>
        <p:spPr>
          <a:xfrm>
            <a:off x="5310505" y="3018790"/>
            <a:ext cx="1920240" cy="886460"/>
          </a:xfrm>
          <a:prstGeom prst="roundRect">
            <a:avLst>
              <a:gd name="adj" fmla="val 1871"/>
            </a:avLst>
          </a:prstGeom>
          <a:ln w="6350" cap="flat" cmpd="sng" algn="ctr">
            <a:solidFill>
              <a:schemeClr val="accent1">
                <a:lumMod val="60000"/>
                <a:lumOff val="40000"/>
              </a:schemeClr>
            </a:solidFill>
            <a:prstDash val="dash"/>
            <a:miter lim="800000"/>
          </a:ln>
        </p:spPr>
        <p:style>
          <a:lnRef idx="0">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86" name="Freeform 1529"/>
          <p:cNvSpPr/>
          <p:nvPr/>
        </p:nvSpPr>
        <p:spPr>
          <a:xfrm>
            <a:off x="5419090" y="3119755"/>
            <a:ext cx="1675765" cy="242570"/>
          </a:xfrm>
          <a:custGeom>
            <a:avLst/>
            <a:gdLst/>
            <a:ahLst/>
            <a:cxnLst/>
            <a:rect l="0" t="0" r="0" b="0"/>
            <a:pathLst>
              <a:path w="2674620" h="242317">
                <a:moveTo>
                  <a:pt x="0" y="23623"/>
                </a:moveTo>
                <a:cubicBezTo>
                  <a:pt x="0" y="10542"/>
                  <a:pt x="10541" y="0"/>
                  <a:pt x="23622" y="0"/>
                </a:cubicBezTo>
                <a:lnTo>
                  <a:pt x="2650999" y="0"/>
                </a:lnTo>
                <a:cubicBezTo>
                  <a:pt x="2664080" y="0"/>
                  <a:pt x="2674620" y="10542"/>
                  <a:pt x="2674620" y="23623"/>
                </a:cubicBezTo>
                <a:lnTo>
                  <a:pt x="2674620" y="218694"/>
                </a:lnTo>
                <a:cubicBezTo>
                  <a:pt x="2674620" y="231775"/>
                  <a:pt x="2664080" y="242317"/>
                  <a:pt x="2650999" y="242317"/>
                </a:cubicBezTo>
                <a:lnTo>
                  <a:pt x="23622" y="242317"/>
                </a:lnTo>
                <a:cubicBezTo>
                  <a:pt x="10541" y="242317"/>
                  <a:pt x="0" y="231775"/>
                  <a:pt x="0" y="218694"/>
                </a:cubicBezTo>
                <a:close/>
              </a:path>
            </a:pathLst>
          </a:custGeom>
          <a:solidFill>
            <a:srgbClr val="58729A">
              <a:lumMod val="20000"/>
              <a:lumOff val="80000"/>
              <a:alpha val="50195"/>
            </a:srgbClr>
          </a:solidFill>
          <a:ln w="12700">
            <a:noFill/>
          </a:ln>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87" name="矩形: 圆角 43"/>
          <p:cNvSpPr/>
          <p:nvPr/>
        </p:nvSpPr>
        <p:spPr>
          <a:xfrm>
            <a:off x="7601585" y="3018790"/>
            <a:ext cx="1920240" cy="886460"/>
          </a:xfrm>
          <a:prstGeom prst="roundRect">
            <a:avLst>
              <a:gd name="adj" fmla="val 1871"/>
            </a:avLst>
          </a:prstGeom>
          <a:ln w="6350" cap="flat" cmpd="sng" algn="ctr">
            <a:solidFill>
              <a:schemeClr val="accent1">
                <a:lumMod val="60000"/>
                <a:lumOff val="40000"/>
              </a:schemeClr>
            </a:solidFill>
            <a:prstDash val="dash"/>
            <a:miter lim="800000"/>
          </a:ln>
        </p:spPr>
        <p:style>
          <a:lnRef idx="0">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88" name="Freeform 1529"/>
          <p:cNvSpPr/>
          <p:nvPr/>
        </p:nvSpPr>
        <p:spPr>
          <a:xfrm>
            <a:off x="7710170" y="3119755"/>
            <a:ext cx="1675765" cy="242570"/>
          </a:xfrm>
          <a:custGeom>
            <a:avLst/>
            <a:gdLst/>
            <a:ahLst/>
            <a:cxnLst/>
            <a:rect l="0" t="0" r="0" b="0"/>
            <a:pathLst>
              <a:path w="2674620" h="242317">
                <a:moveTo>
                  <a:pt x="0" y="23623"/>
                </a:moveTo>
                <a:cubicBezTo>
                  <a:pt x="0" y="10542"/>
                  <a:pt x="10541" y="0"/>
                  <a:pt x="23622" y="0"/>
                </a:cubicBezTo>
                <a:lnTo>
                  <a:pt x="2650999" y="0"/>
                </a:lnTo>
                <a:cubicBezTo>
                  <a:pt x="2664080" y="0"/>
                  <a:pt x="2674620" y="10542"/>
                  <a:pt x="2674620" y="23623"/>
                </a:cubicBezTo>
                <a:lnTo>
                  <a:pt x="2674620" y="218694"/>
                </a:lnTo>
                <a:cubicBezTo>
                  <a:pt x="2674620" y="231775"/>
                  <a:pt x="2664080" y="242317"/>
                  <a:pt x="2650999" y="242317"/>
                </a:cubicBezTo>
                <a:lnTo>
                  <a:pt x="23622" y="242317"/>
                </a:lnTo>
                <a:cubicBezTo>
                  <a:pt x="10541" y="242317"/>
                  <a:pt x="0" y="231775"/>
                  <a:pt x="0" y="218694"/>
                </a:cubicBezTo>
                <a:close/>
              </a:path>
            </a:pathLst>
          </a:custGeom>
          <a:gradFill>
            <a:gsLst>
              <a:gs pos="0">
                <a:schemeClr val="accent1">
                  <a:lumMod val="40000"/>
                  <a:lumOff val="60000"/>
                </a:schemeClr>
              </a:gs>
              <a:gs pos="100000">
                <a:schemeClr val="accent1">
                  <a:lumMod val="60000"/>
                  <a:lumOff val="40000"/>
                </a:schemeClr>
              </a:gs>
            </a:gsLst>
            <a:lin ang="5400000" scaled="0"/>
          </a:gradFill>
        </p:spPr>
        <p:style>
          <a:lnRef idx="0">
            <a:srgbClr val="FFFFFF"/>
          </a:lnRef>
          <a:fillRef idx="1">
            <a:schemeClr val="accent2"/>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89" name="Rectangle 1564"/>
          <p:cNvSpPr/>
          <p:nvPr/>
        </p:nvSpPr>
        <p:spPr>
          <a:xfrm>
            <a:off x="7874000" y="3996690"/>
            <a:ext cx="1447165" cy="215265"/>
          </a:xfrm>
          <a:prstGeom prst="rect">
            <a:avLst/>
          </a:prstGeom>
        </p:spPr>
        <p:txBody>
          <a:bodyPr wrap="square" lIns="0" tIns="0" rIns="0" bIns="0">
            <a:spAutoFit/>
          </a:bodyPr>
          <a:lstStyle/>
          <a:p>
            <a:pPr lvl="0" algn="l">
              <a:buClrTx/>
              <a:buSzTx/>
              <a:buFontTx/>
              <a:tabLst>
                <a:tab pos="4657090" algn="l"/>
              </a:tabLst>
            </a:pPr>
            <a:r>
              <a:rPr lang="zh-CN" altLang="en-US"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rPr>
              <a:t>精细垂类场景服务</a:t>
            </a:r>
            <a:endParaRPr lang="zh-CN" altLang="en-US"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0" name="Rectangle 1555"/>
          <p:cNvSpPr/>
          <p:nvPr/>
        </p:nvSpPr>
        <p:spPr>
          <a:xfrm>
            <a:off x="3383915" y="3161665"/>
            <a:ext cx="1134110" cy="170180"/>
          </a:xfrm>
          <a:prstGeom prst="rect">
            <a:avLst/>
          </a:prstGeom>
        </p:spPr>
        <p:txBody>
          <a:bodyPr wrap="square" lIns="0" tIns="0" rIns="0" bIns="0">
            <a:spAutoFit/>
          </a:bodyPr>
          <a:lstStyle/>
          <a:p>
            <a:pPr marL="0" algn="ctr"/>
            <a:r>
              <a:rPr lang="zh-CN" altLang="en-US" sz="1105" b="1" spc="0" baseline="0" dirty="0">
                <a:solidFill>
                  <a:schemeClr val="bg2"/>
                </a:solidFill>
                <a:latin typeface="微软雅黑" panose="020B0503020204020204" charset="-122"/>
                <a:ea typeface="微软雅黑" panose="020B0503020204020204" charset="-122"/>
                <a:cs typeface="微软雅黑" panose="020B0503020204020204" charset="-122"/>
              </a:rPr>
              <a:t>智能小程序</a:t>
            </a:r>
            <a:endParaRPr lang="zh-CN" altLang="en-US" sz="1105" b="1" spc="0" baseline="0" dirty="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91" name="Rectangle 1566"/>
          <p:cNvSpPr/>
          <p:nvPr/>
        </p:nvSpPr>
        <p:spPr>
          <a:xfrm>
            <a:off x="3242310" y="3474720"/>
            <a:ext cx="1451610" cy="349885"/>
          </a:xfrm>
          <a:prstGeom prst="rect">
            <a:avLst/>
          </a:prstGeom>
        </p:spPr>
        <p:txBody>
          <a:bodyPr wrap="none" lIns="0" tIns="0" rIns="0" bIns="0">
            <a:spAutoFit/>
          </a:bodyPr>
          <a:lstStyle/>
          <a:p>
            <a:pPr marL="0"/>
            <a:r>
              <a:rPr lang="en-US" sz="3500" b="1" spc="0" baseline="-10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359</a:t>
            </a:r>
            <a:r>
              <a:rPr lang="en-US" sz="3500" b="1" spc="0" baseline="-30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个</a:t>
            </a:r>
            <a:r>
              <a:rPr lang="en-US" sz="2000" b="1" spc="0" baseline="-3000" dirty="0">
                <a:solidFill>
                  <a:schemeClr val="tx2"/>
                </a:solidFill>
                <a:latin typeface="微软雅黑" panose="020B0503020204020204" charset="-122"/>
                <a:ea typeface="微软雅黑" panose="020B0503020204020204" charset="-122"/>
                <a:cs typeface="微软雅黑" panose="020B0503020204020204" charset="-122"/>
              </a:rPr>
              <a:t>行业场景</a:t>
            </a:r>
            <a:endParaRPr lang="en-US" sz="2000" b="1" spc="0" baseline="-3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2" name="Rectangle 1555"/>
          <p:cNvSpPr/>
          <p:nvPr/>
        </p:nvSpPr>
        <p:spPr>
          <a:xfrm>
            <a:off x="5418455" y="3110865"/>
            <a:ext cx="1675765" cy="261620"/>
          </a:xfrm>
          <a:prstGeom prst="rect">
            <a:avLst/>
          </a:prstGeom>
          <a:gradFill>
            <a:gsLst>
              <a:gs pos="0">
                <a:schemeClr val="accent1">
                  <a:lumMod val="40000"/>
                  <a:lumOff val="60000"/>
                </a:schemeClr>
              </a:gs>
              <a:gs pos="100000">
                <a:schemeClr val="accent1">
                  <a:lumMod val="60000"/>
                  <a:lumOff val="40000"/>
                </a:schemeClr>
              </a:gs>
            </a:gsLst>
            <a:lin ang="5400000" scaled="0"/>
          </a:gradFill>
        </p:spPr>
        <p:style>
          <a:lnRef idx="0">
            <a:srgbClr val="FFFFFF"/>
          </a:lnRef>
          <a:fillRef idx="1">
            <a:schemeClr val="accent2"/>
          </a:fillRef>
          <a:effectRef idx="0">
            <a:srgbClr val="FFFFFF"/>
          </a:effectRef>
          <a:fontRef idx="minor">
            <a:schemeClr val="dk1"/>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93" name="Rectangle 1555"/>
          <p:cNvSpPr/>
          <p:nvPr/>
        </p:nvSpPr>
        <p:spPr>
          <a:xfrm>
            <a:off x="7948295" y="3156585"/>
            <a:ext cx="1135380" cy="170180"/>
          </a:xfrm>
          <a:prstGeom prst="rect">
            <a:avLst/>
          </a:prstGeom>
        </p:spPr>
        <p:txBody>
          <a:bodyPr wrap="square" lIns="0" tIns="0" rIns="0" bIns="0">
            <a:spAutoFit/>
          </a:bodyPr>
          <a:lstStyle/>
          <a:p>
            <a:pPr marL="0" algn="ctr"/>
            <a:r>
              <a:rPr lang="zh-CN" altLang="en-US" sz="1105" b="1" spc="0" baseline="0" dirty="0">
                <a:solidFill>
                  <a:schemeClr val="bg2"/>
                </a:solidFill>
                <a:latin typeface="微软雅黑" panose="020B0503020204020204" charset="-122"/>
                <a:ea typeface="微软雅黑" panose="020B0503020204020204" charset="-122"/>
                <a:cs typeface="微软雅黑" panose="020B0503020204020204" charset="-122"/>
              </a:rPr>
              <a:t>垂直场景</a:t>
            </a:r>
            <a:endParaRPr lang="zh-CN" altLang="en-US" sz="1105" b="1" spc="0" baseline="0" dirty="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94" name="Rectangle 1568"/>
          <p:cNvSpPr/>
          <p:nvPr/>
        </p:nvSpPr>
        <p:spPr>
          <a:xfrm>
            <a:off x="5527040" y="3426460"/>
            <a:ext cx="1620520" cy="368935"/>
          </a:xfrm>
          <a:prstGeom prst="rect">
            <a:avLst/>
          </a:prstGeom>
        </p:spPr>
        <p:txBody>
          <a:bodyPr wrap="square" lIns="0" tIns="0" rIns="0" bIns="0">
            <a:spAutoFit/>
          </a:bodyPr>
          <a:lstStyle/>
          <a:p>
            <a:pPr marL="0" algn="l"/>
            <a:r>
              <a:rPr lang="en-US" sz="1200" spc="0" baseline="0" dirty="0">
                <a:solidFill>
                  <a:schemeClr val="tx2"/>
                </a:solidFill>
                <a:latin typeface="微软雅黑" panose="020B0503020204020204" charset="-122"/>
                <a:ea typeface="微软雅黑" panose="020B0503020204020204" charset="-122"/>
                <a:cs typeface="微软雅黑" panose="020B0503020204020204" charset="-122"/>
              </a:rPr>
              <a:t>线索转</a:t>
            </a:r>
            <a:r>
              <a:rPr lang="en-US" sz="1200" spc="1430" baseline="0" dirty="0">
                <a:solidFill>
                  <a:schemeClr val="tx2"/>
                </a:solidFill>
                <a:latin typeface="微软雅黑" panose="020B0503020204020204" charset="-122"/>
                <a:ea typeface="微软雅黑" panose="020B0503020204020204" charset="-122"/>
                <a:cs typeface="微软雅黑" panose="020B0503020204020204" charset="-122"/>
              </a:rPr>
              <a:t>化</a:t>
            </a:r>
            <a:r>
              <a:rPr lang="en-US" sz="1200" spc="0" baseline="0" dirty="0">
                <a:solidFill>
                  <a:schemeClr val="tx2"/>
                </a:solidFill>
                <a:latin typeface="微软雅黑" panose="020B0503020204020204" charset="-122"/>
                <a:ea typeface="微软雅黑" panose="020B0503020204020204" charset="-122"/>
                <a:cs typeface="微软雅黑" panose="020B0503020204020204" charset="-122"/>
              </a:rPr>
              <a:t>电商店</a:t>
            </a:r>
            <a:r>
              <a:rPr lang="en-US" sz="1200" spc="1379" baseline="0" dirty="0">
                <a:solidFill>
                  <a:schemeClr val="tx2"/>
                </a:solidFill>
                <a:latin typeface="微软雅黑" panose="020B0503020204020204" charset="-122"/>
                <a:ea typeface="微软雅黑" panose="020B0503020204020204" charset="-122"/>
                <a:cs typeface="微软雅黑" panose="020B0503020204020204" charset="-122"/>
              </a:rPr>
              <a:t>铺</a:t>
            </a:r>
            <a:endParaRPr lang="en-US" sz="1200" spc="1379" baseline="0" dirty="0">
              <a:solidFill>
                <a:schemeClr val="tx2"/>
              </a:solidFill>
              <a:latin typeface="微软雅黑" panose="020B0503020204020204" charset="-122"/>
              <a:ea typeface="微软雅黑" panose="020B0503020204020204" charset="-122"/>
              <a:cs typeface="微软雅黑" panose="020B0503020204020204" charset="-122"/>
            </a:endParaRPr>
          </a:p>
          <a:p>
            <a:pPr marL="0" algn="l"/>
            <a:r>
              <a:rPr lang="zh-CN" altLang="en-US" sz="1200" spc="0" baseline="0" dirty="0">
                <a:solidFill>
                  <a:schemeClr val="tx2"/>
                </a:solidFill>
                <a:latin typeface="微软雅黑" panose="020B0503020204020204" charset="-122"/>
                <a:ea typeface="微软雅黑" panose="020B0503020204020204" charset="-122"/>
                <a:cs typeface="微软雅黑" panose="020B0503020204020204" charset="-122"/>
              </a:rPr>
              <a:t>在线客服</a:t>
            </a:r>
            <a:r>
              <a:rPr lang="en-US" altLang="zh-CN" sz="1200" spc="0" baseline="0" dirty="0">
                <a:solidFill>
                  <a:schemeClr val="tx2"/>
                </a:solidFill>
                <a:latin typeface="微软雅黑" panose="020B0503020204020204" charset="-122"/>
                <a:ea typeface="微软雅黑" panose="020B0503020204020204" charset="-122"/>
                <a:cs typeface="微软雅黑" panose="020B0503020204020204" charset="-122"/>
              </a:rPr>
              <a:t>     </a:t>
            </a:r>
            <a:r>
              <a:rPr lang="en-US" sz="1200" spc="0" baseline="0" dirty="0">
                <a:solidFill>
                  <a:schemeClr val="tx2"/>
                </a:solidFill>
                <a:latin typeface="微软雅黑" panose="020B0503020204020204" charset="-122"/>
                <a:ea typeface="微软雅黑" panose="020B0503020204020204" charset="-122"/>
                <a:cs typeface="微软雅黑" panose="020B0503020204020204" charset="-122"/>
              </a:rPr>
              <a:t>门店服务</a:t>
            </a:r>
            <a:endParaRPr lang="en-US" sz="1200" spc="0" baseline="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5" name="Freeform 1506"/>
          <p:cNvSpPr/>
          <p:nvPr/>
        </p:nvSpPr>
        <p:spPr>
          <a:xfrm>
            <a:off x="7710170" y="3406775"/>
            <a:ext cx="384810" cy="170815"/>
          </a:xfrm>
          <a:custGeom>
            <a:avLst/>
            <a:gdLst/>
            <a:ahLst/>
            <a:cxnLst/>
            <a:rect l="0" t="0" r="0" b="0"/>
            <a:pathLst>
              <a:path w="551688" h="170689">
                <a:moveTo>
                  <a:pt x="0" y="6478"/>
                </a:moveTo>
                <a:cubicBezTo>
                  <a:pt x="0" y="2922"/>
                  <a:pt x="2920" y="0"/>
                  <a:pt x="6477" y="0"/>
                </a:cubicBezTo>
                <a:lnTo>
                  <a:pt x="545211" y="0"/>
                </a:lnTo>
                <a:cubicBezTo>
                  <a:pt x="548766" y="0"/>
                  <a:pt x="551688" y="2922"/>
                  <a:pt x="551688" y="6478"/>
                </a:cubicBezTo>
                <a:lnTo>
                  <a:pt x="551688" y="164211"/>
                </a:lnTo>
                <a:cubicBezTo>
                  <a:pt x="551688" y="167767"/>
                  <a:pt x="548766" y="170689"/>
                  <a:pt x="545211" y="170689"/>
                </a:cubicBezTo>
                <a:lnTo>
                  <a:pt x="6477" y="170689"/>
                </a:lnTo>
                <a:cubicBezTo>
                  <a:pt x="2920" y="170689"/>
                  <a:pt x="0" y="167767"/>
                  <a:pt x="0" y="164211"/>
                </a:cubicBezTo>
                <a:close/>
              </a:path>
            </a:pathLst>
          </a:custGeom>
          <a:solidFill>
            <a:srgbClr val="FFFFFF">
              <a:lumMod val="85000"/>
            </a:srgbClr>
          </a:solidFill>
          <a:ln w="12700">
            <a:no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pic>
        <p:nvPicPr>
          <p:cNvPr id="96" name="Picture 1507"/>
          <p:cNvPicPr>
            <a:picLocks noChangeArrowheads="1"/>
          </p:cNvPicPr>
          <p:nvPr/>
        </p:nvPicPr>
        <p:blipFill>
          <a:blip r:embed="rId1">
            <a:extLst>
              <a:ext uri="{28A0092B-C50C-407E-A947-70E740481C1C}">
                <a14:useLocalDpi xmlns:a14="http://schemas.microsoft.com/office/drawing/2010/main" val="0"/>
              </a:ext>
            </a:extLst>
          </a:blip>
          <a:srcRect/>
          <a:stretch>
            <a:fillRect/>
          </a:stretch>
        </p:blipFill>
        <p:spPr>
          <a:xfrm>
            <a:off x="7750175" y="3446145"/>
            <a:ext cx="300355" cy="90170"/>
          </a:xfrm>
          <a:prstGeom prst="rect">
            <a:avLst/>
          </a:prstGeom>
          <a:noFill/>
        </p:spPr>
      </p:pic>
      <p:sp>
        <p:nvSpPr>
          <p:cNvPr id="97" name="Freeform 1520"/>
          <p:cNvSpPr/>
          <p:nvPr/>
        </p:nvSpPr>
        <p:spPr>
          <a:xfrm>
            <a:off x="7710170" y="3627755"/>
            <a:ext cx="384175" cy="170815"/>
          </a:xfrm>
          <a:custGeom>
            <a:avLst/>
            <a:gdLst/>
            <a:ahLst/>
            <a:cxnLst/>
            <a:rect l="0" t="0" r="0" b="0"/>
            <a:pathLst>
              <a:path w="551688" h="170688">
                <a:moveTo>
                  <a:pt x="0" y="6477"/>
                </a:moveTo>
                <a:cubicBezTo>
                  <a:pt x="0" y="2920"/>
                  <a:pt x="2920" y="0"/>
                  <a:pt x="6477" y="0"/>
                </a:cubicBezTo>
                <a:lnTo>
                  <a:pt x="545211" y="0"/>
                </a:lnTo>
                <a:cubicBezTo>
                  <a:pt x="548766" y="0"/>
                  <a:pt x="551688" y="2920"/>
                  <a:pt x="551688" y="6477"/>
                </a:cubicBezTo>
                <a:lnTo>
                  <a:pt x="551688" y="164210"/>
                </a:lnTo>
                <a:cubicBezTo>
                  <a:pt x="551688" y="167766"/>
                  <a:pt x="548766" y="170688"/>
                  <a:pt x="545211" y="170688"/>
                </a:cubicBezTo>
                <a:lnTo>
                  <a:pt x="6477" y="170688"/>
                </a:lnTo>
                <a:cubicBezTo>
                  <a:pt x="2920" y="170688"/>
                  <a:pt x="0" y="167766"/>
                  <a:pt x="0" y="164210"/>
                </a:cubicBezTo>
                <a:close/>
              </a:path>
            </a:pathLst>
          </a:custGeom>
          <a:solidFill>
            <a:srgbClr val="FFFFFF">
              <a:lumMod val="85000"/>
            </a:srgbClr>
          </a:solidFill>
          <a:ln w="12700">
            <a:no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pic>
        <p:nvPicPr>
          <p:cNvPr id="98" name="Picture 152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a:xfrm>
            <a:off x="7743825" y="3670300"/>
            <a:ext cx="326390" cy="68580"/>
          </a:xfrm>
          <a:prstGeom prst="rect">
            <a:avLst/>
          </a:prstGeom>
          <a:noFill/>
        </p:spPr>
      </p:pic>
      <p:sp>
        <p:nvSpPr>
          <p:cNvPr id="99" name="Freeform 1506"/>
          <p:cNvSpPr/>
          <p:nvPr/>
        </p:nvSpPr>
        <p:spPr>
          <a:xfrm>
            <a:off x="8138160" y="3406775"/>
            <a:ext cx="384810" cy="170815"/>
          </a:xfrm>
          <a:custGeom>
            <a:avLst/>
            <a:gdLst/>
            <a:ahLst/>
            <a:cxnLst/>
            <a:rect l="0" t="0" r="0" b="0"/>
            <a:pathLst>
              <a:path w="551688" h="170689">
                <a:moveTo>
                  <a:pt x="0" y="6478"/>
                </a:moveTo>
                <a:cubicBezTo>
                  <a:pt x="0" y="2922"/>
                  <a:pt x="2920" y="0"/>
                  <a:pt x="6477" y="0"/>
                </a:cubicBezTo>
                <a:lnTo>
                  <a:pt x="545211" y="0"/>
                </a:lnTo>
                <a:cubicBezTo>
                  <a:pt x="548766" y="0"/>
                  <a:pt x="551688" y="2922"/>
                  <a:pt x="551688" y="6478"/>
                </a:cubicBezTo>
                <a:lnTo>
                  <a:pt x="551688" y="164211"/>
                </a:lnTo>
                <a:cubicBezTo>
                  <a:pt x="551688" y="167767"/>
                  <a:pt x="548766" y="170689"/>
                  <a:pt x="545211" y="170689"/>
                </a:cubicBezTo>
                <a:lnTo>
                  <a:pt x="6477" y="170689"/>
                </a:lnTo>
                <a:cubicBezTo>
                  <a:pt x="2920" y="170689"/>
                  <a:pt x="0" y="167767"/>
                  <a:pt x="0" y="164211"/>
                </a:cubicBezTo>
                <a:close/>
              </a:path>
            </a:pathLst>
          </a:custGeom>
          <a:solidFill>
            <a:srgbClr val="FFFFFF">
              <a:lumMod val="85000"/>
            </a:srgbClr>
          </a:solidFill>
          <a:ln w="12700">
            <a:no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00" name="Freeform 1520"/>
          <p:cNvSpPr/>
          <p:nvPr/>
        </p:nvSpPr>
        <p:spPr>
          <a:xfrm>
            <a:off x="8138160" y="3627755"/>
            <a:ext cx="384175" cy="170815"/>
          </a:xfrm>
          <a:custGeom>
            <a:avLst/>
            <a:gdLst/>
            <a:ahLst/>
            <a:cxnLst/>
            <a:rect l="0" t="0" r="0" b="0"/>
            <a:pathLst>
              <a:path w="551688" h="170688">
                <a:moveTo>
                  <a:pt x="0" y="6477"/>
                </a:moveTo>
                <a:cubicBezTo>
                  <a:pt x="0" y="2920"/>
                  <a:pt x="2920" y="0"/>
                  <a:pt x="6477" y="0"/>
                </a:cubicBezTo>
                <a:lnTo>
                  <a:pt x="545211" y="0"/>
                </a:lnTo>
                <a:cubicBezTo>
                  <a:pt x="548766" y="0"/>
                  <a:pt x="551688" y="2920"/>
                  <a:pt x="551688" y="6477"/>
                </a:cubicBezTo>
                <a:lnTo>
                  <a:pt x="551688" y="164210"/>
                </a:lnTo>
                <a:cubicBezTo>
                  <a:pt x="551688" y="167766"/>
                  <a:pt x="548766" y="170688"/>
                  <a:pt x="545211" y="170688"/>
                </a:cubicBezTo>
                <a:lnTo>
                  <a:pt x="6477" y="170688"/>
                </a:lnTo>
                <a:cubicBezTo>
                  <a:pt x="2920" y="170688"/>
                  <a:pt x="0" y="167766"/>
                  <a:pt x="0" y="164210"/>
                </a:cubicBezTo>
                <a:close/>
              </a:path>
            </a:pathLst>
          </a:custGeom>
          <a:solidFill>
            <a:srgbClr val="FFFFFF">
              <a:lumMod val="85000"/>
            </a:srgbClr>
          </a:solidFill>
          <a:ln w="12700">
            <a:no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pic>
        <p:nvPicPr>
          <p:cNvPr id="101" name="Picture 105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8209280" y="3441065"/>
            <a:ext cx="241300" cy="106680"/>
          </a:xfrm>
          <a:prstGeom prst="rect">
            <a:avLst/>
          </a:prstGeom>
          <a:noFill/>
        </p:spPr>
      </p:pic>
      <p:pic>
        <p:nvPicPr>
          <p:cNvPr id="102" name="Picture 151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a:xfrm>
            <a:off x="8180070" y="3655060"/>
            <a:ext cx="306070" cy="95885"/>
          </a:xfrm>
          <a:prstGeom prst="rect">
            <a:avLst/>
          </a:prstGeom>
          <a:noFill/>
        </p:spPr>
      </p:pic>
      <p:sp>
        <p:nvSpPr>
          <p:cNvPr id="103" name="Freeform 1506"/>
          <p:cNvSpPr/>
          <p:nvPr/>
        </p:nvSpPr>
        <p:spPr>
          <a:xfrm>
            <a:off x="8566150" y="3406775"/>
            <a:ext cx="384810" cy="170815"/>
          </a:xfrm>
          <a:custGeom>
            <a:avLst/>
            <a:gdLst/>
            <a:ahLst/>
            <a:cxnLst/>
            <a:rect l="0" t="0" r="0" b="0"/>
            <a:pathLst>
              <a:path w="551688" h="170689">
                <a:moveTo>
                  <a:pt x="0" y="6478"/>
                </a:moveTo>
                <a:cubicBezTo>
                  <a:pt x="0" y="2922"/>
                  <a:pt x="2920" y="0"/>
                  <a:pt x="6477" y="0"/>
                </a:cubicBezTo>
                <a:lnTo>
                  <a:pt x="545211" y="0"/>
                </a:lnTo>
                <a:cubicBezTo>
                  <a:pt x="548766" y="0"/>
                  <a:pt x="551688" y="2922"/>
                  <a:pt x="551688" y="6478"/>
                </a:cubicBezTo>
                <a:lnTo>
                  <a:pt x="551688" y="164211"/>
                </a:lnTo>
                <a:cubicBezTo>
                  <a:pt x="551688" y="167767"/>
                  <a:pt x="548766" y="170689"/>
                  <a:pt x="545211" y="170689"/>
                </a:cubicBezTo>
                <a:lnTo>
                  <a:pt x="6477" y="170689"/>
                </a:lnTo>
                <a:cubicBezTo>
                  <a:pt x="2920" y="170689"/>
                  <a:pt x="0" y="167767"/>
                  <a:pt x="0" y="164211"/>
                </a:cubicBezTo>
                <a:close/>
              </a:path>
            </a:pathLst>
          </a:custGeom>
          <a:solidFill>
            <a:srgbClr val="FFFFFF">
              <a:lumMod val="85000"/>
            </a:srgbClr>
          </a:solidFill>
          <a:ln w="12700">
            <a:no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04" name="Freeform 1520"/>
          <p:cNvSpPr/>
          <p:nvPr/>
        </p:nvSpPr>
        <p:spPr>
          <a:xfrm>
            <a:off x="8566150" y="3627755"/>
            <a:ext cx="384175" cy="170815"/>
          </a:xfrm>
          <a:custGeom>
            <a:avLst/>
            <a:gdLst/>
            <a:ahLst/>
            <a:cxnLst/>
            <a:rect l="0" t="0" r="0" b="0"/>
            <a:pathLst>
              <a:path w="551688" h="170688">
                <a:moveTo>
                  <a:pt x="0" y="6477"/>
                </a:moveTo>
                <a:cubicBezTo>
                  <a:pt x="0" y="2920"/>
                  <a:pt x="2920" y="0"/>
                  <a:pt x="6477" y="0"/>
                </a:cubicBezTo>
                <a:lnTo>
                  <a:pt x="545211" y="0"/>
                </a:lnTo>
                <a:cubicBezTo>
                  <a:pt x="548766" y="0"/>
                  <a:pt x="551688" y="2920"/>
                  <a:pt x="551688" y="6477"/>
                </a:cubicBezTo>
                <a:lnTo>
                  <a:pt x="551688" y="164210"/>
                </a:lnTo>
                <a:cubicBezTo>
                  <a:pt x="551688" y="167766"/>
                  <a:pt x="548766" y="170688"/>
                  <a:pt x="545211" y="170688"/>
                </a:cubicBezTo>
                <a:lnTo>
                  <a:pt x="6477" y="170688"/>
                </a:lnTo>
                <a:cubicBezTo>
                  <a:pt x="2920" y="170688"/>
                  <a:pt x="0" y="167766"/>
                  <a:pt x="0" y="164210"/>
                </a:cubicBezTo>
                <a:close/>
              </a:path>
            </a:pathLst>
          </a:custGeom>
          <a:solidFill>
            <a:srgbClr val="FFFFFF">
              <a:lumMod val="85000"/>
            </a:srgbClr>
          </a:solidFill>
          <a:ln w="12700">
            <a:no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pic>
        <p:nvPicPr>
          <p:cNvPr id="105" name="Picture 152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a:xfrm>
            <a:off x="8585200" y="3448050"/>
            <a:ext cx="318770" cy="86995"/>
          </a:xfrm>
          <a:prstGeom prst="rect">
            <a:avLst/>
          </a:prstGeom>
          <a:noFill/>
        </p:spPr>
      </p:pic>
      <p:pic>
        <p:nvPicPr>
          <p:cNvPr id="106" name="Picture 152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a:xfrm>
            <a:off x="8595360" y="3667125"/>
            <a:ext cx="144780" cy="86995"/>
          </a:xfrm>
          <a:prstGeom prst="rect">
            <a:avLst/>
          </a:prstGeom>
          <a:noFill/>
        </p:spPr>
      </p:pic>
      <p:sp>
        <p:nvSpPr>
          <p:cNvPr id="107" name="Freeform 1526"/>
          <p:cNvSpPr/>
          <p:nvPr/>
        </p:nvSpPr>
        <p:spPr>
          <a:xfrm>
            <a:off x="8763000" y="3674745"/>
            <a:ext cx="141605" cy="71755"/>
          </a:xfrm>
          <a:custGeom>
            <a:avLst/>
            <a:gdLst/>
            <a:ahLst/>
            <a:cxnLst/>
            <a:rect l="0" t="0" r="0" b="0"/>
            <a:pathLst>
              <a:path w="140207" h="71627">
                <a:moveTo>
                  <a:pt x="75565" y="55371"/>
                </a:moveTo>
                <a:lnTo>
                  <a:pt x="127127" y="55371"/>
                </a:lnTo>
                <a:lnTo>
                  <a:pt x="127127" y="59944"/>
                </a:lnTo>
                <a:lnTo>
                  <a:pt x="75565" y="59944"/>
                </a:lnTo>
                <a:close/>
                <a:moveTo>
                  <a:pt x="20574" y="41656"/>
                </a:moveTo>
                <a:lnTo>
                  <a:pt x="20574" y="50291"/>
                </a:lnTo>
                <a:lnTo>
                  <a:pt x="56642" y="50291"/>
                </a:lnTo>
                <a:lnTo>
                  <a:pt x="56642" y="41656"/>
                </a:lnTo>
                <a:close/>
                <a:moveTo>
                  <a:pt x="83057" y="31241"/>
                </a:moveTo>
                <a:lnTo>
                  <a:pt x="130429" y="31241"/>
                </a:lnTo>
                <a:lnTo>
                  <a:pt x="128651" y="45212"/>
                </a:lnTo>
                <a:lnTo>
                  <a:pt x="140207" y="45212"/>
                </a:lnTo>
                <a:cubicBezTo>
                  <a:pt x="139954" y="50672"/>
                  <a:pt x="139572" y="55626"/>
                  <a:pt x="139192" y="60197"/>
                </a:cubicBezTo>
                <a:cubicBezTo>
                  <a:pt x="138683" y="67183"/>
                  <a:pt x="134874" y="70612"/>
                  <a:pt x="127762" y="70612"/>
                </a:cubicBezTo>
                <a:cubicBezTo>
                  <a:pt x="124587" y="70612"/>
                  <a:pt x="120142" y="70484"/>
                  <a:pt x="114427" y="70358"/>
                </a:cubicBezTo>
                <a:cubicBezTo>
                  <a:pt x="114172" y="68198"/>
                  <a:pt x="113918" y="66294"/>
                  <a:pt x="113411" y="64643"/>
                </a:cubicBezTo>
                <a:cubicBezTo>
                  <a:pt x="118237" y="65023"/>
                  <a:pt x="122681" y="65277"/>
                  <a:pt x="126745" y="65277"/>
                </a:cubicBezTo>
                <a:cubicBezTo>
                  <a:pt x="131064" y="65277"/>
                  <a:pt x="133477" y="63372"/>
                  <a:pt x="133730" y="59563"/>
                </a:cubicBezTo>
                <a:cubicBezTo>
                  <a:pt x="134112" y="56260"/>
                  <a:pt x="134366" y="52958"/>
                  <a:pt x="134492" y="49783"/>
                </a:cubicBezTo>
                <a:lnTo>
                  <a:pt x="85217" y="49783"/>
                </a:lnTo>
                <a:lnTo>
                  <a:pt x="87376" y="38100"/>
                </a:lnTo>
                <a:lnTo>
                  <a:pt x="92964" y="38100"/>
                </a:lnTo>
                <a:lnTo>
                  <a:pt x="91567" y="45212"/>
                </a:lnTo>
                <a:lnTo>
                  <a:pt x="123063" y="45212"/>
                </a:lnTo>
                <a:lnTo>
                  <a:pt x="124332" y="35940"/>
                </a:lnTo>
                <a:lnTo>
                  <a:pt x="83057" y="35940"/>
                </a:lnTo>
                <a:close/>
                <a:moveTo>
                  <a:pt x="20574" y="28066"/>
                </a:moveTo>
                <a:lnTo>
                  <a:pt x="20574" y="36702"/>
                </a:lnTo>
                <a:lnTo>
                  <a:pt x="56642" y="36702"/>
                </a:lnTo>
                <a:lnTo>
                  <a:pt x="56642" y="28066"/>
                </a:lnTo>
                <a:close/>
                <a:moveTo>
                  <a:pt x="118617" y="10414"/>
                </a:moveTo>
                <a:lnTo>
                  <a:pt x="118617" y="20827"/>
                </a:lnTo>
                <a:lnTo>
                  <a:pt x="134619" y="20827"/>
                </a:lnTo>
                <a:lnTo>
                  <a:pt x="134619" y="10414"/>
                </a:lnTo>
                <a:close/>
                <a:moveTo>
                  <a:pt x="113411" y="5969"/>
                </a:moveTo>
                <a:lnTo>
                  <a:pt x="139827" y="5969"/>
                </a:lnTo>
                <a:lnTo>
                  <a:pt x="139827" y="27813"/>
                </a:lnTo>
                <a:lnTo>
                  <a:pt x="134619" y="27813"/>
                </a:lnTo>
                <a:lnTo>
                  <a:pt x="134619" y="25400"/>
                </a:lnTo>
                <a:lnTo>
                  <a:pt x="118617" y="25400"/>
                </a:lnTo>
                <a:lnTo>
                  <a:pt x="118617" y="27558"/>
                </a:lnTo>
                <a:lnTo>
                  <a:pt x="113411" y="27558"/>
                </a:lnTo>
                <a:close/>
                <a:moveTo>
                  <a:pt x="86232" y="634"/>
                </a:moveTo>
                <a:lnTo>
                  <a:pt x="91440" y="634"/>
                </a:lnTo>
                <a:cubicBezTo>
                  <a:pt x="91440" y="3175"/>
                  <a:pt x="91313" y="5460"/>
                  <a:pt x="91186" y="7746"/>
                </a:cubicBezTo>
                <a:lnTo>
                  <a:pt x="107695" y="7746"/>
                </a:lnTo>
                <a:cubicBezTo>
                  <a:pt x="107568" y="11938"/>
                  <a:pt x="107442" y="15366"/>
                  <a:pt x="107188" y="18160"/>
                </a:cubicBezTo>
                <a:cubicBezTo>
                  <a:pt x="106933" y="24510"/>
                  <a:pt x="104013" y="27685"/>
                  <a:pt x="98297" y="27685"/>
                </a:cubicBezTo>
                <a:cubicBezTo>
                  <a:pt x="96266" y="27685"/>
                  <a:pt x="94106" y="27685"/>
                  <a:pt x="91820" y="27558"/>
                </a:cubicBezTo>
                <a:cubicBezTo>
                  <a:pt x="91567" y="26034"/>
                  <a:pt x="91186" y="24383"/>
                  <a:pt x="90678" y="22733"/>
                </a:cubicBezTo>
                <a:cubicBezTo>
                  <a:pt x="93217" y="22987"/>
                  <a:pt x="95377" y="23114"/>
                  <a:pt x="97154" y="23114"/>
                </a:cubicBezTo>
                <a:cubicBezTo>
                  <a:pt x="100203" y="23114"/>
                  <a:pt x="101854" y="21335"/>
                  <a:pt x="101980" y="18033"/>
                </a:cubicBezTo>
                <a:cubicBezTo>
                  <a:pt x="102107" y="16509"/>
                  <a:pt x="102234" y="14604"/>
                  <a:pt x="102362" y="12319"/>
                </a:cubicBezTo>
                <a:lnTo>
                  <a:pt x="90551" y="12319"/>
                </a:lnTo>
                <a:cubicBezTo>
                  <a:pt x="89662" y="20065"/>
                  <a:pt x="85090" y="26162"/>
                  <a:pt x="76707" y="30733"/>
                </a:cubicBezTo>
                <a:cubicBezTo>
                  <a:pt x="75818" y="29209"/>
                  <a:pt x="74803" y="27558"/>
                  <a:pt x="73279" y="25908"/>
                </a:cubicBezTo>
                <a:cubicBezTo>
                  <a:pt x="80391" y="22352"/>
                  <a:pt x="84328" y="17907"/>
                  <a:pt x="85217" y="12319"/>
                </a:cubicBezTo>
                <a:lnTo>
                  <a:pt x="76072" y="12319"/>
                </a:lnTo>
                <a:lnTo>
                  <a:pt x="76072" y="7746"/>
                </a:lnTo>
                <a:lnTo>
                  <a:pt x="85979" y="7746"/>
                </a:lnTo>
                <a:cubicBezTo>
                  <a:pt x="86105" y="5588"/>
                  <a:pt x="86232" y="3175"/>
                  <a:pt x="86232" y="634"/>
                </a:cubicBezTo>
                <a:close/>
                <a:moveTo>
                  <a:pt x="27813" y="0"/>
                </a:moveTo>
                <a:lnTo>
                  <a:pt x="33781" y="1396"/>
                </a:lnTo>
                <a:cubicBezTo>
                  <a:pt x="32766" y="4064"/>
                  <a:pt x="31750" y="6731"/>
                  <a:pt x="30606" y="9270"/>
                </a:cubicBezTo>
                <a:lnTo>
                  <a:pt x="70992" y="9270"/>
                </a:lnTo>
                <a:lnTo>
                  <a:pt x="70992" y="14604"/>
                </a:lnTo>
                <a:lnTo>
                  <a:pt x="27940" y="14604"/>
                </a:lnTo>
                <a:cubicBezTo>
                  <a:pt x="26542" y="17526"/>
                  <a:pt x="24892" y="20320"/>
                  <a:pt x="23114" y="22987"/>
                </a:cubicBezTo>
                <a:lnTo>
                  <a:pt x="62356" y="22987"/>
                </a:lnTo>
                <a:lnTo>
                  <a:pt x="62356" y="61721"/>
                </a:lnTo>
                <a:cubicBezTo>
                  <a:pt x="62356" y="67690"/>
                  <a:pt x="59436" y="70739"/>
                  <a:pt x="53720" y="70739"/>
                </a:cubicBezTo>
                <a:cubicBezTo>
                  <a:pt x="51180" y="70739"/>
                  <a:pt x="47370" y="70739"/>
                  <a:pt x="42164" y="70739"/>
                </a:cubicBezTo>
                <a:cubicBezTo>
                  <a:pt x="41909" y="69088"/>
                  <a:pt x="41529" y="67183"/>
                  <a:pt x="41147" y="64770"/>
                </a:cubicBezTo>
                <a:cubicBezTo>
                  <a:pt x="45466" y="65151"/>
                  <a:pt x="49021" y="65277"/>
                  <a:pt x="51689" y="65277"/>
                </a:cubicBezTo>
                <a:cubicBezTo>
                  <a:pt x="54991" y="65277"/>
                  <a:pt x="56642" y="63627"/>
                  <a:pt x="56642" y="60452"/>
                </a:cubicBezTo>
                <a:lnTo>
                  <a:pt x="56642" y="55245"/>
                </a:lnTo>
                <a:lnTo>
                  <a:pt x="20574" y="55245"/>
                </a:lnTo>
                <a:lnTo>
                  <a:pt x="20574" y="71627"/>
                </a:lnTo>
                <a:lnTo>
                  <a:pt x="14858" y="71627"/>
                </a:lnTo>
                <a:lnTo>
                  <a:pt x="14858" y="34163"/>
                </a:lnTo>
                <a:cubicBezTo>
                  <a:pt x="11429" y="38227"/>
                  <a:pt x="7619" y="42164"/>
                  <a:pt x="3429" y="45846"/>
                </a:cubicBezTo>
                <a:cubicBezTo>
                  <a:pt x="2413" y="44195"/>
                  <a:pt x="1269" y="42418"/>
                  <a:pt x="0" y="40639"/>
                </a:cubicBezTo>
                <a:cubicBezTo>
                  <a:pt x="9270" y="32765"/>
                  <a:pt x="16382" y="24129"/>
                  <a:pt x="21590" y="14604"/>
                </a:cubicBezTo>
                <a:lnTo>
                  <a:pt x="2031" y="14604"/>
                </a:lnTo>
                <a:lnTo>
                  <a:pt x="2031" y="9270"/>
                </a:lnTo>
                <a:lnTo>
                  <a:pt x="24256" y="9270"/>
                </a:lnTo>
                <a:cubicBezTo>
                  <a:pt x="25654" y="6222"/>
                  <a:pt x="26796" y="3175"/>
                  <a:pt x="27813" y="0"/>
                </a:cubicBezTo>
                <a:close/>
              </a:path>
            </a:pathLst>
          </a:custGeom>
          <a:solidFill>
            <a:srgbClr val="3E3E3E">
              <a:alpha val="100000"/>
            </a:srgbClr>
          </a:solidFill>
          <a:ln w="12700">
            <a:noFill/>
          </a:ln>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b="1">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08" name="Freeform 1506"/>
          <p:cNvSpPr/>
          <p:nvPr/>
        </p:nvSpPr>
        <p:spPr>
          <a:xfrm>
            <a:off x="8994140" y="3406775"/>
            <a:ext cx="384810" cy="170815"/>
          </a:xfrm>
          <a:custGeom>
            <a:avLst/>
            <a:gdLst/>
            <a:ahLst/>
            <a:cxnLst/>
            <a:rect l="0" t="0" r="0" b="0"/>
            <a:pathLst>
              <a:path w="551688" h="170689">
                <a:moveTo>
                  <a:pt x="0" y="6478"/>
                </a:moveTo>
                <a:cubicBezTo>
                  <a:pt x="0" y="2922"/>
                  <a:pt x="2920" y="0"/>
                  <a:pt x="6477" y="0"/>
                </a:cubicBezTo>
                <a:lnTo>
                  <a:pt x="545211" y="0"/>
                </a:lnTo>
                <a:cubicBezTo>
                  <a:pt x="548766" y="0"/>
                  <a:pt x="551688" y="2922"/>
                  <a:pt x="551688" y="6478"/>
                </a:cubicBezTo>
                <a:lnTo>
                  <a:pt x="551688" y="164211"/>
                </a:lnTo>
                <a:cubicBezTo>
                  <a:pt x="551688" y="167767"/>
                  <a:pt x="548766" y="170689"/>
                  <a:pt x="545211" y="170689"/>
                </a:cubicBezTo>
                <a:lnTo>
                  <a:pt x="6477" y="170689"/>
                </a:lnTo>
                <a:cubicBezTo>
                  <a:pt x="2920" y="170689"/>
                  <a:pt x="0" y="167767"/>
                  <a:pt x="0" y="164211"/>
                </a:cubicBezTo>
                <a:close/>
              </a:path>
            </a:pathLst>
          </a:custGeom>
          <a:solidFill>
            <a:srgbClr val="FFFFFF">
              <a:lumMod val="85000"/>
            </a:srgbClr>
          </a:solidFill>
          <a:ln w="12700">
            <a:no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09" name="Freeform 1506"/>
          <p:cNvSpPr/>
          <p:nvPr/>
        </p:nvSpPr>
        <p:spPr>
          <a:xfrm>
            <a:off x="8994140" y="3627755"/>
            <a:ext cx="384810" cy="170815"/>
          </a:xfrm>
          <a:custGeom>
            <a:avLst/>
            <a:gdLst/>
            <a:ahLst/>
            <a:cxnLst/>
            <a:rect l="0" t="0" r="0" b="0"/>
            <a:pathLst>
              <a:path w="551688" h="170689">
                <a:moveTo>
                  <a:pt x="0" y="6478"/>
                </a:moveTo>
                <a:cubicBezTo>
                  <a:pt x="0" y="2922"/>
                  <a:pt x="2920" y="0"/>
                  <a:pt x="6477" y="0"/>
                </a:cubicBezTo>
                <a:lnTo>
                  <a:pt x="545211" y="0"/>
                </a:lnTo>
                <a:cubicBezTo>
                  <a:pt x="548766" y="0"/>
                  <a:pt x="551688" y="2922"/>
                  <a:pt x="551688" y="6478"/>
                </a:cubicBezTo>
                <a:lnTo>
                  <a:pt x="551688" y="164211"/>
                </a:lnTo>
                <a:cubicBezTo>
                  <a:pt x="551688" y="167767"/>
                  <a:pt x="548766" y="170689"/>
                  <a:pt x="545211" y="170689"/>
                </a:cubicBezTo>
                <a:lnTo>
                  <a:pt x="6477" y="170689"/>
                </a:lnTo>
                <a:cubicBezTo>
                  <a:pt x="2920" y="170689"/>
                  <a:pt x="0" y="167767"/>
                  <a:pt x="0" y="164211"/>
                </a:cubicBezTo>
                <a:close/>
              </a:path>
            </a:pathLst>
          </a:custGeom>
          <a:solidFill>
            <a:srgbClr val="FFFFFF">
              <a:lumMod val="85000"/>
            </a:srgbClr>
          </a:solidFill>
          <a:ln w="12700">
            <a:noFill/>
          </a:ln>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pic>
        <p:nvPicPr>
          <p:cNvPr id="110" name="Picture 152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a:xfrm>
            <a:off x="9046845" y="3668395"/>
            <a:ext cx="250190" cy="93980"/>
          </a:xfrm>
          <a:prstGeom prst="rect">
            <a:avLst/>
          </a:prstGeom>
          <a:noFill/>
        </p:spPr>
      </p:pic>
      <p:pic>
        <p:nvPicPr>
          <p:cNvPr id="111" name="Picture 151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a:xfrm>
            <a:off x="9016365" y="3428365"/>
            <a:ext cx="161290" cy="129540"/>
          </a:xfrm>
          <a:prstGeom prst="rect">
            <a:avLst/>
          </a:prstGeom>
          <a:noFill/>
        </p:spPr>
      </p:pic>
      <p:sp>
        <p:nvSpPr>
          <p:cNvPr id="112" name="文本框 111"/>
          <p:cNvSpPr txBox="1"/>
          <p:nvPr/>
        </p:nvSpPr>
        <p:spPr>
          <a:xfrm>
            <a:off x="9083675" y="3423285"/>
            <a:ext cx="384175" cy="168275"/>
          </a:xfrm>
          <a:prstGeom prst="rect">
            <a:avLst/>
          </a:prstGeom>
          <a:noFill/>
        </p:spPr>
        <p:txBody>
          <a:bodyPr wrap="square" rtlCol="0">
            <a:spAutoFit/>
          </a:bodyPr>
          <a:lstStyle/>
          <a:p>
            <a:r>
              <a:rPr lang="zh-CN" altLang="en-US" sz="500">
                <a:solidFill>
                  <a:srgbClr val="000000"/>
                </a:solidFill>
                <a:latin typeface="微软雅黑" panose="020B0503020204020204" charset="-122"/>
                <a:ea typeface="微软雅黑" panose="020B0503020204020204" charset="-122"/>
                <a:cs typeface="微软雅黑" panose="020B0503020204020204" charset="-122"/>
              </a:rPr>
              <a:t>装馨家</a:t>
            </a:r>
            <a:endParaRPr lang="zh-CN" altLang="en-US" sz="500">
              <a:solidFill>
                <a:srgbClr val="000000"/>
              </a:solidFill>
              <a:latin typeface="微软雅黑" panose="020B0503020204020204" charset="-122"/>
              <a:ea typeface="微软雅黑" panose="020B0503020204020204" charset="-122"/>
              <a:cs typeface="微软雅黑" panose="020B0503020204020204" charset="-122"/>
            </a:endParaRPr>
          </a:p>
        </p:txBody>
      </p:sp>
      <p:sp>
        <p:nvSpPr>
          <p:cNvPr id="115" name="Rectangle 1569"/>
          <p:cNvSpPr/>
          <p:nvPr/>
        </p:nvSpPr>
        <p:spPr>
          <a:xfrm>
            <a:off x="3584575" y="5767705"/>
            <a:ext cx="1962785" cy="215265"/>
          </a:xfrm>
          <a:prstGeom prst="rect">
            <a:avLst/>
          </a:prstGeom>
        </p:spPr>
        <p:txBody>
          <a:bodyPr wrap="none" lIns="0" tIns="0" rIns="0" bIns="0">
            <a:spAutoFit/>
          </a:bodyPr>
          <a:lstStyle/>
          <a:p>
            <a:pPr marL="0"/>
            <a:r>
              <a:rPr lang="en-US" sz="1400" b="1" spc="0" baseline="0" dirty="0">
                <a:solidFill>
                  <a:schemeClr val="accent1"/>
                </a:solidFill>
                <a:latin typeface="微软雅黑" panose="020B0503020204020204" charset="-122"/>
                <a:ea typeface="微软雅黑" panose="020B0503020204020204" charset="-122"/>
                <a:cs typeface="微软雅黑" panose="020B0503020204020204" charset="-122"/>
              </a:rPr>
              <a:t>品牌人格化长效沟通阵地</a:t>
            </a:r>
            <a:endParaRPr lang="en-US" sz="1400" b="1" spc="0" baseline="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16" name="矩形: 圆角 48"/>
          <p:cNvSpPr/>
          <p:nvPr/>
        </p:nvSpPr>
        <p:spPr>
          <a:xfrm>
            <a:off x="3110230" y="4839335"/>
            <a:ext cx="3037205" cy="824865"/>
          </a:xfrm>
          <a:prstGeom prst="roundRect">
            <a:avLst>
              <a:gd name="adj" fmla="val 1871"/>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txBody>
          <a:bodyPr rtlCol="0" anchor="ctr"/>
          <a:lstStyle/>
          <a:p>
            <a:pPr algn="ctr"/>
            <a:endParaRPr lang="zh-CN" altLang="en-US" b="1" dirty="0">
              <a:solidFill>
                <a:srgbClr val="24396B"/>
              </a:solidFill>
              <a:latin typeface="微软雅黑" panose="020B0503020204020204" charset="-122"/>
              <a:ea typeface="微软雅黑" panose="020B0503020204020204" charset="-122"/>
              <a:cs typeface="微软雅黑" panose="020B0503020204020204" charset="-122"/>
            </a:endParaRPr>
          </a:p>
        </p:txBody>
      </p:sp>
      <p:sp>
        <p:nvSpPr>
          <p:cNvPr id="117" name="Freeform 1535"/>
          <p:cNvSpPr/>
          <p:nvPr/>
        </p:nvSpPr>
        <p:spPr>
          <a:xfrm>
            <a:off x="3197225" y="4919345"/>
            <a:ext cx="2874010" cy="243840"/>
          </a:xfrm>
          <a:custGeom>
            <a:avLst/>
            <a:gdLst/>
            <a:ahLst/>
            <a:cxnLst/>
            <a:rect l="0" t="0" r="0" b="0"/>
            <a:pathLst>
              <a:path w="4081272" h="243839">
                <a:moveTo>
                  <a:pt x="0" y="23748"/>
                </a:moveTo>
                <a:cubicBezTo>
                  <a:pt x="0" y="10667"/>
                  <a:pt x="10667" y="0"/>
                  <a:pt x="23748" y="0"/>
                </a:cubicBezTo>
                <a:lnTo>
                  <a:pt x="4057523" y="0"/>
                </a:lnTo>
                <a:cubicBezTo>
                  <a:pt x="4070604" y="0"/>
                  <a:pt x="4081272" y="10667"/>
                  <a:pt x="4081272" y="23748"/>
                </a:cubicBezTo>
                <a:lnTo>
                  <a:pt x="4081272" y="220091"/>
                </a:lnTo>
                <a:cubicBezTo>
                  <a:pt x="4081272" y="233172"/>
                  <a:pt x="4070604" y="243839"/>
                  <a:pt x="4057523" y="243839"/>
                </a:cubicBezTo>
                <a:lnTo>
                  <a:pt x="23748" y="243839"/>
                </a:lnTo>
                <a:cubicBezTo>
                  <a:pt x="10667" y="243839"/>
                  <a:pt x="0" y="233172"/>
                  <a:pt x="0" y="220091"/>
                </a:cubicBezTo>
                <a:close/>
              </a:path>
            </a:pathLst>
          </a:custGeom>
          <a:gradFill>
            <a:gsLst>
              <a:gs pos="0">
                <a:schemeClr val="accent1">
                  <a:lumMod val="60000"/>
                  <a:lumOff val="40000"/>
                </a:schemeClr>
              </a:gs>
              <a:gs pos="100000">
                <a:schemeClr val="accent1"/>
              </a:gs>
            </a:gsLst>
            <a:lin ang="5400000" scaled="0"/>
          </a:gradFill>
        </p:spPr>
        <p:style>
          <a:lnRef idx="0">
            <a:srgbClr val="FFFFFF"/>
          </a:lnRef>
          <a:fillRef idx="1">
            <a:schemeClr val="accent1"/>
          </a:fillRef>
          <a:effectRef idx="0">
            <a:srgbClr val="FFFFFF"/>
          </a:effectRef>
          <a:fontRef idx="minor">
            <a:schemeClr val="dk1"/>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18" name="Freeform 1536"/>
          <p:cNvSpPr/>
          <p:nvPr/>
        </p:nvSpPr>
        <p:spPr>
          <a:xfrm>
            <a:off x="3209925" y="5248275"/>
            <a:ext cx="1419860" cy="338455"/>
          </a:xfrm>
          <a:custGeom>
            <a:avLst/>
            <a:gdLst/>
            <a:ahLst/>
            <a:cxnLst/>
            <a:rect l="0" t="0" r="0" b="0"/>
            <a:pathLst>
              <a:path w="1716024" h="338328">
                <a:moveTo>
                  <a:pt x="0" y="338328"/>
                </a:moveTo>
                <a:lnTo>
                  <a:pt x="1716024" y="338328"/>
                </a:lnTo>
                <a:lnTo>
                  <a:pt x="1716024" y="0"/>
                </a:lnTo>
                <a:lnTo>
                  <a:pt x="0" y="0"/>
                </a:lnTo>
                <a:lnTo>
                  <a:pt x="0" y="338328"/>
                </a:lnTo>
                <a:close/>
              </a:path>
            </a:pathLst>
          </a:custGeom>
          <a:ln>
            <a:solidFill>
              <a:schemeClr val="accent1">
                <a:alpha val="50000"/>
              </a:schemeClr>
            </a:solidFill>
          </a:ln>
        </p:spPr>
        <p:style>
          <a:lnRef idx="3">
            <a:schemeClr val="accent1"/>
          </a:lnRef>
          <a:fillRef idx="0">
            <a:srgbClr val="FFFFFF"/>
          </a:fillRef>
          <a:effectRef idx="0">
            <a:srgbClr val="FFFFFF"/>
          </a:effectRef>
          <a:fontRef idx="minor">
            <a:schemeClr val="tx1"/>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20" name="Freeform 1537"/>
          <p:cNvSpPr/>
          <p:nvPr/>
        </p:nvSpPr>
        <p:spPr>
          <a:xfrm>
            <a:off x="4702175" y="5248275"/>
            <a:ext cx="1357630" cy="338455"/>
          </a:xfrm>
          <a:custGeom>
            <a:avLst/>
            <a:gdLst/>
            <a:ahLst/>
            <a:cxnLst/>
            <a:rect l="0" t="0" r="0" b="0"/>
            <a:pathLst>
              <a:path w="2241804" h="338328">
                <a:moveTo>
                  <a:pt x="0" y="338328"/>
                </a:moveTo>
                <a:lnTo>
                  <a:pt x="2241804" y="338328"/>
                </a:lnTo>
                <a:lnTo>
                  <a:pt x="2241804" y="0"/>
                </a:lnTo>
                <a:lnTo>
                  <a:pt x="0" y="0"/>
                </a:lnTo>
                <a:lnTo>
                  <a:pt x="0" y="338328"/>
                </a:lnTo>
                <a:close/>
              </a:path>
            </a:pathLst>
          </a:custGeom>
          <a:ln>
            <a:solidFill>
              <a:schemeClr val="accent1">
                <a:alpha val="50000"/>
              </a:schemeClr>
            </a:solidFill>
          </a:ln>
        </p:spPr>
        <p:style>
          <a:lnRef idx="3">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22" name="Rectangle 1570"/>
          <p:cNvSpPr/>
          <p:nvPr/>
        </p:nvSpPr>
        <p:spPr>
          <a:xfrm>
            <a:off x="3677920" y="4938395"/>
            <a:ext cx="1795780" cy="224790"/>
          </a:xfrm>
          <a:prstGeom prst="rect">
            <a:avLst/>
          </a:prstGeom>
        </p:spPr>
        <p:txBody>
          <a:bodyPr wrap="square" lIns="0" tIns="0" rIns="0" bIns="0" anchor="ctr" anchorCtr="0">
            <a:noAutofit/>
          </a:bodyPr>
          <a:lstStyle/>
          <a:p>
            <a:pPr marL="0" algn="ctr"/>
            <a:r>
              <a:rPr lang="en-US" sz="1105" b="1" spc="0" baseline="0" dirty="0">
                <a:solidFill>
                  <a:srgbClr val="FFFFFF"/>
                </a:solidFill>
                <a:latin typeface="微软雅黑" panose="020B0503020204020204" charset="-122"/>
                <a:ea typeface="微软雅黑" panose="020B0503020204020204" charset="-122"/>
                <a:cs typeface="微软雅黑" panose="020B0503020204020204" charset="-122"/>
              </a:rPr>
              <a:t>企业百家号</a:t>
            </a:r>
            <a:endParaRPr lang="en-US" sz="1105" b="1" spc="0" baseline="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5" name="Rectangle 1571"/>
          <p:cNvSpPr/>
          <p:nvPr/>
        </p:nvSpPr>
        <p:spPr>
          <a:xfrm>
            <a:off x="3390900" y="5334000"/>
            <a:ext cx="1016000" cy="153670"/>
          </a:xfrm>
          <a:prstGeom prst="rect">
            <a:avLst/>
          </a:prstGeom>
        </p:spPr>
        <p:txBody>
          <a:bodyPr wrap="none" lIns="0" tIns="0" rIns="0" bIns="0">
            <a:spAutoFit/>
          </a:bodyPr>
          <a:lstStyle/>
          <a:p>
            <a:pPr marL="0">
              <a:tabLst>
                <a:tab pos="2111375" algn="l"/>
              </a:tabLst>
            </a:pPr>
            <a:r>
              <a:rPr lang="en-US" sz="995" spc="0" baseline="0" dirty="0">
                <a:solidFill>
                  <a:schemeClr val="accent1"/>
                </a:solidFill>
                <a:latin typeface="微软雅黑" panose="020B0503020204020204" charset="-122"/>
                <a:ea typeface="微软雅黑" panose="020B0503020204020204" charset="-122"/>
                <a:cs typeface="微软雅黑" panose="020B0503020204020204" charset="-122"/>
              </a:rPr>
              <a:t>阵地建设能力夯实</a:t>
            </a:r>
            <a:endParaRPr lang="en-US" sz="995" spc="0" baseline="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26" name="Rectangle 1571"/>
          <p:cNvSpPr/>
          <p:nvPr/>
        </p:nvSpPr>
        <p:spPr>
          <a:xfrm>
            <a:off x="4850765" y="5338445"/>
            <a:ext cx="1016000" cy="153670"/>
          </a:xfrm>
          <a:prstGeom prst="rect">
            <a:avLst/>
          </a:prstGeom>
        </p:spPr>
        <p:txBody>
          <a:bodyPr wrap="none" lIns="0" tIns="0" rIns="0" bIns="0">
            <a:spAutoFit/>
          </a:bodyPr>
          <a:lstStyle/>
          <a:p>
            <a:pPr lvl="0" algn="l">
              <a:buClrTx/>
              <a:buSzTx/>
              <a:buFontTx/>
              <a:tabLst>
                <a:tab pos="2111375" algn="l"/>
              </a:tabLst>
            </a:pPr>
            <a:r>
              <a:rPr lang="en-US" sz="995" dirty="0">
                <a:solidFill>
                  <a:schemeClr val="accent1"/>
                </a:solidFill>
                <a:latin typeface="微软雅黑" panose="020B0503020204020204" charset="-122"/>
                <a:ea typeface="微软雅黑" panose="020B0503020204020204" charset="-122"/>
                <a:cs typeface="微软雅黑" panose="020B0503020204020204" charset="-122"/>
                <a:sym typeface="+mn-ea"/>
              </a:rPr>
              <a:t>用户沟通效果增强</a:t>
            </a:r>
            <a:endParaRPr lang="en-US" sz="995"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128" name="Rectangle 1569"/>
          <p:cNvSpPr/>
          <p:nvPr/>
        </p:nvSpPr>
        <p:spPr>
          <a:xfrm>
            <a:off x="7303135" y="5743575"/>
            <a:ext cx="1427480" cy="215265"/>
          </a:xfrm>
          <a:prstGeom prst="rect">
            <a:avLst/>
          </a:prstGeom>
        </p:spPr>
        <p:txBody>
          <a:bodyPr wrap="none" lIns="0" tIns="0" rIns="0" bIns="0">
            <a:spAutoFit/>
          </a:bodyPr>
          <a:lstStyle/>
          <a:p>
            <a:pPr marL="0" algn="l"/>
            <a:r>
              <a:rPr lang="zh-CN" altLang="en-US" sz="1400" b="1" spc="0" baseline="0" dirty="0">
                <a:solidFill>
                  <a:schemeClr val="accent1"/>
                </a:solidFill>
                <a:latin typeface="微软雅黑" panose="020B0503020204020204" charset="-122"/>
                <a:ea typeface="微软雅黑" panose="020B0503020204020204" charset="-122"/>
                <a:cs typeface="微软雅黑" panose="020B0503020204020204" charset="-122"/>
              </a:rPr>
              <a:t>人格化沟通新场景</a:t>
            </a:r>
            <a:endParaRPr lang="zh-CN" altLang="en-US" sz="1400" b="1" spc="0" baseline="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29" name="矩形: 圆角 48"/>
          <p:cNvSpPr/>
          <p:nvPr/>
        </p:nvSpPr>
        <p:spPr>
          <a:xfrm>
            <a:off x="6423660" y="4839335"/>
            <a:ext cx="3037205" cy="824865"/>
          </a:xfrm>
          <a:prstGeom prst="roundRect">
            <a:avLst>
              <a:gd name="adj" fmla="val 1871"/>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31" name="Freeform 1535"/>
          <p:cNvSpPr/>
          <p:nvPr/>
        </p:nvSpPr>
        <p:spPr>
          <a:xfrm>
            <a:off x="6510655" y="4919345"/>
            <a:ext cx="2874010" cy="243840"/>
          </a:xfrm>
          <a:custGeom>
            <a:avLst/>
            <a:gdLst/>
            <a:ahLst/>
            <a:cxnLst/>
            <a:rect l="0" t="0" r="0" b="0"/>
            <a:pathLst>
              <a:path w="4081272" h="243839">
                <a:moveTo>
                  <a:pt x="0" y="23748"/>
                </a:moveTo>
                <a:cubicBezTo>
                  <a:pt x="0" y="10667"/>
                  <a:pt x="10667" y="0"/>
                  <a:pt x="23748" y="0"/>
                </a:cubicBezTo>
                <a:lnTo>
                  <a:pt x="4057523" y="0"/>
                </a:lnTo>
                <a:cubicBezTo>
                  <a:pt x="4070604" y="0"/>
                  <a:pt x="4081272" y="10667"/>
                  <a:pt x="4081272" y="23748"/>
                </a:cubicBezTo>
                <a:lnTo>
                  <a:pt x="4081272" y="220091"/>
                </a:lnTo>
                <a:cubicBezTo>
                  <a:pt x="4081272" y="233172"/>
                  <a:pt x="4070604" y="243839"/>
                  <a:pt x="4057523" y="243839"/>
                </a:cubicBezTo>
                <a:lnTo>
                  <a:pt x="23748" y="243839"/>
                </a:lnTo>
                <a:cubicBezTo>
                  <a:pt x="10667" y="243839"/>
                  <a:pt x="0" y="233172"/>
                  <a:pt x="0" y="220091"/>
                </a:cubicBezTo>
                <a:close/>
              </a:path>
            </a:pathLst>
          </a:custGeom>
          <a:gradFill>
            <a:gsLst>
              <a:gs pos="0">
                <a:schemeClr val="accent1">
                  <a:lumMod val="60000"/>
                  <a:lumOff val="40000"/>
                </a:schemeClr>
              </a:gs>
              <a:gs pos="100000">
                <a:schemeClr val="accent1"/>
              </a:gs>
            </a:gsLst>
            <a:lin ang="5400000" scaled="0"/>
          </a:gradFill>
        </p:spPr>
        <p:style>
          <a:lnRef idx="0">
            <a:srgbClr val="FFFFFF"/>
          </a:lnRef>
          <a:fillRef idx="1">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32" name="Freeform 1536"/>
          <p:cNvSpPr/>
          <p:nvPr/>
        </p:nvSpPr>
        <p:spPr>
          <a:xfrm>
            <a:off x="6641465" y="5248275"/>
            <a:ext cx="1238885" cy="338455"/>
          </a:xfrm>
          <a:custGeom>
            <a:avLst/>
            <a:gdLst/>
            <a:ahLst/>
            <a:cxnLst/>
            <a:rect l="0" t="0" r="0" b="0"/>
            <a:pathLst>
              <a:path w="1716024" h="338328">
                <a:moveTo>
                  <a:pt x="0" y="338328"/>
                </a:moveTo>
                <a:lnTo>
                  <a:pt x="1716024" y="338328"/>
                </a:lnTo>
                <a:lnTo>
                  <a:pt x="1716024" y="0"/>
                </a:lnTo>
                <a:lnTo>
                  <a:pt x="0" y="0"/>
                </a:lnTo>
                <a:lnTo>
                  <a:pt x="0" y="338328"/>
                </a:lnTo>
                <a:close/>
              </a:path>
            </a:pathLst>
          </a:custGeom>
          <a:ln>
            <a:solidFill>
              <a:schemeClr val="accent1">
                <a:alpha val="50000"/>
              </a:schemeClr>
            </a:solidFill>
          </a:ln>
        </p:spPr>
        <p:style>
          <a:lnRef idx="3">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34" name="Freeform 1537"/>
          <p:cNvSpPr/>
          <p:nvPr/>
        </p:nvSpPr>
        <p:spPr>
          <a:xfrm>
            <a:off x="7952740" y="5248275"/>
            <a:ext cx="1357630" cy="338455"/>
          </a:xfrm>
          <a:custGeom>
            <a:avLst/>
            <a:gdLst/>
            <a:ahLst/>
            <a:cxnLst/>
            <a:rect l="0" t="0" r="0" b="0"/>
            <a:pathLst>
              <a:path w="2241804" h="338328">
                <a:moveTo>
                  <a:pt x="0" y="338328"/>
                </a:moveTo>
                <a:lnTo>
                  <a:pt x="2241804" y="338328"/>
                </a:lnTo>
                <a:lnTo>
                  <a:pt x="2241804" y="0"/>
                </a:lnTo>
                <a:lnTo>
                  <a:pt x="0" y="0"/>
                </a:lnTo>
                <a:lnTo>
                  <a:pt x="0" y="338328"/>
                </a:lnTo>
                <a:close/>
              </a:path>
            </a:pathLst>
          </a:custGeom>
          <a:ln>
            <a:solidFill>
              <a:schemeClr val="accent1">
                <a:alpha val="50000"/>
              </a:schemeClr>
            </a:solidFill>
          </a:ln>
        </p:spPr>
        <p:style>
          <a:lnRef idx="3">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35" name="Rectangle 1570"/>
          <p:cNvSpPr/>
          <p:nvPr/>
        </p:nvSpPr>
        <p:spPr>
          <a:xfrm>
            <a:off x="6978650" y="4938395"/>
            <a:ext cx="1971675" cy="224790"/>
          </a:xfrm>
          <a:prstGeom prst="rect">
            <a:avLst/>
          </a:prstGeom>
        </p:spPr>
        <p:txBody>
          <a:bodyPr wrap="square" lIns="0" tIns="0" rIns="0" bIns="0" anchor="ctr" anchorCtr="0">
            <a:noAutofit/>
          </a:bodyPr>
          <a:lstStyle/>
          <a:p>
            <a:pPr lvl="0" algn="ctr">
              <a:buClrTx/>
              <a:buSzTx/>
              <a:buFontTx/>
            </a:pPr>
            <a:r>
              <a:rPr lang="en-US" sz="1105" b="1" dirty="0">
                <a:solidFill>
                  <a:srgbClr val="FFFFFF"/>
                </a:solidFill>
                <a:latin typeface="微软雅黑" panose="020B0503020204020204" charset="-122"/>
                <a:ea typeface="微软雅黑" panose="020B0503020204020204" charset="-122"/>
                <a:cs typeface="微软雅黑" panose="020B0503020204020204" charset="-122"/>
                <a:sym typeface="+mn-ea"/>
              </a:rPr>
              <a:t>小程序直播</a:t>
            </a:r>
            <a:endParaRPr lang="en-US" sz="1105" b="1"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36" name="Rectangle 1571"/>
          <p:cNvSpPr/>
          <p:nvPr/>
        </p:nvSpPr>
        <p:spPr>
          <a:xfrm>
            <a:off x="6673215" y="5338445"/>
            <a:ext cx="1169670" cy="149225"/>
          </a:xfrm>
          <a:prstGeom prst="rect">
            <a:avLst/>
          </a:prstGeom>
        </p:spPr>
        <p:txBody>
          <a:bodyPr wrap="none" lIns="0" tIns="0" rIns="0" bIns="0">
            <a:noAutofit/>
          </a:bodyPr>
          <a:lstStyle/>
          <a:p>
            <a:pPr marL="0" algn="ctr">
              <a:tabLst>
                <a:tab pos="2111375" algn="l"/>
              </a:tabLst>
            </a:pPr>
            <a:r>
              <a:rPr lang="zh-CN" altLang="en-US" sz="995" spc="0" baseline="0" dirty="0">
                <a:solidFill>
                  <a:schemeClr val="accent1"/>
                </a:solidFill>
                <a:latin typeface="微软雅黑" panose="020B0503020204020204" charset="-122"/>
                <a:ea typeface="微软雅黑" panose="020B0503020204020204" charset="-122"/>
                <a:cs typeface="微软雅黑" panose="020B0503020204020204" charset="-122"/>
              </a:rPr>
              <a:t>构建连接用户新场景</a:t>
            </a:r>
            <a:endParaRPr lang="zh-CN" altLang="en-US" sz="995" spc="0" baseline="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37" name="Rectangle 1571"/>
          <p:cNvSpPr/>
          <p:nvPr/>
        </p:nvSpPr>
        <p:spPr>
          <a:xfrm>
            <a:off x="8074660" y="5338445"/>
            <a:ext cx="1143000" cy="153670"/>
          </a:xfrm>
          <a:prstGeom prst="rect">
            <a:avLst/>
          </a:prstGeom>
        </p:spPr>
        <p:txBody>
          <a:bodyPr wrap="none" lIns="0" tIns="0" rIns="0" bIns="0">
            <a:spAutoFit/>
          </a:bodyPr>
          <a:lstStyle/>
          <a:p>
            <a:pPr marL="0" algn="l">
              <a:tabLst>
                <a:tab pos="2111375" algn="l"/>
              </a:tabLst>
            </a:pPr>
            <a:r>
              <a:rPr lang="zh-CN" altLang="en-US" sz="995" spc="0" baseline="0" dirty="0">
                <a:solidFill>
                  <a:schemeClr val="accent1"/>
                </a:solidFill>
                <a:latin typeface="微软雅黑" panose="020B0503020204020204" charset="-122"/>
                <a:ea typeface="微软雅黑" panose="020B0503020204020204" charset="-122"/>
                <a:cs typeface="微软雅黑" panose="020B0503020204020204" charset="-122"/>
              </a:rPr>
              <a:t>服务直播的温度直连</a:t>
            </a:r>
            <a:endParaRPr lang="zh-CN" altLang="en-US" sz="995" spc="0" baseline="0" dirty="0">
              <a:solidFill>
                <a:schemeClr val="accent1"/>
              </a:solidFill>
              <a:latin typeface="微软雅黑" panose="020B0503020204020204" charset="-122"/>
              <a:ea typeface="微软雅黑" panose="020B0503020204020204" charset="-122"/>
              <a:cs typeface="微软雅黑" panose="020B0503020204020204" charset="-122"/>
            </a:endParaRPr>
          </a:p>
        </p:txBody>
      </p:sp>
      <p:cxnSp>
        <p:nvCxnSpPr>
          <p:cNvPr id="149" name="直线连接符 250"/>
          <p:cNvCxnSpPr/>
          <p:nvPr/>
        </p:nvCxnSpPr>
        <p:spPr>
          <a:xfrm>
            <a:off x="792480" y="2675255"/>
            <a:ext cx="1894840" cy="0"/>
          </a:xfrm>
          <a:prstGeom prst="line">
            <a:avLst/>
          </a:prstGeom>
          <a:ln w="22225">
            <a:solidFill>
              <a:srgbClr val="FFFFFF">
                <a:lumMod val="65000"/>
              </a:srgbClr>
            </a:solidFill>
            <a:prstDash val="sysDot"/>
          </a:ln>
        </p:spPr>
        <p:style>
          <a:lnRef idx="1">
            <a:srgbClr val="24396B"/>
          </a:lnRef>
          <a:fillRef idx="0">
            <a:srgbClr val="24396B"/>
          </a:fillRef>
          <a:effectRef idx="0">
            <a:srgbClr val="24396B"/>
          </a:effectRef>
          <a:fontRef idx="minor">
            <a:srgbClr val="000000"/>
          </a:fontRef>
        </p:style>
      </p:cxnSp>
      <p:sp>
        <p:nvSpPr>
          <p:cNvPr id="163" name="椭圆 162"/>
          <p:cNvSpPr/>
          <p:nvPr/>
        </p:nvSpPr>
        <p:spPr>
          <a:xfrm>
            <a:off x="217805" y="1637030"/>
            <a:ext cx="289560" cy="289560"/>
          </a:xfrm>
          <a:prstGeom prst="ellipse">
            <a:avLst/>
          </a:prstGeom>
          <a:solidFill>
            <a:sysClr val="window" lastClr="FFFFFF"/>
          </a:solidFill>
          <a:ln>
            <a:solidFill>
              <a:schemeClr val="tx2"/>
            </a:solidFill>
          </a:ln>
          <a:effectLst>
            <a:outerShdw blurRad="50800" dist="38100" dir="2700000" algn="tl" rotWithShape="0">
              <a:prstClr val="black">
                <a:alpha val="40000"/>
              </a:prstClr>
            </a:outerShdw>
          </a:effectLst>
        </p:spPr>
        <p:style>
          <a:lnRef idx="3">
            <a:schemeClr val="accent1"/>
          </a:lnRef>
          <a:fillRef idx="0">
            <a:srgbClr val="FFFFFF"/>
          </a:fillRef>
          <a:effectRef idx="0">
            <a:srgbClr val="FFFFFF"/>
          </a:effectRef>
          <a:fontRef idx="minor">
            <a:schemeClr val="tx1"/>
          </a:fontRef>
        </p:style>
        <p:txBody>
          <a:bodyPr rtlCol="0" anchor="ctr"/>
          <a:lstStyle/>
          <a:p>
            <a:pPr algn="ctr"/>
            <a:r>
              <a:rPr kumimoji="1" lang="en-US" altLang="zh-CN" sz="1400" dirty="0">
                <a:solidFill>
                  <a:schemeClr val="tx2"/>
                </a:solidFill>
                <a:latin typeface="微软雅黑" panose="020B0503020204020204" charset="-122"/>
                <a:ea typeface="微软雅黑" panose="020B0503020204020204" charset="-122"/>
                <a:cs typeface="微软雅黑" panose="020B0503020204020204" charset="-122"/>
              </a:rPr>
              <a:t>1</a:t>
            </a:r>
            <a:endParaRPr kumimoji="1" lang="en-US" altLang="zh-CN"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4" name="Disclaimer"/>
          <p:cNvSpPr/>
          <p:nvPr/>
        </p:nvSpPr>
        <p:spPr>
          <a:xfrm>
            <a:off x="648970" y="1418590"/>
            <a:ext cx="1085850" cy="738505"/>
          </a:xfrm>
          <a:prstGeom prst="rect">
            <a:avLst/>
          </a:prstGeom>
          <a:noFill/>
          <a:ln w="19050">
            <a:noFill/>
          </a:ln>
        </p:spPr>
        <p:style>
          <a:lnRef idx="2">
            <a:srgbClr val="24396B">
              <a:shade val="50000"/>
            </a:srgbClr>
          </a:lnRef>
          <a:fillRef idx="1">
            <a:srgbClr val="24396B"/>
          </a:fillRef>
          <a:effectRef idx="0">
            <a:srgbClr val="24396B"/>
          </a:effectRef>
          <a:fontRef idx="minor">
            <a:srgbClr val="FFFFFF"/>
          </a:fontRef>
        </p:style>
        <p:txBody>
          <a:bodyPr wrap="square" lIns="0" tIns="0" rIns="0" bIns="0" rtlCol="0" anchor="ctr" anchorCtr="0">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200" noProof="1">
                <a:solidFill>
                  <a:schemeClr val="tx2"/>
                </a:solidFill>
                <a:latin typeface="微软雅黑" panose="020B0503020204020204" charset="-122"/>
                <a:ea typeface="微软雅黑" panose="020B0503020204020204" charset="-122"/>
                <a:cs typeface="微软雅黑" panose="020B0503020204020204" charset="-122"/>
              </a:rPr>
              <a:t>利用</a:t>
            </a:r>
            <a:r>
              <a:rPr lang="en-US" altLang="zh-CN" sz="1200" noProof="1">
                <a:solidFill>
                  <a:schemeClr val="tx2"/>
                </a:solidFill>
                <a:latin typeface="微软雅黑" panose="020B0503020204020204" charset="-122"/>
                <a:ea typeface="微软雅黑" panose="020B0503020204020204" charset="-122"/>
                <a:cs typeface="微软雅黑" panose="020B0503020204020204" charset="-122"/>
              </a:rPr>
              <a:t>AI</a:t>
            </a:r>
            <a:r>
              <a:rPr lang="zh-CN" altLang="en-US" sz="1200" noProof="1">
                <a:solidFill>
                  <a:schemeClr val="tx2"/>
                </a:solidFill>
                <a:latin typeface="微软雅黑" panose="020B0503020204020204" charset="-122"/>
                <a:ea typeface="微软雅黑" panose="020B0503020204020204" charset="-122"/>
                <a:cs typeface="微软雅黑" panose="020B0503020204020204" charset="-122"/>
              </a:rPr>
              <a:t>和大数据技术，为用户提供精准、实时的服务响应。</a:t>
            </a:r>
            <a:endParaRPr lang="zh-CN" altLang="en-US" sz="1200" noProof="1">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165" name="直线连接符 250"/>
          <p:cNvCxnSpPr/>
          <p:nvPr/>
        </p:nvCxnSpPr>
        <p:spPr>
          <a:xfrm>
            <a:off x="792480" y="4549140"/>
            <a:ext cx="1894840" cy="0"/>
          </a:xfrm>
          <a:prstGeom prst="line">
            <a:avLst/>
          </a:prstGeom>
          <a:ln w="22225">
            <a:solidFill>
              <a:srgbClr val="FFFFFF">
                <a:lumMod val="65000"/>
              </a:srgbClr>
            </a:solidFill>
            <a:prstDash val="sysDot"/>
          </a:ln>
        </p:spPr>
        <p:style>
          <a:lnRef idx="1">
            <a:srgbClr val="24396B"/>
          </a:lnRef>
          <a:fillRef idx="0">
            <a:srgbClr val="24396B"/>
          </a:fillRef>
          <a:effectRef idx="0">
            <a:srgbClr val="24396B"/>
          </a:effectRef>
          <a:fontRef idx="minor">
            <a:srgbClr val="000000"/>
          </a:fontRef>
        </p:style>
      </p:cxnSp>
      <p:cxnSp>
        <p:nvCxnSpPr>
          <p:cNvPr id="166" name="直线连接符 250"/>
          <p:cNvCxnSpPr/>
          <p:nvPr/>
        </p:nvCxnSpPr>
        <p:spPr>
          <a:xfrm>
            <a:off x="704215" y="6285865"/>
            <a:ext cx="1894840" cy="0"/>
          </a:xfrm>
          <a:prstGeom prst="line">
            <a:avLst/>
          </a:prstGeom>
          <a:ln w="22225">
            <a:solidFill>
              <a:srgbClr val="FFFFFF">
                <a:lumMod val="65000"/>
              </a:srgbClr>
            </a:solidFill>
            <a:prstDash val="sysDot"/>
          </a:ln>
        </p:spPr>
        <p:style>
          <a:lnRef idx="1">
            <a:srgbClr val="24396B"/>
          </a:lnRef>
          <a:fillRef idx="0">
            <a:srgbClr val="24396B"/>
          </a:fillRef>
          <a:effectRef idx="0">
            <a:srgbClr val="24396B"/>
          </a:effectRef>
          <a:fontRef idx="minor">
            <a:srgbClr val="000000"/>
          </a:fontRef>
        </p:style>
      </p:cxnSp>
      <p:sp>
        <p:nvSpPr>
          <p:cNvPr id="167" name="矩形: 圆角 85"/>
          <p:cNvSpPr/>
          <p:nvPr/>
        </p:nvSpPr>
        <p:spPr>
          <a:xfrm>
            <a:off x="261620" y="2512060"/>
            <a:ext cx="1470025" cy="311150"/>
          </a:xfrm>
          <a:prstGeom prst="roundRect">
            <a:avLst>
              <a:gd name="adj" fmla="val 50000"/>
            </a:avLst>
          </a:prstGeom>
          <a:solidFill>
            <a:sysClr val="window" lastClr="FFFFFF"/>
          </a:solidFill>
          <a:ln w="6350" cap="flat" cmpd="sng" algn="ctr">
            <a:solidFill>
              <a:schemeClr val="tx2">
                <a:alpha val="50000"/>
              </a:schemeClr>
            </a:solidFill>
            <a:prstDash val="solid"/>
            <a:miter lim="800000"/>
          </a:ln>
          <a:effectLst/>
        </p:spPr>
        <p:style>
          <a:lnRef idx="2">
            <a:srgbClr val="64171D">
              <a:shade val="15000"/>
            </a:srgbClr>
          </a:lnRef>
          <a:fillRef idx="1">
            <a:srgbClr val="64171D"/>
          </a:fillRef>
          <a:effectRef idx="0">
            <a:srgbClr val="64171D"/>
          </a:effectRef>
          <a:fontRef idx="minor">
            <a:sysClr val="window" lastClr="FFFFFF"/>
          </a:fontRef>
        </p:style>
        <p:txBody>
          <a:bodyPr wrap="none" rtlCol="0" anchor="ctr"/>
          <a:lstStyle/>
          <a:p>
            <a:pPr algn="ctr"/>
            <a:r>
              <a:rPr lang="zh-CN" altLang="en-US" sz="900">
                <a:solidFill>
                  <a:schemeClr val="tx2"/>
                </a:solidFill>
                <a:latin typeface="微软雅黑" panose="020B0503020204020204" charset="-122"/>
                <a:ea typeface="微软雅黑" panose="020B0503020204020204" charset="-122"/>
                <a:cs typeface="微软雅黑" panose="020B0503020204020204" charset="-122"/>
              </a:rPr>
              <a:t>数据驱动的个性化交互</a:t>
            </a:r>
            <a:endParaRPr lang="zh-CN" altLang="en-US" sz="9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9" name="矩形: 圆角 85"/>
          <p:cNvSpPr/>
          <p:nvPr/>
        </p:nvSpPr>
        <p:spPr>
          <a:xfrm>
            <a:off x="264795" y="4366260"/>
            <a:ext cx="1470025" cy="311150"/>
          </a:xfrm>
          <a:prstGeom prst="roundRect">
            <a:avLst>
              <a:gd name="adj" fmla="val 50000"/>
            </a:avLst>
          </a:prstGeom>
          <a:solidFill>
            <a:sysClr val="window" lastClr="FFFFFF"/>
          </a:solidFill>
          <a:ln w="6350" cap="flat" cmpd="sng" algn="ctr">
            <a:solidFill>
              <a:schemeClr val="tx2">
                <a:alpha val="50000"/>
              </a:schemeClr>
            </a:solidFill>
            <a:prstDash val="solid"/>
            <a:miter lim="800000"/>
          </a:ln>
          <a:effectLst/>
        </p:spPr>
        <p:style>
          <a:lnRef idx="2">
            <a:srgbClr val="64171D">
              <a:shade val="15000"/>
            </a:srgbClr>
          </a:lnRef>
          <a:fillRef idx="1">
            <a:srgbClr val="64171D"/>
          </a:fillRef>
          <a:effectRef idx="0">
            <a:srgbClr val="64171D"/>
          </a:effectRef>
          <a:fontRef idx="minor">
            <a:sysClr val="window" lastClr="FFFFFF"/>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900">
                <a:solidFill>
                  <a:schemeClr val="tx2"/>
                </a:solidFill>
                <a:latin typeface="微软雅黑" panose="020B0503020204020204" charset="-122"/>
                <a:ea typeface="微软雅黑" panose="020B0503020204020204" charset="-122"/>
                <a:cs typeface="微软雅黑" panose="020B0503020204020204" charset="-122"/>
                <a:sym typeface="+mn-ea"/>
              </a:rPr>
              <a:t>跨场景的价值闭环</a:t>
            </a:r>
            <a:endParaRPr lang="zh-CN" altLang="en-US" sz="9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70" name="矩形: 圆角 85"/>
          <p:cNvSpPr/>
          <p:nvPr/>
        </p:nvSpPr>
        <p:spPr>
          <a:xfrm>
            <a:off x="312420" y="6147435"/>
            <a:ext cx="1470025" cy="311150"/>
          </a:xfrm>
          <a:prstGeom prst="roundRect">
            <a:avLst>
              <a:gd name="adj" fmla="val 50000"/>
            </a:avLst>
          </a:prstGeom>
          <a:solidFill>
            <a:sysClr val="window" lastClr="FFFFFF"/>
          </a:solidFill>
          <a:ln w="6350" cap="flat" cmpd="sng" algn="ctr">
            <a:solidFill>
              <a:schemeClr val="tx2">
                <a:alpha val="50000"/>
              </a:schemeClr>
            </a:solidFill>
            <a:prstDash val="solid"/>
            <a:miter lim="800000"/>
          </a:ln>
          <a:effectLst/>
        </p:spPr>
        <p:style>
          <a:lnRef idx="2">
            <a:srgbClr val="64171D">
              <a:shade val="15000"/>
            </a:srgbClr>
          </a:lnRef>
          <a:fillRef idx="1">
            <a:srgbClr val="64171D"/>
          </a:fillRef>
          <a:effectRef idx="0">
            <a:srgbClr val="64171D"/>
          </a:effectRef>
          <a:fontRef idx="minor">
            <a:sysClr val="window" lastClr="FFFFFF"/>
          </a:fontRef>
        </p:style>
        <p:txBody>
          <a:bodyPr vertOverflow="overflow" horzOverflow="overflow" vert="horz" wrap="none" numCol="1" spcCol="0" rtlCol="0" fromWordArt="0" anchor="ctr" anchorCtr="0" forceAA="0" compatLnSpc="1">
            <a:noAutofit/>
          </a:bodyPr>
          <a:lstStyle/>
          <a:p>
            <a:pPr lvl="0" algn="ctr">
              <a:buClrTx/>
              <a:buSzTx/>
              <a:buFontTx/>
            </a:pPr>
            <a:r>
              <a:rPr lang="zh-CN" altLang="en-US" sz="900">
                <a:solidFill>
                  <a:schemeClr val="tx2"/>
                </a:solidFill>
                <a:latin typeface="微软雅黑" panose="020B0503020204020204" charset="-122"/>
                <a:ea typeface="微软雅黑" panose="020B0503020204020204" charset="-122"/>
                <a:cs typeface="微软雅黑" panose="020B0503020204020204" charset="-122"/>
                <a:sym typeface="+mn-ea"/>
              </a:rPr>
              <a:t>情感化品牌连接</a:t>
            </a:r>
            <a:endParaRPr lang="zh-CN" altLang="en-US" sz="9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93" name="椭圆 192"/>
          <p:cNvSpPr/>
          <p:nvPr/>
        </p:nvSpPr>
        <p:spPr>
          <a:xfrm>
            <a:off x="217805" y="3511550"/>
            <a:ext cx="289560" cy="289560"/>
          </a:xfrm>
          <a:prstGeom prst="ellipse">
            <a:avLst/>
          </a:prstGeom>
          <a:solidFill>
            <a:sysClr val="window" lastClr="FFFFFF"/>
          </a:solidFill>
          <a:ln>
            <a:solidFill>
              <a:schemeClr val="tx2"/>
            </a:solidFill>
          </a:ln>
          <a:effectLst>
            <a:outerShdw blurRad="50800" dist="38100" dir="2700000" algn="tl" rotWithShape="0">
              <a:prstClr val="black">
                <a:alpha val="40000"/>
              </a:prstClr>
            </a:outerShdw>
          </a:effectLst>
        </p:spPr>
        <p:style>
          <a:lnRef idx="3">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r>
              <a:rPr kumimoji="1"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mn-ea"/>
              </a:rPr>
              <a:t>2</a:t>
            </a:r>
            <a:endParaRPr kumimoji="1"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98" name="Disclaimer"/>
          <p:cNvSpPr/>
          <p:nvPr/>
        </p:nvSpPr>
        <p:spPr>
          <a:xfrm>
            <a:off x="648970" y="3293110"/>
            <a:ext cx="1085850" cy="738505"/>
          </a:xfrm>
          <a:prstGeom prst="rect">
            <a:avLst/>
          </a:prstGeom>
          <a:noFill/>
          <a:ln w="19050">
            <a:noFill/>
          </a:ln>
        </p:spPr>
        <p:style>
          <a:lnRef idx="2">
            <a:srgbClr val="24396B">
              <a:shade val="50000"/>
            </a:srgbClr>
          </a:lnRef>
          <a:fillRef idx="1">
            <a:srgbClr val="24396B"/>
          </a:fillRef>
          <a:effectRef idx="0">
            <a:srgbClr val="24396B"/>
          </a:effectRef>
          <a:fontRef idx="minor">
            <a:srgbClr val="FFFFFF"/>
          </a:fontRef>
        </p:style>
        <p:txBody>
          <a:bodyPr wrap="square" lIns="0" tIns="0" rIns="0" bIns="0" rtlCol="0" anchor="ctr" anchorCtr="0">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200" noProof="1">
                <a:solidFill>
                  <a:schemeClr val="tx2"/>
                </a:solidFill>
                <a:latin typeface="微软雅黑" panose="020B0503020204020204" charset="-122"/>
                <a:ea typeface="微软雅黑" panose="020B0503020204020204" charset="-122"/>
                <a:cs typeface="微软雅黑" panose="020B0503020204020204" charset="-122"/>
              </a:rPr>
              <a:t>打通垂类服务壁垒，促进用户跨场景流转，提升生态粘性。</a:t>
            </a:r>
            <a:endParaRPr lang="zh-CN" altLang="en-US" sz="1200" noProof="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00" name="椭圆 199"/>
          <p:cNvSpPr/>
          <p:nvPr/>
        </p:nvSpPr>
        <p:spPr>
          <a:xfrm>
            <a:off x="264795" y="5478145"/>
            <a:ext cx="289560" cy="289560"/>
          </a:xfrm>
          <a:prstGeom prst="ellipse">
            <a:avLst/>
          </a:prstGeom>
          <a:solidFill>
            <a:sysClr val="window" lastClr="FFFFFF"/>
          </a:solidFill>
          <a:ln>
            <a:solidFill>
              <a:schemeClr val="tx2"/>
            </a:solidFill>
          </a:ln>
          <a:effectLst>
            <a:outerShdw blurRad="50800" dist="38100" dir="2700000" algn="tl" rotWithShape="0">
              <a:prstClr val="black">
                <a:alpha val="40000"/>
              </a:prstClr>
            </a:outerShdw>
          </a:effectLst>
        </p:spPr>
        <p:style>
          <a:lnRef idx="3">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lstStyle/>
          <a:p>
            <a:pPr lvl="0" algn="ctr">
              <a:buClrTx/>
              <a:buSzTx/>
              <a:buFontTx/>
            </a:pPr>
            <a:r>
              <a:rPr kumimoji="1"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mn-ea"/>
              </a:rPr>
              <a:t>3</a:t>
            </a:r>
            <a:endParaRPr kumimoji="1"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01" name="Disclaimer"/>
          <p:cNvSpPr/>
          <p:nvPr/>
        </p:nvSpPr>
        <p:spPr>
          <a:xfrm>
            <a:off x="695960" y="5259705"/>
            <a:ext cx="1085850" cy="738505"/>
          </a:xfrm>
          <a:prstGeom prst="rect">
            <a:avLst/>
          </a:prstGeom>
          <a:noFill/>
          <a:ln w="19050">
            <a:noFill/>
          </a:ln>
        </p:spPr>
        <p:style>
          <a:lnRef idx="2">
            <a:srgbClr val="24396B">
              <a:shade val="50000"/>
            </a:srgbClr>
          </a:lnRef>
          <a:fillRef idx="1">
            <a:srgbClr val="24396B"/>
          </a:fillRef>
          <a:effectRef idx="0">
            <a:srgbClr val="24396B"/>
          </a:effectRef>
          <a:fontRef idx="minor">
            <a:srgbClr val="FFFFFF"/>
          </a:fontRef>
        </p:style>
        <p:txBody>
          <a:bodyPr wrap="square" lIns="0" tIns="0" rIns="0" bIns="0" rtlCol="0" anchor="ctr" anchorCtr="0">
            <a:spAutoFit/>
          </a:bodyPr>
          <a:lstStyle/>
          <a:p>
            <a:pPr marL="0" marR="0" lvl="0" indent="0" defTabSz="914400" rtl="0" eaLnBrk="1" fontAlgn="auto" latinLnBrk="0" hangingPunct="1">
              <a:lnSpc>
                <a:spcPct val="100000"/>
              </a:lnSpc>
              <a:spcBef>
                <a:spcPts val="0"/>
              </a:spcBef>
              <a:spcAft>
                <a:spcPts val="0"/>
              </a:spcAft>
              <a:buClrTx/>
              <a:buSzTx/>
              <a:buFontTx/>
              <a:buNone/>
              <a:defRPr/>
            </a:pPr>
            <a:r>
              <a:rPr lang="zh-CN" altLang="en-US" sz="1200" noProof="1">
                <a:solidFill>
                  <a:schemeClr val="tx2"/>
                </a:solidFill>
                <a:latin typeface="微软雅黑" panose="020B0503020204020204" charset="-122"/>
                <a:ea typeface="微软雅黑" panose="020B0503020204020204" charset="-122"/>
                <a:cs typeface="微软雅黑" panose="020B0503020204020204" charset="-122"/>
              </a:rPr>
              <a:t>通过拟人化互动与价值观输出，增强用户情感认同。</a:t>
            </a:r>
            <a:endParaRPr lang="zh-CN" altLang="en-US" sz="1200" noProof="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26" name="矩形 225"/>
          <p:cNvSpPr/>
          <p:nvPr/>
        </p:nvSpPr>
        <p:spPr>
          <a:xfrm>
            <a:off x="11356975" y="1334770"/>
            <a:ext cx="589280" cy="5238115"/>
          </a:xfrm>
          <a:prstGeom prst="rect">
            <a:avLst/>
          </a:prstGeom>
          <a:gradFill>
            <a:gsLst>
              <a:gs pos="0">
                <a:schemeClr val="accent1"/>
              </a:gs>
              <a:gs pos="100000">
                <a:schemeClr val="accent1">
                  <a:lumMod val="60000"/>
                  <a:lumOff val="40000"/>
                </a:schemeClr>
              </a:gs>
            </a:gsLst>
            <a:lin ang="5400000" scaled="0"/>
          </a:gradFill>
        </p:spPr>
        <p:style>
          <a:lnRef idx="0">
            <a:srgbClr val="FFFFFF"/>
          </a:lnRef>
          <a:fillRef idx="1">
            <a:schemeClr val="accent1"/>
          </a:fillRef>
          <a:effectRef idx="0">
            <a:srgbClr val="FFFFFF"/>
          </a:effectRef>
          <a:fontRef idx="minor">
            <a:schemeClr val="lt1"/>
          </a:fontRef>
        </p:style>
        <p:txBody>
          <a:bodyPr vert="mongolianVert" rtlCol="0" anchor="ctr"/>
          <a:lstStyle/>
          <a:p>
            <a:pPr algn="ctr"/>
            <a:r>
              <a:rPr lang="zh-CN" altLang="en-US" b="1">
                <a:solidFill>
                  <a:srgbClr val="FFFFFF"/>
                </a:solidFill>
                <a:latin typeface="微软雅黑" panose="020B0503020204020204" charset="-122"/>
                <a:ea typeface="微软雅黑" panose="020B0503020204020204" charset="-122"/>
                <a:cs typeface="微软雅黑" panose="020B0503020204020204" charset="-122"/>
                <a:sym typeface="+mn-ea"/>
              </a:rPr>
              <a:t>构建</a:t>
            </a:r>
            <a:r>
              <a:rPr lang="en-US" altLang="zh-CN" b="1">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b="1">
                <a:solidFill>
                  <a:srgbClr val="FFFFFF"/>
                </a:solidFill>
                <a:latin typeface="微软雅黑" panose="020B0503020204020204" charset="-122"/>
                <a:ea typeface="微软雅黑" panose="020B0503020204020204" charset="-122"/>
                <a:cs typeface="微软雅黑" panose="020B0503020204020204" charset="-122"/>
                <a:sym typeface="+mn-ea"/>
              </a:rPr>
              <a:t>智能</a:t>
            </a:r>
            <a:r>
              <a:rPr lang="en-US" altLang="zh-CN" b="1">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b="1">
                <a:solidFill>
                  <a:srgbClr val="FFFFFF"/>
                </a:solidFill>
                <a:latin typeface="微软雅黑" panose="020B0503020204020204" charset="-122"/>
                <a:ea typeface="微软雅黑" panose="020B0503020204020204" charset="-122"/>
                <a:cs typeface="微软雅黑" panose="020B0503020204020204" charset="-122"/>
                <a:sym typeface="+mn-ea"/>
              </a:rPr>
              <a:t>生态</a:t>
            </a:r>
            <a:r>
              <a:rPr lang="en-US" altLang="zh-CN" b="1">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b="1">
                <a:solidFill>
                  <a:srgbClr val="FFFFFF"/>
                </a:solidFill>
                <a:latin typeface="微软雅黑" panose="020B0503020204020204" charset="-122"/>
                <a:ea typeface="微软雅黑" panose="020B0503020204020204" charset="-122"/>
                <a:cs typeface="微软雅黑" panose="020B0503020204020204" charset="-122"/>
                <a:sym typeface="+mn-ea"/>
              </a:rPr>
              <a:t>情感</a:t>
            </a:r>
            <a:r>
              <a:rPr lang="en-US" altLang="zh-CN" b="1">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b="1">
                <a:solidFill>
                  <a:srgbClr val="FFFFFF"/>
                </a:solidFill>
                <a:latin typeface="微软雅黑" panose="020B0503020204020204" charset="-122"/>
                <a:ea typeface="微软雅黑" panose="020B0503020204020204" charset="-122"/>
                <a:cs typeface="微软雅黑" panose="020B0503020204020204" charset="-122"/>
                <a:sym typeface="+mn-ea"/>
              </a:rPr>
              <a:t>三位一体的运营体系</a:t>
            </a:r>
            <a:endParaRPr lang="zh-CN" altLang="en-US" b="1">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76" name="Rectangle 1555"/>
          <p:cNvSpPr/>
          <p:nvPr/>
        </p:nvSpPr>
        <p:spPr>
          <a:xfrm>
            <a:off x="5705475" y="3156585"/>
            <a:ext cx="1125855" cy="170180"/>
          </a:xfrm>
          <a:prstGeom prst="rect">
            <a:avLst/>
          </a:prstGeom>
        </p:spPr>
        <p:txBody>
          <a:bodyPr wrap="square" lIns="0" tIns="0" rIns="0" bIns="0">
            <a:spAutoFit/>
          </a:bodyPr>
          <a:lstStyle/>
          <a:p>
            <a:pPr marL="0" algn="ctr"/>
            <a:r>
              <a:rPr lang="zh-CN" altLang="en-US" sz="1105" b="1" spc="0" baseline="0" dirty="0">
                <a:solidFill>
                  <a:schemeClr val="bg2"/>
                </a:solidFill>
                <a:latin typeface="微软雅黑" panose="020B0503020204020204" charset="-122"/>
                <a:ea typeface="微软雅黑" panose="020B0503020204020204" charset="-122"/>
                <a:cs typeface="微软雅黑" panose="020B0503020204020204" charset="-122"/>
              </a:rPr>
              <a:t>托管页</a:t>
            </a:r>
            <a:endParaRPr lang="zh-CN" altLang="en-US" sz="1105" b="1" spc="0" baseline="0" dirty="0">
              <a:solidFill>
                <a:schemeClr val="bg2"/>
              </a:solidFill>
              <a:latin typeface="微软雅黑" panose="020B0503020204020204" charset="-122"/>
              <a:ea typeface="微软雅黑" panose="020B0503020204020204" charset="-122"/>
              <a:cs typeface="微软雅黑" panose="020B0503020204020204" charset="-122"/>
            </a:endParaRPr>
          </a:p>
        </p:txBody>
      </p:sp>
      <p:grpSp>
        <p:nvGrpSpPr>
          <p:cNvPr id="80" name="组合 79"/>
          <p:cNvGrpSpPr/>
          <p:nvPr/>
        </p:nvGrpSpPr>
        <p:grpSpPr>
          <a:xfrm>
            <a:off x="1755775" y="1123315"/>
            <a:ext cx="421640" cy="1189355"/>
            <a:chOff x="15973" y="4069"/>
            <a:chExt cx="1657" cy="4670"/>
          </a:xfrm>
        </p:grpSpPr>
        <p:sp>
          <p:nvSpPr>
            <p:cNvPr id="83" name="三角形 35"/>
            <p:cNvSpPr/>
            <p:nvPr/>
          </p:nvSpPr>
          <p:spPr>
            <a:xfrm rot="5400000">
              <a:off x="14224" y="5818"/>
              <a:ext cx="4671" cy="1172"/>
            </a:xfrm>
            <a:prstGeom prst="triangle">
              <a:avLst/>
            </a:prstGeom>
            <a:noFill/>
            <a:ln w="15875" cap="flat">
              <a:gradFill>
                <a:gsLst>
                  <a:gs pos="0">
                    <a:srgbClr val="BAB2D4">
                      <a:lumMod val="70000"/>
                      <a:lumOff val="30000"/>
                    </a:srgbClr>
                  </a:gs>
                  <a:gs pos="73000">
                    <a:srgbClr val="BAB2D4">
                      <a:alpha val="0"/>
                    </a:srgbClr>
                  </a:gs>
                </a:gsLst>
                <a:lin ang="5400000" scaled="0"/>
              </a:gra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24396B"/>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4" name="三角形 36"/>
            <p:cNvSpPr/>
            <p:nvPr/>
          </p:nvSpPr>
          <p:spPr>
            <a:xfrm rot="5400000">
              <a:off x="14706" y="5818"/>
              <a:ext cx="4671" cy="1172"/>
            </a:xfrm>
            <a:prstGeom prst="triangle">
              <a:avLst/>
            </a:prstGeom>
            <a:noFill/>
            <a:ln w="15875" cap="flat">
              <a:gradFill>
                <a:gsLst>
                  <a:gs pos="0">
                    <a:srgbClr val="BAB2D4"/>
                  </a:gs>
                  <a:gs pos="83000">
                    <a:srgbClr val="BAB2D4">
                      <a:alpha val="0"/>
                    </a:srgbClr>
                  </a:gs>
                </a:gsLst>
                <a:lin ang="5400000" scaled="0"/>
              </a:gra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24396B"/>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19" name="直线连接符 32"/>
            <p:cNvCxnSpPr/>
            <p:nvPr/>
          </p:nvCxnSpPr>
          <p:spPr>
            <a:xfrm rot="10800000" flipH="1">
              <a:off x="16361" y="6386"/>
              <a:ext cx="780" cy="1577"/>
            </a:xfrm>
            <a:prstGeom prst="line">
              <a:avLst/>
            </a:prstGeom>
            <a:noFill/>
            <a:ln w="34925" cap="flat">
              <a:solidFill>
                <a:schemeClr val="accent5"/>
              </a:solidFill>
              <a:prstDash val="solid"/>
              <a:miter lim="800000"/>
            </a:ln>
            <a:effectLst/>
            <a:sp3d/>
          </p:spPr>
          <p:style>
            <a:lnRef idx="0">
              <a:scrgbClr r="0" g="0" b="0"/>
            </a:lnRef>
            <a:fillRef idx="0">
              <a:scrgbClr r="0" g="0" b="0"/>
            </a:fillRef>
            <a:effectRef idx="0">
              <a:scrgbClr r="0" g="0" b="0"/>
            </a:effectRef>
            <a:fontRef idx="none"/>
          </p:style>
        </p:cxnSp>
        <p:cxnSp>
          <p:nvCxnSpPr>
            <p:cNvPr id="121" name="直线连接符 33"/>
            <p:cNvCxnSpPr/>
            <p:nvPr/>
          </p:nvCxnSpPr>
          <p:spPr>
            <a:xfrm rot="10800000" flipH="1" flipV="1">
              <a:off x="16725" y="5571"/>
              <a:ext cx="416" cy="828"/>
            </a:xfrm>
            <a:prstGeom prst="line">
              <a:avLst/>
            </a:prstGeom>
            <a:noFill/>
            <a:ln w="34925" cap="flat">
              <a:solidFill>
                <a:schemeClr val="accent5"/>
              </a:solidFill>
              <a:prstDash val="solid"/>
              <a:miter lim="800000"/>
            </a:ln>
            <a:effectLst/>
            <a:sp3d/>
          </p:spPr>
          <p:style>
            <a:lnRef idx="0">
              <a:scrgbClr r="0" g="0" b="0"/>
            </a:lnRef>
            <a:fillRef idx="0">
              <a:scrgbClr r="0" g="0" b="0"/>
            </a:fillRef>
            <a:effectRef idx="0">
              <a:scrgbClr r="0" g="0" b="0"/>
            </a:effectRef>
            <a:fontRef idx="none"/>
          </p:style>
        </p:cxnSp>
        <p:sp>
          <p:nvSpPr>
            <p:cNvPr id="123" name="椭圆 122"/>
            <p:cNvSpPr/>
            <p:nvPr/>
          </p:nvSpPr>
          <p:spPr>
            <a:xfrm rot="10800000">
              <a:off x="16303" y="7905"/>
              <a:ext cx="116" cy="116"/>
            </a:xfrm>
            <a:prstGeom prst="ellipse">
              <a:avLst/>
            </a:prstGeom>
          </p:spPr>
          <p:style>
            <a:lnRef idx="0">
              <a:srgbClr val="FFFFFF"/>
            </a:lnRef>
            <a:fillRef idx="1">
              <a:schemeClr val="accent1"/>
            </a:fillRef>
            <a:effectRef idx="0">
              <a:srgbClr val="FFFFFF"/>
            </a:effectRef>
            <a:fontRef idx="minor">
              <a:schemeClr val="dk1"/>
            </a:fontRef>
          </p:style>
          <p:txBody>
            <a:bodyPr rot="0" spcFirstLastPara="1" vertOverflow="overflow" horzOverflow="overflow" vert="horz" wrap="square" lIns="45719" tIns="45719" rIns="45719" bIns="45719" numCol="1" spcCol="38100" rtlCol="0" anchor="ctr">
              <a:noAutofit/>
            </a:bodyPr>
            <a:lstStyle/>
            <a:p>
              <a:pPr hangingPunct="0"/>
              <a:endParaRPr lang="zh-CN" altLang="en-US">
                <a:solidFill>
                  <a:srgbClr val="24396B"/>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24" name="直线连接符 29"/>
            <p:cNvCxnSpPr/>
            <p:nvPr/>
          </p:nvCxnSpPr>
          <p:spPr>
            <a:xfrm>
              <a:off x="16850" y="4836"/>
              <a:ext cx="780" cy="1577"/>
            </a:xfrm>
            <a:prstGeom prst="line">
              <a:avLst/>
            </a:prstGeom>
            <a:noFill/>
            <a:ln w="34925" cap="flat">
              <a:solidFill>
                <a:schemeClr val="accent5"/>
              </a:solidFill>
              <a:prstDash val="solid"/>
              <a:miter lim="800000"/>
            </a:ln>
            <a:effectLst/>
            <a:sp3d/>
          </p:spPr>
          <p:style>
            <a:lnRef idx="0">
              <a:scrgbClr r="0" g="0" b="0"/>
            </a:lnRef>
            <a:fillRef idx="0">
              <a:scrgbClr r="0" g="0" b="0"/>
            </a:fillRef>
            <a:effectRef idx="0">
              <a:scrgbClr r="0" g="0" b="0"/>
            </a:effectRef>
            <a:fontRef idx="none"/>
          </p:style>
        </p:cxnSp>
        <p:cxnSp>
          <p:nvCxnSpPr>
            <p:cNvPr id="127" name="直线连接符 30"/>
            <p:cNvCxnSpPr/>
            <p:nvPr/>
          </p:nvCxnSpPr>
          <p:spPr>
            <a:xfrm flipV="1">
              <a:off x="17214" y="6396"/>
              <a:ext cx="416" cy="828"/>
            </a:xfrm>
            <a:prstGeom prst="line">
              <a:avLst/>
            </a:prstGeom>
            <a:noFill/>
            <a:ln w="34925" cap="flat">
              <a:solidFill>
                <a:schemeClr val="accent5"/>
              </a:solidFill>
              <a:prstDash val="solid"/>
              <a:miter lim="800000"/>
            </a:ln>
            <a:effectLst/>
            <a:sp3d/>
          </p:spPr>
          <p:style>
            <a:lnRef idx="0">
              <a:scrgbClr r="0" g="0" b="0"/>
            </a:lnRef>
            <a:fillRef idx="0">
              <a:scrgbClr r="0" g="0" b="0"/>
            </a:fillRef>
            <a:effectRef idx="0">
              <a:scrgbClr r="0" g="0" b="0"/>
            </a:effectRef>
            <a:fontRef idx="none"/>
          </p:style>
        </p:cxnSp>
        <p:sp>
          <p:nvSpPr>
            <p:cNvPr id="130" name="椭圆 129"/>
            <p:cNvSpPr/>
            <p:nvPr/>
          </p:nvSpPr>
          <p:spPr>
            <a:xfrm flipH="1">
              <a:off x="16791" y="4751"/>
              <a:ext cx="116" cy="116"/>
            </a:xfrm>
            <a:prstGeom prst="ellipse">
              <a:avLst/>
            </a:prstGeom>
          </p:spPr>
          <p:style>
            <a:lnRef idx="0">
              <a:srgbClr val="FFFFFF"/>
            </a:lnRef>
            <a:fillRef idx="1">
              <a:schemeClr val="accent1"/>
            </a:fillRef>
            <a:effectRef idx="0">
              <a:srgbClr val="FFFFFF"/>
            </a:effectRef>
            <a:fontRef idx="minor">
              <a:schemeClr val="dk1"/>
            </a:fontRef>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24396B"/>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133" name="组合 132"/>
          <p:cNvGrpSpPr/>
          <p:nvPr/>
        </p:nvGrpSpPr>
        <p:grpSpPr>
          <a:xfrm>
            <a:off x="1774190" y="2967990"/>
            <a:ext cx="421640" cy="1189355"/>
            <a:chOff x="15973" y="4069"/>
            <a:chExt cx="1657" cy="4670"/>
          </a:xfrm>
        </p:grpSpPr>
        <p:sp>
          <p:nvSpPr>
            <p:cNvPr id="141" name="三角形 35"/>
            <p:cNvSpPr/>
            <p:nvPr/>
          </p:nvSpPr>
          <p:spPr>
            <a:xfrm rot="5400000">
              <a:off x="14224" y="5818"/>
              <a:ext cx="4671" cy="1172"/>
            </a:xfrm>
            <a:prstGeom prst="triangle">
              <a:avLst/>
            </a:prstGeom>
            <a:noFill/>
            <a:ln w="15875" cap="flat">
              <a:gradFill>
                <a:gsLst>
                  <a:gs pos="0">
                    <a:srgbClr val="BAB2D4">
                      <a:lumMod val="70000"/>
                      <a:lumOff val="30000"/>
                    </a:srgbClr>
                  </a:gs>
                  <a:gs pos="73000">
                    <a:srgbClr val="BAB2D4">
                      <a:alpha val="0"/>
                    </a:srgbClr>
                  </a:gs>
                </a:gsLst>
                <a:lin ang="5400000" scaled="0"/>
              </a:gra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24396B"/>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2" name="三角形 36"/>
            <p:cNvSpPr/>
            <p:nvPr/>
          </p:nvSpPr>
          <p:spPr>
            <a:xfrm rot="5400000">
              <a:off x="14706" y="5818"/>
              <a:ext cx="4671" cy="1172"/>
            </a:xfrm>
            <a:prstGeom prst="triangle">
              <a:avLst/>
            </a:prstGeom>
            <a:noFill/>
            <a:ln w="15875" cap="flat">
              <a:gradFill>
                <a:gsLst>
                  <a:gs pos="0">
                    <a:srgbClr val="BAB2D4"/>
                  </a:gs>
                  <a:gs pos="83000">
                    <a:srgbClr val="BAB2D4">
                      <a:alpha val="0"/>
                    </a:srgbClr>
                  </a:gs>
                </a:gsLst>
                <a:lin ang="5400000" scaled="0"/>
              </a:gra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24396B"/>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43" name="直线连接符 32"/>
            <p:cNvCxnSpPr/>
            <p:nvPr/>
          </p:nvCxnSpPr>
          <p:spPr>
            <a:xfrm rot="10800000" flipH="1">
              <a:off x="16361" y="6386"/>
              <a:ext cx="780" cy="1577"/>
            </a:xfrm>
            <a:prstGeom prst="line">
              <a:avLst/>
            </a:prstGeom>
            <a:noFill/>
            <a:ln w="34925" cap="flat">
              <a:solidFill>
                <a:schemeClr val="accent1">
                  <a:lumMod val="60000"/>
                  <a:lumOff val="40000"/>
                </a:schemeClr>
              </a:solidFill>
              <a:prstDash val="solid"/>
              <a:miter lim="800000"/>
            </a:ln>
            <a:effectLst/>
            <a:sp3d/>
          </p:spPr>
          <p:style>
            <a:lnRef idx="0">
              <a:scrgbClr r="0" g="0" b="0"/>
            </a:lnRef>
            <a:fillRef idx="0">
              <a:scrgbClr r="0" g="0" b="0"/>
            </a:fillRef>
            <a:effectRef idx="0">
              <a:scrgbClr r="0" g="0" b="0"/>
            </a:effectRef>
            <a:fontRef idx="none"/>
          </p:style>
        </p:cxnSp>
        <p:cxnSp>
          <p:nvCxnSpPr>
            <p:cNvPr id="144" name="直线连接符 33"/>
            <p:cNvCxnSpPr/>
            <p:nvPr/>
          </p:nvCxnSpPr>
          <p:spPr>
            <a:xfrm rot="10800000" flipH="1" flipV="1">
              <a:off x="16725" y="5571"/>
              <a:ext cx="416" cy="828"/>
            </a:xfrm>
            <a:prstGeom prst="line">
              <a:avLst/>
            </a:prstGeom>
            <a:noFill/>
            <a:ln w="34925" cap="flat">
              <a:solidFill>
                <a:schemeClr val="accent1">
                  <a:lumMod val="60000"/>
                  <a:lumOff val="40000"/>
                </a:schemeClr>
              </a:solidFill>
              <a:prstDash val="solid"/>
              <a:miter lim="800000"/>
            </a:ln>
            <a:effectLst/>
            <a:sp3d/>
          </p:spPr>
          <p:style>
            <a:lnRef idx="0">
              <a:scrgbClr r="0" g="0" b="0"/>
            </a:lnRef>
            <a:fillRef idx="0">
              <a:scrgbClr r="0" g="0" b="0"/>
            </a:fillRef>
            <a:effectRef idx="0">
              <a:scrgbClr r="0" g="0" b="0"/>
            </a:effectRef>
            <a:fontRef idx="none"/>
          </p:style>
        </p:cxnSp>
        <p:sp>
          <p:nvSpPr>
            <p:cNvPr id="145" name="椭圆 144"/>
            <p:cNvSpPr/>
            <p:nvPr/>
          </p:nvSpPr>
          <p:spPr>
            <a:xfrm rot="10800000">
              <a:off x="16303" y="7905"/>
              <a:ext cx="116" cy="116"/>
            </a:xfrm>
            <a:prstGeom prst="ellipse">
              <a:avLst/>
            </a:prstGeom>
          </p:spPr>
          <p:style>
            <a:lnRef idx="0">
              <a:srgbClr val="FFFFFF"/>
            </a:lnRef>
            <a:fillRef idx="1">
              <a:schemeClr val="accent1"/>
            </a:fillRef>
            <a:effectRef idx="0">
              <a:srgbClr val="FFFFFF"/>
            </a:effectRef>
            <a:fontRef idx="minor">
              <a:schemeClr val="dk1"/>
            </a:fontRef>
          </p:style>
          <p:txBody>
            <a:bodyPr rot="0" spcFirstLastPara="1" vertOverflow="overflow" horzOverflow="overflow" vert="horz" wrap="square" lIns="45719" tIns="45719" rIns="45719" bIns="45719" numCol="1" spcCol="38100" rtlCol="0" anchor="ctr">
              <a:noAutofit/>
            </a:bodyPr>
            <a:lstStyle/>
            <a:p>
              <a:pPr hangingPunct="0"/>
              <a:endParaRPr lang="zh-CN" altLang="en-US">
                <a:solidFill>
                  <a:srgbClr val="24396B"/>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46" name="直线连接符 29"/>
            <p:cNvCxnSpPr/>
            <p:nvPr/>
          </p:nvCxnSpPr>
          <p:spPr>
            <a:xfrm>
              <a:off x="16850" y="4836"/>
              <a:ext cx="780" cy="1577"/>
            </a:xfrm>
            <a:prstGeom prst="line">
              <a:avLst/>
            </a:prstGeom>
            <a:noFill/>
            <a:ln w="34925" cap="flat">
              <a:solidFill>
                <a:schemeClr val="accent1">
                  <a:lumMod val="60000"/>
                  <a:lumOff val="40000"/>
                </a:schemeClr>
              </a:solidFill>
              <a:prstDash val="solid"/>
              <a:miter lim="800000"/>
            </a:ln>
            <a:effectLst/>
            <a:sp3d/>
          </p:spPr>
          <p:style>
            <a:lnRef idx="0">
              <a:scrgbClr r="0" g="0" b="0"/>
            </a:lnRef>
            <a:fillRef idx="0">
              <a:scrgbClr r="0" g="0" b="0"/>
            </a:fillRef>
            <a:effectRef idx="0">
              <a:scrgbClr r="0" g="0" b="0"/>
            </a:effectRef>
            <a:fontRef idx="none"/>
          </p:style>
        </p:cxnSp>
        <p:cxnSp>
          <p:nvCxnSpPr>
            <p:cNvPr id="147" name="直线连接符 30"/>
            <p:cNvCxnSpPr/>
            <p:nvPr/>
          </p:nvCxnSpPr>
          <p:spPr>
            <a:xfrm flipV="1">
              <a:off x="17214" y="6396"/>
              <a:ext cx="416" cy="828"/>
            </a:xfrm>
            <a:prstGeom prst="line">
              <a:avLst/>
            </a:prstGeom>
            <a:noFill/>
            <a:ln w="34925" cap="flat">
              <a:solidFill>
                <a:schemeClr val="accent1">
                  <a:lumMod val="60000"/>
                  <a:lumOff val="40000"/>
                </a:schemeClr>
              </a:solidFill>
              <a:prstDash val="solid"/>
              <a:miter lim="800000"/>
            </a:ln>
            <a:effectLst/>
            <a:sp3d/>
          </p:spPr>
          <p:style>
            <a:lnRef idx="0">
              <a:scrgbClr r="0" g="0" b="0"/>
            </a:lnRef>
            <a:fillRef idx="0">
              <a:scrgbClr r="0" g="0" b="0"/>
            </a:fillRef>
            <a:effectRef idx="0">
              <a:scrgbClr r="0" g="0" b="0"/>
            </a:effectRef>
            <a:fontRef idx="none"/>
          </p:style>
        </p:cxnSp>
        <p:sp>
          <p:nvSpPr>
            <p:cNvPr id="148" name="椭圆 147"/>
            <p:cNvSpPr/>
            <p:nvPr/>
          </p:nvSpPr>
          <p:spPr>
            <a:xfrm flipH="1">
              <a:off x="16791" y="4751"/>
              <a:ext cx="116" cy="116"/>
            </a:xfrm>
            <a:prstGeom prst="ellipse">
              <a:avLst/>
            </a:prstGeom>
          </p:spPr>
          <p:style>
            <a:lnRef idx="0">
              <a:srgbClr val="FFFFFF"/>
            </a:lnRef>
            <a:fillRef idx="1">
              <a:schemeClr val="accent1"/>
            </a:fillRef>
            <a:effectRef idx="0">
              <a:srgbClr val="FFFFFF"/>
            </a:effectRef>
            <a:fontRef idx="minor">
              <a:schemeClr val="dk1"/>
            </a:fontRef>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24396B"/>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150" name="组合 149"/>
          <p:cNvGrpSpPr/>
          <p:nvPr/>
        </p:nvGrpSpPr>
        <p:grpSpPr>
          <a:xfrm>
            <a:off x="1789430" y="4888230"/>
            <a:ext cx="421640" cy="1189355"/>
            <a:chOff x="15973" y="4069"/>
            <a:chExt cx="1657" cy="4670"/>
          </a:xfrm>
        </p:grpSpPr>
        <p:sp>
          <p:nvSpPr>
            <p:cNvPr id="162" name="三角形 35"/>
            <p:cNvSpPr/>
            <p:nvPr/>
          </p:nvSpPr>
          <p:spPr>
            <a:xfrm rot="5400000">
              <a:off x="14224" y="5818"/>
              <a:ext cx="4671" cy="1172"/>
            </a:xfrm>
            <a:prstGeom prst="triangle">
              <a:avLst/>
            </a:prstGeom>
            <a:noFill/>
            <a:ln w="15875" cap="flat">
              <a:gradFill>
                <a:gsLst>
                  <a:gs pos="0">
                    <a:srgbClr val="BAB2D4">
                      <a:lumMod val="70000"/>
                      <a:lumOff val="30000"/>
                    </a:srgbClr>
                  </a:gs>
                  <a:gs pos="73000">
                    <a:srgbClr val="BAB2D4">
                      <a:alpha val="0"/>
                    </a:srgbClr>
                  </a:gs>
                </a:gsLst>
                <a:lin ang="5400000" scaled="0"/>
              </a:gra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24396B"/>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8" name="三角形 36"/>
            <p:cNvSpPr/>
            <p:nvPr/>
          </p:nvSpPr>
          <p:spPr>
            <a:xfrm rot="5400000">
              <a:off x="14706" y="5818"/>
              <a:ext cx="4671" cy="1172"/>
            </a:xfrm>
            <a:prstGeom prst="triangle">
              <a:avLst/>
            </a:prstGeom>
            <a:noFill/>
            <a:ln w="15875" cap="flat">
              <a:gradFill>
                <a:gsLst>
                  <a:gs pos="0">
                    <a:srgbClr val="BAB2D4"/>
                  </a:gs>
                  <a:gs pos="83000">
                    <a:srgbClr val="BAB2D4">
                      <a:alpha val="0"/>
                    </a:srgbClr>
                  </a:gs>
                </a:gsLst>
                <a:lin ang="5400000" scaled="0"/>
              </a:gra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24396B"/>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71" name="直线连接符 32"/>
            <p:cNvCxnSpPr/>
            <p:nvPr/>
          </p:nvCxnSpPr>
          <p:spPr>
            <a:xfrm rot="10800000" flipH="1">
              <a:off x="16361" y="6386"/>
              <a:ext cx="780" cy="1577"/>
            </a:xfrm>
            <a:prstGeom prst="line">
              <a:avLst/>
            </a:prstGeom>
            <a:noFill/>
            <a:ln w="34925"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cxnSp>
          <p:nvCxnSpPr>
            <p:cNvPr id="183" name="直线连接符 33"/>
            <p:cNvCxnSpPr/>
            <p:nvPr/>
          </p:nvCxnSpPr>
          <p:spPr>
            <a:xfrm rot="10800000" flipH="1" flipV="1">
              <a:off x="16725" y="5571"/>
              <a:ext cx="416" cy="828"/>
            </a:xfrm>
            <a:prstGeom prst="line">
              <a:avLst/>
            </a:prstGeom>
            <a:noFill/>
            <a:ln w="34925"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sp>
          <p:nvSpPr>
            <p:cNvPr id="184" name="椭圆 183"/>
            <p:cNvSpPr/>
            <p:nvPr/>
          </p:nvSpPr>
          <p:spPr>
            <a:xfrm rot="10800000">
              <a:off x="16303" y="7905"/>
              <a:ext cx="116" cy="116"/>
            </a:xfrm>
            <a:prstGeom prst="ellipse">
              <a:avLst/>
            </a:prstGeom>
          </p:spPr>
          <p:style>
            <a:lnRef idx="0">
              <a:srgbClr val="FFFFFF"/>
            </a:lnRef>
            <a:fillRef idx="1">
              <a:schemeClr val="accent1"/>
            </a:fillRef>
            <a:effectRef idx="0">
              <a:srgbClr val="FFFFFF"/>
            </a:effectRef>
            <a:fontRef idx="minor">
              <a:schemeClr val="dk1"/>
            </a:fontRef>
          </p:style>
          <p:txBody>
            <a:bodyPr rot="0" spcFirstLastPara="1" vertOverflow="overflow" horzOverflow="overflow" vert="horz" wrap="square" lIns="45719" tIns="45719" rIns="45719" bIns="45719" numCol="1" spcCol="38100" rtlCol="0" anchor="ctr">
              <a:noAutofit/>
            </a:bodyPr>
            <a:lstStyle/>
            <a:p>
              <a:pPr hangingPunct="0"/>
              <a:endParaRPr lang="zh-CN" altLang="en-US">
                <a:solidFill>
                  <a:srgbClr val="24396B"/>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85" name="直线连接符 29"/>
            <p:cNvCxnSpPr/>
            <p:nvPr/>
          </p:nvCxnSpPr>
          <p:spPr>
            <a:xfrm>
              <a:off x="16850" y="4836"/>
              <a:ext cx="780" cy="1577"/>
            </a:xfrm>
            <a:prstGeom prst="line">
              <a:avLst/>
            </a:prstGeom>
            <a:noFill/>
            <a:ln w="34925"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cxnSp>
          <p:nvCxnSpPr>
            <p:cNvPr id="186" name="直线连接符 30"/>
            <p:cNvCxnSpPr/>
            <p:nvPr/>
          </p:nvCxnSpPr>
          <p:spPr>
            <a:xfrm flipV="1">
              <a:off x="17214" y="6396"/>
              <a:ext cx="416" cy="828"/>
            </a:xfrm>
            <a:prstGeom prst="line">
              <a:avLst/>
            </a:prstGeom>
            <a:noFill/>
            <a:ln w="34925" cap="flat">
              <a:solidFill>
                <a:schemeClr val="accent1"/>
              </a:solidFill>
              <a:prstDash val="solid"/>
              <a:miter lim="800000"/>
            </a:ln>
            <a:effectLst/>
            <a:sp3d/>
          </p:spPr>
          <p:style>
            <a:lnRef idx="0">
              <a:scrgbClr r="0" g="0" b="0"/>
            </a:lnRef>
            <a:fillRef idx="0">
              <a:scrgbClr r="0" g="0" b="0"/>
            </a:fillRef>
            <a:effectRef idx="0">
              <a:scrgbClr r="0" g="0" b="0"/>
            </a:effectRef>
            <a:fontRef idx="none"/>
          </p:style>
        </p:cxnSp>
        <p:sp>
          <p:nvSpPr>
            <p:cNvPr id="187" name="椭圆 186"/>
            <p:cNvSpPr/>
            <p:nvPr/>
          </p:nvSpPr>
          <p:spPr>
            <a:xfrm flipH="1">
              <a:off x="16791" y="4751"/>
              <a:ext cx="116" cy="116"/>
            </a:xfrm>
            <a:prstGeom prst="ellipse">
              <a:avLst/>
            </a:prstGeom>
          </p:spPr>
          <p:style>
            <a:lnRef idx="0">
              <a:srgbClr val="FFFFFF"/>
            </a:lnRef>
            <a:fillRef idx="1">
              <a:schemeClr val="accent1"/>
            </a:fillRef>
            <a:effectRef idx="0">
              <a:srgbClr val="FFFFFF"/>
            </a:effectRef>
            <a:fontRef idx="minor">
              <a:schemeClr val="dk1"/>
            </a:fontRef>
          </p:style>
          <p:txBody>
            <a:bodyPr rot="0" spcFirstLastPara="1" vertOverflow="overflow" horzOverflow="overflow" vert="horz" wrap="square" lIns="45719" tIns="45719" rIns="45719" bIns="45719"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24396B"/>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8" name="组合 7"/>
          <p:cNvGrpSpPr/>
          <p:nvPr/>
        </p:nvGrpSpPr>
        <p:grpSpPr>
          <a:xfrm>
            <a:off x="2454275" y="3251200"/>
            <a:ext cx="458470" cy="805815"/>
            <a:chOff x="3865" y="5120"/>
            <a:chExt cx="722" cy="1269"/>
          </a:xfrm>
        </p:grpSpPr>
        <p:sp>
          <p:nvSpPr>
            <p:cNvPr id="2" name="菱形 1"/>
            <p:cNvSpPr/>
            <p:nvPr/>
          </p:nvSpPr>
          <p:spPr>
            <a:xfrm>
              <a:off x="3865" y="5120"/>
              <a:ext cx="722" cy="971"/>
            </a:xfrm>
            <a:prstGeom prst="diamond">
              <a:avLst/>
            </a:prstGeom>
            <a:gradFill>
              <a:gsLst>
                <a:gs pos="0">
                  <a:schemeClr val="accent1">
                    <a:lumMod val="60000"/>
                    <a:lumOff val="40000"/>
                  </a:schemeClr>
                </a:gs>
                <a:gs pos="50000">
                  <a:schemeClr val="accent1">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3" name="菱形 2"/>
            <p:cNvSpPr/>
            <p:nvPr/>
          </p:nvSpPr>
          <p:spPr>
            <a:xfrm>
              <a:off x="3865" y="5419"/>
              <a:ext cx="722" cy="971"/>
            </a:xfrm>
            <a:prstGeom prst="diamond">
              <a:avLst/>
            </a:prstGeom>
            <a:gradFill>
              <a:gsLst>
                <a:gs pos="0">
                  <a:schemeClr val="accent1">
                    <a:lumMod val="60000"/>
                    <a:lumOff val="40000"/>
                  </a:schemeClr>
                </a:gs>
                <a:gs pos="50000">
                  <a:schemeClr val="accent1">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6" name="组合 5"/>
          <p:cNvGrpSpPr/>
          <p:nvPr/>
        </p:nvGrpSpPr>
        <p:grpSpPr>
          <a:xfrm>
            <a:off x="2454275" y="5057140"/>
            <a:ext cx="458470" cy="806450"/>
            <a:chOff x="3797" y="5120"/>
            <a:chExt cx="722" cy="1270"/>
          </a:xfrm>
        </p:grpSpPr>
        <p:sp>
          <p:nvSpPr>
            <p:cNvPr id="15" name="菱形 14"/>
            <p:cNvSpPr/>
            <p:nvPr/>
          </p:nvSpPr>
          <p:spPr>
            <a:xfrm>
              <a:off x="3797" y="5120"/>
              <a:ext cx="722" cy="971"/>
            </a:xfrm>
            <a:prstGeom prst="diamond">
              <a:avLst/>
            </a:prstGeom>
            <a:gradFill>
              <a:gsLst>
                <a:gs pos="0">
                  <a:schemeClr val="accent1"/>
                </a:gs>
                <a:gs pos="50000">
                  <a:schemeClr val="accent1">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21" name="菱形 20"/>
            <p:cNvSpPr/>
            <p:nvPr/>
          </p:nvSpPr>
          <p:spPr>
            <a:xfrm>
              <a:off x="3797" y="5419"/>
              <a:ext cx="722" cy="971"/>
            </a:xfrm>
            <a:prstGeom prst="diamond">
              <a:avLst/>
            </a:prstGeom>
            <a:gradFill>
              <a:gsLst>
                <a:gs pos="0">
                  <a:schemeClr val="accent1"/>
                </a:gs>
                <a:gs pos="50000">
                  <a:schemeClr val="accent1">
                    <a:alpha val="0"/>
                  </a:schemeClr>
                </a:gs>
              </a:gsLst>
            </a:gradFill>
          </p:spPr>
          <p:style>
            <a:lnRef idx="0">
              <a:srgbClr val="FFFFFF"/>
            </a:lnRef>
            <a:fillRef idx="2">
              <a:schemeClr val="accent1"/>
            </a:fillRef>
            <a:effectRef idx="0">
              <a:srgbClr val="FFFFFF"/>
            </a:effectRef>
            <a:fontRef idx="minor">
              <a:schemeClr val="dk1"/>
            </a:fontRef>
          </p:style>
          <p:txBody>
            <a:bodyPr rtlCol="0" anchor="ctr"/>
            <a:p>
              <a:pPr algn="ctr" defTabSz="914400">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endParaRPr>
            </a:p>
          </p:txBody>
        </p:sp>
      </p:grpSp>
      <p:grpSp>
        <p:nvGrpSpPr>
          <p:cNvPr id="48" name="组合 47"/>
          <p:cNvGrpSpPr/>
          <p:nvPr/>
        </p:nvGrpSpPr>
        <p:grpSpPr>
          <a:xfrm>
            <a:off x="9797415" y="5057140"/>
            <a:ext cx="458470" cy="806450"/>
            <a:chOff x="3797" y="5120"/>
            <a:chExt cx="722" cy="1270"/>
          </a:xfrm>
        </p:grpSpPr>
        <p:sp>
          <p:nvSpPr>
            <p:cNvPr id="49" name="菱形 48"/>
            <p:cNvSpPr/>
            <p:nvPr/>
          </p:nvSpPr>
          <p:spPr>
            <a:xfrm>
              <a:off x="3797" y="5120"/>
              <a:ext cx="722" cy="971"/>
            </a:xfrm>
            <a:prstGeom prst="diamond">
              <a:avLst/>
            </a:prstGeom>
            <a:gradFill>
              <a:gsLst>
                <a:gs pos="0">
                  <a:schemeClr val="accent1"/>
                </a:gs>
                <a:gs pos="50000">
                  <a:schemeClr val="accent1">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50" name="菱形 49"/>
            <p:cNvSpPr/>
            <p:nvPr/>
          </p:nvSpPr>
          <p:spPr>
            <a:xfrm>
              <a:off x="3797" y="5419"/>
              <a:ext cx="722" cy="971"/>
            </a:xfrm>
            <a:prstGeom prst="diamond">
              <a:avLst/>
            </a:prstGeom>
            <a:gradFill>
              <a:gsLst>
                <a:gs pos="0">
                  <a:schemeClr val="accent1"/>
                </a:gs>
                <a:gs pos="50000">
                  <a:schemeClr val="accent1">
                    <a:alpha val="0"/>
                  </a:schemeClr>
                </a:gs>
              </a:gsLst>
            </a:gradFill>
          </p:spPr>
          <p:style>
            <a:lnRef idx="0">
              <a:srgbClr val="FFFFFF"/>
            </a:lnRef>
            <a:fillRef idx="2">
              <a:schemeClr val="accent1"/>
            </a:fillRef>
            <a:effectRef idx="0">
              <a:srgbClr val="FFFFFF"/>
            </a:effectRef>
            <a:fontRef idx="minor">
              <a:schemeClr val="dk1"/>
            </a:fontRef>
          </p:style>
          <p:txBody>
            <a:bodyPr rtlCol="0" anchor="ctr"/>
            <a:p>
              <a:pPr algn="ctr" defTabSz="914400">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endParaRPr>
            </a:p>
          </p:txBody>
        </p:sp>
      </p:grpSp>
      <p:grpSp>
        <p:nvGrpSpPr>
          <p:cNvPr id="11" name="组合 10"/>
          <p:cNvGrpSpPr/>
          <p:nvPr/>
        </p:nvGrpSpPr>
        <p:grpSpPr>
          <a:xfrm>
            <a:off x="9797415" y="3251200"/>
            <a:ext cx="458470" cy="805815"/>
            <a:chOff x="3865" y="5120"/>
            <a:chExt cx="722" cy="1269"/>
          </a:xfrm>
        </p:grpSpPr>
        <p:sp>
          <p:nvSpPr>
            <p:cNvPr id="12" name="菱形 11"/>
            <p:cNvSpPr/>
            <p:nvPr/>
          </p:nvSpPr>
          <p:spPr>
            <a:xfrm>
              <a:off x="3865" y="5120"/>
              <a:ext cx="722" cy="971"/>
            </a:xfrm>
            <a:prstGeom prst="diamond">
              <a:avLst/>
            </a:prstGeom>
            <a:gradFill>
              <a:gsLst>
                <a:gs pos="0">
                  <a:schemeClr val="accent1">
                    <a:lumMod val="60000"/>
                    <a:lumOff val="40000"/>
                  </a:schemeClr>
                </a:gs>
                <a:gs pos="50000">
                  <a:schemeClr val="accent1">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3" name="菱形 12"/>
            <p:cNvSpPr/>
            <p:nvPr/>
          </p:nvSpPr>
          <p:spPr>
            <a:xfrm>
              <a:off x="3865" y="5419"/>
              <a:ext cx="722" cy="971"/>
            </a:xfrm>
            <a:prstGeom prst="diamond">
              <a:avLst/>
            </a:prstGeom>
            <a:gradFill>
              <a:gsLst>
                <a:gs pos="0">
                  <a:schemeClr val="accent1">
                    <a:lumMod val="60000"/>
                    <a:lumOff val="40000"/>
                  </a:schemeClr>
                </a:gs>
                <a:gs pos="50000">
                  <a:schemeClr val="accent1">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pic>
        <p:nvPicPr>
          <p:cNvPr id="14" name="图片 13" descr="屋顶资源管理"/>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55600" y="186055"/>
            <a:ext cx="549910" cy="549910"/>
          </a:xfrm>
          <a:prstGeom prst="rect">
            <a:avLst/>
          </a:prstGeom>
        </p:spPr>
      </p:pic>
      <p:grpSp>
        <p:nvGrpSpPr>
          <p:cNvPr id="4" name="组合 3"/>
          <p:cNvGrpSpPr/>
          <p:nvPr/>
        </p:nvGrpSpPr>
        <p:grpSpPr>
          <a:xfrm>
            <a:off x="8715375" y="348615"/>
            <a:ext cx="3219450" cy="332740"/>
            <a:chOff x="13761" y="549"/>
            <a:chExt cx="5070" cy="524"/>
          </a:xfrm>
        </p:grpSpPr>
        <p:pic>
          <p:nvPicPr>
            <p:cNvPr id="10" name="图片 9"/>
            <p:cNvPicPr>
              <a:picLocks noChangeAspect="1"/>
            </p:cNvPicPr>
            <p:nvPr userDrawn="1"/>
          </p:nvPicPr>
          <p:blipFill>
            <a:blip r:embed="rId11"/>
            <a:srcRect l="17002" t="-1765" r="56499" b="-1176"/>
            <a:stretch>
              <a:fillRect/>
            </a:stretch>
          </p:blipFill>
          <p:spPr>
            <a:xfrm>
              <a:off x="13761" y="549"/>
              <a:ext cx="1582" cy="525"/>
            </a:xfrm>
            <a:prstGeom prst="rect">
              <a:avLst/>
            </a:prstGeom>
          </p:spPr>
        </p:pic>
        <p:sp>
          <p:nvSpPr>
            <p:cNvPr id="18" name="文本框 17"/>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
        <p:nvSpPr>
          <p:cNvPr id="39" name="Rectangle 1555"/>
          <p:cNvSpPr/>
          <p:nvPr/>
        </p:nvSpPr>
        <p:spPr>
          <a:xfrm>
            <a:off x="3379470" y="1278890"/>
            <a:ext cx="1134110" cy="170180"/>
          </a:xfrm>
          <a:prstGeom prst="rect">
            <a:avLst/>
          </a:prstGeom>
          <a:noFill/>
          <a:extLst>
            <a:ext uri="{909E8E84-426E-40DD-AFC4-6F175D3DCCD1}">
              <a14:hiddenFill xmlns:a14="http://schemas.microsoft.com/office/drawing/2010/main">
                <a:grpFill/>
              </a14:hiddenFill>
            </a:ext>
          </a:extLst>
        </p:spPr>
        <p:txBody>
          <a:bodyPr wrap="square" lIns="0" tIns="0" rIns="0" bIns="0">
            <a:spAutoFit/>
          </a:bodyPr>
          <a:lstStyle/>
          <a:p>
            <a:pPr marL="0" algn="ctr"/>
            <a:r>
              <a:rPr lang="en-US" sz="1105" b="1" spc="0" baseline="0" dirty="0">
                <a:solidFill>
                  <a:schemeClr val="bg2"/>
                </a:solidFill>
                <a:latin typeface="微软雅黑" panose="020B0503020204020204" charset="-122"/>
                <a:ea typeface="微软雅黑" panose="020B0503020204020204" charset="-122"/>
                <a:cs typeface="微软雅黑" panose="020B0503020204020204" charset="-122"/>
              </a:rPr>
              <a:t>智能设备</a:t>
            </a:r>
            <a:r>
              <a:rPr lang="zh-CN" altLang="en-US" sz="1105" b="1" spc="0" baseline="0" dirty="0">
                <a:solidFill>
                  <a:schemeClr val="bg2"/>
                </a:solidFill>
                <a:latin typeface="微软雅黑" panose="020B0503020204020204" charset="-122"/>
                <a:ea typeface="微软雅黑" panose="020B0503020204020204" charset="-122"/>
                <a:cs typeface="微软雅黑" panose="020B0503020204020204" charset="-122"/>
              </a:rPr>
              <a:t>使用</a:t>
            </a:r>
            <a:r>
              <a:rPr lang="en-US" sz="1105" b="1" spc="0" baseline="0" dirty="0">
                <a:solidFill>
                  <a:schemeClr val="bg2"/>
                </a:solidFill>
                <a:latin typeface="微软雅黑" panose="020B0503020204020204" charset="-122"/>
                <a:ea typeface="微软雅黑" panose="020B0503020204020204" charset="-122"/>
                <a:cs typeface="微软雅黑" panose="020B0503020204020204" charset="-122"/>
              </a:rPr>
              <a:t>量</a:t>
            </a:r>
            <a:endParaRPr lang="en-US" sz="1105" b="1" spc="0" baseline="0" dirty="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42" name="Rectangle 1555"/>
          <p:cNvSpPr/>
          <p:nvPr/>
        </p:nvSpPr>
        <p:spPr>
          <a:xfrm>
            <a:off x="5034915" y="1278890"/>
            <a:ext cx="1134110" cy="170180"/>
          </a:xfrm>
          <a:prstGeom prst="rect">
            <a:avLst/>
          </a:prstGeom>
          <a:noFill/>
          <a:extLst>
            <a:ext uri="{909E8E84-426E-40DD-AFC4-6F175D3DCCD1}">
              <a14:hiddenFill xmlns:a14="http://schemas.microsoft.com/office/drawing/2010/main">
                <a:grpFill/>
              </a14:hiddenFill>
            </a:ext>
          </a:extLst>
        </p:spPr>
        <p:txBody>
          <a:bodyPr wrap="square" lIns="0" tIns="0" rIns="0" bIns="0">
            <a:spAutoFit/>
          </a:bodyPr>
          <a:lstStyle/>
          <a:p>
            <a:pPr marL="0" algn="ctr"/>
            <a:r>
              <a:rPr lang="zh-CN" sz="1105" b="1" spc="0" baseline="0" dirty="0">
                <a:solidFill>
                  <a:schemeClr val="bg2"/>
                </a:solidFill>
                <a:latin typeface="微软雅黑" panose="020B0503020204020204" charset="-122"/>
                <a:ea typeface="微软雅黑" panose="020B0503020204020204" charset="-122"/>
                <a:cs typeface="微软雅黑" panose="020B0503020204020204" charset="-122"/>
              </a:rPr>
              <a:t>内容累计阅读量</a:t>
            </a:r>
            <a:endParaRPr lang="zh-CN" sz="1105" b="1" spc="0" baseline="0" dirty="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47" name="Rectangle 1555"/>
          <p:cNvSpPr/>
          <p:nvPr/>
        </p:nvSpPr>
        <p:spPr>
          <a:xfrm>
            <a:off x="6690360" y="1278890"/>
            <a:ext cx="1134110" cy="170180"/>
          </a:xfrm>
          <a:prstGeom prst="rect">
            <a:avLst/>
          </a:prstGeom>
          <a:noFill/>
          <a:extLst>
            <a:ext uri="{909E8E84-426E-40DD-AFC4-6F175D3DCCD1}">
              <a14:hiddenFill xmlns:a14="http://schemas.microsoft.com/office/drawing/2010/main">
                <a:grpFill/>
              </a14:hiddenFill>
            </a:ext>
          </a:extLst>
        </p:spPr>
        <p:txBody>
          <a:bodyPr wrap="square" lIns="0" tIns="0" rIns="0" bIns="0">
            <a:spAutoFit/>
          </a:bodyPr>
          <a:lstStyle/>
          <a:p>
            <a:pPr marL="0" algn="ctr"/>
            <a:r>
              <a:rPr lang="zh-CN" sz="1105" b="1" spc="0" baseline="0" dirty="0">
                <a:solidFill>
                  <a:schemeClr val="bg2"/>
                </a:solidFill>
                <a:latin typeface="微软雅黑" panose="020B0503020204020204" charset="-122"/>
                <a:ea typeface="微软雅黑" panose="020B0503020204020204" charset="-122"/>
                <a:cs typeface="微软雅黑" panose="020B0503020204020204" charset="-122"/>
              </a:rPr>
              <a:t>日活人次</a:t>
            </a:r>
            <a:endParaRPr lang="zh-CN" sz="1105" b="1" spc="0" baseline="0" dirty="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51" name="Rectangle 1555"/>
          <p:cNvSpPr/>
          <p:nvPr/>
        </p:nvSpPr>
        <p:spPr>
          <a:xfrm>
            <a:off x="8345805" y="1278890"/>
            <a:ext cx="1134110" cy="170180"/>
          </a:xfrm>
          <a:prstGeom prst="rect">
            <a:avLst/>
          </a:prstGeom>
          <a:noFill/>
          <a:extLst>
            <a:ext uri="{909E8E84-426E-40DD-AFC4-6F175D3DCCD1}">
              <a14:hiddenFill xmlns:a14="http://schemas.microsoft.com/office/drawing/2010/main">
                <a:grpFill/>
              </a14:hiddenFill>
            </a:ext>
          </a:extLst>
        </p:spPr>
        <p:txBody>
          <a:bodyPr wrap="square" lIns="0" tIns="0" rIns="0" bIns="0">
            <a:spAutoFit/>
          </a:bodyPr>
          <a:lstStyle/>
          <a:p>
            <a:pPr marL="0" algn="ctr"/>
            <a:r>
              <a:rPr lang="en-US" sz="1105" b="1" spc="0" baseline="0" dirty="0">
                <a:solidFill>
                  <a:schemeClr val="bg2"/>
                </a:solidFill>
                <a:latin typeface="微软雅黑" panose="020B0503020204020204" charset="-122"/>
                <a:ea typeface="微软雅黑" panose="020B0503020204020204" charset="-122"/>
                <a:cs typeface="微软雅黑" panose="020B0503020204020204" charset="-122"/>
              </a:rPr>
              <a:t>智能设</a:t>
            </a:r>
            <a:r>
              <a:rPr lang="zh-CN" sz="1105" b="1" spc="0" baseline="0" dirty="0">
                <a:solidFill>
                  <a:schemeClr val="bg2"/>
                </a:solidFill>
                <a:latin typeface="微软雅黑" panose="020B0503020204020204" charset="-122"/>
                <a:ea typeface="微软雅黑" panose="020B0503020204020204" charset="-122"/>
                <a:cs typeface="微软雅黑" panose="020B0503020204020204" charset="-122"/>
              </a:rPr>
              <a:t>互检次数</a:t>
            </a:r>
            <a:endParaRPr lang="zh-CN" sz="1105" b="1" spc="0" baseline="0" dirty="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54" name="Rectangle 1551"/>
          <p:cNvSpPr/>
          <p:nvPr/>
        </p:nvSpPr>
        <p:spPr>
          <a:xfrm>
            <a:off x="2270125" y="6147435"/>
            <a:ext cx="8136255" cy="276860"/>
          </a:xfrm>
          <a:prstGeom prst="rect">
            <a:avLst/>
          </a:prstGeom>
        </p:spPr>
        <p:txBody>
          <a:bodyPr wrap="square" lIns="0" tIns="0" rIns="0" bIns="0">
            <a:spAutoFit/>
          </a:bodyPr>
          <a:lstStyle/>
          <a:p>
            <a:pPr marL="0" algn="ctr"/>
            <a:r>
              <a:rPr lang="zh-CN" altLang="en-US" sz="1800" b="1" dirty="0">
                <a:solidFill>
                  <a:srgbClr val="FFFFFF"/>
                </a:solidFill>
                <a:latin typeface="微软雅黑" panose="020B0503020204020204" charset="-122"/>
                <a:ea typeface="微软雅黑" panose="020B0503020204020204" charset="-122"/>
                <a:cs typeface="微软雅黑" panose="020B0503020204020204" charset="-122"/>
              </a:rPr>
              <a:t>人格建立链接</a:t>
            </a:r>
            <a:endParaRPr lang="zh-CN" altLang="en-US" sz="1800" b="1" spc="0" baseline="0" dirty="0">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p:nvPr/>
        </p:nvSpPr>
        <p:spPr>
          <a:xfrm>
            <a:off x="505460" y="1560195"/>
            <a:ext cx="1795145" cy="4622165"/>
          </a:xfrm>
          <a:prstGeom prst="rect">
            <a:avLst/>
          </a:prstGeom>
          <a:solidFill>
            <a:schemeClr val="accent1">
              <a:lumMod val="20000"/>
              <a:lumOff val="80000"/>
              <a:alpha val="1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5" name="Freeform 1482"/>
          <p:cNvSpPr/>
          <p:nvPr/>
        </p:nvSpPr>
        <p:spPr>
          <a:xfrm>
            <a:off x="2941955" y="3960495"/>
            <a:ext cx="5266055" cy="158115"/>
          </a:xfrm>
          <a:custGeom>
            <a:avLst/>
            <a:gdLst/>
            <a:ahLst/>
            <a:cxnLst/>
            <a:rect l="0" t="0" r="0" b="0"/>
            <a:pathLst>
              <a:path w="10750295" h="362712">
                <a:moveTo>
                  <a:pt x="0" y="362712"/>
                </a:moveTo>
                <a:lnTo>
                  <a:pt x="10750295" y="362712"/>
                </a:lnTo>
                <a:lnTo>
                  <a:pt x="10750295" y="0"/>
                </a:lnTo>
                <a:lnTo>
                  <a:pt x="0" y="0"/>
                </a:lnTo>
                <a:lnTo>
                  <a:pt x="0" y="362712"/>
                </a:lnTo>
                <a:close/>
              </a:path>
            </a:pathLst>
          </a:custGeom>
          <a:gradFill>
            <a:gsLst>
              <a:gs pos="0">
                <a:schemeClr val="accent5"/>
              </a:gs>
              <a:gs pos="100000">
                <a:schemeClr val="accent5">
                  <a:lumMod val="60000"/>
                  <a:lumOff val="40000"/>
                </a:schemeClr>
              </a:gs>
            </a:gsLst>
            <a:lin ang="0" scaled="0"/>
          </a:gradFill>
        </p:spPr>
        <p:style>
          <a:lnRef idx="0">
            <a:srgbClr val="FFFFFF"/>
          </a:lnRef>
          <a:fillRef idx="1">
            <a:schemeClr val="accent5"/>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76" name="梯形 75"/>
          <p:cNvSpPr/>
          <p:nvPr/>
        </p:nvSpPr>
        <p:spPr>
          <a:xfrm>
            <a:off x="2941955" y="3594735"/>
            <a:ext cx="5266055" cy="362585"/>
          </a:xfrm>
          <a:prstGeom prst="trapezoid">
            <a:avLst>
              <a:gd name="adj" fmla="val 147460"/>
            </a:avLst>
          </a:prstGeom>
          <a:gradFill>
            <a:gsLst>
              <a:gs pos="0">
                <a:schemeClr val="accent5">
                  <a:lumMod val="60000"/>
                  <a:lumOff val="40000"/>
                  <a:alpha val="0"/>
                </a:schemeClr>
              </a:gs>
              <a:gs pos="100000">
                <a:schemeClr val="accent5">
                  <a:lumMod val="60000"/>
                  <a:lumOff val="40000"/>
                  <a:alpha val="50000"/>
                </a:schemeClr>
              </a:gs>
            </a:gsLst>
          </a:gradFill>
        </p:spPr>
        <p:style>
          <a:lnRef idx="0">
            <a:srgbClr val="FFFFFF"/>
          </a:lnRef>
          <a:fillRef idx="2">
            <a:schemeClr val="accent5"/>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电商数字化平台架构</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8" name="梯形 27"/>
          <p:cNvSpPr/>
          <p:nvPr/>
        </p:nvSpPr>
        <p:spPr>
          <a:xfrm>
            <a:off x="2942590" y="5657850"/>
            <a:ext cx="5321300" cy="362585"/>
          </a:xfrm>
          <a:prstGeom prst="trapezoid">
            <a:avLst>
              <a:gd name="adj" fmla="val 147460"/>
            </a:avLst>
          </a:prstGeom>
          <a:gradFill>
            <a:gsLst>
              <a:gs pos="0">
                <a:schemeClr val="accent1">
                  <a:lumMod val="60000"/>
                  <a:lumOff val="40000"/>
                  <a:alpha val="0"/>
                </a:schemeClr>
              </a:gs>
              <a:gs pos="100000">
                <a:schemeClr val="accent1">
                  <a:lumMod val="60000"/>
                  <a:lumOff val="40000"/>
                  <a:alpha val="5000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1" name="Freeform 1482"/>
          <p:cNvSpPr/>
          <p:nvPr/>
        </p:nvSpPr>
        <p:spPr>
          <a:xfrm>
            <a:off x="2942590" y="6024245"/>
            <a:ext cx="5321300" cy="158115"/>
          </a:xfrm>
          <a:custGeom>
            <a:avLst/>
            <a:gdLst/>
            <a:ahLst/>
            <a:cxnLst/>
            <a:rect l="0" t="0" r="0" b="0"/>
            <a:pathLst>
              <a:path w="10750295" h="362712">
                <a:moveTo>
                  <a:pt x="0" y="362712"/>
                </a:moveTo>
                <a:lnTo>
                  <a:pt x="10750295" y="362712"/>
                </a:lnTo>
                <a:lnTo>
                  <a:pt x="10750295" y="0"/>
                </a:lnTo>
                <a:lnTo>
                  <a:pt x="0" y="0"/>
                </a:lnTo>
                <a:lnTo>
                  <a:pt x="0" y="362712"/>
                </a:lnTo>
                <a:close/>
              </a:path>
            </a:pathLst>
          </a:custGeom>
          <a:gradFill>
            <a:gsLst>
              <a:gs pos="0">
                <a:schemeClr val="accent1">
                  <a:lumMod val="60000"/>
                  <a:lumOff val="40000"/>
                </a:schemeClr>
              </a:gs>
              <a:gs pos="100000">
                <a:schemeClr val="accent1"/>
              </a:gs>
            </a:gsLst>
            <a:lin ang="10800000" scaled="0"/>
          </a:gradFill>
        </p:spPr>
        <p:style>
          <a:lnRef idx="0">
            <a:srgbClr val="FFFFFF"/>
          </a:lnRef>
          <a:fillRef idx="1">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3100705" y="5249545"/>
            <a:ext cx="5010785" cy="510540"/>
          </a:xfrm>
          <a:prstGeom prst="rect">
            <a:avLst/>
          </a:prstGeom>
          <a:solidFill>
            <a:schemeClr val="accent1">
              <a:alpha val="5000"/>
            </a:schemeClr>
          </a:solidFill>
          <a:ln>
            <a:solidFill>
              <a:schemeClr val="accent1">
                <a:lumMod val="75000"/>
                <a:alpha val="7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 name="文本框 3"/>
          <p:cNvSpPr txBox="1"/>
          <p:nvPr/>
        </p:nvSpPr>
        <p:spPr>
          <a:xfrm>
            <a:off x="3149600" y="5358765"/>
            <a:ext cx="822325" cy="275590"/>
          </a:xfrm>
          <a:prstGeom prst="rect">
            <a:avLst/>
          </a:prstGeom>
          <a:noFill/>
        </p:spPr>
        <p:txBody>
          <a:bodyPr wrap="square" rtlCol="0">
            <a:spAutoFit/>
          </a:bodyPr>
          <a:p>
            <a:pPr algn="ct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资源中台</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6" name="矩形 5"/>
          <p:cNvSpPr/>
          <p:nvPr/>
        </p:nvSpPr>
        <p:spPr>
          <a:xfrm>
            <a:off x="4039870" y="5324475"/>
            <a:ext cx="731520" cy="346710"/>
          </a:xfrm>
          <a:prstGeom prst="rect">
            <a:avLst/>
          </a:prstGeom>
          <a:solidFill>
            <a:schemeClr val="bg1">
              <a:alpha val="50000"/>
            </a:schemeClr>
          </a:solidFill>
          <a:ln>
            <a:solidFill>
              <a:schemeClr val="accent1">
                <a:lumMod val="75000"/>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 name="矩形 6"/>
          <p:cNvSpPr/>
          <p:nvPr/>
        </p:nvSpPr>
        <p:spPr>
          <a:xfrm>
            <a:off x="4839335" y="5330825"/>
            <a:ext cx="731520" cy="346710"/>
          </a:xfrm>
          <a:prstGeom prst="rect">
            <a:avLst/>
          </a:prstGeom>
          <a:solidFill>
            <a:schemeClr val="bg1">
              <a:alpha val="50000"/>
            </a:schemeClr>
          </a:solidFill>
          <a:ln>
            <a:solidFill>
              <a:schemeClr val="accent1">
                <a:lumMod val="75000"/>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8" name="矩形 7"/>
          <p:cNvSpPr/>
          <p:nvPr/>
        </p:nvSpPr>
        <p:spPr>
          <a:xfrm>
            <a:off x="5638800" y="5321300"/>
            <a:ext cx="731520" cy="346710"/>
          </a:xfrm>
          <a:prstGeom prst="rect">
            <a:avLst/>
          </a:prstGeom>
          <a:solidFill>
            <a:schemeClr val="bg1">
              <a:alpha val="50000"/>
            </a:schemeClr>
          </a:solidFill>
          <a:ln>
            <a:solidFill>
              <a:schemeClr val="accent1">
                <a:lumMod val="75000"/>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9" name="矩形 8"/>
          <p:cNvSpPr/>
          <p:nvPr/>
        </p:nvSpPr>
        <p:spPr>
          <a:xfrm>
            <a:off x="6438265" y="5330825"/>
            <a:ext cx="731520" cy="346710"/>
          </a:xfrm>
          <a:prstGeom prst="rect">
            <a:avLst/>
          </a:prstGeom>
          <a:solidFill>
            <a:schemeClr val="bg1">
              <a:alpha val="50000"/>
            </a:schemeClr>
          </a:solidFill>
          <a:ln>
            <a:solidFill>
              <a:schemeClr val="accent1">
                <a:lumMod val="75000"/>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1" name="矩形 10"/>
          <p:cNvSpPr/>
          <p:nvPr/>
        </p:nvSpPr>
        <p:spPr>
          <a:xfrm>
            <a:off x="7237730" y="5330825"/>
            <a:ext cx="731520" cy="346710"/>
          </a:xfrm>
          <a:prstGeom prst="rect">
            <a:avLst/>
          </a:prstGeom>
          <a:solidFill>
            <a:schemeClr val="bg1">
              <a:alpha val="50000"/>
            </a:schemeClr>
          </a:solidFill>
          <a:ln>
            <a:solidFill>
              <a:schemeClr val="accent1">
                <a:lumMod val="75000"/>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2" name="Freeform 1482"/>
          <p:cNvSpPr/>
          <p:nvPr/>
        </p:nvSpPr>
        <p:spPr>
          <a:xfrm>
            <a:off x="2942590" y="4996180"/>
            <a:ext cx="5266055" cy="158115"/>
          </a:xfrm>
          <a:custGeom>
            <a:avLst/>
            <a:gdLst/>
            <a:ahLst/>
            <a:cxnLst/>
            <a:rect l="0" t="0" r="0" b="0"/>
            <a:pathLst>
              <a:path w="10750295" h="362712">
                <a:moveTo>
                  <a:pt x="0" y="362712"/>
                </a:moveTo>
                <a:lnTo>
                  <a:pt x="10750295" y="362712"/>
                </a:lnTo>
                <a:lnTo>
                  <a:pt x="10750295" y="0"/>
                </a:lnTo>
                <a:lnTo>
                  <a:pt x="0" y="0"/>
                </a:lnTo>
                <a:lnTo>
                  <a:pt x="0" y="362712"/>
                </a:lnTo>
                <a:close/>
              </a:path>
            </a:pathLst>
          </a:custGeom>
          <a:solidFill>
            <a:schemeClr val="accent1">
              <a:lumMod val="60000"/>
              <a:lumOff val="40000"/>
            </a:schemeClr>
          </a:solidFill>
        </p:spPr>
        <p:style>
          <a:lnRef idx="0">
            <a:srgbClr val="FFFFFF"/>
          </a:lnRef>
          <a:fillRef idx="1">
            <a:schemeClr val="accent1"/>
          </a:fillRef>
          <a:effectRef idx="0">
            <a:srgbClr val="FFFFFF"/>
          </a:effectRef>
          <a:fontRef idx="minor">
            <a:schemeClr val="dk1"/>
          </a:fontRef>
        </p:style>
        <p:txBody>
          <a:bodyPr/>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3" name="梯形 12"/>
          <p:cNvSpPr/>
          <p:nvPr/>
        </p:nvSpPr>
        <p:spPr>
          <a:xfrm>
            <a:off x="2942590" y="4627245"/>
            <a:ext cx="5266055" cy="362585"/>
          </a:xfrm>
          <a:prstGeom prst="trapezoid">
            <a:avLst>
              <a:gd name="adj" fmla="val 147460"/>
            </a:avLst>
          </a:prstGeom>
          <a:gradFill>
            <a:gsLst>
              <a:gs pos="0">
                <a:schemeClr val="accent1">
                  <a:lumMod val="40000"/>
                  <a:lumOff val="60000"/>
                  <a:alpha val="0"/>
                </a:schemeClr>
              </a:gs>
              <a:gs pos="100000">
                <a:schemeClr val="accent1">
                  <a:lumMod val="40000"/>
                  <a:lumOff val="60000"/>
                  <a:alpha val="50000"/>
                </a:schemeClr>
              </a:gs>
            </a:gsLst>
          </a:gradFill>
        </p:spPr>
        <p:style>
          <a:lnRef idx="0">
            <a:srgbClr val="FFFFFF"/>
          </a:lnRef>
          <a:fillRef idx="2">
            <a:schemeClr val="accent2"/>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4" name="矩形 33"/>
          <p:cNvSpPr/>
          <p:nvPr/>
        </p:nvSpPr>
        <p:spPr>
          <a:xfrm>
            <a:off x="8384540" y="1557655"/>
            <a:ext cx="457200" cy="4581525"/>
          </a:xfrm>
          <a:prstGeom prst="rect">
            <a:avLst/>
          </a:prstGeom>
          <a:solidFill>
            <a:schemeClr val="accent5">
              <a:lumMod val="20000"/>
              <a:lumOff val="80000"/>
              <a:alpha val="20000"/>
            </a:schemeClr>
          </a:solidFill>
          <a:ln w="19050">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a:solidFill>
                  <a:schemeClr val="accent5">
                    <a:lumMod val="60000"/>
                    <a:lumOff val="40000"/>
                  </a:schemeClr>
                </a:solidFill>
                <a:cs typeface="微软雅黑" panose="020B0503020204020204" charset="-122"/>
                <a:sym typeface="+mn-ea"/>
              </a:rPr>
              <a:t>运营体系</a:t>
            </a:r>
            <a:endParaRPr lang="zh-CN" altLang="en-US">
              <a:solidFill>
                <a:schemeClr val="accent5">
                  <a:lumMod val="60000"/>
                  <a:lumOff val="40000"/>
                </a:schemeClr>
              </a:solidFill>
              <a:cs typeface="微软雅黑" panose="020B0503020204020204" charset="-122"/>
              <a:sym typeface="+mn-ea"/>
            </a:endParaRPr>
          </a:p>
        </p:txBody>
      </p:sp>
      <p:sp>
        <p:nvSpPr>
          <p:cNvPr id="35" name="矩形 34"/>
          <p:cNvSpPr/>
          <p:nvPr/>
        </p:nvSpPr>
        <p:spPr>
          <a:xfrm>
            <a:off x="8893175" y="1557655"/>
            <a:ext cx="457200" cy="4581525"/>
          </a:xfrm>
          <a:prstGeom prst="rect">
            <a:avLst/>
          </a:prstGeom>
          <a:solidFill>
            <a:schemeClr val="accent5">
              <a:lumMod val="20000"/>
              <a:lumOff val="80000"/>
              <a:alpha val="20000"/>
            </a:schemeClr>
          </a:solidFill>
          <a:ln w="19050">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a:solidFill>
                  <a:schemeClr val="accent5">
                    <a:lumMod val="60000"/>
                    <a:lumOff val="40000"/>
                  </a:schemeClr>
                </a:solidFill>
                <a:cs typeface="微软雅黑" panose="020B0503020204020204" charset="-122"/>
                <a:sym typeface="+mn-ea"/>
              </a:rPr>
              <a:t>保障体系</a:t>
            </a:r>
            <a:endParaRPr lang="zh-CN" altLang="en-US">
              <a:solidFill>
                <a:schemeClr val="accent5">
                  <a:lumMod val="60000"/>
                  <a:lumOff val="40000"/>
                </a:schemeClr>
              </a:solidFill>
              <a:cs typeface="微软雅黑" panose="020B0503020204020204" charset="-122"/>
              <a:sym typeface="+mn-ea"/>
            </a:endParaRPr>
          </a:p>
        </p:txBody>
      </p:sp>
      <p:sp>
        <p:nvSpPr>
          <p:cNvPr id="36" name="等腰三角形 35"/>
          <p:cNvSpPr/>
          <p:nvPr/>
        </p:nvSpPr>
        <p:spPr>
          <a:xfrm rot="5400000">
            <a:off x="338455" y="3731895"/>
            <a:ext cx="4566920" cy="452120"/>
          </a:xfrm>
          <a:prstGeom prst="triangle">
            <a:avLst>
              <a:gd name="adj" fmla="val 50312"/>
            </a:avLst>
          </a:prstGeom>
          <a:gradFill>
            <a:gsLst>
              <a:gs pos="100000">
                <a:schemeClr val="accent1">
                  <a:lumMod val="60000"/>
                  <a:lumOff val="40000"/>
                  <a:alpha val="0"/>
                </a:schemeClr>
              </a:gs>
              <a:gs pos="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7" name="等腰三角形 36"/>
          <p:cNvSpPr/>
          <p:nvPr/>
        </p:nvSpPr>
        <p:spPr>
          <a:xfrm rot="5400000">
            <a:off x="7390130" y="3672840"/>
            <a:ext cx="4566920" cy="452120"/>
          </a:xfrm>
          <a:prstGeom prst="triangle">
            <a:avLst>
              <a:gd name="adj" fmla="val 50312"/>
            </a:avLst>
          </a:prstGeom>
          <a:gradFill>
            <a:gsLst>
              <a:gs pos="100000">
                <a:schemeClr val="accent5">
                  <a:alpha val="0"/>
                </a:schemeClr>
              </a:gs>
              <a:gs pos="0">
                <a:schemeClr val="accent5"/>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39" name="矩形 38"/>
          <p:cNvSpPr/>
          <p:nvPr/>
        </p:nvSpPr>
        <p:spPr>
          <a:xfrm>
            <a:off x="622935" y="1676400"/>
            <a:ext cx="1559560" cy="792000"/>
          </a:xfrm>
          <a:prstGeom prst="rect">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0" name="矩形 39"/>
          <p:cNvSpPr/>
          <p:nvPr/>
        </p:nvSpPr>
        <p:spPr>
          <a:xfrm>
            <a:off x="622935" y="2560475"/>
            <a:ext cx="1559560" cy="791845"/>
          </a:xfrm>
          <a:prstGeom prst="rect">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41" name="矩形 40"/>
          <p:cNvSpPr/>
          <p:nvPr/>
        </p:nvSpPr>
        <p:spPr>
          <a:xfrm>
            <a:off x="622935" y="3444395"/>
            <a:ext cx="1559560" cy="791845"/>
          </a:xfrm>
          <a:prstGeom prst="rect">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42" name="矩形 41"/>
          <p:cNvSpPr/>
          <p:nvPr/>
        </p:nvSpPr>
        <p:spPr>
          <a:xfrm>
            <a:off x="622935" y="4328315"/>
            <a:ext cx="1559560" cy="791845"/>
          </a:xfrm>
          <a:prstGeom prst="rect">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43" name="矩形 42"/>
          <p:cNvSpPr/>
          <p:nvPr/>
        </p:nvSpPr>
        <p:spPr>
          <a:xfrm>
            <a:off x="622935" y="5212235"/>
            <a:ext cx="1559560" cy="791845"/>
          </a:xfrm>
          <a:prstGeom prst="rect">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44" name="矩形 43"/>
          <p:cNvSpPr/>
          <p:nvPr/>
        </p:nvSpPr>
        <p:spPr>
          <a:xfrm>
            <a:off x="10020300" y="2447290"/>
            <a:ext cx="1859915" cy="483235"/>
          </a:xfrm>
          <a:prstGeom prst="rect">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cs typeface="微软雅黑" panose="020B0503020204020204" charset="-122"/>
              </a:rPr>
              <a:t>核心能力</a:t>
            </a:r>
            <a:endParaRPr lang="zh-CN" altLang="en-US">
              <a:cs typeface="微软雅黑" panose="020B0503020204020204" charset="-122"/>
            </a:endParaRPr>
          </a:p>
        </p:txBody>
      </p:sp>
      <p:sp>
        <p:nvSpPr>
          <p:cNvPr id="45" name="矩形 44"/>
          <p:cNvSpPr/>
          <p:nvPr/>
        </p:nvSpPr>
        <p:spPr>
          <a:xfrm>
            <a:off x="10020300" y="2976880"/>
            <a:ext cx="1860550" cy="2369185"/>
          </a:xfrm>
          <a:prstGeom prst="rect">
            <a:avLst/>
          </a:prstGeom>
          <a:solidFill>
            <a:schemeClr val="accent5">
              <a:alpha val="10000"/>
            </a:schemeClr>
          </a:solidFill>
          <a:ln>
            <a:solidFill>
              <a:schemeClr val="accent5">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grpSp>
        <p:nvGrpSpPr>
          <p:cNvPr id="62" name="组合 61"/>
          <p:cNvGrpSpPr/>
          <p:nvPr/>
        </p:nvGrpSpPr>
        <p:grpSpPr>
          <a:xfrm>
            <a:off x="716280" y="1819353"/>
            <a:ext cx="1372870" cy="506095"/>
            <a:chOff x="1103" y="2569"/>
            <a:chExt cx="2162" cy="797"/>
          </a:xfrm>
        </p:grpSpPr>
        <p:sp>
          <p:nvSpPr>
            <p:cNvPr id="60" name="文本框 59"/>
            <p:cNvSpPr txBox="1"/>
            <p:nvPr/>
          </p:nvSpPr>
          <p:spPr>
            <a:xfrm>
              <a:off x="1169" y="2569"/>
              <a:ext cx="1997" cy="483"/>
            </a:xfrm>
            <a:prstGeom prst="rect">
              <a:avLst/>
            </a:prstGeom>
            <a:noFill/>
          </p:spPr>
          <p:txBody>
            <a:bodyPr wrap="square" rtlCol="0">
              <a:spAutoFit/>
            </a:bodyPr>
            <a:p>
              <a:pPr algn="ctr"/>
              <a:r>
                <a:rPr 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多场景覆盖</a:t>
              </a:r>
              <a:endParaRPr 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61" name="文本框 60"/>
            <p:cNvSpPr txBox="1"/>
            <p:nvPr/>
          </p:nvSpPr>
          <p:spPr>
            <a:xfrm>
              <a:off x="1103" y="2980"/>
              <a:ext cx="2162" cy="386"/>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提升全渠道购物体验</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63" name="组合 62"/>
          <p:cNvGrpSpPr/>
          <p:nvPr/>
        </p:nvGrpSpPr>
        <p:grpSpPr>
          <a:xfrm>
            <a:off x="616585" y="2703350"/>
            <a:ext cx="1596390" cy="518795"/>
            <a:chOff x="946" y="2569"/>
            <a:chExt cx="2514" cy="817"/>
          </a:xfrm>
        </p:grpSpPr>
        <p:sp>
          <p:nvSpPr>
            <p:cNvPr id="64" name="文本框 63"/>
            <p:cNvSpPr txBox="1"/>
            <p:nvPr/>
          </p:nvSpPr>
          <p:spPr>
            <a:xfrm>
              <a:off x="1169" y="2569"/>
              <a:ext cx="1997" cy="483"/>
            </a:xfrm>
            <a:prstGeom prst="rect">
              <a:avLst/>
            </a:prstGeom>
            <a:noFill/>
          </p:spPr>
          <p:txBody>
            <a:bodyPr wrap="square" rtlCol="0">
              <a:spAutoFit/>
            </a:bodyPr>
            <a:p>
              <a:pPr algn="ctr"/>
              <a:r>
                <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服务模块化</a:t>
              </a:r>
              <a:endPar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65" name="文本框 64"/>
            <p:cNvSpPr txBox="1"/>
            <p:nvPr/>
          </p:nvSpPr>
          <p:spPr>
            <a:xfrm>
              <a:off x="946" y="3000"/>
              <a:ext cx="2514" cy="386"/>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支撑业务迭代与创新</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66" name="组合 65"/>
          <p:cNvGrpSpPr/>
          <p:nvPr/>
        </p:nvGrpSpPr>
        <p:grpSpPr>
          <a:xfrm>
            <a:off x="647065" y="3627198"/>
            <a:ext cx="1496060" cy="506095"/>
            <a:chOff x="994" y="2569"/>
            <a:chExt cx="2356" cy="797"/>
          </a:xfrm>
        </p:grpSpPr>
        <p:sp>
          <p:nvSpPr>
            <p:cNvPr id="67" name="文本框 66"/>
            <p:cNvSpPr txBox="1"/>
            <p:nvPr/>
          </p:nvSpPr>
          <p:spPr>
            <a:xfrm>
              <a:off x="1169" y="2569"/>
              <a:ext cx="1997" cy="483"/>
            </a:xfrm>
            <a:prstGeom prst="rect">
              <a:avLst/>
            </a:prstGeom>
            <a:noFill/>
          </p:spPr>
          <p:txBody>
            <a:bodyPr wrap="square" rtlCol="0">
              <a:spAutoFit/>
            </a:bodyPr>
            <a:p>
              <a:pPr algn="ctr"/>
              <a:r>
                <a:rPr 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数据一体化</a:t>
              </a:r>
              <a:endParaRPr 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68" name="文本框 67"/>
            <p:cNvSpPr txBox="1"/>
            <p:nvPr/>
          </p:nvSpPr>
          <p:spPr>
            <a:xfrm>
              <a:off x="994" y="2980"/>
              <a:ext cx="2356" cy="386"/>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基于精准数据驱动运营</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69" name="组合 68"/>
          <p:cNvGrpSpPr/>
          <p:nvPr/>
        </p:nvGrpSpPr>
        <p:grpSpPr>
          <a:xfrm>
            <a:off x="672465" y="4450158"/>
            <a:ext cx="1470025" cy="518795"/>
            <a:chOff x="1034" y="2569"/>
            <a:chExt cx="2315" cy="817"/>
          </a:xfrm>
        </p:grpSpPr>
        <p:sp>
          <p:nvSpPr>
            <p:cNvPr id="70" name="文本框 69"/>
            <p:cNvSpPr txBox="1"/>
            <p:nvPr/>
          </p:nvSpPr>
          <p:spPr>
            <a:xfrm>
              <a:off x="1169" y="2569"/>
              <a:ext cx="1997" cy="483"/>
            </a:xfrm>
            <a:prstGeom prst="rect">
              <a:avLst/>
            </a:prstGeom>
            <a:noFill/>
          </p:spPr>
          <p:txBody>
            <a:bodyPr wrap="square" rtlCol="0">
              <a:spAutoFit/>
            </a:bodyPr>
            <a:p>
              <a:pPr algn="ctr"/>
              <a:r>
                <a:rPr 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技术中台化</a:t>
              </a:r>
              <a:endParaRPr 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71" name="文本框 70"/>
            <p:cNvSpPr txBox="1"/>
            <p:nvPr/>
          </p:nvSpPr>
          <p:spPr>
            <a:xfrm>
              <a:off x="1034" y="3000"/>
              <a:ext cx="2315" cy="386"/>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灵活扩展，新技术集成</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72" name="组合 71"/>
          <p:cNvGrpSpPr/>
          <p:nvPr/>
        </p:nvGrpSpPr>
        <p:grpSpPr>
          <a:xfrm>
            <a:off x="647065" y="5346143"/>
            <a:ext cx="1534795" cy="506095"/>
            <a:chOff x="994" y="2569"/>
            <a:chExt cx="2417" cy="797"/>
          </a:xfrm>
        </p:grpSpPr>
        <p:sp>
          <p:nvSpPr>
            <p:cNvPr id="73" name="文本框 72"/>
            <p:cNvSpPr txBox="1"/>
            <p:nvPr/>
          </p:nvSpPr>
          <p:spPr>
            <a:xfrm>
              <a:off x="1169" y="2569"/>
              <a:ext cx="1997" cy="483"/>
            </a:xfrm>
            <a:prstGeom prst="rect">
              <a:avLst/>
            </a:prstGeom>
            <a:noFill/>
          </p:spPr>
          <p:txBody>
            <a:bodyPr wrap="square" rtlCol="0">
              <a:spAutoFit/>
            </a:bodyPr>
            <a:p>
              <a:pPr algn="ctr"/>
              <a:r>
                <a:rPr 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资源集约化</a:t>
              </a:r>
              <a:endParaRPr 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74" name="文本框 73"/>
            <p:cNvSpPr txBox="1"/>
            <p:nvPr/>
          </p:nvSpPr>
          <p:spPr>
            <a:xfrm>
              <a:off x="994" y="2980"/>
              <a:ext cx="2417" cy="386"/>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共享供应链与算力资源</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83" name="矩形 82"/>
          <p:cNvSpPr/>
          <p:nvPr/>
        </p:nvSpPr>
        <p:spPr>
          <a:xfrm>
            <a:off x="3136900" y="4208780"/>
            <a:ext cx="4866640" cy="510540"/>
          </a:xfrm>
          <a:prstGeom prst="rect">
            <a:avLst/>
          </a:prstGeom>
          <a:solidFill>
            <a:schemeClr val="accent1">
              <a:lumMod val="60000"/>
              <a:lumOff val="40000"/>
              <a:alpha val="10000"/>
            </a:schemeClr>
          </a:solidFill>
          <a:ln>
            <a:solidFill>
              <a:schemeClr val="accent1">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4" name="文本框 83"/>
          <p:cNvSpPr txBox="1"/>
          <p:nvPr/>
        </p:nvSpPr>
        <p:spPr>
          <a:xfrm>
            <a:off x="3106420" y="4318000"/>
            <a:ext cx="822325" cy="275590"/>
          </a:xfrm>
          <a:prstGeom prst="rect">
            <a:avLst/>
          </a:prstGeom>
          <a:noFill/>
        </p:spPr>
        <p:txBody>
          <a:bodyPr wrap="square" rtlCol="0">
            <a:spAutoFit/>
          </a:bodyPr>
          <a:p>
            <a:pPr algn="ctr"/>
            <a:r>
              <a:rPr lang="zh-CN" altLang="en-US" sz="12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数据中台</a:t>
            </a:r>
            <a:endParaRPr lang="zh-CN" altLang="en-US" sz="12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85" name="矩形 84"/>
          <p:cNvSpPr/>
          <p:nvPr/>
        </p:nvSpPr>
        <p:spPr>
          <a:xfrm>
            <a:off x="3933190" y="4285615"/>
            <a:ext cx="731520" cy="346710"/>
          </a:xfrm>
          <a:prstGeom prst="rect">
            <a:avLst/>
          </a:prstGeom>
          <a:solidFill>
            <a:schemeClr val="bg1"/>
          </a:solidFill>
          <a:ln>
            <a:solidFill>
              <a:schemeClr val="accent1">
                <a:lumMod val="60000"/>
                <a:lumOff val="40000"/>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6" name="矩形 85"/>
          <p:cNvSpPr/>
          <p:nvPr/>
        </p:nvSpPr>
        <p:spPr>
          <a:xfrm>
            <a:off x="4732655" y="4285615"/>
            <a:ext cx="731520" cy="346710"/>
          </a:xfrm>
          <a:prstGeom prst="rect">
            <a:avLst/>
          </a:prstGeom>
          <a:solidFill>
            <a:schemeClr val="bg1"/>
          </a:solidFill>
          <a:ln>
            <a:solidFill>
              <a:schemeClr val="accent1">
                <a:lumMod val="60000"/>
                <a:lumOff val="40000"/>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87" name="矩形 86"/>
          <p:cNvSpPr/>
          <p:nvPr/>
        </p:nvSpPr>
        <p:spPr>
          <a:xfrm>
            <a:off x="5532120" y="4285615"/>
            <a:ext cx="731520" cy="346710"/>
          </a:xfrm>
          <a:prstGeom prst="rect">
            <a:avLst/>
          </a:prstGeom>
          <a:solidFill>
            <a:schemeClr val="bg1"/>
          </a:solidFill>
          <a:ln>
            <a:solidFill>
              <a:schemeClr val="accent1">
                <a:lumMod val="60000"/>
                <a:lumOff val="40000"/>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88" name="矩形 87"/>
          <p:cNvSpPr/>
          <p:nvPr/>
        </p:nvSpPr>
        <p:spPr>
          <a:xfrm>
            <a:off x="6331585" y="4285615"/>
            <a:ext cx="731520" cy="346710"/>
          </a:xfrm>
          <a:prstGeom prst="rect">
            <a:avLst/>
          </a:prstGeom>
          <a:solidFill>
            <a:schemeClr val="bg1"/>
          </a:solidFill>
          <a:ln>
            <a:solidFill>
              <a:schemeClr val="accent1">
                <a:lumMod val="60000"/>
                <a:lumOff val="40000"/>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89" name="矩形 88"/>
          <p:cNvSpPr/>
          <p:nvPr/>
        </p:nvSpPr>
        <p:spPr>
          <a:xfrm>
            <a:off x="7131050" y="4285615"/>
            <a:ext cx="731520" cy="346710"/>
          </a:xfrm>
          <a:prstGeom prst="rect">
            <a:avLst/>
          </a:prstGeom>
          <a:solidFill>
            <a:schemeClr val="bg1"/>
          </a:solidFill>
          <a:ln>
            <a:solidFill>
              <a:schemeClr val="accent1">
                <a:lumMod val="60000"/>
                <a:lumOff val="40000"/>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95" name="文本框 94"/>
          <p:cNvSpPr txBox="1"/>
          <p:nvPr/>
        </p:nvSpPr>
        <p:spPr>
          <a:xfrm>
            <a:off x="10036175" y="3168650"/>
            <a:ext cx="1924685" cy="2030095"/>
          </a:xfrm>
          <a:prstGeom prst="rect">
            <a:avLst/>
          </a:prstGeom>
          <a:noFill/>
        </p:spPr>
        <p:txBody>
          <a:bodyPr wrap="square" rtlCol="0" anchor="ctr" anchorCtr="0">
            <a:spAutoFit/>
          </a:bodyPr>
          <a:p>
            <a:pPr marL="285750" indent="-285750" algn="l" fontAlgn="auto">
              <a:lnSpc>
                <a:spcPct val="150000"/>
              </a:lnSpc>
              <a:buFont typeface="Wingdings" panose="05000000000000000000" charset="0"/>
              <a:buChar char="l"/>
            </a:pPr>
            <a:r>
              <a:rPr lang="zh-CN" altLang="en-US" sz="1400">
                <a:solidFill>
                  <a:schemeClr val="tx2"/>
                </a:solidFill>
                <a:latin typeface="微软雅黑" panose="020B0503020204020204" charset="-122"/>
                <a:ea typeface="微软雅黑" panose="020B0503020204020204" charset="-122"/>
                <a:cs typeface="微软雅黑" panose="020B0503020204020204" charset="-122"/>
              </a:rPr>
              <a:t>全渠道流量聚合</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a:p>
            <a:pPr marL="285750" indent="-285750" algn="l" fontAlgn="auto">
              <a:lnSpc>
                <a:spcPct val="150000"/>
              </a:lnSpc>
              <a:buFont typeface="Wingdings" panose="05000000000000000000" charset="0"/>
              <a:buChar char="l"/>
            </a:pPr>
            <a:r>
              <a:rPr lang="zh-CN" altLang="en-US" sz="1400">
                <a:solidFill>
                  <a:schemeClr val="tx2"/>
                </a:solidFill>
                <a:latin typeface="微软雅黑" panose="020B0503020204020204" charset="-122"/>
                <a:ea typeface="微软雅黑" panose="020B0503020204020204" charset="-122"/>
                <a:cs typeface="微软雅黑" panose="020B0503020204020204" charset="-122"/>
              </a:rPr>
              <a:t>智能化精准运营</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a:p>
            <a:pPr marL="285750" indent="-285750" algn="l" fontAlgn="auto">
              <a:lnSpc>
                <a:spcPct val="150000"/>
              </a:lnSpc>
              <a:buFont typeface="Wingdings" panose="05000000000000000000" charset="0"/>
              <a:buChar char="l"/>
            </a:pPr>
            <a:r>
              <a:rPr lang="zh-CN" altLang="en-US" sz="1400">
                <a:solidFill>
                  <a:schemeClr val="tx2"/>
                </a:solidFill>
                <a:latin typeface="微软雅黑" panose="020B0503020204020204" charset="-122"/>
                <a:ea typeface="微软雅黑" panose="020B0503020204020204" charset="-122"/>
                <a:cs typeface="微软雅黑" panose="020B0503020204020204" charset="-122"/>
              </a:rPr>
              <a:t>弹性供应链协同</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a:p>
            <a:pPr marL="285750" indent="-285750" algn="l" fontAlgn="auto">
              <a:lnSpc>
                <a:spcPct val="150000"/>
              </a:lnSpc>
              <a:buFont typeface="Wingdings" panose="05000000000000000000" charset="0"/>
              <a:buChar char="l"/>
            </a:pPr>
            <a:r>
              <a:rPr lang="zh-CN" altLang="en-US" sz="1400">
                <a:solidFill>
                  <a:schemeClr val="tx2"/>
                </a:solidFill>
                <a:latin typeface="微软雅黑" panose="020B0503020204020204" charset="-122"/>
                <a:ea typeface="微软雅黑" panose="020B0503020204020204" charset="-122"/>
                <a:cs typeface="微软雅黑" panose="020B0503020204020204" charset="-122"/>
              </a:rPr>
              <a:t>数据闭环驱动创新</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a:p>
            <a:pPr marL="285750" indent="-285750" algn="l" fontAlgn="auto">
              <a:lnSpc>
                <a:spcPct val="150000"/>
              </a:lnSpc>
              <a:buFont typeface="Wingdings" panose="05000000000000000000" charset="0"/>
              <a:buChar char="l"/>
            </a:pPr>
            <a:r>
              <a:rPr lang="zh-CN" altLang="en-US" sz="1400">
                <a:solidFill>
                  <a:schemeClr val="tx2"/>
                </a:solidFill>
                <a:latin typeface="微软雅黑" panose="020B0503020204020204" charset="-122"/>
                <a:ea typeface="微软雅黑" panose="020B0503020204020204" charset="-122"/>
                <a:cs typeface="微软雅黑" panose="020B0503020204020204" charset="-122"/>
              </a:rPr>
              <a:t>开放生态互联互通</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a:p>
            <a:pPr marL="285750" indent="-285750" algn="l" fontAlgn="auto">
              <a:lnSpc>
                <a:spcPct val="150000"/>
              </a:lnSpc>
              <a:buFont typeface="Wingdings" panose="05000000000000000000" charset="0"/>
              <a:buChar char="l"/>
            </a:pP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8" name="矩形 47"/>
          <p:cNvSpPr/>
          <p:nvPr/>
        </p:nvSpPr>
        <p:spPr>
          <a:xfrm>
            <a:off x="3403600" y="2872740"/>
            <a:ext cx="4462145" cy="809625"/>
          </a:xfrm>
          <a:prstGeom prst="rect">
            <a:avLst/>
          </a:prstGeom>
          <a:solidFill>
            <a:schemeClr val="accent5">
              <a:lumMod val="60000"/>
              <a:lumOff val="40000"/>
              <a:alpha val="5000"/>
            </a:schemeClr>
          </a:solidFill>
          <a:ln>
            <a:solidFill>
              <a:schemeClr val="accent5">
                <a:lumMod val="60000"/>
                <a:lumOff val="40000"/>
                <a:alpha val="7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02" name="矩形 101"/>
          <p:cNvSpPr/>
          <p:nvPr/>
        </p:nvSpPr>
        <p:spPr>
          <a:xfrm>
            <a:off x="3402965" y="1490345"/>
            <a:ext cx="4462145" cy="1303020"/>
          </a:xfrm>
          <a:prstGeom prst="rect">
            <a:avLst/>
          </a:prstGeom>
          <a:solidFill>
            <a:schemeClr val="accent5">
              <a:lumMod val="60000"/>
              <a:lumOff val="40000"/>
              <a:alpha val="5000"/>
            </a:schemeClr>
          </a:solidFill>
          <a:ln>
            <a:solidFill>
              <a:schemeClr val="accent5">
                <a:lumMod val="60000"/>
                <a:lumOff val="40000"/>
                <a:alpha val="7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grpSp>
        <p:nvGrpSpPr>
          <p:cNvPr id="123" name="组合 122"/>
          <p:cNvGrpSpPr/>
          <p:nvPr/>
        </p:nvGrpSpPr>
        <p:grpSpPr>
          <a:xfrm>
            <a:off x="3468370" y="1894205"/>
            <a:ext cx="826770" cy="899160"/>
            <a:chOff x="5463" y="2653"/>
            <a:chExt cx="1302" cy="1416"/>
          </a:xfrm>
        </p:grpSpPr>
        <p:sp>
          <p:nvSpPr>
            <p:cNvPr id="103" name="椭圆 102"/>
            <p:cNvSpPr/>
            <p:nvPr/>
          </p:nvSpPr>
          <p:spPr>
            <a:xfrm>
              <a:off x="5724" y="2653"/>
              <a:ext cx="780" cy="780"/>
            </a:xfrm>
            <a:prstGeom prst="ellipse">
              <a:avLst/>
            </a:prstGeom>
            <a:solidFill>
              <a:schemeClr val="accent5"/>
            </a:solidFill>
            <a:ln>
              <a:solidFill>
                <a:schemeClr val="bg1"/>
              </a:solidFill>
            </a:ln>
            <a:effectLst>
              <a:glow rad="63500">
                <a:schemeClr val="accent5">
                  <a:lumMod val="20000"/>
                  <a:lumOff val="80000"/>
                  <a:alpha val="40000"/>
                </a:schemeClr>
              </a:glo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08" name="文本框 107"/>
            <p:cNvSpPr txBox="1"/>
            <p:nvPr/>
          </p:nvSpPr>
          <p:spPr>
            <a:xfrm>
              <a:off x="5463" y="3441"/>
              <a:ext cx="1302" cy="628"/>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企业客户</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B2B</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104" name="椭圆 103"/>
          <p:cNvSpPr/>
          <p:nvPr/>
        </p:nvSpPr>
        <p:spPr>
          <a:xfrm>
            <a:off x="4508500" y="1894205"/>
            <a:ext cx="495300" cy="495300"/>
          </a:xfrm>
          <a:prstGeom prst="ellipse">
            <a:avLst/>
          </a:prstGeom>
          <a:solidFill>
            <a:schemeClr val="accent5"/>
          </a:solidFill>
          <a:ln>
            <a:solidFill>
              <a:schemeClr val="bg1"/>
            </a:solidFill>
          </a:ln>
          <a:effectLst>
            <a:glow rad="63500">
              <a:schemeClr val="accent5">
                <a:lumMod val="20000"/>
                <a:lumOff val="80000"/>
                <a:alpha val="40000"/>
              </a:schemeClr>
            </a:glo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09" name="文本框 108"/>
          <p:cNvSpPr txBox="1"/>
          <p:nvPr/>
        </p:nvSpPr>
        <p:spPr>
          <a:xfrm>
            <a:off x="4342765" y="2394585"/>
            <a:ext cx="826770" cy="39878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生态伙伴（</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B2P</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5" name="椭圆 104"/>
          <p:cNvSpPr/>
          <p:nvPr/>
        </p:nvSpPr>
        <p:spPr>
          <a:xfrm>
            <a:off x="5382895" y="1892935"/>
            <a:ext cx="495300" cy="495300"/>
          </a:xfrm>
          <a:prstGeom prst="ellipse">
            <a:avLst/>
          </a:prstGeom>
          <a:solidFill>
            <a:schemeClr val="accent5"/>
          </a:solidFill>
          <a:ln>
            <a:solidFill>
              <a:schemeClr val="bg1"/>
            </a:solidFill>
          </a:ln>
          <a:effectLst>
            <a:glow rad="63500">
              <a:schemeClr val="accent5">
                <a:lumMod val="20000"/>
                <a:lumOff val="80000"/>
                <a:alpha val="40000"/>
              </a:schemeClr>
            </a:glo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10" name="文本框 109"/>
          <p:cNvSpPr txBox="1"/>
          <p:nvPr/>
        </p:nvSpPr>
        <p:spPr>
          <a:xfrm>
            <a:off x="5217160" y="2394585"/>
            <a:ext cx="826770" cy="39878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供应商</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B2S</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6" name="椭圆 105"/>
          <p:cNvSpPr/>
          <p:nvPr/>
        </p:nvSpPr>
        <p:spPr>
          <a:xfrm>
            <a:off x="6257290" y="1881505"/>
            <a:ext cx="495300" cy="495300"/>
          </a:xfrm>
          <a:prstGeom prst="ellipse">
            <a:avLst/>
          </a:prstGeom>
          <a:solidFill>
            <a:schemeClr val="accent5"/>
          </a:solidFill>
          <a:ln>
            <a:solidFill>
              <a:schemeClr val="bg1"/>
            </a:solidFill>
          </a:ln>
          <a:effectLst>
            <a:glow rad="63500">
              <a:schemeClr val="accent5">
                <a:lumMod val="20000"/>
                <a:lumOff val="80000"/>
                <a:alpha val="40000"/>
              </a:schemeClr>
            </a:glo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11" name="文本框 110"/>
          <p:cNvSpPr txBox="1"/>
          <p:nvPr/>
        </p:nvSpPr>
        <p:spPr>
          <a:xfrm>
            <a:off x="6091555" y="2394585"/>
            <a:ext cx="826770" cy="39878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员工</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B2E</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7" name="椭圆 106"/>
          <p:cNvSpPr/>
          <p:nvPr/>
        </p:nvSpPr>
        <p:spPr>
          <a:xfrm>
            <a:off x="7131685" y="1881505"/>
            <a:ext cx="495300" cy="495300"/>
          </a:xfrm>
          <a:prstGeom prst="ellipse">
            <a:avLst/>
          </a:prstGeom>
          <a:solidFill>
            <a:schemeClr val="accent5"/>
          </a:solidFill>
          <a:ln>
            <a:solidFill>
              <a:schemeClr val="bg1"/>
            </a:solidFill>
          </a:ln>
          <a:effectLst>
            <a:glow rad="63500">
              <a:schemeClr val="accent5">
                <a:lumMod val="20000"/>
                <a:lumOff val="80000"/>
                <a:alpha val="40000"/>
              </a:schemeClr>
            </a:glo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12" name="文本框 111"/>
          <p:cNvSpPr txBox="1"/>
          <p:nvPr/>
        </p:nvSpPr>
        <p:spPr>
          <a:xfrm>
            <a:off x="6965950" y="2394585"/>
            <a:ext cx="826770" cy="39878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消费者</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B2C</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7" name="燕尾形 96"/>
          <p:cNvSpPr/>
          <p:nvPr/>
        </p:nvSpPr>
        <p:spPr>
          <a:xfrm>
            <a:off x="3594100" y="3275965"/>
            <a:ext cx="820420" cy="297815"/>
          </a:xfrm>
          <a:prstGeom prst="chevron">
            <a:avLst>
              <a:gd name="adj" fmla="val 27717"/>
            </a:avLst>
          </a:prstGeom>
          <a:solidFill>
            <a:schemeClr val="bg1">
              <a:alpha val="50000"/>
            </a:schemeClr>
          </a:solidFill>
          <a:ln w="19050">
            <a:solidFill>
              <a:schemeClr val="accent5">
                <a:lumMod val="60000"/>
                <a:lumOff val="40000"/>
              </a:schemeClr>
            </a:solidFill>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98" name="燕尾形 97"/>
          <p:cNvSpPr/>
          <p:nvPr/>
        </p:nvSpPr>
        <p:spPr>
          <a:xfrm>
            <a:off x="6913880" y="3275965"/>
            <a:ext cx="820420" cy="297815"/>
          </a:xfrm>
          <a:prstGeom prst="chevron">
            <a:avLst>
              <a:gd name="adj" fmla="val 27717"/>
            </a:avLst>
          </a:prstGeom>
          <a:solidFill>
            <a:schemeClr val="bg1">
              <a:alpha val="50000"/>
            </a:schemeClr>
          </a:solidFill>
          <a:ln w="19050">
            <a:solidFill>
              <a:schemeClr val="accent5">
                <a:lumMod val="60000"/>
                <a:lumOff val="40000"/>
              </a:schemeClr>
            </a:solidFill>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99" name="燕尾形 98"/>
          <p:cNvSpPr/>
          <p:nvPr/>
        </p:nvSpPr>
        <p:spPr>
          <a:xfrm>
            <a:off x="6083935" y="3275965"/>
            <a:ext cx="820420" cy="297815"/>
          </a:xfrm>
          <a:prstGeom prst="chevron">
            <a:avLst>
              <a:gd name="adj" fmla="val 27717"/>
            </a:avLst>
          </a:prstGeom>
          <a:solidFill>
            <a:schemeClr val="bg1">
              <a:alpha val="50000"/>
            </a:schemeClr>
          </a:solidFill>
          <a:ln w="19050">
            <a:solidFill>
              <a:schemeClr val="accent5">
                <a:lumMod val="60000"/>
                <a:lumOff val="40000"/>
              </a:schemeClr>
            </a:solidFill>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00" name="燕尾形 99"/>
          <p:cNvSpPr/>
          <p:nvPr/>
        </p:nvSpPr>
        <p:spPr>
          <a:xfrm>
            <a:off x="5253990" y="3275965"/>
            <a:ext cx="820420" cy="297815"/>
          </a:xfrm>
          <a:prstGeom prst="chevron">
            <a:avLst>
              <a:gd name="adj" fmla="val 27717"/>
            </a:avLst>
          </a:prstGeom>
          <a:solidFill>
            <a:schemeClr val="bg1">
              <a:alpha val="50000"/>
            </a:schemeClr>
          </a:solidFill>
          <a:ln w="19050">
            <a:solidFill>
              <a:schemeClr val="accent5">
                <a:lumMod val="60000"/>
                <a:lumOff val="40000"/>
              </a:schemeClr>
            </a:solidFill>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01" name="燕尾形 100"/>
          <p:cNvSpPr/>
          <p:nvPr/>
        </p:nvSpPr>
        <p:spPr>
          <a:xfrm>
            <a:off x="4424045" y="3275965"/>
            <a:ext cx="820420" cy="297815"/>
          </a:xfrm>
          <a:prstGeom prst="chevron">
            <a:avLst>
              <a:gd name="adj" fmla="val 27717"/>
            </a:avLst>
          </a:prstGeom>
          <a:solidFill>
            <a:schemeClr val="bg1">
              <a:alpha val="50000"/>
            </a:schemeClr>
          </a:solidFill>
          <a:ln w="19050">
            <a:solidFill>
              <a:schemeClr val="accent5">
                <a:lumMod val="60000"/>
                <a:lumOff val="40000"/>
              </a:schemeClr>
            </a:solidFill>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18" name="文本框 117"/>
          <p:cNvSpPr txBox="1"/>
          <p:nvPr/>
        </p:nvSpPr>
        <p:spPr>
          <a:xfrm>
            <a:off x="4807585" y="1557655"/>
            <a:ext cx="1815465" cy="277495"/>
          </a:xfrm>
          <a:prstGeom prst="rect">
            <a:avLst/>
          </a:prstGeom>
          <a:noFill/>
        </p:spPr>
        <p:txBody>
          <a:bodyPr wrap="square" rtlCol="0">
            <a:noAutofit/>
          </a:bodyPr>
          <a:p>
            <a:pPr algn="ct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围绕五类用户群体</a:t>
            </a:r>
            <a:endParaRPr lang="zh-CN" altLang="en-US" sz="1200" b="1">
              <a:solidFill>
                <a:schemeClr val="accent5"/>
              </a:solidFill>
              <a:latin typeface="微软雅黑" panose="020B0503020204020204" charset="-122"/>
              <a:ea typeface="微软雅黑" panose="020B0503020204020204" charset="-122"/>
              <a:cs typeface="微软雅黑" panose="020B0503020204020204" charset="-122"/>
            </a:endParaRPr>
          </a:p>
        </p:txBody>
      </p:sp>
      <p:grpSp>
        <p:nvGrpSpPr>
          <p:cNvPr id="10" name="组合 9"/>
          <p:cNvGrpSpPr/>
          <p:nvPr/>
        </p:nvGrpSpPr>
        <p:grpSpPr>
          <a:xfrm>
            <a:off x="4204970" y="2734945"/>
            <a:ext cx="249555" cy="433070"/>
            <a:chOff x="6622" y="4117"/>
            <a:chExt cx="393" cy="682"/>
          </a:xfrm>
        </p:grpSpPr>
        <p:sp>
          <p:nvSpPr>
            <p:cNvPr id="124" name="菱形 123"/>
            <p:cNvSpPr/>
            <p:nvPr/>
          </p:nvSpPr>
          <p:spPr>
            <a:xfrm>
              <a:off x="6622" y="4117"/>
              <a:ext cx="393" cy="529"/>
            </a:xfrm>
            <a:prstGeom prst="diamond">
              <a:avLst/>
            </a:prstGeom>
            <a:gradFill>
              <a:gsLst>
                <a:gs pos="0">
                  <a:schemeClr val="accent5">
                    <a:lumMod val="60000"/>
                    <a:lumOff val="40000"/>
                  </a:schemeClr>
                </a:gs>
                <a:gs pos="50000">
                  <a:schemeClr val="accent5">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25" name="菱形 124"/>
            <p:cNvSpPr/>
            <p:nvPr/>
          </p:nvSpPr>
          <p:spPr>
            <a:xfrm>
              <a:off x="6623" y="4271"/>
              <a:ext cx="393" cy="529"/>
            </a:xfrm>
            <a:prstGeom prst="diamond">
              <a:avLst/>
            </a:prstGeom>
            <a:gradFill>
              <a:gsLst>
                <a:gs pos="0">
                  <a:schemeClr val="accent5">
                    <a:lumMod val="60000"/>
                    <a:lumOff val="40000"/>
                  </a:schemeClr>
                </a:gs>
                <a:gs pos="50000">
                  <a:schemeClr val="accent5">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sp>
        <p:nvSpPr>
          <p:cNvPr id="137" name="文本框 136"/>
          <p:cNvSpPr txBox="1"/>
          <p:nvPr/>
        </p:nvSpPr>
        <p:spPr>
          <a:xfrm>
            <a:off x="4732655" y="2998470"/>
            <a:ext cx="1815465" cy="277495"/>
          </a:xfrm>
          <a:prstGeom prst="rect">
            <a:avLst/>
          </a:prstGeom>
          <a:noFill/>
        </p:spPr>
        <p:txBody>
          <a:bodyPr wrap="square" rtlCol="0">
            <a:noAutofit/>
          </a:bodyPr>
          <a:p>
            <a:pPr algn="ctr"/>
            <a:r>
              <a:rPr lang="zh-CN" altLang="en-US" sz="12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业务场景应用</a:t>
            </a:r>
            <a:endParaRPr lang="zh-CN" altLang="en-US" sz="12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pic>
        <p:nvPicPr>
          <p:cNvPr id="143" name="图片 142" descr="消费者 (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9000" y="1982788"/>
            <a:ext cx="291600" cy="291600"/>
          </a:xfrm>
          <a:prstGeom prst="rect">
            <a:avLst/>
          </a:prstGeom>
        </p:spPr>
      </p:pic>
      <p:pic>
        <p:nvPicPr>
          <p:cNvPr id="144" name="图片 143" descr="合作伙伴"/>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19625" y="1982788"/>
            <a:ext cx="291600" cy="291600"/>
          </a:xfrm>
          <a:prstGeom prst="rect">
            <a:avLst/>
          </a:prstGeom>
        </p:spPr>
      </p:pic>
      <p:pic>
        <p:nvPicPr>
          <p:cNvPr id="145" name="图片 144" descr="企业客户"/>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23005" y="1982788"/>
            <a:ext cx="291600" cy="291600"/>
          </a:xfrm>
          <a:prstGeom prst="rect">
            <a:avLst/>
          </a:prstGeom>
        </p:spPr>
      </p:pic>
      <p:pic>
        <p:nvPicPr>
          <p:cNvPr id="146" name="图片 145" descr="供应商管理"/>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92750" y="1982788"/>
            <a:ext cx="291600" cy="291600"/>
          </a:xfrm>
          <a:prstGeom prst="rect">
            <a:avLst/>
          </a:prstGeom>
        </p:spPr>
      </p:pic>
      <p:pic>
        <p:nvPicPr>
          <p:cNvPr id="147" name="图片 146" descr="员工管理"/>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65875" y="1982788"/>
            <a:ext cx="291600" cy="291600"/>
          </a:xfrm>
          <a:prstGeom prst="rect">
            <a:avLst/>
          </a:prstGeom>
        </p:spPr>
      </p:pic>
      <p:pic>
        <p:nvPicPr>
          <p:cNvPr id="2" name="图片 1" descr="屋顶资源管理"/>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55600" y="186055"/>
            <a:ext cx="549910" cy="549910"/>
          </a:xfrm>
          <a:prstGeom prst="rect">
            <a:avLst/>
          </a:prstGeom>
        </p:spPr>
      </p:pic>
      <p:grpSp>
        <p:nvGrpSpPr>
          <p:cNvPr id="14" name="组合 13"/>
          <p:cNvGrpSpPr/>
          <p:nvPr/>
        </p:nvGrpSpPr>
        <p:grpSpPr>
          <a:xfrm>
            <a:off x="5074920" y="2734945"/>
            <a:ext cx="249555" cy="433070"/>
            <a:chOff x="6622" y="4117"/>
            <a:chExt cx="393" cy="682"/>
          </a:xfrm>
        </p:grpSpPr>
        <p:sp>
          <p:nvSpPr>
            <p:cNvPr id="15" name="菱形 14"/>
            <p:cNvSpPr/>
            <p:nvPr/>
          </p:nvSpPr>
          <p:spPr>
            <a:xfrm>
              <a:off x="6622" y="4117"/>
              <a:ext cx="393" cy="529"/>
            </a:xfrm>
            <a:prstGeom prst="diamond">
              <a:avLst/>
            </a:prstGeom>
            <a:gradFill>
              <a:gsLst>
                <a:gs pos="0">
                  <a:schemeClr val="accent5">
                    <a:lumMod val="60000"/>
                    <a:lumOff val="40000"/>
                  </a:schemeClr>
                </a:gs>
                <a:gs pos="50000">
                  <a:schemeClr val="accent5">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6" name="菱形 15"/>
            <p:cNvSpPr/>
            <p:nvPr/>
          </p:nvSpPr>
          <p:spPr>
            <a:xfrm>
              <a:off x="6623" y="4271"/>
              <a:ext cx="393" cy="529"/>
            </a:xfrm>
            <a:prstGeom prst="diamond">
              <a:avLst/>
            </a:prstGeom>
            <a:gradFill>
              <a:gsLst>
                <a:gs pos="0">
                  <a:schemeClr val="accent5">
                    <a:lumMod val="60000"/>
                    <a:lumOff val="40000"/>
                  </a:schemeClr>
                </a:gs>
                <a:gs pos="50000">
                  <a:schemeClr val="accent5">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17" name="组合 16"/>
          <p:cNvGrpSpPr/>
          <p:nvPr/>
        </p:nvGrpSpPr>
        <p:grpSpPr>
          <a:xfrm>
            <a:off x="5944870" y="2734945"/>
            <a:ext cx="249555" cy="433070"/>
            <a:chOff x="6622" y="4117"/>
            <a:chExt cx="393" cy="682"/>
          </a:xfrm>
        </p:grpSpPr>
        <p:sp>
          <p:nvSpPr>
            <p:cNvPr id="18" name="菱形 17"/>
            <p:cNvSpPr/>
            <p:nvPr/>
          </p:nvSpPr>
          <p:spPr>
            <a:xfrm>
              <a:off x="6622" y="4117"/>
              <a:ext cx="393" cy="529"/>
            </a:xfrm>
            <a:prstGeom prst="diamond">
              <a:avLst/>
            </a:prstGeom>
            <a:gradFill>
              <a:gsLst>
                <a:gs pos="0">
                  <a:schemeClr val="accent5">
                    <a:lumMod val="60000"/>
                    <a:lumOff val="40000"/>
                  </a:schemeClr>
                </a:gs>
                <a:gs pos="50000">
                  <a:schemeClr val="accent5">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9" name="菱形 18"/>
            <p:cNvSpPr/>
            <p:nvPr/>
          </p:nvSpPr>
          <p:spPr>
            <a:xfrm>
              <a:off x="6623" y="4271"/>
              <a:ext cx="393" cy="529"/>
            </a:xfrm>
            <a:prstGeom prst="diamond">
              <a:avLst/>
            </a:prstGeom>
            <a:gradFill>
              <a:gsLst>
                <a:gs pos="0">
                  <a:schemeClr val="accent5">
                    <a:lumMod val="60000"/>
                    <a:lumOff val="40000"/>
                  </a:schemeClr>
                </a:gs>
                <a:gs pos="50000">
                  <a:schemeClr val="accent5">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20" name="组合 19"/>
          <p:cNvGrpSpPr/>
          <p:nvPr/>
        </p:nvGrpSpPr>
        <p:grpSpPr>
          <a:xfrm>
            <a:off x="6814820" y="2734945"/>
            <a:ext cx="249555" cy="433070"/>
            <a:chOff x="6622" y="4117"/>
            <a:chExt cx="393" cy="682"/>
          </a:xfrm>
        </p:grpSpPr>
        <p:sp>
          <p:nvSpPr>
            <p:cNvPr id="21" name="菱形 20"/>
            <p:cNvSpPr/>
            <p:nvPr/>
          </p:nvSpPr>
          <p:spPr>
            <a:xfrm>
              <a:off x="6622" y="4117"/>
              <a:ext cx="393" cy="529"/>
            </a:xfrm>
            <a:prstGeom prst="diamond">
              <a:avLst/>
            </a:prstGeom>
            <a:gradFill>
              <a:gsLst>
                <a:gs pos="0">
                  <a:schemeClr val="accent5">
                    <a:lumMod val="60000"/>
                    <a:lumOff val="40000"/>
                  </a:schemeClr>
                </a:gs>
                <a:gs pos="50000">
                  <a:schemeClr val="accent5">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22" name="菱形 21"/>
            <p:cNvSpPr/>
            <p:nvPr/>
          </p:nvSpPr>
          <p:spPr>
            <a:xfrm>
              <a:off x="6623" y="4271"/>
              <a:ext cx="393" cy="529"/>
            </a:xfrm>
            <a:prstGeom prst="diamond">
              <a:avLst/>
            </a:prstGeom>
            <a:gradFill>
              <a:gsLst>
                <a:gs pos="0">
                  <a:schemeClr val="accent5">
                    <a:lumMod val="60000"/>
                    <a:lumOff val="40000"/>
                  </a:schemeClr>
                </a:gs>
                <a:gs pos="50000">
                  <a:schemeClr val="accent5">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sp>
        <p:nvSpPr>
          <p:cNvPr id="23" name="文本框 22"/>
          <p:cNvSpPr txBox="1"/>
          <p:nvPr/>
        </p:nvSpPr>
        <p:spPr>
          <a:xfrm>
            <a:off x="1270635" y="6241415"/>
            <a:ext cx="8765540" cy="277495"/>
          </a:xfrm>
          <a:prstGeom prst="rect">
            <a:avLst/>
          </a:prstGeom>
          <a:noFill/>
        </p:spPr>
        <p:txBody>
          <a:bodyPr wrap="square" rtlCol="0">
            <a:noAutofit/>
          </a:bodyPr>
          <a:p>
            <a:pPr algn="ctr"/>
            <a:r>
              <a:rPr lang="zh-CN" altLang="en-US" sz="2000" b="1">
                <a:solidFill>
                  <a:schemeClr val="tx2"/>
                </a:solidFill>
                <a:latin typeface="微软雅黑" panose="020B0503020204020204" charset="-122"/>
                <a:ea typeface="微软雅黑" panose="020B0503020204020204" charset="-122"/>
                <a:cs typeface="微软雅黑" panose="020B0503020204020204" charset="-122"/>
              </a:rPr>
              <a:t>围绕业务场景应用的【电商数字化平台架构】</a:t>
            </a:r>
            <a:endParaRPr lang="zh-CN" altLang="en-US" sz="20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3" name="文本框 52"/>
          <p:cNvSpPr txBox="1"/>
          <p:nvPr/>
        </p:nvSpPr>
        <p:spPr>
          <a:xfrm>
            <a:off x="3931920" y="4296410"/>
            <a:ext cx="732790" cy="324485"/>
          </a:xfrm>
          <a:prstGeom prst="rect">
            <a:avLst/>
          </a:prstGeom>
          <a:noFill/>
        </p:spPr>
        <p:txBody>
          <a:bodyPr wrap="square" rtlCol="0">
            <a:noAutofit/>
          </a:bodyPr>
          <a:p>
            <a:pPr algn="ctr"/>
            <a:r>
              <a:rPr lang="zh-CN" altLang="en-US" sz="800">
                <a:solidFill>
                  <a:schemeClr val="tx2"/>
                </a:solidFill>
                <a:latin typeface="微软雅黑" panose="020B0503020204020204" charset="-122"/>
                <a:ea typeface="微软雅黑" panose="020B0503020204020204" charset="-122"/>
                <a:cs typeface="微软雅黑" panose="020B0503020204020204" charset="-122"/>
              </a:rPr>
              <a:t>全域用户画像体系</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4732020" y="4296410"/>
            <a:ext cx="732790" cy="324485"/>
          </a:xfrm>
          <a:prstGeom prst="rect">
            <a:avLst/>
          </a:prstGeom>
          <a:noFill/>
        </p:spPr>
        <p:txBody>
          <a:bodyPr wrap="square" rtlCol="0">
            <a:noAutofit/>
          </a:bodyPr>
          <a:p>
            <a:pPr algn="ctr"/>
            <a:r>
              <a:rPr lang="zh-CN" altLang="en-US" sz="800">
                <a:solidFill>
                  <a:schemeClr val="tx2"/>
                </a:solidFill>
                <a:latin typeface="微软雅黑" panose="020B0503020204020204" charset="-122"/>
                <a:ea typeface="微软雅黑" panose="020B0503020204020204" charset="-122"/>
                <a:cs typeface="微软雅黑" panose="020B0503020204020204" charset="-122"/>
              </a:rPr>
              <a:t>实时数据计算引擎</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5" name="文本框 54"/>
          <p:cNvSpPr txBox="1"/>
          <p:nvPr/>
        </p:nvSpPr>
        <p:spPr>
          <a:xfrm>
            <a:off x="5532120" y="4296410"/>
            <a:ext cx="732790" cy="324485"/>
          </a:xfrm>
          <a:prstGeom prst="rect">
            <a:avLst/>
          </a:prstGeom>
          <a:noFill/>
        </p:spPr>
        <p:txBody>
          <a:bodyPr wrap="square" rtlCol="0">
            <a:noAutofit/>
          </a:bodyPr>
          <a:p>
            <a:pPr algn="ctr"/>
            <a:r>
              <a:rPr lang="zh-CN" altLang="en-US" sz="800">
                <a:solidFill>
                  <a:schemeClr val="tx2"/>
                </a:solidFill>
                <a:latin typeface="微软雅黑" panose="020B0503020204020204" charset="-122"/>
                <a:ea typeface="微软雅黑" panose="020B0503020204020204" charset="-122"/>
                <a:cs typeface="微软雅黑" panose="020B0503020204020204" charset="-122"/>
              </a:rPr>
              <a:t>智能分析决策模型</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6" name="文本框 55"/>
          <p:cNvSpPr txBox="1"/>
          <p:nvPr/>
        </p:nvSpPr>
        <p:spPr>
          <a:xfrm>
            <a:off x="6332220" y="4296410"/>
            <a:ext cx="732790" cy="324485"/>
          </a:xfrm>
          <a:prstGeom prst="rect">
            <a:avLst/>
          </a:prstGeom>
          <a:noFill/>
        </p:spPr>
        <p:txBody>
          <a:bodyPr wrap="square" rtlCol="0">
            <a:noAutofit/>
          </a:bodyPr>
          <a:p>
            <a:pPr algn="ctr"/>
            <a:r>
              <a:rPr lang="zh-CN" altLang="en-US" sz="800">
                <a:solidFill>
                  <a:schemeClr val="tx2"/>
                </a:solidFill>
                <a:latin typeface="微软雅黑" panose="020B0503020204020204" charset="-122"/>
                <a:ea typeface="微软雅黑" panose="020B0503020204020204" charset="-122"/>
                <a:cs typeface="微软雅黑" panose="020B0503020204020204" charset="-122"/>
              </a:rPr>
              <a:t>数据资产治理平台</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7" name="文本框 56"/>
          <p:cNvSpPr txBox="1"/>
          <p:nvPr/>
        </p:nvSpPr>
        <p:spPr>
          <a:xfrm>
            <a:off x="7132320" y="4296410"/>
            <a:ext cx="732790" cy="324485"/>
          </a:xfrm>
          <a:prstGeom prst="rect">
            <a:avLst/>
          </a:prstGeom>
          <a:noFill/>
        </p:spPr>
        <p:txBody>
          <a:bodyPr wrap="square" rtlCol="0">
            <a:noAutofit/>
          </a:bodyPr>
          <a:p>
            <a:pPr algn="ctr"/>
            <a:r>
              <a:rPr lang="zh-CN" altLang="en-US" sz="800">
                <a:solidFill>
                  <a:schemeClr val="tx2"/>
                </a:solidFill>
                <a:latin typeface="微软雅黑" panose="020B0503020204020204" charset="-122"/>
                <a:ea typeface="微软雅黑" panose="020B0503020204020204" charset="-122"/>
                <a:cs typeface="微软雅黑" panose="020B0503020204020204" charset="-122"/>
              </a:rPr>
              <a:t>隐私合规与安全审计</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8" name="文本框 57"/>
          <p:cNvSpPr txBox="1"/>
          <p:nvPr/>
        </p:nvSpPr>
        <p:spPr>
          <a:xfrm>
            <a:off x="4038600" y="5321300"/>
            <a:ext cx="732790" cy="324485"/>
          </a:xfrm>
          <a:prstGeom prst="rect">
            <a:avLst/>
          </a:prstGeom>
          <a:noFill/>
        </p:spPr>
        <p:txBody>
          <a:bodyPr wrap="square" rtlCol="0">
            <a:noAutofit/>
          </a:bodyPr>
          <a:p>
            <a:pPr algn="ctr"/>
            <a:r>
              <a:rPr lang="zh-CN" sz="800">
                <a:solidFill>
                  <a:schemeClr val="tx2"/>
                </a:solidFill>
                <a:latin typeface="微软雅黑" panose="020B0503020204020204" charset="-122"/>
                <a:ea typeface="微软雅黑" panose="020B0503020204020204" charset="-122"/>
                <a:cs typeface="微软雅黑" panose="020B0503020204020204" charset="-122"/>
              </a:rPr>
              <a:t>云资源池化调度</a:t>
            </a:r>
            <a:endParaRPr lang="zh-CN"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9" name="文本框 58"/>
          <p:cNvSpPr txBox="1"/>
          <p:nvPr/>
        </p:nvSpPr>
        <p:spPr>
          <a:xfrm>
            <a:off x="4838700" y="5321300"/>
            <a:ext cx="732790" cy="324485"/>
          </a:xfrm>
          <a:prstGeom prst="rect">
            <a:avLst/>
          </a:prstGeom>
          <a:noFill/>
        </p:spPr>
        <p:txBody>
          <a:bodyPr wrap="square" rtlCol="0">
            <a:noAutofit/>
          </a:bodyPr>
          <a:p>
            <a:pPr algn="ctr"/>
            <a:r>
              <a:rPr lang="zh-CN" altLang="en-US" sz="800">
                <a:solidFill>
                  <a:schemeClr val="tx2"/>
                </a:solidFill>
                <a:latin typeface="微软雅黑" panose="020B0503020204020204" charset="-122"/>
                <a:ea typeface="微软雅黑" panose="020B0503020204020204" charset="-122"/>
                <a:cs typeface="微软雅黑" panose="020B0503020204020204" charset="-122"/>
              </a:rPr>
              <a:t>物流网络智能路由</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7" name="文本框 76"/>
          <p:cNvSpPr txBox="1"/>
          <p:nvPr/>
        </p:nvSpPr>
        <p:spPr>
          <a:xfrm>
            <a:off x="5638800" y="5321300"/>
            <a:ext cx="732790" cy="324485"/>
          </a:xfrm>
          <a:prstGeom prst="rect">
            <a:avLst/>
          </a:prstGeom>
          <a:noFill/>
        </p:spPr>
        <p:txBody>
          <a:bodyPr wrap="square" rtlCol="0">
            <a:noAutofit/>
          </a:bodyPr>
          <a:p>
            <a:pPr algn="ctr"/>
            <a:r>
              <a:rPr lang="zh-CN" altLang="en-US" sz="800">
                <a:solidFill>
                  <a:schemeClr val="tx2"/>
                </a:solidFill>
                <a:latin typeface="微软雅黑" panose="020B0503020204020204" charset="-122"/>
                <a:ea typeface="微软雅黑" panose="020B0503020204020204" charset="-122"/>
                <a:cs typeface="微软雅黑" panose="020B0503020204020204" charset="-122"/>
              </a:rPr>
              <a:t>多仓库存协同管理</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6" name="文本框 95"/>
          <p:cNvSpPr txBox="1"/>
          <p:nvPr/>
        </p:nvSpPr>
        <p:spPr>
          <a:xfrm>
            <a:off x="6438900" y="5321300"/>
            <a:ext cx="732790" cy="324485"/>
          </a:xfrm>
          <a:prstGeom prst="rect">
            <a:avLst/>
          </a:prstGeom>
          <a:noFill/>
        </p:spPr>
        <p:txBody>
          <a:bodyPr wrap="square" rtlCol="0">
            <a:noAutofit/>
          </a:bodyPr>
          <a:p>
            <a:pPr algn="ctr"/>
            <a:r>
              <a:rPr lang="zh-CN" altLang="en-US" sz="800">
                <a:solidFill>
                  <a:schemeClr val="tx2"/>
                </a:solidFill>
                <a:latin typeface="微软雅黑" panose="020B0503020204020204" charset="-122"/>
                <a:ea typeface="微软雅黑" panose="020B0503020204020204" charset="-122"/>
                <a:cs typeface="微软雅黑" panose="020B0503020204020204" charset="-122"/>
              </a:rPr>
              <a:t>供应链金融服务集成</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9" name="文本框 118"/>
          <p:cNvSpPr txBox="1"/>
          <p:nvPr/>
        </p:nvSpPr>
        <p:spPr>
          <a:xfrm>
            <a:off x="7239000" y="5321300"/>
            <a:ext cx="732790" cy="324485"/>
          </a:xfrm>
          <a:prstGeom prst="rect">
            <a:avLst/>
          </a:prstGeom>
          <a:noFill/>
        </p:spPr>
        <p:txBody>
          <a:bodyPr wrap="square" rtlCol="0">
            <a:noAutofit/>
          </a:bodyPr>
          <a:p>
            <a:pPr algn="ctr"/>
            <a:r>
              <a:rPr lang="zh-CN" altLang="en-US" sz="800">
                <a:solidFill>
                  <a:schemeClr val="tx2"/>
                </a:solidFill>
                <a:latin typeface="微软雅黑" panose="020B0503020204020204" charset="-122"/>
                <a:ea typeface="微软雅黑" panose="020B0503020204020204" charset="-122"/>
                <a:cs typeface="微软雅黑" panose="020B0503020204020204" charset="-122"/>
              </a:rPr>
              <a:t>生态资源共享中心</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197" name="组合 196"/>
          <p:cNvGrpSpPr/>
          <p:nvPr/>
        </p:nvGrpSpPr>
        <p:grpSpPr>
          <a:xfrm>
            <a:off x="3633470" y="3297555"/>
            <a:ext cx="4095750" cy="245110"/>
            <a:chOff x="5723" y="5061"/>
            <a:chExt cx="6450" cy="386"/>
          </a:xfrm>
        </p:grpSpPr>
        <p:sp>
          <p:nvSpPr>
            <p:cNvPr id="198" name="文本框 197"/>
            <p:cNvSpPr txBox="1"/>
            <p:nvPr/>
          </p:nvSpPr>
          <p:spPr>
            <a:xfrm>
              <a:off x="5723" y="5061"/>
              <a:ext cx="1220" cy="386"/>
            </a:xfrm>
            <a:prstGeom prst="rect">
              <a:avLst/>
            </a:prstGeom>
            <a:noFill/>
            <a:ln>
              <a:noFill/>
            </a:ln>
          </p:spPr>
          <p:txBody>
            <a:bodyPr wrap="square" rtlCol="0">
              <a:spAutoFit/>
            </a:bodyPr>
            <a:p>
              <a:pPr algn="ctr"/>
              <a:r>
                <a:rPr lang="zh-CN" sz="1000">
                  <a:solidFill>
                    <a:schemeClr val="tx2"/>
                  </a:solidFill>
                  <a:latin typeface="微软雅黑" panose="020B0503020204020204" charset="-122"/>
                  <a:ea typeface="微软雅黑" panose="020B0503020204020204" charset="-122"/>
                  <a:cs typeface="微软雅黑" panose="020B0503020204020204" charset="-122"/>
                </a:rPr>
                <a:t>营销场景</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99" name="文本框 198"/>
            <p:cNvSpPr txBox="1"/>
            <p:nvPr/>
          </p:nvSpPr>
          <p:spPr>
            <a:xfrm>
              <a:off x="7017" y="5061"/>
              <a:ext cx="1220" cy="386"/>
            </a:xfrm>
            <a:prstGeom prst="rect">
              <a:avLst/>
            </a:prstGeom>
            <a:noFill/>
            <a:ln>
              <a:noFill/>
            </a:ln>
          </p:spPr>
          <p:txBody>
            <a:bodyPr wrap="square" rtlCol="0">
              <a:spAutoFit/>
            </a:bodyPr>
            <a:p>
              <a:pPr algn="ctr"/>
              <a:r>
                <a:rPr lang="zh-CN" sz="1000">
                  <a:solidFill>
                    <a:schemeClr val="tx2"/>
                  </a:solidFill>
                  <a:latin typeface="微软雅黑" panose="020B0503020204020204" charset="-122"/>
                  <a:ea typeface="微软雅黑" panose="020B0503020204020204" charset="-122"/>
                  <a:cs typeface="微软雅黑" panose="020B0503020204020204" charset="-122"/>
                </a:rPr>
                <a:t>商品场景</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00" name="文本框 199"/>
            <p:cNvSpPr txBox="1"/>
            <p:nvPr/>
          </p:nvSpPr>
          <p:spPr>
            <a:xfrm>
              <a:off x="8311" y="5061"/>
              <a:ext cx="1220" cy="386"/>
            </a:xfrm>
            <a:prstGeom prst="rect">
              <a:avLst/>
            </a:prstGeom>
            <a:noFill/>
            <a:ln>
              <a:noFill/>
            </a:ln>
          </p:spPr>
          <p:txBody>
            <a:bodyPr wrap="square" rtlCol="0">
              <a:spAutoFit/>
            </a:bodyPr>
            <a:p>
              <a:pPr algn="ctr"/>
              <a:r>
                <a:rPr lang="zh-CN" sz="1000">
                  <a:solidFill>
                    <a:schemeClr val="tx2"/>
                  </a:solidFill>
                  <a:latin typeface="微软雅黑" panose="020B0503020204020204" charset="-122"/>
                  <a:ea typeface="微软雅黑" panose="020B0503020204020204" charset="-122"/>
                  <a:cs typeface="微软雅黑" panose="020B0503020204020204" charset="-122"/>
                </a:rPr>
                <a:t>交易场景</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01" name="文本框 200"/>
            <p:cNvSpPr txBox="1"/>
            <p:nvPr/>
          </p:nvSpPr>
          <p:spPr>
            <a:xfrm>
              <a:off x="9659" y="5061"/>
              <a:ext cx="1220" cy="386"/>
            </a:xfrm>
            <a:prstGeom prst="rect">
              <a:avLst/>
            </a:prstGeom>
            <a:noFill/>
            <a:ln>
              <a:noFill/>
            </a:ln>
          </p:spPr>
          <p:txBody>
            <a:bodyPr wrap="square" rtlCol="0">
              <a:spAutoFit/>
            </a:bodyPr>
            <a:p>
              <a:pPr algn="ctr"/>
              <a:r>
                <a:rPr lang="zh-CN" sz="1000">
                  <a:solidFill>
                    <a:schemeClr val="tx2"/>
                  </a:solidFill>
                  <a:latin typeface="微软雅黑" panose="020B0503020204020204" charset="-122"/>
                  <a:ea typeface="微软雅黑" panose="020B0503020204020204" charset="-122"/>
                  <a:cs typeface="微软雅黑" panose="020B0503020204020204" charset="-122"/>
                </a:rPr>
                <a:t>客服场景</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02" name="文本框 201"/>
            <p:cNvSpPr txBox="1"/>
            <p:nvPr/>
          </p:nvSpPr>
          <p:spPr>
            <a:xfrm>
              <a:off x="10953" y="5061"/>
              <a:ext cx="1220" cy="386"/>
            </a:xfrm>
            <a:prstGeom prst="rect">
              <a:avLst/>
            </a:prstGeom>
            <a:noFill/>
            <a:ln>
              <a:noFill/>
            </a:ln>
          </p:spPr>
          <p:txBody>
            <a:bodyPr wrap="square" rtlCol="0">
              <a:spAutoFit/>
            </a:bodyPr>
            <a:p>
              <a:pPr algn="ctr"/>
              <a:r>
                <a:rPr lang="zh-CN" sz="1000">
                  <a:solidFill>
                    <a:schemeClr val="tx2"/>
                  </a:solidFill>
                  <a:latin typeface="微软雅黑" panose="020B0503020204020204" charset="-122"/>
                  <a:ea typeface="微软雅黑" panose="020B0503020204020204" charset="-122"/>
                  <a:cs typeface="微软雅黑" panose="020B0503020204020204" charset="-122"/>
                </a:rPr>
                <a:t>物流场景</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203" name="组合 202"/>
          <p:cNvGrpSpPr/>
          <p:nvPr/>
        </p:nvGrpSpPr>
        <p:grpSpPr>
          <a:xfrm>
            <a:off x="8715375" y="348615"/>
            <a:ext cx="3219450" cy="332740"/>
            <a:chOff x="13761" y="549"/>
            <a:chExt cx="5070" cy="524"/>
          </a:xfrm>
        </p:grpSpPr>
        <p:pic>
          <p:nvPicPr>
            <p:cNvPr id="204" name="图片 203"/>
            <p:cNvPicPr>
              <a:picLocks noChangeAspect="1"/>
            </p:cNvPicPr>
            <p:nvPr userDrawn="1"/>
          </p:nvPicPr>
          <p:blipFill>
            <a:blip r:embed="rId13"/>
            <a:srcRect l="17002" t="-1765" r="56499" b="-1176"/>
            <a:stretch>
              <a:fillRect/>
            </a:stretch>
          </p:blipFill>
          <p:spPr>
            <a:xfrm>
              <a:off x="13761" y="549"/>
              <a:ext cx="1582" cy="525"/>
            </a:xfrm>
            <a:prstGeom prst="rect">
              <a:avLst/>
            </a:prstGeom>
          </p:spPr>
        </p:pic>
        <p:sp>
          <p:nvSpPr>
            <p:cNvPr id="205" name="文本框 20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latin typeface="微软雅黑" panose="020B0503020204020204" charset="-122"/>
                <a:ea typeface="微软雅黑" panose="020B0503020204020204" charset="-122"/>
                <a:cs typeface="微软雅黑" panose="020B0503020204020204" charset="-122"/>
              </a:rPr>
              <a:t>-</a:t>
            </a:r>
            <a:r>
              <a:rPr sz="2500">
                <a:solidFill>
                  <a:schemeClr val="accent1"/>
                </a:solidFill>
                <a:latin typeface="微软雅黑" panose="020B0503020204020204" charset="-122"/>
                <a:ea typeface="微软雅黑" panose="020B0503020204020204" charset="-122"/>
                <a:cs typeface="微软雅黑" panose="020B0503020204020204" charset="-122"/>
              </a:rPr>
              <a:t>多层平台架构 |</a:t>
            </a:r>
            <a:r>
              <a:rPr sz="2500">
                <a:solidFill>
                  <a:srgbClr val="213271"/>
                </a:solidFill>
                <a:latin typeface="微软雅黑" panose="020B0503020204020204" charset="-122"/>
                <a:ea typeface="微软雅黑" panose="020B0503020204020204" charset="-122"/>
                <a:cs typeface="微软雅黑" panose="020B0503020204020204" charset="-122"/>
              </a:rPr>
              <a:t> </a:t>
            </a:r>
            <a:r>
              <a:rPr sz="2500">
                <a:solidFill>
                  <a:srgbClr val="252C38"/>
                </a:solidFill>
                <a:latin typeface="微软雅黑" panose="020B0503020204020204" charset="-122"/>
                <a:ea typeface="微软雅黑" panose="020B0503020204020204" charset="-122"/>
                <a:cs typeface="微软雅黑" panose="020B0503020204020204" charset="-122"/>
              </a:rPr>
              <a:t>汽车行业数字化转型路径</a:t>
            </a:r>
            <a:endParaRPr lang="zh-CN" altLang="en-US" sz="2500">
              <a:solidFill>
                <a:srgbClr val="252C38"/>
              </a:solidFill>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5600" y="186055"/>
            <a:ext cx="549910" cy="549910"/>
          </a:xfrm>
          <a:prstGeom prst="rect">
            <a:avLst/>
          </a:prstGeom>
        </p:spPr>
      </p:pic>
      <p:grpSp>
        <p:nvGrpSpPr>
          <p:cNvPr id="6" name="组合 5"/>
          <p:cNvGrpSpPr/>
          <p:nvPr/>
        </p:nvGrpSpPr>
        <p:grpSpPr>
          <a:xfrm>
            <a:off x="8738235" y="348615"/>
            <a:ext cx="3219450" cy="332740"/>
            <a:chOff x="13761" y="549"/>
            <a:chExt cx="5070" cy="524"/>
          </a:xfrm>
        </p:grpSpPr>
        <p:pic>
          <p:nvPicPr>
            <p:cNvPr id="7" name="图片 6"/>
            <p:cNvPicPr>
              <a:picLocks noChangeAspect="1"/>
            </p:cNvPicPr>
            <p:nvPr userDrawn="1"/>
          </p:nvPicPr>
          <p:blipFill>
            <a:blip r:embed="rId4"/>
            <a:srcRect l="17002" t="-1765" r="56499" b="-1176"/>
            <a:stretch>
              <a:fillRect/>
            </a:stretch>
          </p:blipFill>
          <p:spPr>
            <a:xfrm>
              <a:off x="13761" y="549"/>
              <a:ext cx="1582" cy="525"/>
            </a:xfrm>
            <a:prstGeom prst="rect">
              <a:avLst/>
            </a:prstGeom>
          </p:spPr>
        </p:pic>
        <p:sp>
          <p:nvSpPr>
            <p:cNvPr id="9" name="文本框 8"/>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
        <p:nvSpPr>
          <p:cNvPr id="11" name="矩形 10"/>
          <p:cNvSpPr/>
          <p:nvPr/>
        </p:nvSpPr>
        <p:spPr>
          <a:xfrm>
            <a:off x="403225" y="970915"/>
            <a:ext cx="11385550" cy="5694680"/>
          </a:xfrm>
          <a:prstGeom prst="rect">
            <a:avLst/>
          </a:prstGeom>
          <a:solidFill>
            <a:schemeClr val="accent1">
              <a:lumMod val="20000"/>
              <a:lumOff val="80000"/>
              <a:alpha val="20000"/>
            </a:schemeClr>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0" name="圆角矩形 119"/>
          <p:cNvSpPr/>
          <p:nvPr/>
        </p:nvSpPr>
        <p:spPr>
          <a:xfrm>
            <a:off x="628650" y="1077595"/>
            <a:ext cx="10974070" cy="1029335"/>
          </a:xfrm>
          <a:prstGeom prst="roundRect">
            <a:avLst>
              <a:gd name="adj" fmla="val 0"/>
            </a:avLst>
          </a:prstGeom>
          <a:solidFill>
            <a:schemeClr val="bg1"/>
          </a:solidFill>
          <a:ln w="6350">
            <a:solidFill>
              <a:schemeClr val="accent5">
                <a:lumMod val="20000"/>
                <a:lumOff val="80000"/>
              </a:schemeClr>
            </a:solidFill>
            <a:prstDash val="solid"/>
          </a:ln>
          <a:effectLst>
            <a:outerShdw blurRad="101600" sx="101000" sy="101000" algn="ctr" rotWithShape="0">
              <a:schemeClr val="accent5">
                <a:lumMod val="20000"/>
                <a:lumOff val="8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sz="1400" dirty="0">
              <a:solidFill>
                <a:srgbClr val="E7E6E6">
                  <a:lumMod val="2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33" name="圆角矩形 132"/>
          <p:cNvSpPr/>
          <p:nvPr/>
        </p:nvSpPr>
        <p:spPr>
          <a:xfrm>
            <a:off x="560323" y="1355725"/>
            <a:ext cx="1108075" cy="367030"/>
          </a:xfrm>
          <a:prstGeom prst="roundRect">
            <a:avLst>
              <a:gd name="adj" fmla="val 0"/>
            </a:avLst>
          </a:prstGeom>
          <a:gradFill flip="none" rotWithShape="1">
            <a:gsLst>
              <a:gs pos="0">
                <a:schemeClr val="accent5">
                  <a:lumMod val="60000"/>
                  <a:lumOff val="40000"/>
                </a:schemeClr>
              </a:gs>
              <a:gs pos="100000">
                <a:schemeClr val="accent5"/>
              </a:gs>
            </a:gsLst>
            <a:lin ang="0" scaled="1"/>
            <a:tileRect/>
          </a:gradFill>
          <a:ln>
            <a:noFill/>
          </a:ln>
          <a:effectLst>
            <a:outerShdw blurRad="127000" dist="88900" dir="5400000" algn="t" rotWithShape="0">
              <a:schemeClr val="accent5">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sz="1200" dirty="0">
              <a:latin typeface="微软雅黑" panose="020B0503020204020204" charset="-122"/>
              <a:ea typeface="微软雅黑" panose="020B0503020204020204" charset="-122"/>
              <a:cs typeface="微软雅黑" panose="020B0503020204020204" charset="-122"/>
              <a:sym typeface="+mn-ea"/>
            </a:endParaRPr>
          </a:p>
        </p:txBody>
      </p:sp>
      <p:sp>
        <p:nvSpPr>
          <p:cNvPr id="134" name="文本框 133"/>
          <p:cNvSpPr txBox="1"/>
          <p:nvPr/>
        </p:nvSpPr>
        <p:spPr>
          <a:xfrm>
            <a:off x="625411" y="1385888"/>
            <a:ext cx="977900" cy="30670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行业</a:t>
            </a:r>
            <a:r>
              <a:rPr kumimoji="0" lang="en-US" altLang="zh-CN" sz="1400" b="1"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1400" b="1"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场景</a:t>
            </a:r>
            <a:endParaRPr kumimoji="0" lang="zh-CN" altLang="en-US" sz="1400" b="1"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5" name="直角三角形 134"/>
          <p:cNvSpPr/>
          <p:nvPr/>
        </p:nvSpPr>
        <p:spPr>
          <a:xfrm flipH="1" flipV="1">
            <a:off x="561010" y="1723697"/>
            <a:ext cx="88824" cy="93277"/>
          </a:xfrm>
          <a:prstGeom prst="rtTriangle">
            <a:avLst/>
          </a:prstGeom>
          <a:solidFill>
            <a:schemeClr val="accent5">
              <a:lumMod val="75000"/>
            </a:schemeClr>
          </a:solidFill>
          <a:ln>
            <a:noFill/>
          </a:ln>
          <a:effectLst>
            <a:outerShdw blurRad="127000" dist="88900"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sz="1200" dirty="0">
              <a:latin typeface="微软雅黑" panose="020B0503020204020204" charset="-122"/>
              <a:ea typeface="微软雅黑" panose="020B0503020204020204" charset="-122"/>
              <a:cs typeface="微软雅黑" panose="020B0503020204020204" charset="-122"/>
              <a:sym typeface="+mn-ea"/>
            </a:endParaRPr>
          </a:p>
        </p:txBody>
      </p:sp>
      <p:sp>
        <p:nvSpPr>
          <p:cNvPr id="114" name="矩形: 圆角 16"/>
          <p:cNvSpPr/>
          <p:nvPr/>
        </p:nvSpPr>
        <p:spPr>
          <a:xfrm>
            <a:off x="1962785" y="1166495"/>
            <a:ext cx="1435100" cy="829310"/>
          </a:xfrm>
          <a:prstGeom prst="roundRect">
            <a:avLst>
              <a:gd name="adj" fmla="val 7590"/>
            </a:avLst>
          </a:prstGeom>
          <a:solidFill>
            <a:schemeClr val="accent5">
              <a:lumMod val="40000"/>
              <a:lumOff val="60000"/>
              <a:alpha val="10000"/>
            </a:schemeClr>
          </a:solidFill>
          <a:ln w="12680" cap="flat">
            <a:solidFill>
              <a:schemeClr val="accent5">
                <a:alpha val="50000"/>
              </a:schemeClr>
            </a:solidFill>
            <a:prstDash val="sysDash"/>
            <a:miter/>
          </a:ln>
        </p:spPr>
        <p:txBody>
          <a:bodyPr rtlCol="0" anchor="ctr"/>
          <a:lstStyle/>
          <a:p>
            <a:endParaRPr lang="en-US">
              <a:latin typeface="微软雅黑" panose="020B0503020204020204" charset="-122"/>
              <a:ea typeface="微软雅黑" panose="020B0503020204020204" charset="-122"/>
              <a:cs typeface="微软雅黑" panose="020B0503020204020204" charset="-122"/>
            </a:endParaRPr>
          </a:p>
        </p:txBody>
      </p:sp>
      <p:sp>
        <p:nvSpPr>
          <p:cNvPr id="115" name="矩形: 圆角 20"/>
          <p:cNvSpPr/>
          <p:nvPr/>
        </p:nvSpPr>
        <p:spPr>
          <a:xfrm>
            <a:off x="3533140" y="1166495"/>
            <a:ext cx="1435100" cy="829945"/>
          </a:xfrm>
          <a:prstGeom prst="roundRect">
            <a:avLst>
              <a:gd name="adj" fmla="val 8774"/>
            </a:avLst>
          </a:prstGeom>
          <a:solidFill>
            <a:schemeClr val="accent5">
              <a:lumMod val="40000"/>
              <a:lumOff val="60000"/>
              <a:alpha val="10000"/>
            </a:schemeClr>
          </a:solidFill>
          <a:ln w="12680" cap="flat">
            <a:solidFill>
              <a:schemeClr val="accent5">
                <a:alpha val="50000"/>
              </a:schemeClr>
            </a:solidFill>
            <a:prstDash val="sysDash"/>
            <a:miter/>
          </a:ln>
        </p:spPr>
        <p:txBody>
          <a:bodyPr rtlCol="0" anchor="ctr">
            <a:noAutofit/>
          </a:bodyPr>
          <a:lstStyle/>
          <a:p>
            <a:pPr lvl="0" algn="l">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116" name="矩形: 圆角 24"/>
          <p:cNvSpPr/>
          <p:nvPr/>
        </p:nvSpPr>
        <p:spPr>
          <a:xfrm>
            <a:off x="5103495" y="1166495"/>
            <a:ext cx="1435100" cy="830580"/>
          </a:xfrm>
          <a:prstGeom prst="roundRect">
            <a:avLst>
              <a:gd name="adj" fmla="val 9168"/>
            </a:avLst>
          </a:prstGeom>
          <a:solidFill>
            <a:schemeClr val="accent5">
              <a:lumMod val="40000"/>
              <a:lumOff val="60000"/>
              <a:alpha val="10000"/>
            </a:schemeClr>
          </a:solidFill>
          <a:ln w="12680" cap="flat">
            <a:solidFill>
              <a:schemeClr val="accent5">
                <a:alpha val="50000"/>
              </a:schemeClr>
            </a:solidFill>
            <a:prstDash val="sysDash"/>
            <a:miter/>
          </a:ln>
        </p:spPr>
        <p:txBody>
          <a:bodyPr rtlCol="0" anchor="ctr">
            <a:noAutofit/>
          </a:bodyPr>
          <a:lstStyle/>
          <a:p>
            <a:pPr lvl="0" algn="l">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117" name="矩形: 圆角 28"/>
          <p:cNvSpPr/>
          <p:nvPr/>
        </p:nvSpPr>
        <p:spPr>
          <a:xfrm>
            <a:off x="6673850" y="1166495"/>
            <a:ext cx="1435100" cy="829310"/>
          </a:xfrm>
          <a:prstGeom prst="roundRect">
            <a:avLst>
              <a:gd name="adj" fmla="val 9169"/>
            </a:avLst>
          </a:prstGeom>
          <a:solidFill>
            <a:schemeClr val="accent5">
              <a:lumMod val="40000"/>
              <a:lumOff val="60000"/>
              <a:alpha val="10000"/>
            </a:schemeClr>
          </a:solidFill>
          <a:ln w="12680" cap="flat">
            <a:solidFill>
              <a:schemeClr val="accent5">
                <a:alpha val="50000"/>
              </a:schemeClr>
            </a:solidFill>
            <a:prstDash val="sysDash"/>
            <a:miter/>
          </a:ln>
        </p:spPr>
        <p:txBody>
          <a:bodyPr rtlCol="0" anchor="ctr">
            <a:noAutofit/>
          </a:bodyPr>
          <a:lstStyle/>
          <a:p>
            <a:pPr lvl="0" algn="l">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118" name="矩形: 圆角 32"/>
          <p:cNvSpPr/>
          <p:nvPr/>
        </p:nvSpPr>
        <p:spPr>
          <a:xfrm>
            <a:off x="8243570" y="1166495"/>
            <a:ext cx="1435100" cy="831215"/>
          </a:xfrm>
          <a:prstGeom prst="roundRect">
            <a:avLst>
              <a:gd name="adj" fmla="val 7985"/>
            </a:avLst>
          </a:prstGeom>
          <a:solidFill>
            <a:schemeClr val="accent5">
              <a:lumMod val="40000"/>
              <a:lumOff val="60000"/>
              <a:alpha val="10000"/>
            </a:schemeClr>
          </a:solidFill>
          <a:ln w="12680" cap="flat">
            <a:solidFill>
              <a:schemeClr val="accent5">
                <a:alpha val="50000"/>
              </a:schemeClr>
            </a:solidFill>
            <a:prstDash val="sysDash"/>
            <a:miter/>
          </a:ln>
        </p:spPr>
        <p:txBody>
          <a:bodyPr rtlCol="0" anchor="ctr">
            <a:noAutofit/>
          </a:bodyPr>
          <a:lstStyle/>
          <a:p>
            <a:pPr lvl="0" algn="l">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119" name="矩形: 圆角 36"/>
          <p:cNvSpPr/>
          <p:nvPr/>
        </p:nvSpPr>
        <p:spPr>
          <a:xfrm>
            <a:off x="9813925" y="1166495"/>
            <a:ext cx="1435100" cy="831215"/>
          </a:xfrm>
          <a:prstGeom prst="roundRect">
            <a:avLst>
              <a:gd name="adj" fmla="val 8774"/>
            </a:avLst>
          </a:prstGeom>
          <a:solidFill>
            <a:schemeClr val="accent5">
              <a:lumMod val="40000"/>
              <a:lumOff val="60000"/>
              <a:alpha val="10000"/>
            </a:schemeClr>
          </a:solidFill>
          <a:ln w="12680" cap="flat">
            <a:solidFill>
              <a:schemeClr val="accent5">
                <a:alpha val="50000"/>
              </a:schemeClr>
            </a:solidFill>
            <a:prstDash val="sysDash"/>
            <a:miter/>
          </a:ln>
        </p:spPr>
        <p:txBody>
          <a:bodyPr rtlCol="0" anchor="ctr">
            <a:noAutofit/>
          </a:bodyPr>
          <a:lstStyle/>
          <a:p>
            <a:pPr lvl="0" algn="l">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121" name="文本框 120"/>
          <p:cNvSpPr txBox="1"/>
          <p:nvPr/>
        </p:nvSpPr>
        <p:spPr>
          <a:xfrm>
            <a:off x="2044700" y="1518285"/>
            <a:ext cx="1271905" cy="429895"/>
          </a:xfrm>
          <a:prstGeom prst="rect">
            <a:avLst/>
          </a:prstGeom>
          <a:noFill/>
        </p:spPr>
        <p:txBody>
          <a:bodyPr wrap="square" rtlCol="0">
            <a:spAutoFit/>
          </a:bodyPr>
          <a:lstStyle/>
          <a:p>
            <a:pPr indent="0" algn="ctr" fontAlgn="auto">
              <a:lnSpc>
                <a:spcPct val="100000"/>
              </a:lnSpc>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网点布局</a:t>
            </a:r>
            <a:r>
              <a:rPr lang="en-US" altLang="zh-CN" sz="11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网店运营</a:t>
            </a:r>
            <a:r>
              <a:rPr lang="en-US" altLang="zh-CN" sz="11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100" dirty="0">
                <a:solidFill>
                  <a:schemeClr val="tx2"/>
                </a:solidFill>
                <a:latin typeface="微软雅黑" panose="020B0503020204020204" charset="-122"/>
                <a:ea typeface="微软雅黑" panose="020B0503020204020204" charset="-122"/>
                <a:cs typeface="微软雅黑" panose="020B0503020204020204" charset="-122"/>
              </a:rPr>
              <a:t>保险出险</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2" name="文本框 121"/>
          <p:cNvSpPr txBox="1"/>
          <p:nvPr/>
        </p:nvSpPr>
        <p:spPr>
          <a:xfrm>
            <a:off x="3614420" y="1518285"/>
            <a:ext cx="1272540" cy="476250"/>
          </a:xfrm>
          <a:prstGeom prst="rect">
            <a:avLst/>
          </a:prstGeom>
          <a:noFill/>
        </p:spPr>
        <p:txBody>
          <a:bodyPr wrap="square" rtlCol="0">
            <a:noAutofit/>
          </a:bodyPr>
          <a:lstStyle/>
          <a:p>
            <a:pPr lvl="0" algn="ctr">
              <a:buClrTx/>
              <a:buSzTx/>
              <a:buFontTx/>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n-ea"/>
              </a:rPr>
              <a:t>区块派单/订单统</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n-ea"/>
              </a:rPr>
              <a:t>计/路径规划</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23" name="文本框 122"/>
          <p:cNvSpPr txBox="1"/>
          <p:nvPr/>
        </p:nvSpPr>
        <p:spPr>
          <a:xfrm>
            <a:off x="5210175" y="1518285"/>
            <a:ext cx="1221740" cy="530860"/>
          </a:xfrm>
          <a:prstGeom prst="rect">
            <a:avLst/>
          </a:prstGeom>
          <a:noFill/>
        </p:spPr>
        <p:txBody>
          <a:bodyPr wrap="square" rtlCol="0">
            <a:noAutofit/>
          </a:bodyPr>
          <a:lstStyle/>
          <a:p>
            <a:pPr lvl="0" algn="ctr">
              <a:buClrTx/>
              <a:buSzTx/>
              <a:buFontTx/>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n-ea"/>
              </a:rPr>
              <a:t>业务拓展/营销片</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n-ea"/>
              </a:rPr>
              <a:t>区/外勤管理</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24" name="文本框 123"/>
          <p:cNvSpPr txBox="1"/>
          <p:nvPr/>
        </p:nvSpPr>
        <p:spPr>
          <a:xfrm>
            <a:off x="6690360" y="1518285"/>
            <a:ext cx="1402080" cy="530860"/>
          </a:xfrm>
          <a:prstGeom prst="rect">
            <a:avLst/>
          </a:prstGeom>
          <a:noFill/>
        </p:spPr>
        <p:txBody>
          <a:bodyPr wrap="square" rtlCol="0">
            <a:noAutofit/>
          </a:bodyPr>
          <a:lstStyle/>
          <a:p>
            <a:pPr lvl="0" algn="ctr">
              <a:buClrTx/>
              <a:buSzTx/>
              <a:buFontTx/>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n-ea"/>
              </a:rPr>
              <a:t>社区作战/线下营</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n-ea"/>
              </a:rPr>
              <a:t>销/竞品分析</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26" name="文本框 125"/>
          <p:cNvSpPr txBox="1"/>
          <p:nvPr/>
        </p:nvSpPr>
        <p:spPr>
          <a:xfrm>
            <a:off x="8308023" y="1518285"/>
            <a:ext cx="1306195" cy="530860"/>
          </a:xfrm>
          <a:prstGeom prst="rect">
            <a:avLst/>
          </a:prstGeom>
          <a:noFill/>
        </p:spPr>
        <p:txBody>
          <a:bodyPr wrap="square" rtlCol="0">
            <a:noAutofit/>
          </a:bodyPr>
          <a:lstStyle/>
          <a:p>
            <a:pPr lvl="0" algn="ctr">
              <a:buClrTx/>
              <a:buSzTx/>
              <a:buFontTx/>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n-ea"/>
              </a:rPr>
              <a:t>区块派单/订单统</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n-ea"/>
              </a:rPr>
              <a:t>计/电子围栏</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27" name="文本框 126"/>
          <p:cNvSpPr txBox="1"/>
          <p:nvPr/>
        </p:nvSpPr>
        <p:spPr>
          <a:xfrm>
            <a:off x="9824403" y="1518285"/>
            <a:ext cx="1414145" cy="530860"/>
          </a:xfrm>
          <a:prstGeom prst="rect">
            <a:avLst/>
          </a:prstGeom>
          <a:noFill/>
        </p:spPr>
        <p:txBody>
          <a:bodyPr wrap="square" rtlCol="0">
            <a:noAutofit/>
          </a:bodyPr>
          <a:lstStyle/>
          <a:p>
            <a:pPr lvl="0" algn="ctr">
              <a:buClrTx/>
              <a:buSzTx/>
              <a:buFontTx/>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n-ea"/>
              </a:rPr>
              <a:t>点位管理/空间检</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n-ea"/>
              </a:rPr>
              <a:t>索/权限管理</a:t>
            </a:r>
            <a:endParaRPr lang="zh-CN" altLang="en-US" sz="11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28" name="文本框 127"/>
          <p:cNvSpPr txBox="1"/>
          <p:nvPr/>
        </p:nvSpPr>
        <p:spPr>
          <a:xfrm>
            <a:off x="2397760" y="1195705"/>
            <a:ext cx="565150" cy="321945"/>
          </a:xfrm>
          <a:prstGeom prst="rect">
            <a:avLst/>
          </a:prstGeom>
          <a:noFill/>
        </p:spPr>
        <p:txBody>
          <a:bodyPr wrap="square" rtlCol="0">
            <a:spAutoFit/>
          </a:bodyPr>
          <a:lstStyle/>
          <a:p>
            <a:pPr algn="ctr"/>
            <a:r>
              <a:rPr lang="zh-CN" altLang="en-US" sz="1500" b="1" dirty="0">
                <a:solidFill>
                  <a:schemeClr val="accent5"/>
                </a:solidFill>
                <a:latin typeface="微软雅黑" panose="020B0503020204020204" charset="-122"/>
                <a:ea typeface="微软雅黑" panose="020B0503020204020204" charset="-122"/>
                <a:cs typeface="微软雅黑" panose="020B0503020204020204" charset="-122"/>
              </a:rPr>
              <a:t>金融</a:t>
            </a:r>
            <a:endParaRPr lang="zh-CN" altLang="en-US" sz="15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29" name="文本框 128"/>
          <p:cNvSpPr txBox="1"/>
          <p:nvPr/>
        </p:nvSpPr>
        <p:spPr>
          <a:xfrm>
            <a:off x="3894773" y="1195705"/>
            <a:ext cx="711835" cy="321945"/>
          </a:xfrm>
          <a:prstGeom prst="rect">
            <a:avLst/>
          </a:prstGeom>
          <a:noFill/>
        </p:spPr>
        <p:txBody>
          <a:bodyPr wrap="square" rtlCol="0">
            <a:spAutoFit/>
          </a:bodyPr>
          <a:lstStyle/>
          <a:p>
            <a:pPr lvl="0" algn="ctr">
              <a:buClrTx/>
              <a:buSzTx/>
              <a:buFontTx/>
            </a:pPr>
            <a:r>
              <a:rPr lang="zh-CN" altLang="en-US" sz="1500" b="1" dirty="0">
                <a:solidFill>
                  <a:schemeClr val="accent5"/>
                </a:solidFill>
                <a:latin typeface="微软雅黑" panose="020B0503020204020204" charset="-122"/>
                <a:ea typeface="微软雅黑" panose="020B0503020204020204" charset="-122"/>
                <a:cs typeface="微软雅黑" panose="020B0503020204020204" charset="-122"/>
                <a:sym typeface="+mn-ea"/>
              </a:rPr>
              <a:t>家电</a:t>
            </a:r>
            <a:endParaRPr lang="zh-CN" altLang="en-US" sz="1500" b="1"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130" name="文本框 129"/>
          <p:cNvSpPr txBox="1"/>
          <p:nvPr/>
        </p:nvSpPr>
        <p:spPr>
          <a:xfrm>
            <a:off x="5440363" y="1195705"/>
            <a:ext cx="761365" cy="321945"/>
          </a:xfrm>
          <a:prstGeom prst="rect">
            <a:avLst/>
          </a:prstGeom>
          <a:noFill/>
        </p:spPr>
        <p:txBody>
          <a:bodyPr wrap="square" rtlCol="0">
            <a:spAutoFit/>
          </a:bodyPr>
          <a:lstStyle/>
          <a:p>
            <a:pPr lvl="0" algn="ctr">
              <a:buClrTx/>
              <a:buSzTx/>
              <a:buFontTx/>
            </a:pPr>
            <a:r>
              <a:rPr lang="zh-CN" altLang="en-US" sz="1500" b="1" dirty="0">
                <a:solidFill>
                  <a:schemeClr val="accent5"/>
                </a:solidFill>
                <a:latin typeface="微软雅黑" panose="020B0503020204020204" charset="-122"/>
                <a:ea typeface="微软雅黑" panose="020B0503020204020204" charset="-122"/>
                <a:cs typeface="微软雅黑" panose="020B0503020204020204" charset="-122"/>
                <a:sym typeface="+mn-ea"/>
              </a:rPr>
              <a:t>零售</a:t>
            </a:r>
            <a:endParaRPr lang="zh-CN" altLang="en-US" sz="1500" b="1"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131" name="文本框 130"/>
          <p:cNvSpPr txBox="1"/>
          <p:nvPr/>
        </p:nvSpPr>
        <p:spPr>
          <a:xfrm>
            <a:off x="7009448" y="1195705"/>
            <a:ext cx="763905" cy="321945"/>
          </a:xfrm>
          <a:prstGeom prst="rect">
            <a:avLst/>
          </a:prstGeom>
          <a:noFill/>
        </p:spPr>
        <p:txBody>
          <a:bodyPr wrap="square" rtlCol="0">
            <a:spAutoFit/>
          </a:bodyPr>
          <a:lstStyle/>
          <a:p>
            <a:pPr lvl="0" algn="ctr">
              <a:buClrTx/>
              <a:buSzTx/>
              <a:buFontTx/>
            </a:pPr>
            <a:r>
              <a:rPr lang="zh-CN" altLang="en-US" sz="1500" b="1" dirty="0">
                <a:solidFill>
                  <a:schemeClr val="accent5"/>
                </a:solidFill>
                <a:latin typeface="微软雅黑" panose="020B0503020204020204" charset="-122"/>
                <a:ea typeface="微软雅黑" panose="020B0503020204020204" charset="-122"/>
                <a:cs typeface="微软雅黑" panose="020B0503020204020204" charset="-122"/>
                <a:sym typeface="+mn-ea"/>
              </a:rPr>
              <a:t>O2O</a:t>
            </a:r>
            <a:endParaRPr lang="zh-CN" altLang="en-US" sz="1500" b="1"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132" name="文本框 131"/>
          <p:cNvSpPr txBox="1"/>
          <p:nvPr/>
        </p:nvSpPr>
        <p:spPr>
          <a:xfrm>
            <a:off x="8487410" y="1195705"/>
            <a:ext cx="947420" cy="321945"/>
          </a:xfrm>
          <a:prstGeom prst="rect">
            <a:avLst/>
          </a:prstGeom>
          <a:noFill/>
        </p:spPr>
        <p:txBody>
          <a:bodyPr wrap="square" rtlCol="0">
            <a:spAutoFit/>
          </a:bodyPr>
          <a:lstStyle/>
          <a:p>
            <a:pPr lvl="0" algn="ctr">
              <a:buClrTx/>
              <a:buSzTx/>
              <a:buFontTx/>
            </a:pPr>
            <a:r>
              <a:rPr lang="zh-CN" altLang="en-US" sz="1500" b="1" dirty="0">
                <a:solidFill>
                  <a:schemeClr val="accent5"/>
                </a:solidFill>
                <a:latin typeface="微软雅黑" panose="020B0503020204020204" charset="-122"/>
                <a:ea typeface="微软雅黑" panose="020B0503020204020204" charset="-122"/>
                <a:cs typeface="微软雅黑" panose="020B0503020204020204" charset="-122"/>
                <a:sym typeface="+mn-ea"/>
              </a:rPr>
              <a:t>物流快递</a:t>
            </a:r>
            <a:endParaRPr lang="zh-CN" altLang="en-US" sz="1500" b="1"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139" name="文本框 138"/>
          <p:cNvSpPr txBox="1"/>
          <p:nvPr/>
        </p:nvSpPr>
        <p:spPr>
          <a:xfrm>
            <a:off x="10212705" y="1195705"/>
            <a:ext cx="637540" cy="321945"/>
          </a:xfrm>
          <a:prstGeom prst="rect">
            <a:avLst/>
          </a:prstGeom>
          <a:noFill/>
        </p:spPr>
        <p:txBody>
          <a:bodyPr wrap="square" rtlCol="0">
            <a:spAutoFit/>
          </a:bodyPr>
          <a:lstStyle/>
          <a:p>
            <a:pPr lvl="0" algn="ctr">
              <a:buClrTx/>
              <a:buSzTx/>
              <a:buFontTx/>
            </a:pPr>
            <a:r>
              <a:rPr lang="zh-CN" altLang="en-US" sz="1500" b="1" dirty="0">
                <a:solidFill>
                  <a:schemeClr val="accent5"/>
                </a:solidFill>
                <a:latin typeface="微软雅黑" panose="020B0503020204020204" charset="-122"/>
                <a:ea typeface="微软雅黑" panose="020B0503020204020204" charset="-122"/>
                <a:cs typeface="微软雅黑" panose="020B0503020204020204" charset="-122"/>
                <a:sym typeface="+mn-ea"/>
              </a:rPr>
              <a:t>政府</a:t>
            </a:r>
            <a:endParaRPr lang="zh-CN" altLang="en-US" sz="1500" b="1"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140" name="圆角矩形 139"/>
          <p:cNvSpPr/>
          <p:nvPr/>
        </p:nvSpPr>
        <p:spPr>
          <a:xfrm>
            <a:off x="625475" y="2195830"/>
            <a:ext cx="10977245" cy="1981200"/>
          </a:xfrm>
          <a:prstGeom prst="roundRect">
            <a:avLst>
              <a:gd name="adj" fmla="val 0"/>
            </a:avLst>
          </a:prstGeom>
          <a:solidFill>
            <a:schemeClr val="bg1"/>
          </a:solidFill>
          <a:ln w="6350">
            <a:solidFill>
              <a:schemeClr val="accent1">
                <a:lumMod val="20000"/>
                <a:lumOff val="80000"/>
              </a:schemeClr>
            </a:solidFill>
            <a:prstDash val="solid"/>
          </a:ln>
          <a:effectLst>
            <a:outerShdw blurRad="101600" sx="101000" sy="101000" algn="ctr" rotWithShape="0">
              <a:schemeClr val="accent1">
                <a:lumMod val="20000"/>
                <a:lumOff val="8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sz="1400" dirty="0">
              <a:solidFill>
                <a:srgbClr val="E7E6E6">
                  <a:lumMod val="25000"/>
                </a:srgbClr>
              </a:solidFill>
              <a:latin typeface="微软雅黑" panose="020B0503020204020204" charset="-122"/>
              <a:ea typeface="微软雅黑" panose="020B0503020204020204" charset="-122"/>
              <a:cs typeface="微软雅黑" panose="020B0503020204020204" charset="-122"/>
            </a:endParaRPr>
          </a:p>
        </p:txBody>
      </p:sp>
      <p:sp>
        <p:nvSpPr>
          <p:cNvPr id="144" name="圆角矩形 143"/>
          <p:cNvSpPr/>
          <p:nvPr/>
        </p:nvSpPr>
        <p:spPr>
          <a:xfrm>
            <a:off x="562610" y="2848615"/>
            <a:ext cx="1061085" cy="464185"/>
          </a:xfrm>
          <a:prstGeom prst="roundRect">
            <a:avLst>
              <a:gd name="adj" fmla="val 0"/>
            </a:avLst>
          </a:prstGeom>
          <a:gradFill flip="none" rotWithShape="1">
            <a:gsLst>
              <a:gs pos="0">
                <a:schemeClr val="accent1">
                  <a:lumMod val="50000"/>
                  <a:lumOff val="50000"/>
                </a:schemeClr>
              </a:gs>
              <a:gs pos="100000">
                <a:schemeClr val="accent1">
                  <a:lumMod val="60000"/>
                  <a:lumOff val="40000"/>
                </a:schemeClr>
              </a:gs>
            </a:gsLst>
            <a:lin ang="0" scaled="1"/>
            <a:tileRect/>
          </a:gradFill>
          <a:ln>
            <a:noFill/>
          </a:ln>
          <a:effectLst>
            <a:outerShdw blurRad="127000" dist="88900" dir="5400000" algn="t" rotWithShape="0">
              <a:schemeClr val="accent1">
                <a:lumMod val="60000"/>
                <a:lumOff val="40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sz="1200" dirty="0">
              <a:latin typeface="微软雅黑" panose="020B0503020204020204" charset="-122"/>
              <a:ea typeface="微软雅黑" panose="020B0503020204020204" charset="-122"/>
              <a:cs typeface="微软雅黑" panose="020B0503020204020204" charset="-122"/>
              <a:sym typeface="+mn-ea"/>
            </a:endParaRPr>
          </a:p>
        </p:txBody>
      </p:sp>
      <p:sp>
        <p:nvSpPr>
          <p:cNvPr id="145" name="文本框 144"/>
          <p:cNvSpPr txBox="1"/>
          <p:nvPr/>
        </p:nvSpPr>
        <p:spPr>
          <a:xfrm>
            <a:off x="646113" y="2927355"/>
            <a:ext cx="894080" cy="30670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运营提升</a:t>
            </a:r>
            <a:endParaRPr kumimoji="0" lang="zh-CN" altLang="en-US" sz="1400" b="1"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9" name="直角三角形 148"/>
          <p:cNvSpPr/>
          <p:nvPr/>
        </p:nvSpPr>
        <p:spPr>
          <a:xfrm flipH="1" flipV="1">
            <a:off x="562915" y="3313102"/>
            <a:ext cx="88824" cy="93277"/>
          </a:xfrm>
          <a:prstGeom prst="rtTriangle">
            <a:avLst/>
          </a:prstGeom>
          <a:solidFill>
            <a:schemeClr val="accent1"/>
          </a:solidFill>
          <a:ln>
            <a:noFill/>
          </a:ln>
          <a:effectLst>
            <a:outerShdw blurRad="127000" dist="88900"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sz="1200" dirty="0">
              <a:latin typeface="微软雅黑" panose="020B0503020204020204" charset="-122"/>
              <a:ea typeface="微软雅黑" panose="020B0503020204020204" charset="-122"/>
              <a:cs typeface="微软雅黑" panose="020B0503020204020204" charset="-122"/>
              <a:sym typeface="+mn-ea"/>
            </a:endParaRPr>
          </a:p>
        </p:txBody>
      </p:sp>
      <p:sp>
        <p:nvSpPr>
          <p:cNvPr id="239" name="紫荆的职场Point11"/>
          <p:cNvSpPr/>
          <p:nvPr/>
        </p:nvSpPr>
        <p:spPr>
          <a:xfrm>
            <a:off x="1962150" y="2300605"/>
            <a:ext cx="3167380" cy="1757045"/>
          </a:xfrm>
          <a:prstGeom prst="roundRect">
            <a:avLst>
              <a:gd name="adj" fmla="val 2622"/>
            </a:avLst>
          </a:prstGeom>
          <a:solidFill>
            <a:srgbClr val="FFFFFF">
              <a:alpha val="50000"/>
            </a:srgbClr>
          </a:solidFill>
          <a:ln>
            <a:solidFill>
              <a:schemeClr val="accent1">
                <a:lumMod val="60000"/>
                <a:lumOff val="4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40" name="矩形: 圆角 19"/>
          <p:cNvSpPr/>
          <p:nvPr/>
        </p:nvSpPr>
        <p:spPr>
          <a:xfrm flipH="1">
            <a:off x="2360295" y="2365375"/>
            <a:ext cx="2477770" cy="386715"/>
          </a:xfrm>
          <a:prstGeom prst="roundRect">
            <a:avLst>
              <a:gd name="adj" fmla="val 18324"/>
            </a:avLst>
          </a:prstGeom>
          <a:solidFill>
            <a:schemeClr val="accent1">
              <a:lumMod val="60000"/>
              <a:lumOff val="40000"/>
            </a:schemeClr>
          </a:solidFill>
          <a:ln w="10859">
            <a:noFill/>
            <a:prstDash val="dash"/>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78181" tIns="39091" rIns="78181" bIns="39091" numCol="1" spcCol="0" rtlCol="0" fromWordArt="0" anchor="ctr" anchorCtr="0" forceAA="0" compatLnSpc="1">
            <a:noAutofit/>
          </a:bodyPr>
          <a:lstStyle/>
          <a:p>
            <a:pPr lvl="0" algn="ctr">
              <a:buClrTx/>
              <a:buSzTx/>
              <a:buFontTx/>
            </a:pPr>
            <a:r>
              <a:rPr lang="zh-CN" altLang="en-US" sz="1200" b="1" dirty="0">
                <a:solidFill>
                  <a:srgbClr val="FFFFFF"/>
                </a:solidFill>
                <a:effectLst/>
                <a:latin typeface="微软雅黑" panose="020B0503020204020204" charset="-122"/>
                <a:ea typeface="微软雅黑" panose="020B0503020204020204" charset="-122"/>
                <a:cs typeface="微软雅黑" panose="020B0503020204020204" charset="-122"/>
                <a:sym typeface="+mn-ea"/>
              </a:rPr>
              <a:t>创意序列化，强化心智影响</a:t>
            </a:r>
            <a:endParaRPr lang="zh-CN" altLang="en-US" sz="1200" b="1" dirty="0">
              <a:solidFill>
                <a:srgbClr val="FFFFFF"/>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241" name="矩形: 圆角 25"/>
          <p:cNvSpPr/>
          <p:nvPr/>
        </p:nvSpPr>
        <p:spPr>
          <a:xfrm>
            <a:off x="2306955" y="2847340"/>
            <a:ext cx="1038225" cy="275590"/>
          </a:xfrm>
          <a:prstGeom prst="roundRect">
            <a:avLst/>
          </a:prstGeom>
          <a:solidFill>
            <a:srgbClr val="FFFFFF"/>
          </a:solidFill>
          <a:ln>
            <a:solidFill>
              <a:schemeClr val="accent1">
                <a:lumMod val="60000"/>
                <a:lumOff val="40000"/>
              </a:schemeClr>
            </a:solidFill>
          </a:ln>
        </p:spPr>
        <p:style>
          <a:lnRef idx="2">
            <a:srgbClr val="24396B">
              <a:shade val="50000"/>
            </a:srgbClr>
          </a:lnRef>
          <a:fillRef idx="1">
            <a:srgbClr val="24396B"/>
          </a:fillRef>
          <a:effectRef idx="0">
            <a:srgbClr val="24396B"/>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素材序列</a:t>
            </a:r>
            <a:r>
              <a:rPr kumimoji="0" lang="en-US" altLang="zh-CN" sz="105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1</a:t>
            </a:r>
            <a:endParaRPr kumimoji="0" lang="en-US" altLang="zh-CN" sz="105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2" name="矩形: 圆角 29"/>
          <p:cNvSpPr/>
          <p:nvPr/>
        </p:nvSpPr>
        <p:spPr>
          <a:xfrm>
            <a:off x="2306955" y="3262630"/>
            <a:ext cx="1038225" cy="275590"/>
          </a:xfrm>
          <a:prstGeom prst="roundRect">
            <a:avLst/>
          </a:prstGeom>
          <a:solidFill>
            <a:srgbClr val="FFFFFF"/>
          </a:solidFill>
          <a:ln>
            <a:solidFill>
              <a:schemeClr val="accent1">
                <a:lumMod val="60000"/>
                <a:lumOff val="40000"/>
              </a:schemeClr>
            </a:solidFill>
          </a:ln>
        </p:spPr>
        <p:style>
          <a:lnRef idx="2">
            <a:srgbClr val="24396B">
              <a:shade val="50000"/>
            </a:srgbClr>
          </a:lnRef>
          <a:fillRef idx="1">
            <a:srgbClr val="24396B"/>
          </a:fillRef>
          <a:effectRef idx="0">
            <a:srgbClr val="24396B"/>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素材序列</a:t>
            </a:r>
            <a:r>
              <a:rPr kumimoji="0" lang="en-US" altLang="zh-CN" sz="105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2</a:t>
            </a:r>
            <a:endParaRPr kumimoji="0" lang="en-US" altLang="zh-CN" sz="105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3" name="矩形: 圆角 31"/>
          <p:cNvSpPr/>
          <p:nvPr/>
        </p:nvSpPr>
        <p:spPr>
          <a:xfrm>
            <a:off x="2306955" y="3677920"/>
            <a:ext cx="1038225" cy="275590"/>
          </a:xfrm>
          <a:prstGeom prst="roundRect">
            <a:avLst/>
          </a:prstGeom>
          <a:solidFill>
            <a:srgbClr val="FFFFFF"/>
          </a:solidFill>
          <a:ln>
            <a:solidFill>
              <a:schemeClr val="accent1">
                <a:lumMod val="60000"/>
                <a:lumOff val="40000"/>
              </a:schemeClr>
            </a:solidFill>
          </a:ln>
        </p:spPr>
        <p:style>
          <a:lnRef idx="2">
            <a:srgbClr val="24396B">
              <a:shade val="50000"/>
            </a:srgbClr>
          </a:lnRef>
          <a:fillRef idx="1">
            <a:srgbClr val="24396B"/>
          </a:fillRef>
          <a:effectRef idx="0">
            <a:srgbClr val="24396B"/>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素材序列</a:t>
            </a:r>
            <a:r>
              <a:rPr kumimoji="0" lang="en-US" altLang="zh-CN" sz="105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3</a:t>
            </a:r>
            <a:endParaRPr kumimoji="0" lang="en-US" altLang="zh-CN" sz="105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4" name="矩形: 圆角 34"/>
          <p:cNvSpPr/>
          <p:nvPr/>
        </p:nvSpPr>
        <p:spPr>
          <a:xfrm>
            <a:off x="3797300" y="2861310"/>
            <a:ext cx="1066800" cy="275590"/>
          </a:xfrm>
          <a:prstGeom prst="roundRect">
            <a:avLst/>
          </a:prstGeom>
          <a:solidFill>
            <a:schemeClr val="accent1">
              <a:lumMod val="20000"/>
              <a:lumOff val="80000"/>
            </a:schemeClr>
          </a:solidFill>
          <a:ln>
            <a:noFill/>
          </a:ln>
        </p:spPr>
        <p:style>
          <a:lnRef idx="2">
            <a:srgbClr val="24396B">
              <a:shade val="50000"/>
            </a:srgbClr>
          </a:lnRef>
          <a:fillRef idx="1">
            <a:srgbClr val="24396B"/>
          </a:fillRef>
          <a:effectRef idx="0">
            <a:srgbClr val="24396B"/>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品牌认知</a:t>
            </a:r>
            <a:endParaRPr kumimoji="0" lang="zh-CN" altLang="en-US" sz="105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5" name="矩形: 圆角 35"/>
          <p:cNvSpPr/>
          <p:nvPr/>
        </p:nvSpPr>
        <p:spPr>
          <a:xfrm>
            <a:off x="3797300" y="3276600"/>
            <a:ext cx="1066800" cy="275590"/>
          </a:xfrm>
          <a:prstGeom prst="roundRect">
            <a:avLst/>
          </a:prstGeom>
          <a:solidFill>
            <a:schemeClr val="accent1">
              <a:lumMod val="20000"/>
              <a:lumOff val="80000"/>
            </a:schemeClr>
          </a:solidFill>
          <a:ln>
            <a:noFill/>
          </a:ln>
        </p:spPr>
        <p:style>
          <a:lnRef idx="2">
            <a:srgbClr val="24396B">
              <a:shade val="50000"/>
            </a:srgbClr>
          </a:lnRef>
          <a:fillRef idx="1">
            <a:srgbClr val="24396B"/>
          </a:fillRef>
          <a:effectRef idx="0">
            <a:srgbClr val="24396B"/>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了解产品</a:t>
            </a:r>
            <a:endParaRPr kumimoji="0" lang="zh-CN" altLang="en-US" sz="105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58" name="矩形: 圆角 36"/>
          <p:cNvSpPr/>
          <p:nvPr/>
        </p:nvSpPr>
        <p:spPr>
          <a:xfrm>
            <a:off x="3797300" y="3691890"/>
            <a:ext cx="1066800" cy="275590"/>
          </a:xfrm>
          <a:prstGeom prst="roundRect">
            <a:avLst/>
          </a:prstGeom>
          <a:solidFill>
            <a:schemeClr val="accent1">
              <a:lumMod val="20000"/>
              <a:lumOff val="80000"/>
            </a:schemeClr>
          </a:solidFill>
          <a:ln>
            <a:noFill/>
          </a:ln>
        </p:spPr>
        <p:style>
          <a:lnRef idx="2">
            <a:srgbClr val="24396B">
              <a:shade val="50000"/>
            </a:srgbClr>
          </a:lnRef>
          <a:fillRef idx="1">
            <a:srgbClr val="24396B"/>
          </a:fillRef>
          <a:effectRef idx="0">
            <a:srgbClr val="24396B"/>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吸引询购</a:t>
            </a:r>
            <a:endParaRPr kumimoji="0" lang="zh-CN" altLang="en-US" sz="105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263" name="直接连接符 262"/>
          <p:cNvCxnSpPr/>
          <p:nvPr/>
        </p:nvCxnSpPr>
        <p:spPr>
          <a:xfrm>
            <a:off x="3544570" y="2861310"/>
            <a:ext cx="0" cy="1096010"/>
          </a:xfrm>
          <a:prstGeom prst="line">
            <a:avLst/>
          </a:prstGeom>
          <a:noFill/>
          <a:ln w="31750" cap="rnd">
            <a:gradFill flip="none" rotWithShape="1">
              <a:gsLst>
                <a:gs pos="0">
                  <a:schemeClr val="accent1">
                    <a:lumMod val="60000"/>
                    <a:lumOff val="40000"/>
                  </a:schemeClr>
                </a:gs>
                <a:gs pos="99000">
                  <a:schemeClr val="accent1">
                    <a:lumMod val="60000"/>
                    <a:lumOff val="40000"/>
                    <a:alpha val="0"/>
                  </a:schemeClr>
                </a:gs>
              </a:gsLst>
              <a:lin ang="16200000" scaled="1"/>
              <a:tileRect/>
            </a:gradFill>
            <a:tailEnd type="arrow"/>
          </a:ln>
        </p:spPr>
        <p:style>
          <a:lnRef idx="2">
            <a:srgbClr val="24396B">
              <a:shade val="50000"/>
            </a:srgbClr>
          </a:lnRef>
          <a:fillRef idx="1">
            <a:srgbClr val="24396B"/>
          </a:fillRef>
          <a:effectRef idx="0">
            <a:srgbClr val="24396B"/>
          </a:effectRef>
          <a:fontRef idx="minor">
            <a:srgbClr val="FFFFFF"/>
          </a:fontRef>
        </p:style>
      </p:cxnSp>
      <p:sp>
        <p:nvSpPr>
          <p:cNvPr id="278" name="紫荆的职场Point11"/>
          <p:cNvSpPr/>
          <p:nvPr/>
        </p:nvSpPr>
        <p:spPr>
          <a:xfrm>
            <a:off x="5245735" y="2300605"/>
            <a:ext cx="2545715" cy="1757045"/>
          </a:xfrm>
          <a:prstGeom prst="roundRect">
            <a:avLst>
              <a:gd name="adj" fmla="val 2622"/>
            </a:avLst>
          </a:prstGeom>
          <a:solidFill>
            <a:srgbClr val="FFFFFF">
              <a:alpha val="50000"/>
            </a:srgbClr>
          </a:solidFill>
          <a:ln>
            <a:solidFill>
              <a:schemeClr val="accent5">
                <a:lumMod val="60000"/>
                <a:lumOff val="4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83" name="矩形: 圆角 19"/>
          <p:cNvSpPr/>
          <p:nvPr/>
        </p:nvSpPr>
        <p:spPr>
          <a:xfrm flipH="1">
            <a:off x="5390515" y="2365375"/>
            <a:ext cx="2257425" cy="386715"/>
          </a:xfrm>
          <a:prstGeom prst="roundRect">
            <a:avLst>
              <a:gd name="adj" fmla="val 18324"/>
            </a:avLst>
          </a:prstGeom>
          <a:solidFill>
            <a:schemeClr val="accent5">
              <a:lumMod val="60000"/>
              <a:lumOff val="40000"/>
            </a:schemeClr>
          </a:solidFill>
          <a:ln w="10859">
            <a:noFill/>
            <a:prstDash val="dash"/>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78181" tIns="39091" rIns="78181" bIns="39091" numCol="1" spcCol="0" rtlCol="0" fromWordArt="0" anchor="ctr" anchorCtr="0" forceAA="0" compatLnSpc="1">
            <a:noAutofit/>
          </a:bodyPr>
          <a:lstStyle/>
          <a:p>
            <a:pPr lvl="0" algn="ctr">
              <a:buClrTx/>
              <a:buSzTx/>
              <a:buFontTx/>
            </a:pPr>
            <a:r>
              <a:rPr lang="zh-CN" altLang="en-US" sz="1200" b="1" dirty="0">
                <a:solidFill>
                  <a:srgbClr val="FFFFFF"/>
                </a:solidFill>
                <a:effectLst/>
                <a:latin typeface="微软雅黑" panose="020B0503020204020204" charset="-122"/>
                <a:ea typeface="微软雅黑" panose="020B0503020204020204" charset="-122"/>
                <a:cs typeface="微软雅黑" panose="020B0503020204020204" charset="-122"/>
                <a:sym typeface="+mn-ea"/>
              </a:rPr>
              <a:t>创意轮播，助力展现多维内容</a:t>
            </a:r>
            <a:endParaRPr lang="zh-CN" altLang="en-US" sz="1200" b="1" dirty="0">
              <a:solidFill>
                <a:srgbClr val="FFFFFF"/>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284" name="矩形: 圆角 46"/>
          <p:cNvSpPr/>
          <p:nvPr/>
        </p:nvSpPr>
        <p:spPr>
          <a:xfrm>
            <a:off x="6184265" y="2871470"/>
            <a:ext cx="663575" cy="235585"/>
          </a:xfrm>
          <a:prstGeom prst="roundRect">
            <a:avLst/>
          </a:prstGeom>
          <a:solidFill>
            <a:srgbClr val="FFFFFF"/>
          </a:solidFill>
          <a:ln>
            <a:solidFill>
              <a:schemeClr val="accent5">
                <a:lumMod val="60000"/>
                <a:lumOff val="40000"/>
              </a:schemeClr>
            </a:solidFill>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05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素材1</a:t>
            </a:r>
            <a:endParaRPr lang="zh-CN" altLang="en-US" sz="105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85" name="矩形: 圆角 47"/>
          <p:cNvSpPr/>
          <p:nvPr/>
        </p:nvSpPr>
        <p:spPr>
          <a:xfrm>
            <a:off x="5633085" y="3383915"/>
            <a:ext cx="663575" cy="235585"/>
          </a:xfrm>
          <a:prstGeom prst="roundRect">
            <a:avLst/>
          </a:prstGeom>
          <a:solidFill>
            <a:srgbClr val="FFFFFF"/>
          </a:solidFill>
          <a:ln>
            <a:solidFill>
              <a:schemeClr val="accent5">
                <a:lumMod val="60000"/>
                <a:lumOff val="40000"/>
              </a:schemeClr>
            </a:solidFill>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05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素材2</a:t>
            </a:r>
            <a:endParaRPr lang="zh-CN" altLang="en-US" sz="105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87" name="矩形: 圆角 48"/>
          <p:cNvSpPr/>
          <p:nvPr/>
        </p:nvSpPr>
        <p:spPr>
          <a:xfrm>
            <a:off x="6781800" y="3383915"/>
            <a:ext cx="663575" cy="235585"/>
          </a:xfrm>
          <a:prstGeom prst="roundRect">
            <a:avLst/>
          </a:prstGeom>
          <a:solidFill>
            <a:srgbClr val="FFFFFF"/>
          </a:solidFill>
          <a:ln>
            <a:solidFill>
              <a:schemeClr val="accent5">
                <a:lumMod val="60000"/>
                <a:lumOff val="40000"/>
              </a:schemeClr>
            </a:solidFill>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05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素材3</a:t>
            </a:r>
            <a:endParaRPr lang="zh-CN" altLang="en-US" sz="105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88" name="弧形 287"/>
          <p:cNvSpPr/>
          <p:nvPr/>
        </p:nvSpPr>
        <p:spPr>
          <a:xfrm rot="10800000" flipH="1" flipV="1">
            <a:off x="6589395" y="3020060"/>
            <a:ext cx="598170" cy="611505"/>
          </a:xfrm>
          <a:prstGeom prst="arc">
            <a:avLst/>
          </a:prstGeom>
          <a:noFill/>
          <a:ln w="31750" cap="rnd">
            <a:gradFill flip="none" rotWithShape="1">
              <a:gsLst>
                <a:gs pos="0">
                  <a:schemeClr val="accent5">
                    <a:lumMod val="60000"/>
                    <a:lumOff val="40000"/>
                  </a:schemeClr>
                </a:gs>
                <a:gs pos="100000">
                  <a:schemeClr val="accent5">
                    <a:lumMod val="60000"/>
                    <a:lumOff val="40000"/>
                    <a:alpha val="0"/>
                  </a:schemeClr>
                </a:gs>
              </a:gsLst>
              <a:lin ang="5400000" scaled="1"/>
              <a:tileRect/>
            </a:gradFill>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srgbClr val="2F2FEC"/>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89" name="弧形 288"/>
          <p:cNvSpPr/>
          <p:nvPr/>
        </p:nvSpPr>
        <p:spPr>
          <a:xfrm rot="13528765" flipH="1">
            <a:off x="6099810" y="2973705"/>
            <a:ext cx="844550" cy="824865"/>
          </a:xfrm>
          <a:prstGeom prst="arc">
            <a:avLst/>
          </a:prstGeom>
          <a:noFill/>
          <a:ln w="31750" cap="rnd">
            <a:gradFill flip="none" rotWithShape="1">
              <a:gsLst>
                <a:gs pos="0">
                  <a:schemeClr val="accent5">
                    <a:lumMod val="60000"/>
                    <a:lumOff val="40000"/>
                  </a:schemeClr>
                </a:gs>
                <a:gs pos="100000">
                  <a:schemeClr val="accent5">
                    <a:lumMod val="60000"/>
                    <a:lumOff val="40000"/>
                    <a:alpha val="0"/>
                  </a:schemeClr>
                </a:gs>
              </a:gsLst>
              <a:lin ang="5400000" scaled="1"/>
              <a:tileRect/>
            </a:gradFill>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srgbClr val="2F2FEC"/>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96" name="弧形 295"/>
          <p:cNvSpPr/>
          <p:nvPr/>
        </p:nvSpPr>
        <p:spPr>
          <a:xfrm flipH="1">
            <a:off x="5853430" y="3027045"/>
            <a:ext cx="598170" cy="611505"/>
          </a:xfrm>
          <a:prstGeom prst="arc">
            <a:avLst/>
          </a:prstGeom>
          <a:noFill/>
          <a:ln w="31750" cap="rnd">
            <a:gradFill flip="none" rotWithShape="1">
              <a:gsLst>
                <a:gs pos="0">
                  <a:schemeClr val="accent5">
                    <a:lumMod val="60000"/>
                    <a:lumOff val="40000"/>
                  </a:schemeClr>
                </a:gs>
                <a:gs pos="100000">
                  <a:schemeClr val="accent5">
                    <a:lumMod val="60000"/>
                    <a:lumOff val="40000"/>
                    <a:alpha val="0"/>
                  </a:schemeClr>
                </a:gs>
              </a:gsLst>
              <a:lin ang="5400000" scaled="1"/>
              <a:tileRect/>
            </a:gradFill>
          </a:ln>
        </p:spPr>
        <p:style>
          <a:lnRef idx="2">
            <a:srgbClr val="24396B">
              <a:shade val="50000"/>
            </a:srgbClr>
          </a:lnRef>
          <a:fillRef idx="1">
            <a:srgbClr val="24396B"/>
          </a:fillRef>
          <a:effectRef idx="0">
            <a:srgbClr val="24396B"/>
          </a:effectRef>
          <a:fontRef idx="minor">
            <a:srgbClr val="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srgbClr val="2F2FEC"/>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17" name="紫荆的职场Point11"/>
          <p:cNvSpPr/>
          <p:nvPr/>
        </p:nvSpPr>
        <p:spPr>
          <a:xfrm>
            <a:off x="7906385" y="2300605"/>
            <a:ext cx="3327400" cy="1757045"/>
          </a:xfrm>
          <a:prstGeom prst="roundRect">
            <a:avLst>
              <a:gd name="adj" fmla="val 2622"/>
            </a:avLst>
          </a:prstGeom>
          <a:solidFill>
            <a:srgbClr val="FFFFFF">
              <a:alpha val="50000"/>
            </a:srgbClr>
          </a:solidFill>
          <a:ln>
            <a:solidFill>
              <a:schemeClr val="accent1">
                <a:lumMod val="60000"/>
                <a:lumOff val="4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18" name="矩形: 圆角 19"/>
          <p:cNvSpPr/>
          <p:nvPr/>
        </p:nvSpPr>
        <p:spPr>
          <a:xfrm flipH="1">
            <a:off x="8378190" y="2365375"/>
            <a:ext cx="2477770" cy="386715"/>
          </a:xfrm>
          <a:prstGeom prst="roundRect">
            <a:avLst>
              <a:gd name="adj" fmla="val 18324"/>
            </a:avLst>
          </a:prstGeom>
          <a:solidFill>
            <a:schemeClr val="accent1">
              <a:lumMod val="60000"/>
              <a:lumOff val="40000"/>
            </a:schemeClr>
          </a:solidFill>
          <a:ln w="10859">
            <a:noFill/>
            <a:prstDash val="dash"/>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78181" tIns="39091" rIns="78181" bIns="39091"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1"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rPr>
              <a:t>基于实时库存动态优选</a:t>
            </a:r>
            <a:endParaRPr lang="zh-CN" altLang="en-US" sz="1200" b="1" dirty="0">
              <a:solidFill>
                <a:srgbClr val="FFFFFF"/>
              </a:solidFill>
              <a:effectLst/>
              <a:latin typeface="微软雅黑" panose="020B0503020204020204" charset="-122"/>
              <a:ea typeface="微软雅黑" panose="020B0503020204020204" charset="-122"/>
              <a:cs typeface="微软雅黑" panose="020B0503020204020204" charset="-122"/>
              <a:sym typeface="+mn-ea"/>
            </a:endParaRPr>
          </a:p>
        </p:txBody>
      </p:sp>
      <p:graphicFrame>
        <p:nvGraphicFramePr>
          <p:cNvPr id="319" name="图表 318"/>
          <p:cNvGraphicFramePr/>
          <p:nvPr/>
        </p:nvGraphicFramePr>
        <p:xfrm>
          <a:off x="9341485" y="2766060"/>
          <a:ext cx="1665605" cy="1262380"/>
        </p:xfrm>
        <a:graphic>
          <a:graphicData uri="http://schemas.openxmlformats.org/drawingml/2006/chart">
            <c:chart xmlns:c="http://schemas.openxmlformats.org/drawingml/2006/chart" xmlns:r="http://schemas.openxmlformats.org/officeDocument/2006/relationships" r:id="rId1"/>
          </a:graphicData>
        </a:graphic>
      </p:graphicFrame>
      <p:pic>
        <p:nvPicPr>
          <p:cNvPr id="320" name="图形 71" descr="用户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959725" y="2867025"/>
            <a:ext cx="219710" cy="234315"/>
          </a:xfrm>
          <a:prstGeom prst="rect">
            <a:avLst/>
          </a:prstGeom>
        </p:spPr>
      </p:pic>
      <p:pic>
        <p:nvPicPr>
          <p:cNvPr id="321" name="图形 72" descr="用户 纯色填充"/>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57210" y="2867025"/>
            <a:ext cx="219710" cy="234315"/>
          </a:xfrm>
          <a:prstGeom prst="rect">
            <a:avLst/>
          </a:prstGeom>
        </p:spPr>
      </p:pic>
      <p:pic>
        <p:nvPicPr>
          <p:cNvPr id="322" name="图形 73" descr="用户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55330" y="2867025"/>
            <a:ext cx="219710" cy="234315"/>
          </a:xfrm>
          <a:prstGeom prst="rect">
            <a:avLst/>
          </a:prstGeom>
        </p:spPr>
      </p:pic>
      <p:pic>
        <p:nvPicPr>
          <p:cNvPr id="323" name="图形 74" descr="用户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552815" y="2867025"/>
            <a:ext cx="219710" cy="234315"/>
          </a:xfrm>
          <a:prstGeom prst="rect">
            <a:avLst/>
          </a:prstGeom>
        </p:spPr>
      </p:pic>
      <p:pic>
        <p:nvPicPr>
          <p:cNvPr id="324" name="图形 75" descr="用户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750935" y="2867025"/>
            <a:ext cx="219710" cy="234315"/>
          </a:xfrm>
          <a:prstGeom prst="rect">
            <a:avLst/>
          </a:prstGeom>
        </p:spPr>
      </p:pic>
      <p:pic>
        <p:nvPicPr>
          <p:cNvPr id="325" name="图形 76" descr="用户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948420" y="2867025"/>
            <a:ext cx="219710" cy="234315"/>
          </a:xfrm>
          <a:prstGeom prst="rect">
            <a:avLst/>
          </a:prstGeom>
        </p:spPr>
      </p:pic>
      <p:pic>
        <p:nvPicPr>
          <p:cNvPr id="326" name="图形 79" descr="用户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959725" y="3121660"/>
            <a:ext cx="219710" cy="234315"/>
          </a:xfrm>
          <a:prstGeom prst="rect">
            <a:avLst/>
          </a:prstGeom>
        </p:spPr>
      </p:pic>
      <p:pic>
        <p:nvPicPr>
          <p:cNvPr id="327" name="图形 80" descr="用户 纯色填充"/>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157210" y="3121660"/>
            <a:ext cx="219710" cy="234315"/>
          </a:xfrm>
          <a:prstGeom prst="rect">
            <a:avLst/>
          </a:prstGeom>
        </p:spPr>
      </p:pic>
      <p:pic>
        <p:nvPicPr>
          <p:cNvPr id="328" name="图形 81" descr="用户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55330" y="3121660"/>
            <a:ext cx="219710" cy="234315"/>
          </a:xfrm>
          <a:prstGeom prst="rect">
            <a:avLst/>
          </a:prstGeom>
        </p:spPr>
      </p:pic>
      <p:pic>
        <p:nvPicPr>
          <p:cNvPr id="329" name="图形 82" descr="用户 纯色填充"/>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552815" y="3121660"/>
            <a:ext cx="219710" cy="234315"/>
          </a:xfrm>
          <a:prstGeom prst="rect">
            <a:avLst/>
          </a:prstGeom>
        </p:spPr>
      </p:pic>
      <p:pic>
        <p:nvPicPr>
          <p:cNvPr id="330" name="图形 83" descr="用户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750935" y="3121660"/>
            <a:ext cx="219710" cy="234315"/>
          </a:xfrm>
          <a:prstGeom prst="rect">
            <a:avLst/>
          </a:prstGeom>
        </p:spPr>
      </p:pic>
      <p:pic>
        <p:nvPicPr>
          <p:cNvPr id="331" name="图形 84" descr="用户 纯色填充"/>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948420" y="3121660"/>
            <a:ext cx="219710" cy="234315"/>
          </a:xfrm>
          <a:prstGeom prst="rect">
            <a:avLst/>
          </a:prstGeom>
        </p:spPr>
      </p:pic>
      <p:pic>
        <p:nvPicPr>
          <p:cNvPr id="332" name="图形 87" descr="用户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7959725" y="3387090"/>
            <a:ext cx="219710" cy="234315"/>
          </a:xfrm>
          <a:prstGeom prst="rect">
            <a:avLst/>
          </a:prstGeom>
        </p:spPr>
      </p:pic>
      <p:pic>
        <p:nvPicPr>
          <p:cNvPr id="335" name="图形 88" descr="用户 纯色填充"/>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157210" y="3387090"/>
            <a:ext cx="219710" cy="234315"/>
          </a:xfrm>
          <a:prstGeom prst="rect">
            <a:avLst/>
          </a:prstGeom>
        </p:spPr>
      </p:pic>
      <p:pic>
        <p:nvPicPr>
          <p:cNvPr id="338" name="图形 89" descr="用户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355330" y="3387090"/>
            <a:ext cx="219710" cy="234315"/>
          </a:xfrm>
          <a:prstGeom prst="rect">
            <a:avLst/>
          </a:prstGeom>
        </p:spPr>
      </p:pic>
      <p:pic>
        <p:nvPicPr>
          <p:cNvPr id="341" name="图形 90" descr="用户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8552815" y="3387090"/>
            <a:ext cx="219710" cy="234315"/>
          </a:xfrm>
          <a:prstGeom prst="rect">
            <a:avLst/>
          </a:prstGeom>
        </p:spPr>
      </p:pic>
      <p:pic>
        <p:nvPicPr>
          <p:cNvPr id="344" name="图形 91" descr="用户 纯色填充"/>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8750935" y="3387090"/>
            <a:ext cx="219710" cy="234315"/>
          </a:xfrm>
          <a:prstGeom prst="rect">
            <a:avLst/>
          </a:prstGeom>
        </p:spPr>
      </p:pic>
      <p:pic>
        <p:nvPicPr>
          <p:cNvPr id="347" name="图形 92" descr="用户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948420" y="3387090"/>
            <a:ext cx="219710" cy="234315"/>
          </a:xfrm>
          <a:prstGeom prst="rect">
            <a:avLst/>
          </a:prstGeom>
        </p:spPr>
      </p:pic>
      <p:pic>
        <p:nvPicPr>
          <p:cNvPr id="350" name="图形 95" descr="用户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959725" y="3663315"/>
            <a:ext cx="219710" cy="234315"/>
          </a:xfrm>
          <a:prstGeom prst="rect">
            <a:avLst/>
          </a:prstGeom>
        </p:spPr>
      </p:pic>
      <p:pic>
        <p:nvPicPr>
          <p:cNvPr id="353" name="图形 96" descr="用户 纯色填充"/>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8157210" y="3663315"/>
            <a:ext cx="219710" cy="234315"/>
          </a:xfrm>
          <a:prstGeom prst="rect">
            <a:avLst/>
          </a:prstGeom>
        </p:spPr>
      </p:pic>
      <p:pic>
        <p:nvPicPr>
          <p:cNvPr id="356" name="图形 97" descr="用户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8355330" y="3663315"/>
            <a:ext cx="219710" cy="234315"/>
          </a:xfrm>
          <a:prstGeom prst="rect">
            <a:avLst/>
          </a:prstGeom>
        </p:spPr>
      </p:pic>
      <p:pic>
        <p:nvPicPr>
          <p:cNvPr id="359" name="图形 98" descr="用户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8552815" y="3663315"/>
            <a:ext cx="219710" cy="234315"/>
          </a:xfrm>
          <a:prstGeom prst="rect">
            <a:avLst/>
          </a:prstGeom>
        </p:spPr>
      </p:pic>
      <p:pic>
        <p:nvPicPr>
          <p:cNvPr id="362" name="图形 99" descr="用户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8750935" y="3663315"/>
            <a:ext cx="219710" cy="234315"/>
          </a:xfrm>
          <a:prstGeom prst="rect">
            <a:avLst/>
          </a:prstGeom>
        </p:spPr>
      </p:pic>
      <p:pic>
        <p:nvPicPr>
          <p:cNvPr id="365" name="图形 100" descr="用户 纯色填充"/>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8948420" y="3663315"/>
            <a:ext cx="219710" cy="234315"/>
          </a:xfrm>
          <a:prstGeom prst="rect">
            <a:avLst/>
          </a:prstGeom>
        </p:spPr>
      </p:pic>
      <p:sp>
        <p:nvSpPr>
          <p:cNvPr id="368" name="箭头: 右 68"/>
          <p:cNvSpPr/>
          <p:nvPr/>
        </p:nvSpPr>
        <p:spPr>
          <a:xfrm rot="5400000" flipH="1">
            <a:off x="10000615" y="2545080"/>
            <a:ext cx="358140" cy="797560"/>
          </a:xfrm>
          <a:prstGeom prst="rightArrow">
            <a:avLst>
              <a:gd name="adj1" fmla="val 73539"/>
              <a:gd name="adj2" fmla="val 70643"/>
            </a:avLst>
          </a:prstGeom>
          <a:gradFill>
            <a:gsLst>
              <a:gs pos="0">
                <a:schemeClr val="accent1">
                  <a:lumMod val="60000"/>
                  <a:lumOff val="40000"/>
                  <a:alpha val="0"/>
                </a:schemeClr>
              </a:gs>
              <a:gs pos="99000">
                <a:schemeClr val="accent1">
                  <a:lumMod val="60000"/>
                  <a:lumOff val="40000"/>
                </a:schemeClr>
              </a:gs>
            </a:gsLst>
            <a:lin ang="0" scaled="1"/>
          </a:gradFill>
          <a:ln w="12700" cap="flat" cmpd="sng" algn="ctr">
            <a:gradFill flip="none" rotWithShape="1">
              <a:gsLst>
                <a:gs pos="0">
                  <a:schemeClr val="accent1">
                    <a:lumMod val="60000"/>
                    <a:lumOff val="40000"/>
                    <a:alpha val="0"/>
                  </a:schemeClr>
                </a:gs>
                <a:gs pos="99000">
                  <a:schemeClr val="accent1">
                    <a:lumMod val="60000"/>
                    <a:lumOff val="40000"/>
                  </a:schemeClr>
                </a:gs>
              </a:gsLst>
              <a:lin ang="0" scaled="1"/>
              <a:tileRect/>
            </a:gradFill>
            <a:prstDash val="solid"/>
            <a:miter lim="800000"/>
          </a:ln>
          <a:effectLst/>
        </p:spPr>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71" name="圆角矩形 370"/>
          <p:cNvSpPr/>
          <p:nvPr/>
        </p:nvSpPr>
        <p:spPr>
          <a:xfrm>
            <a:off x="632460" y="4281170"/>
            <a:ext cx="10971530" cy="1500505"/>
          </a:xfrm>
          <a:prstGeom prst="roundRect">
            <a:avLst>
              <a:gd name="adj" fmla="val 0"/>
            </a:avLst>
          </a:prstGeom>
          <a:solidFill>
            <a:schemeClr val="bg1"/>
          </a:solidFill>
          <a:ln w="6350">
            <a:solidFill>
              <a:schemeClr val="accent1">
                <a:lumMod val="20000"/>
                <a:lumOff val="80000"/>
              </a:schemeClr>
            </a:solidFill>
            <a:prstDash val="solid"/>
          </a:ln>
          <a:effectLst>
            <a:outerShdw blurRad="101600" sx="101000" sy="101000" algn="ctr" rotWithShape="0">
              <a:schemeClr val="accent1">
                <a:lumMod val="20000"/>
                <a:lumOff val="8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sz="1400" dirty="0">
              <a:solidFill>
                <a:srgbClr val="E7E6E6">
                  <a:lumMod val="2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374" name="圆角矩形 373"/>
          <p:cNvSpPr/>
          <p:nvPr/>
        </p:nvSpPr>
        <p:spPr>
          <a:xfrm>
            <a:off x="562610" y="4705355"/>
            <a:ext cx="1061085" cy="464185"/>
          </a:xfrm>
          <a:prstGeom prst="roundRect">
            <a:avLst>
              <a:gd name="adj" fmla="val 0"/>
            </a:avLst>
          </a:prstGeom>
          <a:gradFill flip="none" rotWithShape="1">
            <a:gsLst>
              <a:gs pos="0">
                <a:schemeClr val="accent1">
                  <a:lumMod val="50000"/>
                  <a:lumOff val="50000"/>
                </a:schemeClr>
              </a:gs>
              <a:gs pos="100000">
                <a:schemeClr val="accent1">
                  <a:lumMod val="60000"/>
                  <a:lumOff val="40000"/>
                </a:schemeClr>
              </a:gs>
            </a:gsLst>
            <a:lin ang="0" scaled="1"/>
            <a:tileRect/>
          </a:gradFill>
          <a:ln>
            <a:noFill/>
          </a:ln>
          <a:effectLst>
            <a:outerShdw blurRad="127000" dist="88900" dir="5400000" algn="t" rotWithShape="0">
              <a:schemeClr val="accent1">
                <a:lumMod val="60000"/>
                <a:lumOff val="40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sz="1200" dirty="0">
              <a:latin typeface="微软雅黑" panose="020B0503020204020204" charset="-122"/>
              <a:ea typeface="微软雅黑" panose="020B0503020204020204" charset="-122"/>
              <a:cs typeface="微软雅黑" panose="020B0503020204020204" charset="-122"/>
              <a:sym typeface="+mn-ea"/>
            </a:endParaRPr>
          </a:p>
        </p:txBody>
      </p:sp>
      <p:sp>
        <p:nvSpPr>
          <p:cNvPr id="377" name="文本框 376"/>
          <p:cNvSpPr txBox="1"/>
          <p:nvPr/>
        </p:nvSpPr>
        <p:spPr>
          <a:xfrm>
            <a:off x="646113" y="4784095"/>
            <a:ext cx="894080" cy="30670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平台服务</a:t>
            </a:r>
            <a:endParaRPr kumimoji="0" lang="zh-CN" altLang="en-US" sz="1400" b="1"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78" name="直角三角形 377"/>
          <p:cNvSpPr/>
          <p:nvPr/>
        </p:nvSpPr>
        <p:spPr>
          <a:xfrm flipH="1" flipV="1">
            <a:off x="562915" y="5169842"/>
            <a:ext cx="88824" cy="93277"/>
          </a:xfrm>
          <a:prstGeom prst="rtTriangle">
            <a:avLst/>
          </a:prstGeom>
          <a:solidFill>
            <a:schemeClr val="accent1"/>
          </a:solidFill>
          <a:ln>
            <a:noFill/>
          </a:ln>
          <a:effectLst>
            <a:outerShdw blurRad="127000" dist="88900"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sz="1200" dirty="0">
              <a:latin typeface="微软雅黑" panose="020B0503020204020204" charset="-122"/>
              <a:ea typeface="微软雅黑" panose="020B0503020204020204" charset="-122"/>
              <a:cs typeface="微软雅黑" panose="020B0503020204020204" charset="-122"/>
              <a:sym typeface="+mn-ea"/>
            </a:endParaRPr>
          </a:p>
        </p:txBody>
      </p:sp>
      <p:sp>
        <p:nvSpPr>
          <p:cNvPr id="433" name="矩形: 圆角 48"/>
          <p:cNvSpPr/>
          <p:nvPr/>
        </p:nvSpPr>
        <p:spPr>
          <a:xfrm>
            <a:off x="1939925" y="4409440"/>
            <a:ext cx="2341880" cy="1184910"/>
          </a:xfrm>
          <a:prstGeom prst="roundRect">
            <a:avLst>
              <a:gd name="adj" fmla="val 3602"/>
            </a:avLst>
          </a:prstGeom>
          <a:noFill/>
          <a:ln w="12700" cap="flat">
            <a:solidFill>
              <a:schemeClr val="accent1">
                <a:lumMod val="60000"/>
                <a:lumOff val="40000"/>
              </a:schemeClr>
            </a:solidFill>
            <a:custDash>
              <a:ds d="600000" sp="600000"/>
            </a:custDash>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434" name="矩形: 圆角 49"/>
          <p:cNvSpPr/>
          <p:nvPr/>
        </p:nvSpPr>
        <p:spPr>
          <a:xfrm>
            <a:off x="4427855" y="4409440"/>
            <a:ext cx="2336165" cy="1184910"/>
          </a:xfrm>
          <a:prstGeom prst="roundRect">
            <a:avLst>
              <a:gd name="adj" fmla="val 5002"/>
            </a:avLst>
          </a:prstGeom>
          <a:noFill/>
          <a:ln w="12700" cap="flat">
            <a:solidFill>
              <a:schemeClr val="accent1">
                <a:lumMod val="60000"/>
                <a:lumOff val="40000"/>
              </a:schemeClr>
            </a:solidFill>
            <a:custDash>
              <a:ds d="600000" sp="600000"/>
            </a:custDash>
            <a:miter/>
          </a:ln>
          <a:extLst>
            <a:ext uri="{909E8E84-426E-40DD-AFC4-6F175D3DCCD1}">
              <a14:hiddenFill xmlns:a14="http://schemas.microsoft.com/office/drawing/2010/main">
                <a:solidFill>
                  <a:schemeClr val="accent2">
                    <a:lumMod val="60000"/>
                    <a:lumOff val="40000"/>
                    <a:alpha val="50000"/>
                  </a:schemeClr>
                </a:solidFill>
              </a14:hiddenFill>
            </a:ext>
          </a:extLst>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435" name="矩形: 圆角 50"/>
          <p:cNvSpPr/>
          <p:nvPr/>
        </p:nvSpPr>
        <p:spPr>
          <a:xfrm>
            <a:off x="8864600" y="4409440"/>
            <a:ext cx="2357120" cy="1184275"/>
          </a:xfrm>
          <a:prstGeom prst="roundRect">
            <a:avLst>
              <a:gd name="adj" fmla="val 6460"/>
            </a:avLst>
          </a:prstGeom>
          <a:noFill/>
          <a:ln w="12700" cap="flat">
            <a:solidFill>
              <a:schemeClr val="accent1">
                <a:lumMod val="60000"/>
                <a:lumOff val="40000"/>
              </a:schemeClr>
            </a:solidFill>
            <a:custDash>
              <a:ds d="600000" sp="600000"/>
            </a:custDash>
            <a:miter/>
          </a:ln>
          <a:extLst>
            <a:ext uri="{909E8E84-426E-40DD-AFC4-6F175D3DCCD1}">
              <a14:hiddenFill xmlns:a14="http://schemas.microsoft.com/office/drawing/2010/main">
                <a:solidFill>
                  <a:schemeClr val="accent2">
                    <a:lumMod val="60000"/>
                    <a:lumOff val="40000"/>
                    <a:alpha val="50000"/>
                  </a:schemeClr>
                </a:solidFill>
              </a14:hiddenFill>
            </a:ext>
          </a:extLst>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436" name="矩形: 圆角 51"/>
          <p:cNvSpPr/>
          <p:nvPr/>
        </p:nvSpPr>
        <p:spPr>
          <a:xfrm>
            <a:off x="6880860" y="4409440"/>
            <a:ext cx="1866900" cy="1184910"/>
          </a:xfrm>
          <a:prstGeom prst="roundRect">
            <a:avLst>
              <a:gd name="adj" fmla="val 4710"/>
            </a:avLst>
          </a:prstGeom>
          <a:noFill/>
          <a:ln w="12700" cap="flat">
            <a:solidFill>
              <a:schemeClr val="accent1">
                <a:lumMod val="60000"/>
                <a:lumOff val="40000"/>
              </a:schemeClr>
            </a:solidFill>
            <a:custDash>
              <a:ds d="600000" sp="600000"/>
            </a:custDash>
            <a:miter/>
          </a:ln>
          <a:extLst>
            <a:ext uri="{909E8E84-426E-40DD-AFC4-6F175D3DCCD1}">
              <a14:hiddenFill xmlns:a14="http://schemas.microsoft.com/office/drawing/2010/main">
                <a:solidFill>
                  <a:schemeClr val="accent2">
                    <a:lumMod val="60000"/>
                    <a:lumOff val="40000"/>
                    <a:alpha val="50000"/>
                  </a:schemeClr>
                </a:solidFill>
              </a14:hiddenFill>
            </a:ext>
          </a:extLst>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437" name="矩形: 圆角 56"/>
          <p:cNvSpPr/>
          <p:nvPr/>
        </p:nvSpPr>
        <p:spPr>
          <a:xfrm>
            <a:off x="2025080" y="4774082"/>
            <a:ext cx="1031872" cy="288000"/>
          </a:xfrm>
          <a:prstGeom prst="round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438" name="矩形: 圆角 57"/>
          <p:cNvSpPr/>
          <p:nvPr/>
        </p:nvSpPr>
        <p:spPr>
          <a:xfrm>
            <a:off x="4512980" y="4774082"/>
            <a:ext cx="1031872" cy="288000"/>
          </a:xfrm>
          <a:prstGeom prst="round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439" name="矩形: 圆角 58"/>
          <p:cNvSpPr/>
          <p:nvPr/>
        </p:nvSpPr>
        <p:spPr>
          <a:xfrm>
            <a:off x="8949542" y="4774082"/>
            <a:ext cx="1031872" cy="288000"/>
          </a:xfrm>
          <a:prstGeom prst="round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440" name="矩形: 圆角 59"/>
          <p:cNvSpPr/>
          <p:nvPr/>
        </p:nvSpPr>
        <p:spPr>
          <a:xfrm>
            <a:off x="6972077" y="4774082"/>
            <a:ext cx="1688083" cy="288000"/>
          </a:xfrm>
          <a:prstGeom prst="round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441" name="矩形: 圆角 60"/>
          <p:cNvSpPr/>
          <p:nvPr/>
        </p:nvSpPr>
        <p:spPr>
          <a:xfrm>
            <a:off x="3157932" y="4774082"/>
            <a:ext cx="1031872" cy="288000"/>
          </a:xfrm>
          <a:prstGeom prst="round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442" name="矩形: 圆角 61"/>
          <p:cNvSpPr/>
          <p:nvPr/>
        </p:nvSpPr>
        <p:spPr>
          <a:xfrm>
            <a:off x="5645832" y="4774082"/>
            <a:ext cx="1031872" cy="288000"/>
          </a:xfrm>
          <a:prstGeom prst="round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443" name="矩形: 圆角 62"/>
          <p:cNvSpPr/>
          <p:nvPr/>
        </p:nvSpPr>
        <p:spPr>
          <a:xfrm>
            <a:off x="10082412" y="4774082"/>
            <a:ext cx="1031872" cy="288000"/>
          </a:xfrm>
          <a:prstGeom prst="round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444" name="矩形: 圆角 63"/>
          <p:cNvSpPr/>
          <p:nvPr/>
        </p:nvSpPr>
        <p:spPr>
          <a:xfrm>
            <a:off x="3157932" y="5182921"/>
            <a:ext cx="1031872" cy="288000"/>
          </a:xfrm>
          <a:prstGeom prst="round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445" name="矩形: 圆角 64"/>
          <p:cNvSpPr/>
          <p:nvPr/>
        </p:nvSpPr>
        <p:spPr>
          <a:xfrm>
            <a:off x="5645832" y="5182921"/>
            <a:ext cx="1031872" cy="288000"/>
          </a:xfrm>
          <a:prstGeom prst="round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446" name="矩形: 圆角 65"/>
          <p:cNvSpPr/>
          <p:nvPr/>
        </p:nvSpPr>
        <p:spPr>
          <a:xfrm>
            <a:off x="10082412" y="5182921"/>
            <a:ext cx="1031872" cy="288000"/>
          </a:xfrm>
          <a:prstGeom prst="round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447" name="矩形: 圆角 66"/>
          <p:cNvSpPr/>
          <p:nvPr/>
        </p:nvSpPr>
        <p:spPr>
          <a:xfrm>
            <a:off x="2025080" y="5182921"/>
            <a:ext cx="1031872" cy="288000"/>
          </a:xfrm>
          <a:prstGeom prst="round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448" name="矩形: 圆角 67"/>
          <p:cNvSpPr/>
          <p:nvPr/>
        </p:nvSpPr>
        <p:spPr>
          <a:xfrm>
            <a:off x="4512980" y="5182921"/>
            <a:ext cx="1031872" cy="288000"/>
          </a:xfrm>
          <a:prstGeom prst="round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449" name="矩形: 圆角 68"/>
          <p:cNvSpPr/>
          <p:nvPr/>
        </p:nvSpPr>
        <p:spPr>
          <a:xfrm>
            <a:off x="8949542" y="5182921"/>
            <a:ext cx="1031872" cy="288000"/>
          </a:xfrm>
          <a:prstGeom prst="round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450" name="矩形: 圆角 69"/>
          <p:cNvSpPr/>
          <p:nvPr/>
        </p:nvSpPr>
        <p:spPr>
          <a:xfrm>
            <a:off x="6965924" y="5182921"/>
            <a:ext cx="1694211" cy="288000"/>
          </a:xfrm>
          <a:prstGeom prst="round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451" name="文本框 450"/>
          <p:cNvSpPr txBox="1"/>
          <p:nvPr/>
        </p:nvSpPr>
        <p:spPr>
          <a:xfrm>
            <a:off x="2598592" y="4449706"/>
            <a:ext cx="1024890" cy="260350"/>
          </a:xfrm>
          <a:prstGeom prst="rect">
            <a:avLst/>
          </a:prstGeom>
          <a:noFill/>
        </p:spPr>
        <p:txBody>
          <a:bodyPr wrap="none" rtlCol="0">
            <a:spAutoFit/>
          </a:bodyPr>
          <a:lstStyle/>
          <a:p>
            <a:pPr algn="ctr"/>
            <a:r>
              <a:rPr lang="zh-CN" altLang="en-US" sz="11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空间数据托管</a:t>
            </a:r>
            <a:endParaRPr lang="zh-CN" altLang="en-US" sz="11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452" name="文本框 451"/>
          <p:cNvSpPr txBox="1"/>
          <p:nvPr/>
        </p:nvSpPr>
        <p:spPr>
          <a:xfrm>
            <a:off x="5273722" y="4449706"/>
            <a:ext cx="744220" cy="260350"/>
          </a:xfrm>
          <a:prstGeom prst="rect">
            <a:avLst/>
          </a:prstGeom>
          <a:noFill/>
        </p:spPr>
        <p:txBody>
          <a:bodyPr wrap="none" rtlCol="0">
            <a:spAutoFit/>
          </a:bodyPr>
          <a:lstStyle/>
          <a:p>
            <a:pPr algn="ctr"/>
            <a:r>
              <a:rPr lang="zh-CN" altLang="en-US" sz="11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空间检索</a:t>
            </a:r>
            <a:endParaRPr lang="zh-CN" altLang="en-US" sz="11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453" name="文本框 452"/>
          <p:cNvSpPr txBox="1"/>
          <p:nvPr/>
        </p:nvSpPr>
        <p:spPr>
          <a:xfrm>
            <a:off x="7440919" y="4449706"/>
            <a:ext cx="744220" cy="260350"/>
          </a:xfrm>
          <a:prstGeom prst="rect">
            <a:avLst/>
          </a:prstGeom>
          <a:noFill/>
        </p:spPr>
        <p:txBody>
          <a:bodyPr wrap="none" rtlCol="0">
            <a:spAutoFit/>
          </a:bodyPr>
          <a:lstStyle/>
          <a:p>
            <a:pPr algn="ctr"/>
            <a:r>
              <a:rPr lang="zh-CN" altLang="en-US" sz="11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空间计算</a:t>
            </a:r>
            <a:endParaRPr lang="zh-CN" altLang="en-US" sz="11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454" name="文本框 453"/>
          <p:cNvSpPr txBox="1"/>
          <p:nvPr/>
        </p:nvSpPr>
        <p:spPr>
          <a:xfrm>
            <a:off x="9563985" y="4449706"/>
            <a:ext cx="953135" cy="260350"/>
          </a:xfrm>
          <a:prstGeom prst="rect">
            <a:avLst/>
          </a:prstGeom>
          <a:noFill/>
        </p:spPr>
        <p:txBody>
          <a:bodyPr wrap="none" rtlCol="0">
            <a:spAutoFit/>
          </a:bodyPr>
          <a:lstStyle/>
          <a:p>
            <a:pPr algn="ctr"/>
            <a:r>
              <a:rPr lang="en-US" altLang="zh-CN" sz="11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GIS</a:t>
            </a:r>
            <a:r>
              <a:rPr lang="zh-CN" altLang="en-US" sz="11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模型服务</a:t>
            </a:r>
            <a:endParaRPr lang="zh-CN" altLang="en-US" sz="11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455" name="文本框 454"/>
          <p:cNvSpPr txBox="1"/>
          <p:nvPr/>
        </p:nvSpPr>
        <p:spPr>
          <a:xfrm>
            <a:off x="2192202" y="4772695"/>
            <a:ext cx="697627" cy="288000"/>
          </a:xfrm>
          <a:prstGeom prst="rect">
            <a:avLst/>
          </a:prstGeom>
          <a:noFill/>
          <a:extLst>
            <a:ext uri="{909E8E84-426E-40DD-AFC4-6F175D3DCCD1}">
              <a14:hiddenFill xmlns:a14="http://schemas.microsoft.com/office/drawing/2010/main">
                <a:solidFill>
                  <a:schemeClr val="accent2">
                    <a:lumMod val="60000"/>
                    <a:lumOff val="40000"/>
                  </a:schemeClr>
                </a:solidFill>
              </a14:hiddenFill>
            </a:ext>
          </a:extLst>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数据存储</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56" name="文本框 455"/>
          <p:cNvSpPr txBox="1"/>
          <p:nvPr/>
        </p:nvSpPr>
        <p:spPr>
          <a:xfrm>
            <a:off x="2192201" y="5201210"/>
            <a:ext cx="697628" cy="288000"/>
          </a:xfrm>
          <a:prstGeom prst="rect">
            <a:avLst/>
          </a:prstGeom>
          <a:noFill/>
          <a:extLst>
            <a:ext uri="{909E8E84-426E-40DD-AFC4-6F175D3DCCD1}">
              <a14:hiddenFill xmlns:a14="http://schemas.microsoft.com/office/drawing/2010/main">
                <a:solidFill>
                  <a:schemeClr val="accent2">
                    <a:lumMod val="60000"/>
                    <a:lumOff val="40000"/>
                  </a:schemeClr>
                </a:solidFill>
              </a14:hiddenFill>
            </a:ext>
          </a:extLst>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数据查询</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57" name="文本框 456"/>
          <p:cNvSpPr txBox="1"/>
          <p:nvPr/>
        </p:nvSpPr>
        <p:spPr>
          <a:xfrm>
            <a:off x="3325997" y="4772695"/>
            <a:ext cx="697628" cy="288000"/>
          </a:xfrm>
          <a:prstGeom prst="rect">
            <a:avLst/>
          </a:prstGeom>
          <a:noFill/>
          <a:extLst>
            <a:ext uri="{909E8E84-426E-40DD-AFC4-6F175D3DCCD1}">
              <a14:hiddenFill xmlns:a14="http://schemas.microsoft.com/office/drawing/2010/main">
                <a:solidFill>
                  <a:schemeClr val="accent2">
                    <a:lumMod val="60000"/>
                    <a:lumOff val="40000"/>
                  </a:schemeClr>
                </a:solidFill>
              </a14:hiddenFill>
            </a:ext>
          </a:extLst>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数据编辑</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58" name="文本框 457"/>
          <p:cNvSpPr txBox="1"/>
          <p:nvPr/>
        </p:nvSpPr>
        <p:spPr>
          <a:xfrm>
            <a:off x="3325997" y="5201210"/>
            <a:ext cx="697628" cy="288000"/>
          </a:xfrm>
          <a:prstGeom prst="rect">
            <a:avLst/>
          </a:prstGeom>
          <a:noFill/>
          <a:extLst>
            <a:ext uri="{909E8E84-426E-40DD-AFC4-6F175D3DCCD1}">
              <a14:hiddenFill xmlns:a14="http://schemas.microsoft.com/office/drawing/2010/main">
                <a:solidFill>
                  <a:schemeClr val="accent2">
                    <a:lumMod val="60000"/>
                    <a:lumOff val="40000"/>
                  </a:schemeClr>
                </a:solidFill>
              </a14:hiddenFill>
            </a:ext>
          </a:extLst>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数据同步</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59" name="文本框 458"/>
          <p:cNvSpPr txBox="1"/>
          <p:nvPr/>
        </p:nvSpPr>
        <p:spPr>
          <a:xfrm>
            <a:off x="4680103" y="4772695"/>
            <a:ext cx="697628" cy="288000"/>
          </a:xfrm>
          <a:prstGeom prst="rect">
            <a:avLst/>
          </a:prstGeom>
          <a:noFill/>
          <a:extLst>
            <a:ext uri="{909E8E84-426E-40DD-AFC4-6F175D3DCCD1}">
              <a14:hiddenFill xmlns:a14="http://schemas.microsoft.com/office/drawing/2010/main">
                <a:solidFill>
                  <a:schemeClr val="accent2">
                    <a:lumMod val="60000"/>
                    <a:lumOff val="40000"/>
                  </a:schemeClr>
                </a:solidFill>
              </a14:hiddenFill>
            </a:ext>
          </a:extLst>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周边检索</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60" name="文本框 459"/>
          <p:cNvSpPr txBox="1"/>
          <p:nvPr/>
        </p:nvSpPr>
        <p:spPr>
          <a:xfrm>
            <a:off x="4551865" y="5201210"/>
            <a:ext cx="954107" cy="288000"/>
          </a:xfrm>
          <a:prstGeom prst="rect">
            <a:avLst/>
          </a:prstGeom>
          <a:noFill/>
          <a:extLst>
            <a:ext uri="{909E8E84-426E-40DD-AFC4-6F175D3DCCD1}">
              <a14:hiddenFill xmlns:a14="http://schemas.microsoft.com/office/drawing/2010/main">
                <a:solidFill>
                  <a:schemeClr val="accent2">
                    <a:lumMod val="60000"/>
                    <a:lumOff val="40000"/>
                  </a:schemeClr>
                </a:solidFill>
              </a14:hiddenFill>
            </a:ext>
          </a:extLst>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区块相交查询</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61" name="文本框 460"/>
          <p:cNvSpPr txBox="1"/>
          <p:nvPr/>
        </p:nvSpPr>
        <p:spPr>
          <a:xfrm>
            <a:off x="5807696" y="4772695"/>
            <a:ext cx="697628" cy="288000"/>
          </a:xfrm>
          <a:prstGeom prst="rect">
            <a:avLst/>
          </a:prstGeom>
          <a:noFill/>
          <a:extLst>
            <a:ext uri="{909E8E84-426E-40DD-AFC4-6F175D3DCCD1}">
              <a14:hiddenFill xmlns:a14="http://schemas.microsoft.com/office/drawing/2010/main">
                <a:solidFill>
                  <a:schemeClr val="accent2">
                    <a:lumMod val="60000"/>
                    <a:lumOff val="40000"/>
                  </a:schemeClr>
                </a:solidFill>
              </a14:hiddenFill>
            </a:ext>
          </a:extLst>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多边检索</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62" name="文本框 461"/>
          <p:cNvSpPr txBox="1"/>
          <p:nvPr/>
        </p:nvSpPr>
        <p:spPr>
          <a:xfrm>
            <a:off x="5698692" y="5201210"/>
            <a:ext cx="915636" cy="288000"/>
          </a:xfrm>
          <a:prstGeom prst="rect">
            <a:avLst/>
          </a:prstGeom>
          <a:noFill/>
          <a:extLst>
            <a:ext uri="{909E8E84-426E-40DD-AFC4-6F175D3DCCD1}">
              <a14:hiddenFill xmlns:a14="http://schemas.microsoft.com/office/drawing/2010/main">
                <a:solidFill>
                  <a:schemeClr val="accent2">
                    <a:lumMod val="60000"/>
                    <a:lumOff val="40000"/>
                  </a:schemeClr>
                </a:solidFill>
              </a14:hiddenFill>
            </a:ext>
          </a:extLst>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检索高德</a:t>
            </a:r>
            <a:r>
              <a:rPr lang="en-US" altLang="zh-CN" sz="1000" dirty="0">
                <a:solidFill>
                  <a:schemeClr val="bg1"/>
                </a:solidFill>
                <a:latin typeface="微软雅黑" panose="020B0503020204020204" charset="-122"/>
                <a:ea typeface="微软雅黑" panose="020B0503020204020204" charset="-122"/>
                <a:cs typeface="微软雅黑" panose="020B0503020204020204" charset="-122"/>
              </a:rPr>
              <a:t>AOI</a:t>
            </a:r>
            <a:endParaRPr lang="en-US" altLang="zh-CN"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63" name="文本框 462"/>
          <p:cNvSpPr txBox="1"/>
          <p:nvPr/>
        </p:nvSpPr>
        <p:spPr>
          <a:xfrm>
            <a:off x="7323888" y="4772695"/>
            <a:ext cx="954107" cy="288000"/>
          </a:xfrm>
          <a:prstGeom prst="rect">
            <a:avLst/>
          </a:prstGeom>
          <a:noFill/>
          <a:extLst>
            <a:ext uri="{909E8E84-426E-40DD-AFC4-6F175D3DCCD1}">
              <a14:hiddenFill xmlns:a14="http://schemas.microsoft.com/office/drawing/2010/main">
                <a:solidFill>
                  <a:schemeClr val="accent2">
                    <a:lumMod val="60000"/>
                    <a:lumOff val="40000"/>
                  </a:schemeClr>
                </a:solidFill>
              </a14:hiddenFill>
            </a:ext>
          </a:extLst>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业务数据运营</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64" name="文本框 463"/>
          <p:cNvSpPr txBox="1"/>
          <p:nvPr/>
        </p:nvSpPr>
        <p:spPr>
          <a:xfrm>
            <a:off x="7323886" y="5201210"/>
            <a:ext cx="954107" cy="288000"/>
          </a:xfrm>
          <a:prstGeom prst="rect">
            <a:avLst/>
          </a:prstGeom>
          <a:noFill/>
          <a:extLst>
            <a:ext uri="{909E8E84-426E-40DD-AFC4-6F175D3DCCD1}">
              <a14:hiddenFill xmlns:a14="http://schemas.microsoft.com/office/drawing/2010/main">
                <a:solidFill>
                  <a:schemeClr val="accent2">
                    <a:lumMod val="60000"/>
                    <a:lumOff val="40000"/>
                  </a:schemeClr>
                </a:solidFill>
              </a14:hiddenFill>
            </a:ext>
          </a:extLst>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数据融合计算</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65" name="文本框 464"/>
          <p:cNvSpPr txBox="1"/>
          <p:nvPr/>
        </p:nvSpPr>
        <p:spPr>
          <a:xfrm>
            <a:off x="8949919" y="4772695"/>
            <a:ext cx="1013419" cy="288000"/>
          </a:xfrm>
          <a:prstGeom prst="rect">
            <a:avLst/>
          </a:prstGeom>
          <a:noFill/>
          <a:extLst>
            <a:ext uri="{909E8E84-426E-40DD-AFC4-6F175D3DCCD1}">
              <a14:hiddenFill xmlns:a14="http://schemas.microsoft.com/office/drawing/2010/main">
                <a:solidFill>
                  <a:schemeClr val="accent2">
                    <a:lumMod val="60000"/>
                    <a:lumOff val="40000"/>
                  </a:schemeClr>
                </a:solidFill>
              </a14:hiddenFill>
            </a:ext>
          </a:extLst>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等时圈</a:t>
            </a:r>
            <a:r>
              <a:rPr lang="en-US" sz="1000"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等距圈</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66" name="文本框 465"/>
          <p:cNvSpPr txBox="1"/>
          <p:nvPr/>
        </p:nvSpPr>
        <p:spPr>
          <a:xfrm>
            <a:off x="9107813" y="5201210"/>
            <a:ext cx="697628" cy="288000"/>
          </a:xfrm>
          <a:prstGeom prst="rect">
            <a:avLst/>
          </a:prstGeom>
          <a:noFill/>
          <a:extLst>
            <a:ext uri="{909E8E84-426E-40DD-AFC4-6F175D3DCCD1}">
              <a14:hiddenFill xmlns:a14="http://schemas.microsoft.com/office/drawing/2010/main">
                <a:solidFill>
                  <a:schemeClr val="accent2">
                    <a:lumMod val="60000"/>
                    <a:lumOff val="40000"/>
                  </a:schemeClr>
                </a:solidFill>
              </a14:hiddenFill>
            </a:ext>
          </a:extLst>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智能分区</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67" name="文本框 466"/>
          <p:cNvSpPr txBox="1"/>
          <p:nvPr/>
        </p:nvSpPr>
        <p:spPr>
          <a:xfrm>
            <a:off x="10226040" y="4772695"/>
            <a:ext cx="772160" cy="288000"/>
          </a:xfrm>
          <a:prstGeom prst="rect">
            <a:avLst/>
          </a:prstGeom>
          <a:noFill/>
          <a:extLst>
            <a:ext uri="{909E8E84-426E-40DD-AFC4-6F175D3DCCD1}">
              <a14:hiddenFill xmlns:a14="http://schemas.microsoft.com/office/drawing/2010/main">
                <a:solidFill>
                  <a:schemeClr val="accent2">
                    <a:lumMod val="60000"/>
                    <a:lumOff val="40000"/>
                  </a:schemeClr>
                </a:solidFill>
              </a14:hiddenFill>
            </a:ext>
          </a:extLst>
        </p:spPr>
        <p:txBody>
          <a:bodyPr wrap="square" rtlCol="0">
            <a:sp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自然街区</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68" name="文本框 467"/>
          <p:cNvSpPr txBox="1"/>
          <p:nvPr/>
        </p:nvSpPr>
        <p:spPr>
          <a:xfrm>
            <a:off x="10097552" y="5201210"/>
            <a:ext cx="954107" cy="288000"/>
          </a:xfrm>
          <a:prstGeom prst="rect">
            <a:avLst/>
          </a:prstGeom>
          <a:noFill/>
          <a:extLst>
            <a:ext uri="{909E8E84-426E-40DD-AFC4-6F175D3DCCD1}">
              <a14:hiddenFill xmlns:a14="http://schemas.microsoft.com/office/drawing/2010/main">
                <a:solidFill>
                  <a:schemeClr val="accent2">
                    <a:lumMod val="60000"/>
                    <a:lumOff val="40000"/>
                  </a:schemeClr>
                </a:solidFill>
              </a14:hiddenFill>
            </a:ext>
          </a:extLst>
        </p:spPr>
        <p:txBody>
          <a:bodyPr wrap="none" rtlCol="0">
            <a:spAutoFit/>
          </a:bodyPr>
          <a:lstStyle/>
          <a:p>
            <a:pPr algn="ct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线路排程服务</a:t>
            </a:r>
            <a:endParaRPr lang="zh-CN" altLang="en-US" sz="10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69" name="圆角矩形 468"/>
          <p:cNvSpPr/>
          <p:nvPr/>
        </p:nvSpPr>
        <p:spPr>
          <a:xfrm>
            <a:off x="628650" y="5899150"/>
            <a:ext cx="10974070" cy="608330"/>
          </a:xfrm>
          <a:prstGeom prst="roundRect">
            <a:avLst>
              <a:gd name="adj" fmla="val 0"/>
            </a:avLst>
          </a:prstGeom>
          <a:solidFill>
            <a:schemeClr val="bg1"/>
          </a:solidFill>
          <a:ln w="6350">
            <a:solidFill>
              <a:schemeClr val="accent1">
                <a:lumMod val="20000"/>
                <a:lumOff val="80000"/>
              </a:schemeClr>
            </a:solidFill>
            <a:prstDash val="solid"/>
          </a:ln>
          <a:effectLst>
            <a:outerShdw blurRad="101600" sx="101000" sy="101000" algn="ctr" rotWithShape="0">
              <a:schemeClr val="accent1">
                <a:lumMod val="20000"/>
                <a:lumOff val="8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sz="1400" dirty="0">
              <a:solidFill>
                <a:srgbClr val="E7E6E6">
                  <a:lumMod val="2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470" name="圆角矩形 469"/>
          <p:cNvSpPr/>
          <p:nvPr/>
        </p:nvSpPr>
        <p:spPr>
          <a:xfrm>
            <a:off x="547370" y="5986145"/>
            <a:ext cx="1075690" cy="367030"/>
          </a:xfrm>
          <a:prstGeom prst="roundRect">
            <a:avLst>
              <a:gd name="adj" fmla="val 0"/>
            </a:avLst>
          </a:prstGeom>
          <a:gradFill flip="none" rotWithShape="1">
            <a:gsLst>
              <a:gs pos="0">
                <a:schemeClr val="accent1">
                  <a:lumMod val="80000"/>
                  <a:lumOff val="20000"/>
                </a:schemeClr>
              </a:gs>
              <a:gs pos="100000">
                <a:schemeClr val="accent1"/>
              </a:gs>
            </a:gsLst>
            <a:lin ang="0" scaled="1"/>
            <a:tileRect/>
          </a:gradFill>
          <a:ln>
            <a:noFill/>
          </a:ln>
          <a:effectLst>
            <a:outerShdw blurRad="127000" dist="88900" dir="5400000" algn="t" rotWithShape="0">
              <a:schemeClr val="accent1">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sz="1200" dirty="0">
              <a:latin typeface="微软雅黑" panose="020B0503020204020204" charset="-122"/>
              <a:ea typeface="微软雅黑" panose="020B0503020204020204" charset="-122"/>
              <a:cs typeface="微软雅黑" panose="020B0503020204020204" charset="-122"/>
              <a:sym typeface="+mn-ea"/>
            </a:endParaRPr>
          </a:p>
        </p:txBody>
      </p:sp>
      <p:sp>
        <p:nvSpPr>
          <p:cNvPr id="471" name="文本框 470"/>
          <p:cNvSpPr txBox="1"/>
          <p:nvPr/>
        </p:nvSpPr>
        <p:spPr>
          <a:xfrm>
            <a:off x="639241" y="6031953"/>
            <a:ext cx="792480" cy="275590"/>
          </a:xfrm>
          <a:prstGeom prst="rect">
            <a:avLst/>
          </a:prstGeom>
          <a:noFill/>
        </p:spPr>
        <p:txBody>
          <a:bodyPr wrap="none" rtlCol="0">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sz="1200" b="1"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数据服务</a:t>
            </a:r>
            <a:endParaRPr kumimoji="0" lang="zh-CN" sz="1200" b="1"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72" name="直角三角形 471"/>
          <p:cNvSpPr/>
          <p:nvPr/>
        </p:nvSpPr>
        <p:spPr>
          <a:xfrm flipH="1" flipV="1">
            <a:off x="545694" y="6342429"/>
            <a:ext cx="88824" cy="93277"/>
          </a:xfrm>
          <a:prstGeom prst="rtTriangle">
            <a:avLst/>
          </a:prstGeom>
          <a:solidFill>
            <a:schemeClr val="accent1">
              <a:lumMod val="75000"/>
            </a:schemeClr>
          </a:solidFill>
          <a:ln>
            <a:noFill/>
          </a:ln>
          <a:effectLst>
            <a:outerShdw blurRad="127000" dist="88900" dir="5400000" algn="t" rotWithShape="0">
              <a:schemeClr val="accent3">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sz="1200" dirty="0">
              <a:latin typeface="微软雅黑" panose="020B0503020204020204" charset="-122"/>
              <a:ea typeface="微软雅黑" panose="020B0503020204020204" charset="-122"/>
              <a:cs typeface="微软雅黑" panose="020B0503020204020204" charset="-122"/>
              <a:sym typeface="+mn-ea"/>
            </a:endParaRPr>
          </a:p>
        </p:txBody>
      </p:sp>
      <p:grpSp>
        <p:nvGrpSpPr>
          <p:cNvPr id="491" name="组合 490"/>
          <p:cNvGrpSpPr/>
          <p:nvPr/>
        </p:nvGrpSpPr>
        <p:grpSpPr>
          <a:xfrm>
            <a:off x="1934210" y="6000115"/>
            <a:ext cx="1769110" cy="372110"/>
            <a:chOff x="2902" y="9449"/>
            <a:chExt cx="2786" cy="586"/>
          </a:xfrm>
        </p:grpSpPr>
        <p:sp>
          <p:nvSpPr>
            <p:cNvPr id="475" name="矩形: 圆角 84"/>
            <p:cNvSpPr/>
            <p:nvPr/>
          </p:nvSpPr>
          <p:spPr>
            <a:xfrm>
              <a:off x="2902" y="9449"/>
              <a:ext cx="2787" cy="586"/>
            </a:xfrm>
            <a:prstGeom prst="roundRect">
              <a:avLst/>
            </a:prstGeom>
            <a:solidFill>
              <a:schemeClr val="accent1">
                <a:lumMod val="20000"/>
                <a:lumOff val="80000"/>
                <a:alpha val="50000"/>
              </a:schemeClr>
            </a:solidFill>
            <a:ln w="6340" cap="flat">
              <a:solidFill>
                <a:schemeClr val="accent1"/>
              </a:solidFill>
              <a:prstDash val="solid"/>
              <a:miter/>
            </a:ln>
          </p:spPr>
          <p:txBody>
            <a:bodyPr rtlCol="0" anchor="ctr"/>
            <a:lstStyle/>
            <a:p>
              <a:endParaRPr lang="en-US">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85" name="文本框 484"/>
            <p:cNvSpPr txBox="1"/>
            <p:nvPr/>
          </p:nvSpPr>
          <p:spPr>
            <a:xfrm>
              <a:off x="3040" y="9540"/>
              <a:ext cx="2512" cy="376"/>
            </a:xfrm>
            <a:prstGeom prst="rect">
              <a:avLst/>
            </a:prstGeom>
            <a:noFill/>
            <a:ln>
              <a:noFill/>
            </a:ln>
            <a:extLst>
              <a:ext uri="{909E8E84-426E-40DD-AFC4-6F175D3DCCD1}">
                <a14:hiddenFill xmlns:a14="http://schemas.microsoft.com/office/drawing/2010/main">
                  <a:solidFill>
                    <a:schemeClr val="accent1">
                      <a:alpha val="50000"/>
                    </a:schemeClr>
                  </a:solidFill>
                </a14:hiddenFill>
              </a:ext>
            </a:extLst>
          </p:spPr>
          <p:txBody>
            <a:bodyPr wrap="none" rtlCol="0">
              <a:noAutofit/>
            </a:bodyPr>
            <a:lstStyle/>
            <a:p>
              <a:pPr algn="ctr"/>
              <a:r>
                <a:rPr lang="zh-CN" altLang="en-US" sz="1100" dirty="0">
                  <a:solidFill>
                    <a:schemeClr val="accent1"/>
                  </a:solidFill>
                  <a:latin typeface="微软雅黑" panose="020B0503020204020204" charset="-122"/>
                  <a:ea typeface="微软雅黑" panose="020B0503020204020204" charset="-122"/>
                  <a:cs typeface="微软雅黑" panose="020B0503020204020204" charset="-122"/>
                </a:rPr>
                <a:t>企业业务数据存储服务</a:t>
              </a:r>
              <a:endParaRPr lang="zh-CN" altLang="en-US" sz="1100" dirty="0">
                <a:solidFill>
                  <a:schemeClr val="accent1"/>
                </a:solidFill>
                <a:latin typeface="微软雅黑" panose="020B0503020204020204" charset="-122"/>
                <a:ea typeface="微软雅黑" panose="020B0503020204020204" charset="-122"/>
                <a:cs typeface="微软雅黑" panose="020B0503020204020204" charset="-122"/>
              </a:endParaRPr>
            </a:p>
          </p:txBody>
        </p:sp>
      </p:grpSp>
      <p:grpSp>
        <p:nvGrpSpPr>
          <p:cNvPr id="494" name="组合 493"/>
          <p:cNvGrpSpPr/>
          <p:nvPr/>
        </p:nvGrpSpPr>
        <p:grpSpPr>
          <a:xfrm>
            <a:off x="3816985" y="6000115"/>
            <a:ext cx="1769110" cy="372110"/>
            <a:chOff x="5864" y="9449"/>
            <a:chExt cx="2786" cy="586"/>
          </a:xfrm>
        </p:grpSpPr>
        <p:sp>
          <p:nvSpPr>
            <p:cNvPr id="476" name="矩形: 圆角 85"/>
            <p:cNvSpPr/>
            <p:nvPr/>
          </p:nvSpPr>
          <p:spPr>
            <a:xfrm>
              <a:off x="5864" y="9449"/>
              <a:ext cx="2787" cy="586"/>
            </a:xfrm>
            <a:prstGeom prst="roundRect">
              <a:avLst/>
            </a:prstGeom>
            <a:solidFill>
              <a:schemeClr val="accent1">
                <a:lumMod val="20000"/>
                <a:lumOff val="80000"/>
                <a:alpha val="50000"/>
              </a:schemeClr>
            </a:solidFill>
            <a:ln w="6340" cap="flat">
              <a:solidFill>
                <a:schemeClr val="accent1"/>
              </a:solidFill>
              <a:prstDash val="solid"/>
              <a:miter/>
            </a:ln>
          </p:spPr>
          <p:txBody>
            <a:bodyPr rtlCol="0" anchor="ctr">
              <a:noAutofit/>
            </a:bodyPr>
            <a:lstStyle/>
            <a:p>
              <a:pPr lvl="0" algn="l">
                <a:buClrTx/>
                <a:buSzTx/>
                <a:buFontTx/>
              </a:pPr>
              <a:endParaRPr lang="en-US">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486" name="文本框 485"/>
            <p:cNvSpPr txBox="1"/>
            <p:nvPr/>
          </p:nvSpPr>
          <p:spPr>
            <a:xfrm>
              <a:off x="6268" y="9540"/>
              <a:ext cx="1980" cy="376"/>
            </a:xfrm>
            <a:prstGeom prst="rect">
              <a:avLst/>
            </a:prstGeom>
            <a:noFill/>
            <a:ln>
              <a:noFill/>
            </a:ln>
            <a:extLst>
              <a:ext uri="{909E8E84-426E-40DD-AFC4-6F175D3DCCD1}">
                <a14:hiddenFill xmlns:a14="http://schemas.microsoft.com/office/drawing/2010/main">
                  <a:solidFill>
                    <a:schemeClr val="accent1">
                      <a:alpha val="50000"/>
                    </a:schemeClr>
                  </a:solidFill>
                </a14:hiddenFill>
              </a:ext>
            </a:extLst>
          </p:spPr>
          <p:txBody>
            <a:bodyPr wrap="none" rtlCol="0">
              <a:noAutofit/>
            </a:bodyPr>
            <a:lstStyle/>
            <a:p>
              <a:pPr algn="ctr"/>
              <a:r>
                <a:rPr lang="zh-CN" altLang="en-US" sz="1100" dirty="0">
                  <a:solidFill>
                    <a:schemeClr val="accent1"/>
                  </a:solidFill>
                  <a:latin typeface="微软雅黑" panose="020B0503020204020204" charset="-122"/>
                  <a:ea typeface="微软雅黑" panose="020B0503020204020204" charset="-122"/>
                  <a:cs typeface="微软雅黑" panose="020B0503020204020204" charset="-122"/>
                </a:rPr>
                <a:t>高德</a:t>
              </a:r>
              <a:r>
                <a:rPr lang="en-US" altLang="zh-CN" sz="1100" dirty="0">
                  <a:solidFill>
                    <a:schemeClr val="accent1"/>
                  </a:solidFill>
                  <a:latin typeface="微软雅黑" panose="020B0503020204020204" charset="-122"/>
                  <a:ea typeface="微软雅黑" panose="020B0503020204020204" charset="-122"/>
                  <a:cs typeface="微软雅黑" panose="020B0503020204020204" charset="-122"/>
                </a:rPr>
                <a:t>POI</a:t>
              </a:r>
              <a:r>
                <a:rPr lang="zh-CN" altLang="en-US" sz="1100" dirty="0">
                  <a:solidFill>
                    <a:schemeClr val="accent1"/>
                  </a:solidFill>
                  <a:latin typeface="微软雅黑" panose="020B0503020204020204" charset="-122"/>
                  <a:ea typeface="微软雅黑" panose="020B0503020204020204" charset="-122"/>
                  <a:cs typeface="微软雅黑" panose="020B0503020204020204" charset="-122"/>
                </a:rPr>
                <a:t>数据服务</a:t>
              </a:r>
              <a:endParaRPr lang="zh-CN" altLang="en-US" sz="1100" dirty="0">
                <a:solidFill>
                  <a:schemeClr val="accent1"/>
                </a:solidFill>
                <a:latin typeface="微软雅黑" panose="020B0503020204020204" charset="-122"/>
                <a:ea typeface="微软雅黑" panose="020B0503020204020204" charset="-122"/>
                <a:cs typeface="微软雅黑" panose="020B0503020204020204" charset="-122"/>
              </a:endParaRPr>
            </a:p>
          </p:txBody>
        </p:sp>
      </p:grpSp>
      <p:grpSp>
        <p:nvGrpSpPr>
          <p:cNvPr id="493" name="组合 492"/>
          <p:cNvGrpSpPr/>
          <p:nvPr/>
        </p:nvGrpSpPr>
        <p:grpSpPr>
          <a:xfrm>
            <a:off x="5699760" y="6000115"/>
            <a:ext cx="1769110" cy="372110"/>
            <a:chOff x="8826" y="9449"/>
            <a:chExt cx="2786" cy="586"/>
          </a:xfrm>
        </p:grpSpPr>
        <p:sp>
          <p:nvSpPr>
            <p:cNvPr id="477" name="矩形: 圆角 86"/>
            <p:cNvSpPr/>
            <p:nvPr/>
          </p:nvSpPr>
          <p:spPr>
            <a:xfrm>
              <a:off x="8826" y="9449"/>
              <a:ext cx="2787" cy="586"/>
            </a:xfrm>
            <a:prstGeom prst="roundRect">
              <a:avLst/>
            </a:prstGeom>
            <a:solidFill>
              <a:schemeClr val="accent1">
                <a:lumMod val="20000"/>
                <a:lumOff val="80000"/>
                <a:alpha val="50000"/>
              </a:schemeClr>
            </a:solidFill>
            <a:ln w="6340" cap="flat">
              <a:solidFill>
                <a:schemeClr val="accent1"/>
              </a:solidFill>
              <a:prstDash val="solid"/>
              <a:miter/>
            </a:ln>
          </p:spPr>
          <p:txBody>
            <a:bodyPr rtlCol="0" anchor="ctr">
              <a:noAutofit/>
            </a:bodyPr>
            <a:lstStyle/>
            <a:p>
              <a:pPr lvl="0" algn="l">
                <a:buClrTx/>
                <a:buSzTx/>
                <a:buFontTx/>
              </a:pPr>
              <a:endParaRPr lang="en-US">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487" name="文本框 486"/>
            <p:cNvSpPr txBox="1"/>
            <p:nvPr/>
          </p:nvSpPr>
          <p:spPr>
            <a:xfrm>
              <a:off x="9218" y="9540"/>
              <a:ext cx="2002" cy="376"/>
            </a:xfrm>
            <a:prstGeom prst="rect">
              <a:avLst/>
            </a:prstGeom>
            <a:noFill/>
            <a:ln>
              <a:noFill/>
            </a:ln>
            <a:extLst>
              <a:ext uri="{909E8E84-426E-40DD-AFC4-6F175D3DCCD1}">
                <a14:hiddenFill xmlns:a14="http://schemas.microsoft.com/office/drawing/2010/main">
                  <a:solidFill>
                    <a:schemeClr val="accent1">
                      <a:alpha val="50000"/>
                    </a:schemeClr>
                  </a:solidFill>
                </a14:hiddenFill>
              </a:ext>
            </a:extLst>
          </p:spPr>
          <p:txBody>
            <a:bodyPr wrap="none" rtlCol="0">
              <a:noAutofit/>
            </a:bodyPr>
            <a:lstStyle/>
            <a:p>
              <a:pPr algn="ctr"/>
              <a:r>
                <a:rPr lang="zh-CN" altLang="en-US" sz="1100" dirty="0">
                  <a:solidFill>
                    <a:schemeClr val="accent1"/>
                  </a:solidFill>
                  <a:latin typeface="微软雅黑" panose="020B0503020204020204" charset="-122"/>
                  <a:ea typeface="微软雅黑" panose="020B0503020204020204" charset="-122"/>
                  <a:cs typeface="微软雅黑" panose="020B0503020204020204" charset="-122"/>
                </a:rPr>
                <a:t>高德</a:t>
              </a:r>
              <a:r>
                <a:rPr lang="en-US" altLang="zh-CN" sz="1100" dirty="0">
                  <a:solidFill>
                    <a:schemeClr val="accent1"/>
                  </a:solidFill>
                  <a:latin typeface="微软雅黑" panose="020B0503020204020204" charset="-122"/>
                  <a:ea typeface="微软雅黑" panose="020B0503020204020204" charset="-122"/>
                  <a:cs typeface="微软雅黑" panose="020B0503020204020204" charset="-122"/>
                </a:rPr>
                <a:t>AOI</a:t>
              </a:r>
              <a:r>
                <a:rPr lang="zh-CN" altLang="en-US" sz="1100" dirty="0">
                  <a:solidFill>
                    <a:schemeClr val="accent1"/>
                  </a:solidFill>
                  <a:latin typeface="微软雅黑" panose="020B0503020204020204" charset="-122"/>
                  <a:ea typeface="微软雅黑" panose="020B0503020204020204" charset="-122"/>
                  <a:cs typeface="微软雅黑" panose="020B0503020204020204" charset="-122"/>
                </a:rPr>
                <a:t>数据服务</a:t>
              </a:r>
              <a:endParaRPr lang="zh-CN" altLang="en-US" sz="1100" dirty="0">
                <a:solidFill>
                  <a:schemeClr val="accent1"/>
                </a:solidFill>
                <a:latin typeface="微软雅黑" panose="020B0503020204020204" charset="-122"/>
                <a:ea typeface="微软雅黑" panose="020B0503020204020204" charset="-122"/>
                <a:cs typeface="微软雅黑" panose="020B0503020204020204" charset="-122"/>
              </a:endParaRPr>
            </a:p>
          </p:txBody>
        </p:sp>
      </p:grpSp>
      <p:grpSp>
        <p:nvGrpSpPr>
          <p:cNvPr id="492" name="组合 491"/>
          <p:cNvGrpSpPr/>
          <p:nvPr/>
        </p:nvGrpSpPr>
        <p:grpSpPr>
          <a:xfrm>
            <a:off x="7582535" y="6000115"/>
            <a:ext cx="1769110" cy="372110"/>
            <a:chOff x="11788" y="9449"/>
            <a:chExt cx="2786" cy="586"/>
          </a:xfrm>
        </p:grpSpPr>
        <p:sp>
          <p:nvSpPr>
            <p:cNvPr id="478" name="矩形: 圆角 87"/>
            <p:cNvSpPr/>
            <p:nvPr/>
          </p:nvSpPr>
          <p:spPr>
            <a:xfrm>
              <a:off x="11788" y="9449"/>
              <a:ext cx="2787" cy="586"/>
            </a:xfrm>
            <a:prstGeom prst="roundRect">
              <a:avLst/>
            </a:prstGeom>
            <a:solidFill>
              <a:schemeClr val="accent1">
                <a:lumMod val="20000"/>
                <a:lumOff val="80000"/>
                <a:alpha val="50000"/>
              </a:schemeClr>
            </a:solidFill>
            <a:ln w="6340" cap="flat">
              <a:solidFill>
                <a:schemeClr val="accent1"/>
              </a:solidFill>
              <a:prstDash val="solid"/>
              <a:miter/>
            </a:ln>
          </p:spPr>
          <p:txBody>
            <a:bodyPr rtlCol="0" anchor="ctr">
              <a:noAutofit/>
            </a:bodyPr>
            <a:lstStyle/>
            <a:p>
              <a:pPr lvl="0" algn="l">
                <a:buClrTx/>
                <a:buSzTx/>
                <a:buFontTx/>
              </a:pPr>
              <a:endParaRPr lang="en-US">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488" name="文本框 487"/>
            <p:cNvSpPr txBox="1"/>
            <p:nvPr/>
          </p:nvSpPr>
          <p:spPr>
            <a:xfrm>
              <a:off x="11925" y="9540"/>
              <a:ext cx="2512" cy="376"/>
            </a:xfrm>
            <a:prstGeom prst="rect">
              <a:avLst/>
            </a:prstGeom>
            <a:noFill/>
            <a:ln>
              <a:noFill/>
            </a:ln>
            <a:extLst>
              <a:ext uri="{909E8E84-426E-40DD-AFC4-6F175D3DCCD1}">
                <a14:hiddenFill xmlns:a14="http://schemas.microsoft.com/office/drawing/2010/main">
                  <a:solidFill>
                    <a:schemeClr val="accent1">
                      <a:alpha val="50000"/>
                    </a:schemeClr>
                  </a:solidFill>
                </a14:hiddenFill>
              </a:ext>
            </a:extLst>
          </p:spPr>
          <p:txBody>
            <a:bodyPr wrap="none" rtlCol="0">
              <a:noAutofit/>
            </a:bodyPr>
            <a:lstStyle/>
            <a:p>
              <a:pPr algn="ctr"/>
              <a:r>
                <a:rPr lang="zh-CN" altLang="en-US" sz="1100" dirty="0">
                  <a:solidFill>
                    <a:schemeClr val="accent1"/>
                  </a:solidFill>
                  <a:latin typeface="微软雅黑" panose="020B0503020204020204" charset="-122"/>
                  <a:ea typeface="微软雅黑" panose="020B0503020204020204" charset="-122"/>
                  <a:cs typeface="微软雅黑" panose="020B0503020204020204" charset="-122"/>
                </a:rPr>
                <a:t>高德行政区划数据服务</a:t>
              </a:r>
              <a:endParaRPr lang="zh-CN" altLang="en-US" sz="1100" dirty="0">
                <a:solidFill>
                  <a:schemeClr val="accent1"/>
                </a:solidFill>
                <a:latin typeface="微软雅黑" panose="020B0503020204020204" charset="-122"/>
                <a:ea typeface="微软雅黑" panose="020B0503020204020204" charset="-122"/>
                <a:cs typeface="微软雅黑" panose="020B0503020204020204" charset="-122"/>
              </a:endParaRPr>
            </a:p>
          </p:txBody>
        </p:sp>
      </p:grpSp>
      <p:grpSp>
        <p:nvGrpSpPr>
          <p:cNvPr id="490" name="组合 489"/>
          <p:cNvGrpSpPr/>
          <p:nvPr/>
        </p:nvGrpSpPr>
        <p:grpSpPr>
          <a:xfrm>
            <a:off x="9465310" y="6000115"/>
            <a:ext cx="1769110" cy="372110"/>
            <a:chOff x="14749" y="9449"/>
            <a:chExt cx="2786" cy="586"/>
          </a:xfrm>
        </p:grpSpPr>
        <p:sp>
          <p:nvSpPr>
            <p:cNvPr id="479" name="矩形: 圆角 88"/>
            <p:cNvSpPr/>
            <p:nvPr/>
          </p:nvSpPr>
          <p:spPr>
            <a:xfrm>
              <a:off x="14749" y="9449"/>
              <a:ext cx="2787" cy="586"/>
            </a:xfrm>
            <a:prstGeom prst="roundRect">
              <a:avLst/>
            </a:prstGeom>
            <a:solidFill>
              <a:schemeClr val="accent1">
                <a:lumMod val="20000"/>
                <a:lumOff val="80000"/>
                <a:alpha val="50000"/>
              </a:schemeClr>
            </a:solidFill>
            <a:ln w="6340" cap="flat">
              <a:solidFill>
                <a:schemeClr val="accent1"/>
              </a:solidFill>
              <a:prstDash val="solid"/>
              <a:miter/>
            </a:ln>
          </p:spPr>
          <p:txBody>
            <a:bodyPr rtlCol="0" anchor="ctr">
              <a:noAutofit/>
            </a:bodyPr>
            <a:lstStyle/>
            <a:p>
              <a:pPr lvl="0" algn="l">
                <a:buClrTx/>
                <a:buSzTx/>
                <a:buFontTx/>
              </a:pPr>
              <a:endParaRPr lang="en-US">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489" name="文本框 488"/>
            <p:cNvSpPr txBox="1"/>
            <p:nvPr/>
          </p:nvSpPr>
          <p:spPr>
            <a:xfrm>
              <a:off x="15109" y="9540"/>
              <a:ext cx="2068" cy="376"/>
            </a:xfrm>
            <a:prstGeom prst="rect">
              <a:avLst/>
            </a:prstGeom>
            <a:noFill/>
            <a:ln>
              <a:noFill/>
            </a:ln>
            <a:extLst>
              <a:ext uri="{909E8E84-426E-40DD-AFC4-6F175D3DCCD1}">
                <a14:hiddenFill xmlns:a14="http://schemas.microsoft.com/office/drawing/2010/main">
                  <a:solidFill>
                    <a:schemeClr val="accent1">
                      <a:alpha val="50000"/>
                    </a:schemeClr>
                  </a:solidFill>
                </a14:hiddenFill>
              </a:ext>
            </a:extLst>
          </p:spPr>
          <p:txBody>
            <a:bodyPr wrap="none" rtlCol="0">
              <a:noAutofit/>
            </a:bodyPr>
            <a:lstStyle/>
            <a:p>
              <a:pPr algn="ctr"/>
              <a:r>
                <a:rPr lang="zh-CN" altLang="en-US" sz="1100" dirty="0">
                  <a:solidFill>
                    <a:schemeClr val="accent1"/>
                  </a:solidFill>
                  <a:latin typeface="微软雅黑" panose="020B0503020204020204" charset="-122"/>
                  <a:ea typeface="微软雅黑" panose="020B0503020204020204" charset="-122"/>
                  <a:cs typeface="微软雅黑" panose="020B0503020204020204" charset="-122"/>
                </a:rPr>
                <a:t>高德地图数据服务</a:t>
              </a:r>
              <a:endParaRPr lang="zh-CN" altLang="en-US" sz="1100" dirty="0">
                <a:solidFill>
                  <a:schemeClr val="accent1"/>
                </a:solidFill>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汽车经销商零售模式变化</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4" name="椭圆 3"/>
          <p:cNvSpPr/>
          <p:nvPr/>
        </p:nvSpPr>
        <p:spPr>
          <a:xfrm>
            <a:off x="426720" y="2764155"/>
            <a:ext cx="450215" cy="450215"/>
          </a:xfrm>
          <a:prstGeom prst="ellipse">
            <a:avLst/>
          </a:prstGeom>
          <a:solidFill>
            <a:schemeClr val="accent1">
              <a:lumMod val="60000"/>
              <a:lumOff val="40000"/>
            </a:schemeClr>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6" name="五边形 5"/>
          <p:cNvSpPr/>
          <p:nvPr/>
        </p:nvSpPr>
        <p:spPr>
          <a:xfrm>
            <a:off x="1492250" y="2749550"/>
            <a:ext cx="755650" cy="464820"/>
          </a:xfrm>
          <a:prstGeom prst="homePlate">
            <a:avLst>
              <a:gd name="adj" fmla="val 29661"/>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 name="五边形 6"/>
          <p:cNvSpPr/>
          <p:nvPr/>
        </p:nvSpPr>
        <p:spPr>
          <a:xfrm>
            <a:off x="958850" y="2614930"/>
            <a:ext cx="1219200" cy="749300"/>
          </a:xfrm>
          <a:prstGeom prst="homePlate">
            <a:avLst>
              <a:gd name="adj" fmla="val 29661"/>
            </a:avLst>
          </a:prstGeom>
          <a:solidFill>
            <a:schemeClr val="bg1"/>
          </a:solidFill>
          <a:ln>
            <a:solidFill>
              <a:schemeClr val="accent1">
                <a:lumMod val="60000"/>
                <a:lumOff val="40000"/>
              </a:schemeClr>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cxnSp>
        <p:nvCxnSpPr>
          <p:cNvPr id="48" name="直接连接符 47"/>
          <p:cNvCxnSpPr/>
          <p:nvPr>
            <p:custDataLst>
              <p:tags r:id="rId3"/>
            </p:custDataLst>
          </p:nvPr>
        </p:nvCxnSpPr>
        <p:spPr>
          <a:xfrm>
            <a:off x="5640070" y="4030345"/>
            <a:ext cx="2889250" cy="0"/>
          </a:xfrm>
          <a:prstGeom prst="line">
            <a:avLst/>
          </a:prstGeom>
          <a:ln>
            <a:solidFill>
              <a:schemeClr val="tx2">
                <a:alpha val="70000"/>
              </a:schemeClr>
            </a:solidFill>
          </a:ln>
        </p:spPr>
        <p:style>
          <a:lnRef idx="2">
            <a:schemeClr val="accent1"/>
          </a:lnRef>
          <a:fillRef idx="0">
            <a:srgbClr val="FFFFFF"/>
          </a:fillRef>
          <a:effectRef idx="0">
            <a:srgbClr val="FFFFFF"/>
          </a:effectRef>
          <a:fontRef idx="minor">
            <a:schemeClr val="tx1"/>
          </a:fontRef>
        </p:style>
      </p:cxnSp>
      <p:cxnSp>
        <p:nvCxnSpPr>
          <p:cNvPr id="49" name="直接连接符 48"/>
          <p:cNvCxnSpPr/>
          <p:nvPr>
            <p:custDataLst>
              <p:tags r:id="rId4"/>
            </p:custDataLst>
          </p:nvPr>
        </p:nvCxnSpPr>
        <p:spPr>
          <a:xfrm>
            <a:off x="8808720" y="4030345"/>
            <a:ext cx="2892425" cy="0"/>
          </a:xfrm>
          <a:prstGeom prst="line">
            <a:avLst/>
          </a:prstGeom>
          <a:ln>
            <a:solidFill>
              <a:schemeClr val="tx2">
                <a:alpha val="70000"/>
              </a:schemeClr>
            </a:solidFill>
          </a:ln>
        </p:spPr>
        <p:style>
          <a:lnRef idx="2">
            <a:schemeClr val="accent1"/>
          </a:lnRef>
          <a:fillRef idx="0">
            <a:srgbClr val="FFFFFF"/>
          </a:fillRef>
          <a:effectRef idx="0">
            <a:srgbClr val="FFFFFF"/>
          </a:effectRef>
          <a:fontRef idx="minor">
            <a:schemeClr val="tx1"/>
          </a:fontRef>
        </p:style>
      </p:cxnSp>
      <p:cxnSp>
        <p:nvCxnSpPr>
          <p:cNvPr id="50" name="直接连接符 49"/>
          <p:cNvCxnSpPr/>
          <p:nvPr>
            <p:custDataLst>
              <p:tags r:id="rId5"/>
            </p:custDataLst>
          </p:nvPr>
        </p:nvCxnSpPr>
        <p:spPr>
          <a:xfrm>
            <a:off x="2557145" y="5270500"/>
            <a:ext cx="2695575" cy="0"/>
          </a:xfrm>
          <a:prstGeom prst="line">
            <a:avLst/>
          </a:prstGeom>
          <a:ln>
            <a:solidFill>
              <a:schemeClr val="tx2">
                <a:alpha val="70000"/>
              </a:schemeClr>
            </a:solidFill>
          </a:ln>
        </p:spPr>
        <p:style>
          <a:lnRef idx="2">
            <a:schemeClr val="accent1"/>
          </a:lnRef>
          <a:fillRef idx="0">
            <a:srgbClr val="FFFFFF"/>
          </a:fillRef>
          <a:effectRef idx="0">
            <a:srgbClr val="FFFFFF"/>
          </a:effectRef>
          <a:fontRef idx="minor">
            <a:schemeClr val="tx1"/>
          </a:fontRef>
        </p:style>
      </p:cxnSp>
      <p:cxnSp>
        <p:nvCxnSpPr>
          <p:cNvPr id="51" name="直接连接符 50"/>
          <p:cNvCxnSpPr/>
          <p:nvPr>
            <p:custDataLst>
              <p:tags r:id="rId6"/>
            </p:custDataLst>
          </p:nvPr>
        </p:nvCxnSpPr>
        <p:spPr>
          <a:xfrm>
            <a:off x="5640070" y="5270500"/>
            <a:ext cx="2889250" cy="0"/>
          </a:xfrm>
          <a:prstGeom prst="line">
            <a:avLst/>
          </a:prstGeom>
          <a:ln>
            <a:solidFill>
              <a:schemeClr val="tx2">
                <a:alpha val="70000"/>
              </a:schemeClr>
            </a:solidFill>
          </a:ln>
        </p:spPr>
        <p:style>
          <a:lnRef idx="2">
            <a:schemeClr val="accent1"/>
          </a:lnRef>
          <a:fillRef idx="0">
            <a:srgbClr val="FFFFFF"/>
          </a:fillRef>
          <a:effectRef idx="0">
            <a:srgbClr val="FFFFFF"/>
          </a:effectRef>
          <a:fontRef idx="minor">
            <a:schemeClr val="tx1"/>
          </a:fontRef>
        </p:style>
      </p:cxnSp>
      <p:cxnSp>
        <p:nvCxnSpPr>
          <p:cNvPr id="52" name="直接连接符 51"/>
          <p:cNvCxnSpPr/>
          <p:nvPr>
            <p:custDataLst>
              <p:tags r:id="rId7"/>
            </p:custDataLst>
          </p:nvPr>
        </p:nvCxnSpPr>
        <p:spPr>
          <a:xfrm>
            <a:off x="8808720" y="5270500"/>
            <a:ext cx="2973705" cy="0"/>
          </a:xfrm>
          <a:prstGeom prst="line">
            <a:avLst/>
          </a:prstGeom>
          <a:ln>
            <a:solidFill>
              <a:schemeClr val="tx2">
                <a:alpha val="70000"/>
              </a:schemeClr>
            </a:solidFill>
          </a:ln>
        </p:spPr>
        <p:style>
          <a:lnRef idx="2">
            <a:schemeClr val="accent1"/>
          </a:lnRef>
          <a:fillRef idx="0">
            <a:srgbClr val="FFFFFF"/>
          </a:fillRef>
          <a:effectRef idx="0">
            <a:srgbClr val="FFFFFF"/>
          </a:effectRef>
          <a:fontRef idx="minor">
            <a:schemeClr val="tx1"/>
          </a:fontRef>
        </p:style>
      </p:cxnSp>
      <p:sp>
        <p:nvSpPr>
          <p:cNvPr id="79" name="梯形 78"/>
          <p:cNvSpPr/>
          <p:nvPr>
            <p:custDataLst>
              <p:tags r:id="rId8"/>
            </p:custDataLst>
          </p:nvPr>
        </p:nvSpPr>
        <p:spPr>
          <a:xfrm>
            <a:off x="2531110" y="1853565"/>
            <a:ext cx="2705735" cy="234315"/>
          </a:xfrm>
          <a:prstGeom prst="trapezoid">
            <a:avLst>
              <a:gd name="adj" fmla="val 77057"/>
            </a:avLst>
          </a:prstGeom>
          <a:gradFill>
            <a:gsLst>
              <a:gs pos="50000">
                <a:schemeClr val="accent1">
                  <a:lumMod val="60000"/>
                  <a:lumOff val="40000"/>
                  <a:alpha val="30000"/>
                </a:schemeClr>
              </a:gs>
              <a:gs pos="0">
                <a:schemeClr val="accent1">
                  <a:lumMod val="60000"/>
                  <a:lumOff val="40000"/>
                  <a:alpha val="0"/>
                </a:schemeClr>
              </a:gs>
              <a:gs pos="100000">
                <a:schemeClr val="accent1">
                  <a:lumMod val="60000"/>
                  <a:lumOff val="40000"/>
                  <a:alpha val="50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cs typeface="微软雅黑" panose="020B0503020204020204" charset="-122"/>
              <a:sym typeface="+mn-ea"/>
            </a:endParaRPr>
          </a:p>
        </p:txBody>
      </p:sp>
      <p:sp>
        <p:nvSpPr>
          <p:cNvPr id="80" name="Freeform 1486"/>
          <p:cNvSpPr/>
          <p:nvPr>
            <p:custDataLst>
              <p:tags r:id="rId9"/>
            </p:custDataLst>
          </p:nvPr>
        </p:nvSpPr>
        <p:spPr>
          <a:xfrm>
            <a:off x="2531110" y="2087880"/>
            <a:ext cx="2705735" cy="76200"/>
          </a:xfrm>
          <a:custGeom>
            <a:avLst/>
            <a:gdLst/>
            <a:ahLst/>
            <a:cxnLst/>
            <a:rect l="0" t="0" r="0" b="0"/>
            <a:pathLst>
              <a:path w="10750295" h="362712">
                <a:moveTo>
                  <a:pt x="0" y="362712"/>
                </a:moveTo>
                <a:lnTo>
                  <a:pt x="10750295" y="362712"/>
                </a:lnTo>
                <a:lnTo>
                  <a:pt x="10750295" y="0"/>
                </a:lnTo>
                <a:lnTo>
                  <a:pt x="0" y="0"/>
                </a:lnTo>
                <a:lnTo>
                  <a:pt x="0" y="362712"/>
                </a:lnTo>
                <a:close/>
              </a:path>
            </a:pathLst>
          </a:custGeom>
          <a:solidFill>
            <a:schemeClr val="accent1">
              <a:lumMod val="60000"/>
              <a:lumOff val="40000"/>
            </a:schemeClr>
          </a:solidFill>
        </p:spPr>
        <p:style>
          <a:lnRef idx="0">
            <a:srgbClr val="FFFFFF"/>
          </a:lnRef>
          <a:fillRef idx="1">
            <a:schemeClr val="accent5"/>
          </a:fillRef>
          <a:effectRef idx="0">
            <a:srgbClr val="FFFFFF"/>
          </a:effectRef>
          <a:fontRef idx="minor">
            <a:schemeClr val="dk1"/>
          </a:fontRef>
        </p:style>
        <p:txBody>
          <a:bodyPr/>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81" name="椭圆 80"/>
          <p:cNvSpPr/>
          <p:nvPr>
            <p:custDataLst>
              <p:tags r:id="rId10"/>
            </p:custDataLst>
          </p:nvPr>
        </p:nvSpPr>
        <p:spPr>
          <a:xfrm>
            <a:off x="2864485" y="1334770"/>
            <a:ext cx="609600" cy="609600"/>
          </a:xfrm>
          <a:prstGeom prst="ellipse">
            <a:avLst/>
          </a:prstGeom>
          <a:gradFill>
            <a:gsLst>
              <a:gs pos="0">
                <a:schemeClr val="accent1">
                  <a:lumMod val="60000"/>
                  <a:lumOff val="40000"/>
                </a:schemeClr>
              </a:gs>
              <a:gs pos="100000">
                <a:schemeClr val="accent1"/>
              </a:gs>
            </a:gsLst>
            <a:lin ang="5400000" scaled="0"/>
          </a:gradFill>
          <a:ln>
            <a:solidFill>
              <a:schemeClr val="bg2"/>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2" name="文本框 81"/>
          <p:cNvSpPr txBox="1"/>
          <p:nvPr>
            <p:custDataLst>
              <p:tags r:id="rId11"/>
            </p:custDataLst>
          </p:nvPr>
        </p:nvSpPr>
        <p:spPr>
          <a:xfrm>
            <a:off x="3423920" y="1306195"/>
            <a:ext cx="1616075" cy="337185"/>
          </a:xfrm>
          <a:prstGeom prst="rect">
            <a:avLst/>
          </a:prstGeom>
          <a:noFill/>
        </p:spPr>
        <p:txBody>
          <a:bodyPr wrap="square" rtlCol="0">
            <a:spAutoFit/>
          </a:bodyPr>
          <a:p>
            <a:pPr algn="ctr"/>
            <a:r>
              <a:rPr lang="en-US" altLang="zh-CN" sz="1600" b="1">
                <a:gradFill>
                  <a:gsLst>
                    <a:gs pos="0">
                      <a:schemeClr val="accent1">
                        <a:lumMod val="60000"/>
                        <a:lumOff val="40000"/>
                      </a:schemeClr>
                    </a:gs>
                    <a:gs pos="100000">
                      <a:schemeClr val="accent1"/>
                    </a:gs>
                  </a:gsLst>
                  <a:lin ang="5400000" scaled="0"/>
                </a:gradFill>
                <a:latin typeface="微软雅黑" panose="020B0503020204020204" charset="-122"/>
                <a:ea typeface="微软雅黑" panose="020B0503020204020204" charset="-122"/>
                <a:cs typeface="微软雅黑" panose="020B0503020204020204" charset="-122"/>
              </a:rPr>
              <a:t>4S</a:t>
            </a:r>
            <a:r>
              <a:rPr lang="zh-CN" altLang="en-US" sz="1600" b="1">
                <a:gradFill>
                  <a:gsLst>
                    <a:gs pos="0">
                      <a:schemeClr val="accent1">
                        <a:lumMod val="60000"/>
                        <a:lumOff val="40000"/>
                      </a:schemeClr>
                    </a:gs>
                    <a:gs pos="100000">
                      <a:schemeClr val="accent1"/>
                    </a:gs>
                  </a:gsLst>
                  <a:lin ang="5400000" scaled="0"/>
                </a:gradFill>
                <a:latin typeface="微软雅黑" panose="020B0503020204020204" charset="-122"/>
                <a:ea typeface="微软雅黑" panose="020B0503020204020204" charset="-122"/>
                <a:cs typeface="微软雅黑" panose="020B0503020204020204" charset="-122"/>
              </a:rPr>
              <a:t>店直营模式</a:t>
            </a:r>
            <a:endParaRPr lang="zh-CN" altLang="en-US" sz="1600" b="1">
              <a:gradFill>
                <a:gsLst>
                  <a:gs pos="0">
                    <a:schemeClr val="accent1">
                      <a:lumMod val="60000"/>
                      <a:lumOff val="40000"/>
                    </a:schemeClr>
                  </a:gs>
                  <a:gs pos="100000">
                    <a:schemeClr val="accent1"/>
                  </a:gs>
                </a:gsLst>
                <a:lin ang="5400000" scaled="0"/>
              </a:gradFill>
              <a:latin typeface="微软雅黑" panose="020B0503020204020204" charset="-122"/>
              <a:ea typeface="微软雅黑" panose="020B0503020204020204" charset="-122"/>
              <a:cs typeface="微软雅黑" panose="020B0503020204020204" charset="-122"/>
            </a:endParaRPr>
          </a:p>
        </p:txBody>
      </p:sp>
      <p:sp>
        <p:nvSpPr>
          <p:cNvPr id="83" name="文本框 82"/>
          <p:cNvSpPr txBox="1"/>
          <p:nvPr>
            <p:custDataLst>
              <p:tags r:id="rId12"/>
            </p:custDataLst>
          </p:nvPr>
        </p:nvSpPr>
        <p:spPr>
          <a:xfrm>
            <a:off x="3526790" y="1601470"/>
            <a:ext cx="1264920" cy="275590"/>
          </a:xfrm>
          <a:prstGeom prst="rect">
            <a:avLst/>
          </a:prstGeom>
          <a:noFill/>
        </p:spPr>
        <p:txBody>
          <a:bodyPr wrap="square" rtlCol="0">
            <a:spAutoFit/>
          </a:bodyPr>
          <a:p>
            <a:pPr algn="ctr"/>
            <a:r>
              <a:rPr lang="zh-CN" altLang="en-US" sz="1200" b="1">
                <a:solidFill>
                  <a:schemeClr val="tx2"/>
                </a:solidFill>
                <a:latin typeface="微软雅黑" panose="020B0503020204020204" charset="-122"/>
                <a:ea typeface="微软雅黑" panose="020B0503020204020204" charset="-122"/>
                <a:cs typeface="微软雅黑" panose="020B0503020204020204" charset="-122"/>
              </a:rPr>
              <a:t>（如极氪家）</a:t>
            </a:r>
            <a:endParaRPr lang="zh-CN" altLang="en-US" sz="1200" b="1">
              <a:solidFill>
                <a:schemeClr val="tx2"/>
              </a:solidFill>
              <a:latin typeface="微软雅黑" panose="020B0503020204020204" charset="-122"/>
              <a:ea typeface="微软雅黑" panose="020B0503020204020204" charset="-122"/>
              <a:cs typeface="微软雅黑" panose="020B0503020204020204" charset="-122"/>
            </a:endParaRPr>
          </a:p>
        </p:txBody>
      </p:sp>
      <p:pic>
        <p:nvPicPr>
          <p:cNvPr id="84" name="图片 83" descr="直营店"/>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013075" y="1483360"/>
            <a:ext cx="312420" cy="312420"/>
          </a:xfrm>
          <a:prstGeom prst="rect">
            <a:avLst/>
          </a:prstGeom>
        </p:spPr>
      </p:pic>
      <p:sp>
        <p:nvSpPr>
          <p:cNvPr id="103" name="梯形 102"/>
          <p:cNvSpPr/>
          <p:nvPr>
            <p:custDataLst>
              <p:tags r:id="rId15"/>
            </p:custDataLst>
          </p:nvPr>
        </p:nvSpPr>
        <p:spPr>
          <a:xfrm>
            <a:off x="5735955" y="1853565"/>
            <a:ext cx="2731770" cy="234315"/>
          </a:xfrm>
          <a:prstGeom prst="trapezoid">
            <a:avLst>
              <a:gd name="adj" fmla="val 77057"/>
            </a:avLst>
          </a:prstGeom>
          <a:gradFill>
            <a:gsLst>
              <a:gs pos="50000">
                <a:schemeClr val="accent5">
                  <a:lumMod val="60000"/>
                  <a:lumOff val="40000"/>
                  <a:alpha val="30000"/>
                </a:schemeClr>
              </a:gs>
              <a:gs pos="0">
                <a:schemeClr val="accent5">
                  <a:lumMod val="60000"/>
                  <a:lumOff val="40000"/>
                  <a:alpha val="0"/>
                </a:schemeClr>
              </a:gs>
              <a:gs pos="100000">
                <a:schemeClr val="accent5">
                  <a:lumMod val="60000"/>
                  <a:lumOff val="40000"/>
                  <a:alpha val="50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cs typeface="微软雅黑" panose="020B0503020204020204" charset="-122"/>
              <a:sym typeface="+mn-ea"/>
            </a:endParaRPr>
          </a:p>
        </p:txBody>
      </p:sp>
      <p:sp>
        <p:nvSpPr>
          <p:cNvPr id="104" name="Freeform 1486"/>
          <p:cNvSpPr/>
          <p:nvPr>
            <p:custDataLst>
              <p:tags r:id="rId16"/>
            </p:custDataLst>
          </p:nvPr>
        </p:nvSpPr>
        <p:spPr>
          <a:xfrm>
            <a:off x="5735955" y="2087245"/>
            <a:ext cx="2732405" cy="76835"/>
          </a:xfrm>
          <a:custGeom>
            <a:avLst/>
            <a:gdLst/>
            <a:ahLst/>
            <a:cxnLst/>
            <a:rect l="0" t="0" r="0" b="0"/>
            <a:pathLst>
              <a:path w="10750295" h="362712">
                <a:moveTo>
                  <a:pt x="0" y="362712"/>
                </a:moveTo>
                <a:lnTo>
                  <a:pt x="10750295" y="362712"/>
                </a:lnTo>
                <a:lnTo>
                  <a:pt x="10750295" y="0"/>
                </a:lnTo>
                <a:lnTo>
                  <a:pt x="0" y="0"/>
                </a:lnTo>
                <a:lnTo>
                  <a:pt x="0" y="362712"/>
                </a:lnTo>
                <a:close/>
              </a:path>
            </a:pathLst>
          </a:custGeom>
          <a:solidFill>
            <a:schemeClr val="accent5">
              <a:lumMod val="60000"/>
              <a:lumOff val="40000"/>
            </a:schemeClr>
          </a:solidFill>
        </p:spPr>
        <p:style>
          <a:lnRef idx="0">
            <a:srgbClr val="FFFFFF"/>
          </a:lnRef>
          <a:fillRef idx="1">
            <a:schemeClr val="accent5"/>
          </a:fillRef>
          <a:effectRef idx="0">
            <a:srgbClr val="FFFFFF"/>
          </a:effectRef>
          <a:fontRef idx="minor">
            <a:schemeClr val="dk1"/>
          </a:fontRef>
        </p:style>
        <p:txBody>
          <a:bodyPr/>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05" name="椭圆 104"/>
          <p:cNvSpPr/>
          <p:nvPr>
            <p:custDataLst>
              <p:tags r:id="rId17"/>
            </p:custDataLst>
          </p:nvPr>
        </p:nvSpPr>
        <p:spPr>
          <a:xfrm>
            <a:off x="6069330" y="1334770"/>
            <a:ext cx="609600" cy="609600"/>
          </a:xfrm>
          <a:prstGeom prst="ellipse">
            <a:avLst/>
          </a:prstGeom>
          <a:gradFill>
            <a:gsLst>
              <a:gs pos="0">
                <a:schemeClr val="accent5">
                  <a:lumMod val="60000"/>
                  <a:lumOff val="40000"/>
                </a:schemeClr>
              </a:gs>
              <a:gs pos="100000">
                <a:schemeClr val="accent5"/>
              </a:gs>
            </a:gsLst>
            <a:lin ang="5400000" scaled="0"/>
          </a:gradFill>
          <a:ln>
            <a:solidFill>
              <a:schemeClr val="bg2"/>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06" name="文本框 105"/>
          <p:cNvSpPr txBox="1"/>
          <p:nvPr>
            <p:custDataLst>
              <p:tags r:id="rId18"/>
            </p:custDataLst>
          </p:nvPr>
        </p:nvSpPr>
        <p:spPr>
          <a:xfrm>
            <a:off x="6628765" y="1306195"/>
            <a:ext cx="1616075" cy="337185"/>
          </a:xfrm>
          <a:prstGeom prst="rect">
            <a:avLst/>
          </a:prstGeom>
          <a:noFill/>
        </p:spPr>
        <p:txBody>
          <a:bodyPr wrap="square" rtlCol="0">
            <a:spAutoFit/>
          </a:bodyPr>
          <a:p>
            <a:pPr algn="ctr"/>
            <a:r>
              <a:rPr lang="zh-CN" altLang="en-US" sz="16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rPr>
              <a:t>直营</a:t>
            </a:r>
            <a:r>
              <a:rPr lang="en-US" altLang="zh-CN" sz="16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rPr>
              <a:t>+</a:t>
            </a:r>
            <a:r>
              <a:rPr lang="zh-CN" altLang="en-US" sz="16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rPr>
              <a:t>加盟模式</a:t>
            </a:r>
            <a:endParaRPr lang="zh-CN" altLang="en-US" sz="16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endParaRPr>
          </a:p>
        </p:txBody>
      </p:sp>
      <p:sp>
        <p:nvSpPr>
          <p:cNvPr id="107" name="文本框 106"/>
          <p:cNvSpPr txBox="1"/>
          <p:nvPr>
            <p:custDataLst>
              <p:tags r:id="rId19"/>
            </p:custDataLst>
          </p:nvPr>
        </p:nvSpPr>
        <p:spPr>
          <a:xfrm>
            <a:off x="6731635" y="1601470"/>
            <a:ext cx="1264920" cy="275590"/>
          </a:xfrm>
          <a:prstGeom prst="rect">
            <a:avLst/>
          </a:prstGeom>
          <a:noFill/>
        </p:spPr>
        <p:txBody>
          <a:bodyPr wrap="square" rtlCol="0">
            <a:spAutoFit/>
          </a:bodyPr>
          <a:p>
            <a:pPr algn="ctr"/>
            <a:r>
              <a:rPr lang="zh-CN" altLang="en-US" sz="1200" b="1">
                <a:solidFill>
                  <a:schemeClr val="tx2"/>
                </a:solidFill>
                <a:latin typeface="微软雅黑" panose="020B0503020204020204" charset="-122"/>
                <a:ea typeface="微软雅黑" panose="020B0503020204020204" charset="-122"/>
                <a:cs typeface="微软雅黑" panose="020B0503020204020204" charset="-122"/>
              </a:rPr>
              <a:t>（如比亚迪）</a:t>
            </a:r>
            <a:endParaRPr lang="zh-CN" altLang="en-US" sz="12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1" name="梯形 110"/>
          <p:cNvSpPr/>
          <p:nvPr>
            <p:custDataLst>
              <p:tags r:id="rId20"/>
            </p:custDataLst>
          </p:nvPr>
        </p:nvSpPr>
        <p:spPr>
          <a:xfrm>
            <a:off x="8867140" y="1853565"/>
            <a:ext cx="2705735" cy="234315"/>
          </a:xfrm>
          <a:prstGeom prst="trapezoid">
            <a:avLst>
              <a:gd name="adj" fmla="val 77057"/>
            </a:avLst>
          </a:prstGeom>
          <a:gradFill>
            <a:gsLst>
              <a:gs pos="50000">
                <a:schemeClr val="accent1">
                  <a:lumMod val="60000"/>
                  <a:lumOff val="40000"/>
                  <a:alpha val="30000"/>
                </a:schemeClr>
              </a:gs>
              <a:gs pos="0">
                <a:schemeClr val="accent1">
                  <a:lumMod val="60000"/>
                  <a:lumOff val="40000"/>
                  <a:alpha val="0"/>
                </a:schemeClr>
              </a:gs>
              <a:gs pos="100000">
                <a:schemeClr val="accent1">
                  <a:lumMod val="60000"/>
                  <a:lumOff val="40000"/>
                  <a:alpha val="50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cs typeface="微软雅黑" panose="020B0503020204020204" charset="-122"/>
              <a:sym typeface="+mn-ea"/>
            </a:endParaRPr>
          </a:p>
        </p:txBody>
      </p:sp>
      <p:sp>
        <p:nvSpPr>
          <p:cNvPr id="112" name="Freeform 1486"/>
          <p:cNvSpPr/>
          <p:nvPr>
            <p:custDataLst>
              <p:tags r:id="rId21"/>
            </p:custDataLst>
          </p:nvPr>
        </p:nvSpPr>
        <p:spPr>
          <a:xfrm>
            <a:off x="8867140" y="2087880"/>
            <a:ext cx="2705735" cy="76200"/>
          </a:xfrm>
          <a:custGeom>
            <a:avLst/>
            <a:gdLst/>
            <a:ahLst/>
            <a:cxnLst/>
            <a:rect l="0" t="0" r="0" b="0"/>
            <a:pathLst>
              <a:path w="10750295" h="362712">
                <a:moveTo>
                  <a:pt x="0" y="362712"/>
                </a:moveTo>
                <a:lnTo>
                  <a:pt x="10750295" y="362712"/>
                </a:lnTo>
                <a:lnTo>
                  <a:pt x="10750295" y="0"/>
                </a:lnTo>
                <a:lnTo>
                  <a:pt x="0" y="0"/>
                </a:lnTo>
                <a:lnTo>
                  <a:pt x="0" y="362712"/>
                </a:lnTo>
                <a:close/>
              </a:path>
            </a:pathLst>
          </a:custGeom>
          <a:solidFill>
            <a:schemeClr val="accent1">
              <a:lumMod val="60000"/>
              <a:lumOff val="40000"/>
            </a:schemeClr>
          </a:solidFill>
        </p:spPr>
        <p:style>
          <a:lnRef idx="0">
            <a:srgbClr val="FFFFFF"/>
          </a:lnRef>
          <a:fillRef idx="1">
            <a:schemeClr val="accent5"/>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13" name="椭圆 112"/>
          <p:cNvSpPr/>
          <p:nvPr>
            <p:custDataLst>
              <p:tags r:id="rId22"/>
            </p:custDataLst>
          </p:nvPr>
        </p:nvSpPr>
        <p:spPr>
          <a:xfrm>
            <a:off x="9200515" y="1334770"/>
            <a:ext cx="609600" cy="609600"/>
          </a:xfrm>
          <a:prstGeom prst="ellipse">
            <a:avLst/>
          </a:prstGeom>
          <a:gradFill>
            <a:gsLst>
              <a:gs pos="0">
                <a:schemeClr val="accent1">
                  <a:lumMod val="60000"/>
                  <a:lumOff val="40000"/>
                </a:schemeClr>
              </a:gs>
              <a:gs pos="100000">
                <a:schemeClr val="accent1"/>
              </a:gs>
            </a:gsLst>
            <a:lin ang="5400000" scaled="0"/>
          </a:gradFill>
          <a:ln>
            <a:solidFill>
              <a:schemeClr val="bg2"/>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14" name="文本框 113"/>
          <p:cNvSpPr txBox="1"/>
          <p:nvPr>
            <p:custDataLst>
              <p:tags r:id="rId23"/>
            </p:custDataLst>
          </p:nvPr>
        </p:nvSpPr>
        <p:spPr>
          <a:xfrm>
            <a:off x="9759950" y="1306195"/>
            <a:ext cx="1616075" cy="337185"/>
          </a:xfrm>
          <a:prstGeom prst="rect">
            <a:avLst/>
          </a:prstGeom>
          <a:noFill/>
        </p:spPr>
        <p:txBody>
          <a:bodyPr wrap="square" rtlCol="0">
            <a:spAutoFit/>
          </a:bodyPr>
          <a:p>
            <a:pPr lvl="0" algn="ctr">
              <a:buClrTx/>
              <a:buSzTx/>
              <a:buFontTx/>
            </a:pPr>
            <a:r>
              <a:rPr lang="en-US" altLang="zh-CN" sz="1600" b="1">
                <a:gradFill>
                  <a:gsLst>
                    <a:gs pos="0">
                      <a:schemeClr val="accent1">
                        <a:lumMod val="60000"/>
                        <a:lumOff val="40000"/>
                      </a:schemeClr>
                    </a:gs>
                    <a:gs pos="100000">
                      <a:schemeClr val="accent1"/>
                    </a:gs>
                  </a:gsLst>
                  <a:lin ang="5400000" scaled="0"/>
                </a:gradFill>
                <a:latin typeface="微软雅黑" panose="020B0503020204020204" charset="-122"/>
                <a:ea typeface="微软雅黑" panose="020B0503020204020204" charset="-122"/>
                <a:cs typeface="微软雅黑" panose="020B0503020204020204" charset="-122"/>
                <a:sym typeface="+mn-ea"/>
              </a:rPr>
              <a:t>直营</a:t>
            </a:r>
            <a:r>
              <a:rPr lang="en-US" altLang="zh-CN" sz="1600" b="1">
                <a:gradFill>
                  <a:gsLst>
                    <a:gs pos="0">
                      <a:schemeClr val="accent1">
                        <a:lumMod val="60000"/>
                        <a:lumOff val="40000"/>
                      </a:schemeClr>
                    </a:gs>
                    <a:gs pos="100000">
                      <a:schemeClr val="accent1"/>
                    </a:gs>
                  </a:gsLst>
                  <a:lin ang="5400000" scaled="0"/>
                </a:gradFill>
                <a:latin typeface="微软雅黑" panose="020B0503020204020204" charset="-122"/>
                <a:ea typeface="微软雅黑" panose="020B0503020204020204" charset="-122"/>
                <a:cs typeface="微软雅黑" panose="020B0503020204020204" charset="-122"/>
                <a:sym typeface="+mn-ea"/>
              </a:rPr>
              <a:t>+</a:t>
            </a:r>
            <a:r>
              <a:rPr lang="en-US" altLang="zh-CN" sz="1600" b="1">
                <a:gradFill>
                  <a:gsLst>
                    <a:gs pos="0">
                      <a:schemeClr val="accent1">
                        <a:lumMod val="60000"/>
                        <a:lumOff val="40000"/>
                      </a:schemeClr>
                    </a:gs>
                    <a:gs pos="100000">
                      <a:schemeClr val="accent1"/>
                    </a:gs>
                  </a:gsLst>
                  <a:lin ang="5400000" scaled="0"/>
                </a:gradFill>
                <a:latin typeface="微软雅黑" panose="020B0503020204020204" charset="-122"/>
                <a:ea typeface="微软雅黑" panose="020B0503020204020204" charset="-122"/>
                <a:cs typeface="微软雅黑" panose="020B0503020204020204" charset="-122"/>
                <a:sym typeface="+mn-ea"/>
              </a:rPr>
              <a:t>代理模型</a:t>
            </a:r>
            <a:endParaRPr lang="en-US" altLang="zh-CN" sz="1600" b="1">
              <a:gradFill>
                <a:gsLst>
                  <a:gs pos="0">
                    <a:schemeClr val="accent1">
                      <a:lumMod val="60000"/>
                      <a:lumOff val="40000"/>
                    </a:schemeClr>
                  </a:gs>
                  <a:gs pos="100000">
                    <a:schemeClr val="accent1"/>
                  </a:gs>
                </a:gsLst>
                <a:lin ang="5400000" scaled="0"/>
              </a:gradFill>
              <a:latin typeface="微软雅黑" panose="020B0503020204020204" charset="-122"/>
              <a:ea typeface="微软雅黑" panose="020B0503020204020204" charset="-122"/>
              <a:cs typeface="微软雅黑" panose="020B0503020204020204" charset="-122"/>
              <a:sym typeface="+mn-ea"/>
            </a:endParaRPr>
          </a:p>
        </p:txBody>
      </p:sp>
      <p:sp>
        <p:nvSpPr>
          <p:cNvPr id="115" name="文本框 114"/>
          <p:cNvSpPr txBox="1"/>
          <p:nvPr>
            <p:custDataLst>
              <p:tags r:id="rId24"/>
            </p:custDataLst>
          </p:nvPr>
        </p:nvSpPr>
        <p:spPr>
          <a:xfrm>
            <a:off x="9862820" y="1601470"/>
            <a:ext cx="1264920" cy="275590"/>
          </a:xfrm>
          <a:prstGeom prst="rect">
            <a:avLst/>
          </a:prstGeom>
          <a:noFill/>
        </p:spPr>
        <p:txBody>
          <a:bodyPr wrap="square" rtlCol="0">
            <a:spAutoFit/>
          </a:bodyPr>
          <a:p>
            <a:pPr lvl="0" algn="ctr">
              <a:buClrTx/>
              <a:buSzTx/>
              <a:buFontTx/>
            </a:pPr>
            <a:r>
              <a:rPr lang="zh-CN" altLang="en-US" sz="1200" b="1">
                <a:solidFill>
                  <a:schemeClr val="tx2"/>
                </a:solidFill>
                <a:latin typeface="微软雅黑" panose="020B0503020204020204" charset="-122"/>
                <a:ea typeface="微软雅黑" panose="020B0503020204020204" charset="-122"/>
                <a:cs typeface="微软雅黑" panose="020B0503020204020204" charset="-122"/>
                <a:sym typeface="+mn-ea"/>
              </a:rPr>
              <a:t>（如小鹏）</a:t>
            </a:r>
            <a:endParaRPr lang="zh-CN" altLang="en-US" sz="1200" b="1">
              <a:solidFill>
                <a:schemeClr val="tx2"/>
              </a:solidFill>
              <a:latin typeface="微软雅黑" panose="020B0503020204020204" charset="-122"/>
              <a:ea typeface="微软雅黑" panose="020B0503020204020204" charset="-122"/>
              <a:cs typeface="微软雅黑" panose="020B0503020204020204" charset="-122"/>
              <a:sym typeface="+mn-ea"/>
            </a:endParaRPr>
          </a:p>
        </p:txBody>
      </p:sp>
      <p:pic>
        <p:nvPicPr>
          <p:cNvPr id="118" name="图片 117" descr="采购代理机构"/>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9349350" y="1456300"/>
            <a:ext cx="313200" cy="313200"/>
          </a:xfrm>
          <a:prstGeom prst="rect">
            <a:avLst/>
          </a:prstGeom>
        </p:spPr>
      </p:pic>
      <p:pic>
        <p:nvPicPr>
          <p:cNvPr id="120" name="图片 119" descr="加盟 (1)"/>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6224270" y="1475740"/>
            <a:ext cx="313200" cy="313200"/>
          </a:xfrm>
          <a:prstGeom prst="rect">
            <a:avLst/>
          </a:prstGeom>
        </p:spPr>
      </p:pic>
      <p:cxnSp>
        <p:nvCxnSpPr>
          <p:cNvPr id="121" name="直接连接符 120"/>
          <p:cNvCxnSpPr/>
          <p:nvPr/>
        </p:nvCxnSpPr>
        <p:spPr>
          <a:xfrm>
            <a:off x="5487670" y="2164080"/>
            <a:ext cx="0" cy="4373245"/>
          </a:xfrm>
          <a:prstGeom prst="line">
            <a:avLst/>
          </a:prstGeom>
          <a:ln>
            <a:solidFill>
              <a:schemeClr val="accent6">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122" name="直接连接符 121"/>
          <p:cNvCxnSpPr/>
          <p:nvPr/>
        </p:nvCxnSpPr>
        <p:spPr>
          <a:xfrm>
            <a:off x="8666480" y="2203450"/>
            <a:ext cx="0" cy="4231640"/>
          </a:xfrm>
          <a:prstGeom prst="line">
            <a:avLst/>
          </a:prstGeom>
          <a:ln>
            <a:solidFill>
              <a:schemeClr val="accent6">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sp>
        <p:nvSpPr>
          <p:cNvPr id="123" name="文本框 122"/>
          <p:cNvSpPr txBox="1"/>
          <p:nvPr/>
        </p:nvSpPr>
        <p:spPr>
          <a:xfrm>
            <a:off x="958850" y="2734945"/>
            <a:ext cx="1077595" cy="583565"/>
          </a:xfrm>
          <a:prstGeom prst="rect">
            <a:avLst/>
          </a:prstGeom>
          <a:noFill/>
        </p:spPr>
        <p:txBody>
          <a:bodyPr wrap="square" rtlCol="0">
            <a:spAutoFit/>
          </a:bodyPr>
          <a:p>
            <a:pPr algn="ctr"/>
            <a:r>
              <a:rPr lang="zh-CN" altLang="en-US"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模式架构</a:t>
            </a:r>
            <a:endParaRPr lang="zh-CN" altLang="en-US"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r>
              <a:rPr lang="zh-CN" altLang="en-US"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说明</a:t>
            </a:r>
            <a:endParaRPr lang="zh-CN" altLang="en-US"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pic>
        <p:nvPicPr>
          <p:cNvPr id="124" name="图片 123" descr="组织架构"/>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476250" y="2788920"/>
            <a:ext cx="351155" cy="351155"/>
          </a:xfrm>
          <a:prstGeom prst="rect">
            <a:avLst/>
          </a:prstGeom>
        </p:spPr>
      </p:pic>
      <p:sp>
        <p:nvSpPr>
          <p:cNvPr id="127" name="矩形 126"/>
          <p:cNvSpPr/>
          <p:nvPr/>
        </p:nvSpPr>
        <p:spPr>
          <a:xfrm>
            <a:off x="2557145" y="2844165"/>
            <a:ext cx="2527300" cy="978535"/>
          </a:xfrm>
          <a:prstGeom prst="rect">
            <a:avLst/>
          </a:prstGeom>
          <a:solidFill>
            <a:schemeClr val="bg1"/>
          </a:solidFill>
          <a:ln>
            <a:solidFill>
              <a:schemeClr val="accent1">
                <a:lumMod val="60000"/>
                <a:lumOff val="40000"/>
              </a:schemeClr>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29" name="矩形 128"/>
          <p:cNvSpPr/>
          <p:nvPr/>
        </p:nvSpPr>
        <p:spPr>
          <a:xfrm>
            <a:off x="2929255" y="3084830"/>
            <a:ext cx="719455" cy="176530"/>
          </a:xfrm>
          <a:prstGeom prst="rect">
            <a:avLst/>
          </a:prstGeom>
          <a:solidFill>
            <a:schemeClr val="bg1"/>
          </a:solidFill>
          <a:ln w="6350">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800">
                <a:solidFill>
                  <a:schemeClr val="accent6"/>
                </a:solidFill>
                <a:cs typeface="微软雅黑" panose="020B0503020204020204" charset="-122"/>
              </a:rPr>
              <a:t>经销商集团</a:t>
            </a:r>
            <a:endParaRPr lang="zh-CN" altLang="en-US" sz="800">
              <a:solidFill>
                <a:schemeClr val="accent6"/>
              </a:solidFill>
              <a:cs typeface="微软雅黑" panose="020B0503020204020204" charset="-122"/>
            </a:endParaRPr>
          </a:p>
        </p:txBody>
      </p:sp>
      <p:sp>
        <p:nvSpPr>
          <p:cNvPr id="139" name="矩形 138"/>
          <p:cNvSpPr/>
          <p:nvPr/>
        </p:nvSpPr>
        <p:spPr>
          <a:xfrm>
            <a:off x="4396105" y="2529205"/>
            <a:ext cx="719455" cy="176530"/>
          </a:xfrm>
          <a:prstGeom prst="rect">
            <a:avLst/>
          </a:prstGeom>
          <a:solidFill>
            <a:schemeClr val="bg1"/>
          </a:solidFill>
          <a:ln>
            <a:solidFill>
              <a:schemeClr val="accent6"/>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800">
                <a:solidFill>
                  <a:schemeClr val="accent6"/>
                </a:solidFill>
                <a:cs typeface="微软雅黑" panose="020B0503020204020204" charset="-122"/>
              </a:rPr>
              <a:t>区域管理</a:t>
            </a:r>
            <a:endParaRPr lang="zh-CN" altLang="en-US" sz="800">
              <a:solidFill>
                <a:schemeClr val="accent6"/>
              </a:solidFill>
              <a:cs typeface="微软雅黑" panose="020B0503020204020204" charset="-122"/>
            </a:endParaRPr>
          </a:p>
        </p:txBody>
      </p:sp>
      <p:sp>
        <p:nvSpPr>
          <p:cNvPr id="140" name="矩形 139"/>
          <p:cNvSpPr/>
          <p:nvPr/>
        </p:nvSpPr>
        <p:spPr>
          <a:xfrm>
            <a:off x="5640070" y="2898775"/>
            <a:ext cx="1388110" cy="978535"/>
          </a:xfrm>
          <a:prstGeom prst="rect">
            <a:avLst/>
          </a:prstGeom>
          <a:solidFill>
            <a:schemeClr val="bg1"/>
          </a:solidFill>
          <a:ln>
            <a:solidFill>
              <a:schemeClr val="accent5">
                <a:lumMod val="60000"/>
                <a:lumOff val="40000"/>
              </a:schemeClr>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41" name="矩形 140"/>
          <p:cNvSpPr/>
          <p:nvPr/>
        </p:nvSpPr>
        <p:spPr>
          <a:xfrm>
            <a:off x="5889943" y="2798445"/>
            <a:ext cx="955675" cy="198120"/>
          </a:xfrm>
          <a:prstGeom prst="rect">
            <a:avLst/>
          </a:prstGeom>
          <a:solidFill>
            <a:schemeClr val="accent5">
              <a:lumMod val="60000"/>
              <a:lumOff val="4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cs typeface="微软雅黑" panose="020B0503020204020204" charset="-122"/>
              </a:rPr>
              <a:t>直营店</a:t>
            </a:r>
            <a:endParaRPr lang="zh-CN" altLang="en-US" sz="1000" b="1">
              <a:cs typeface="微软雅黑" panose="020B0503020204020204" charset="-122"/>
            </a:endParaRPr>
          </a:p>
        </p:txBody>
      </p:sp>
      <p:sp>
        <p:nvSpPr>
          <p:cNvPr id="148" name="矩形 147"/>
          <p:cNvSpPr/>
          <p:nvPr/>
        </p:nvSpPr>
        <p:spPr>
          <a:xfrm>
            <a:off x="7078345" y="2898775"/>
            <a:ext cx="1403985" cy="978535"/>
          </a:xfrm>
          <a:prstGeom prst="rect">
            <a:avLst/>
          </a:prstGeom>
          <a:solidFill>
            <a:schemeClr val="bg1"/>
          </a:solidFill>
          <a:ln>
            <a:solidFill>
              <a:schemeClr val="accent5">
                <a:lumMod val="60000"/>
                <a:lumOff val="40000"/>
              </a:schemeClr>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50" name="矩形 149"/>
          <p:cNvSpPr/>
          <p:nvPr/>
        </p:nvSpPr>
        <p:spPr>
          <a:xfrm>
            <a:off x="6669405" y="2343785"/>
            <a:ext cx="854710" cy="235585"/>
          </a:xfrm>
          <a:prstGeom prst="rect">
            <a:avLst/>
          </a:prstGeom>
          <a:solidFill>
            <a:schemeClr val="bg1"/>
          </a:solidFill>
          <a:ln w="19050">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chemeClr val="accent5">
                    <a:lumMod val="60000"/>
                    <a:lumOff val="40000"/>
                  </a:schemeClr>
                </a:solidFill>
                <a:cs typeface="微软雅黑" panose="020B0503020204020204" charset="-122"/>
              </a:rPr>
              <a:t>主机厂</a:t>
            </a:r>
            <a:endParaRPr lang="zh-CN" altLang="en-US" sz="1200" b="1">
              <a:solidFill>
                <a:schemeClr val="accent5">
                  <a:lumMod val="60000"/>
                  <a:lumOff val="40000"/>
                </a:schemeClr>
              </a:solidFill>
              <a:cs typeface="微软雅黑" panose="020B0503020204020204" charset="-122"/>
            </a:endParaRPr>
          </a:p>
        </p:txBody>
      </p:sp>
      <p:sp>
        <p:nvSpPr>
          <p:cNvPr id="143" name="矩形 142"/>
          <p:cNvSpPr/>
          <p:nvPr/>
        </p:nvSpPr>
        <p:spPr>
          <a:xfrm>
            <a:off x="5784850" y="3484880"/>
            <a:ext cx="505460" cy="286385"/>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800">
              <a:solidFill>
                <a:schemeClr val="accent6"/>
              </a:solidFill>
              <a:cs typeface="微软雅黑" panose="020B0503020204020204" charset="-122"/>
              <a:sym typeface="+mn-ea"/>
            </a:endParaRPr>
          </a:p>
        </p:txBody>
      </p:sp>
      <p:sp>
        <p:nvSpPr>
          <p:cNvPr id="152" name="文本框 151"/>
          <p:cNvSpPr txBox="1"/>
          <p:nvPr>
            <p:custDataLst>
              <p:tags r:id="rId31"/>
            </p:custDataLst>
          </p:nvPr>
        </p:nvSpPr>
        <p:spPr>
          <a:xfrm>
            <a:off x="5740400" y="3514725"/>
            <a:ext cx="615950" cy="247015"/>
          </a:xfrm>
          <a:prstGeom prst="rect">
            <a:avLst/>
          </a:prstGeom>
          <a:noFill/>
        </p:spPr>
        <p:txBody>
          <a:bodyPr wrap="square" rtlCol="0" anchor="ctr" anchorCtr="0">
            <a:noAutofit/>
          </a:bodyPr>
          <a:p>
            <a:pPr algn="ctr"/>
            <a:r>
              <a:rPr lang="zh-CN" altLang="en-US" sz="600">
                <a:solidFill>
                  <a:schemeClr val="accent6"/>
                </a:solidFill>
                <a:latin typeface="微软雅黑" panose="020B0503020204020204" charset="-122"/>
                <a:ea typeface="微软雅黑" panose="020B0503020204020204" charset="-122"/>
                <a:cs typeface="微软雅黑" panose="020B0503020204020204" charset="-122"/>
              </a:rPr>
              <a:t>品牌体验</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a:p>
            <a:pPr algn="ctr"/>
            <a:r>
              <a:rPr lang="zh-CN" altLang="en-US" sz="600">
                <a:solidFill>
                  <a:schemeClr val="accent6"/>
                </a:solidFill>
                <a:latin typeface="微软雅黑" panose="020B0503020204020204" charset="-122"/>
                <a:ea typeface="微软雅黑" panose="020B0503020204020204" charset="-122"/>
                <a:cs typeface="微软雅黑" panose="020B0503020204020204" charset="-122"/>
              </a:rPr>
              <a:t>中心</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p:txBody>
      </p:sp>
      <p:sp>
        <p:nvSpPr>
          <p:cNvPr id="156" name="矩形 155"/>
          <p:cNvSpPr/>
          <p:nvPr/>
        </p:nvSpPr>
        <p:spPr>
          <a:xfrm>
            <a:off x="6423025" y="3484880"/>
            <a:ext cx="505460" cy="286385"/>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800">
              <a:solidFill>
                <a:schemeClr val="accent6"/>
              </a:solidFill>
              <a:cs typeface="微软雅黑" panose="020B0503020204020204" charset="-122"/>
              <a:sym typeface="+mn-ea"/>
            </a:endParaRPr>
          </a:p>
        </p:txBody>
      </p:sp>
      <p:sp>
        <p:nvSpPr>
          <p:cNvPr id="157" name="文本框 156"/>
          <p:cNvSpPr txBox="1"/>
          <p:nvPr>
            <p:custDataLst>
              <p:tags r:id="rId32"/>
            </p:custDataLst>
          </p:nvPr>
        </p:nvSpPr>
        <p:spPr>
          <a:xfrm>
            <a:off x="6378575" y="3514725"/>
            <a:ext cx="615950" cy="247015"/>
          </a:xfrm>
          <a:prstGeom prst="rect">
            <a:avLst/>
          </a:prstGeom>
          <a:noFill/>
        </p:spPr>
        <p:txBody>
          <a:bodyPr wrap="square" rtlCol="0" anchor="ctr" anchorCtr="0">
            <a:noAutofit/>
          </a:bodyPr>
          <a:p>
            <a:pPr algn="ctr"/>
            <a:r>
              <a:rPr lang="zh-CN" altLang="en-US" sz="600">
                <a:solidFill>
                  <a:schemeClr val="accent6"/>
                </a:solidFill>
                <a:latin typeface="微软雅黑" panose="020B0503020204020204" charset="-122"/>
                <a:ea typeface="微软雅黑" panose="020B0503020204020204" charset="-122"/>
                <a:cs typeface="微软雅黑" panose="020B0503020204020204" charset="-122"/>
              </a:rPr>
              <a:t>直营销售</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a:p>
            <a:pPr algn="ctr"/>
            <a:r>
              <a:rPr lang="zh-CN" altLang="en-US" sz="600">
                <a:solidFill>
                  <a:schemeClr val="accent6"/>
                </a:solidFill>
                <a:latin typeface="微软雅黑" panose="020B0503020204020204" charset="-122"/>
                <a:ea typeface="微软雅黑" panose="020B0503020204020204" charset="-122"/>
                <a:cs typeface="微软雅黑" panose="020B0503020204020204" charset="-122"/>
              </a:rPr>
              <a:t>团队</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p:txBody>
      </p:sp>
      <p:sp>
        <p:nvSpPr>
          <p:cNvPr id="159" name="矩形 158"/>
          <p:cNvSpPr/>
          <p:nvPr/>
        </p:nvSpPr>
        <p:spPr>
          <a:xfrm>
            <a:off x="5982335" y="3148330"/>
            <a:ext cx="773430" cy="198755"/>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800">
              <a:solidFill>
                <a:schemeClr val="accent6"/>
              </a:solidFill>
              <a:cs typeface="微软雅黑" panose="020B0503020204020204" charset="-122"/>
            </a:endParaRPr>
          </a:p>
        </p:txBody>
      </p:sp>
      <p:sp>
        <p:nvSpPr>
          <p:cNvPr id="160" name="文本框 159"/>
          <p:cNvSpPr txBox="1"/>
          <p:nvPr>
            <p:custDataLst>
              <p:tags r:id="rId33"/>
            </p:custDataLst>
          </p:nvPr>
        </p:nvSpPr>
        <p:spPr>
          <a:xfrm>
            <a:off x="6001385" y="3175635"/>
            <a:ext cx="732790" cy="138430"/>
          </a:xfrm>
          <a:prstGeom prst="rect">
            <a:avLst/>
          </a:prstGeom>
          <a:noFill/>
        </p:spPr>
        <p:txBody>
          <a:bodyPr wrap="square" rtlCol="0" anchor="ctr" anchorCtr="0">
            <a:noAutofit/>
          </a:bodyPr>
          <a:p>
            <a:pPr algn="ctr"/>
            <a:r>
              <a:rPr lang="zh-CN" altLang="en-US" sz="800">
                <a:solidFill>
                  <a:schemeClr val="accent6"/>
                </a:solidFill>
                <a:latin typeface="微软雅黑" panose="020B0503020204020204" charset="-122"/>
                <a:ea typeface="微软雅黑" panose="020B0503020204020204" charset="-122"/>
                <a:cs typeface="微软雅黑" panose="020B0503020204020204" charset="-122"/>
              </a:rPr>
              <a:t>核心城市</a:t>
            </a:r>
            <a:endParaRPr lang="zh-CN" altLang="en-US" sz="800">
              <a:solidFill>
                <a:schemeClr val="accent6"/>
              </a:solidFill>
              <a:latin typeface="微软雅黑" panose="020B0503020204020204" charset="-122"/>
              <a:ea typeface="微软雅黑" panose="020B0503020204020204" charset="-122"/>
              <a:cs typeface="微软雅黑" panose="020B0503020204020204" charset="-122"/>
            </a:endParaRPr>
          </a:p>
        </p:txBody>
      </p:sp>
      <p:cxnSp>
        <p:nvCxnSpPr>
          <p:cNvPr id="161" name="直接箭头连接符 160"/>
          <p:cNvCxnSpPr/>
          <p:nvPr/>
        </p:nvCxnSpPr>
        <p:spPr>
          <a:xfrm>
            <a:off x="6376035" y="2996565"/>
            <a:ext cx="2540" cy="149225"/>
          </a:xfrm>
          <a:prstGeom prst="straightConnector1">
            <a:avLst/>
          </a:prstGeom>
          <a:ln>
            <a:solidFill>
              <a:schemeClr val="accent6">
                <a:lumMod val="60000"/>
                <a:lumOff val="40000"/>
              </a:schemeClr>
            </a:solidFill>
            <a:tailEnd type="triangle" w="sm" len="sm"/>
          </a:ln>
        </p:spPr>
        <p:style>
          <a:lnRef idx="2">
            <a:schemeClr val="accent1"/>
          </a:lnRef>
          <a:fillRef idx="0">
            <a:srgbClr val="FFFFFF"/>
          </a:fillRef>
          <a:effectRef idx="0">
            <a:srgbClr val="FFFFFF"/>
          </a:effectRef>
          <a:fontRef idx="minor">
            <a:schemeClr val="tx1"/>
          </a:fontRef>
        </p:style>
      </p:cxnSp>
      <p:cxnSp>
        <p:nvCxnSpPr>
          <p:cNvPr id="164" name="肘形连接符 163"/>
          <p:cNvCxnSpPr/>
          <p:nvPr/>
        </p:nvCxnSpPr>
        <p:spPr>
          <a:xfrm rot="5400000">
            <a:off x="6141720" y="3260725"/>
            <a:ext cx="133985" cy="319405"/>
          </a:xfrm>
          <a:prstGeom prst="bentConnector3">
            <a:avLst>
              <a:gd name="adj1" fmla="val 41706"/>
            </a:avLst>
          </a:prstGeom>
          <a:ln>
            <a:solidFill>
              <a:schemeClr val="accent6">
                <a:lumMod val="60000"/>
                <a:lumOff val="40000"/>
              </a:schemeClr>
            </a:solidFill>
            <a:tailEnd type="triangle" w="sm" len="sm"/>
          </a:ln>
        </p:spPr>
        <p:style>
          <a:lnRef idx="2">
            <a:schemeClr val="accent1"/>
          </a:lnRef>
          <a:fillRef idx="0">
            <a:srgbClr val="FFFFFF"/>
          </a:fillRef>
          <a:effectRef idx="0">
            <a:srgbClr val="FFFFFF"/>
          </a:effectRef>
          <a:fontRef idx="minor">
            <a:schemeClr val="tx1"/>
          </a:fontRef>
        </p:style>
      </p:cxnSp>
      <p:cxnSp>
        <p:nvCxnSpPr>
          <p:cNvPr id="165" name="肘形连接符 164"/>
          <p:cNvCxnSpPr/>
          <p:nvPr/>
        </p:nvCxnSpPr>
        <p:spPr>
          <a:xfrm rot="16200000" flipH="1">
            <a:off x="6461125" y="3260725"/>
            <a:ext cx="133985" cy="319405"/>
          </a:xfrm>
          <a:prstGeom prst="bentConnector3">
            <a:avLst>
              <a:gd name="adj1" fmla="val 41232"/>
            </a:avLst>
          </a:prstGeom>
          <a:ln>
            <a:solidFill>
              <a:schemeClr val="accent6">
                <a:lumMod val="60000"/>
                <a:lumOff val="40000"/>
              </a:schemeClr>
            </a:solidFill>
            <a:tailEnd type="triangle" w="sm" len="sm"/>
          </a:ln>
        </p:spPr>
        <p:style>
          <a:lnRef idx="2">
            <a:schemeClr val="accent1"/>
          </a:lnRef>
          <a:fillRef idx="0">
            <a:srgbClr val="FFFFFF"/>
          </a:fillRef>
          <a:effectRef idx="0">
            <a:srgbClr val="FFFFFF"/>
          </a:effectRef>
          <a:fontRef idx="minor">
            <a:schemeClr val="tx1"/>
          </a:fontRef>
        </p:style>
      </p:cxnSp>
      <p:sp>
        <p:nvSpPr>
          <p:cNvPr id="166" name="矩形 165"/>
          <p:cNvSpPr/>
          <p:nvPr/>
        </p:nvSpPr>
        <p:spPr>
          <a:xfrm>
            <a:off x="7331393" y="2798445"/>
            <a:ext cx="955675" cy="198120"/>
          </a:xfrm>
          <a:prstGeom prst="rect">
            <a:avLst/>
          </a:prstGeom>
          <a:solidFill>
            <a:schemeClr val="accent5">
              <a:lumMod val="60000"/>
              <a:lumOff val="4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cs typeface="微软雅黑" panose="020B0503020204020204" charset="-122"/>
              </a:rPr>
              <a:t>加盟网络</a:t>
            </a:r>
            <a:endParaRPr lang="zh-CN" altLang="en-US" sz="1000" b="1">
              <a:cs typeface="微软雅黑" panose="020B0503020204020204" charset="-122"/>
            </a:endParaRPr>
          </a:p>
        </p:txBody>
      </p:sp>
      <p:cxnSp>
        <p:nvCxnSpPr>
          <p:cNvPr id="169" name="直接箭头连接符 168"/>
          <p:cNvCxnSpPr/>
          <p:nvPr/>
        </p:nvCxnSpPr>
        <p:spPr>
          <a:xfrm>
            <a:off x="7788275" y="2996565"/>
            <a:ext cx="2540" cy="149225"/>
          </a:xfrm>
          <a:prstGeom prst="straightConnector1">
            <a:avLst/>
          </a:prstGeom>
          <a:ln>
            <a:solidFill>
              <a:schemeClr val="accent6">
                <a:lumMod val="60000"/>
                <a:lumOff val="40000"/>
              </a:schemeClr>
            </a:solidFill>
            <a:tailEnd type="triangle" w="sm" len="sm"/>
          </a:ln>
        </p:spPr>
        <p:style>
          <a:lnRef idx="2">
            <a:schemeClr val="accent1"/>
          </a:lnRef>
          <a:fillRef idx="0">
            <a:srgbClr val="FFFFFF"/>
          </a:fillRef>
          <a:effectRef idx="0">
            <a:srgbClr val="FFFFFF"/>
          </a:effectRef>
          <a:fontRef idx="minor">
            <a:schemeClr val="tx1"/>
          </a:fontRef>
        </p:style>
      </p:cxnSp>
      <p:grpSp>
        <p:nvGrpSpPr>
          <p:cNvPr id="174" name="组合 173"/>
          <p:cNvGrpSpPr/>
          <p:nvPr/>
        </p:nvGrpSpPr>
        <p:grpSpPr>
          <a:xfrm>
            <a:off x="7071995" y="3529965"/>
            <a:ext cx="342265" cy="223520"/>
            <a:chOff x="11497" y="5355"/>
            <a:chExt cx="539" cy="352"/>
          </a:xfrm>
        </p:grpSpPr>
        <p:sp>
          <p:nvSpPr>
            <p:cNvPr id="170" name="矩形 169"/>
            <p:cNvSpPr/>
            <p:nvPr/>
          </p:nvSpPr>
          <p:spPr>
            <a:xfrm>
              <a:off x="11575" y="5355"/>
              <a:ext cx="387" cy="352"/>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800">
                <a:solidFill>
                  <a:schemeClr val="accent6"/>
                </a:solidFill>
                <a:cs typeface="微软雅黑" panose="020B0503020204020204" charset="-122"/>
                <a:sym typeface="+mn-ea"/>
              </a:endParaRPr>
            </a:p>
          </p:txBody>
        </p:sp>
        <p:sp>
          <p:nvSpPr>
            <p:cNvPr id="171" name="文本框 170"/>
            <p:cNvSpPr txBox="1"/>
            <p:nvPr>
              <p:custDataLst>
                <p:tags r:id="rId34"/>
              </p:custDataLst>
            </p:nvPr>
          </p:nvSpPr>
          <p:spPr>
            <a:xfrm>
              <a:off x="11497" y="5387"/>
              <a:ext cx="539" cy="293"/>
            </a:xfrm>
            <a:prstGeom prst="rect">
              <a:avLst/>
            </a:prstGeom>
            <a:noFill/>
          </p:spPr>
          <p:txBody>
            <a:bodyPr wrap="square" rtlCol="0" anchor="ctr" anchorCtr="0">
              <a:noAutofit/>
            </a:bodyPr>
            <a:p>
              <a:pPr algn="ctr"/>
              <a:r>
                <a:rPr lang="zh-CN" altLang="en-US" sz="600">
                  <a:solidFill>
                    <a:schemeClr val="accent6"/>
                  </a:solidFill>
                  <a:latin typeface="微软雅黑" panose="020B0503020204020204" charset="-122"/>
                  <a:ea typeface="微软雅黑" panose="020B0503020204020204" charset="-122"/>
                  <a:cs typeface="微软雅黑" panose="020B0503020204020204" charset="-122"/>
                </a:rPr>
                <a:t>加盟店</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p:txBody>
        </p:sp>
      </p:grpSp>
      <p:grpSp>
        <p:nvGrpSpPr>
          <p:cNvPr id="199" name="组合 198"/>
          <p:cNvGrpSpPr/>
          <p:nvPr/>
        </p:nvGrpSpPr>
        <p:grpSpPr>
          <a:xfrm>
            <a:off x="7418070" y="3529965"/>
            <a:ext cx="342265" cy="223520"/>
            <a:chOff x="11497" y="5355"/>
            <a:chExt cx="539" cy="352"/>
          </a:xfrm>
        </p:grpSpPr>
        <p:sp>
          <p:nvSpPr>
            <p:cNvPr id="200" name="矩形 199"/>
            <p:cNvSpPr/>
            <p:nvPr/>
          </p:nvSpPr>
          <p:spPr>
            <a:xfrm>
              <a:off x="11575" y="5355"/>
              <a:ext cx="387" cy="352"/>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800">
                <a:solidFill>
                  <a:schemeClr val="accent6"/>
                </a:solidFill>
                <a:cs typeface="微软雅黑" panose="020B0503020204020204" charset="-122"/>
                <a:sym typeface="+mn-ea"/>
              </a:endParaRPr>
            </a:p>
          </p:txBody>
        </p:sp>
        <p:sp>
          <p:nvSpPr>
            <p:cNvPr id="201" name="文本框 200"/>
            <p:cNvSpPr txBox="1"/>
            <p:nvPr>
              <p:custDataLst>
                <p:tags r:id="rId35"/>
              </p:custDataLst>
            </p:nvPr>
          </p:nvSpPr>
          <p:spPr>
            <a:xfrm>
              <a:off x="11497" y="5387"/>
              <a:ext cx="539" cy="293"/>
            </a:xfrm>
            <a:prstGeom prst="rect">
              <a:avLst/>
            </a:prstGeom>
            <a:noFill/>
          </p:spPr>
          <p:txBody>
            <a:bodyPr wrap="square" rtlCol="0" anchor="ctr" anchorCtr="0">
              <a:noAutofit/>
            </a:bodyPr>
            <a:p>
              <a:pPr algn="ctr"/>
              <a:r>
                <a:rPr lang="zh-CN" altLang="en-US" sz="600">
                  <a:solidFill>
                    <a:schemeClr val="accent6"/>
                  </a:solidFill>
                  <a:latin typeface="微软雅黑" panose="020B0503020204020204" charset="-122"/>
                  <a:ea typeface="微软雅黑" panose="020B0503020204020204" charset="-122"/>
                  <a:cs typeface="微软雅黑" panose="020B0503020204020204" charset="-122"/>
                </a:rPr>
                <a:t>加盟店</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p:txBody>
        </p:sp>
      </p:grpSp>
      <p:grpSp>
        <p:nvGrpSpPr>
          <p:cNvPr id="202" name="组合 201"/>
          <p:cNvGrpSpPr/>
          <p:nvPr/>
        </p:nvGrpSpPr>
        <p:grpSpPr>
          <a:xfrm>
            <a:off x="7764145" y="3529965"/>
            <a:ext cx="342265" cy="223520"/>
            <a:chOff x="11497" y="5355"/>
            <a:chExt cx="539" cy="352"/>
          </a:xfrm>
        </p:grpSpPr>
        <p:sp>
          <p:nvSpPr>
            <p:cNvPr id="203" name="矩形 202"/>
            <p:cNvSpPr/>
            <p:nvPr/>
          </p:nvSpPr>
          <p:spPr>
            <a:xfrm>
              <a:off x="11575" y="5355"/>
              <a:ext cx="387" cy="352"/>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800">
                <a:solidFill>
                  <a:schemeClr val="accent6"/>
                </a:solidFill>
                <a:cs typeface="微软雅黑" panose="020B0503020204020204" charset="-122"/>
                <a:sym typeface="+mn-ea"/>
              </a:endParaRPr>
            </a:p>
          </p:txBody>
        </p:sp>
        <p:sp>
          <p:nvSpPr>
            <p:cNvPr id="204" name="文本框 203"/>
            <p:cNvSpPr txBox="1"/>
            <p:nvPr>
              <p:custDataLst>
                <p:tags r:id="rId36"/>
              </p:custDataLst>
            </p:nvPr>
          </p:nvSpPr>
          <p:spPr>
            <a:xfrm>
              <a:off x="11497" y="5387"/>
              <a:ext cx="539" cy="293"/>
            </a:xfrm>
            <a:prstGeom prst="rect">
              <a:avLst/>
            </a:prstGeom>
            <a:noFill/>
          </p:spPr>
          <p:txBody>
            <a:bodyPr wrap="square" rtlCol="0" anchor="ctr" anchorCtr="0">
              <a:noAutofit/>
            </a:bodyPr>
            <a:p>
              <a:pPr algn="ctr"/>
              <a:r>
                <a:rPr lang="zh-CN" altLang="en-US" sz="600">
                  <a:solidFill>
                    <a:schemeClr val="accent6"/>
                  </a:solidFill>
                  <a:latin typeface="微软雅黑" panose="020B0503020204020204" charset="-122"/>
                  <a:ea typeface="微软雅黑" panose="020B0503020204020204" charset="-122"/>
                  <a:cs typeface="微软雅黑" panose="020B0503020204020204" charset="-122"/>
                </a:rPr>
                <a:t>加盟店</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p:txBody>
        </p:sp>
      </p:grpSp>
      <p:grpSp>
        <p:nvGrpSpPr>
          <p:cNvPr id="205" name="组合 204"/>
          <p:cNvGrpSpPr/>
          <p:nvPr/>
        </p:nvGrpSpPr>
        <p:grpSpPr>
          <a:xfrm>
            <a:off x="8110220" y="3529965"/>
            <a:ext cx="342265" cy="223520"/>
            <a:chOff x="11497" y="5355"/>
            <a:chExt cx="539" cy="352"/>
          </a:xfrm>
        </p:grpSpPr>
        <p:sp>
          <p:nvSpPr>
            <p:cNvPr id="206" name="矩形 205"/>
            <p:cNvSpPr/>
            <p:nvPr/>
          </p:nvSpPr>
          <p:spPr>
            <a:xfrm>
              <a:off x="11575" y="5355"/>
              <a:ext cx="387" cy="352"/>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800">
                <a:solidFill>
                  <a:schemeClr val="accent6"/>
                </a:solidFill>
                <a:cs typeface="微软雅黑" panose="020B0503020204020204" charset="-122"/>
                <a:sym typeface="+mn-ea"/>
              </a:endParaRPr>
            </a:p>
          </p:txBody>
        </p:sp>
        <p:sp>
          <p:nvSpPr>
            <p:cNvPr id="207" name="文本框 206"/>
            <p:cNvSpPr txBox="1"/>
            <p:nvPr>
              <p:custDataLst>
                <p:tags r:id="rId37"/>
              </p:custDataLst>
            </p:nvPr>
          </p:nvSpPr>
          <p:spPr>
            <a:xfrm>
              <a:off x="11497" y="5387"/>
              <a:ext cx="539" cy="293"/>
            </a:xfrm>
            <a:prstGeom prst="rect">
              <a:avLst/>
            </a:prstGeom>
            <a:noFill/>
          </p:spPr>
          <p:txBody>
            <a:bodyPr wrap="square" rtlCol="0" anchor="ctr" anchorCtr="0">
              <a:noAutofit/>
            </a:bodyPr>
            <a:p>
              <a:pPr algn="ctr"/>
              <a:r>
                <a:rPr lang="zh-CN" altLang="en-US" sz="600">
                  <a:solidFill>
                    <a:schemeClr val="accent6"/>
                  </a:solidFill>
                  <a:latin typeface="微软雅黑" panose="020B0503020204020204" charset="-122"/>
                  <a:ea typeface="微软雅黑" panose="020B0503020204020204" charset="-122"/>
                  <a:cs typeface="微软雅黑" panose="020B0503020204020204" charset="-122"/>
                </a:rPr>
                <a:t>加盟店</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p:txBody>
        </p:sp>
      </p:grpSp>
      <p:cxnSp>
        <p:nvCxnSpPr>
          <p:cNvPr id="208" name="肘形连接符 207"/>
          <p:cNvCxnSpPr/>
          <p:nvPr/>
        </p:nvCxnSpPr>
        <p:spPr>
          <a:xfrm rot="5400000">
            <a:off x="7418070" y="3162300"/>
            <a:ext cx="187960" cy="537845"/>
          </a:xfrm>
          <a:prstGeom prst="bentConnector3">
            <a:avLst>
              <a:gd name="adj1" fmla="val 49831"/>
            </a:avLst>
          </a:prstGeom>
          <a:ln>
            <a:solidFill>
              <a:schemeClr val="accent6">
                <a:lumMod val="60000"/>
                <a:lumOff val="40000"/>
              </a:schemeClr>
            </a:solidFill>
            <a:tailEnd type="triangle" w="sm" len="sm"/>
          </a:ln>
        </p:spPr>
        <p:style>
          <a:lnRef idx="2">
            <a:schemeClr val="accent1"/>
          </a:lnRef>
          <a:fillRef idx="0">
            <a:srgbClr val="FFFFFF"/>
          </a:fillRef>
          <a:effectRef idx="0">
            <a:srgbClr val="FFFFFF"/>
          </a:effectRef>
          <a:fontRef idx="minor">
            <a:schemeClr val="tx1"/>
          </a:fontRef>
        </p:style>
      </p:cxnSp>
      <p:cxnSp>
        <p:nvCxnSpPr>
          <p:cNvPr id="209" name="肘形连接符 208"/>
          <p:cNvCxnSpPr/>
          <p:nvPr/>
        </p:nvCxnSpPr>
        <p:spPr>
          <a:xfrm rot="5400000" flipV="1">
            <a:off x="7920355" y="3164205"/>
            <a:ext cx="220980" cy="501650"/>
          </a:xfrm>
          <a:prstGeom prst="bentConnector3">
            <a:avLst>
              <a:gd name="adj1" fmla="val 57471"/>
            </a:avLst>
          </a:prstGeom>
          <a:ln>
            <a:solidFill>
              <a:schemeClr val="accent6">
                <a:lumMod val="60000"/>
                <a:lumOff val="40000"/>
              </a:schemeClr>
            </a:solidFill>
            <a:tailEnd type="triangle" w="sm" len="sm"/>
          </a:ln>
        </p:spPr>
        <p:style>
          <a:lnRef idx="2">
            <a:schemeClr val="accent1"/>
          </a:lnRef>
          <a:fillRef idx="0">
            <a:srgbClr val="FFFFFF"/>
          </a:fillRef>
          <a:effectRef idx="0">
            <a:srgbClr val="FFFFFF"/>
          </a:effectRef>
          <a:fontRef idx="minor">
            <a:schemeClr val="tx1"/>
          </a:fontRef>
        </p:style>
      </p:cxnSp>
      <p:sp>
        <p:nvSpPr>
          <p:cNvPr id="211" name="矩形 210"/>
          <p:cNvSpPr/>
          <p:nvPr/>
        </p:nvSpPr>
        <p:spPr>
          <a:xfrm>
            <a:off x="7394575" y="3148330"/>
            <a:ext cx="773430" cy="198755"/>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800">
              <a:solidFill>
                <a:schemeClr val="accent6"/>
              </a:solidFill>
              <a:cs typeface="微软雅黑" panose="020B0503020204020204" charset="-122"/>
            </a:endParaRPr>
          </a:p>
        </p:txBody>
      </p:sp>
      <p:sp>
        <p:nvSpPr>
          <p:cNvPr id="212" name="文本框 211"/>
          <p:cNvSpPr txBox="1"/>
          <p:nvPr>
            <p:custDataLst>
              <p:tags r:id="rId38"/>
            </p:custDataLst>
          </p:nvPr>
        </p:nvSpPr>
        <p:spPr>
          <a:xfrm>
            <a:off x="7413625" y="3175635"/>
            <a:ext cx="732790" cy="138430"/>
          </a:xfrm>
          <a:prstGeom prst="rect">
            <a:avLst/>
          </a:prstGeom>
          <a:noFill/>
        </p:spPr>
        <p:txBody>
          <a:bodyPr wrap="square" rtlCol="0" anchor="ctr" anchorCtr="0">
            <a:noAutofit/>
          </a:bodyPr>
          <a:p>
            <a:pPr algn="ctr"/>
            <a:r>
              <a:rPr lang="zh-CN" altLang="en-US" sz="800">
                <a:solidFill>
                  <a:schemeClr val="accent6"/>
                </a:solidFill>
                <a:latin typeface="微软雅黑" panose="020B0503020204020204" charset="-122"/>
                <a:ea typeface="微软雅黑" panose="020B0503020204020204" charset="-122"/>
                <a:cs typeface="微软雅黑" panose="020B0503020204020204" charset="-122"/>
              </a:rPr>
              <a:t>区域市场</a:t>
            </a:r>
            <a:endParaRPr lang="zh-CN" altLang="en-US" sz="800">
              <a:solidFill>
                <a:schemeClr val="accent6"/>
              </a:solidFill>
              <a:latin typeface="微软雅黑" panose="020B0503020204020204" charset="-122"/>
              <a:ea typeface="微软雅黑" panose="020B0503020204020204" charset="-122"/>
              <a:cs typeface="微软雅黑" panose="020B0503020204020204" charset="-122"/>
            </a:endParaRPr>
          </a:p>
        </p:txBody>
      </p:sp>
      <p:cxnSp>
        <p:nvCxnSpPr>
          <p:cNvPr id="213" name="直接箭头连接符 212"/>
          <p:cNvCxnSpPr/>
          <p:nvPr/>
        </p:nvCxnSpPr>
        <p:spPr>
          <a:xfrm>
            <a:off x="7592060" y="3433445"/>
            <a:ext cx="1270" cy="92710"/>
          </a:xfrm>
          <a:prstGeom prst="straightConnector1">
            <a:avLst/>
          </a:prstGeom>
          <a:ln>
            <a:solidFill>
              <a:schemeClr val="accent6">
                <a:lumMod val="60000"/>
                <a:lumOff val="40000"/>
              </a:schemeClr>
            </a:solidFill>
            <a:tailEnd type="triangle" w="sm" len="sm"/>
          </a:ln>
        </p:spPr>
        <p:style>
          <a:lnRef idx="2">
            <a:schemeClr val="accent1"/>
          </a:lnRef>
          <a:fillRef idx="0">
            <a:srgbClr val="FFFFFF"/>
          </a:fillRef>
          <a:effectRef idx="0">
            <a:srgbClr val="FFFFFF"/>
          </a:effectRef>
          <a:fontRef idx="minor">
            <a:schemeClr val="tx1"/>
          </a:fontRef>
        </p:style>
      </p:cxnSp>
      <p:cxnSp>
        <p:nvCxnSpPr>
          <p:cNvPr id="214" name="直接箭头连接符 213"/>
          <p:cNvCxnSpPr/>
          <p:nvPr/>
        </p:nvCxnSpPr>
        <p:spPr>
          <a:xfrm>
            <a:off x="7957185" y="3433445"/>
            <a:ext cx="1270" cy="92710"/>
          </a:xfrm>
          <a:prstGeom prst="straightConnector1">
            <a:avLst/>
          </a:prstGeom>
          <a:ln>
            <a:solidFill>
              <a:schemeClr val="accent6">
                <a:lumMod val="60000"/>
                <a:lumOff val="40000"/>
              </a:schemeClr>
            </a:solidFill>
            <a:tailEnd type="triangle" w="sm" len="sm"/>
          </a:ln>
        </p:spPr>
        <p:style>
          <a:lnRef idx="2">
            <a:schemeClr val="accent1"/>
          </a:lnRef>
          <a:fillRef idx="0">
            <a:srgbClr val="FFFFFF"/>
          </a:fillRef>
          <a:effectRef idx="0">
            <a:srgbClr val="FFFFFF"/>
          </a:effectRef>
          <a:fontRef idx="minor">
            <a:schemeClr val="tx1"/>
          </a:fontRef>
        </p:style>
      </p:cxnSp>
      <p:sp>
        <p:nvSpPr>
          <p:cNvPr id="215" name="左大括号 214"/>
          <p:cNvSpPr/>
          <p:nvPr/>
        </p:nvSpPr>
        <p:spPr>
          <a:xfrm rot="5400000" flipV="1">
            <a:off x="7041515" y="1878965"/>
            <a:ext cx="117475" cy="1668780"/>
          </a:xfrm>
          <a:prstGeom prst="leftBrace">
            <a:avLst>
              <a:gd name="adj1" fmla="val 270540"/>
              <a:gd name="adj2" fmla="val 49638"/>
            </a:avLst>
          </a:prstGeom>
          <a:ln>
            <a:solidFill>
              <a:schemeClr val="accent5">
                <a:lumMod val="60000"/>
                <a:lumOff val="4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cs typeface="微软雅黑" panose="020B0503020204020204" charset="-122"/>
            </a:endParaRPr>
          </a:p>
        </p:txBody>
      </p:sp>
      <p:sp>
        <p:nvSpPr>
          <p:cNvPr id="216" name="矩形 215"/>
          <p:cNvSpPr/>
          <p:nvPr/>
        </p:nvSpPr>
        <p:spPr>
          <a:xfrm>
            <a:off x="3367723" y="2771775"/>
            <a:ext cx="955675" cy="198120"/>
          </a:xfrm>
          <a:prstGeom prst="rect">
            <a:avLst/>
          </a:prstGeom>
          <a:solidFill>
            <a:schemeClr val="accent1">
              <a:lumMod val="60000"/>
              <a:lumOff val="40000"/>
            </a:schemeClr>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cs typeface="微软雅黑" panose="020B0503020204020204" charset="-122"/>
              </a:rPr>
              <a:t>经销商网络</a:t>
            </a:r>
            <a:endParaRPr lang="zh-CN" altLang="en-US" sz="1000" b="1">
              <a:cs typeface="微软雅黑" panose="020B0503020204020204" charset="-122"/>
            </a:endParaRPr>
          </a:p>
        </p:txBody>
      </p:sp>
      <p:sp>
        <p:nvSpPr>
          <p:cNvPr id="217" name="矩形 216"/>
          <p:cNvSpPr/>
          <p:nvPr/>
        </p:nvSpPr>
        <p:spPr>
          <a:xfrm>
            <a:off x="3368040" y="2343785"/>
            <a:ext cx="854710" cy="235585"/>
          </a:xfrm>
          <a:prstGeom prst="rect">
            <a:avLst/>
          </a:prstGeom>
          <a:solidFill>
            <a:schemeClr val="bg1"/>
          </a:solidFill>
          <a:ln w="19050">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chemeClr val="accent1">
                    <a:lumMod val="60000"/>
                    <a:lumOff val="40000"/>
                  </a:schemeClr>
                </a:solidFill>
                <a:cs typeface="微软雅黑" panose="020B0503020204020204" charset="-122"/>
              </a:rPr>
              <a:t>主机厂</a:t>
            </a:r>
            <a:endParaRPr lang="zh-CN" altLang="en-US" sz="1200" b="1">
              <a:solidFill>
                <a:schemeClr val="accent1">
                  <a:lumMod val="60000"/>
                  <a:lumOff val="40000"/>
                </a:schemeClr>
              </a:solidFill>
              <a:cs typeface="微软雅黑" panose="020B0503020204020204" charset="-122"/>
            </a:endParaRPr>
          </a:p>
        </p:txBody>
      </p:sp>
      <p:cxnSp>
        <p:nvCxnSpPr>
          <p:cNvPr id="218" name="肘形连接符 217"/>
          <p:cNvCxnSpPr>
            <a:stCxn id="217" idx="3"/>
            <a:endCxn id="139" idx="0"/>
          </p:cNvCxnSpPr>
          <p:nvPr/>
        </p:nvCxnSpPr>
        <p:spPr>
          <a:xfrm>
            <a:off x="4222750" y="2461895"/>
            <a:ext cx="533400" cy="67310"/>
          </a:xfrm>
          <a:prstGeom prst="bentConnector2">
            <a:avLst/>
          </a:prstGeom>
          <a:ln>
            <a:solidFill>
              <a:schemeClr val="accent6">
                <a:lumMod val="60000"/>
                <a:lumOff val="40000"/>
              </a:schemeClr>
            </a:solidFill>
            <a:tailEnd type="triangle" w="sm" len="sm"/>
          </a:ln>
        </p:spPr>
        <p:style>
          <a:lnRef idx="2">
            <a:schemeClr val="accent1"/>
          </a:lnRef>
          <a:fillRef idx="0">
            <a:srgbClr val="FFFFFF"/>
          </a:fillRef>
          <a:effectRef idx="0">
            <a:srgbClr val="FFFFFF"/>
          </a:effectRef>
          <a:fontRef idx="minor">
            <a:schemeClr val="tx1"/>
          </a:fontRef>
        </p:style>
      </p:cxnSp>
      <p:grpSp>
        <p:nvGrpSpPr>
          <p:cNvPr id="222" name="组合 221"/>
          <p:cNvGrpSpPr/>
          <p:nvPr/>
        </p:nvGrpSpPr>
        <p:grpSpPr>
          <a:xfrm>
            <a:off x="2614930" y="3494405"/>
            <a:ext cx="382905" cy="223520"/>
            <a:chOff x="11467" y="5355"/>
            <a:chExt cx="603" cy="352"/>
          </a:xfrm>
        </p:grpSpPr>
        <p:sp>
          <p:nvSpPr>
            <p:cNvPr id="223" name="矩形 222"/>
            <p:cNvSpPr/>
            <p:nvPr/>
          </p:nvSpPr>
          <p:spPr>
            <a:xfrm>
              <a:off x="11575" y="5355"/>
              <a:ext cx="387" cy="352"/>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800">
                <a:solidFill>
                  <a:schemeClr val="accent6"/>
                </a:solidFill>
                <a:cs typeface="微软雅黑" panose="020B0503020204020204" charset="-122"/>
                <a:sym typeface="+mn-ea"/>
              </a:endParaRPr>
            </a:p>
          </p:txBody>
        </p:sp>
        <p:sp>
          <p:nvSpPr>
            <p:cNvPr id="224" name="文本框 223"/>
            <p:cNvSpPr txBox="1"/>
            <p:nvPr>
              <p:custDataLst>
                <p:tags r:id="rId39"/>
              </p:custDataLst>
            </p:nvPr>
          </p:nvSpPr>
          <p:spPr>
            <a:xfrm>
              <a:off x="11467" y="5387"/>
              <a:ext cx="603" cy="293"/>
            </a:xfrm>
            <a:prstGeom prst="rect">
              <a:avLst/>
            </a:prstGeom>
            <a:noFill/>
          </p:spPr>
          <p:txBody>
            <a:bodyPr wrap="square" rtlCol="0" anchor="ctr" anchorCtr="0">
              <a:noAutofit/>
            </a:bodyPr>
            <a:p>
              <a:pPr algn="ctr"/>
              <a:r>
                <a:rPr lang="en-US" altLang="zh-CN" sz="600">
                  <a:solidFill>
                    <a:schemeClr val="accent6"/>
                  </a:solidFill>
                  <a:latin typeface="微软雅黑" panose="020B0503020204020204" charset="-122"/>
                  <a:ea typeface="微软雅黑" panose="020B0503020204020204" charset="-122"/>
                  <a:cs typeface="微软雅黑" panose="020B0503020204020204" charset="-122"/>
                </a:rPr>
                <a:t>4S</a:t>
              </a:r>
              <a:r>
                <a:rPr lang="zh-CN" altLang="en-US" sz="600">
                  <a:solidFill>
                    <a:schemeClr val="accent6"/>
                  </a:solidFill>
                  <a:latin typeface="微软雅黑" panose="020B0503020204020204" charset="-122"/>
                  <a:ea typeface="微软雅黑" panose="020B0503020204020204" charset="-122"/>
                  <a:cs typeface="微软雅黑" panose="020B0503020204020204" charset="-122"/>
                </a:rPr>
                <a:t>店</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p:txBody>
        </p:sp>
      </p:grpSp>
      <p:grpSp>
        <p:nvGrpSpPr>
          <p:cNvPr id="225" name="组合 224"/>
          <p:cNvGrpSpPr/>
          <p:nvPr/>
        </p:nvGrpSpPr>
        <p:grpSpPr>
          <a:xfrm>
            <a:off x="3449320" y="3494405"/>
            <a:ext cx="382905" cy="223520"/>
            <a:chOff x="11467" y="5355"/>
            <a:chExt cx="603" cy="352"/>
          </a:xfrm>
        </p:grpSpPr>
        <p:sp>
          <p:nvSpPr>
            <p:cNvPr id="226" name="矩形 225"/>
            <p:cNvSpPr/>
            <p:nvPr/>
          </p:nvSpPr>
          <p:spPr>
            <a:xfrm>
              <a:off x="11575" y="5355"/>
              <a:ext cx="387" cy="352"/>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800">
                <a:solidFill>
                  <a:schemeClr val="accent6"/>
                </a:solidFill>
                <a:cs typeface="微软雅黑" panose="020B0503020204020204" charset="-122"/>
                <a:sym typeface="+mn-ea"/>
              </a:endParaRPr>
            </a:p>
          </p:txBody>
        </p:sp>
        <p:sp>
          <p:nvSpPr>
            <p:cNvPr id="227" name="文本框 226"/>
            <p:cNvSpPr txBox="1"/>
            <p:nvPr>
              <p:custDataLst>
                <p:tags r:id="rId40"/>
              </p:custDataLst>
            </p:nvPr>
          </p:nvSpPr>
          <p:spPr>
            <a:xfrm>
              <a:off x="11467" y="5387"/>
              <a:ext cx="603" cy="293"/>
            </a:xfrm>
            <a:prstGeom prst="rect">
              <a:avLst/>
            </a:prstGeom>
            <a:noFill/>
          </p:spPr>
          <p:txBody>
            <a:bodyPr wrap="square" rtlCol="0" anchor="ctr" anchorCtr="0">
              <a:noAutofit/>
            </a:bodyPr>
            <a:p>
              <a:pPr algn="ctr"/>
              <a:r>
                <a:rPr lang="en-US" altLang="zh-CN" sz="600">
                  <a:solidFill>
                    <a:schemeClr val="accent6"/>
                  </a:solidFill>
                  <a:latin typeface="微软雅黑" panose="020B0503020204020204" charset="-122"/>
                  <a:ea typeface="微软雅黑" panose="020B0503020204020204" charset="-122"/>
                  <a:cs typeface="微软雅黑" panose="020B0503020204020204" charset="-122"/>
                </a:rPr>
                <a:t>4S</a:t>
              </a:r>
              <a:r>
                <a:rPr lang="zh-CN" altLang="en-US" sz="600">
                  <a:solidFill>
                    <a:schemeClr val="accent6"/>
                  </a:solidFill>
                  <a:latin typeface="微软雅黑" panose="020B0503020204020204" charset="-122"/>
                  <a:ea typeface="微软雅黑" panose="020B0503020204020204" charset="-122"/>
                  <a:cs typeface="微软雅黑" panose="020B0503020204020204" charset="-122"/>
                </a:rPr>
                <a:t>店</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p:txBody>
        </p:sp>
      </p:grpSp>
      <p:grpSp>
        <p:nvGrpSpPr>
          <p:cNvPr id="228" name="组合 227"/>
          <p:cNvGrpSpPr/>
          <p:nvPr/>
        </p:nvGrpSpPr>
        <p:grpSpPr>
          <a:xfrm>
            <a:off x="2893060" y="3494405"/>
            <a:ext cx="382905" cy="223520"/>
            <a:chOff x="11467" y="5355"/>
            <a:chExt cx="603" cy="352"/>
          </a:xfrm>
        </p:grpSpPr>
        <p:sp>
          <p:nvSpPr>
            <p:cNvPr id="229" name="矩形 228"/>
            <p:cNvSpPr/>
            <p:nvPr/>
          </p:nvSpPr>
          <p:spPr>
            <a:xfrm>
              <a:off x="11575" y="5355"/>
              <a:ext cx="387" cy="352"/>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800">
                <a:solidFill>
                  <a:schemeClr val="accent6"/>
                </a:solidFill>
                <a:cs typeface="微软雅黑" panose="020B0503020204020204" charset="-122"/>
                <a:sym typeface="+mn-ea"/>
              </a:endParaRPr>
            </a:p>
          </p:txBody>
        </p:sp>
        <p:sp>
          <p:nvSpPr>
            <p:cNvPr id="230" name="文本框 229"/>
            <p:cNvSpPr txBox="1"/>
            <p:nvPr>
              <p:custDataLst>
                <p:tags r:id="rId41"/>
              </p:custDataLst>
            </p:nvPr>
          </p:nvSpPr>
          <p:spPr>
            <a:xfrm>
              <a:off x="11467" y="5387"/>
              <a:ext cx="603" cy="293"/>
            </a:xfrm>
            <a:prstGeom prst="rect">
              <a:avLst/>
            </a:prstGeom>
            <a:noFill/>
          </p:spPr>
          <p:txBody>
            <a:bodyPr wrap="square" rtlCol="0" anchor="ctr" anchorCtr="0">
              <a:noAutofit/>
            </a:bodyPr>
            <a:p>
              <a:pPr algn="ctr"/>
              <a:r>
                <a:rPr lang="en-US" altLang="zh-CN" sz="600">
                  <a:solidFill>
                    <a:schemeClr val="accent6"/>
                  </a:solidFill>
                  <a:latin typeface="微软雅黑" panose="020B0503020204020204" charset="-122"/>
                  <a:ea typeface="微软雅黑" panose="020B0503020204020204" charset="-122"/>
                  <a:cs typeface="微软雅黑" panose="020B0503020204020204" charset="-122"/>
                </a:rPr>
                <a:t>4S</a:t>
              </a:r>
              <a:r>
                <a:rPr lang="zh-CN" altLang="en-US" sz="600">
                  <a:solidFill>
                    <a:schemeClr val="accent6"/>
                  </a:solidFill>
                  <a:latin typeface="微软雅黑" panose="020B0503020204020204" charset="-122"/>
                  <a:ea typeface="微软雅黑" panose="020B0503020204020204" charset="-122"/>
                  <a:cs typeface="微软雅黑" panose="020B0503020204020204" charset="-122"/>
                </a:rPr>
                <a:t>店</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p:txBody>
        </p:sp>
      </p:grpSp>
      <p:grpSp>
        <p:nvGrpSpPr>
          <p:cNvPr id="237" name="组合 236"/>
          <p:cNvGrpSpPr/>
          <p:nvPr/>
        </p:nvGrpSpPr>
        <p:grpSpPr>
          <a:xfrm>
            <a:off x="3171190" y="3494405"/>
            <a:ext cx="382905" cy="223520"/>
            <a:chOff x="11467" y="5355"/>
            <a:chExt cx="603" cy="352"/>
          </a:xfrm>
        </p:grpSpPr>
        <p:sp>
          <p:nvSpPr>
            <p:cNvPr id="238" name="矩形 237"/>
            <p:cNvSpPr/>
            <p:nvPr/>
          </p:nvSpPr>
          <p:spPr>
            <a:xfrm>
              <a:off x="11575" y="5355"/>
              <a:ext cx="387" cy="352"/>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800">
                <a:solidFill>
                  <a:schemeClr val="accent6"/>
                </a:solidFill>
                <a:cs typeface="微软雅黑" panose="020B0503020204020204" charset="-122"/>
                <a:sym typeface="+mn-ea"/>
              </a:endParaRPr>
            </a:p>
          </p:txBody>
        </p:sp>
        <p:sp>
          <p:nvSpPr>
            <p:cNvPr id="239" name="文本框 238"/>
            <p:cNvSpPr txBox="1"/>
            <p:nvPr>
              <p:custDataLst>
                <p:tags r:id="rId42"/>
              </p:custDataLst>
            </p:nvPr>
          </p:nvSpPr>
          <p:spPr>
            <a:xfrm>
              <a:off x="11467" y="5387"/>
              <a:ext cx="603" cy="293"/>
            </a:xfrm>
            <a:prstGeom prst="rect">
              <a:avLst/>
            </a:prstGeom>
            <a:noFill/>
          </p:spPr>
          <p:txBody>
            <a:bodyPr wrap="square" rtlCol="0" anchor="ctr" anchorCtr="0">
              <a:noAutofit/>
            </a:bodyPr>
            <a:p>
              <a:pPr algn="ctr"/>
              <a:r>
                <a:rPr lang="en-US" altLang="zh-CN" sz="600">
                  <a:solidFill>
                    <a:schemeClr val="accent6"/>
                  </a:solidFill>
                  <a:latin typeface="微软雅黑" panose="020B0503020204020204" charset="-122"/>
                  <a:ea typeface="微软雅黑" panose="020B0503020204020204" charset="-122"/>
                  <a:cs typeface="微软雅黑" panose="020B0503020204020204" charset="-122"/>
                </a:rPr>
                <a:t>4S</a:t>
              </a:r>
              <a:r>
                <a:rPr lang="zh-CN" altLang="en-US" sz="600">
                  <a:solidFill>
                    <a:schemeClr val="accent6"/>
                  </a:solidFill>
                  <a:latin typeface="微软雅黑" panose="020B0503020204020204" charset="-122"/>
                  <a:ea typeface="微软雅黑" panose="020B0503020204020204" charset="-122"/>
                  <a:cs typeface="微软雅黑" panose="020B0503020204020204" charset="-122"/>
                </a:rPr>
                <a:t>店</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p:txBody>
        </p:sp>
      </p:grpSp>
      <p:cxnSp>
        <p:nvCxnSpPr>
          <p:cNvPr id="246" name="肘形连接符 245"/>
          <p:cNvCxnSpPr>
            <a:stCxn id="129" idx="2"/>
            <a:endCxn id="223" idx="0"/>
          </p:cNvCxnSpPr>
          <p:nvPr/>
        </p:nvCxnSpPr>
        <p:spPr>
          <a:xfrm rot="5400000">
            <a:off x="2931478" y="3136583"/>
            <a:ext cx="233045" cy="482600"/>
          </a:xfrm>
          <a:prstGeom prst="bentConnector3">
            <a:avLst>
              <a:gd name="adj1" fmla="val 32425"/>
            </a:avLst>
          </a:prstGeom>
          <a:ln>
            <a:solidFill>
              <a:schemeClr val="accent6">
                <a:lumMod val="60000"/>
                <a:lumOff val="40000"/>
              </a:schemeClr>
            </a:solidFill>
            <a:tailEnd type="triangle" w="sm" len="sm"/>
          </a:ln>
        </p:spPr>
        <p:style>
          <a:lnRef idx="2">
            <a:schemeClr val="accent1"/>
          </a:lnRef>
          <a:fillRef idx="0">
            <a:srgbClr val="FFFFFF"/>
          </a:fillRef>
          <a:effectRef idx="0">
            <a:srgbClr val="FFFFFF"/>
          </a:effectRef>
          <a:fontRef idx="minor">
            <a:schemeClr val="tx1"/>
          </a:fontRef>
        </p:style>
      </p:cxnSp>
      <p:cxnSp>
        <p:nvCxnSpPr>
          <p:cNvPr id="247" name="肘形连接符 246"/>
          <p:cNvCxnSpPr>
            <a:stCxn id="129" idx="2"/>
            <a:endCxn id="226" idx="0"/>
          </p:cNvCxnSpPr>
          <p:nvPr/>
        </p:nvCxnSpPr>
        <p:spPr>
          <a:xfrm rot="5400000" flipV="1">
            <a:off x="3348673" y="3201988"/>
            <a:ext cx="233045" cy="351790"/>
          </a:xfrm>
          <a:prstGeom prst="bentConnector3">
            <a:avLst>
              <a:gd name="adj1" fmla="val 33787"/>
            </a:avLst>
          </a:prstGeom>
          <a:ln>
            <a:solidFill>
              <a:schemeClr val="accent6">
                <a:lumMod val="60000"/>
                <a:lumOff val="40000"/>
              </a:schemeClr>
            </a:solidFill>
            <a:tailEnd type="triangle" w="sm" len="sm"/>
          </a:ln>
        </p:spPr>
        <p:style>
          <a:lnRef idx="2">
            <a:schemeClr val="accent1"/>
          </a:lnRef>
          <a:fillRef idx="0">
            <a:srgbClr val="FFFFFF"/>
          </a:fillRef>
          <a:effectRef idx="0">
            <a:srgbClr val="FFFFFF"/>
          </a:effectRef>
          <a:fontRef idx="minor">
            <a:schemeClr val="tx1"/>
          </a:fontRef>
        </p:style>
      </p:cxnSp>
      <p:sp>
        <p:nvSpPr>
          <p:cNvPr id="249" name="文本框 248"/>
          <p:cNvSpPr txBox="1"/>
          <p:nvPr>
            <p:custDataLst>
              <p:tags r:id="rId43"/>
            </p:custDataLst>
          </p:nvPr>
        </p:nvSpPr>
        <p:spPr>
          <a:xfrm>
            <a:off x="4001770" y="3588385"/>
            <a:ext cx="1020445" cy="213995"/>
          </a:xfrm>
          <a:prstGeom prst="rect">
            <a:avLst/>
          </a:prstGeom>
          <a:noFill/>
        </p:spPr>
        <p:txBody>
          <a:bodyPr wrap="square" rtlCol="0">
            <a:spAutoFit/>
          </a:bodyPr>
          <a:p>
            <a:pPr algn="ctr"/>
            <a:r>
              <a:rPr lang="zh-CN" altLang="en-US" sz="800">
                <a:solidFill>
                  <a:schemeClr val="accent6"/>
                </a:solidFill>
                <a:latin typeface="微软雅黑" panose="020B0503020204020204" charset="-122"/>
                <a:ea typeface="微软雅黑" panose="020B0503020204020204" charset="-122"/>
                <a:cs typeface="微软雅黑" panose="020B0503020204020204" charset="-122"/>
              </a:rPr>
              <a:t>独立经销商商</a:t>
            </a:r>
            <a:endParaRPr lang="zh-CN" altLang="en-US" sz="800">
              <a:solidFill>
                <a:schemeClr val="accent6"/>
              </a:solidFill>
              <a:latin typeface="微软雅黑" panose="020B0503020204020204" charset="-122"/>
              <a:ea typeface="微软雅黑" panose="020B0503020204020204" charset="-122"/>
              <a:cs typeface="微软雅黑" panose="020B0503020204020204" charset="-122"/>
            </a:endParaRPr>
          </a:p>
        </p:txBody>
      </p:sp>
      <p:cxnSp>
        <p:nvCxnSpPr>
          <p:cNvPr id="250" name="曲线连接符 249"/>
          <p:cNvCxnSpPr>
            <a:stCxn id="129" idx="0"/>
            <a:endCxn id="139" idx="2"/>
          </p:cNvCxnSpPr>
          <p:nvPr/>
        </p:nvCxnSpPr>
        <p:spPr>
          <a:xfrm rot="16200000">
            <a:off x="3832860" y="2161540"/>
            <a:ext cx="379095" cy="1466850"/>
          </a:xfrm>
          <a:prstGeom prst="curvedConnector3">
            <a:avLst>
              <a:gd name="adj1" fmla="val 11306"/>
            </a:avLst>
          </a:prstGeom>
          <a:ln w="6350">
            <a:solidFill>
              <a:schemeClr val="accent6">
                <a:lumMod val="60000"/>
                <a:lumOff val="40000"/>
              </a:schemeClr>
            </a:solidFill>
            <a:tailEnd type="none" w="med" len="sm"/>
          </a:ln>
        </p:spPr>
        <p:style>
          <a:lnRef idx="2">
            <a:schemeClr val="accent1"/>
          </a:lnRef>
          <a:fillRef idx="0">
            <a:srgbClr val="FFFFFF"/>
          </a:fillRef>
          <a:effectRef idx="0">
            <a:srgbClr val="FFFFFF"/>
          </a:effectRef>
          <a:fontRef idx="minor">
            <a:schemeClr val="tx1"/>
          </a:fontRef>
        </p:style>
      </p:cxnSp>
      <p:cxnSp>
        <p:nvCxnSpPr>
          <p:cNvPr id="252" name="曲线连接符 251"/>
          <p:cNvCxnSpPr>
            <a:stCxn id="242" idx="0"/>
            <a:endCxn id="139" idx="2"/>
          </p:cNvCxnSpPr>
          <p:nvPr/>
        </p:nvCxnSpPr>
        <p:spPr>
          <a:xfrm rot="16200000">
            <a:off x="4081145" y="2689225"/>
            <a:ext cx="658495" cy="690880"/>
          </a:xfrm>
          <a:prstGeom prst="curvedConnector3">
            <a:avLst>
              <a:gd name="adj1" fmla="val 50000"/>
            </a:avLst>
          </a:prstGeom>
          <a:ln w="6350">
            <a:solidFill>
              <a:schemeClr val="accent6">
                <a:lumMod val="60000"/>
                <a:lumOff val="40000"/>
              </a:schemeClr>
            </a:solidFill>
            <a:tailEnd type="none" w="med" len="sm"/>
          </a:ln>
        </p:spPr>
        <p:style>
          <a:lnRef idx="2">
            <a:schemeClr val="accent1"/>
          </a:lnRef>
          <a:fillRef idx="0">
            <a:srgbClr val="FFFFFF"/>
          </a:fillRef>
          <a:effectRef idx="0">
            <a:srgbClr val="FFFFFF"/>
          </a:effectRef>
          <a:fontRef idx="minor">
            <a:schemeClr val="tx1"/>
          </a:fontRef>
        </p:style>
      </p:cxnSp>
      <p:cxnSp>
        <p:nvCxnSpPr>
          <p:cNvPr id="253" name="曲线连接符 252"/>
          <p:cNvCxnSpPr/>
          <p:nvPr/>
        </p:nvCxnSpPr>
        <p:spPr>
          <a:xfrm rot="16200000">
            <a:off x="4243070" y="2830830"/>
            <a:ext cx="621665" cy="410210"/>
          </a:xfrm>
          <a:prstGeom prst="curvedConnector3">
            <a:avLst>
              <a:gd name="adj1" fmla="val 50000"/>
            </a:avLst>
          </a:prstGeom>
          <a:ln w="6350">
            <a:solidFill>
              <a:schemeClr val="accent6">
                <a:lumMod val="60000"/>
                <a:lumOff val="40000"/>
              </a:schemeClr>
            </a:solidFill>
            <a:tailEnd type="none" w="med" len="sm"/>
          </a:ln>
        </p:spPr>
        <p:style>
          <a:lnRef idx="2">
            <a:schemeClr val="accent1"/>
          </a:lnRef>
          <a:fillRef idx="0">
            <a:srgbClr val="FFFFFF"/>
          </a:fillRef>
          <a:effectRef idx="0">
            <a:srgbClr val="FFFFFF"/>
          </a:effectRef>
          <a:fontRef idx="minor">
            <a:schemeClr val="tx1"/>
          </a:fontRef>
        </p:style>
      </p:cxnSp>
      <p:cxnSp>
        <p:nvCxnSpPr>
          <p:cNvPr id="254" name="曲线连接符 253"/>
          <p:cNvCxnSpPr/>
          <p:nvPr/>
        </p:nvCxnSpPr>
        <p:spPr>
          <a:xfrm rot="16200000">
            <a:off x="4362450" y="2940685"/>
            <a:ext cx="658495" cy="134620"/>
          </a:xfrm>
          <a:prstGeom prst="curvedConnector3">
            <a:avLst>
              <a:gd name="adj1" fmla="val 50000"/>
            </a:avLst>
          </a:prstGeom>
          <a:ln w="6350">
            <a:solidFill>
              <a:schemeClr val="accent6">
                <a:lumMod val="60000"/>
                <a:lumOff val="40000"/>
              </a:schemeClr>
            </a:solidFill>
            <a:tailEnd type="triangle" w="med" len="med"/>
          </a:ln>
        </p:spPr>
        <p:style>
          <a:lnRef idx="2">
            <a:schemeClr val="accent1"/>
          </a:lnRef>
          <a:fillRef idx="0">
            <a:srgbClr val="FFFFFF"/>
          </a:fillRef>
          <a:effectRef idx="0">
            <a:srgbClr val="FFFFFF"/>
          </a:effectRef>
          <a:fontRef idx="minor">
            <a:schemeClr val="tx1"/>
          </a:fontRef>
        </p:style>
      </p:cxnSp>
      <p:grpSp>
        <p:nvGrpSpPr>
          <p:cNvPr id="256" name="组合 255"/>
          <p:cNvGrpSpPr/>
          <p:nvPr/>
        </p:nvGrpSpPr>
        <p:grpSpPr>
          <a:xfrm>
            <a:off x="4429760" y="3343910"/>
            <a:ext cx="382905" cy="223520"/>
            <a:chOff x="11467" y="5355"/>
            <a:chExt cx="603" cy="352"/>
          </a:xfrm>
        </p:grpSpPr>
        <p:sp>
          <p:nvSpPr>
            <p:cNvPr id="257" name="矩形 256"/>
            <p:cNvSpPr/>
            <p:nvPr/>
          </p:nvSpPr>
          <p:spPr>
            <a:xfrm>
              <a:off x="11575" y="5355"/>
              <a:ext cx="387" cy="352"/>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800">
                <a:solidFill>
                  <a:schemeClr val="accent6"/>
                </a:solidFill>
                <a:cs typeface="微软雅黑" panose="020B0503020204020204" charset="-122"/>
                <a:sym typeface="+mn-ea"/>
              </a:endParaRPr>
            </a:p>
          </p:txBody>
        </p:sp>
        <p:sp>
          <p:nvSpPr>
            <p:cNvPr id="258" name="文本框 257"/>
            <p:cNvSpPr txBox="1"/>
            <p:nvPr>
              <p:custDataLst>
                <p:tags r:id="rId44"/>
              </p:custDataLst>
            </p:nvPr>
          </p:nvSpPr>
          <p:spPr>
            <a:xfrm>
              <a:off x="11467" y="5387"/>
              <a:ext cx="603" cy="293"/>
            </a:xfrm>
            <a:prstGeom prst="rect">
              <a:avLst/>
            </a:prstGeom>
            <a:noFill/>
          </p:spPr>
          <p:txBody>
            <a:bodyPr wrap="square" rtlCol="0" anchor="ctr" anchorCtr="0">
              <a:noAutofit/>
            </a:bodyPr>
            <a:p>
              <a:pPr algn="ctr"/>
              <a:r>
                <a:rPr lang="en-US" altLang="zh-CN" sz="600">
                  <a:solidFill>
                    <a:schemeClr val="accent6"/>
                  </a:solidFill>
                  <a:latin typeface="微软雅黑" panose="020B0503020204020204" charset="-122"/>
                  <a:ea typeface="微软雅黑" panose="020B0503020204020204" charset="-122"/>
                  <a:cs typeface="微软雅黑" panose="020B0503020204020204" charset="-122"/>
                </a:rPr>
                <a:t>4S</a:t>
              </a:r>
              <a:r>
                <a:rPr lang="zh-CN" altLang="en-US" sz="600">
                  <a:solidFill>
                    <a:schemeClr val="accent6"/>
                  </a:solidFill>
                  <a:latin typeface="微软雅黑" panose="020B0503020204020204" charset="-122"/>
                  <a:ea typeface="微软雅黑" panose="020B0503020204020204" charset="-122"/>
                  <a:cs typeface="微软雅黑" panose="020B0503020204020204" charset="-122"/>
                </a:rPr>
                <a:t>店</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p:txBody>
        </p:sp>
      </p:grpSp>
      <p:grpSp>
        <p:nvGrpSpPr>
          <p:cNvPr id="259" name="组合 258"/>
          <p:cNvGrpSpPr/>
          <p:nvPr/>
        </p:nvGrpSpPr>
        <p:grpSpPr>
          <a:xfrm>
            <a:off x="4707890" y="3343910"/>
            <a:ext cx="382905" cy="223520"/>
            <a:chOff x="11467" y="5355"/>
            <a:chExt cx="603" cy="352"/>
          </a:xfrm>
        </p:grpSpPr>
        <p:sp>
          <p:nvSpPr>
            <p:cNvPr id="260" name="矩形 259"/>
            <p:cNvSpPr/>
            <p:nvPr/>
          </p:nvSpPr>
          <p:spPr>
            <a:xfrm>
              <a:off x="11575" y="5355"/>
              <a:ext cx="387" cy="352"/>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800">
                <a:solidFill>
                  <a:schemeClr val="accent6"/>
                </a:solidFill>
                <a:cs typeface="微软雅黑" panose="020B0503020204020204" charset="-122"/>
                <a:sym typeface="+mn-ea"/>
              </a:endParaRPr>
            </a:p>
          </p:txBody>
        </p:sp>
        <p:sp>
          <p:nvSpPr>
            <p:cNvPr id="261" name="文本框 260"/>
            <p:cNvSpPr txBox="1"/>
            <p:nvPr>
              <p:custDataLst>
                <p:tags r:id="rId45"/>
              </p:custDataLst>
            </p:nvPr>
          </p:nvSpPr>
          <p:spPr>
            <a:xfrm>
              <a:off x="11467" y="5387"/>
              <a:ext cx="603" cy="293"/>
            </a:xfrm>
            <a:prstGeom prst="rect">
              <a:avLst/>
            </a:prstGeom>
            <a:noFill/>
          </p:spPr>
          <p:txBody>
            <a:bodyPr wrap="square" rtlCol="0" anchor="ctr" anchorCtr="0">
              <a:noAutofit/>
            </a:bodyPr>
            <a:p>
              <a:pPr algn="ctr"/>
              <a:r>
                <a:rPr lang="en-US" altLang="zh-CN" sz="600">
                  <a:solidFill>
                    <a:schemeClr val="accent6"/>
                  </a:solidFill>
                  <a:latin typeface="微软雅黑" panose="020B0503020204020204" charset="-122"/>
                  <a:ea typeface="微软雅黑" panose="020B0503020204020204" charset="-122"/>
                  <a:cs typeface="微软雅黑" panose="020B0503020204020204" charset="-122"/>
                </a:rPr>
                <a:t>4S</a:t>
              </a:r>
              <a:r>
                <a:rPr lang="zh-CN" altLang="en-US" sz="600">
                  <a:solidFill>
                    <a:schemeClr val="accent6"/>
                  </a:solidFill>
                  <a:latin typeface="微软雅黑" panose="020B0503020204020204" charset="-122"/>
                  <a:ea typeface="微软雅黑" panose="020B0503020204020204" charset="-122"/>
                  <a:cs typeface="微软雅黑" panose="020B0503020204020204" charset="-122"/>
                </a:rPr>
                <a:t>店</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p:txBody>
        </p:sp>
      </p:grpSp>
      <p:grpSp>
        <p:nvGrpSpPr>
          <p:cNvPr id="262" name="组合 261"/>
          <p:cNvGrpSpPr/>
          <p:nvPr/>
        </p:nvGrpSpPr>
        <p:grpSpPr>
          <a:xfrm>
            <a:off x="3873500" y="3343910"/>
            <a:ext cx="382905" cy="223520"/>
            <a:chOff x="11467" y="5355"/>
            <a:chExt cx="603" cy="352"/>
          </a:xfrm>
        </p:grpSpPr>
        <p:sp>
          <p:nvSpPr>
            <p:cNvPr id="263" name="矩形 262"/>
            <p:cNvSpPr/>
            <p:nvPr/>
          </p:nvSpPr>
          <p:spPr>
            <a:xfrm>
              <a:off x="11575" y="5355"/>
              <a:ext cx="387" cy="352"/>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800">
                <a:solidFill>
                  <a:schemeClr val="accent6"/>
                </a:solidFill>
                <a:cs typeface="微软雅黑" panose="020B0503020204020204" charset="-122"/>
                <a:sym typeface="+mn-ea"/>
              </a:endParaRPr>
            </a:p>
          </p:txBody>
        </p:sp>
        <p:sp>
          <p:nvSpPr>
            <p:cNvPr id="264" name="文本框 263"/>
            <p:cNvSpPr txBox="1"/>
            <p:nvPr>
              <p:custDataLst>
                <p:tags r:id="rId46"/>
              </p:custDataLst>
            </p:nvPr>
          </p:nvSpPr>
          <p:spPr>
            <a:xfrm>
              <a:off x="11467" y="5387"/>
              <a:ext cx="603" cy="293"/>
            </a:xfrm>
            <a:prstGeom prst="rect">
              <a:avLst/>
            </a:prstGeom>
            <a:noFill/>
          </p:spPr>
          <p:txBody>
            <a:bodyPr wrap="square" rtlCol="0" anchor="ctr" anchorCtr="0">
              <a:noAutofit/>
            </a:bodyPr>
            <a:p>
              <a:pPr algn="ctr"/>
              <a:r>
                <a:rPr lang="en-US" altLang="zh-CN" sz="600">
                  <a:solidFill>
                    <a:schemeClr val="accent6"/>
                  </a:solidFill>
                  <a:latin typeface="微软雅黑" panose="020B0503020204020204" charset="-122"/>
                  <a:ea typeface="微软雅黑" panose="020B0503020204020204" charset="-122"/>
                  <a:cs typeface="微软雅黑" panose="020B0503020204020204" charset="-122"/>
                </a:rPr>
                <a:t>4S</a:t>
              </a:r>
              <a:r>
                <a:rPr lang="zh-CN" altLang="en-US" sz="600">
                  <a:solidFill>
                    <a:schemeClr val="accent6"/>
                  </a:solidFill>
                  <a:latin typeface="微软雅黑" panose="020B0503020204020204" charset="-122"/>
                  <a:ea typeface="微软雅黑" panose="020B0503020204020204" charset="-122"/>
                  <a:cs typeface="微软雅黑" panose="020B0503020204020204" charset="-122"/>
                </a:rPr>
                <a:t>店</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p:txBody>
        </p:sp>
      </p:grpSp>
      <p:grpSp>
        <p:nvGrpSpPr>
          <p:cNvPr id="265" name="组合 264"/>
          <p:cNvGrpSpPr/>
          <p:nvPr/>
        </p:nvGrpSpPr>
        <p:grpSpPr>
          <a:xfrm>
            <a:off x="4151630" y="3343910"/>
            <a:ext cx="382905" cy="223520"/>
            <a:chOff x="11467" y="5355"/>
            <a:chExt cx="603" cy="352"/>
          </a:xfrm>
        </p:grpSpPr>
        <p:sp>
          <p:nvSpPr>
            <p:cNvPr id="266" name="矩形 265"/>
            <p:cNvSpPr/>
            <p:nvPr/>
          </p:nvSpPr>
          <p:spPr>
            <a:xfrm>
              <a:off x="11575" y="5355"/>
              <a:ext cx="387" cy="352"/>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800">
                <a:solidFill>
                  <a:schemeClr val="accent6"/>
                </a:solidFill>
                <a:cs typeface="微软雅黑" panose="020B0503020204020204" charset="-122"/>
                <a:sym typeface="+mn-ea"/>
              </a:endParaRPr>
            </a:p>
          </p:txBody>
        </p:sp>
        <p:sp>
          <p:nvSpPr>
            <p:cNvPr id="267" name="文本框 266"/>
            <p:cNvSpPr txBox="1"/>
            <p:nvPr>
              <p:custDataLst>
                <p:tags r:id="rId47"/>
              </p:custDataLst>
            </p:nvPr>
          </p:nvSpPr>
          <p:spPr>
            <a:xfrm>
              <a:off x="11467" y="5387"/>
              <a:ext cx="603" cy="293"/>
            </a:xfrm>
            <a:prstGeom prst="rect">
              <a:avLst/>
            </a:prstGeom>
            <a:noFill/>
          </p:spPr>
          <p:txBody>
            <a:bodyPr wrap="square" rtlCol="0" anchor="ctr" anchorCtr="0">
              <a:noAutofit/>
            </a:bodyPr>
            <a:p>
              <a:pPr algn="ctr"/>
              <a:r>
                <a:rPr lang="en-US" altLang="zh-CN" sz="600">
                  <a:solidFill>
                    <a:schemeClr val="accent6"/>
                  </a:solidFill>
                  <a:latin typeface="微软雅黑" panose="020B0503020204020204" charset="-122"/>
                  <a:ea typeface="微软雅黑" panose="020B0503020204020204" charset="-122"/>
                  <a:cs typeface="微软雅黑" panose="020B0503020204020204" charset="-122"/>
                </a:rPr>
                <a:t>4S</a:t>
              </a:r>
              <a:r>
                <a:rPr lang="zh-CN" altLang="en-US" sz="600">
                  <a:solidFill>
                    <a:schemeClr val="accent6"/>
                  </a:solidFill>
                  <a:latin typeface="微软雅黑" panose="020B0503020204020204" charset="-122"/>
                  <a:ea typeface="微软雅黑" panose="020B0503020204020204" charset="-122"/>
                  <a:cs typeface="微软雅黑" panose="020B0503020204020204" charset="-122"/>
                </a:rPr>
                <a:t>店</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p:txBody>
        </p:sp>
      </p:grpSp>
      <p:cxnSp>
        <p:nvCxnSpPr>
          <p:cNvPr id="268" name="曲线连接符 267"/>
          <p:cNvCxnSpPr/>
          <p:nvPr/>
        </p:nvCxnSpPr>
        <p:spPr>
          <a:xfrm rot="16200000" flipV="1">
            <a:off x="4519295" y="2955925"/>
            <a:ext cx="628650" cy="137160"/>
          </a:xfrm>
          <a:prstGeom prst="curvedConnector3">
            <a:avLst>
              <a:gd name="adj1" fmla="val 49899"/>
            </a:avLst>
          </a:prstGeom>
          <a:ln w="6350">
            <a:solidFill>
              <a:schemeClr val="accent6">
                <a:lumMod val="60000"/>
                <a:lumOff val="40000"/>
              </a:schemeClr>
            </a:solidFill>
            <a:tailEnd type="none" w="med" len="sm"/>
          </a:ln>
        </p:spPr>
        <p:style>
          <a:lnRef idx="2">
            <a:schemeClr val="accent1"/>
          </a:lnRef>
          <a:fillRef idx="0">
            <a:srgbClr val="FFFFFF"/>
          </a:fillRef>
          <a:effectRef idx="0">
            <a:srgbClr val="FFFFFF"/>
          </a:effectRef>
          <a:fontRef idx="minor">
            <a:schemeClr val="tx1"/>
          </a:fontRef>
        </p:style>
      </p:cxnSp>
      <p:cxnSp>
        <p:nvCxnSpPr>
          <p:cNvPr id="269" name="直接连接符 268"/>
          <p:cNvCxnSpPr/>
          <p:nvPr>
            <p:custDataLst>
              <p:tags r:id="rId48"/>
            </p:custDataLst>
          </p:nvPr>
        </p:nvCxnSpPr>
        <p:spPr>
          <a:xfrm>
            <a:off x="2541270" y="4039870"/>
            <a:ext cx="2695575" cy="0"/>
          </a:xfrm>
          <a:prstGeom prst="line">
            <a:avLst/>
          </a:prstGeom>
          <a:ln>
            <a:solidFill>
              <a:schemeClr val="tx2">
                <a:alpha val="70000"/>
              </a:schemeClr>
            </a:solidFill>
          </a:ln>
        </p:spPr>
        <p:style>
          <a:lnRef idx="2">
            <a:schemeClr val="accent1"/>
          </a:lnRef>
          <a:fillRef idx="0">
            <a:srgbClr val="FFFFFF"/>
          </a:fillRef>
          <a:effectRef idx="0">
            <a:srgbClr val="FFFFFF"/>
          </a:effectRef>
          <a:fontRef idx="minor">
            <a:schemeClr val="tx1"/>
          </a:fontRef>
        </p:style>
      </p:cxnSp>
      <p:sp>
        <p:nvSpPr>
          <p:cNvPr id="270" name="矩形 269"/>
          <p:cNvSpPr/>
          <p:nvPr/>
        </p:nvSpPr>
        <p:spPr>
          <a:xfrm>
            <a:off x="8808720" y="2823845"/>
            <a:ext cx="1388110" cy="978535"/>
          </a:xfrm>
          <a:prstGeom prst="rect">
            <a:avLst/>
          </a:prstGeom>
          <a:solidFill>
            <a:schemeClr val="bg1"/>
          </a:solidFill>
          <a:ln>
            <a:solidFill>
              <a:schemeClr val="accent1">
                <a:lumMod val="60000"/>
                <a:lumOff val="40000"/>
              </a:schemeClr>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71" name="矩形 270"/>
          <p:cNvSpPr/>
          <p:nvPr/>
        </p:nvSpPr>
        <p:spPr>
          <a:xfrm>
            <a:off x="9058593" y="2723515"/>
            <a:ext cx="955675" cy="198120"/>
          </a:xfrm>
          <a:prstGeom prst="rect">
            <a:avLst/>
          </a:prstGeom>
          <a:solidFill>
            <a:schemeClr val="accent1">
              <a:lumMod val="60000"/>
              <a:lumOff val="40000"/>
            </a:schemeClr>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cs typeface="微软雅黑" panose="020B0503020204020204" charset="-122"/>
              </a:rPr>
              <a:t>直营旗舰店</a:t>
            </a:r>
            <a:endParaRPr lang="zh-CN" altLang="en-US" sz="1000" b="1">
              <a:cs typeface="微软雅黑" panose="020B0503020204020204" charset="-122"/>
            </a:endParaRPr>
          </a:p>
        </p:txBody>
      </p:sp>
      <p:sp>
        <p:nvSpPr>
          <p:cNvPr id="272" name="矩形 271"/>
          <p:cNvSpPr/>
          <p:nvPr/>
        </p:nvSpPr>
        <p:spPr>
          <a:xfrm>
            <a:off x="10246995" y="2823845"/>
            <a:ext cx="1403985" cy="978535"/>
          </a:xfrm>
          <a:prstGeom prst="rect">
            <a:avLst/>
          </a:prstGeom>
          <a:solidFill>
            <a:schemeClr val="bg1"/>
          </a:solidFill>
          <a:ln>
            <a:solidFill>
              <a:schemeClr val="accent1">
                <a:lumMod val="60000"/>
                <a:lumOff val="40000"/>
              </a:schemeClr>
            </a:solidFill>
            <a:prstDash val="sys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73" name="矩形 272"/>
          <p:cNvSpPr/>
          <p:nvPr/>
        </p:nvSpPr>
        <p:spPr>
          <a:xfrm>
            <a:off x="9838055" y="2268855"/>
            <a:ext cx="854710" cy="235585"/>
          </a:xfrm>
          <a:prstGeom prst="rect">
            <a:avLst/>
          </a:prstGeom>
          <a:solidFill>
            <a:schemeClr val="bg1"/>
          </a:solidFill>
          <a:ln w="19050">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chemeClr val="accent1">
                    <a:lumMod val="60000"/>
                    <a:lumOff val="40000"/>
                  </a:schemeClr>
                </a:solidFill>
                <a:cs typeface="微软雅黑" panose="020B0503020204020204" charset="-122"/>
              </a:rPr>
              <a:t>主机厂</a:t>
            </a:r>
            <a:endParaRPr lang="zh-CN" altLang="en-US" sz="1200" b="1">
              <a:solidFill>
                <a:schemeClr val="accent1">
                  <a:lumMod val="60000"/>
                  <a:lumOff val="40000"/>
                </a:schemeClr>
              </a:solidFill>
              <a:cs typeface="微软雅黑" panose="020B0503020204020204" charset="-122"/>
            </a:endParaRPr>
          </a:p>
        </p:txBody>
      </p:sp>
      <p:sp>
        <p:nvSpPr>
          <p:cNvPr id="274" name="矩形 273"/>
          <p:cNvSpPr/>
          <p:nvPr/>
        </p:nvSpPr>
        <p:spPr>
          <a:xfrm>
            <a:off x="8953500" y="3409950"/>
            <a:ext cx="505460" cy="286385"/>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800">
              <a:solidFill>
                <a:schemeClr val="accent6"/>
              </a:solidFill>
              <a:cs typeface="微软雅黑" panose="020B0503020204020204" charset="-122"/>
              <a:sym typeface="+mn-ea"/>
            </a:endParaRPr>
          </a:p>
        </p:txBody>
      </p:sp>
      <p:sp>
        <p:nvSpPr>
          <p:cNvPr id="275" name="文本框 274"/>
          <p:cNvSpPr txBox="1"/>
          <p:nvPr>
            <p:custDataLst>
              <p:tags r:id="rId49"/>
            </p:custDataLst>
          </p:nvPr>
        </p:nvSpPr>
        <p:spPr>
          <a:xfrm>
            <a:off x="8909050" y="3439795"/>
            <a:ext cx="615950" cy="247015"/>
          </a:xfrm>
          <a:prstGeom prst="rect">
            <a:avLst/>
          </a:prstGeom>
          <a:noFill/>
        </p:spPr>
        <p:txBody>
          <a:bodyPr wrap="square" rtlCol="0" anchor="ctr" anchorCtr="0">
            <a:noAutofit/>
          </a:bodyPr>
          <a:p>
            <a:pPr algn="ctr"/>
            <a:r>
              <a:rPr lang="zh-CN" altLang="en-US" sz="600">
                <a:solidFill>
                  <a:schemeClr val="accent6"/>
                </a:solidFill>
                <a:latin typeface="微软雅黑" panose="020B0503020204020204" charset="-122"/>
                <a:ea typeface="微软雅黑" panose="020B0503020204020204" charset="-122"/>
                <a:cs typeface="微软雅黑" panose="020B0503020204020204" charset="-122"/>
              </a:rPr>
              <a:t>全功能展厅</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p:txBody>
      </p:sp>
      <p:sp>
        <p:nvSpPr>
          <p:cNvPr id="276" name="矩形 275"/>
          <p:cNvSpPr/>
          <p:nvPr/>
        </p:nvSpPr>
        <p:spPr>
          <a:xfrm>
            <a:off x="9591675" y="3409950"/>
            <a:ext cx="505460" cy="286385"/>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800">
              <a:solidFill>
                <a:schemeClr val="accent6"/>
              </a:solidFill>
              <a:cs typeface="微软雅黑" panose="020B0503020204020204" charset="-122"/>
              <a:sym typeface="+mn-ea"/>
            </a:endParaRPr>
          </a:p>
        </p:txBody>
      </p:sp>
      <p:sp>
        <p:nvSpPr>
          <p:cNvPr id="277" name="文本框 276"/>
          <p:cNvSpPr txBox="1"/>
          <p:nvPr>
            <p:custDataLst>
              <p:tags r:id="rId50"/>
            </p:custDataLst>
          </p:nvPr>
        </p:nvSpPr>
        <p:spPr>
          <a:xfrm>
            <a:off x="9547225" y="3439795"/>
            <a:ext cx="615950" cy="247015"/>
          </a:xfrm>
          <a:prstGeom prst="rect">
            <a:avLst/>
          </a:prstGeom>
          <a:noFill/>
        </p:spPr>
        <p:txBody>
          <a:bodyPr wrap="square" rtlCol="0" anchor="ctr" anchorCtr="0">
            <a:noAutofit/>
          </a:bodyPr>
          <a:p>
            <a:pPr algn="ctr"/>
            <a:r>
              <a:rPr lang="zh-CN" altLang="en-US" sz="600">
                <a:solidFill>
                  <a:schemeClr val="accent6"/>
                </a:solidFill>
                <a:latin typeface="微软雅黑" panose="020B0503020204020204" charset="-122"/>
                <a:ea typeface="微软雅黑" panose="020B0503020204020204" charset="-122"/>
                <a:cs typeface="微软雅黑" panose="020B0503020204020204" charset="-122"/>
              </a:rPr>
              <a:t>售后服务</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a:p>
            <a:pPr algn="ctr"/>
            <a:r>
              <a:rPr lang="zh-CN" altLang="en-US" sz="600">
                <a:solidFill>
                  <a:schemeClr val="accent6"/>
                </a:solidFill>
                <a:latin typeface="微软雅黑" panose="020B0503020204020204" charset="-122"/>
                <a:ea typeface="微软雅黑" panose="020B0503020204020204" charset="-122"/>
                <a:cs typeface="微软雅黑" panose="020B0503020204020204" charset="-122"/>
              </a:rPr>
              <a:t>中心</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p:txBody>
      </p:sp>
      <p:sp>
        <p:nvSpPr>
          <p:cNvPr id="278" name="矩形 277"/>
          <p:cNvSpPr/>
          <p:nvPr/>
        </p:nvSpPr>
        <p:spPr>
          <a:xfrm>
            <a:off x="9150985" y="3073400"/>
            <a:ext cx="773430" cy="198755"/>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800">
              <a:solidFill>
                <a:schemeClr val="accent6"/>
              </a:solidFill>
              <a:cs typeface="微软雅黑" panose="020B0503020204020204" charset="-122"/>
            </a:endParaRPr>
          </a:p>
        </p:txBody>
      </p:sp>
      <p:sp>
        <p:nvSpPr>
          <p:cNvPr id="279" name="文本框 278"/>
          <p:cNvSpPr txBox="1"/>
          <p:nvPr>
            <p:custDataLst>
              <p:tags r:id="rId51"/>
            </p:custDataLst>
          </p:nvPr>
        </p:nvSpPr>
        <p:spPr>
          <a:xfrm>
            <a:off x="9170035" y="3100705"/>
            <a:ext cx="732790" cy="138430"/>
          </a:xfrm>
          <a:prstGeom prst="rect">
            <a:avLst/>
          </a:prstGeom>
          <a:noFill/>
        </p:spPr>
        <p:txBody>
          <a:bodyPr wrap="square" rtlCol="0" anchor="ctr" anchorCtr="0">
            <a:noAutofit/>
          </a:bodyPr>
          <a:p>
            <a:pPr algn="ctr"/>
            <a:r>
              <a:rPr lang="zh-CN" altLang="en-US" sz="800">
                <a:solidFill>
                  <a:schemeClr val="accent6"/>
                </a:solidFill>
                <a:latin typeface="微软雅黑" panose="020B0503020204020204" charset="-122"/>
                <a:ea typeface="微软雅黑" panose="020B0503020204020204" charset="-122"/>
                <a:cs typeface="微软雅黑" panose="020B0503020204020204" charset="-122"/>
              </a:rPr>
              <a:t>一线城市</a:t>
            </a:r>
            <a:endParaRPr lang="zh-CN" altLang="en-US" sz="800">
              <a:solidFill>
                <a:schemeClr val="accent6"/>
              </a:solidFill>
              <a:latin typeface="微软雅黑" panose="020B0503020204020204" charset="-122"/>
              <a:ea typeface="微软雅黑" panose="020B0503020204020204" charset="-122"/>
              <a:cs typeface="微软雅黑" panose="020B0503020204020204" charset="-122"/>
            </a:endParaRPr>
          </a:p>
        </p:txBody>
      </p:sp>
      <p:cxnSp>
        <p:nvCxnSpPr>
          <p:cNvPr id="280" name="直接箭头连接符 279"/>
          <p:cNvCxnSpPr/>
          <p:nvPr/>
        </p:nvCxnSpPr>
        <p:spPr>
          <a:xfrm>
            <a:off x="9544685" y="2921635"/>
            <a:ext cx="2540" cy="149225"/>
          </a:xfrm>
          <a:prstGeom prst="straightConnector1">
            <a:avLst/>
          </a:prstGeom>
          <a:ln>
            <a:solidFill>
              <a:schemeClr val="accent6">
                <a:lumMod val="60000"/>
                <a:lumOff val="40000"/>
              </a:schemeClr>
            </a:solidFill>
            <a:tailEnd type="triangle" w="sm" len="sm"/>
          </a:ln>
        </p:spPr>
        <p:style>
          <a:lnRef idx="2">
            <a:schemeClr val="accent1"/>
          </a:lnRef>
          <a:fillRef idx="0">
            <a:srgbClr val="FFFFFF"/>
          </a:fillRef>
          <a:effectRef idx="0">
            <a:srgbClr val="FFFFFF"/>
          </a:effectRef>
          <a:fontRef idx="minor">
            <a:schemeClr val="tx1"/>
          </a:fontRef>
        </p:style>
      </p:cxnSp>
      <p:cxnSp>
        <p:nvCxnSpPr>
          <p:cNvPr id="281" name="肘形连接符 280"/>
          <p:cNvCxnSpPr/>
          <p:nvPr/>
        </p:nvCxnSpPr>
        <p:spPr>
          <a:xfrm rot="5400000">
            <a:off x="9310370" y="3185795"/>
            <a:ext cx="133985" cy="319405"/>
          </a:xfrm>
          <a:prstGeom prst="bentConnector3">
            <a:avLst>
              <a:gd name="adj1" fmla="val 41706"/>
            </a:avLst>
          </a:prstGeom>
          <a:ln>
            <a:solidFill>
              <a:schemeClr val="accent6">
                <a:lumMod val="60000"/>
                <a:lumOff val="40000"/>
              </a:schemeClr>
            </a:solidFill>
            <a:tailEnd type="triangle" w="sm" len="sm"/>
          </a:ln>
        </p:spPr>
        <p:style>
          <a:lnRef idx="2">
            <a:schemeClr val="accent1"/>
          </a:lnRef>
          <a:fillRef idx="0">
            <a:srgbClr val="FFFFFF"/>
          </a:fillRef>
          <a:effectRef idx="0">
            <a:srgbClr val="FFFFFF"/>
          </a:effectRef>
          <a:fontRef idx="minor">
            <a:schemeClr val="tx1"/>
          </a:fontRef>
        </p:style>
      </p:cxnSp>
      <p:cxnSp>
        <p:nvCxnSpPr>
          <p:cNvPr id="282" name="肘形连接符 281"/>
          <p:cNvCxnSpPr/>
          <p:nvPr/>
        </p:nvCxnSpPr>
        <p:spPr>
          <a:xfrm rot="16200000" flipH="1">
            <a:off x="9629775" y="3185795"/>
            <a:ext cx="133985" cy="319405"/>
          </a:xfrm>
          <a:prstGeom prst="bentConnector3">
            <a:avLst>
              <a:gd name="adj1" fmla="val 41232"/>
            </a:avLst>
          </a:prstGeom>
          <a:ln>
            <a:solidFill>
              <a:schemeClr val="accent6">
                <a:lumMod val="60000"/>
                <a:lumOff val="40000"/>
              </a:schemeClr>
            </a:solidFill>
            <a:tailEnd type="triangle" w="sm" len="sm"/>
          </a:ln>
        </p:spPr>
        <p:style>
          <a:lnRef idx="2">
            <a:schemeClr val="accent1"/>
          </a:lnRef>
          <a:fillRef idx="0">
            <a:srgbClr val="FFFFFF"/>
          </a:fillRef>
          <a:effectRef idx="0">
            <a:srgbClr val="FFFFFF"/>
          </a:effectRef>
          <a:fontRef idx="minor">
            <a:schemeClr val="tx1"/>
          </a:fontRef>
        </p:style>
      </p:cxnSp>
      <p:sp>
        <p:nvSpPr>
          <p:cNvPr id="283" name="矩形 282"/>
          <p:cNvSpPr/>
          <p:nvPr/>
        </p:nvSpPr>
        <p:spPr>
          <a:xfrm>
            <a:off x="10500043" y="2723515"/>
            <a:ext cx="955675" cy="198120"/>
          </a:xfrm>
          <a:prstGeom prst="rect">
            <a:avLst/>
          </a:prstGeom>
          <a:solidFill>
            <a:schemeClr val="accent1">
              <a:lumMod val="60000"/>
              <a:lumOff val="40000"/>
            </a:schemeClr>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b="1">
                <a:cs typeface="微软雅黑" panose="020B0503020204020204" charset="-122"/>
              </a:rPr>
              <a:t>代理网点</a:t>
            </a:r>
            <a:endParaRPr lang="zh-CN" altLang="en-US" sz="1000" b="1">
              <a:cs typeface="微软雅黑" panose="020B0503020204020204" charset="-122"/>
            </a:endParaRPr>
          </a:p>
        </p:txBody>
      </p:sp>
      <p:grpSp>
        <p:nvGrpSpPr>
          <p:cNvPr id="285" name="组合 284"/>
          <p:cNvGrpSpPr/>
          <p:nvPr/>
        </p:nvGrpSpPr>
        <p:grpSpPr>
          <a:xfrm>
            <a:off x="10245090" y="3155950"/>
            <a:ext cx="342265" cy="223520"/>
            <a:chOff x="11497" y="5355"/>
            <a:chExt cx="539" cy="352"/>
          </a:xfrm>
        </p:grpSpPr>
        <p:sp>
          <p:nvSpPr>
            <p:cNvPr id="286" name="矩形 285"/>
            <p:cNvSpPr/>
            <p:nvPr/>
          </p:nvSpPr>
          <p:spPr>
            <a:xfrm>
              <a:off x="11575" y="5355"/>
              <a:ext cx="387" cy="352"/>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800">
                <a:solidFill>
                  <a:schemeClr val="accent6"/>
                </a:solidFill>
                <a:cs typeface="微软雅黑" panose="020B0503020204020204" charset="-122"/>
                <a:sym typeface="+mn-ea"/>
              </a:endParaRPr>
            </a:p>
          </p:txBody>
        </p:sp>
        <p:sp>
          <p:nvSpPr>
            <p:cNvPr id="287" name="文本框 286"/>
            <p:cNvSpPr txBox="1"/>
            <p:nvPr>
              <p:custDataLst>
                <p:tags r:id="rId52"/>
              </p:custDataLst>
            </p:nvPr>
          </p:nvSpPr>
          <p:spPr>
            <a:xfrm>
              <a:off x="11497" y="5387"/>
              <a:ext cx="539" cy="293"/>
            </a:xfrm>
            <a:prstGeom prst="rect">
              <a:avLst/>
            </a:prstGeom>
            <a:noFill/>
          </p:spPr>
          <p:txBody>
            <a:bodyPr wrap="square" rtlCol="0" anchor="ctr" anchorCtr="0">
              <a:noAutofit/>
            </a:bodyPr>
            <a:p>
              <a:pPr algn="ctr"/>
              <a:r>
                <a:rPr lang="zh-CN" altLang="en-US" sz="600">
                  <a:solidFill>
                    <a:schemeClr val="accent6"/>
                  </a:solidFill>
                  <a:latin typeface="微软雅黑" panose="020B0503020204020204" charset="-122"/>
                  <a:ea typeface="微软雅黑" panose="020B0503020204020204" charset="-122"/>
                  <a:cs typeface="微软雅黑" panose="020B0503020204020204" charset="-122"/>
                </a:rPr>
                <a:t>代理网点</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p:txBody>
        </p:sp>
      </p:grpSp>
      <p:grpSp>
        <p:nvGrpSpPr>
          <p:cNvPr id="288" name="组合 287"/>
          <p:cNvGrpSpPr/>
          <p:nvPr/>
        </p:nvGrpSpPr>
        <p:grpSpPr>
          <a:xfrm>
            <a:off x="10591165" y="3155950"/>
            <a:ext cx="342265" cy="223520"/>
            <a:chOff x="11497" y="5355"/>
            <a:chExt cx="539" cy="352"/>
          </a:xfrm>
        </p:grpSpPr>
        <p:sp>
          <p:nvSpPr>
            <p:cNvPr id="289" name="矩形 288"/>
            <p:cNvSpPr/>
            <p:nvPr/>
          </p:nvSpPr>
          <p:spPr>
            <a:xfrm>
              <a:off x="11575" y="5355"/>
              <a:ext cx="387" cy="352"/>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800">
                <a:solidFill>
                  <a:schemeClr val="accent6"/>
                </a:solidFill>
                <a:cs typeface="微软雅黑" panose="020B0503020204020204" charset="-122"/>
                <a:sym typeface="+mn-ea"/>
              </a:endParaRPr>
            </a:p>
          </p:txBody>
        </p:sp>
        <p:sp>
          <p:nvSpPr>
            <p:cNvPr id="290" name="文本框 289"/>
            <p:cNvSpPr txBox="1"/>
            <p:nvPr>
              <p:custDataLst>
                <p:tags r:id="rId53"/>
              </p:custDataLst>
            </p:nvPr>
          </p:nvSpPr>
          <p:spPr>
            <a:xfrm>
              <a:off x="11497" y="5387"/>
              <a:ext cx="539" cy="293"/>
            </a:xfrm>
            <a:prstGeom prst="rect">
              <a:avLst/>
            </a:prstGeom>
            <a:noFill/>
          </p:spPr>
          <p:txBody>
            <a:bodyPr wrap="square" rtlCol="0" anchor="ctr" anchorCtr="0">
              <a:noAutofit/>
            </a:bodyPr>
            <a:p>
              <a:pPr algn="ctr"/>
              <a:r>
                <a:rPr lang="zh-CN" altLang="en-US" sz="600">
                  <a:solidFill>
                    <a:schemeClr val="accent6"/>
                  </a:solidFill>
                  <a:latin typeface="微软雅黑" panose="020B0503020204020204" charset="-122"/>
                  <a:ea typeface="微软雅黑" panose="020B0503020204020204" charset="-122"/>
                  <a:cs typeface="微软雅黑" panose="020B0503020204020204" charset="-122"/>
                  <a:sym typeface="+mn-ea"/>
                </a:rPr>
                <a:t>代理网点</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p:txBody>
        </p:sp>
      </p:grpSp>
      <p:grpSp>
        <p:nvGrpSpPr>
          <p:cNvPr id="291" name="组合 290"/>
          <p:cNvGrpSpPr/>
          <p:nvPr/>
        </p:nvGrpSpPr>
        <p:grpSpPr>
          <a:xfrm>
            <a:off x="10937240" y="3155950"/>
            <a:ext cx="342265" cy="223520"/>
            <a:chOff x="11497" y="5355"/>
            <a:chExt cx="539" cy="352"/>
          </a:xfrm>
        </p:grpSpPr>
        <p:sp>
          <p:nvSpPr>
            <p:cNvPr id="292" name="矩形 291"/>
            <p:cNvSpPr/>
            <p:nvPr/>
          </p:nvSpPr>
          <p:spPr>
            <a:xfrm>
              <a:off x="11575" y="5355"/>
              <a:ext cx="387" cy="352"/>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800">
                <a:solidFill>
                  <a:schemeClr val="accent6"/>
                </a:solidFill>
                <a:cs typeface="微软雅黑" panose="020B0503020204020204" charset="-122"/>
                <a:sym typeface="+mn-ea"/>
              </a:endParaRPr>
            </a:p>
          </p:txBody>
        </p:sp>
        <p:sp>
          <p:nvSpPr>
            <p:cNvPr id="293" name="文本框 292"/>
            <p:cNvSpPr txBox="1"/>
            <p:nvPr>
              <p:custDataLst>
                <p:tags r:id="rId54"/>
              </p:custDataLst>
            </p:nvPr>
          </p:nvSpPr>
          <p:spPr>
            <a:xfrm>
              <a:off x="11497" y="5387"/>
              <a:ext cx="539" cy="293"/>
            </a:xfrm>
            <a:prstGeom prst="rect">
              <a:avLst/>
            </a:prstGeom>
            <a:noFill/>
          </p:spPr>
          <p:txBody>
            <a:bodyPr wrap="square" rtlCol="0" anchor="ctr" anchorCtr="0">
              <a:noAutofit/>
            </a:bodyPr>
            <a:p>
              <a:pPr algn="ctr"/>
              <a:r>
                <a:rPr lang="zh-CN" altLang="en-US" sz="600">
                  <a:solidFill>
                    <a:schemeClr val="accent6"/>
                  </a:solidFill>
                  <a:latin typeface="微软雅黑" panose="020B0503020204020204" charset="-122"/>
                  <a:ea typeface="微软雅黑" panose="020B0503020204020204" charset="-122"/>
                  <a:cs typeface="微软雅黑" panose="020B0503020204020204" charset="-122"/>
                  <a:sym typeface="+mn-ea"/>
                </a:rPr>
                <a:t>代理网点</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p:txBody>
        </p:sp>
      </p:grpSp>
      <p:grpSp>
        <p:nvGrpSpPr>
          <p:cNvPr id="294" name="组合 293"/>
          <p:cNvGrpSpPr/>
          <p:nvPr/>
        </p:nvGrpSpPr>
        <p:grpSpPr>
          <a:xfrm>
            <a:off x="11283315" y="3155950"/>
            <a:ext cx="342265" cy="223520"/>
            <a:chOff x="11497" y="5355"/>
            <a:chExt cx="539" cy="352"/>
          </a:xfrm>
        </p:grpSpPr>
        <p:sp>
          <p:nvSpPr>
            <p:cNvPr id="295" name="矩形 294"/>
            <p:cNvSpPr/>
            <p:nvPr/>
          </p:nvSpPr>
          <p:spPr>
            <a:xfrm>
              <a:off x="11575" y="5355"/>
              <a:ext cx="387" cy="352"/>
            </a:xfrm>
            <a:prstGeom prst="rect">
              <a:avLst/>
            </a:prstGeom>
            <a:solidFill>
              <a:schemeClr val="bg1"/>
            </a:solidFill>
            <a:ln w="6350" cmpd="sng">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800">
                <a:solidFill>
                  <a:schemeClr val="accent6"/>
                </a:solidFill>
                <a:cs typeface="微软雅黑" panose="020B0503020204020204" charset="-122"/>
                <a:sym typeface="+mn-ea"/>
              </a:endParaRPr>
            </a:p>
          </p:txBody>
        </p:sp>
        <p:sp>
          <p:nvSpPr>
            <p:cNvPr id="296" name="文本框 295"/>
            <p:cNvSpPr txBox="1"/>
            <p:nvPr>
              <p:custDataLst>
                <p:tags r:id="rId55"/>
              </p:custDataLst>
            </p:nvPr>
          </p:nvSpPr>
          <p:spPr>
            <a:xfrm>
              <a:off x="11497" y="5387"/>
              <a:ext cx="539" cy="293"/>
            </a:xfrm>
            <a:prstGeom prst="rect">
              <a:avLst/>
            </a:prstGeom>
            <a:noFill/>
          </p:spPr>
          <p:txBody>
            <a:bodyPr wrap="square" rtlCol="0" anchor="ctr" anchorCtr="0">
              <a:noAutofit/>
            </a:bodyPr>
            <a:p>
              <a:pPr algn="ctr"/>
              <a:r>
                <a:rPr lang="zh-CN" altLang="en-US" sz="600">
                  <a:solidFill>
                    <a:schemeClr val="accent6"/>
                  </a:solidFill>
                  <a:latin typeface="微软雅黑" panose="020B0503020204020204" charset="-122"/>
                  <a:ea typeface="微软雅黑" panose="020B0503020204020204" charset="-122"/>
                  <a:cs typeface="微软雅黑" panose="020B0503020204020204" charset="-122"/>
                  <a:sym typeface="+mn-ea"/>
                </a:rPr>
                <a:t>代理网点</a:t>
              </a:r>
              <a:endParaRPr lang="zh-CN" altLang="en-US" sz="600">
                <a:solidFill>
                  <a:schemeClr val="accent6"/>
                </a:solidFill>
                <a:latin typeface="微软雅黑" panose="020B0503020204020204" charset="-122"/>
                <a:ea typeface="微软雅黑" panose="020B0503020204020204" charset="-122"/>
                <a:cs typeface="微软雅黑" panose="020B0503020204020204" charset="-122"/>
              </a:endParaRPr>
            </a:p>
          </p:txBody>
        </p:sp>
      </p:grpSp>
      <p:cxnSp>
        <p:nvCxnSpPr>
          <p:cNvPr id="297" name="肘形连接符 296"/>
          <p:cNvCxnSpPr/>
          <p:nvPr/>
        </p:nvCxnSpPr>
        <p:spPr>
          <a:xfrm rot="5400000">
            <a:off x="10591165" y="2788285"/>
            <a:ext cx="187960" cy="537845"/>
          </a:xfrm>
          <a:prstGeom prst="bentConnector3">
            <a:avLst>
              <a:gd name="adj1" fmla="val 49831"/>
            </a:avLst>
          </a:prstGeom>
          <a:ln>
            <a:solidFill>
              <a:schemeClr val="accent6">
                <a:lumMod val="60000"/>
                <a:lumOff val="40000"/>
              </a:schemeClr>
            </a:solidFill>
            <a:tailEnd type="triangle" w="sm" len="sm"/>
          </a:ln>
        </p:spPr>
        <p:style>
          <a:lnRef idx="2">
            <a:schemeClr val="accent1"/>
          </a:lnRef>
          <a:fillRef idx="0">
            <a:srgbClr val="FFFFFF"/>
          </a:fillRef>
          <a:effectRef idx="0">
            <a:srgbClr val="FFFFFF"/>
          </a:effectRef>
          <a:fontRef idx="minor">
            <a:schemeClr val="tx1"/>
          </a:fontRef>
        </p:style>
      </p:cxnSp>
      <p:cxnSp>
        <p:nvCxnSpPr>
          <p:cNvPr id="298" name="肘形连接符 297"/>
          <p:cNvCxnSpPr/>
          <p:nvPr/>
        </p:nvCxnSpPr>
        <p:spPr>
          <a:xfrm rot="5400000" flipV="1">
            <a:off x="11093450" y="2790190"/>
            <a:ext cx="220980" cy="501650"/>
          </a:xfrm>
          <a:prstGeom prst="bentConnector3">
            <a:avLst>
              <a:gd name="adj1" fmla="val 57471"/>
            </a:avLst>
          </a:prstGeom>
          <a:ln>
            <a:solidFill>
              <a:schemeClr val="accent6">
                <a:lumMod val="60000"/>
                <a:lumOff val="40000"/>
              </a:schemeClr>
            </a:solidFill>
            <a:tailEnd type="triangle" w="sm" len="sm"/>
          </a:ln>
        </p:spPr>
        <p:style>
          <a:lnRef idx="2">
            <a:schemeClr val="accent1"/>
          </a:lnRef>
          <a:fillRef idx="0">
            <a:srgbClr val="FFFFFF"/>
          </a:fillRef>
          <a:effectRef idx="0">
            <a:srgbClr val="FFFFFF"/>
          </a:effectRef>
          <a:fontRef idx="minor">
            <a:schemeClr val="tx1"/>
          </a:fontRef>
        </p:style>
      </p:cxnSp>
      <p:cxnSp>
        <p:nvCxnSpPr>
          <p:cNvPr id="301" name="直接箭头连接符 300"/>
          <p:cNvCxnSpPr/>
          <p:nvPr/>
        </p:nvCxnSpPr>
        <p:spPr>
          <a:xfrm>
            <a:off x="10765155" y="3059430"/>
            <a:ext cx="1270" cy="92710"/>
          </a:xfrm>
          <a:prstGeom prst="straightConnector1">
            <a:avLst/>
          </a:prstGeom>
          <a:ln>
            <a:solidFill>
              <a:schemeClr val="accent6">
                <a:lumMod val="60000"/>
                <a:lumOff val="40000"/>
              </a:schemeClr>
            </a:solidFill>
            <a:tailEnd type="triangle" w="sm" len="sm"/>
          </a:ln>
        </p:spPr>
        <p:style>
          <a:lnRef idx="2">
            <a:schemeClr val="accent1"/>
          </a:lnRef>
          <a:fillRef idx="0">
            <a:srgbClr val="FFFFFF"/>
          </a:fillRef>
          <a:effectRef idx="0">
            <a:srgbClr val="FFFFFF"/>
          </a:effectRef>
          <a:fontRef idx="minor">
            <a:schemeClr val="tx1"/>
          </a:fontRef>
        </p:style>
      </p:cxnSp>
      <p:cxnSp>
        <p:nvCxnSpPr>
          <p:cNvPr id="302" name="直接箭头连接符 301"/>
          <p:cNvCxnSpPr/>
          <p:nvPr/>
        </p:nvCxnSpPr>
        <p:spPr>
          <a:xfrm>
            <a:off x="11130280" y="3059430"/>
            <a:ext cx="1270" cy="92710"/>
          </a:xfrm>
          <a:prstGeom prst="straightConnector1">
            <a:avLst/>
          </a:prstGeom>
          <a:ln>
            <a:solidFill>
              <a:schemeClr val="accent6">
                <a:lumMod val="60000"/>
                <a:lumOff val="40000"/>
              </a:schemeClr>
            </a:solidFill>
            <a:tailEnd type="triangle" w="sm" len="sm"/>
          </a:ln>
        </p:spPr>
        <p:style>
          <a:lnRef idx="2">
            <a:schemeClr val="accent1"/>
          </a:lnRef>
          <a:fillRef idx="0">
            <a:srgbClr val="FFFFFF"/>
          </a:fillRef>
          <a:effectRef idx="0">
            <a:srgbClr val="FFFFFF"/>
          </a:effectRef>
          <a:fontRef idx="minor">
            <a:schemeClr val="tx1"/>
          </a:fontRef>
        </p:style>
      </p:cxnSp>
      <p:sp>
        <p:nvSpPr>
          <p:cNvPr id="303" name="左大括号 302"/>
          <p:cNvSpPr/>
          <p:nvPr/>
        </p:nvSpPr>
        <p:spPr>
          <a:xfrm rot="5400000" flipV="1">
            <a:off x="10210165" y="1804035"/>
            <a:ext cx="117475" cy="1668780"/>
          </a:xfrm>
          <a:prstGeom prst="leftBrace">
            <a:avLst>
              <a:gd name="adj1" fmla="val 270540"/>
              <a:gd name="adj2" fmla="val 49638"/>
            </a:avLst>
          </a:prstGeom>
          <a:ln>
            <a:solidFill>
              <a:schemeClr val="accent2"/>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cs typeface="微软雅黑" panose="020B0503020204020204" charset="-122"/>
            </a:endParaRPr>
          </a:p>
        </p:txBody>
      </p:sp>
      <p:sp>
        <p:nvSpPr>
          <p:cNvPr id="304" name="左大括号 303"/>
          <p:cNvSpPr/>
          <p:nvPr/>
        </p:nvSpPr>
        <p:spPr>
          <a:xfrm rot="16200000">
            <a:off x="10902950" y="2894965"/>
            <a:ext cx="91440" cy="1088390"/>
          </a:xfrm>
          <a:prstGeom prst="leftBrace">
            <a:avLst>
              <a:gd name="adj1" fmla="val 77777"/>
              <a:gd name="adj2" fmla="val 50000"/>
            </a:avLst>
          </a:prstGeom>
          <a:ln>
            <a:solidFill>
              <a:schemeClr val="accent6">
                <a:lumMod val="60000"/>
                <a:lumOff val="4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cs typeface="微软雅黑" panose="020B0503020204020204" charset="-122"/>
            </a:endParaRPr>
          </a:p>
        </p:txBody>
      </p:sp>
      <p:cxnSp>
        <p:nvCxnSpPr>
          <p:cNvPr id="305" name="曲线连接符 304"/>
          <p:cNvCxnSpPr>
            <a:stCxn id="304" idx="1"/>
          </p:cNvCxnSpPr>
          <p:nvPr/>
        </p:nvCxnSpPr>
        <p:spPr>
          <a:xfrm rot="5400000">
            <a:off x="10470515" y="3114675"/>
            <a:ext cx="108585" cy="847725"/>
          </a:xfrm>
          <a:prstGeom prst="curvedConnector2">
            <a:avLst/>
          </a:prstGeom>
          <a:ln>
            <a:solidFill>
              <a:schemeClr val="accent6">
                <a:lumMod val="60000"/>
                <a:lumOff val="40000"/>
              </a:schemeClr>
            </a:solidFill>
            <a:prstDash val="sysDash"/>
            <a:tailEnd type="triangle" w="med" len="med"/>
          </a:ln>
        </p:spPr>
        <p:style>
          <a:lnRef idx="2">
            <a:schemeClr val="accent1"/>
          </a:lnRef>
          <a:fillRef idx="0">
            <a:srgbClr val="FFFFFF"/>
          </a:fillRef>
          <a:effectRef idx="0">
            <a:srgbClr val="FFFFFF"/>
          </a:effectRef>
          <a:fontRef idx="minor">
            <a:schemeClr val="tx1"/>
          </a:fontRef>
        </p:style>
      </p:cxnSp>
      <p:sp>
        <p:nvSpPr>
          <p:cNvPr id="306" name="文本框 305"/>
          <p:cNvSpPr txBox="1"/>
          <p:nvPr>
            <p:custDataLst>
              <p:tags r:id="rId56"/>
            </p:custDataLst>
          </p:nvPr>
        </p:nvSpPr>
        <p:spPr>
          <a:xfrm>
            <a:off x="10348595" y="3615055"/>
            <a:ext cx="1144270" cy="138430"/>
          </a:xfrm>
          <a:prstGeom prst="rect">
            <a:avLst/>
          </a:prstGeom>
          <a:noFill/>
        </p:spPr>
        <p:txBody>
          <a:bodyPr wrap="square" rtlCol="0" anchor="ctr" anchorCtr="0">
            <a:noAutofit/>
          </a:bodyPr>
          <a:p>
            <a:pPr algn="ctr"/>
            <a:r>
              <a:rPr lang="zh-CN" altLang="en-US" sz="600">
                <a:solidFill>
                  <a:schemeClr val="tx2"/>
                </a:solidFill>
                <a:latin typeface="微软雅黑" panose="020B0503020204020204" charset="-122"/>
                <a:ea typeface="微软雅黑" panose="020B0503020204020204" charset="-122"/>
                <a:cs typeface="微软雅黑" panose="020B0503020204020204" charset="-122"/>
              </a:rPr>
              <a:t>售后服务由直营体系承接</a:t>
            </a:r>
            <a:r>
              <a:rPr lang="en-US" altLang="zh-CN" sz="600">
                <a:solidFill>
                  <a:schemeClr val="tx2"/>
                </a:solidFill>
                <a:latin typeface="微软雅黑" panose="020B0503020204020204" charset="-122"/>
                <a:ea typeface="微软雅黑" panose="020B0503020204020204" charset="-122"/>
                <a:cs typeface="微软雅黑" panose="020B0503020204020204" charset="-122"/>
              </a:rPr>
              <a:t>  </a:t>
            </a:r>
            <a:endParaRPr lang="en-US" altLang="zh-CN" sz="6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07" name="椭圆 306"/>
          <p:cNvSpPr/>
          <p:nvPr/>
        </p:nvSpPr>
        <p:spPr>
          <a:xfrm>
            <a:off x="426720" y="4352290"/>
            <a:ext cx="450215" cy="450215"/>
          </a:xfrm>
          <a:prstGeom prst="ellipse">
            <a:avLst/>
          </a:prstGeom>
          <a:solidFill>
            <a:schemeClr val="accent1"/>
          </a:solidFill>
          <a:ln>
            <a:solidFill>
              <a:schemeClr val="accent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308" name="五边形 307"/>
          <p:cNvSpPr/>
          <p:nvPr/>
        </p:nvSpPr>
        <p:spPr>
          <a:xfrm>
            <a:off x="1492250" y="4337685"/>
            <a:ext cx="755650" cy="464820"/>
          </a:xfrm>
          <a:prstGeom prst="homePlate">
            <a:avLst>
              <a:gd name="adj" fmla="val 29661"/>
            </a:avLst>
          </a:pr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09" name="五边形 308"/>
          <p:cNvSpPr/>
          <p:nvPr/>
        </p:nvSpPr>
        <p:spPr>
          <a:xfrm>
            <a:off x="958850" y="4197985"/>
            <a:ext cx="1219200" cy="749300"/>
          </a:xfrm>
          <a:prstGeom prst="homePlate">
            <a:avLst>
              <a:gd name="adj" fmla="val 29661"/>
            </a:avLst>
          </a:prstGeom>
          <a:solidFill>
            <a:schemeClr val="bg1"/>
          </a:solidFill>
          <a:ln>
            <a:solidFill>
              <a:schemeClr val="accent1"/>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10" name="文本框 309"/>
          <p:cNvSpPr txBox="1"/>
          <p:nvPr/>
        </p:nvSpPr>
        <p:spPr>
          <a:xfrm>
            <a:off x="958850" y="4318000"/>
            <a:ext cx="1077595" cy="583565"/>
          </a:xfrm>
          <a:prstGeom prst="rect">
            <a:avLst/>
          </a:prstGeom>
          <a:noFill/>
        </p:spPr>
        <p:txBody>
          <a:bodyPr wrap="square" rtlCol="0">
            <a:spAutoFit/>
          </a:bodyPr>
          <a:p>
            <a:pPr algn="ctr"/>
            <a:r>
              <a:rPr lang="zh-CN" altLang="en-US" sz="1600" b="1">
                <a:solidFill>
                  <a:schemeClr val="accent1"/>
                </a:solidFill>
                <a:latin typeface="微软雅黑" panose="020B0503020204020204" charset="-122"/>
                <a:ea typeface="微软雅黑" panose="020B0503020204020204" charset="-122"/>
                <a:cs typeface="微软雅黑" panose="020B0503020204020204" charset="-122"/>
              </a:rPr>
              <a:t>网络规模占比</a:t>
            </a:r>
            <a:endParaRPr lang="zh-CN" altLang="en-US" sz="1600" b="1">
              <a:solidFill>
                <a:schemeClr val="accent1"/>
              </a:solidFill>
              <a:latin typeface="微软雅黑" panose="020B0503020204020204" charset="-122"/>
              <a:ea typeface="微软雅黑" panose="020B0503020204020204" charset="-122"/>
              <a:cs typeface="微软雅黑" panose="020B0503020204020204" charset="-122"/>
            </a:endParaRPr>
          </a:p>
        </p:txBody>
      </p:sp>
      <p:pic>
        <p:nvPicPr>
          <p:cNvPr id="312" name="图片 311" descr="规模"/>
          <p:cNvPicPr>
            <a:picLocks noChangeAspect="1"/>
          </p:cNvPicPr>
          <p:nvPr/>
        </p:nvPicPr>
        <p:blipFill>
          <a:blip r:embed="rId57">
            <a:extLst>
              <a:ext uri="{96DAC541-7B7A-43D3-8B79-37D633B846F1}">
                <asvg:svgBlip xmlns:asvg="http://schemas.microsoft.com/office/drawing/2016/SVG/main" r:embed="rId58"/>
              </a:ext>
            </a:extLst>
          </a:blip>
          <a:stretch>
            <a:fillRect/>
          </a:stretch>
        </p:blipFill>
        <p:spPr>
          <a:xfrm>
            <a:off x="516890" y="4436745"/>
            <a:ext cx="264795" cy="264795"/>
          </a:xfrm>
          <a:prstGeom prst="rect">
            <a:avLst/>
          </a:prstGeom>
        </p:spPr>
      </p:pic>
      <p:sp>
        <p:nvSpPr>
          <p:cNvPr id="313" name="文本框 312"/>
          <p:cNvSpPr txBox="1"/>
          <p:nvPr>
            <p:custDataLst>
              <p:tags r:id="rId59"/>
            </p:custDataLst>
          </p:nvPr>
        </p:nvSpPr>
        <p:spPr>
          <a:xfrm>
            <a:off x="2612390" y="4323080"/>
            <a:ext cx="2446655" cy="957580"/>
          </a:xfrm>
          <a:prstGeom prst="rect">
            <a:avLst/>
          </a:prstGeom>
          <a:noFill/>
        </p:spPr>
        <p:txBody>
          <a:bodyPr wrap="square" rtlCol="0" anchor="ctr" anchorCtr="0">
            <a:noAutofit/>
          </a:bodyPr>
          <a:p>
            <a:pPr marL="171450" indent="-171450" algn="l">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占新能源渠道总量约</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15%-20%;</a:t>
            </a:r>
            <a:endParaRPr lang="en-US" altLang="zh-CN" sz="12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核心城市覆盖率超</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80%;</a:t>
            </a:r>
            <a:endParaRPr lang="en-US" altLang="zh-CN" sz="12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极氪：</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2023</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年直营店突破</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200</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家，单城最高密度达</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8</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店（上海）</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14" name="文本框 313"/>
          <p:cNvSpPr txBox="1"/>
          <p:nvPr>
            <p:custDataLst>
              <p:tags r:id="rId60"/>
            </p:custDataLst>
          </p:nvPr>
        </p:nvSpPr>
        <p:spPr>
          <a:xfrm>
            <a:off x="5763895" y="4374515"/>
            <a:ext cx="2446655" cy="837565"/>
          </a:xfrm>
          <a:prstGeom prst="rect">
            <a:avLst/>
          </a:prstGeom>
          <a:noFill/>
        </p:spPr>
        <p:txBody>
          <a:bodyPr wrap="square" rtlCol="0" anchor="ctr" anchorCtr="0">
            <a:noAutofit/>
          </a:bodyPr>
          <a:p>
            <a:pPr marL="171450" indent="-171450" algn="l">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占新能源渠道总量约</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40%-50%;</a:t>
            </a:r>
            <a:endParaRPr lang="en-US" altLang="zh-CN" sz="12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三线以下城市覆盖率达</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60%;</a:t>
            </a:r>
            <a:endParaRPr lang="en-US" altLang="zh-CN" sz="12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比亚迪：加盟店超</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1200</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家，三四线城市网点年增速</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120%</a:t>
            </a:r>
            <a:endParaRPr lang="en-US" altLang="zh-CN"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15" name="文本框 314"/>
          <p:cNvSpPr txBox="1"/>
          <p:nvPr>
            <p:custDataLst>
              <p:tags r:id="rId61"/>
            </p:custDataLst>
          </p:nvPr>
        </p:nvSpPr>
        <p:spPr>
          <a:xfrm>
            <a:off x="9046210" y="4349750"/>
            <a:ext cx="2605405" cy="601345"/>
          </a:xfrm>
          <a:prstGeom prst="rect">
            <a:avLst/>
          </a:prstGeom>
          <a:noFill/>
        </p:spPr>
        <p:txBody>
          <a:bodyPr wrap="square" rtlCol="0">
            <a:noAutofit/>
          </a:bodyPr>
          <a:p>
            <a:pPr marL="171450" indent="-171450" algn="l">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占新能源渠道总量约</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30%-35%;</a:t>
            </a:r>
            <a:endParaRPr lang="en-US" altLang="zh-CN" sz="12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一二线城市代理店密度达</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3</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家</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endParaRPr lang="en-US" altLang="zh-CN" sz="12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1200">
                <a:solidFill>
                  <a:schemeClr val="tx2"/>
                </a:solidFill>
                <a:latin typeface="微软雅黑" panose="020B0503020204020204" charset="-122"/>
                <a:ea typeface="微软雅黑" panose="020B0503020204020204" charset="-122"/>
                <a:cs typeface="微软雅黑" panose="020B0503020204020204" charset="-122"/>
              </a:rPr>
              <a:t>小鹏：代理店数量达</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600+</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，单店年均订单消化能力为直营店</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70%</a:t>
            </a:r>
            <a:endParaRPr lang="en-US" altLang="zh-CN"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16" name="椭圆 315"/>
          <p:cNvSpPr/>
          <p:nvPr/>
        </p:nvSpPr>
        <p:spPr>
          <a:xfrm>
            <a:off x="381000" y="5743575"/>
            <a:ext cx="450215" cy="450215"/>
          </a:xfrm>
          <a:prstGeom prst="ellipse">
            <a:avLst/>
          </a:prstGeom>
          <a:solidFill>
            <a:schemeClr val="accent5"/>
          </a:solidFill>
          <a:ln>
            <a:solidFill>
              <a:schemeClr val="accent5"/>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317" name="五边形 316"/>
          <p:cNvSpPr/>
          <p:nvPr/>
        </p:nvSpPr>
        <p:spPr>
          <a:xfrm>
            <a:off x="1446530" y="5728970"/>
            <a:ext cx="755650" cy="464820"/>
          </a:xfrm>
          <a:prstGeom prst="homePlate">
            <a:avLst>
              <a:gd name="adj" fmla="val 29661"/>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18" name="五边形 317"/>
          <p:cNvSpPr/>
          <p:nvPr/>
        </p:nvSpPr>
        <p:spPr>
          <a:xfrm>
            <a:off x="913130" y="5594350"/>
            <a:ext cx="1219200" cy="749300"/>
          </a:xfrm>
          <a:prstGeom prst="homePlate">
            <a:avLst>
              <a:gd name="adj" fmla="val 29661"/>
            </a:avLst>
          </a:prstGeom>
          <a:solidFill>
            <a:schemeClr val="bg1"/>
          </a:solidFill>
          <a:ln>
            <a:solidFill>
              <a:schemeClr val="accent5"/>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19" name="文本框 318"/>
          <p:cNvSpPr txBox="1"/>
          <p:nvPr/>
        </p:nvSpPr>
        <p:spPr>
          <a:xfrm>
            <a:off x="913130" y="5714365"/>
            <a:ext cx="1077595" cy="583565"/>
          </a:xfrm>
          <a:prstGeom prst="rect">
            <a:avLst/>
          </a:prstGeom>
          <a:noFill/>
        </p:spPr>
        <p:txBody>
          <a:bodyPr wrap="square" rtlCol="0">
            <a:spAutoFit/>
          </a:bodyPr>
          <a:p>
            <a:pPr algn="ctr"/>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优</a:t>
            </a:r>
            <a:r>
              <a:rPr lang="en-US" altLang="zh-CN" sz="1600" b="1">
                <a:solidFill>
                  <a:schemeClr val="accent5"/>
                </a:solidFill>
                <a:latin typeface="微软雅黑" panose="020B0503020204020204" charset="-122"/>
                <a:ea typeface="微软雅黑" panose="020B0503020204020204" charset="-122"/>
                <a:cs typeface="微软雅黑" panose="020B0503020204020204" charset="-122"/>
              </a:rPr>
              <a:t>/</a:t>
            </a:r>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劣势分析</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321" name="文本框 320"/>
          <p:cNvSpPr txBox="1"/>
          <p:nvPr>
            <p:custDataLst>
              <p:tags r:id="rId62"/>
            </p:custDataLst>
          </p:nvPr>
        </p:nvSpPr>
        <p:spPr>
          <a:xfrm>
            <a:off x="2644140" y="5519420"/>
            <a:ext cx="2592705" cy="601345"/>
          </a:xfrm>
          <a:prstGeom prst="rect">
            <a:avLst/>
          </a:prstGeom>
          <a:noFill/>
        </p:spPr>
        <p:txBody>
          <a:bodyPr wrap="square" rtlCol="0">
            <a:noAutofit/>
          </a:bodyPr>
          <a:p>
            <a:pPr marL="171450" indent="-171450" algn="l">
              <a:buFont typeface="Wingdings" panose="05000000000000000000" charset="0"/>
              <a:buChar char="l"/>
            </a:pP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优势</a:t>
            </a:r>
            <a:r>
              <a:rPr lang="zh-CN" altLang="en-US" sz="12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高品牌控制力、用户体验标准化、数据闭环能力强；</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endParaRPr lang="en-US" altLang="zh-CN" sz="1200" b="1">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劣势：</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扩张成本高（单店投入＞</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2000</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万）、下沉市场渗透慢）。</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4" name="文本框 323"/>
          <p:cNvSpPr txBox="1"/>
          <p:nvPr>
            <p:custDataLst>
              <p:tags r:id="rId63"/>
            </p:custDataLst>
          </p:nvPr>
        </p:nvSpPr>
        <p:spPr>
          <a:xfrm>
            <a:off x="5740400" y="5519420"/>
            <a:ext cx="2446655" cy="601345"/>
          </a:xfrm>
          <a:prstGeom prst="rect">
            <a:avLst/>
          </a:prstGeom>
          <a:noFill/>
        </p:spPr>
        <p:txBody>
          <a:bodyPr wrap="square" rtlCol="0">
            <a:noAutofit/>
          </a:bodyPr>
          <a:p>
            <a:pPr marL="171450" indent="-171450" algn="l">
              <a:buFont typeface="Wingdings" panose="05000000000000000000" charset="0"/>
              <a:buChar char="l"/>
            </a:pP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优势：</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快速规模化（年增网点</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500+</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）、成本分摊灵活；</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endParaRPr lang="en-US" altLang="zh-CN" sz="12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劣势：</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服务质量波动、主机厂</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经销商利益博弈。</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5" name="文本框 324"/>
          <p:cNvSpPr txBox="1"/>
          <p:nvPr>
            <p:custDataLst>
              <p:tags r:id="rId64"/>
            </p:custDataLst>
          </p:nvPr>
        </p:nvSpPr>
        <p:spPr>
          <a:xfrm>
            <a:off x="9009380" y="5519420"/>
            <a:ext cx="2446655" cy="601345"/>
          </a:xfrm>
          <a:prstGeom prst="rect">
            <a:avLst/>
          </a:prstGeom>
          <a:noFill/>
        </p:spPr>
        <p:txBody>
          <a:bodyPr wrap="square" rtlCol="0">
            <a:noAutofit/>
          </a:bodyPr>
          <a:p>
            <a:pPr marL="171450" indent="-171450" algn="l">
              <a:buFont typeface="Wingdings" panose="05000000000000000000" charset="0"/>
              <a:buChar char="l"/>
            </a:pP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优势：</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资产轻（代理店成本降低</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50%</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）、扩张速度快；</a:t>
            </a:r>
            <a:endParaRPr lang="zh-CN" altLang="en-US" sz="1200">
              <a:solidFill>
                <a:schemeClr val="accent5"/>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endParaRPr lang="en-US" altLang="zh-CN" sz="1200">
              <a:solidFill>
                <a:schemeClr val="accent5"/>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劣势：</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代理商专业度依赖性强、售后服务响应链路长。</a:t>
            </a:r>
            <a:endParaRPr lang="zh-CN" altLang="en-US" sz="1200">
              <a:solidFill>
                <a:schemeClr val="accent5"/>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endParaRPr lang="en-US" altLang="zh-CN" sz="1200">
              <a:solidFill>
                <a:schemeClr val="accent5"/>
              </a:solidFill>
              <a:latin typeface="微软雅黑" panose="020B0503020204020204" charset="-122"/>
              <a:ea typeface="微软雅黑" panose="020B0503020204020204" charset="-122"/>
              <a:cs typeface="微软雅黑" panose="020B0503020204020204" charset="-122"/>
            </a:endParaRPr>
          </a:p>
          <a:p>
            <a:pPr marL="171450" indent="-171450" algn="l">
              <a:buFont typeface="微软雅黑" panose="020B0503020204020204" charset="-122"/>
              <a:buChar char="Ø"/>
            </a:pPr>
            <a:endParaRPr lang="en-US" altLang="zh-CN" sz="1200">
              <a:solidFill>
                <a:schemeClr val="accent5"/>
              </a:solidFill>
              <a:latin typeface="微软雅黑" panose="020B0503020204020204" charset="-122"/>
              <a:ea typeface="微软雅黑" panose="020B0503020204020204" charset="-122"/>
              <a:cs typeface="微软雅黑" panose="020B0503020204020204" charset="-122"/>
            </a:endParaRPr>
          </a:p>
        </p:txBody>
      </p:sp>
      <p:pic>
        <p:nvPicPr>
          <p:cNvPr id="326" name="图片 325" descr="对比"/>
          <p:cNvPicPr>
            <a:picLocks noChangeAspect="1"/>
          </p:cNvPicPr>
          <p:nvPr/>
        </p:nvPicPr>
        <p:blipFill>
          <a:blip r:embed="rId65">
            <a:extLst>
              <a:ext uri="{96DAC541-7B7A-43D3-8B79-37D633B846F1}">
                <asvg:svgBlip xmlns:asvg="http://schemas.microsoft.com/office/drawing/2016/SVG/main" r:embed="rId66"/>
              </a:ext>
            </a:extLst>
          </a:blip>
          <a:stretch>
            <a:fillRect/>
          </a:stretch>
        </p:blipFill>
        <p:spPr>
          <a:xfrm>
            <a:off x="454025" y="5816600"/>
            <a:ext cx="304165" cy="304165"/>
          </a:xfrm>
          <a:prstGeom prst="rect">
            <a:avLst/>
          </a:prstGeom>
        </p:spPr>
      </p:pic>
      <p:grpSp>
        <p:nvGrpSpPr>
          <p:cNvPr id="333" name="组合 332"/>
          <p:cNvGrpSpPr/>
          <p:nvPr/>
        </p:nvGrpSpPr>
        <p:grpSpPr>
          <a:xfrm>
            <a:off x="4266565" y="4227195"/>
            <a:ext cx="755650" cy="127000"/>
            <a:chOff x="6719" y="6357"/>
            <a:chExt cx="1190" cy="200"/>
          </a:xfrm>
        </p:grpSpPr>
        <p:sp>
          <p:nvSpPr>
            <p:cNvPr id="327" name="平行四边形 326"/>
            <p:cNvSpPr/>
            <p:nvPr/>
          </p:nvSpPr>
          <p:spPr>
            <a:xfrm>
              <a:off x="6719" y="6357"/>
              <a:ext cx="238" cy="201"/>
            </a:xfrm>
            <a:prstGeom prst="parallelogram">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28" name="平行四边形 327"/>
            <p:cNvSpPr/>
            <p:nvPr/>
          </p:nvSpPr>
          <p:spPr>
            <a:xfrm>
              <a:off x="6957" y="6357"/>
              <a:ext cx="238" cy="201"/>
            </a:xfrm>
            <a:prstGeom prst="parallelogram">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29" name="平行四边形 328"/>
            <p:cNvSpPr/>
            <p:nvPr/>
          </p:nvSpPr>
          <p:spPr>
            <a:xfrm>
              <a:off x="7195" y="6357"/>
              <a:ext cx="238" cy="201"/>
            </a:xfrm>
            <a:prstGeom prst="parallelogram">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30" name="平行四边形 329"/>
            <p:cNvSpPr/>
            <p:nvPr/>
          </p:nvSpPr>
          <p:spPr>
            <a:xfrm>
              <a:off x="7433" y="6357"/>
              <a:ext cx="238" cy="201"/>
            </a:xfrm>
            <a:prstGeom prst="parallelogram">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31" name="平行四边形 330"/>
            <p:cNvSpPr/>
            <p:nvPr/>
          </p:nvSpPr>
          <p:spPr>
            <a:xfrm>
              <a:off x="7671" y="6357"/>
              <a:ext cx="238" cy="201"/>
            </a:xfrm>
            <a:prstGeom prst="parallelogram">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334" name="组合 333"/>
          <p:cNvGrpSpPr/>
          <p:nvPr/>
        </p:nvGrpSpPr>
        <p:grpSpPr>
          <a:xfrm>
            <a:off x="7606030" y="4203065"/>
            <a:ext cx="755650" cy="127000"/>
            <a:chOff x="6719" y="6357"/>
            <a:chExt cx="1190" cy="200"/>
          </a:xfrm>
        </p:grpSpPr>
        <p:sp>
          <p:nvSpPr>
            <p:cNvPr id="335" name="平行四边形 334"/>
            <p:cNvSpPr/>
            <p:nvPr/>
          </p:nvSpPr>
          <p:spPr>
            <a:xfrm>
              <a:off x="6719" y="6357"/>
              <a:ext cx="238" cy="201"/>
            </a:xfrm>
            <a:prstGeom prst="parallelogram">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36" name="平行四边形 335"/>
            <p:cNvSpPr/>
            <p:nvPr/>
          </p:nvSpPr>
          <p:spPr>
            <a:xfrm>
              <a:off x="6957" y="6357"/>
              <a:ext cx="238" cy="201"/>
            </a:xfrm>
            <a:prstGeom prst="parallelogram">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37" name="平行四边形 336"/>
            <p:cNvSpPr/>
            <p:nvPr/>
          </p:nvSpPr>
          <p:spPr>
            <a:xfrm>
              <a:off x="7195" y="6357"/>
              <a:ext cx="238" cy="201"/>
            </a:xfrm>
            <a:prstGeom prst="parallelogram">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38" name="平行四边形 337"/>
            <p:cNvSpPr/>
            <p:nvPr/>
          </p:nvSpPr>
          <p:spPr>
            <a:xfrm>
              <a:off x="7433" y="6357"/>
              <a:ext cx="238" cy="201"/>
            </a:xfrm>
            <a:prstGeom prst="parallelogram">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39" name="平行四边形 338"/>
            <p:cNvSpPr/>
            <p:nvPr/>
          </p:nvSpPr>
          <p:spPr>
            <a:xfrm>
              <a:off x="7671" y="6357"/>
              <a:ext cx="238" cy="201"/>
            </a:xfrm>
            <a:prstGeom prst="parallelogram">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sp>
        <p:nvSpPr>
          <p:cNvPr id="340" name="任意多边形 339"/>
          <p:cNvSpPr/>
          <p:nvPr/>
        </p:nvSpPr>
        <p:spPr>
          <a:xfrm>
            <a:off x="7911465" y="4203065"/>
            <a:ext cx="82709" cy="127635"/>
          </a:xfrm>
          <a:custGeom>
            <a:avLst/>
            <a:gdLst>
              <a:gd name="adj" fmla="val 25000"/>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130" h="201">
                <a:moveTo>
                  <a:pt x="0" y="201"/>
                </a:moveTo>
                <a:lnTo>
                  <a:pt x="50" y="0"/>
                </a:lnTo>
                <a:lnTo>
                  <a:pt x="130" y="0"/>
                </a:lnTo>
                <a:lnTo>
                  <a:pt x="80" y="201"/>
                </a:lnTo>
                <a:lnTo>
                  <a:pt x="0" y="201"/>
                </a:lnTo>
                <a:close/>
              </a:path>
            </a:pathLst>
          </a:cu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grpSp>
        <p:nvGrpSpPr>
          <p:cNvPr id="342" name="组合 341"/>
          <p:cNvGrpSpPr/>
          <p:nvPr/>
        </p:nvGrpSpPr>
        <p:grpSpPr>
          <a:xfrm>
            <a:off x="10692765" y="4203065"/>
            <a:ext cx="755650" cy="127000"/>
            <a:chOff x="6719" y="6357"/>
            <a:chExt cx="1190" cy="200"/>
          </a:xfrm>
        </p:grpSpPr>
        <p:sp>
          <p:nvSpPr>
            <p:cNvPr id="343" name="平行四边形 342"/>
            <p:cNvSpPr/>
            <p:nvPr/>
          </p:nvSpPr>
          <p:spPr>
            <a:xfrm>
              <a:off x="6719" y="6357"/>
              <a:ext cx="238" cy="201"/>
            </a:xfrm>
            <a:prstGeom prst="parallelogram">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44" name="平行四边形 343"/>
            <p:cNvSpPr/>
            <p:nvPr/>
          </p:nvSpPr>
          <p:spPr>
            <a:xfrm>
              <a:off x="6957" y="6357"/>
              <a:ext cx="238" cy="201"/>
            </a:xfrm>
            <a:prstGeom prst="parallelogram">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45" name="平行四边形 344"/>
            <p:cNvSpPr/>
            <p:nvPr/>
          </p:nvSpPr>
          <p:spPr>
            <a:xfrm>
              <a:off x="7195" y="6357"/>
              <a:ext cx="238" cy="201"/>
            </a:xfrm>
            <a:prstGeom prst="parallelogram">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46" name="平行四边形 345"/>
            <p:cNvSpPr/>
            <p:nvPr/>
          </p:nvSpPr>
          <p:spPr>
            <a:xfrm>
              <a:off x="7433" y="6357"/>
              <a:ext cx="238" cy="201"/>
            </a:xfrm>
            <a:prstGeom prst="parallelogram">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47" name="平行四边形 346"/>
            <p:cNvSpPr/>
            <p:nvPr/>
          </p:nvSpPr>
          <p:spPr>
            <a:xfrm>
              <a:off x="7671" y="6357"/>
              <a:ext cx="238" cy="201"/>
            </a:xfrm>
            <a:prstGeom prst="parallelogram">
              <a:avLst/>
            </a:prstGeom>
            <a:solidFill>
              <a:schemeClr val="accent6">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sp>
        <p:nvSpPr>
          <p:cNvPr id="349" name="任意多边形 348"/>
          <p:cNvSpPr/>
          <p:nvPr/>
        </p:nvSpPr>
        <p:spPr>
          <a:xfrm>
            <a:off x="10843895" y="4203065"/>
            <a:ext cx="122079" cy="127635"/>
          </a:xfrm>
          <a:custGeom>
            <a:avLst/>
            <a:gdLst>
              <a:gd name="adj" fmla="val 25000"/>
              <a:gd name="maxAdj" fmla="*/ 100000 w ss"/>
              <a:gd name="a" fmla="pin 0 adj maxAdj"/>
              <a:gd name="x1" fmla="*/ ss a 200000"/>
              <a:gd name="x2" fmla="*/ ss a 100000"/>
              <a:gd name="x6" fmla="+- r 0 x1"/>
              <a:gd name="x5" fmla="+- r 0 x2"/>
              <a:gd name="x3" fmla="*/ x5 1 2"/>
              <a:gd name="x4" fmla="+- r 0 x3"/>
              <a:gd name="il" fmla="*/ wd2 a maxAdj"/>
              <a:gd name="q1" fmla="*/ 5 a maxAdj"/>
              <a:gd name="q2" fmla="+/ 1 q1 12"/>
              <a:gd name="il-1" fmla="*/ q2 w 1"/>
              <a:gd name="it" fmla="*/ q2 h 1"/>
              <a:gd name="ir" fmla="+- r 0 il-1"/>
              <a:gd name="ib" fmla="+- b 0 it"/>
              <a:gd name="q3" fmla="*/ h hc x2"/>
              <a:gd name="y1" fmla="pin 0 q3 h"/>
              <a:gd name="y2" fmla="+- b 0 y1"/>
            </a:gdLst>
            <a:ahLst/>
            <a:cxnLst>
              <a:cxn ang="3">
                <a:pos x="hc" y="y2"/>
              </a:cxn>
              <a:cxn ang="3">
                <a:pos x="x4" y="t"/>
              </a:cxn>
              <a:cxn ang="0">
                <a:pos x="x6" y="vc"/>
              </a:cxn>
              <a:cxn ang="cd4">
                <a:pos x="x3" y="b"/>
              </a:cxn>
              <a:cxn ang="cd4">
                <a:pos x="hc" y="y1"/>
              </a:cxn>
              <a:cxn ang="cd2">
                <a:pos x="x1" y="vc"/>
              </a:cxn>
            </a:cxnLst>
            <a:rect l="l" t="t" r="r" b="b"/>
            <a:pathLst>
              <a:path w="192" h="201">
                <a:moveTo>
                  <a:pt x="0" y="201"/>
                </a:moveTo>
                <a:lnTo>
                  <a:pt x="50" y="0"/>
                </a:lnTo>
                <a:lnTo>
                  <a:pt x="192" y="0"/>
                </a:lnTo>
                <a:lnTo>
                  <a:pt x="142" y="201"/>
                </a:lnTo>
                <a:lnTo>
                  <a:pt x="0" y="201"/>
                </a:lnTo>
                <a:close/>
              </a:path>
            </a:pathLst>
          </a:cu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grpSp>
        <p:nvGrpSpPr>
          <p:cNvPr id="3" name="组合 2"/>
          <p:cNvGrpSpPr/>
          <p:nvPr/>
        </p:nvGrpSpPr>
        <p:grpSpPr>
          <a:xfrm>
            <a:off x="8738235" y="348615"/>
            <a:ext cx="3219450" cy="332740"/>
            <a:chOff x="13761" y="549"/>
            <a:chExt cx="5070" cy="524"/>
          </a:xfrm>
        </p:grpSpPr>
        <p:pic>
          <p:nvPicPr>
            <p:cNvPr id="2" name="图片 1"/>
            <p:cNvPicPr>
              <a:picLocks noChangeAspect="1"/>
            </p:cNvPicPr>
            <p:nvPr userDrawn="1"/>
          </p:nvPicPr>
          <p:blipFill>
            <a:blip r:embed="rId67"/>
            <a:srcRect l="17002" t="-1765" r="56499" b="-1176"/>
            <a:stretch>
              <a:fillRect/>
            </a:stretch>
          </p:blipFill>
          <p:spPr>
            <a:xfrm>
              <a:off x="13761" y="549"/>
              <a:ext cx="1582" cy="525"/>
            </a:xfrm>
            <a:prstGeom prst="rect">
              <a:avLst/>
            </a:prstGeom>
          </p:spPr>
        </p:pic>
        <p:sp>
          <p:nvSpPr>
            <p:cNvPr id="8" name="文本框 7"/>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圆角矩形 24"/>
          <p:cNvSpPr/>
          <p:nvPr/>
        </p:nvSpPr>
        <p:spPr>
          <a:xfrm>
            <a:off x="3435350" y="1655445"/>
            <a:ext cx="5420360" cy="4379595"/>
          </a:xfrm>
          <a:prstGeom prst="roundRect">
            <a:avLst>
              <a:gd name="adj" fmla="val 4146"/>
            </a:avLst>
          </a:prstGeom>
          <a:solidFill>
            <a:schemeClr val="accent1">
              <a:lumMod val="20000"/>
              <a:lumOff val="80000"/>
              <a:alpha val="20000"/>
            </a:schemeClr>
          </a:solid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200">
                <a:solidFill>
                  <a:schemeClr val="tx2"/>
                </a:solidFill>
                <a:latin typeface="微软雅黑" panose="020B0503020204020204" charset="-122"/>
                <a:ea typeface="微软雅黑" panose="020B0503020204020204" charset="-122"/>
                <a:cs typeface="微软雅黑" panose="020B0503020204020204" charset="-122"/>
              </a:rPr>
              <a:t>企业</a:t>
            </a:r>
            <a:r>
              <a:rPr lang="zh-CN" altLang="en-US" sz="2200">
                <a:solidFill>
                  <a:schemeClr val="tx2"/>
                </a:solidFill>
                <a:latin typeface="微软雅黑" panose="020B0503020204020204" charset="-122"/>
                <a:ea typeface="微软雅黑" panose="020B0503020204020204" charset="-122"/>
                <a:cs typeface="微软雅黑" panose="020B0503020204020204" charset="-122"/>
              </a:rPr>
              <a:t>内外压力下的突围路径</a:t>
            </a:r>
            <a:endParaRPr lang="zh-CN" altLang="en-US" sz="2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 name="圆角矩形 1"/>
          <p:cNvSpPr/>
          <p:nvPr/>
        </p:nvSpPr>
        <p:spPr>
          <a:xfrm>
            <a:off x="2677160" y="1330960"/>
            <a:ext cx="6914515" cy="5009515"/>
          </a:xfrm>
          <a:prstGeom prst="roundRect">
            <a:avLst>
              <a:gd name="adj" fmla="val 5767"/>
            </a:avLst>
          </a:prstGeom>
          <a:noFill/>
          <a:ln>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 name="矩形 2"/>
          <p:cNvSpPr/>
          <p:nvPr/>
        </p:nvSpPr>
        <p:spPr>
          <a:xfrm>
            <a:off x="3597275" y="2192655"/>
            <a:ext cx="1631950" cy="1352550"/>
          </a:xfrm>
          <a:prstGeom prst="rect">
            <a:avLst/>
          </a:prstGeom>
          <a:solidFill>
            <a:schemeClr val="bg1"/>
          </a:solidFill>
          <a:ln>
            <a:solidFill>
              <a:schemeClr val="accent1">
                <a:lumMod val="60000"/>
                <a:lumOff val="40000"/>
                <a:alpha val="7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 name="矩形 3"/>
          <p:cNvSpPr/>
          <p:nvPr/>
        </p:nvSpPr>
        <p:spPr>
          <a:xfrm>
            <a:off x="5280025" y="2192655"/>
            <a:ext cx="1631950" cy="1352550"/>
          </a:xfrm>
          <a:prstGeom prst="rect">
            <a:avLst/>
          </a:prstGeom>
          <a:solidFill>
            <a:schemeClr val="bg1"/>
          </a:solidFill>
          <a:ln>
            <a:solidFill>
              <a:schemeClr val="accent1">
                <a:lumMod val="60000"/>
                <a:lumOff val="40000"/>
                <a:alpha val="7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6" name="矩形 5"/>
          <p:cNvSpPr/>
          <p:nvPr/>
        </p:nvSpPr>
        <p:spPr>
          <a:xfrm>
            <a:off x="6962775" y="2192655"/>
            <a:ext cx="1631950" cy="1352550"/>
          </a:xfrm>
          <a:prstGeom prst="rect">
            <a:avLst/>
          </a:prstGeom>
          <a:solidFill>
            <a:schemeClr val="bg1"/>
          </a:solidFill>
          <a:ln>
            <a:solidFill>
              <a:schemeClr val="accent1">
                <a:lumMod val="60000"/>
                <a:lumOff val="40000"/>
                <a:alpha val="7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7" name="五边形 6"/>
          <p:cNvSpPr/>
          <p:nvPr/>
        </p:nvSpPr>
        <p:spPr>
          <a:xfrm>
            <a:off x="3614420" y="3602355"/>
            <a:ext cx="1656715" cy="311150"/>
          </a:xfrm>
          <a:prstGeom prst="homePlate">
            <a:avLst>
              <a:gd name="adj" fmla="val 25208"/>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 name="燕尾形 7"/>
          <p:cNvSpPr/>
          <p:nvPr/>
        </p:nvSpPr>
        <p:spPr>
          <a:xfrm>
            <a:off x="5280025" y="3602355"/>
            <a:ext cx="1669415" cy="300990"/>
          </a:xfrm>
          <a:prstGeom prst="chevron">
            <a:avLst>
              <a:gd name="adj" fmla="val 29324"/>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9" name="燕尾形 8"/>
          <p:cNvSpPr/>
          <p:nvPr/>
        </p:nvSpPr>
        <p:spPr>
          <a:xfrm>
            <a:off x="6962775" y="3602355"/>
            <a:ext cx="1669415" cy="300990"/>
          </a:xfrm>
          <a:prstGeom prst="chevron">
            <a:avLst>
              <a:gd name="adj" fmla="val 29324"/>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1" name="矩形 10"/>
          <p:cNvSpPr/>
          <p:nvPr/>
        </p:nvSpPr>
        <p:spPr>
          <a:xfrm>
            <a:off x="3999865" y="4266565"/>
            <a:ext cx="4295140" cy="572135"/>
          </a:xfrm>
          <a:prstGeom prst="rect">
            <a:avLst/>
          </a:prstGeom>
          <a:noFill/>
          <a:ln>
            <a:solidFill>
              <a:schemeClr val="accent1">
                <a:lumMod val="60000"/>
                <a:lumOff val="40000"/>
              </a:schemeClr>
            </a:solidFill>
          </a:ln>
          <a:extLst>
            <a:ext uri="{909E8E84-426E-40DD-AFC4-6F175D3DCCD1}">
              <a14:hiddenFill xmlns:a14="http://schemas.microsoft.com/office/drawing/2010/main">
                <a:solidFill>
                  <a:schemeClr val="accent1">
                    <a:alpha val="2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2" name="矩形 11"/>
          <p:cNvSpPr/>
          <p:nvPr/>
        </p:nvSpPr>
        <p:spPr>
          <a:xfrm>
            <a:off x="3999865" y="5231765"/>
            <a:ext cx="4295140" cy="572135"/>
          </a:xfrm>
          <a:prstGeom prst="rect">
            <a:avLst/>
          </a:prstGeom>
          <a:noFill/>
          <a:ln>
            <a:solidFill>
              <a:schemeClr val="accent1">
                <a:lumMod val="60000"/>
                <a:lumOff val="40000"/>
              </a:schemeClr>
            </a:solidFill>
          </a:ln>
          <a:extLst>
            <a:ext uri="{909E8E84-426E-40DD-AFC4-6F175D3DCCD1}">
              <a14:hiddenFill xmlns:a14="http://schemas.microsoft.com/office/drawing/2010/main">
                <a:solidFill>
                  <a:schemeClr val="accent1">
                    <a:alpha val="2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3" name="椭圆 12"/>
          <p:cNvSpPr/>
          <p:nvPr/>
        </p:nvSpPr>
        <p:spPr>
          <a:xfrm>
            <a:off x="2270125" y="1793240"/>
            <a:ext cx="866775" cy="866775"/>
          </a:xfrm>
          <a:prstGeom prst="ellipse">
            <a:avLst/>
          </a:prstGeom>
          <a:solidFill>
            <a:schemeClr val="accent1"/>
          </a:solidFill>
          <a:ln>
            <a:solidFill>
              <a:schemeClr val="bg2"/>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4" name="椭圆 13"/>
          <p:cNvSpPr/>
          <p:nvPr/>
        </p:nvSpPr>
        <p:spPr>
          <a:xfrm>
            <a:off x="2270125" y="3415665"/>
            <a:ext cx="866775" cy="866775"/>
          </a:xfrm>
          <a:prstGeom prst="ellipse">
            <a:avLst/>
          </a:prstGeom>
          <a:solidFill>
            <a:schemeClr val="accent1"/>
          </a:solidFill>
          <a:ln>
            <a:solidFill>
              <a:schemeClr val="bg2"/>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5" name="椭圆 14"/>
          <p:cNvSpPr/>
          <p:nvPr/>
        </p:nvSpPr>
        <p:spPr>
          <a:xfrm>
            <a:off x="2270125" y="5033645"/>
            <a:ext cx="866775" cy="866775"/>
          </a:xfrm>
          <a:prstGeom prst="ellipse">
            <a:avLst/>
          </a:prstGeom>
          <a:solidFill>
            <a:schemeClr val="accent1"/>
          </a:solidFill>
          <a:ln>
            <a:solidFill>
              <a:schemeClr val="bg2"/>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6" name="椭圆 15"/>
          <p:cNvSpPr/>
          <p:nvPr/>
        </p:nvSpPr>
        <p:spPr>
          <a:xfrm>
            <a:off x="9159240" y="2136140"/>
            <a:ext cx="866775" cy="866775"/>
          </a:xfrm>
          <a:prstGeom prst="ellipse">
            <a:avLst/>
          </a:prstGeom>
          <a:solidFill>
            <a:schemeClr val="accent5"/>
          </a:solidFill>
          <a:ln>
            <a:solidFill>
              <a:schemeClr val="bg2"/>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7" name="椭圆 16"/>
          <p:cNvSpPr/>
          <p:nvPr/>
        </p:nvSpPr>
        <p:spPr>
          <a:xfrm>
            <a:off x="9157970" y="4646930"/>
            <a:ext cx="866775" cy="866775"/>
          </a:xfrm>
          <a:prstGeom prst="ellipse">
            <a:avLst/>
          </a:prstGeom>
          <a:solidFill>
            <a:schemeClr val="accent5"/>
          </a:solidFill>
          <a:ln>
            <a:solidFill>
              <a:schemeClr val="bg2"/>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8" name="矩形 17"/>
          <p:cNvSpPr/>
          <p:nvPr/>
        </p:nvSpPr>
        <p:spPr>
          <a:xfrm>
            <a:off x="619760" y="1300480"/>
            <a:ext cx="1508760" cy="1540510"/>
          </a:xfrm>
          <a:prstGeom prst="rect">
            <a:avLst/>
          </a:prstGeom>
          <a:solidFill>
            <a:schemeClr val="accent1">
              <a:lumMod val="60000"/>
              <a:lumOff val="40000"/>
              <a:alpha val="10000"/>
            </a:schemeClr>
          </a:solidFill>
          <a:ln>
            <a:solidFill>
              <a:schemeClr val="accent1">
                <a:lumMod val="60000"/>
                <a:lumOff val="40000"/>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6" name="文本框 25"/>
          <p:cNvSpPr txBox="1"/>
          <p:nvPr/>
        </p:nvSpPr>
        <p:spPr>
          <a:xfrm>
            <a:off x="5280343" y="1736725"/>
            <a:ext cx="1730375" cy="398780"/>
          </a:xfrm>
          <a:prstGeom prst="rect">
            <a:avLst/>
          </a:prstGeom>
          <a:noFill/>
        </p:spPr>
        <p:txBody>
          <a:bodyPr wrap="square" rtlCol="0">
            <a:spAutoFit/>
          </a:bodyPr>
          <a:p>
            <a:pPr algn="ctr"/>
            <a:r>
              <a:rPr lang="zh-CN" altLang="en-US" sz="20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内部压力</a:t>
            </a:r>
            <a:endParaRPr lang="zh-CN" altLang="en-US" sz="20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7" name="文本框 26"/>
          <p:cNvSpPr txBox="1"/>
          <p:nvPr/>
        </p:nvSpPr>
        <p:spPr>
          <a:xfrm>
            <a:off x="3585210" y="2319338"/>
            <a:ext cx="1644015" cy="306705"/>
          </a:xfrm>
          <a:prstGeom prst="rect">
            <a:avLst/>
          </a:prstGeom>
          <a:noFill/>
        </p:spPr>
        <p:txBody>
          <a:bodyPr wrap="square" rtlCol="0">
            <a:spAutoFit/>
          </a:bodyPr>
          <a:p>
            <a:pPr algn="ctr"/>
            <a:r>
              <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供应链管理</a:t>
            </a:r>
            <a:endPar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8" name="文本框 27"/>
          <p:cNvSpPr txBox="1"/>
          <p:nvPr/>
        </p:nvSpPr>
        <p:spPr>
          <a:xfrm>
            <a:off x="3669665" y="2640965"/>
            <a:ext cx="1644015" cy="829945"/>
          </a:xfrm>
          <a:prstGeom prst="rect">
            <a:avLst/>
          </a:prstGeom>
          <a:noFill/>
        </p:spPr>
        <p:txBody>
          <a:bodyPr wrap="square" rtlCol="0">
            <a:spAutoFit/>
          </a:bodyPr>
          <a:p>
            <a:pPr algn="l"/>
            <a:r>
              <a:rPr lang="zh-CN" altLang="en-US" sz="1200">
                <a:solidFill>
                  <a:schemeClr val="tx2"/>
                </a:solidFill>
                <a:latin typeface="微软雅黑" panose="020B0503020204020204" charset="-122"/>
                <a:ea typeface="微软雅黑" panose="020B0503020204020204" charset="-122"/>
                <a:cs typeface="微软雅黑" panose="020B0503020204020204" charset="-122"/>
              </a:rPr>
              <a:t>需优化供应商体系，淘汰低效合作方，同时确保供应链</a:t>
            </a:r>
            <a:r>
              <a:rPr lang="zh-CN" altLang="en-US" sz="1200" b="1">
                <a:solidFill>
                  <a:schemeClr val="tx2"/>
                </a:solidFill>
                <a:latin typeface="微软雅黑" panose="020B0503020204020204" charset="-122"/>
                <a:ea typeface="微软雅黑" panose="020B0503020204020204" charset="-122"/>
                <a:cs typeface="微软雅黑" panose="020B0503020204020204" charset="-122"/>
              </a:rPr>
              <a:t>稳定性与成本可控</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nvSpPr>
        <p:spPr>
          <a:xfrm>
            <a:off x="5264785" y="2319338"/>
            <a:ext cx="1644015" cy="306705"/>
          </a:xfrm>
          <a:prstGeom prst="rect">
            <a:avLst/>
          </a:prstGeom>
          <a:noFill/>
        </p:spPr>
        <p:txBody>
          <a:bodyPr wrap="square" rtlCol="0">
            <a:spAutoFit/>
          </a:bodyPr>
          <a:p>
            <a:pPr algn="ctr"/>
            <a:r>
              <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生产与品控优化</a:t>
            </a:r>
            <a:endPar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0" name="文本框 29"/>
          <p:cNvSpPr txBox="1"/>
          <p:nvPr/>
        </p:nvSpPr>
        <p:spPr>
          <a:xfrm>
            <a:off x="5349240" y="2640965"/>
            <a:ext cx="1644015" cy="829945"/>
          </a:xfrm>
          <a:prstGeom prst="rect">
            <a:avLst/>
          </a:prstGeom>
          <a:noFill/>
        </p:spPr>
        <p:txBody>
          <a:bodyPr wrap="square" rtlCol="0">
            <a:spAutoFit/>
          </a:bodyPr>
          <a:p>
            <a:pPr algn="l"/>
            <a:r>
              <a:rPr lang="zh-CN" altLang="en-US" sz="1200">
                <a:solidFill>
                  <a:schemeClr val="tx2"/>
                </a:solidFill>
                <a:latin typeface="微软雅黑" panose="020B0503020204020204" charset="-122"/>
                <a:ea typeface="微软雅黑" panose="020B0503020204020204" charset="-122"/>
                <a:cs typeface="微软雅黑" panose="020B0503020204020204" charset="-122"/>
              </a:rPr>
              <a:t>需推动</a:t>
            </a:r>
            <a:r>
              <a:rPr lang="zh-CN" altLang="en-US" sz="1200" b="1">
                <a:solidFill>
                  <a:schemeClr val="tx2"/>
                </a:solidFill>
                <a:latin typeface="微软雅黑" panose="020B0503020204020204" charset="-122"/>
                <a:ea typeface="微软雅黑" panose="020B0503020204020204" charset="-122"/>
                <a:cs typeface="微软雅黑" panose="020B0503020204020204" charset="-122"/>
              </a:rPr>
              <a:t>柔性生产、精益化管理</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降低损耗，同时构建全流程质量追溯体系。</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1" name="文本框 30"/>
          <p:cNvSpPr txBox="1"/>
          <p:nvPr/>
        </p:nvSpPr>
        <p:spPr>
          <a:xfrm>
            <a:off x="6944360" y="2319338"/>
            <a:ext cx="1644015" cy="306705"/>
          </a:xfrm>
          <a:prstGeom prst="rect">
            <a:avLst/>
          </a:prstGeom>
          <a:noFill/>
        </p:spPr>
        <p:txBody>
          <a:bodyPr wrap="square" rtlCol="0">
            <a:spAutoFit/>
          </a:bodyPr>
          <a:p>
            <a:pPr algn="ctr"/>
            <a:r>
              <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运营效率提升</a:t>
            </a:r>
            <a:endParaRPr lang="zh-CN" altLang="en-US"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nvSpPr>
        <p:spPr>
          <a:xfrm>
            <a:off x="7028815" y="2640965"/>
            <a:ext cx="1644015" cy="829945"/>
          </a:xfrm>
          <a:prstGeom prst="rect">
            <a:avLst/>
          </a:prstGeom>
          <a:noFill/>
        </p:spPr>
        <p:txBody>
          <a:bodyPr wrap="square" rtlCol="0">
            <a:spAutoFit/>
          </a:bodyPr>
          <a:p>
            <a:pPr algn="l"/>
            <a:r>
              <a:rPr lang="zh-CN" altLang="en-US" sz="1200">
                <a:solidFill>
                  <a:schemeClr val="tx2"/>
                </a:solidFill>
                <a:latin typeface="微软雅黑" panose="020B0503020204020204" charset="-122"/>
                <a:ea typeface="微软雅黑" panose="020B0503020204020204" charset="-122"/>
                <a:cs typeface="微软雅黑" panose="020B0503020204020204" charset="-122"/>
              </a:rPr>
              <a:t>需</a:t>
            </a:r>
            <a:r>
              <a:rPr lang="zh-CN" altLang="en-US" sz="1200" b="1">
                <a:solidFill>
                  <a:schemeClr val="tx2"/>
                </a:solidFill>
                <a:latin typeface="微软雅黑" panose="020B0503020204020204" charset="-122"/>
                <a:ea typeface="微软雅黑" panose="020B0503020204020204" charset="-122"/>
                <a:cs typeface="微软雅黑" panose="020B0503020204020204" charset="-122"/>
              </a:rPr>
              <a:t>降低生产成本并提高交付效率</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，若无法实现则面临利润压缩与客户流失。</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3" name="文本框 32"/>
          <p:cNvSpPr txBox="1"/>
          <p:nvPr/>
        </p:nvSpPr>
        <p:spPr>
          <a:xfrm>
            <a:off x="3825875" y="3602355"/>
            <a:ext cx="1155065" cy="306705"/>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上游</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4" name="文本框 33"/>
          <p:cNvSpPr txBox="1"/>
          <p:nvPr/>
        </p:nvSpPr>
        <p:spPr>
          <a:xfrm>
            <a:off x="5593715" y="3590925"/>
            <a:ext cx="1155065" cy="306705"/>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中游</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5" name="文本框 34"/>
          <p:cNvSpPr txBox="1"/>
          <p:nvPr/>
        </p:nvSpPr>
        <p:spPr>
          <a:xfrm>
            <a:off x="7248525" y="3602355"/>
            <a:ext cx="1155065" cy="306705"/>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下游</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6" name="文本框 35"/>
          <p:cNvSpPr txBox="1"/>
          <p:nvPr/>
        </p:nvSpPr>
        <p:spPr>
          <a:xfrm>
            <a:off x="4271010" y="4352925"/>
            <a:ext cx="3900170" cy="398780"/>
          </a:xfrm>
          <a:prstGeom prst="rect">
            <a:avLst/>
          </a:prstGeom>
          <a:noFill/>
        </p:spPr>
        <p:txBody>
          <a:bodyPr wrap="square" rtlCol="0">
            <a:spAutoFit/>
          </a:bodyPr>
          <a:p>
            <a:pPr algn="l"/>
            <a:r>
              <a:rPr lang="zh-CN" altLang="en-US" sz="1000">
                <a:solidFill>
                  <a:schemeClr val="tx2"/>
                </a:solidFill>
                <a:latin typeface="微软雅黑" panose="020B0503020204020204" charset="-122"/>
                <a:ea typeface="微软雅黑" panose="020B0503020204020204" charset="-122"/>
                <a:cs typeface="微软雅黑" panose="020B0503020204020204" charset="-122"/>
              </a:rPr>
              <a:t>通过数字化转型、自动化技术等实现降本增效，同时探索新商业模式以应对市场变化。</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7" name="文本框 36"/>
          <p:cNvSpPr txBox="1"/>
          <p:nvPr/>
        </p:nvSpPr>
        <p:spPr>
          <a:xfrm>
            <a:off x="4315460" y="5344795"/>
            <a:ext cx="3789045" cy="398780"/>
          </a:xfrm>
          <a:prstGeom prst="rect">
            <a:avLst/>
          </a:prstGeom>
          <a:noFill/>
        </p:spPr>
        <p:txBody>
          <a:bodyPr wrap="square" rtlCol="0">
            <a:spAutoFit/>
          </a:bodyPr>
          <a:p>
            <a:pPr lvl="0" algn="l">
              <a:buClrTx/>
              <a:buSzTx/>
              <a:buFontTx/>
            </a:pPr>
            <a:r>
              <a:rPr lang="zh-CN" altLang="en-US" sz="1000">
                <a:solidFill>
                  <a:schemeClr val="tx2"/>
                </a:solidFill>
                <a:latin typeface="微软雅黑" panose="020B0503020204020204" charset="-122"/>
                <a:ea typeface="微软雅黑" panose="020B0503020204020204" charset="-122"/>
                <a:cs typeface="微软雅黑" panose="020B0503020204020204" charset="-122"/>
                <a:sym typeface="+mn-ea"/>
              </a:rPr>
              <a:t>设立创新部门或敏捷团队，引入复合型人才，重构组织流程以支撑战略转型。</a:t>
            </a:r>
            <a:endParaRPr lang="zh-CN" altLang="en-US" sz="10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24" name="菱形 123"/>
          <p:cNvSpPr/>
          <p:nvPr/>
        </p:nvSpPr>
        <p:spPr>
          <a:xfrm>
            <a:off x="5099685" y="3945255"/>
            <a:ext cx="249555" cy="335915"/>
          </a:xfrm>
          <a:prstGeom prst="diamond">
            <a:avLst/>
          </a:prstGeom>
          <a:gradFill>
            <a:gsLst>
              <a:gs pos="0">
                <a:schemeClr val="accent1">
                  <a:lumMod val="60000"/>
                  <a:lumOff val="40000"/>
                </a:schemeClr>
              </a:gs>
              <a:gs pos="50000">
                <a:schemeClr val="accent1">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38" name="菱形 37"/>
          <p:cNvSpPr/>
          <p:nvPr/>
        </p:nvSpPr>
        <p:spPr>
          <a:xfrm>
            <a:off x="5647690" y="3945255"/>
            <a:ext cx="249555" cy="335915"/>
          </a:xfrm>
          <a:prstGeom prst="diamond">
            <a:avLst/>
          </a:prstGeom>
          <a:gradFill>
            <a:gsLst>
              <a:gs pos="0">
                <a:schemeClr val="accent1">
                  <a:lumMod val="60000"/>
                  <a:lumOff val="40000"/>
                </a:schemeClr>
              </a:gs>
              <a:gs pos="50000">
                <a:schemeClr val="accent1">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39" name="菱形 38"/>
          <p:cNvSpPr/>
          <p:nvPr/>
        </p:nvSpPr>
        <p:spPr>
          <a:xfrm>
            <a:off x="6195695" y="3945255"/>
            <a:ext cx="249555" cy="335915"/>
          </a:xfrm>
          <a:prstGeom prst="diamond">
            <a:avLst/>
          </a:prstGeom>
          <a:gradFill>
            <a:gsLst>
              <a:gs pos="0">
                <a:schemeClr val="accent1">
                  <a:lumMod val="60000"/>
                  <a:lumOff val="40000"/>
                </a:schemeClr>
              </a:gs>
              <a:gs pos="50000">
                <a:schemeClr val="accent1">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40" name="菱形 39"/>
          <p:cNvSpPr/>
          <p:nvPr/>
        </p:nvSpPr>
        <p:spPr>
          <a:xfrm>
            <a:off x="6743700" y="3945255"/>
            <a:ext cx="249555" cy="335915"/>
          </a:xfrm>
          <a:prstGeom prst="diamond">
            <a:avLst/>
          </a:prstGeom>
          <a:gradFill>
            <a:gsLst>
              <a:gs pos="0">
                <a:schemeClr val="accent1">
                  <a:lumMod val="60000"/>
                  <a:lumOff val="40000"/>
                </a:schemeClr>
              </a:gs>
              <a:gs pos="50000">
                <a:schemeClr val="accent1">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41" name="菱形 40"/>
          <p:cNvSpPr/>
          <p:nvPr/>
        </p:nvSpPr>
        <p:spPr>
          <a:xfrm>
            <a:off x="5134610" y="4892675"/>
            <a:ext cx="249555" cy="335915"/>
          </a:xfrm>
          <a:prstGeom prst="diamond">
            <a:avLst/>
          </a:prstGeom>
          <a:gradFill>
            <a:gsLst>
              <a:gs pos="0">
                <a:schemeClr val="accent1">
                  <a:lumMod val="60000"/>
                  <a:lumOff val="40000"/>
                </a:schemeClr>
              </a:gs>
              <a:gs pos="50000">
                <a:schemeClr val="accent1">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42" name="菱形 41"/>
          <p:cNvSpPr/>
          <p:nvPr/>
        </p:nvSpPr>
        <p:spPr>
          <a:xfrm>
            <a:off x="5682615" y="4892675"/>
            <a:ext cx="249555" cy="335915"/>
          </a:xfrm>
          <a:prstGeom prst="diamond">
            <a:avLst/>
          </a:prstGeom>
          <a:gradFill>
            <a:gsLst>
              <a:gs pos="0">
                <a:schemeClr val="accent1">
                  <a:lumMod val="60000"/>
                  <a:lumOff val="40000"/>
                </a:schemeClr>
              </a:gs>
              <a:gs pos="50000">
                <a:schemeClr val="accent1">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43" name="菱形 42"/>
          <p:cNvSpPr/>
          <p:nvPr/>
        </p:nvSpPr>
        <p:spPr>
          <a:xfrm>
            <a:off x="6230620" y="4892675"/>
            <a:ext cx="249555" cy="335915"/>
          </a:xfrm>
          <a:prstGeom prst="diamond">
            <a:avLst/>
          </a:prstGeom>
          <a:gradFill>
            <a:gsLst>
              <a:gs pos="0">
                <a:schemeClr val="accent1">
                  <a:lumMod val="60000"/>
                  <a:lumOff val="40000"/>
                </a:schemeClr>
              </a:gs>
              <a:gs pos="50000">
                <a:schemeClr val="accent1">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44" name="菱形 43"/>
          <p:cNvSpPr/>
          <p:nvPr/>
        </p:nvSpPr>
        <p:spPr>
          <a:xfrm>
            <a:off x="6778625" y="4892675"/>
            <a:ext cx="249555" cy="335915"/>
          </a:xfrm>
          <a:prstGeom prst="diamond">
            <a:avLst/>
          </a:prstGeom>
          <a:gradFill>
            <a:gsLst>
              <a:gs pos="0">
                <a:schemeClr val="accent1">
                  <a:lumMod val="60000"/>
                  <a:lumOff val="40000"/>
                </a:schemeClr>
              </a:gs>
              <a:gs pos="50000">
                <a:schemeClr val="accent1">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47" name="矩形 46"/>
          <p:cNvSpPr/>
          <p:nvPr/>
        </p:nvSpPr>
        <p:spPr>
          <a:xfrm>
            <a:off x="5631815" y="1221740"/>
            <a:ext cx="1146810" cy="210185"/>
          </a:xfrm>
          <a:prstGeom prst="rect">
            <a:avLst/>
          </a:prstGeom>
          <a:solidFill>
            <a:schemeClr val="bg1"/>
          </a:soli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600" b="1">
                <a:solidFill>
                  <a:schemeClr val="accent1"/>
                </a:solidFill>
                <a:cs typeface="微软雅黑" panose="020B0503020204020204" charset="-122"/>
                <a:sym typeface="+mn-ea"/>
              </a:rPr>
              <a:t>外部压力</a:t>
            </a:r>
            <a:endParaRPr lang="zh-CN" altLang="en-US" sz="1600" b="1">
              <a:solidFill>
                <a:schemeClr val="accent1"/>
              </a:solidFill>
              <a:cs typeface="微软雅黑" panose="020B0503020204020204" charset="-122"/>
              <a:sym typeface="+mn-ea"/>
            </a:endParaRPr>
          </a:p>
        </p:txBody>
      </p:sp>
      <p:sp>
        <p:nvSpPr>
          <p:cNvPr id="48" name="矩形 47"/>
          <p:cNvSpPr/>
          <p:nvPr/>
        </p:nvSpPr>
        <p:spPr>
          <a:xfrm>
            <a:off x="5797550" y="6212840"/>
            <a:ext cx="1146810" cy="210185"/>
          </a:xfrm>
          <a:prstGeom prst="rect">
            <a:avLst/>
          </a:prstGeom>
          <a:solidFill>
            <a:schemeClr val="bg1"/>
          </a:soli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600" b="1">
                <a:solidFill>
                  <a:schemeClr val="accent1"/>
                </a:solidFill>
                <a:cs typeface="微软雅黑" panose="020B0503020204020204" charset="-122"/>
                <a:sym typeface="+mn-ea"/>
              </a:rPr>
              <a:t>外部压力</a:t>
            </a:r>
            <a:endParaRPr lang="zh-CN" altLang="en-US" sz="1600" b="1">
              <a:solidFill>
                <a:schemeClr val="accent1"/>
              </a:solidFill>
              <a:cs typeface="微软雅黑" panose="020B0503020204020204" charset="-122"/>
              <a:sym typeface="+mn-ea"/>
            </a:endParaRPr>
          </a:p>
        </p:txBody>
      </p:sp>
      <p:sp>
        <p:nvSpPr>
          <p:cNvPr id="49" name="文本框 48"/>
          <p:cNvSpPr txBox="1"/>
          <p:nvPr/>
        </p:nvSpPr>
        <p:spPr>
          <a:xfrm>
            <a:off x="2254885" y="1986915"/>
            <a:ext cx="955040" cy="521970"/>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政府及监管部门</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0" name="文本框 49"/>
          <p:cNvSpPr txBox="1"/>
          <p:nvPr/>
        </p:nvSpPr>
        <p:spPr>
          <a:xfrm>
            <a:off x="2239645" y="3611245"/>
            <a:ext cx="955040" cy="521970"/>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行业</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协会</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1" name="文本框 50"/>
          <p:cNvSpPr txBox="1"/>
          <p:nvPr/>
        </p:nvSpPr>
        <p:spPr>
          <a:xfrm>
            <a:off x="2259330" y="5205730"/>
            <a:ext cx="955040" cy="521970"/>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金融</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机构</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2" name="文本框 51"/>
          <p:cNvSpPr txBox="1"/>
          <p:nvPr/>
        </p:nvSpPr>
        <p:spPr>
          <a:xfrm>
            <a:off x="662305" y="1431925"/>
            <a:ext cx="1465580" cy="1383665"/>
          </a:xfrm>
          <a:prstGeom prst="rect">
            <a:avLst/>
          </a:prstGeom>
          <a:noFill/>
        </p:spPr>
        <p:txBody>
          <a:bodyPr wrap="square" rtlCol="0">
            <a:spAutoFit/>
          </a:bodyPr>
          <a:p>
            <a:pPr algn="l"/>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强化行业整顿与政策约束。</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推出行业准入白名单机、跨部门联合合规审查等组合拳，倒逼企业优化生产模式与管理流程。</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3" name="矩形 52"/>
          <p:cNvSpPr/>
          <p:nvPr/>
        </p:nvSpPr>
        <p:spPr>
          <a:xfrm>
            <a:off x="619760" y="3002915"/>
            <a:ext cx="1508760" cy="1540510"/>
          </a:xfrm>
          <a:prstGeom prst="rect">
            <a:avLst/>
          </a:prstGeom>
          <a:solidFill>
            <a:schemeClr val="accent1">
              <a:lumMod val="60000"/>
              <a:lumOff val="40000"/>
              <a:alpha val="10000"/>
            </a:schemeClr>
          </a:solidFill>
          <a:ln>
            <a:solidFill>
              <a:schemeClr val="accent1">
                <a:lumMod val="60000"/>
                <a:lumOff val="40000"/>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54" name="矩形 53"/>
          <p:cNvSpPr/>
          <p:nvPr/>
        </p:nvSpPr>
        <p:spPr>
          <a:xfrm>
            <a:off x="619760" y="4751705"/>
            <a:ext cx="1508760" cy="1540510"/>
          </a:xfrm>
          <a:prstGeom prst="rect">
            <a:avLst/>
          </a:prstGeom>
          <a:solidFill>
            <a:schemeClr val="accent1">
              <a:lumMod val="60000"/>
              <a:lumOff val="40000"/>
              <a:alpha val="10000"/>
            </a:schemeClr>
          </a:solidFill>
          <a:ln>
            <a:solidFill>
              <a:schemeClr val="accent1">
                <a:lumMod val="60000"/>
                <a:lumOff val="40000"/>
                <a:alpha val="5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57" name="文本框 56"/>
          <p:cNvSpPr txBox="1"/>
          <p:nvPr/>
        </p:nvSpPr>
        <p:spPr>
          <a:xfrm>
            <a:off x="9146540" y="2274570"/>
            <a:ext cx="955040" cy="645160"/>
          </a:xfrm>
          <a:prstGeom prst="rect">
            <a:avLst/>
          </a:prstGeom>
          <a:noFill/>
        </p:spPr>
        <p:txBody>
          <a:bodyPr wrap="square" rtlCol="0">
            <a:spAutoFit/>
          </a:bodyPr>
          <a:p>
            <a:pPr algn="ctr"/>
            <a:r>
              <a:rPr lang="zh-CN" altLang="en-US" b="1">
                <a:solidFill>
                  <a:schemeClr val="bg1"/>
                </a:solidFill>
                <a:latin typeface="微软雅黑" panose="020B0503020204020204" charset="-122"/>
                <a:ea typeface="微软雅黑" panose="020B0503020204020204" charset="-122"/>
                <a:cs typeface="微软雅黑" panose="020B0503020204020204" charset="-122"/>
              </a:rPr>
              <a:t>投资</a:t>
            </a:r>
            <a:endParaRPr lang="zh-CN" altLang="en-US" b="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b="1">
                <a:solidFill>
                  <a:schemeClr val="bg1"/>
                </a:solidFill>
                <a:latin typeface="微软雅黑" panose="020B0503020204020204" charset="-122"/>
                <a:ea typeface="微软雅黑" panose="020B0503020204020204" charset="-122"/>
                <a:cs typeface="微软雅黑" panose="020B0503020204020204" charset="-122"/>
              </a:rPr>
              <a:t>者</a:t>
            </a:r>
            <a:endParaRPr lang="zh-CN" altLang="en-US"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8" name="文本框 57"/>
          <p:cNvSpPr txBox="1"/>
          <p:nvPr/>
        </p:nvSpPr>
        <p:spPr>
          <a:xfrm>
            <a:off x="9127490" y="4800600"/>
            <a:ext cx="955040" cy="645160"/>
          </a:xfrm>
          <a:prstGeom prst="rect">
            <a:avLst/>
          </a:prstGeom>
          <a:noFill/>
        </p:spPr>
        <p:txBody>
          <a:bodyPr wrap="square" rtlCol="0">
            <a:spAutoFit/>
          </a:bodyPr>
          <a:p>
            <a:pPr algn="ctr"/>
            <a:r>
              <a:rPr lang="zh-CN" altLang="en-US" b="1">
                <a:solidFill>
                  <a:schemeClr val="bg1"/>
                </a:solidFill>
                <a:latin typeface="微软雅黑" panose="020B0503020204020204" charset="-122"/>
                <a:ea typeface="微软雅黑" panose="020B0503020204020204" charset="-122"/>
                <a:cs typeface="微软雅黑" panose="020B0503020204020204" charset="-122"/>
              </a:rPr>
              <a:t>消费</a:t>
            </a:r>
            <a:endParaRPr lang="zh-CN" altLang="en-US" b="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b="1">
                <a:solidFill>
                  <a:schemeClr val="bg1"/>
                </a:solidFill>
                <a:latin typeface="微软雅黑" panose="020B0503020204020204" charset="-122"/>
                <a:ea typeface="微软雅黑" panose="020B0503020204020204" charset="-122"/>
                <a:cs typeface="微软雅黑" panose="020B0503020204020204" charset="-122"/>
              </a:rPr>
              <a:t>者</a:t>
            </a:r>
            <a:endParaRPr lang="zh-CN" altLang="en-US"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9" name="矩形 58"/>
          <p:cNvSpPr/>
          <p:nvPr/>
        </p:nvSpPr>
        <p:spPr>
          <a:xfrm>
            <a:off x="10156190" y="1793240"/>
            <a:ext cx="1508760" cy="1540510"/>
          </a:xfrm>
          <a:prstGeom prst="rect">
            <a:avLst/>
          </a:prstGeom>
          <a:solidFill>
            <a:schemeClr val="accent5">
              <a:alpha val="10000"/>
            </a:schemeClr>
          </a:solidFill>
          <a:ln>
            <a:solidFill>
              <a:schemeClr val="accent5">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0" name="文本框 59"/>
          <p:cNvSpPr txBox="1"/>
          <p:nvPr/>
        </p:nvSpPr>
        <p:spPr>
          <a:xfrm>
            <a:off x="10191750" y="1898015"/>
            <a:ext cx="1437005" cy="1383665"/>
          </a:xfrm>
          <a:prstGeom prst="rect">
            <a:avLst/>
          </a:prstGeom>
          <a:noFill/>
        </p:spPr>
        <p:txBody>
          <a:bodyPr wrap="square" rtlCol="0">
            <a:spAutoFit/>
          </a:bodyPr>
          <a:p>
            <a:pPr algn="l"/>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从短期逐利转向长期价值锚定。</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受宏观经济波动影响，资本加速撤离低增长赛道，转而聚焦新兴产业及具备技术壁垒的企业。</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1" name="矩形 60"/>
          <p:cNvSpPr/>
          <p:nvPr/>
        </p:nvSpPr>
        <p:spPr>
          <a:xfrm>
            <a:off x="10156190" y="4494530"/>
            <a:ext cx="1508760" cy="1540510"/>
          </a:xfrm>
          <a:prstGeom prst="rect">
            <a:avLst/>
          </a:prstGeom>
          <a:solidFill>
            <a:schemeClr val="accent5">
              <a:alpha val="10000"/>
            </a:schemeClr>
          </a:solidFill>
          <a:ln>
            <a:solidFill>
              <a:schemeClr val="accent5">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2" name="文本框 61"/>
          <p:cNvSpPr txBox="1"/>
          <p:nvPr/>
        </p:nvSpPr>
        <p:spPr>
          <a:xfrm>
            <a:off x="10182860" y="4597400"/>
            <a:ext cx="1437640" cy="1585595"/>
          </a:xfrm>
          <a:prstGeom prst="rect">
            <a:avLst/>
          </a:prstGeom>
          <a:noFill/>
        </p:spPr>
        <p:txBody>
          <a:bodyPr wrap="square" rtlCol="0">
            <a:noAutofit/>
          </a:bodyPr>
          <a:p>
            <a:pPr algn="l"/>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从性价比导向升级为价值与体验双驱动。</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消费者倾向于选择高性价比、体验优质的产品，倒逼企业优化服务与产品设计。</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a:p>
            <a:pPr algn="l"/>
            <a:endParaRPr lang="en-US" altLang="zh-CN" sz="1200">
              <a:solidFill>
                <a:schemeClr val="tx2"/>
              </a:solidFill>
              <a:latin typeface="微软雅黑" panose="020B0503020204020204" charset="-122"/>
              <a:ea typeface="微软雅黑" panose="020B0503020204020204" charset="-122"/>
              <a:cs typeface="微软雅黑" panose="020B0503020204020204" charset="-122"/>
            </a:endParaRPr>
          </a:p>
          <a:p>
            <a:pPr algn="l"/>
            <a:endParaRPr lang="en-US" altLang="zh-CN"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4" name="紫荆的职场Point99-4"/>
          <p:cNvSpPr/>
          <p:nvPr/>
        </p:nvSpPr>
        <p:spPr>
          <a:xfrm rot="7620000">
            <a:off x="2857500" y="1424305"/>
            <a:ext cx="347980" cy="52895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alpha val="0"/>
                </a:schemeClr>
              </a:gs>
              <a:gs pos="100000">
                <a:schemeClr val="accent1"/>
              </a:gs>
            </a:gsLst>
            <a:lin ang="16200000" scaled="1"/>
            <a:tileRect/>
          </a:gradFill>
          <a:ln w="6350" cap="flat" cmpd="sng" algn="ctr">
            <a:noFill/>
            <a:prstDash val="lgDash"/>
            <a:miter lim="800000"/>
          </a:ln>
          <a:effectLst>
            <a:outerShdw blurRad="190500" algn="ctr" rotWithShape="0">
              <a:srgbClr val="24396B">
                <a:alpha val="40000"/>
              </a:srgbClr>
            </a:outerShdw>
          </a:effectLst>
        </p:spPr>
        <p:txBody>
          <a:bodyPr wrap="square" rtlCol="0" anchor="ctr">
            <a:noAutofit/>
          </a:bodyP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5" name="紫荆的职场Point99-4"/>
          <p:cNvSpPr/>
          <p:nvPr/>
        </p:nvSpPr>
        <p:spPr>
          <a:xfrm rot="13980000" flipV="1">
            <a:off x="2945765" y="5761355"/>
            <a:ext cx="347980" cy="52895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alpha val="0"/>
                </a:schemeClr>
              </a:gs>
              <a:gs pos="100000">
                <a:schemeClr val="accent1"/>
              </a:gs>
            </a:gsLst>
            <a:lin ang="16200000" scaled="1"/>
            <a:tileRect/>
          </a:gradFill>
          <a:ln w="6350" cap="flat" cmpd="sng" algn="ctr">
            <a:noFill/>
            <a:prstDash val="lgDash"/>
            <a:miter lim="800000"/>
          </a:ln>
          <a:effectLst>
            <a:outerShdw blurRad="190500" algn="ctr" rotWithShape="0">
              <a:srgbClr val="24396B">
                <a:alpha val="40000"/>
              </a:srgbClr>
            </a:outerShdw>
          </a:effectLst>
        </p:spPr>
        <p:txBody>
          <a:bodyPr wrap="square" rtlCol="0" anchor="ctr">
            <a:noAutofit/>
          </a:bodyP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6" name="紫荆的职场Point99-4"/>
          <p:cNvSpPr/>
          <p:nvPr/>
        </p:nvSpPr>
        <p:spPr>
          <a:xfrm rot="5400000">
            <a:off x="2900045" y="2831465"/>
            <a:ext cx="347980" cy="52895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alpha val="0"/>
                </a:schemeClr>
              </a:gs>
              <a:gs pos="100000">
                <a:schemeClr val="accent1"/>
              </a:gs>
            </a:gsLst>
            <a:lin ang="16200000" scaled="1"/>
            <a:tileRect/>
          </a:gradFill>
          <a:ln w="6350" cap="flat" cmpd="sng" algn="ctr">
            <a:noFill/>
            <a:prstDash val="lgDash"/>
            <a:miter lim="800000"/>
          </a:ln>
          <a:effectLst>
            <a:outerShdw blurRad="190500" algn="ctr" rotWithShape="0">
              <a:srgbClr val="24396B">
                <a:alpha val="40000"/>
              </a:srgbClr>
            </a:outerShdw>
          </a:effectLst>
        </p:spPr>
        <p:txBody>
          <a:bodyPr wrap="square" rtlCol="0" anchor="ctr">
            <a:noAutofit/>
          </a:bodyP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7" name="紫荆的职场Point99-4"/>
          <p:cNvSpPr/>
          <p:nvPr/>
        </p:nvSpPr>
        <p:spPr>
          <a:xfrm rot="5400000">
            <a:off x="2893695" y="4453890"/>
            <a:ext cx="347980" cy="52895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1">
                  <a:alpha val="0"/>
                </a:schemeClr>
              </a:gs>
              <a:gs pos="100000">
                <a:schemeClr val="accent1"/>
              </a:gs>
            </a:gsLst>
            <a:lin ang="16200000" scaled="1"/>
            <a:tileRect/>
          </a:gradFill>
          <a:ln w="6350" cap="flat" cmpd="sng" algn="ctr">
            <a:noFill/>
            <a:prstDash val="lgDash"/>
            <a:miter lim="800000"/>
          </a:ln>
          <a:effectLst>
            <a:outerShdw blurRad="190500" algn="ctr" rotWithShape="0">
              <a:srgbClr val="24396B">
                <a:alpha val="40000"/>
              </a:srgbClr>
            </a:outerShdw>
          </a:effectLst>
        </p:spPr>
        <p:txBody>
          <a:bodyPr wrap="square" rtlCol="0" anchor="ctr">
            <a:noAutofit/>
          </a:bodyP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8" name="紫荆的职场Point99-4"/>
          <p:cNvSpPr/>
          <p:nvPr/>
        </p:nvSpPr>
        <p:spPr>
          <a:xfrm rot="13980000" flipH="1">
            <a:off x="8997950" y="1465580"/>
            <a:ext cx="347980" cy="52895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alpha val="0"/>
                </a:schemeClr>
              </a:gs>
              <a:gs pos="100000">
                <a:schemeClr val="accent5"/>
              </a:gs>
            </a:gsLst>
            <a:lin ang="16200000" scaled="1"/>
            <a:tileRect/>
          </a:gradFill>
          <a:ln w="6350" cap="flat" cmpd="sng" algn="ctr">
            <a:noFill/>
            <a:prstDash val="lgDash"/>
            <a:miter lim="800000"/>
          </a:ln>
          <a:effectLst>
            <a:outerShdw blurRad="190500" algn="ctr" rotWithShape="0">
              <a:srgbClr val="24396B">
                <a:alpha val="40000"/>
              </a:srgbClr>
            </a:outerShdw>
          </a:effectLst>
        </p:spPr>
        <p:txBody>
          <a:bodyPr wrap="square" rtlCol="0" anchor="ctr">
            <a:noAutofit/>
          </a:bodyP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9" name="紫荆的职场Point99-4"/>
          <p:cNvSpPr/>
          <p:nvPr/>
        </p:nvSpPr>
        <p:spPr>
          <a:xfrm rot="7620000" flipH="1" flipV="1">
            <a:off x="9042400" y="5729605"/>
            <a:ext cx="347980" cy="52895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alpha val="0"/>
                </a:schemeClr>
              </a:gs>
              <a:gs pos="100000">
                <a:schemeClr val="accent5"/>
              </a:gs>
            </a:gsLst>
            <a:lin ang="16200000" scaled="1"/>
            <a:tileRect/>
          </a:gradFill>
          <a:ln w="6350" cap="flat" cmpd="sng" algn="ctr">
            <a:noFill/>
            <a:prstDash val="lgDash"/>
            <a:miter lim="800000"/>
          </a:ln>
          <a:effectLst>
            <a:outerShdw blurRad="190500" algn="ctr" rotWithShape="0">
              <a:srgbClr val="24396B">
                <a:alpha val="40000"/>
              </a:srgbClr>
            </a:outerShdw>
          </a:effectLst>
        </p:spPr>
        <p:txBody>
          <a:bodyPr wrap="square" rtlCol="0" anchor="ctr">
            <a:noAutofit/>
          </a:bodyP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0" name="紫荆的职场Point99-4"/>
          <p:cNvSpPr/>
          <p:nvPr/>
        </p:nvSpPr>
        <p:spPr>
          <a:xfrm rot="15900000" flipH="1">
            <a:off x="9035415" y="3522980"/>
            <a:ext cx="347980" cy="528955"/>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alpha val="0"/>
                </a:schemeClr>
              </a:gs>
              <a:gs pos="100000">
                <a:schemeClr val="accent5"/>
              </a:gs>
            </a:gsLst>
            <a:lin ang="16200000" scaled="1"/>
            <a:tileRect/>
          </a:gradFill>
          <a:ln w="6350" cap="flat" cmpd="sng" algn="ctr">
            <a:noFill/>
            <a:prstDash val="lgDash"/>
            <a:miter lim="800000"/>
          </a:ln>
          <a:effectLst>
            <a:outerShdw blurRad="190500" algn="ctr" rotWithShape="0">
              <a:srgbClr val="24396B">
                <a:alpha val="40000"/>
              </a:srgbClr>
            </a:outerShdw>
          </a:effectLst>
        </p:spPr>
        <p:txBody>
          <a:bodyPr wrap="square" rtlCol="0" anchor="ctr">
            <a:noAutofit/>
          </a:bodyP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1" name="文本框 70"/>
          <p:cNvSpPr txBox="1"/>
          <p:nvPr/>
        </p:nvSpPr>
        <p:spPr>
          <a:xfrm>
            <a:off x="662305" y="3110865"/>
            <a:ext cx="1465580" cy="1383665"/>
          </a:xfrm>
          <a:prstGeom prst="rect">
            <a:avLst/>
          </a:prstGeom>
          <a:noFill/>
        </p:spPr>
        <p:txBody>
          <a:bodyPr wrap="square" rtlCol="0">
            <a:spAutoFit/>
          </a:bodyPr>
          <a:p>
            <a:pPr algn="l"/>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建立行业分级标准与自律机制。</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制定技术认证体系、服务质量星级评价规则，并推行</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黑名单</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公示制度，淘汰不合规企业。</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2" name="文本框 71"/>
          <p:cNvSpPr txBox="1"/>
          <p:nvPr/>
        </p:nvSpPr>
        <p:spPr>
          <a:xfrm>
            <a:off x="655955" y="4829175"/>
            <a:ext cx="1465580" cy="1383665"/>
          </a:xfrm>
          <a:prstGeom prst="rect">
            <a:avLst/>
          </a:prstGeom>
          <a:noFill/>
        </p:spPr>
        <p:txBody>
          <a:bodyPr wrap="square" rtlCol="0">
            <a:spAutoFit/>
          </a:bodyPr>
          <a:p>
            <a:pPr algn="l"/>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风险导向的融资政策收紧。</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银行对传统高耗能行业实施贷款额度硬性缩减</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保险公司引入</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ESG</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评级模型</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对高风险企业保费上浮</a:t>
            </a:r>
            <a:r>
              <a:rPr lang="en-US" altLang="zh-CN" sz="1200">
                <a:solidFill>
                  <a:schemeClr val="tx2"/>
                </a:solidFill>
                <a:latin typeface="微软雅黑" panose="020B0503020204020204" charset="-122"/>
                <a:ea typeface="微软雅黑" panose="020B0503020204020204" charset="-122"/>
                <a:cs typeface="微软雅黑" panose="020B0503020204020204" charset="-122"/>
              </a:rPr>
              <a:t>30%</a:t>
            </a:r>
            <a:r>
              <a:rPr lang="zh-CN" altLang="en-US" sz="120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3" name="文本框 72"/>
          <p:cNvSpPr txBox="1"/>
          <p:nvPr/>
        </p:nvSpPr>
        <p:spPr>
          <a:xfrm>
            <a:off x="9696133" y="3638550"/>
            <a:ext cx="1730375" cy="306705"/>
          </a:xfrm>
          <a:prstGeom prst="rect">
            <a:avLst/>
          </a:prstGeom>
          <a:noFill/>
        </p:spPr>
        <p:txBody>
          <a:bodyPr wrap="square" rtlCol="0">
            <a:spAutoFit/>
          </a:bodyPr>
          <a:p>
            <a:pPr algn="ctr"/>
            <a:r>
              <a:rPr lang="zh-CN" altLang="en-US" sz="1400" b="1">
                <a:solidFill>
                  <a:schemeClr val="accent5"/>
                </a:solidFill>
                <a:latin typeface="微软雅黑" panose="020B0503020204020204" charset="-122"/>
                <a:ea typeface="微软雅黑" panose="020B0503020204020204" charset="-122"/>
                <a:cs typeface="微软雅黑" panose="020B0503020204020204" charset="-122"/>
              </a:rPr>
              <a:t>利益相关方影响</a:t>
            </a:r>
            <a:endParaRPr lang="zh-CN" altLang="en-US" sz="1400" b="1">
              <a:solidFill>
                <a:schemeClr val="accent5"/>
              </a:solidFill>
              <a:latin typeface="微软雅黑" panose="020B0503020204020204" charset="-122"/>
              <a:ea typeface="微软雅黑" panose="020B0503020204020204" charset="-122"/>
              <a:cs typeface="微软雅黑" panose="020B0503020204020204" charset="-122"/>
            </a:endParaRPr>
          </a:p>
        </p:txBody>
      </p:sp>
      <p:pic>
        <p:nvPicPr>
          <p:cNvPr id="19" name="图片 18"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10" name="组合 9"/>
          <p:cNvGrpSpPr/>
          <p:nvPr/>
        </p:nvGrpSpPr>
        <p:grpSpPr>
          <a:xfrm>
            <a:off x="8738235" y="348615"/>
            <a:ext cx="3219450" cy="332740"/>
            <a:chOff x="13761" y="549"/>
            <a:chExt cx="5070" cy="524"/>
          </a:xfrm>
        </p:grpSpPr>
        <p:pic>
          <p:nvPicPr>
            <p:cNvPr id="20" name="图片 19"/>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21" name="文本框 2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grpSp>
        <p:nvGrpSpPr>
          <p:cNvPr id="23" name="组合 22"/>
          <p:cNvGrpSpPr/>
          <p:nvPr/>
        </p:nvGrpSpPr>
        <p:grpSpPr>
          <a:xfrm>
            <a:off x="5574030" y="4173220"/>
            <a:ext cx="1146810" cy="209550"/>
            <a:chOff x="9074" y="6926"/>
            <a:chExt cx="1806" cy="330"/>
          </a:xfrm>
        </p:grpSpPr>
        <p:sp>
          <p:nvSpPr>
            <p:cNvPr id="45" name="矩形 44"/>
            <p:cNvSpPr/>
            <p:nvPr/>
          </p:nvSpPr>
          <p:spPr>
            <a:xfrm>
              <a:off x="9074" y="6926"/>
              <a:ext cx="1806" cy="331"/>
            </a:xfrm>
            <a:prstGeom prst="rect">
              <a:avLst/>
            </a:prstGeom>
            <a:solidFill>
              <a:schemeClr val="bg1"/>
            </a:soli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200" b="1">
                <a:solidFill>
                  <a:schemeClr val="accent1">
                    <a:lumMod val="60000"/>
                    <a:lumOff val="40000"/>
                  </a:schemeClr>
                </a:solidFill>
                <a:cs typeface="微软雅黑" panose="020B0503020204020204" charset="-122"/>
                <a:sym typeface="+mn-ea"/>
              </a:endParaRPr>
            </a:p>
          </p:txBody>
        </p:sp>
        <p:sp>
          <p:nvSpPr>
            <p:cNvPr id="22" name="矩形 21"/>
            <p:cNvSpPr/>
            <p:nvPr/>
          </p:nvSpPr>
          <p:spPr>
            <a:xfrm>
              <a:off x="9074" y="6926"/>
              <a:ext cx="1806" cy="331"/>
            </a:xfrm>
            <a:prstGeom prst="rect">
              <a:avLst/>
            </a:prstGeom>
            <a:solidFill>
              <a:schemeClr val="accent1">
                <a:lumMod val="20000"/>
                <a:lumOff val="80000"/>
                <a:alpha val="20000"/>
              </a:schemeClr>
            </a:soli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b="1">
                  <a:solidFill>
                    <a:schemeClr val="accent1">
                      <a:lumMod val="60000"/>
                      <a:lumOff val="40000"/>
                    </a:schemeClr>
                  </a:solidFill>
                  <a:cs typeface="微软雅黑" panose="020B0503020204020204" charset="-122"/>
                  <a:sym typeface="+mn-ea"/>
                </a:rPr>
                <a:t>技术革新</a:t>
              </a:r>
              <a:endParaRPr lang="zh-CN" altLang="en-US" sz="1200" b="1">
                <a:solidFill>
                  <a:schemeClr val="accent1">
                    <a:lumMod val="60000"/>
                    <a:lumOff val="40000"/>
                  </a:schemeClr>
                </a:solidFill>
                <a:cs typeface="微软雅黑" panose="020B0503020204020204" charset="-122"/>
                <a:sym typeface="+mn-ea"/>
              </a:endParaRPr>
            </a:p>
          </p:txBody>
        </p:sp>
      </p:grpSp>
      <p:grpSp>
        <p:nvGrpSpPr>
          <p:cNvPr id="63" name="组合 62"/>
          <p:cNvGrpSpPr/>
          <p:nvPr/>
        </p:nvGrpSpPr>
        <p:grpSpPr>
          <a:xfrm>
            <a:off x="5574030" y="5130165"/>
            <a:ext cx="1146810" cy="209550"/>
            <a:chOff x="9074" y="6926"/>
            <a:chExt cx="1806" cy="330"/>
          </a:xfrm>
        </p:grpSpPr>
        <p:sp>
          <p:nvSpPr>
            <p:cNvPr id="74" name="矩形 73"/>
            <p:cNvSpPr/>
            <p:nvPr/>
          </p:nvSpPr>
          <p:spPr>
            <a:xfrm>
              <a:off x="9074" y="6926"/>
              <a:ext cx="1806" cy="331"/>
            </a:xfrm>
            <a:prstGeom prst="rect">
              <a:avLst/>
            </a:prstGeom>
            <a:solidFill>
              <a:schemeClr val="bg1"/>
            </a:soli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200" b="1">
                <a:solidFill>
                  <a:schemeClr val="accent1">
                    <a:lumMod val="60000"/>
                    <a:lumOff val="40000"/>
                  </a:schemeClr>
                </a:solidFill>
                <a:cs typeface="微软雅黑" panose="020B0503020204020204" charset="-122"/>
                <a:sym typeface="+mn-ea"/>
              </a:endParaRPr>
            </a:p>
          </p:txBody>
        </p:sp>
        <p:sp>
          <p:nvSpPr>
            <p:cNvPr id="75" name="矩形 74"/>
            <p:cNvSpPr/>
            <p:nvPr/>
          </p:nvSpPr>
          <p:spPr>
            <a:xfrm>
              <a:off x="9074" y="6926"/>
              <a:ext cx="1806" cy="331"/>
            </a:xfrm>
            <a:prstGeom prst="rect">
              <a:avLst/>
            </a:prstGeom>
            <a:solidFill>
              <a:schemeClr val="accent1">
                <a:lumMod val="20000"/>
                <a:lumOff val="80000"/>
                <a:alpha val="20000"/>
              </a:schemeClr>
            </a:soli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200" b="1">
                  <a:solidFill>
                    <a:schemeClr val="accent1">
                      <a:lumMod val="60000"/>
                      <a:lumOff val="40000"/>
                    </a:schemeClr>
                  </a:solidFill>
                  <a:cs typeface="微软雅黑" panose="020B0503020204020204" charset="-122"/>
                  <a:sym typeface="+mn-ea"/>
                </a:rPr>
                <a:t>组织变革</a:t>
              </a:r>
              <a:endParaRPr lang="zh-CN" altLang="en-US" sz="1200" b="1">
                <a:solidFill>
                  <a:schemeClr val="accent1">
                    <a:lumMod val="60000"/>
                    <a:lumOff val="40000"/>
                  </a:schemeClr>
                </a:solidFill>
                <a:cs typeface="微软雅黑" panose="020B0503020204020204" charset="-122"/>
                <a:sym typeface="+mn-ea"/>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609205"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直播技术发展的趋势展望</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 name="圆角矩形 1"/>
          <p:cNvSpPr/>
          <p:nvPr>
            <p:custDataLst>
              <p:tags r:id="rId1"/>
            </p:custDataLst>
          </p:nvPr>
        </p:nvSpPr>
        <p:spPr>
          <a:xfrm>
            <a:off x="702310" y="1506220"/>
            <a:ext cx="3775075" cy="1109980"/>
          </a:xfrm>
          <a:prstGeom prst="roundRect">
            <a:avLst>
              <a:gd name="adj" fmla="val 3525"/>
            </a:avLst>
          </a:prstGeom>
          <a:solidFill>
            <a:schemeClr val="accent1">
              <a:lumMod val="60000"/>
              <a:lumOff val="40000"/>
              <a:alpha val="10000"/>
            </a:schemeClr>
          </a:solidFill>
          <a:ln w="12700" cap="flat" cmpd="sng" algn="ctr">
            <a:solidFill>
              <a:schemeClr val="accent1">
                <a:lumMod val="60000"/>
                <a:lumOff val="40000"/>
              </a:schemeClr>
            </a:solidFill>
            <a:prstDash val="sysDash"/>
            <a:miter lim="800000"/>
          </a:ln>
          <a:effectLst/>
        </p:spPr>
        <p:txBody>
          <a:bodyPr rtlCol="0" anchor="ctr">
            <a:noAutofit/>
          </a:bodyPr>
          <a:lstStyle/>
          <a:p>
            <a:pPr lvl="0" algn="ctr">
              <a:buClrTx/>
              <a:buSzTx/>
              <a:buFontTx/>
            </a:pPr>
            <a:endParaRPr kumimoji="1" lang="zh-CN" altLang="en-US">
              <a:solidFill>
                <a:srgbClr val="FFFFFF"/>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539750" y="1506220"/>
            <a:ext cx="95250" cy="1109345"/>
          </a:xfrm>
          <a:prstGeom prst="rect">
            <a:avLst/>
          </a:prstGeom>
          <a:solidFill>
            <a:schemeClr val="accent1">
              <a:lumMod val="60000"/>
              <a:lumOff val="40000"/>
            </a:schemeClr>
          </a:solidFill>
          <a:ln>
            <a:noFill/>
          </a:ln>
        </p:spPr>
        <p:style>
          <a:lnRef idx="2">
            <a:srgbClr val="24396B">
              <a:lumMod val="75000"/>
            </a:srgbClr>
          </a:lnRef>
          <a:fillRef idx="1">
            <a:srgbClr val="24396B"/>
          </a:fillRef>
          <a:effectRef idx="0">
            <a:srgbClr val="FFFF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effectLst/>
              <a:latin typeface="微软雅黑" panose="020B0503020204020204" charset="-122"/>
              <a:ea typeface="微软雅黑" panose="020B0503020204020204" charset="-122"/>
              <a:cs typeface="微软雅黑" panose="020B0503020204020204" charset="-122"/>
              <a:sym typeface="+mn-ea"/>
            </a:endParaRPr>
          </a:p>
        </p:txBody>
      </p:sp>
      <p:cxnSp>
        <p:nvCxnSpPr>
          <p:cNvPr id="6" name="直接箭头连接符 43"/>
          <p:cNvCxnSpPr/>
          <p:nvPr>
            <p:custDataLst>
              <p:tags r:id="rId2"/>
            </p:custDataLst>
          </p:nvPr>
        </p:nvCxnSpPr>
        <p:spPr>
          <a:xfrm>
            <a:off x="5142276" y="1197727"/>
            <a:ext cx="6776085" cy="0"/>
          </a:xfrm>
          <a:prstGeom prst="straightConnector1">
            <a:avLst/>
          </a:prstGeom>
          <a:noFill/>
          <a:ln w="25400" cap="flat" cmpd="sng" algn="ctr">
            <a:solidFill>
              <a:schemeClr val="accent5"/>
            </a:solidFill>
            <a:prstDash val="solid"/>
            <a:miter lim="800000"/>
            <a:headEnd type="oval"/>
            <a:tailEnd type="oval"/>
          </a:ln>
          <a:effectLst/>
        </p:spPr>
      </p:cxnSp>
      <p:cxnSp>
        <p:nvCxnSpPr>
          <p:cNvPr id="9" name="直接箭头连接符 43"/>
          <p:cNvCxnSpPr/>
          <p:nvPr>
            <p:custDataLst>
              <p:tags r:id="rId3"/>
            </p:custDataLst>
          </p:nvPr>
        </p:nvCxnSpPr>
        <p:spPr>
          <a:xfrm>
            <a:off x="391630" y="1197727"/>
            <a:ext cx="4750435" cy="0"/>
          </a:xfrm>
          <a:prstGeom prst="straightConnector1">
            <a:avLst/>
          </a:prstGeom>
          <a:noFill/>
          <a:ln w="25400" cap="flat" cmpd="sng" algn="ctr">
            <a:solidFill>
              <a:schemeClr val="accent1"/>
            </a:solidFill>
            <a:prstDash val="solid"/>
            <a:miter lim="800000"/>
            <a:headEnd type="oval"/>
            <a:tailEnd type="oval"/>
          </a:ln>
          <a:effectLst/>
        </p:spPr>
      </p:cxnSp>
      <p:sp>
        <p:nvSpPr>
          <p:cNvPr id="11" name="矩形 10"/>
          <p:cNvSpPr/>
          <p:nvPr/>
        </p:nvSpPr>
        <p:spPr>
          <a:xfrm>
            <a:off x="6851650" y="1040765"/>
            <a:ext cx="3789045" cy="368300"/>
          </a:xfrm>
          <a:prstGeom prst="rect">
            <a:avLst/>
          </a:prstGeom>
          <a:solidFill>
            <a:schemeClr val="bg1"/>
          </a:solidFill>
          <a:ln>
            <a:noFill/>
          </a:ln>
        </p:spPr>
        <p:style>
          <a:lnRef idx="2">
            <a:srgbClr val="24396B">
              <a:lumMod val="75000"/>
            </a:srgbClr>
          </a:lnRef>
          <a:fillRef idx="1">
            <a:srgbClr val="24396B"/>
          </a:fillRef>
          <a:effectRef idx="0">
            <a:srgbClr val="FFFFFF"/>
          </a:effectRef>
          <a:fontRef idx="minor">
            <a:srgbClr val="FFFFFF"/>
          </a:fontRef>
        </p:style>
        <p:txBody>
          <a:bodyPr rtlCol="0" anchor="ctr"/>
          <a:lstStyle/>
          <a:p>
            <a:pPr algn="ctr"/>
            <a:endParaRPr lang="zh-CN" altLang="en-US">
              <a:effectLst/>
              <a:latin typeface="微软雅黑" panose="020B0503020204020204" charset="-122"/>
              <a:ea typeface="微软雅黑" panose="020B0503020204020204" charset="-122"/>
              <a:cs typeface="微软雅黑" panose="020B0503020204020204" charset="-122"/>
            </a:endParaRPr>
          </a:p>
        </p:txBody>
      </p:sp>
      <p:sp>
        <p:nvSpPr>
          <p:cNvPr id="14" name="文本框 13"/>
          <p:cNvSpPr txBox="1"/>
          <p:nvPr>
            <p:custDataLst>
              <p:tags r:id="rId4"/>
            </p:custDataLst>
          </p:nvPr>
        </p:nvSpPr>
        <p:spPr>
          <a:xfrm>
            <a:off x="7412355" y="1014730"/>
            <a:ext cx="4223385" cy="327660"/>
          </a:xfrm>
          <a:prstGeom prst="rect">
            <a:avLst/>
          </a:prstGeom>
          <a:noFill/>
          <a:effectLst/>
        </p:spPr>
        <p:txBody>
          <a:bodyPr wrap="square" rtlCol="0">
            <a:spAutoFit/>
          </a:bodyPr>
          <a:lstStyle>
            <a:defPPr>
              <a:defRPr lang="zh-CN"/>
            </a:defPPr>
            <a:lvl1pPr algn="ctr">
              <a:lnSpc>
                <a:spcPct val="110000"/>
              </a:lnSpc>
              <a:defRPr sz="1400">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en-US" altLang="zh-CN"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直播元宇宙</a:t>
            </a:r>
            <a:r>
              <a:rPr kumimoji="0" lang="en-US" altLang="zh-CN"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赋能企业的应用价值</a:t>
            </a:r>
            <a:endParaRPr kumimoji="0" lang="zh-CN" altLang="en-US"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 name="矩形 14"/>
          <p:cNvSpPr/>
          <p:nvPr>
            <p:custDataLst>
              <p:tags r:id="rId5"/>
            </p:custDataLst>
          </p:nvPr>
        </p:nvSpPr>
        <p:spPr>
          <a:xfrm>
            <a:off x="1814195" y="1038225"/>
            <a:ext cx="2515235" cy="368300"/>
          </a:xfrm>
          <a:prstGeom prst="rect">
            <a:avLst/>
          </a:prstGeom>
          <a:solidFill>
            <a:schemeClr val="bg1"/>
          </a:solidFill>
          <a:ln>
            <a:noFill/>
          </a:ln>
        </p:spPr>
        <p:style>
          <a:lnRef idx="2">
            <a:srgbClr val="24396B">
              <a:lumMod val="75000"/>
            </a:srgbClr>
          </a:lnRef>
          <a:fillRef idx="1">
            <a:srgbClr val="24396B"/>
          </a:fillRef>
          <a:effectRef idx="0">
            <a:srgbClr val="FFFFFF"/>
          </a:effectRef>
          <a:fontRef idx="minor">
            <a:srgbClr val="FFFFFF"/>
          </a:fontRef>
        </p:style>
        <p:txBody>
          <a:bodyPr rtlCol="0" anchor="ctr"/>
          <a:lstStyle/>
          <a:p>
            <a:pPr algn="ctr"/>
            <a:endParaRPr lang="zh-CN" altLang="en-US">
              <a:effectLst/>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custDataLst>
              <p:tags r:id="rId6"/>
            </p:custDataLst>
          </p:nvPr>
        </p:nvSpPr>
        <p:spPr>
          <a:xfrm>
            <a:off x="2157095" y="1026160"/>
            <a:ext cx="2094230" cy="327660"/>
          </a:xfrm>
          <a:prstGeom prst="rect">
            <a:avLst/>
          </a:prstGeom>
          <a:noFill/>
          <a:effectLst/>
        </p:spPr>
        <p:txBody>
          <a:bodyPr wrap="square" rtlCol="0">
            <a:spAutoFit/>
          </a:bodyPr>
          <a:lstStyle>
            <a:defPPr>
              <a:defRPr lang="zh-CN"/>
            </a:defPPr>
            <a:lvl1pPr algn="ctr">
              <a:lnSpc>
                <a:spcPct val="110000"/>
              </a:lnSpc>
              <a:defRPr sz="1400">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核心虚拟直播技术应用</a:t>
            </a:r>
            <a:endParaRPr kumimoji="0" lang="zh-CN" altLang="en-US"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7" name="圆角矩形 16"/>
          <p:cNvSpPr/>
          <p:nvPr>
            <p:custDataLst>
              <p:tags r:id="rId7"/>
            </p:custDataLst>
          </p:nvPr>
        </p:nvSpPr>
        <p:spPr>
          <a:xfrm>
            <a:off x="702310" y="2726690"/>
            <a:ext cx="3775075" cy="1029335"/>
          </a:xfrm>
          <a:prstGeom prst="roundRect">
            <a:avLst>
              <a:gd name="adj" fmla="val 3525"/>
            </a:avLst>
          </a:prstGeom>
          <a:solidFill>
            <a:schemeClr val="accent1">
              <a:lumMod val="20000"/>
              <a:lumOff val="80000"/>
              <a:alpha val="10000"/>
            </a:schemeClr>
          </a:solidFill>
          <a:ln w="12700" cap="flat" cmpd="sng" algn="ctr">
            <a:solidFill>
              <a:schemeClr val="accent1">
                <a:alpha val="50000"/>
              </a:schemeClr>
            </a:solidFill>
            <a:prstDash val="sysDash"/>
            <a:miter lim="800000"/>
          </a:ln>
          <a:effectLst/>
        </p:spPr>
        <p:txBody>
          <a:bodyPr rtlCol="0" anchor="ctr">
            <a:noAutofit/>
          </a:bodyPr>
          <a:lstStyle/>
          <a:p>
            <a:pPr lvl="0" algn="ctr">
              <a:buClrTx/>
              <a:buSzTx/>
              <a:buFontTx/>
            </a:pPr>
            <a:endParaRPr kumimoji="1" lang="zh-CN" altLang="en-US">
              <a:solidFill>
                <a:srgbClr val="FFFFFF"/>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9" name="矩形 18"/>
          <p:cNvSpPr/>
          <p:nvPr>
            <p:custDataLst>
              <p:tags r:id="rId8"/>
            </p:custDataLst>
          </p:nvPr>
        </p:nvSpPr>
        <p:spPr>
          <a:xfrm>
            <a:off x="539750" y="2726690"/>
            <a:ext cx="92710" cy="1029970"/>
          </a:xfrm>
          <a:prstGeom prst="rect">
            <a:avLst/>
          </a:prstGeom>
          <a:solidFill>
            <a:schemeClr val="accent1"/>
          </a:solidFill>
          <a:ln>
            <a:noFill/>
          </a:ln>
        </p:spPr>
        <p:style>
          <a:lnRef idx="2">
            <a:srgbClr val="24396B">
              <a:lumMod val="75000"/>
            </a:srgbClr>
          </a:lnRef>
          <a:fillRef idx="1">
            <a:srgbClr val="24396B"/>
          </a:fillRef>
          <a:effectRef idx="0">
            <a:srgbClr val="FFFF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effectLst/>
              <a:latin typeface="微软雅黑" panose="020B0503020204020204" charset="-122"/>
              <a:ea typeface="微软雅黑" panose="020B0503020204020204" charset="-122"/>
              <a:cs typeface="微软雅黑" panose="020B0503020204020204" charset="-122"/>
              <a:sym typeface="+mn-ea"/>
            </a:endParaRPr>
          </a:p>
        </p:txBody>
      </p:sp>
      <p:sp>
        <p:nvSpPr>
          <p:cNvPr id="22" name="圆角矩形 21"/>
          <p:cNvSpPr/>
          <p:nvPr>
            <p:custDataLst>
              <p:tags r:id="rId9"/>
            </p:custDataLst>
          </p:nvPr>
        </p:nvSpPr>
        <p:spPr>
          <a:xfrm>
            <a:off x="702310" y="3868420"/>
            <a:ext cx="3775075" cy="1183005"/>
          </a:xfrm>
          <a:prstGeom prst="roundRect">
            <a:avLst>
              <a:gd name="adj" fmla="val 3525"/>
            </a:avLst>
          </a:prstGeom>
          <a:solidFill>
            <a:schemeClr val="accent1">
              <a:lumMod val="60000"/>
              <a:lumOff val="40000"/>
              <a:alpha val="10000"/>
            </a:schemeClr>
          </a:solidFill>
          <a:ln w="12700" cap="flat" cmpd="sng" algn="ctr">
            <a:solidFill>
              <a:schemeClr val="accent1">
                <a:lumMod val="60000"/>
                <a:lumOff val="40000"/>
              </a:schemeClr>
            </a:solidFill>
            <a:prstDash val="sysDash"/>
            <a:miter lim="800000"/>
          </a:ln>
          <a:effectLst/>
        </p:spPr>
        <p:txBody>
          <a:bodyPr rtlCol="0" anchor="ctr"/>
          <a:lstStyle/>
          <a:p>
            <a:pPr algn="ctr"/>
            <a:endParaRPr kumimoji="1" lang="zh-CN" altLang="en-US">
              <a:solidFill>
                <a:srgbClr val="FFFFFF"/>
              </a:solidFill>
              <a:effectLst/>
              <a:latin typeface="微软雅黑" panose="020B0503020204020204" charset="-122"/>
              <a:ea typeface="微软雅黑" panose="020B0503020204020204" charset="-122"/>
              <a:cs typeface="微软雅黑" panose="020B0503020204020204" charset="-122"/>
            </a:endParaRPr>
          </a:p>
        </p:txBody>
      </p:sp>
      <p:sp>
        <p:nvSpPr>
          <p:cNvPr id="24" name="矩形 23"/>
          <p:cNvSpPr/>
          <p:nvPr>
            <p:custDataLst>
              <p:tags r:id="rId10"/>
            </p:custDataLst>
          </p:nvPr>
        </p:nvSpPr>
        <p:spPr>
          <a:xfrm>
            <a:off x="539750" y="3868420"/>
            <a:ext cx="95250" cy="1182370"/>
          </a:xfrm>
          <a:prstGeom prst="rect">
            <a:avLst/>
          </a:prstGeom>
          <a:solidFill>
            <a:schemeClr val="accent1">
              <a:lumMod val="60000"/>
              <a:lumOff val="40000"/>
            </a:schemeClr>
          </a:solidFill>
          <a:ln>
            <a:noFill/>
          </a:ln>
        </p:spPr>
        <p:style>
          <a:lnRef idx="2">
            <a:srgbClr val="24396B">
              <a:lumMod val="75000"/>
            </a:srgbClr>
          </a:lnRef>
          <a:fillRef idx="1">
            <a:srgbClr val="24396B"/>
          </a:fillRef>
          <a:effectRef idx="0">
            <a:srgbClr val="FFFFFF"/>
          </a:effectRef>
          <a:fontRef idx="minor">
            <a:srgbClr val="FFFFFF"/>
          </a:fontRef>
        </p:style>
        <p:txBody>
          <a:bodyPr rtlCol="0" anchor="ctr"/>
          <a:lstStyle/>
          <a:p>
            <a:pPr algn="ctr"/>
            <a:endParaRPr lang="zh-CN" altLang="en-US">
              <a:effectLst/>
              <a:latin typeface="微软雅黑" panose="020B0503020204020204" charset="-122"/>
              <a:ea typeface="微软雅黑" panose="020B0503020204020204" charset="-122"/>
              <a:cs typeface="微软雅黑" panose="020B0503020204020204" charset="-122"/>
            </a:endParaRPr>
          </a:p>
        </p:txBody>
      </p:sp>
      <p:sp>
        <p:nvSpPr>
          <p:cNvPr id="25" name="等腰三角形 24"/>
          <p:cNvSpPr/>
          <p:nvPr/>
        </p:nvSpPr>
        <p:spPr>
          <a:xfrm rot="5400000">
            <a:off x="3712210" y="3187065"/>
            <a:ext cx="2131695" cy="322580"/>
          </a:xfrm>
          <a:prstGeom prst="triangle">
            <a:avLst/>
          </a:prstGeom>
          <a:solidFill>
            <a:schemeClr val="accent1"/>
          </a:solidFill>
          <a:ln>
            <a:noFill/>
          </a:ln>
        </p:spPr>
        <p:style>
          <a:lnRef idx="2">
            <a:srgbClr val="24396B">
              <a:lumMod val="75000"/>
            </a:srgbClr>
          </a:lnRef>
          <a:fillRef idx="1">
            <a:srgbClr val="24396B"/>
          </a:fillRef>
          <a:effectRef idx="0">
            <a:srgbClr val="FFFFFF"/>
          </a:effectRef>
          <a:fontRef idx="minor">
            <a:srgbClr val="FFFFFF"/>
          </a:fontRef>
        </p:style>
        <p:txBody>
          <a:bodyPr rtlCol="0" anchor="ctr"/>
          <a:lstStyle/>
          <a:p>
            <a:pPr algn="ctr"/>
            <a:endParaRPr lang="zh-CN" altLang="en-US">
              <a:effectLst/>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nvSpPr>
        <p:spPr>
          <a:xfrm>
            <a:off x="4873625" y="1763395"/>
            <a:ext cx="367030" cy="1595755"/>
          </a:xfrm>
          <a:prstGeom prst="rect">
            <a:avLst/>
          </a:prstGeom>
          <a:noFill/>
        </p:spPr>
        <p:txBody>
          <a:bodyPr vert="eaVert" wrap="square" rtlCol="0">
            <a:spAutoFit/>
          </a:bodyPr>
          <a:lstStyle/>
          <a:p>
            <a:r>
              <a:rPr lang="zh-CN" altLang="en-US" sz="1200" b="1">
                <a:solidFill>
                  <a:schemeClr val="bg2">
                    <a:lumMod val="25000"/>
                  </a:schemeClr>
                </a:solidFill>
                <a:effectLst/>
                <a:latin typeface="微软雅黑" panose="020B0503020204020204" charset="-122"/>
                <a:ea typeface="微软雅黑" panose="020B0503020204020204" charset="-122"/>
                <a:cs typeface="微软雅黑" panose="020B0503020204020204" charset="-122"/>
              </a:rPr>
              <a:t>虚拟与现实相结合</a:t>
            </a:r>
            <a:endParaRPr lang="zh-CN" altLang="en-US" sz="1200" b="1">
              <a:solidFill>
                <a:schemeClr val="bg2">
                  <a:lumMod val="25000"/>
                </a:schemeClr>
              </a:solidFill>
              <a:effectLst/>
              <a:latin typeface="微软雅黑" panose="020B0503020204020204" charset="-122"/>
              <a:ea typeface="微软雅黑" panose="020B0503020204020204" charset="-122"/>
              <a:cs typeface="微软雅黑" panose="020B0503020204020204" charset="-122"/>
            </a:endParaRPr>
          </a:p>
        </p:txBody>
      </p:sp>
      <p:sp>
        <p:nvSpPr>
          <p:cNvPr id="27" name="文本框 26"/>
          <p:cNvSpPr txBox="1"/>
          <p:nvPr>
            <p:custDataLst>
              <p:tags r:id="rId11"/>
            </p:custDataLst>
          </p:nvPr>
        </p:nvSpPr>
        <p:spPr>
          <a:xfrm>
            <a:off x="4873625" y="3599815"/>
            <a:ext cx="367030" cy="1595755"/>
          </a:xfrm>
          <a:prstGeom prst="rect">
            <a:avLst/>
          </a:prstGeom>
          <a:noFill/>
        </p:spPr>
        <p:txBody>
          <a:bodyPr vert="eaVert" wrap="square" rtlCol="0">
            <a:spAutoFit/>
          </a:bodyPr>
          <a:lstStyle/>
          <a:p>
            <a:r>
              <a:rPr lang="zh-CN" altLang="en-US" sz="1200" b="1">
                <a:solidFill>
                  <a:schemeClr val="bg2">
                    <a:lumMod val="25000"/>
                  </a:schemeClr>
                </a:solidFill>
                <a:effectLst/>
                <a:latin typeface="微软雅黑" panose="020B0503020204020204" charset="-122"/>
                <a:ea typeface="微软雅黑" panose="020B0503020204020204" charset="-122"/>
                <a:cs typeface="微软雅黑" panose="020B0503020204020204" charset="-122"/>
              </a:rPr>
              <a:t>打造互动感沉浸感</a:t>
            </a:r>
            <a:endParaRPr lang="zh-CN" altLang="en-US" sz="1200" b="1">
              <a:solidFill>
                <a:schemeClr val="bg2">
                  <a:lumMod val="25000"/>
                </a:schemeClr>
              </a:solidFill>
              <a:effectLst/>
              <a:latin typeface="微软雅黑" panose="020B0503020204020204" charset="-122"/>
              <a:ea typeface="微软雅黑" panose="020B0503020204020204" charset="-122"/>
              <a:cs typeface="微软雅黑" panose="020B0503020204020204" charset="-122"/>
            </a:endParaRPr>
          </a:p>
        </p:txBody>
      </p:sp>
      <p:sp>
        <p:nvSpPr>
          <p:cNvPr id="33" name="矩形 32"/>
          <p:cNvSpPr/>
          <p:nvPr>
            <p:custDataLst>
              <p:tags r:id="rId12"/>
            </p:custDataLst>
          </p:nvPr>
        </p:nvSpPr>
        <p:spPr>
          <a:xfrm>
            <a:off x="5363845" y="1506220"/>
            <a:ext cx="6477635" cy="3545205"/>
          </a:xfrm>
          <a:prstGeom prst="rect">
            <a:avLst/>
          </a:prstGeom>
          <a:solidFill>
            <a:schemeClr val="accent5">
              <a:alpha val="10000"/>
            </a:schemeClr>
          </a:solidFill>
          <a:ln w="12700" cap="flat">
            <a:solidFill>
              <a:schemeClr val="accent5">
                <a:alpha val="50000"/>
              </a:schemeClr>
            </a:solid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lvl="0" algn="l" hangingPunct="0">
              <a:buClrTx/>
              <a:buSzTx/>
              <a:buFontTx/>
            </a:pPr>
            <a:endParaRPr lang="zh-CN" altLang="en-US">
              <a:solidFill>
                <a:srgbClr val="000000">
                  <a:alpha val="80000"/>
                </a:srgbClr>
              </a:solidFill>
              <a:effectLst/>
              <a:latin typeface="微软雅黑" panose="020B0503020204020204" charset="-122"/>
              <a:ea typeface="微软雅黑" panose="020B0503020204020204" charset="-122"/>
              <a:cs typeface="+mn-ea"/>
              <a:sym typeface="+mn-ea"/>
            </a:endParaRPr>
          </a:p>
        </p:txBody>
      </p:sp>
      <p:grpSp>
        <p:nvGrpSpPr>
          <p:cNvPr id="34" name="组合 33"/>
          <p:cNvGrpSpPr/>
          <p:nvPr/>
        </p:nvGrpSpPr>
        <p:grpSpPr>
          <a:xfrm>
            <a:off x="7809177" y="2120959"/>
            <a:ext cx="1619575" cy="1402525"/>
            <a:chOff x="13679724" y="2641701"/>
            <a:chExt cx="3141330" cy="2720339"/>
          </a:xfrm>
        </p:grpSpPr>
        <p:grpSp>
          <p:nvGrpSpPr>
            <p:cNvPr id="35" name="组合 34"/>
            <p:cNvGrpSpPr/>
            <p:nvPr/>
          </p:nvGrpSpPr>
          <p:grpSpPr>
            <a:xfrm>
              <a:off x="13679724" y="2641701"/>
              <a:ext cx="3141330" cy="2720339"/>
              <a:chOff x="7571159" y="2512161"/>
              <a:chExt cx="3141330" cy="2720339"/>
            </a:xfrm>
          </p:grpSpPr>
          <p:sp>
            <p:nvSpPr>
              <p:cNvPr id="36" name="任意多边形: 形状 122"/>
              <p:cNvSpPr/>
              <p:nvPr>
                <p:custDataLst>
                  <p:tags r:id="rId13"/>
                </p:custDataLst>
              </p:nvPr>
            </p:nvSpPr>
            <p:spPr>
              <a:xfrm>
                <a:off x="7571159" y="2512161"/>
                <a:ext cx="3127994" cy="2708910"/>
              </a:xfrm>
              <a:custGeom>
                <a:avLst/>
                <a:gdLst>
                  <a:gd name="connsiteX0" fmla="*/ 1954987 w 3909993"/>
                  <a:gd name="connsiteY0" fmla="*/ 0 h 3386137"/>
                  <a:gd name="connsiteX1" fmla="*/ 3909993 w 3909993"/>
                  <a:gd name="connsiteY1" fmla="*/ 3386138 h 3386137"/>
                  <a:gd name="connsiteX2" fmla="*/ 0 w 3909993"/>
                  <a:gd name="connsiteY2" fmla="*/ 3386138 h 3386137"/>
                  <a:gd name="connsiteX3" fmla="*/ 1954987 w 3909993"/>
                  <a:gd name="connsiteY3" fmla="*/ 0 h 3386137"/>
                </a:gdLst>
                <a:ahLst/>
                <a:cxnLst>
                  <a:cxn ang="0">
                    <a:pos x="connsiteX0" y="connsiteY0"/>
                  </a:cxn>
                  <a:cxn ang="0">
                    <a:pos x="connsiteX1" y="connsiteY1"/>
                  </a:cxn>
                  <a:cxn ang="0">
                    <a:pos x="connsiteX2" y="connsiteY2"/>
                  </a:cxn>
                  <a:cxn ang="0">
                    <a:pos x="connsiteX3" y="connsiteY3"/>
                  </a:cxn>
                </a:cxnLst>
                <a:rect l="l" t="t" r="r" b="b"/>
                <a:pathLst>
                  <a:path w="3909993" h="3386137">
                    <a:moveTo>
                      <a:pt x="1954987" y="0"/>
                    </a:moveTo>
                    <a:lnTo>
                      <a:pt x="3909993" y="3386138"/>
                    </a:lnTo>
                    <a:lnTo>
                      <a:pt x="0" y="3386138"/>
                    </a:lnTo>
                    <a:lnTo>
                      <a:pt x="1954987" y="0"/>
                    </a:lnTo>
                    <a:close/>
                  </a:path>
                </a:pathLst>
              </a:custGeom>
              <a:solidFill>
                <a:srgbClr val="FFFFFF"/>
              </a:solidFill>
              <a:ln w="6350" cap="flat">
                <a:solidFill>
                  <a:schemeClr val="accent5">
                    <a:lumMod val="75000"/>
                  </a:schemeClr>
                </a:solidFill>
                <a:prstDash val="solid"/>
                <a:miter/>
              </a:ln>
            </p:spPr>
            <p:txBody>
              <a:bodyPr rtlCol="0" anchor="ctr"/>
              <a:lstStyle/>
              <a:p>
                <a:pPr defTabSz="731520"/>
                <a:endParaRPr lang="zh-CN" altLang="en-US" sz="1440" dirty="0">
                  <a:solidFill>
                    <a:srgbClr val="0F3268"/>
                  </a:solidFill>
                  <a:effectLst/>
                  <a:latin typeface="微软雅黑" panose="020B0503020204020204" charset="-122"/>
                  <a:ea typeface="微软雅黑" panose="020B0503020204020204" charset="-122"/>
                  <a:cs typeface="微软雅黑" panose="020B0503020204020204" charset="-122"/>
                </a:endParaRPr>
              </a:p>
            </p:txBody>
          </p:sp>
          <p:sp>
            <p:nvSpPr>
              <p:cNvPr id="40" name="任意多边形: 形状 123"/>
              <p:cNvSpPr/>
              <p:nvPr>
                <p:custDataLst>
                  <p:tags r:id="rId14"/>
                </p:custDataLst>
              </p:nvPr>
            </p:nvSpPr>
            <p:spPr>
              <a:xfrm>
                <a:off x="9135149" y="2512161"/>
                <a:ext cx="7620" cy="1710690"/>
              </a:xfrm>
              <a:custGeom>
                <a:avLst/>
                <a:gdLst>
                  <a:gd name="connsiteX0" fmla="*/ 0 w 9525"/>
                  <a:gd name="connsiteY0" fmla="*/ 0 h 2138362"/>
                  <a:gd name="connsiteX1" fmla="*/ 0 w 9525"/>
                  <a:gd name="connsiteY1" fmla="*/ 2138363 h 2138362"/>
                </a:gdLst>
                <a:ahLst/>
                <a:cxnLst>
                  <a:cxn ang="0">
                    <a:pos x="connsiteX0" y="connsiteY0"/>
                  </a:cxn>
                  <a:cxn ang="0">
                    <a:pos x="connsiteX1" y="connsiteY1"/>
                  </a:cxn>
                </a:cxnLst>
                <a:rect l="l" t="t" r="r" b="b"/>
                <a:pathLst>
                  <a:path w="9525" h="2138362">
                    <a:moveTo>
                      <a:pt x="0" y="0"/>
                    </a:moveTo>
                    <a:lnTo>
                      <a:pt x="0" y="2138363"/>
                    </a:lnTo>
                  </a:path>
                </a:pathLst>
              </a:custGeom>
              <a:noFill/>
              <a:ln w="6350" cap="flat">
                <a:solidFill>
                  <a:schemeClr val="accent5">
                    <a:lumMod val="75000"/>
                    <a:alpha val="50000"/>
                  </a:schemeClr>
                </a:solidFill>
                <a:prstDash val="lgDash"/>
                <a:miter/>
              </a:ln>
            </p:spPr>
            <p:txBody>
              <a:bodyPr rtlCol="0" anchor="ctr"/>
              <a:lstStyle/>
              <a:p>
                <a:pPr defTabSz="731520"/>
                <a:endParaRPr lang="zh-CN" altLang="en-US" sz="1440" dirty="0">
                  <a:solidFill>
                    <a:srgbClr val="0F3268"/>
                  </a:solidFill>
                  <a:effectLst/>
                  <a:latin typeface="微软雅黑" panose="020B0503020204020204" charset="-122"/>
                  <a:ea typeface="微软雅黑" panose="020B0503020204020204" charset="-122"/>
                  <a:cs typeface="微软雅黑" panose="020B0503020204020204" charset="-122"/>
                </a:endParaRPr>
              </a:p>
            </p:txBody>
          </p:sp>
          <p:sp>
            <p:nvSpPr>
              <p:cNvPr id="41" name="任意多边形: 形状 124"/>
              <p:cNvSpPr/>
              <p:nvPr>
                <p:custDataLst>
                  <p:tags r:id="rId15"/>
                </p:custDataLst>
              </p:nvPr>
            </p:nvSpPr>
            <p:spPr>
              <a:xfrm>
                <a:off x="7610919" y="4211765"/>
                <a:ext cx="1531620" cy="1009650"/>
              </a:xfrm>
              <a:custGeom>
                <a:avLst/>
                <a:gdLst>
                  <a:gd name="connsiteX0" fmla="*/ 0 w 1914525"/>
                  <a:gd name="connsiteY0" fmla="*/ 1262063 h 1262062"/>
                  <a:gd name="connsiteX1" fmla="*/ 1914525 w 1914525"/>
                  <a:gd name="connsiteY1" fmla="*/ 0 h 1262062"/>
                </a:gdLst>
                <a:ahLst/>
                <a:cxnLst>
                  <a:cxn ang="0">
                    <a:pos x="connsiteX0" y="connsiteY0"/>
                  </a:cxn>
                  <a:cxn ang="0">
                    <a:pos x="connsiteX1" y="connsiteY1"/>
                  </a:cxn>
                </a:cxnLst>
                <a:rect l="l" t="t" r="r" b="b"/>
                <a:pathLst>
                  <a:path w="1914525" h="1262062">
                    <a:moveTo>
                      <a:pt x="0" y="1262063"/>
                    </a:moveTo>
                    <a:lnTo>
                      <a:pt x="1914525" y="0"/>
                    </a:lnTo>
                  </a:path>
                </a:pathLst>
              </a:custGeom>
              <a:noFill/>
              <a:ln w="6350" cap="flat">
                <a:solidFill>
                  <a:schemeClr val="accent5">
                    <a:lumMod val="75000"/>
                    <a:alpha val="50000"/>
                  </a:schemeClr>
                </a:solidFill>
                <a:prstDash val="lgDash"/>
                <a:miter/>
              </a:ln>
            </p:spPr>
            <p:txBody>
              <a:bodyPr rtlCol="0" anchor="ctr"/>
              <a:lstStyle/>
              <a:p>
                <a:pPr defTabSz="731520"/>
                <a:endParaRPr lang="zh-CN" altLang="en-US" sz="1440">
                  <a:solidFill>
                    <a:srgbClr val="0F3268"/>
                  </a:solidFill>
                  <a:effectLst/>
                  <a:latin typeface="微软雅黑" panose="020B0503020204020204" charset="-122"/>
                  <a:ea typeface="微软雅黑" panose="020B0503020204020204" charset="-122"/>
                  <a:cs typeface="微软雅黑" panose="020B0503020204020204" charset="-122"/>
                </a:endParaRPr>
              </a:p>
            </p:txBody>
          </p:sp>
          <p:sp>
            <p:nvSpPr>
              <p:cNvPr id="42" name="任意多边形: 形状 125"/>
              <p:cNvSpPr/>
              <p:nvPr>
                <p:custDataLst>
                  <p:tags r:id="rId16"/>
                </p:custDataLst>
              </p:nvPr>
            </p:nvSpPr>
            <p:spPr>
              <a:xfrm>
                <a:off x="9135149" y="4222850"/>
                <a:ext cx="1577340" cy="1009650"/>
              </a:xfrm>
              <a:custGeom>
                <a:avLst/>
                <a:gdLst>
                  <a:gd name="connsiteX0" fmla="*/ 1971675 w 1971675"/>
                  <a:gd name="connsiteY0" fmla="*/ 1262063 h 1262062"/>
                  <a:gd name="connsiteX1" fmla="*/ 0 w 1971675"/>
                  <a:gd name="connsiteY1" fmla="*/ 0 h 1262062"/>
                </a:gdLst>
                <a:ahLst/>
                <a:cxnLst>
                  <a:cxn ang="0">
                    <a:pos x="connsiteX0" y="connsiteY0"/>
                  </a:cxn>
                  <a:cxn ang="0">
                    <a:pos x="connsiteX1" y="connsiteY1"/>
                  </a:cxn>
                </a:cxnLst>
                <a:rect l="l" t="t" r="r" b="b"/>
                <a:pathLst>
                  <a:path w="1971675" h="1262062">
                    <a:moveTo>
                      <a:pt x="1971675" y="1262063"/>
                    </a:moveTo>
                    <a:lnTo>
                      <a:pt x="0" y="0"/>
                    </a:lnTo>
                  </a:path>
                </a:pathLst>
              </a:custGeom>
              <a:noFill/>
              <a:ln w="6350" cap="flat">
                <a:solidFill>
                  <a:schemeClr val="accent5">
                    <a:lumMod val="75000"/>
                    <a:alpha val="50000"/>
                  </a:schemeClr>
                </a:solidFill>
                <a:prstDash val="lgDash"/>
                <a:miter/>
              </a:ln>
            </p:spPr>
            <p:txBody>
              <a:bodyPr rtlCol="0" anchor="ctr"/>
              <a:lstStyle/>
              <a:p>
                <a:pPr defTabSz="731520"/>
                <a:endParaRPr lang="zh-CN" altLang="en-US" sz="1440">
                  <a:solidFill>
                    <a:srgbClr val="0F3268"/>
                  </a:solidFill>
                  <a:effectLst/>
                  <a:latin typeface="微软雅黑" panose="020B0503020204020204" charset="-122"/>
                  <a:ea typeface="微软雅黑" panose="020B0503020204020204" charset="-122"/>
                  <a:cs typeface="微软雅黑" panose="020B0503020204020204" charset="-122"/>
                </a:endParaRPr>
              </a:p>
            </p:txBody>
          </p:sp>
        </p:grpSp>
        <p:sp>
          <p:nvSpPr>
            <p:cNvPr id="43" name="任意多边形: 形状 120"/>
            <p:cNvSpPr/>
            <p:nvPr>
              <p:custDataLst>
                <p:tags r:id="rId17"/>
              </p:custDataLst>
            </p:nvPr>
          </p:nvSpPr>
          <p:spPr>
            <a:xfrm>
              <a:off x="14299242" y="3602385"/>
              <a:ext cx="535766" cy="535766"/>
            </a:xfrm>
            <a:custGeom>
              <a:avLst/>
              <a:gdLst>
                <a:gd name="connsiteX0" fmla="*/ 933450 w 933450"/>
                <a:gd name="connsiteY0" fmla="*/ 466725 h 933450"/>
                <a:gd name="connsiteX1" fmla="*/ 466725 w 933450"/>
                <a:gd name="connsiteY1" fmla="*/ 933450 h 933450"/>
                <a:gd name="connsiteX2" fmla="*/ 0 w 933450"/>
                <a:gd name="connsiteY2" fmla="*/ 466725 h 933450"/>
                <a:gd name="connsiteX3" fmla="*/ 466725 w 933450"/>
                <a:gd name="connsiteY3" fmla="*/ 0 h 933450"/>
                <a:gd name="connsiteX4" fmla="*/ 933450 w 933450"/>
                <a:gd name="connsiteY4" fmla="*/ 466725 h 933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450" h="933450">
                  <a:moveTo>
                    <a:pt x="933450" y="466725"/>
                  </a:moveTo>
                  <a:cubicBezTo>
                    <a:pt x="933450" y="724490"/>
                    <a:pt x="724490" y="933450"/>
                    <a:pt x="466725" y="933450"/>
                  </a:cubicBezTo>
                  <a:cubicBezTo>
                    <a:pt x="208959" y="933450"/>
                    <a:pt x="0" y="724490"/>
                    <a:pt x="0" y="466725"/>
                  </a:cubicBezTo>
                  <a:cubicBezTo>
                    <a:pt x="0" y="208960"/>
                    <a:pt x="208959" y="0"/>
                    <a:pt x="466725" y="0"/>
                  </a:cubicBezTo>
                  <a:cubicBezTo>
                    <a:pt x="724490" y="0"/>
                    <a:pt x="933450" y="208960"/>
                    <a:pt x="933450" y="466725"/>
                  </a:cubicBezTo>
                  <a:close/>
                </a:path>
              </a:pathLst>
            </a:custGeom>
            <a:gradFill>
              <a:gsLst>
                <a:gs pos="0">
                  <a:schemeClr val="accent5"/>
                </a:gs>
                <a:gs pos="100000">
                  <a:schemeClr val="accent5">
                    <a:lumMod val="60000"/>
                    <a:lumOff val="40000"/>
                  </a:schemeClr>
                </a:gs>
              </a:gsLst>
              <a:lin ang="5400000" scaled="0"/>
            </a:gradFill>
            <a:ln w="12700" cap="flat">
              <a:noFill/>
              <a:prstDash val="solid"/>
              <a:miter lim="800000"/>
            </a:ln>
            <a:effectLst>
              <a:outerShdw blurRad="317500" dist="63500" algn="ctr" rotWithShape="0">
                <a:schemeClr val="accent5">
                  <a:lumMod val="60000"/>
                  <a:lumOff val="40000"/>
                  <a:alpha val="30000"/>
                </a:schemeClr>
              </a:outerShdw>
            </a:effectLst>
            <a:sp3d/>
          </p:spPr>
          <p:txBody>
            <a:bodyPr rot="0" spcFirstLastPara="1" vertOverflow="overflow" horzOverflow="overflow" vert="horz" wrap="square" lIns="0" tIns="0" rIns="0" bIns="0" numCol="1" spcCol="38100" rtlCol="0" anchor="ctr">
              <a:noAutofit/>
            </a:bodyPr>
            <a:lstStyle/>
            <a:p>
              <a:pPr algn="ctr" hangingPunct="0"/>
              <a:r>
                <a:rPr lang="en-US" altLang="zh-CN" sz="1400" b="1">
                  <a:solidFill>
                    <a:srgbClr val="FFFFFF"/>
                  </a:solidFill>
                  <a:effectLst/>
                  <a:latin typeface="微软雅黑" panose="020B0503020204020204" charset="-122"/>
                  <a:ea typeface="微软雅黑" panose="020B0503020204020204" charset="-122"/>
                  <a:cs typeface="+mn-ea"/>
                </a:rPr>
                <a:t>1</a:t>
              </a:r>
              <a:endParaRPr lang="en-US" altLang="zh-CN" sz="1400" b="1">
                <a:solidFill>
                  <a:srgbClr val="FFFFFF"/>
                </a:solidFill>
                <a:effectLst/>
                <a:latin typeface="微软雅黑" panose="020B0503020204020204" charset="-122"/>
                <a:ea typeface="微软雅黑" panose="020B0503020204020204" charset="-122"/>
                <a:cs typeface="+mn-ea"/>
              </a:endParaRPr>
            </a:p>
          </p:txBody>
        </p:sp>
      </p:grpSp>
      <p:sp>
        <p:nvSpPr>
          <p:cNvPr id="44" name="任意多边形: 形状 120"/>
          <p:cNvSpPr/>
          <p:nvPr>
            <p:custDataLst>
              <p:tags r:id="rId18"/>
            </p:custDataLst>
          </p:nvPr>
        </p:nvSpPr>
        <p:spPr>
          <a:xfrm>
            <a:off x="8479737" y="3359209"/>
            <a:ext cx="276225" cy="276225"/>
          </a:xfrm>
          <a:custGeom>
            <a:avLst/>
            <a:gdLst>
              <a:gd name="connsiteX0" fmla="*/ 933450 w 933450"/>
              <a:gd name="connsiteY0" fmla="*/ 466725 h 933450"/>
              <a:gd name="connsiteX1" fmla="*/ 466725 w 933450"/>
              <a:gd name="connsiteY1" fmla="*/ 933450 h 933450"/>
              <a:gd name="connsiteX2" fmla="*/ 0 w 933450"/>
              <a:gd name="connsiteY2" fmla="*/ 466725 h 933450"/>
              <a:gd name="connsiteX3" fmla="*/ 466725 w 933450"/>
              <a:gd name="connsiteY3" fmla="*/ 0 h 933450"/>
              <a:gd name="connsiteX4" fmla="*/ 933450 w 933450"/>
              <a:gd name="connsiteY4" fmla="*/ 466725 h 933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450" h="933450">
                <a:moveTo>
                  <a:pt x="933450" y="466725"/>
                </a:moveTo>
                <a:cubicBezTo>
                  <a:pt x="933450" y="724490"/>
                  <a:pt x="724490" y="933450"/>
                  <a:pt x="466725" y="933450"/>
                </a:cubicBezTo>
                <a:cubicBezTo>
                  <a:pt x="208959" y="933450"/>
                  <a:pt x="0" y="724490"/>
                  <a:pt x="0" y="466725"/>
                </a:cubicBezTo>
                <a:cubicBezTo>
                  <a:pt x="0" y="208960"/>
                  <a:pt x="208959" y="0"/>
                  <a:pt x="466725" y="0"/>
                </a:cubicBezTo>
                <a:cubicBezTo>
                  <a:pt x="724490" y="0"/>
                  <a:pt x="933450" y="208960"/>
                  <a:pt x="933450" y="466725"/>
                </a:cubicBezTo>
                <a:close/>
              </a:path>
            </a:pathLst>
          </a:custGeom>
          <a:gradFill>
            <a:gsLst>
              <a:gs pos="0">
                <a:schemeClr val="accent5"/>
              </a:gs>
              <a:gs pos="100000">
                <a:schemeClr val="accent5">
                  <a:lumMod val="60000"/>
                  <a:lumOff val="40000"/>
                </a:schemeClr>
              </a:gs>
            </a:gsLst>
            <a:lin ang="5400000" scaled="0"/>
          </a:gradFill>
          <a:ln w="12700" cap="flat">
            <a:noFill/>
            <a:prstDash val="solid"/>
            <a:miter lim="800000"/>
          </a:ln>
          <a:effectLst>
            <a:outerShdw blurRad="317500" dist="63500" algn="ctr" rotWithShape="0">
              <a:schemeClr val="accent5">
                <a:lumMod val="60000"/>
                <a:lumOff val="40000"/>
                <a:alpha val="30000"/>
              </a:schemeClr>
            </a:outerShdw>
          </a:effectLst>
          <a:sp3d/>
        </p:spPr>
        <p:txBody>
          <a:bodyPr rot="0" spcFirstLastPara="1" vertOverflow="overflow" horzOverflow="overflow" vert="horz" wrap="square" lIns="0" tIns="0" rIns="0" bIns="0" numCol="1" spcCol="38100" rtlCol="0" anchor="ctr">
            <a:noAutofit/>
          </a:bodyPr>
          <a:lstStyle/>
          <a:p>
            <a:pPr lvl="0" algn="ctr" hangingPunct="0">
              <a:buClrTx/>
              <a:buSzTx/>
              <a:buFontTx/>
            </a:pPr>
            <a:r>
              <a:rPr lang="en-US" altLang="zh-CN" sz="1400" b="1">
                <a:solidFill>
                  <a:srgbClr val="FFFFFF"/>
                </a:solidFill>
                <a:effectLst/>
                <a:latin typeface="微软雅黑" panose="020B0503020204020204" charset="-122"/>
                <a:ea typeface="微软雅黑" panose="020B0503020204020204" charset="-122"/>
                <a:cs typeface="+mn-ea"/>
                <a:sym typeface="+mn-ea"/>
              </a:rPr>
              <a:t>3</a:t>
            </a:r>
            <a:endParaRPr lang="en-US" altLang="zh-CN" sz="1400" b="1">
              <a:solidFill>
                <a:srgbClr val="FFFFFF"/>
              </a:solidFill>
              <a:effectLst/>
              <a:latin typeface="微软雅黑" panose="020B0503020204020204" charset="-122"/>
              <a:ea typeface="微软雅黑" panose="020B0503020204020204" charset="-122"/>
              <a:cs typeface="+mn-ea"/>
              <a:sym typeface="+mn-ea"/>
            </a:endParaRPr>
          </a:p>
        </p:txBody>
      </p:sp>
      <p:sp>
        <p:nvSpPr>
          <p:cNvPr id="47" name="任意多边形: 形状 120"/>
          <p:cNvSpPr/>
          <p:nvPr>
            <p:custDataLst>
              <p:tags r:id="rId19"/>
            </p:custDataLst>
          </p:nvPr>
        </p:nvSpPr>
        <p:spPr>
          <a:xfrm>
            <a:off x="8873437" y="2616259"/>
            <a:ext cx="276225" cy="276225"/>
          </a:xfrm>
          <a:custGeom>
            <a:avLst/>
            <a:gdLst>
              <a:gd name="connsiteX0" fmla="*/ 933450 w 933450"/>
              <a:gd name="connsiteY0" fmla="*/ 466725 h 933450"/>
              <a:gd name="connsiteX1" fmla="*/ 466725 w 933450"/>
              <a:gd name="connsiteY1" fmla="*/ 933450 h 933450"/>
              <a:gd name="connsiteX2" fmla="*/ 0 w 933450"/>
              <a:gd name="connsiteY2" fmla="*/ 466725 h 933450"/>
              <a:gd name="connsiteX3" fmla="*/ 466725 w 933450"/>
              <a:gd name="connsiteY3" fmla="*/ 0 h 933450"/>
              <a:gd name="connsiteX4" fmla="*/ 933450 w 933450"/>
              <a:gd name="connsiteY4" fmla="*/ 466725 h 933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450" h="933450">
                <a:moveTo>
                  <a:pt x="933450" y="466725"/>
                </a:moveTo>
                <a:cubicBezTo>
                  <a:pt x="933450" y="724490"/>
                  <a:pt x="724490" y="933450"/>
                  <a:pt x="466725" y="933450"/>
                </a:cubicBezTo>
                <a:cubicBezTo>
                  <a:pt x="208959" y="933450"/>
                  <a:pt x="0" y="724490"/>
                  <a:pt x="0" y="466725"/>
                </a:cubicBezTo>
                <a:cubicBezTo>
                  <a:pt x="0" y="208960"/>
                  <a:pt x="208959" y="0"/>
                  <a:pt x="466725" y="0"/>
                </a:cubicBezTo>
                <a:cubicBezTo>
                  <a:pt x="724490" y="0"/>
                  <a:pt x="933450" y="208960"/>
                  <a:pt x="933450" y="466725"/>
                </a:cubicBezTo>
                <a:close/>
              </a:path>
            </a:pathLst>
          </a:custGeom>
          <a:gradFill>
            <a:gsLst>
              <a:gs pos="0">
                <a:schemeClr val="accent5"/>
              </a:gs>
              <a:gs pos="100000">
                <a:schemeClr val="accent5">
                  <a:lumMod val="60000"/>
                  <a:lumOff val="40000"/>
                </a:schemeClr>
              </a:gs>
            </a:gsLst>
            <a:lin ang="5400000" scaled="0"/>
          </a:gradFill>
          <a:ln w="12700" cap="flat">
            <a:noFill/>
            <a:prstDash val="solid"/>
            <a:miter lim="800000"/>
          </a:ln>
          <a:effectLst>
            <a:outerShdw blurRad="317500" dist="63500" algn="ctr" rotWithShape="0">
              <a:schemeClr val="accent5">
                <a:lumMod val="60000"/>
                <a:lumOff val="40000"/>
                <a:alpha val="30000"/>
              </a:schemeClr>
            </a:outerShdw>
          </a:effectLst>
          <a:sp3d/>
        </p:spPr>
        <p:txBody>
          <a:bodyPr rot="0" spcFirstLastPara="1" vertOverflow="overflow" horzOverflow="overflow" vert="horz" wrap="square" lIns="0" tIns="0" rIns="0" bIns="0" numCol="1" spcCol="38100" rtlCol="0" anchor="ctr">
            <a:noAutofit/>
          </a:bodyPr>
          <a:lstStyle/>
          <a:p>
            <a:pPr lvl="0" algn="ctr" hangingPunct="0">
              <a:buClrTx/>
              <a:buSzTx/>
              <a:buFontTx/>
            </a:pPr>
            <a:r>
              <a:rPr lang="en-US" altLang="zh-CN" sz="1400" b="1">
                <a:solidFill>
                  <a:srgbClr val="FFFFFF"/>
                </a:solidFill>
                <a:effectLst/>
                <a:latin typeface="微软雅黑" panose="020B0503020204020204" charset="-122"/>
                <a:ea typeface="微软雅黑" panose="020B0503020204020204" charset="-122"/>
                <a:cs typeface="+mn-ea"/>
                <a:sym typeface="+mn-ea"/>
              </a:rPr>
              <a:t>2</a:t>
            </a:r>
            <a:endParaRPr lang="en-US" altLang="zh-CN" sz="1400" b="1">
              <a:solidFill>
                <a:srgbClr val="FFFFFF"/>
              </a:solidFill>
              <a:effectLst/>
              <a:latin typeface="微软雅黑" panose="020B0503020204020204" charset="-122"/>
              <a:ea typeface="微软雅黑" panose="020B0503020204020204" charset="-122"/>
              <a:cs typeface="+mn-ea"/>
              <a:sym typeface="+mn-ea"/>
            </a:endParaRPr>
          </a:p>
        </p:txBody>
      </p:sp>
      <p:sp>
        <p:nvSpPr>
          <p:cNvPr id="56" name="圆角矩形 55"/>
          <p:cNvSpPr/>
          <p:nvPr>
            <p:custDataLst>
              <p:tags r:id="rId20"/>
            </p:custDataLst>
          </p:nvPr>
        </p:nvSpPr>
        <p:spPr>
          <a:xfrm>
            <a:off x="5716905" y="2519045"/>
            <a:ext cx="1817370" cy="1183005"/>
          </a:xfrm>
          <a:prstGeom prst="roundRect">
            <a:avLst>
              <a:gd name="adj" fmla="val 3525"/>
            </a:avLst>
          </a:prstGeom>
          <a:solidFill>
            <a:schemeClr val="bg1">
              <a:alpha val="80000"/>
            </a:schemeClr>
          </a:solidFill>
          <a:ln w="12700" cap="flat" cmpd="sng" algn="ctr">
            <a:solidFill>
              <a:schemeClr val="accent5">
                <a:lumMod val="75000"/>
              </a:schemeClr>
            </a:solidFill>
            <a:prstDash val="sysDash"/>
            <a:miter lim="800000"/>
          </a:ln>
          <a:effectLst/>
        </p:spPr>
        <p:txBody>
          <a:bodyPr rtlCol="0" anchor="ctr">
            <a:noAutofit/>
          </a:bodyPr>
          <a:lstStyle/>
          <a:p>
            <a:pPr lvl="0" algn="ctr">
              <a:buClrTx/>
              <a:buSzTx/>
              <a:buFontTx/>
            </a:pPr>
            <a:r>
              <a:rPr kumimoji="1" lang="zh-CN" altLang="en-US" sz="1400">
                <a:solidFill>
                  <a:srgbClr val="404040"/>
                </a:solidFill>
                <a:effectLst/>
                <a:latin typeface="微软雅黑" panose="020B0503020204020204" charset="-122"/>
                <a:ea typeface="微软雅黑" panose="020B0503020204020204" charset="-122"/>
                <a:cs typeface="微软雅黑" panose="020B0503020204020204" charset="-122"/>
                <a:sym typeface="+mn-ea"/>
              </a:rPr>
              <a:t>元宇宙化虚拟直播打造虚拟视听盛宴，让沉浸式、高交互式体验触手可及，极大的提高了用户体验。</a:t>
            </a:r>
            <a:endParaRPr kumimoji="1" lang="zh-CN" altLang="en-US" sz="1400">
              <a:solidFill>
                <a:srgbClr val="404040"/>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57" name="圆角矩形 56"/>
          <p:cNvSpPr/>
          <p:nvPr>
            <p:custDataLst>
              <p:tags r:id="rId21"/>
            </p:custDataLst>
          </p:nvPr>
        </p:nvSpPr>
        <p:spPr>
          <a:xfrm>
            <a:off x="9700895" y="2484755"/>
            <a:ext cx="1817370" cy="1183005"/>
          </a:xfrm>
          <a:prstGeom prst="roundRect">
            <a:avLst>
              <a:gd name="adj" fmla="val 3525"/>
            </a:avLst>
          </a:prstGeom>
          <a:solidFill>
            <a:schemeClr val="bg1">
              <a:alpha val="80000"/>
            </a:schemeClr>
          </a:solidFill>
          <a:ln w="12700" cap="flat" cmpd="sng" algn="ctr">
            <a:solidFill>
              <a:schemeClr val="accent5">
                <a:lumMod val="75000"/>
              </a:schemeClr>
            </a:solidFill>
            <a:prstDash val="sysDash"/>
            <a:miter lim="800000"/>
          </a:ln>
          <a:effectLst/>
        </p:spPr>
        <p:txBody>
          <a:bodyPr rtlCol="0" anchor="ctr">
            <a:noAutofit/>
          </a:bodyPr>
          <a:lstStyle/>
          <a:p>
            <a:pPr lvl="0" algn="ctr">
              <a:buClrTx/>
              <a:buSzTx/>
              <a:buFontTx/>
            </a:pPr>
            <a:r>
              <a:rPr kumimoji="1" lang="zh-CN" altLang="en-US" sz="1400">
                <a:solidFill>
                  <a:srgbClr val="404040"/>
                </a:solidFill>
                <a:effectLst/>
                <a:latin typeface="微软雅黑" panose="020B0503020204020204" charset="-122"/>
                <a:ea typeface="微软雅黑" panose="020B0503020204020204" charset="-122"/>
                <a:cs typeface="微软雅黑" panose="020B0503020204020204" charset="-122"/>
                <a:sym typeface="+mn-ea"/>
              </a:rPr>
              <a:t>元宇宙化直播效果的高质感，极大地增强视觉表现力，提升用户在直播间的停留时间，进而增强转化率</a:t>
            </a:r>
            <a:endParaRPr kumimoji="1" lang="zh-CN" altLang="en-US" sz="1400">
              <a:solidFill>
                <a:srgbClr val="404040"/>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82" name="圆角矩形 81"/>
          <p:cNvSpPr/>
          <p:nvPr>
            <p:custDataLst>
              <p:tags r:id="rId22"/>
            </p:custDataLst>
          </p:nvPr>
        </p:nvSpPr>
        <p:spPr>
          <a:xfrm>
            <a:off x="6534785" y="4204970"/>
            <a:ext cx="4573270" cy="701040"/>
          </a:xfrm>
          <a:prstGeom prst="roundRect">
            <a:avLst>
              <a:gd name="adj" fmla="val 3525"/>
            </a:avLst>
          </a:prstGeom>
          <a:solidFill>
            <a:schemeClr val="bg1">
              <a:alpha val="80000"/>
            </a:schemeClr>
          </a:solidFill>
          <a:ln w="12700" cap="flat" cmpd="sng" algn="ctr">
            <a:solidFill>
              <a:schemeClr val="accent5">
                <a:lumMod val="75000"/>
              </a:schemeClr>
            </a:solidFill>
            <a:prstDash val="sysDash"/>
            <a:miter lim="800000"/>
          </a:ln>
          <a:effectLst/>
        </p:spPr>
        <p:txBody>
          <a:bodyPr rtlCol="0" anchor="ctr">
            <a:noAutofit/>
          </a:bodyPr>
          <a:lstStyle/>
          <a:p>
            <a:pPr lvl="0" algn="ctr">
              <a:buClrTx/>
              <a:buSzTx/>
              <a:buFontTx/>
            </a:pPr>
            <a:r>
              <a:rPr kumimoji="1" lang="zh-CN" altLang="en-US" sz="1400">
                <a:solidFill>
                  <a:srgbClr val="404040"/>
                </a:solidFill>
                <a:effectLst/>
                <a:latin typeface="微软雅黑" panose="020B0503020204020204" charset="-122"/>
                <a:ea typeface="微软雅黑" panose="020B0503020204020204" charset="-122"/>
                <a:cs typeface="微软雅黑" panose="020B0503020204020204" charset="-122"/>
                <a:sym typeface="+mn-ea"/>
              </a:rPr>
              <a:t>企业通过元宇宙虚拟化直播，以酷炫的视觉体验抓住客户眼球，形成视觉记忆点，提升观众对品牌的认知。</a:t>
            </a:r>
            <a:endParaRPr kumimoji="1" lang="zh-CN" altLang="en-US" sz="1400">
              <a:solidFill>
                <a:srgbClr val="404040"/>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83" name="文本框 82"/>
          <p:cNvSpPr txBox="1"/>
          <p:nvPr>
            <p:custDataLst>
              <p:tags r:id="rId23"/>
            </p:custDataLst>
          </p:nvPr>
        </p:nvSpPr>
        <p:spPr>
          <a:xfrm>
            <a:off x="6424295" y="1954530"/>
            <a:ext cx="1270635" cy="564515"/>
          </a:xfrm>
          <a:prstGeom prst="rect">
            <a:avLst/>
          </a:prstGeom>
          <a:noFill/>
          <a:effectLst/>
        </p:spPr>
        <p:txBody>
          <a:bodyPr wrap="square" rtlCol="0">
            <a:spAutoFit/>
          </a:bodyPr>
          <a:lstStyle>
            <a:defPPr>
              <a:defRPr lang="zh-CN"/>
            </a:defPPr>
            <a:lvl1pPr algn="ctr">
              <a:lnSpc>
                <a:spcPct val="110000"/>
              </a:lnSpc>
              <a:defRPr sz="1400">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丰富用</a:t>
            </a:r>
            <a:endParaRPr kumimoji="0" lang="zh-CN" altLang="en-US"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户体验</a:t>
            </a:r>
            <a:endParaRPr kumimoji="0" lang="zh-CN" altLang="en-US"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4" name="文本框 83"/>
          <p:cNvSpPr txBox="1"/>
          <p:nvPr>
            <p:custDataLst>
              <p:tags r:id="rId24"/>
            </p:custDataLst>
          </p:nvPr>
        </p:nvSpPr>
        <p:spPr>
          <a:xfrm>
            <a:off x="8128635" y="3756025"/>
            <a:ext cx="1270635" cy="327660"/>
          </a:xfrm>
          <a:prstGeom prst="rect">
            <a:avLst/>
          </a:prstGeom>
          <a:noFill/>
          <a:effectLst/>
        </p:spPr>
        <p:txBody>
          <a:bodyPr wrap="square" rtlCol="0">
            <a:spAutoFit/>
          </a:bodyPr>
          <a:lstStyle>
            <a:defPPr>
              <a:defRPr lang="zh-CN"/>
            </a:defPPr>
            <a:lvl1pPr algn="ctr">
              <a:lnSpc>
                <a:spcPct val="110000"/>
              </a:lnSpc>
              <a:defRPr sz="1400">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提升品牌形象</a:t>
            </a:r>
            <a:endParaRPr kumimoji="0" lang="zh-CN" altLang="en-US"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5" name="文本框 84"/>
          <p:cNvSpPr txBox="1"/>
          <p:nvPr>
            <p:custDataLst>
              <p:tags r:id="rId25"/>
            </p:custDataLst>
          </p:nvPr>
        </p:nvSpPr>
        <p:spPr>
          <a:xfrm>
            <a:off x="10475595" y="1916430"/>
            <a:ext cx="1270635" cy="564515"/>
          </a:xfrm>
          <a:prstGeom prst="rect">
            <a:avLst/>
          </a:prstGeom>
          <a:noFill/>
          <a:effectLst/>
        </p:spPr>
        <p:txBody>
          <a:bodyPr wrap="square" rtlCol="0">
            <a:spAutoFit/>
          </a:bodyPr>
          <a:lstStyle>
            <a:defPPr>
              <a:defRPr lang="zh-CN"/>
            </a:defPPr>
            <a:lvl1pPr algn="ctr">
              <a:lnSpc>
                <a:spcPct val="110000"/>
              </a:lnSpc>
              <a:defRPr sz="1400">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赋能业</a:t>
            </a:r>
            <a:endParaRPr kumimoji="0" lang="zh-CN" altLang="en-US"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务转化</a:t>
            </a:r>
            <a:endParaRPr kumimoji="0" lang="zh-CN" altLang="en-US"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7" name="文本框 86"/>
          <p:cNvSpPr txBox="1"/>
          <p:nvPr/>
        </p:nvSpPr>
        <p:spPr>
          <a:xfrm>
            <a:off x="702310" y="1814195"/>
            <a:ext cx="3775075" cy="737235"/>
          </a:xfrm>
          <a:prstGeom prst="rect">
            <a:avLst/>
          </a:prstGeom>
          <a:noFill/>
        </p:spPr>
        <p:txBody>
          <a:bodyPr wrap="square" rtlCol="0">
            <a:spAutoFit/>
          </a:bodyPr>
          <a:lstStyle/>
          <a:p>
            <a:r>
              <a:rPr lang="zh-CN" altLang="en-US" sz="1400">
                <a:solidFill>
                  <a:schemeClr val="tx2"/>
                </a:solidFill>
                <a:effectLst/>
                <a:latin typeface="微软雅黑" panose="020B0503020204020204" charset="-122"/>
                <a:ea typeface="微软雅黑" panose="020B0503020204020204" charset="-122"/>
                <a:cs typeface="微软雅黑" panose="020B0503020204020204" charset="-122"/>
              </a:rPr>
              <a:t>直播进阶形态，呈现出虚拟与现实相交互的效果，让观众可以从感知世界中看到高度仿真的虚拟混合世界，几大提高直播沉浸感。</a:t>
            </a:r>
            <a:endParaRPr lang="zh-CN" altLang="en-US" sz="140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88" name="文本框 87"/>
          <p:cNvSpPr txBox="1"/>
          <p:nvPr>
            <p:custDataLst>
              <p:tags r:id="rId26"/>
            </p:custDataLst>
          </p:nvPr>
        </p:nvSpPr>
        <p:spPr>
          <a:xfrm>
            <a:off x="1377950" y="1529715"/>
            <a:ext cx="2489200" cy="327660"/>
          </a:xfrm>
          <a:prstGeom prst="rect">
            <a:avLst/>
          </a:prstGeom>
          <a:noFill/>
          <a:effectLst/>
        </p:spPr>
        <p:txBody>
          <a:bodyPr wrap="square" rtlCol="0">
            <a:spAutoFit/>
          </a:bodyPr>
          <a:lstStyle>
            <a:defPPr>
              <a:defRPr lang="zh-CN"/>
            </a:defPPr>
            <a:lvl1pPr algn="ctr">
              <a:lnSpc>
                <a:spcPct val="110000"/>
              </a:lnSpc>
              <a:defRPr sz="1400">
                <a:latin typeface="OPPOSans B" panose="00020600040101010101" pitchFamily="18" charset="-122"/>
                <a:ea typeface="OPPOSans B" panose="00020600040101010101" pitchFamily="18" charset="-122"/>
                <a:cs typeface="OPPOSans B" panose="00020600040101010101" pitchFamily="18" charset="-122"/>
              </a:defRPr>
            </a:lvl1pPr>
          </a:lstStyle>
          <a:p>
            <a:pPr lvl="0" algn="l">
              <a:spcBef>
                <a:spcPts val="0"/>
              </a:spcBef>
              <a:spcAft>
                <a:spcPts val="0"/>
              </a:spcAft>
              <a:buClrTx/>
              <a:buSzTx/>
              <a:buFontTx/>
              <a:defRPr/>
            </a:pPr>
            <a:r>
              <a:rPr lang="en-US" altLang="zh-CN" b="1"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MR+直播，引领沉浸时代</a:t>
            </a:r>
            <a:endParaRPr lang="en-US" altLang="zh-CN" b="1"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89" name="文本框 88"/>
          <p:cNvSpPr txBox="1"/>
          <p:nvPr>
            <p:custDataLst>
              <p:tags r:id="rId27"/>
            </p:custDataLst>
          </p:nvPr>
        </p:nvSpPr>
        <p:spPr>
          <a:xfrm>
            <a:off x="702310" y="3018790"/>
            <a:ext cx="3775075" cy="798195"/>
          </a:xfrm>
          <a:prstGeom prst="rect">
            <a:avLst/>
          </a:prstGeom>
          <a:noFill/>
        </p:spPr>
        <p:txBody>
          <a:bodyPr wrap="square" rtlCol="0">
            <a:noAutofit/>
          </a:bodyPr>
          <a:lstStyle/>
          <a:p>
            <a:r>
              <a:rPr lang="zh-CN" altLang="en-US" sz="1400">
                <a:solidFill>
                  <a:schemeClr val="tx2"/>
                </a:solidFill>
                <a:effectLst/>
                <a:latin typeface="微软雅黑" panose="020B0503020204020204" charset="-122"/>
                <a:ea typeface="微软雅黑" panose="020B0503020204020204" charset="-122"/>
                <a:cs typeface="微软雅黑" panose="020B0503020204020204" charset="-122"/>
              </a:rPr>
              <a:t>结合</a:t>
            </a:r>
            <a:r>
              <a:rPr lang="en-US" altLang="zh-CN" sz="1400">
                <a:solidFill>
                  <a:schemeClr val="tx2"/>
                </a:solidFill>
                <a:effectLst/>
                <a:latin typeface="微软雅黑" panose="020B0503020204020204" charset="-122"/>
                <a:ea typeface="微软雅黑" panose="020B0503020204020204" charset="-122"/>
                <a:cs typeface="微软雅黑" panose="020B0503020204020204" charset="-122"/>
              </a:rPr>
              <a:t>VR</a:t>
            </a:r>
            <a:r>
              <a:rPr lang="zh-CN" altLang="en-US" sz="1400">
                <a:solidFill>
                  <a:schemeClr val="tx2"/>
                </a:solidFill>
                <a:effectLst/>
                <a:latin typeface="微软雅黑" panose="020B0503020204020204" charset="-122"/>
                <a:ea typeface="微软雅黑" panose="020B0503020204020204" charset="-122"/>
                <a:cs typeface="微软雅黑" panose="020B0503020204020204" charset="-122"/>
              </a:rPr>
              <a:t>、</a:t>
            </a:r>
            <a:r>
              <a:rPr lang="en-US" altLang="zh-CN" sz="1400">
                <a:solidFill>
                  <a:schemeClr val="tx2"/>
                </a:solidFill>
                <a:effectLst/>
                <a:latin typeface="微软雅黑" panose="020B0503020204020204" charset="-122"/>
                <a:ea typeface="微软雅黑" panose="020B0503020204020204" charset="-122"/>
                <a:cs typeface="微软雅黑" panose="020B0503020204020204" charset="-122"/>
              </a:rPr>
              <a:t>AR</a:t>
            </a:r>
            <a:r>
              <a:rPr lang="zh-CN" altLang="en-US" sz="1400">
                <a:solidFill>
                  <a:schemeClr val="tx2"/>
                </a:solidFill>
                <a:effectLst/>
                <a:latin typeface="微软雅黑" panose="020B0503020204020204" charset="-122"/>
                <a:ea typeface="微软雅黑" panose="020B0503020204020204" charset="-122"/>
                <a:cs typeface="微软雅黑" panose="020B0503020204020204" charset="-122"/>
              </a:rPr>
              <a:t>、</a:t>
            </a:r>
            <a:r>
              <a:rPr lang="en-US" altLang="zh-CN" sz="1400">
                <a:solidFill>
                  <a:schemeClr val="tx2"/>
                </a:solidFill>
                <a:effectLst/>
                <a:latin typeface="微软雅黑" panose="020B0503020204020204" charset="-122"/>
                <a:ea typeface="微软雅黑" panose="020B0503020204020204" charset="-122"/>
                <a:cs typeface="微软雅黑" panose="020B0503020204020204" charset="-122"/>
              </a:rPr>
              <a:t>MR</a:t>
            </a:r>
            <a:r>
              <a:rPr lang="zh-CN" altLang="en-US" sz="1400">
                <a:solidFill>
                  <a:schemeClr val="tx2"/>
                </a:solidFill>
                <a:effectLst/>
                <a:latin typeface="微软雅黑" panose="020B0503020204020204" charset="-122"/>
                <a:ea typeface="微软雅黑" panose="020B0503020204020204" charset="-122"/>
                <a:cs typeface="微软雅黑" panose="020B0503020204020204" charset="-122"/>
              </a:rPr>
              <a:t>等虚拟现实交互技术，给观众带来真实可感的交互体验，仿佛置身于</a:t>
            </a:r>
            <a:r>
              <a:rPr lang="en-US" altLang="zh-CN" sz="1400">
                <a:solidFill>
                  <a:schemeClr val="tx2"/>
                </a:solidFill>
                <a:effectLst/>
                <a:latin typeface="微软雅黑" panose="020B0503020204020204" charset="-122"/>
                <a:ea typeface="微软雅黑" panose="020B0503020204020204" charset="-122"/>
                <a:cs typeface="微软雅黑" panose="020B0503020204020204" charset="-122"/>
              </a:rPr>
              <a:t>“</a:t>
            </a:r>
            <a:r>
              <a:rPr lang="zh-CN" altLang="en-US" sz="1400">
                <a:solidFill>
                  <a:schemeClr val="tx2"/>
                </a:solidFill>
                <a:effectLst/>
                <a:latin typeface="微软雅黑" panose="020B0503020204020204" charset="-122"/>
                <a:ea typeface="微软雅黑" panose="020B0503020204020204" charset="-122"/>
                <a:cs typeface="微软雅黑" panose="020B0503020204020204" charset="-122"/>
              </a:rPr>
              <a:t>元宇宙</a:t>
            </a:r>
            <a:r>
              <a:rPr lang="en-US" altLang="zh-CN" sz="1400">
                <a:solidFill>
                  <a:schemeClr val="tx2"/>
                </a:solidFill>
                <a:effectLst/>
                <a:latin typeface="微软雅黑" panose="020B0503020204020204" charset="-122"/>
                <a:ea typeface="微软雅黑" panose="020B0503020204020204" charset="-122"/>
                <a:cs typeface="微软雅黑" panose="020B0503020204020204" charset="-122"/>
              </a:rPr>
              <a:t>”</a:t>
            </a:r>
            <a:r>
              <a:rPr lang="zh-CN" altLang="en-US" sz="1400">
                <a:solidFill>
                  <a:schemeClr val="tx2"/>
                </a:solidFill>
                <a:effectLst/>
                <a:latin typeface="微软雅黑" panose="020B0503020204020204" charset="-122"/>
                <a:ea typeface="微软雅黑" panose="020B0503020204020204" charset="-122"/>
                <a:cs typeface="微软雅黑" panose="020B0503020204020204" charset="-122"/>
              </a:rPr>
              <a:t>空间，丰富了直播的内容形式。</a:t>
            </a:r>
            <a:endParaRPr lang="zh-CN" altLang="en-US" sz="140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90" name="文本框 89"/>
          <p:cNvSpPr txBox="1"/>
          <p:nvPr>
            <p:custDataLst>
              <p:tags r:id="rId28"/>
            </p:custDataLst>
          </p:nvPr>
        </p:nvSpPr>
        <p:spPr>
          <a:xfrm>
            <a:off x="1377950" y="2734310"/>
            <a:ext cx="2489200" cy="327660"/>
          </a:xfrm>
          <a:prstGeom prst="rect">
            <a:avLst/>
          </a:prstGeom>
          <a:noFill/>
          <a:effectLst/>
        </p:spPr>
        <p:txBody>
          <a:bodyPr wrap="square" rtlCol="0">
            <a:spAutoFit/>
          </a:bodyPr>
          <a:lstStyle>
            <a:defPPr>
              <a:defRPr lang="zh-CN"/>
            </a:defPPr>
            <a:lvl1pPr algn="ctr">
              <a:lnSpc>
                <a:spcPct val="110000"/>
              </a:lnSpc>
              <a:defRPr sz="1400">
                <a:latin typeface="OPPOSans B" panose="00020600040101010101" pitchFamily="18" charset="-122"/>
                <a:ea typeface="OPPOSans B" panose="00020600040101010101" pitchFamily="18" charset="-122"/>
                <a:cs typeface="OPPOSans B" panose="00020600040101010101" pitchFamily="18" charset="-122"/>
              </a:defRPr>
            </a:lvl1pPr>
          </a:lstStyle>
          <a:p>
            <a:pPr lvl="0" algn="l">
              <a:spcBef>
                <a:spcPts val="0"/>
              </a:spcBef>
              <a:spcAft>
                <a:spcPts val="0"/>
              </a:spcAft>
              <a:buClrTx/>
              <a:buSzTx/>
              <a:buFontTx/>
              <a:defRPr/>
            </a:pPr>
            <a:r>
              <a:rPr lang="en-US" altLang="zh-CN" b="1"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mn-ea"/>
              </a:rPr>
              <a:t>XR+直播，带来交互式体验</a:t>
            </a:r>
            <a:endParaRPr lang="en-US" altLang="zh-CN" b="1"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91" name="文本框 90"/>
          <p:cNvSpPr txBox="1"/>
          <p:nvPr>
            <p:custDataLst>
              <p:tags r:id="rId29"/>
            </p:custDataLst>
          </p:nvPr>
        </p:nvSpPr>
        <p:spPr>
          <a:xfrm>
            <a:off x="778510" y="4246880"/>
            <a:ext cx="3775075" cy="737235"/>
          </a:xfrm>
          <a:prstGeom prst="rect">
            <a:avLst/>
          </a:prstGeom>
          <a:noFill/>
        </p:spPr>
        <p:txBody>
          <a:bodyPr wrap="square" rtlCol="0">
            <a:spAutoFit/>
          </a:bodyPr>
          <a:lstStyle/>
          <a:p>
            <a:r>
              <a:rPr lang="zh-CN" altLang="en-US" sz="1400">
                <a:solidFill>
                  <a:schemeClr val="tx2"/>
                </a:solidFill>
                <a:effectLst/>
                <a:latin typeface="微软雅黑" panose="020B0503020204020204" charset="-122"/>
                <a:ea typeface="微软雅黑" panose="020B0503020204020204" charset="-122"/>
                <a:cs typeface="微软雅黑" panose="020B0503020204020204" charset="-122"/>
              </a:rPr>
              <a:t>随着</a:t>
            </a:r>
            <a:r>
              <a:rPr lang="en-US" altLang="zh-CN" sz="1400">
                <a:solidFill>
                  <a:schemeClr val="tx2"/>
                </a:solidFill>
                <a:effectLst/>
                <a:latin typeface="微软雅黑" panose="020B0503020204020204" charset="-122"/>
                <a:ea typeface="微软雅黑" panose="020B0503020204020204" charset="-122"/>
                <a:cs typeface="微软雅黑" panose="020B0503020204020204" charset="-122"/>
              </a:rPr>
              <a:t>AI</a:t>
            </a:r>
            <a:r>
              <a:rPr lang="zh-CN" altLang="en-US" sz="1400">
                <a:solidFill>
                  <a:schemeClr val="tx2"/>
                </a:solidFill>
                <a:effectLst/>
                <a:latin typeface="微软雅黑" panose="020B0503020204020204" charset="-122"/>
                <a:ea typeface="微软雅黑" panose="020B0503020204020204" charset="-122"/>
                <a:cs typeface="微软雅黑" panose="020B0503020204020204" charset="-122"/>
              </a:rPr>
              <a:t>技术在企业直播中的应用，一方面，可以护航视频安全，同时，也能进一步提升企业日常业务工作中的效率。</a:t>
            </a:r>
            <a:endParaRPr lang="zh-CN" altLang="en-US" sz="140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92" name="文本框 91"/>
          <p:cNvSpPr txBox="1"/>
          <p:nvPr>
            <p:custDataLst>
              <p:tags r:id="rId30"/>
            </p:custDataLst>
          </p:nvPr>
        </p:nvSpPr>
        <p:spPr>
          <a:xfrm>
            <a:off x="1454150" y="3962400"/>
            <a:ext cx="2489200" cy="327660"/>
          </a:xfrm>
          <a:prstGeom prst="rect">
            <a:avLst/>
          </a:prstGeom>
          <a:noFill/>
          <a:effectLst/>
        </p:spPr>
        <p:txBody>
          <a:bodyPr wrap="square" rtlCol="0">
            <a:spAutoFit/>
          </a:bodyPr>
          <a:lstStyle>
            <a:defPPr>
              <a:defRPr lang="zh-CN"/>
            </a:defPPr>
            <a:lvl1pPr algn="ctr">
              <a:lnSpc>
                <a:spcPct val="110000"/>
              </a:lnSpc>
              <a:defRPr sz="1400">
                <a:latin typeface="OPPOSans B" panose="00020600040101010101" pitchFamily="18" charset="-122"/>
                <a:ea typeface="OPPOSans B" panose="00020600040101010101" pitchFamily="18" charset="-122"/>
                <a:cs typeface="OPPOSans B" panose="00020600040101010101" pitchFamily="18" charset="-122"/>
              </a:defRPr>
            </a:lvl1pPr>
          </a:lstStyle>
          <a:p>
            <a:pPr marL="0" marR="0" lvl="0" indent="0" algn="l" defTabSz="914400" rtl="0" eaLnBrk="1" fontAlgn="auto" latinLnBrk="0" hangingPunct="1">
              <a:lnSpc>
                <a:spcPct val="110000"/>
              </a:lnSpc>
              <a:spcBef>
                <a:spcPts val="0"/>
              </a:spcBef>
              <a:spcAft>
                <a:spcPts val="0"/>
              </a:spcAft>
              <a:buClrTx/>
              <a:buSzTx/>
              <a:buFontTx/>
              <a:buNone/>
              <a:defRPr/>
            </a:pPr>
            <a:r>
              <a:rPr kumimoji="0" lang="en-US" altLang="zh-CN" b="1"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AI+</a:t>
            </a:r>
            <a:r>
              <a:rPr kumimoji="0" lang="zh-CN" altLang="en-US" b="1"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直播，实现降本增效</a:t>
            </a:r>
            <a:endParaRPr kumimoji="0" lang="zh-CN" altLang="en-US" b="1"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3" name="矩形 92"/>
          <p:cNvSpPr/>
          <p:nvPr>
            <p:custDataLst>
              <p:tags r:id="rId31"/>
            </p:custDataLst>
          </p:nvPr>
        </p:nvSpPr>
        <p:spPr>
          <a:xfrm>
            <a:off x="391795" y="5361940"/>
            <a:ext cx="11527155" cy="1076960"/>
          </a:xfrm>
          <a:prstGeom prst="rect">
            <a:avLst/>
          </a:prstGeom>
          <a:solidFill>
            <a:schemeClr val="accent1">
              <a:lumMod val="20000"/>
              <a:lumOff val="80000"/>
              <a:alpha val="10000"/>
            </a:schemeClr>
          </a:solidFill>
          <a:ln w="12700" cap="flat">
            <a:solidFill>
              <a:schemeClr val="accent1"/>
            </a:solid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hangingPunct="0"/>
            <a:endParaRPr lang="zh-CN" altLang="en-US">
              <a:solidFill>
                <a:srgbClr val="000000">
                  <a:alpha val="80000"/>
                </a:srgbClr>
              </a:solidFill>
              <a:effectLst/>
              <a:latin typeface="微软雅黑" panose="020B0503020204020204" charset="-122"/>
              <a:ea typeface="微软雅黑" panose="020B0503020204020204" charset="-122"/>
              <a:cs typeface="+mn-ea"/>
              <a:sym typeface="微软雅黑" panose="020B0503020204020204" charset="-122"/>
            </a:endParaRPr>
          </a:p>
        </p:txBody>
      </p:sp>
      <p:grpSp>
        <p:nvGrpSpPr>
          <p:cNvPr id="94" name="组合 93"/>
          <p:cNvGrpSpPr/>
          <p:nvPr/>
        </p:nvGrpSpPr>
        <p:grpSpPr>
          <a:xfrm>
            <a:off x="347932" y="5297652"/>
            <a:ext cx="1521460" cy="1226820"/>
            <a:chOff x="16220865" y="74366"/>
            <a:chExt cx="1521460" cy="1226820"/>
          </a:xfrm>
          <a:solidFill>
            <a:schemeClr val="accent1"/>
          </a:solidFill>
        </p:grpSpPr>
        <p:sp>
          <p:nvSpPr>
            <p:cNvPr id="95" name="圆角矩形 94"/>
            <p:cNvSpPr/>
            <p:nvPr>
              <p:custDataLst>
                <p:tags r:id="rId32"/>
              </p:custDataLst>
            </p:nvPr>
          </p:nvSpPr>
          <p:spPr>
            <a:xfrm>
              <a:off x="16220865" y="74366"/>
              <a:ext cx="1521460" cy="1226820"/>
            </a:xfrm>
            <a:prstGeom prst="roundRect">
              <a:avLst>
                <a:gd name="adj" fmla="val 0"/>
              </a:avLst>
            </a:prstGeom>
            <a:grpFill/>
            <a:ln w="12700" cap="flat">
              <a:noFill/>
              <a:prstDash val="solid"/>
              <a:miter lim="800000"/>
            </a:ln>
            <a:effectLst/>
            <a:sp3d/>
          </p:spPr>
          <p:txBody>
            <a:bodyPr rot="0" spcFirstLastPara="1" vertOverflow="overflow" horzOverflow="overflow" vert="horz" wrap="square" lIns="45719" tIns="45719" rIns="45719" bIns="45719" numCol="1" spcCol="38100" rtlCol="0" anchor="ctr">
              <a:noAutofit/>
            </a:bodyPr>
            <a:lstStyle/>
            <a:p>
              <a:pPr hangingPunct="0"/>
              <a:endParaRPr lang="zh-CN" altLang="en-US" dirty="0">
                <a:solidFill>
                  <a:srgbClr val="000000">
                    <a:alpha val="50000"/>
                  </a:srgbClr>
                </a:solidFill>
                <a:effectLst/>
                <a:latin typeface="微软雅黑" panose="020B0503020204020204" charset="-122"/>
                <a:ea typeface="微软雅黑" panose="020B0503020204020204" charset="-122"/>
                <a:cs typeface="+mn-ea"/>
              </a:endParaRPr>
            </a:p>
          </p:txBody>
        </p:sp>
        <p:sp>
          <p:nvSpPr>
            <p:cNvPr id="96" name="Title 2"/>
            <p:cNvSpPr txBox="1"/>
            <p:nvPr>
              <p:custDataLst>
                <p:tags r:id="rId33"/>
              </p:custDataLst>
            </p:nvPr>
          </p:nvSpPr>
          <p:spPr>
            <a:xfrm>
              <a:off x="16452954" y="375196"/>
              <a:ext cx="1107628" cy="615315"/>
            </a:xfrm>
            <a:prstGeom prst="rect">
              <a:avLst/>
            </a:prstGeom>
            <a:grpFill/>
            <a:effectLst/>
          </p:spPr>
          <p:txBody>
            <a:bodyPr vert="horz" wrap="square" lIns="0" tIns="0" rIns="0" bIns="0" rtlCol="0" anchor="t" anchorCtr="0">
              <a:spAutoFit/>
            </a:bodyPr>
            <a:lstStyle>
              <a:lvl1pPr algn="l" defTabSz="914400" rtl="0" eaLnBrk="1" latinLnBrk="0" hangingPunct="1">
                <a:lnSpc>
                  <a:spcPct val="90000"/>
                </a:lnSpc>
                <a:spcBef>
                  <a:spcPct val="0"/>
                </a:spcBef>
                <a:buNone/>
                <a:defRPr sz="3600" b="0" i="0" kern="1200">
                  <a:solidFill>
                    <a:srgbClr val="000000"/>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defTabSz="914400" rtl="0" eaLnBrk="1" fontAlgn="auto" latinLnBrk="0" hangingPunct="1">
                <a:lnSpc>
                  <a:spcPct val="100000"/>
                </a:lnSpc>
                <a:spcBef>
                  <a:spcPct val="0"/>
                </a:spcBef>
                <a:spcAft>
                  <a:spcPts val="0"/>
                </a:spcAft>
                <a:buClrTx/>
                <a:buSzTx/>
                <a:buFontTx/>
                <a:buNone/>
                <a:defRPr/>
              </a:pPr>
              <a:r>
                <a:rPr lang="zh-CN" altLang="en-US" sz="2000" dirty="0">
                  <a:solidFill>
                    <a:srgbClr val="FFFFFF"/>
                  </a:solidFill>
                  <a:effectLst/>
                  <a:latin typeface="微软雅黑" panose="020B0503020204020204" charset="-122"/>
                  <a:ea typeface="微软雅黑" panose="020B0503020204020204" charset="-122"/>
                  <a:cs typeface="微软雅黑" panose="020B0503020204020204" charset="-122"/>
                </a:rPr>
                <a:t>直播前沿趋势展望</a:t>
              </a:r>
              <a:endParaRPr lang="zh-CN" altLang="en-US" sz="2000" dirty="0">
                <a:solidFill>
                  <a:srgbClr val="FFFFFF"/>
                </a:solidFill>
                <a:effectLst/>
                <a:latin typeface="微软雅黑" panose="020B0503020204020204" charset="-122"/>
                <a:ea typeface="微软雅黑" panose="020B0503020204020204" charset="-122"/>
                <a:cs typeface="微软雅黑" panose="020B0503020204020204" charset="-122"/>
              </a:endParaRPr>
            </a:p>
          </p:txBody>
        </p:sp>
      </p:grpSp>
      <p:sp>
        <p:nvSpPr>
          <p:cNvPr id="97" name="矩形: 圆角 114"/>
          <p:cNvSpPr/>
          <p:nvPr>
            <p:custDataLst>
              <p:tags r:id="rId34"/>
            </p:custDataLst>
          </p:nvPr>
        </p:nvSpPr>
        <p:spPr>
          <a:xfrm>
            <a:off x="1991360" y="5842635"/>
            <a:ext cx="1449070" cy="473710"/>
          </a:xfrm>
          <a:prstGeom prst="roundRect">
            <a:avLst>
              <a:gd name="adj" fmla="val 0"/>
            </a:avLst>
          </a:prstGeom>
          <a:solidFill>
            <a:schemeClr val="accent1">
              <a:lumMod val="20000"/>
              <a:lumOff val="80000"/>
              <a:alpha val="20000"/>
            </a:schemeClr>
          </a:solidFill>
          <a:ln w="6350" cap="flat">
            <a:solidFill>
              <a:schemeClr val="accent1"/>
            </a:solidFill>
            <a:prstDash val="dash"/>
            <a:miter lim="800000"/>
          </a:ln>
          <a:effectLst/>
          <a:sp3d/>
        </p:spPr>
        <p:txBody>
          <a:bodyPr rot="0" spcFirstLastPara="1" vertOverflow="overflow" horzOverflow="overflow" vert="horz" wrap="square" lIns="45719" tIns="45719" rIns="45719" bIns="45719" numCol="1" spcCol="38100" rtlCol="0" anchor="ctr">
            <a:noAutofit/>
          </a:bodyPr>
          <a:lstStyle/>
          <a:p>
            <a:pPr hangingPunct="0"/>
            <a:endParaRPr lang="zh-CN" altLang="en-US" dirty="0">
              <a:solidFill>
                <a:srgbClr val="000000"/>
              </a:solidFill>
              <a:effectLst/>
              <a:latin typeface="微软雅黑" panose="020B0503020204020204" charset="-122"/>
              <a:ea typeface="微软雅黑" panose="020B0503020204020204" charset="-122"/>
              <a:cs typeface="+mn-ea"/>
            </a:endParaRPr>
          </a:p>
        </p:txBody>
      </p:sp>
      <p:sp>
        <p:nvSpPr>
          <p:cNvPr id="98" name="矩形: 圆角 114"/>
          <p:cNvSpPr/>
          <p:nvPr>
            <p:custDataLst>
              <p:tags r:id="rId35"/>
            </p:custDataLst>
          </p:nvPr>
        </p:nvSpPr>
        <p:spPr>
          <a:xfrm>
            <a:off x="3672205" y="5842635"/>
            <a:ext cx="1449070" cy="473710"/>
          </a:xfrm>
          <a:prstGeom prst="roundRect">
            <a:avLst>
              <a:gd name="adj" fmla="val 0"/>
            </a:avLst>
          </a:prstGeom>
          <a:solidFill>
            <a:schemeClr val="accent1">
              <a:lumMod val="20000"/>
              <a:lumOff val="80000"/>
              <a:alpha val="20000"/>
            </a:schemeClr>
          </a:solidFill>
          <a:ln w="6350" cap="flat">
            <a:solidFill>
              <a:schemeClr val="accent1"/>
            </a:solidFill>
            <a:prstDash val="dash"/>
            <a:miter lim="800000"/>
          </a:ln>
          <a:effectLst/>
          <a:sp3d/>
        </p:spPr>
        <p:txBody>
          <a:bodyPr rot="0" spcFirstLastPara="1" vertOverflow="overflow" horzOverflow="overflow" vert="horz" wrap="square" lIns="45719" tIns="45719" rIns="45719" bIns="45719" numCol="1" spcCol="38100" rtlCol="0" anchor="ctr">
            <a:noAutofit/>
          </a:bodyPr>
          <a:lstStyle/>
          <a:p>
            <a:pPr lvl="0" algn="l" hangingPunct="0">
              <a:buClrTx/>
              <a:buSzTx/>
              <a:buFontTx/>
            </a:pPr>
            <a:endParaRPr lang="zh-CN" altLang="en-US" dirty="0">
              <a:solidFill>
                <a:srgbClr val="000000"/>
              </a:solidFill>
              <a:effectLst/>
              <a:latin typeface="微软雅黑" panose="020B0503020204020204" charset="-122"/>
              <a:ea typeface="微软雅黑" panose="020B0503020204020204" charset="-122"/>
              <a:cs typeface="+mn-ea"/>
              <a:sym typeface="+mn-ea"/>
            </a:endParaRPr>
          </a:p>
        </p:txBody>
      </p:sp>
      <p:sp>
        <p:nvSpPr>
          <p:cNvPr id="99" name="矩形: 圆角 114"/>
          <p:cNvSpPr/>
          <p:nvPr>
            <p:custDataLst>
              <p:tags r:id="rId36"/>
            </p:custDataLst>
          </p:nvPr>
        </p:nvSpPr>
        <p:spPr>
          <a:xfrm>
            <a:off x="5353050" y="5842635"/>
            <a:ext cx="1449070" cy="473710"/>
          </a:xfrm>
          <a:prstGeom prst="roundRect">
            <a:avLst>
              <a:gd name="adj" fmla="val 0"/>
            </a:avLst>
          </a:prstGeom>
          <a:solidFill>
            <a:schemeClr val="accent1">
              <a:lumMod val="20000"/>
              <a:lumOff val="80000"/>
              <a:alpha val="20000"/>
            </a:schemeClr>
          </a:solidFill>
          <a:ln w="6350" cap="flat">
            <a:solidFill>
              <a:schemeClr val="accent1"/>
            </a:solidFill>
            <a:prstDash val="dash"/>
            <a:miter lim="800000"/>
          </a:ln>
          <a:effectLst/>
          <a:sp3d/>
        </p:spPr>
        <p:txBody>
          <a:bodyPr rot="0" spcFirstLastPara="1" vertOverflow="overflow" horzOverflow="overflow" vert="horz" wrap="square" lIns="45719" tIns="45719" rIns="45719" bIns="45719" numCol="1" spcCol="38100" rtlCol="0" anchor="ctr">
            <a:noAutofit/>
          </a:bodyPr>
          <a:lstStyle/>
          <a:p>
            <a:pPr lvl="0" algn="l" hangingPunct="0">
              <a:buClrTx/>
              <a:buSzTx/>
              <a:buFontTx/>
            </a:pPr>
            <a:endParaRPr lang="zh-CN" altLang="en-US" dirty="0">
              <a:solidFill>
                <a:srgbClr val="000000"/>
              </a:solidFill>
              <a:effectLst/>
              <a:latin typeface="微软雅黑" panose="020B0503020204020204" charset="-122"/>
              <a:ea typeface="微软雅黑" panose="020B0503020204020204" charset="-122"/>
              <a:cs typeface="+mn-ea"/>
              <a:sym typeface="+mn-ea"/>
            </a:endParaRPr>
          </a:p>
        </p:txBody>
      </p:sp>
      <p:sp>
        <p:nvSpPr>
          <p:cNvPr id="100" name="矩形: 圆角 114"/>
          <p:cNvSpPr/>
          <p:nvPr>
            <p:custDataLst>
              <p:tags r:id="rId37"/>
            </p:custDataLst>
          </p:nvPr>
        </p:nvSpPr>
        <p:spPr>
          <a:xfrm>
            <a:off x="7033895" y="5842635"/>
            <a:ext cx="1449070" cy="473710"/>
          </a:xfrm>
          <a:prstGeom prst="roundRect">
            <a:avLst>
              <a:gd name="adj" fmla="val 0"/>
            </a:avLst>
          </a:prstGeom>
          <a:solidFill>
            <a:schemeClr val="accent1">
              <a:lumMod val="20000"/>
              <a:lumOff val="80000"/>
              <a:alpha val="20000"/>
            </a:schemeClr>
          </a:solidFill>
          <a:ln w="6350" cap="flat">
            <a:solidFill>
              <a:schemeClr val="accent1"/>
            </a:solidFill>
            <a:prstDash val="dash"/>
            <a:miter lim="800000"/>
          </a:ln>
          <a:effectLst/>
          <a:sp3d/>
        </p:spPr>
        <p:txBody>
          <a:bodyPr rot="0" spcFirstLastPara="1" vertOverflow="overflow" horzOverflow="overflow" vert="horz" wrap="square" lIns="45719" tIns="45719" rIns="45719" bIns="45719" numCol="1" spcCol="38100" rtlCol="0" anchor="ctr">
            <a:noAutofit/>
          </a:bodyPr>
          <a:lstStyle/>
          <a:p>
            <a:pPr lvl="0" algn="l" hangingPunct="0">
              <a:buClrTx/>
              <a:buSzTx/>
              <a:buFontTx/>
            </a:pPr>
            <a:endParaRPr lang="zh-CN" altLang="en-US" dirty="0">
              <a:solidFill>
                <a:srgbClr val="000000"/>
              </a:solidFill>
              <a:effectLst/>
              <a:latin typeface="微软雅黑" panose="020B0503020204020204" charset="-122"/>
              <a:ea typeface="微软雅黑" panose="020B0503020204020204" charset="-122"/>
              <a:cs typeface="+mn-ea"/>
              <a:sym typeface="+mn-ea"/>
            </a:endParaRPr>
          </a:p>
        </p:txBody>
      </p:sp>
      <p:sp>
        <p:nvSpPr>
          <p:cNvPr id="101" name="矩形: 圆角 114"/>
          <p:cNvSpPr/>
          <p:nvPr>
            <p:custDataLst>
              <p:tags r:id="rId38"/>
            </p:custDataLst>
          </p:nvPr>
        </p:nvSpPr>
        <p:spPr>
          <a:xfrm>
            <a:off x="8714740" y="5842635"/>
            <a:ext cx="1449070" cy="473710"/>
          </a:xfrm>
          <a:prstGeom prst="roundRect">
            <a:avLst>
              <a:gd name="adj" fmla="val 0"/>
            </a:avLst>
          </a:prstGeom>
          <a:solidFill>
            <a:schemeClr val="accent1">
              <a:lumMod val="20000"/>
              <a:lumOff val="80000"/>
              <a:alpha val="20000"/>
            </a:schemeClr>
          </a:solidFill>
          <a:ln w="6350" cap="flat">
            <a:solidFill>
              <a:schemeClr val="accent1"/>
            </a:solidFill>
            <a:prstDash val="dash"/>
            <a:miter lim="800000"/>
          </a:ln>
          <a:effectLst/>
          <a:sp3d/>
        </p:spPr>
        <p:txBody>
          <a:bodyPr rot="0" spcFirstLastPara="1" vertOverflow="overflow" horzOverflow="overflow" vert="horz" wrap="square" lIns="45719" tIns="45719" rIns="45719" bIns="45719" numCol="1" spcCol="38100" rtlCol="0" anchor="ctr">
            <a:noAutofit/>
          </a:bodyPr>
          <a:lstStyle/>
          <a:p>
            <a:pPr lvl="0" algn="l" hangingPunct="0">
              <a:buClrTx/>
              <a:buSzTx/>
              <a:buFontTx/>
            </a:pPr>
            <a:endParaRPr lang="zh-CN" altLang="en-US" dirty="0">
              <a:solidFill>
                <a:srgbClr val="000000"/>
              </a:solidFill>
              <a:effectLst/>
              <a:latin typeface="微软雅黑" panose="020B0503020204020204" charset="-122"/>
              <a:ea typeface="微软雅黑" panose="020B0503020204020204" charset="-122"/>
              <a:cs typeface="+mn-ea"/>
              <a:sym typeface="+mn-ea"/>
            </a:endParaRPr>
          </a:p>
        </p:txBody>
      </p:sp>
      <p:sp>
        <p:nvSpPr>
          <p:cNvPr id="102" name="矩形: 圆角 114"/>
          <p:cNvSpPr/>
          <p:nvPr>
            <p:custDataLst>
              <p:tags r:id="rId39"/>
            </p:custDataLst>
          </p:nvPr>
        </p:nvSpPr>
        <p:spPr>
          <a:xfrm>
            <a:off x="10395585" y="5842635"/>
            <a:ext cx="1449070" cy="473710"/>
          </a:xfrm>
          <a:prstGeom prst="roundRect">
            <a:avLst>
              <a:gd name="adj" fmla="val 0"/>
            </a:avLst>
          </a:prstGeom>
          <a:solidFill>
            <a:schemeClr val="accent5"/>
          </a:solidFill>
          <a:ln w="6350" cap="flat">
            <a:solidFill>
              <a:schemeClr val="accent5">
                <a:alpha val="38000"/>
              </a:schemeClr>
            </a:solidFill>
            <a:prstDash val="dash"/>
            <a:miter lim="800000"/>
          </a:ln>
          <a:effectLst/>
          <a:sp3d/>
        </p:spPr>
        <p:txBody>
          <a:bodyPr rot="0" spcFirstLastPara="1" vertOverflow="overflow" horzOverflow="overflow" vert="horz" wrap="square" lIns="45719" tIns="45719" rIns="45719" bIns="45719" numCol="1" spcCol="38100" rtlCol="0" anchor="ctr">
            <a:noAutofit/>
          </a:bodyPr>
          <a:lstStyle/>
          <a:p>
            <a:pPr hangingPunct="0"/>
            <a:endParaRPr lang="zh-CN" altLang="en-US" dirty="0">
              <a:solidFill>
                <a:srgbClr val="FFFFFF"/>
              </a:solidFill>
              <a:effectLst/>
              <a:latin typeface="微软雅黑" panose="020B0503020204020204" charset="-122"/>
              <a:ea typeface="微软雅黑" panose="020B0503020204020204" charset="-122"/>
              <a:cs typeface="+mn-ea"/>
            </a:endParaRPr>
          </a:p>
        </p:txBody>
      </p:sp>
      <p:sp>
        <p:nvSpPr>
          <p:cNvPr id="103" name="Object60"/>
          <p:cNvSpPr/>
          <p:nvPr>
            <p:custDataLst>
              <p:tags r:id="rId40"/>
            </p:custDataLst>
          </p:nvPr>
        </p:nvSpPr>
        <p:spPr>
          <a:xfrm>
            <a:off x="2158365" y="5883275"/>
            <a:ext cx="1163955" cy="368935"/>
          </a:xfrm>
          <a:prstGeom prst="rect">
            <a:avLst/>
          </a:prstGeom>
          <a:noFill/>
          <a:effectLst/>
        </p:spPr>
        <p:txBody>
          <a:bodyPr wrap="square" lIns="0" tIns="0" rIns="0" bIns="0" rtlCol="0" anchor="t">
            <a:spAutoFit/>
          </a:bodyPr>
          <a:lstStyle/>
          <a:p>
            <a:pPr algn="ctr" defTabSz="731520"/>
            <a:r>
              <a:rPr lang="zh-CN" altLang="en-US" sz="1200" b="1" dirty="0" err="1">
                <a:solidFill>
                  <a:schemeClr val="accent1"/>
                </a:solidFill>
                <a:effectLst/>
                <a:latin typeface="微软雅黑" panose="020B0503020204020204" charset="-122"/>
                <a:ea typeface="微软雅黑" panose="020B0503020204020204" charset="-122"/>
                <a:cs typeface="微软雅黑" panose="020B0503020204020204" charset="-122"/>
              </a:rPr>
              <a:t>打造虚拟与现实的融合场景</a:t>
            </a:r>
            <a:endParaRPr lang="zh-CN" altLang="en-US" sz="1200" b="1" dirty="0" err="1">
              <a:solidFill>
                <a:schemeClr val="accent1"/>
              </a:solidFill>
              <a:effectLst/>
              <a:latin typeface="微软雅黑" panose="020B0503020204020204" charset="-122"/>
              <a:ea typeface="微软雅黑" panose="020B0503020204020204" charset="-122"/>
              <a:cs typeface="微软雅黑" panose="020B0503020204020204" charset="-122"/>
            </a:endParaRPr>
          </a:p>
        </p:txBody>
      </p:sp>
      <p:sp>
        <p:nvSpPr>
          <p:cNvPr id="104" name="Object60"/>
          <p:cNvSpPr/>
          <p:nvPr>
            <p:custDataLst>
              <p:tags r:id="rId41"/>
            </p:custDataLst>
          </p:nvPr>
        </p:nvSpPr>
        <p:spPr>
          <a:xfrm>
            <a:off x="3775710" y="5883275"/>
            <a:ext cx="1163955" cy="368935"/>
          </a:xfrm>
          <a:prstGeom prst="rect">
            <a:avLst/>
          </a:prstGeom>
          <a:noFill/>
          <a:effectLst/>
        </p:spPr>
        <p:txBody>
          <a:bodyPr wrap="square" lIns="0" tIns="0" rIns="0" bIns="0" rtlCol="0" anchor="t">
            <a:spAutoFit/>
          </a:bodyPr>
          <a:lstStyle/>
          <a:p>
            <a:pPr algn="ctr" defTabSz="731520"/>
            <a:r>
              <a:rPr lang="zh-CN" altLang="en-US" sz="1200" b="1" dirty="0" err="1">
                <a:solidFill>
                  <a:schemeClr val="accent1"/>
                </a:solidFill>
                <a:effectLst/>
                <a:latin typeface="微软雅黑" panose="020B0503020204020204" charset="-122"/>
                <a:ea typeface="微软雅黑" panose="020B0503020204020204" charset="-122"/>
                <a:cs typeface="微软雅黑" panose="020B0503020204020204" charset="-122"/>
              </a:rPr>
              <a:t>极大增强用户信任与兴趣</a:t>
            </a:r>
            <a:endParaRPr lang="zh-CN" altLang="en-US" sz="1200" b="1" dirty="0" err="1">
              <a:solidFill>
                <a:schemeClr val="accent1"/>
              </a:solidFill>
              <a:effectLst/>
              <a:latin typeface="微软雅黑" panose="020B0503020204020204" charset="-122"/>
              <a:ea typeface="微软雅黑" panose="020B0503020204020204" charset="-122"/>
              <a:cs typeface="微软雅黑" panose="020B0503020204020204" charset="-122"/>
            </a:endParaRPr>
          </a:p>
        </p:txBody>
      </p:sp>
      <p:sp>
        <p:nvSpPr>
          <p:cNvPr id="105" name="Object60"/>
          <p:cNvSpPr/>
          <p:nvPr>
            <p:custDataLst>
              <p:tags r:id="rId42"/>
            </p:custDataLst>
          </p:nvPr>
        </p:nvSpPr>
        <p:spPr>
          <a:xfrm>
            <a:off x="5499735" y="5883275"/>
            <a:ext cx="1163955" cy="368935"/>
          </a:xfrm>
          <a:prstGeom prst="rect">
            <a:avLst/>
          </a:prstGeom>
          <a:noFill/>
          <a:effectLst/>
        </p:spPr>
        <p:txBody>
          <a:bodyPr wrap="square" lIns="0" tIns="0" rIns="0" bIns="0" rtlCol="0" anchor="t">
            <a:spAutoFit/>
          </a:bodyPr>
          <a:lstStyle/>
          <a:p>
            <a:pPr algn="ctr" defTabSz="731520"/>
            <a:r>
              <a:rPr lang="zh-CN" altLang="en-US" sz="1200" b="1" dirty="0" err="1">
                <a:solidFill>
                  <a:schemeClr val="accent1"/>
                </a:solidFill>
                <a:effectLst/>
                <a:latin typeface="微软雅黑" panose="020B0503020204020204" charset="-122"/>
                <a:ea typeface="微软雅黑" panose="020B0503020204020204" charset="-122"/>
                <a:cs typeface="微软雅黑" panose="020B0503020204020204" charset="-122"/>
              </a:rPr>
              <a:t>进一步优化企业运营体验</a:t>
            </a:r>
            <a:endParaRPr lang="zh-CN" altLang="en-US" sz="1200" b="1" dirty="0" err="1">
              <a:solidFill>
                <a:schemeClr val="accent1"/>
              </a:solidFill>
              <a:effectLst/>
              <a:latin typeface="微软雅黑" panose="020B0503020204020204" charset="-122"/>
              <a:ea typeface="微软雅黑" panose="020B0503020204020204" charset="-122"/>
              <a:cs typeface="微软雅黑" panose="020B0503020204020204" charset="-122"/>
            </a:endParaRPr>
          </a:p>
        </p:txBody>
      </p:sp>
      <p:sp>
        <p:nvSpPr>
          <p:cNvPr id="106" name="Object60"/>
          <p:cNvSpPr/>
          <p:nvPr>
            <p:custDataLst>
              <p:tags r:id="rId43"/>
            </p:custDataLst>
          </p:nvPr>
        </p:nvSpPr>
        <p:spPr>
          <a:xfrm>
            <a:off x="7209790" y="5883275"/>
            <a:ext cx="1163955" cy="368935"/>
          </a:xfrm>
          <a:prstGeom prst="rect">
            <a:avLst/>
          </a:prstGeom>
          <a:noFill/>
          <a:effectLst/>
        </p:spPr>
        <p:txBody>
          <a:bodyPr wrap="square" lIns="0" tIns="0" rIns="0" bIns="0" rtlCol="0" anchor="t">
            <a:spAutoFit/>
          </a:bodyPr>
          <a:lstStyle/>
          <a:p>
            <a:pPr algn="ctr" defTabSz="731520"/>
            <a:r>
              <a:rPr lang="zh-CN" altLang="en-US" sz="1200" b="1" dirty="0" err="1">
                <a:solidFill>
                  <a:schemeClr val="accent1"/>
                </a:solidFill>
                <a:effectLst/>
                <a:latin typeface="微软雅黑" panose="020B0503020204020204" charset="-122"/>
                <a:ea typeface="微软雅黑" panose="020B0503020204020204" charset="-122"/>
                <a:cs typeface="微软雅黑" panose="020B0503020204020204" charset="-122"/>
              </a:rPr>
              <a:t>沉浸式的细腻动态体验</a:t>
            </a:r>
            <a:endParaRPr lang="zh-CN" altLang="en-US" sz="1200" b="1" dirty="0" err="1">
              <a:solidFill>
                <a:schemeClr val="accent1"/>
              </a:solidFill>
              <a:effectLst/>
              <a:latin typeface="微软雅黑" panose="020B0503020204020204" charset="-122"/>
              <a:ea typeface="微软雅黑" panose="020B0503020204020204" charset="-122"/>
              <a:cs typeface="微软雅黑" panose="020B0503020204020204" charset="-122"/>
            </a:endParaRPr>
          </a:p>
        </p:txBody>
      </p:sp>
      <p:sp>
        <p:nvSpPr>
          <p:cNvPr id="107" name="Object60"/>
          <p:cNvSpPr/>
          <p:nvPr>
            <p:custDataLst>
              <p:tags r:id="rId44"/>
            </p:custDataLst>
          </p:nvPr>
        </p:nvSpPr>
        <p:spPr>
          <a:xfrm>
            <a:off x="8873490" y="5883275"/>
            <a:ext cx="1163955" cy="368935"/>
          </a:xfrm>
          <a:prstGeom prst="rect">
            <a:avLst/>
          </a:prstGeom>
          <a:noFill/>
          <a:effectLst/>
        </p:spPr>
        <p:txBody>
          <a:bodyPr wrap="square" lIns="0" tIns="0" rIns="0" bIns="0" rtlCol="0" anchor="t">
            <a:spAutoFit/>
          </a:bodyPr>
          <a:lstStyle/>
          <a:p>
            <a:pPr algn="ctr" defTabSz="731520"/>
            <a:r>
              <a:rPr lang="zh-CN" altLang="en-US" sz="1200" b="1" dirty="0" err="1">
                <a:solidFill>
                  <a:schemeClr val="accent1"/>
                </a:solidFill>
                <a:effectLst/>
                <a:latin typeface="微软雅黑" panose="020B0503020204020204" charset="-122"/>
                <a:ea typeface="微软雅黑" panose="020B0503020204020204" charset="-122"/>
                <a:cs typeface="微软雅黑" panose="020B0503020204020204" charset="-122"/>
              </a:rPr>
              <a:t>多行业多场景应用实现</a:t>
            </a:r>
            <a:endParaRPr lang="zh-CN" altLang="en-US" sz="1200" b="1" dirty="0" err="1">
              <a:solidFill>
                <a:schemeClr val="accent1"/>
              </a:solidFill>
              <a:effectLst/>
              <a:latin typeface="微软雅黑" panose="020B0503020204020204" charset="-122"/>
              <a:ea typeface="微软雅黑" panose="020B0503020204020204" charset="-122"/>
              <a:cs typeface="微软雅黑" panose="020B0503020204020204" charset="-122"/>
            </a:endParaRPr>
          </a:p>
        </p:txBody>
      </p:sp>
      <p:sp>
        <p:nvSpPr>
          <p:cNvPr id="108" name="Object60"/>
          <p:cNvSpPr/>
          <p:nvPr>
            <p:custDataLst>
              <p:tags r:id="rId45"/>
            </p:custDataLst>
          </p:nvPr>
        </p:nvSpPr>
        <p:spPr>
          <a:xfrm>
            <a:off x="10513695" y="5883275"/>
            <a:ext cx="1163955" cy="368935"/>
          </a:xfrm>
          <a:prstGeom prst="rect">
            <a:avLst/>
          </a:prstGeom>
          <a:noFill/>
          <a:effectLst/>
        </p:spPr>
        <p:txBody>
          <a:bodyPr wrap="square" lIns="0" tIns="0" rIns="0" bIns="0" rtlCol="0" anchor="t">
            <a:spAutoFit/>
          </a:bodyPr>
          <a:lstStyle/>
          <a:p>
            <a:pPr algn="ctr" defTabSz="731520"/>
            <a:r>
              <a:rPr lang="zh-CN" altLang="en-US" sz="1200" b="1" dirty="0" err="1">
                <a:solidFill>
                  <a:srgbClr val="FFFFFF"/>
                </a:solidFill>
                <a:effectLst/>
                <a:latin typeface="微软雅黑" panose="020B0503020204020204" charset="-122"/>
                <a:ea typeface="微软雅黑" panose="020B0503020204020204" charset="-122"/>
                <a:cs typeface="微软雅黑" panose="020B0503020204020204" charset="-122"/>
              </a:rPr>
              <a:t>为企业带来</a:t>
            </a:r>
            <a:endParaRPr lang="zh-CN" altLang="en-US" sz="1200" b="1" dirty="0" err="1">
              <a:solidFill>
                <a:srgbClr val="FFFFFF"/>
              </a:solidFill>
              <a:effectLst/>
              <a:latin typeface="微软雅黑" panose="020B0503020204020204" charset="-122"/>
              <a:ea typeface="微软雅黑" panose="020B0503020204020204" charset="-122"/>
              <a:cs typeface="微软雅黑" panose="020B0503020204020204" charset="-122"/>
            </a:endParaRPr>
          </a:p>
          <a:p>
            <a:pPr algn="ctr" defTabSz="731520"/>
            <a:r>
              <a:rPr lang="zh-CN" altLang="en-US" sz="1200" b="1" dirty="0" err="1">
                <a:solidFill>
                  <a:srgbClr val="FFFFFF"/>
                </a:solidFill>
                <a:effectLst/>
                <a:latin typeface="微软雅黑" panose="020B0503020204020204" charset="-122"/>
                <a:ea typeface="微软雅黑" panose="020B0503020204020204" charset="-122"/>
                <a:cs typeface="微软雅黑" panose="020B0503020204020204" charset="-122"/>
              </a:rPr>
              <a:t>全新的商业机会</a:t>
            </a:r>
            <a:endParaRPr lang="zh-CN" altLang="en-US" sz="1200" b="1" dirty="0" err="1">
              <a:solidFill>
                <a:srgbClr val="FFFFFF"/>
              </a:solidFill>
              <a:effectLst/>
              <a:latin typeface="微软雅黑" panose="020B0503020204020204" charset="-122"/>
              <a:ea typeface="微软雅黑" panose="020B0503020204020204" charset="-122"/>
              <a:cs typeface="微软雅黑" panose="020B0503020204020204" charset="-122"/>
            </a:endParaRPr>
          </a:p>
        </p:txBody>
      </p:sp>
      <p:sp>
        <p:nvSpPr>
          <p:cNvPr id="109" name="文本框 108"/>
          <p:cNvSpPr txBox="1"/>
          <p:nvPr>
            <p:custDataLst>
              <p:tags r:id="rId46"/>
            </p:custDataLst>
          </p:nvPr>
        </p:nvSpPr>
        <p:spPr>
          <a:xfrm>
            <a:off x="1991360" y="5446395"/>
            <a:ext cx="9598025" cy="370840"/>
          </a:xfrm>
          <a:prstGeom prst="rect">
            <a:avLst/>
          </a:prstGeom>
          <a:noFill/>
        </p:spPr>
        <p:txBody>
          <a:bodyPr wrap="square" rtlCol="0">
            <a:noAutofit/>
          </a:bodyPr>
          <a:lstStyle/>
          <a:p>
            <a:r>
              <a:rPr lang="zh-CN" altLang="en-US" sz="1400">
                <a:solidFill>
                  <a:schemeClr val="accent6"/>
                </a:solidFill>
                <a:effectLst/>
                <a:latin typeface="微软雅黑" panose="020B0503020204020204" charset="-122"/>
                <a:ea typeface="微软雅黑" panose="020B0503020204020204" charset="-122"/>
                <a:cs typeface="微软雅黑" panose="020B0503020204020204" charset="-122"/>
              </a:rPr>
              <a:t>随着MR、XR、AI技术等前沿技术在直播中加速落地应用，为企业业务增长带来全新商业机会，为行业创造想象空间。</a:t>
            </a:r>
            <a:endParaRPr lang="zh-CN" altLang="en-US" sz="1400">
              <a:solidFill>
                <a:schemeClr val="accent6"/>
              </a:solidFill>
              <a:effectLst/>
              <a:latin typeface="微软雅黑" panose="020B0503020204020204" charset="-122"/>
              <a:ea typeface="微软雅黑" panose="020B0503020204020204" charset="-122"/>
              <a:cs typeface="微软雅黑" panose="020B0503020204020204" charset="-122"/>
            </a:endParaRPr>
          </a:p>
        </p:txBody>
      </p:sp>
      <p:sp>
        <p:nvSpPr>
          <p:cNvPr id="111" name="椭圆 110"/>
          <p:cNvSpPr/>
          <p:nvPr/>
        </p:nvSpPr>
        <p:spPr>
          <a:xfrm>
            <a:off x="1869440" y="1031875"/>
            <a:ext cx="289560" cy="289560"/>
          </a:xfrm>
          <a:prstGeom prst="ellipse">
            <a:avLst/>
          </a:prstGeom>
          <a:solidFill>
            <a:srgbClr val="FFFFFF"/>
          </a:solidFill>
          <a:ln w="22225">
            <a:solidFill>
              <a:schemeClr val="accent1"/>
            </a:solidFill>
          </a:ln>
          <a:effectLst>
            <a:outerShdw blurRad="50800" dist="38100" dir="2700000" algn="tl" rotWithShape="0">
              <a:prstClr val="black">
                <a:alpha val="40000"/>
              </a:prstClr>
            </a:outerShdw>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r>
              <a:rPr kumimoji="1" lang="en-US" altLang="zh-CN" sz="1400" dirty="0">
                <a:solidFill>
                  <a:schemeClr val="accent1"/>
                </a:solidFill>
                <a:effectLst/>
                <a:latin typeface="微软雅黑" panose="020B0503020204020204" charset="-122"/>
                <a:ea typeface="微软雅黑" panose="020B0503020204020204" charset="-122"/>
                <a:cs typeface="微软雅黑" panose="020B0503020204020204" charset="-122"/>
              </a:rPr>
              <a:t>1</a:t>
            </a:r>
            <a:endParaRPr kumimoji="1" lang="en-US" altLang="zh-CN" sz="1400" dirty="0">
              <a:solidFill>
                <a:schemeClr val="accent1"/>
              </a:solidFill>
              <a:effectLst/>
              <a:latin typeface="微软雅黑" panose="020B0503020204020204" charset="-122"/>
              <a:ea typeface="微软雅黑" panose="020B0503020204020204" charset="-122"/>
              <a:cs typeface="微软雅黑" panose="020B0503020204020204" charset="-122"/>
            </a:endParaRPr>
          </a:p>
        </p:txBody>
      </p:sp>
      <p:sp>
        <p:nvSpPr>
          <p:cNvPr id="112" name="椭圆 111"/>
          <p:cNvSpPr/>
          <p:nvPr/>
        </p:nvSpPr>
        <p:spPr>
          <a:xfrm>
            <a:off x="7059930" y="1026160"/>
            <a:ext cx="289560" cy="289560"/>
          </a:xfrm>
          <a:prstGeom prst="ellipse">
            <a:avLst/>
          </a:prstGeom>
          <a:solidFill>
            <a:srgbClr val="FFFFFF"/>
          </a:solidFill>
          <a:ln w="22225">
            <a:solidFill>
              <a:schemeClr val="accent5"/>
            </a:solidFill>
          </a:ln>
          <a:effectLst>
            <a:outerShdw blurRad="50800" dist="38100" dir="2700000" algn="tl" rotWithShape="0">
              <a:prstClr val="black">
                <a:alpha val="40000"/>
              </a:prstClr>
            </a:outerShdw>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r>
              <a:rPr kumimoji="1" lang="en-US" altLang="zh-CN" sz="1400" dirty="0">
                <a:solidFill>
                  <a:schemeClr val="accent5"/>
                </a:solidFill>
                <a:effectLst/>
                <a:latin typeface="微软雅黑" panose="020B0503020204020204" charset="-122"/>
                <a:ea typeface="微软雅黑" panose="020B0503020204020204" charset="-122"/>
                <a:cs typeface="微软雅黑" panose="020B0503020204020204" charset="-122"/>
              </a:rPr>
              <a:t>2</a:t>
            </a:r>
            <a:endParaRPr kumimoji="1" lang="en-US" altLang="zh-CN" sz="1400" dirty="0">
              <a:solidFill>
                <a:schemeClr val="accent5"/>
              </a:solidFill>
              <a:effectLst/>
              <a:latin typeface="微软雅黑" panose="020B0503020204020204" charset="-122"/>
              <a:ea typeface="微软雅黑" panose="020B0503020204020204" charset="-122"/>
              <a:cs typeface="微软雅黑" panose="020B0503020204020204" charset="-122"/>
            </a:endParaRPr>
          </a:p>
        </p:txBody>
      </p:sp>
      <p:pic>
        <p:nvPicPr>
          <p:cNvPr id="113" name="图片 112" descr="数据赋能-copy"/>
          <p:cNvPicPr>
            <a:picLocks noChangeAspect="1"/>
          </p:cNvPicPr>
          <p:nvPr/>
        </p:nvPicPr>
        <p:blipFill>
          <a:blip r:embed="rId47">
            <a:extLst>
              <a:ext uri="{96DAC541-7B7A-43D3-8B79-37D633B846F1}">
                <asvg:svgBlip xmlns:asvg="http://schemas.microsoft.com/office/drawing/2016/SVG/main" r:embed="rId48"/>
              </a:ext>
            </a:extLst>
          </a:blip>
          <a:stretch>
            <a:fillRect/>
          </a:stretch>
        </p:blipFill>
        <p:spPr>
          <a:xfrm>
            <a:off x="10067290" y="1969135"/>
            <a:ext cx="446405" cy="446405"/>
          </a:xfrm>
          <a:prstGeom prst="rect">
            <a:avLst/>
          </a:prstGeom>
        </p:spPr>
      </p:pic>
      <p:pic>
        <p:nvPicPr>
          <p:cNvPr id="114" name="图片 113" descr="人_2_5-客户体验-意向客户-员工关怀"/>
          <p:cNvPicPr>
            <a:picLocks noChangeAspect="1"/>
          </p:cNvPicPr>
          <p:nvPr/>
        </p:nvPicPr>
        <p:blipFill>
          <a:blip r:embed="rId49">
            <a:extLst>
              <a:ext uri="{96DAC541-7B7A-43D3-8B79-37D633B846F1}">
                <asvg:svgBlip xmlns:asvg="http://schemas.microsoft.com/office/drawing/2016/SVG/main" r:embed="rId50"/>
              </a:ext>
            </a:extLst>
          </a:blip>
          <a:stretch>
            <a:fillRect/>
          </a:stretch>
        </p:blipFill>
        <p:spPr>
          <a:xfrm>
            <a:off x="6035040" y="1982470"/>
            <a:ext cx="433070" cy="433070"/>
          </a:xfrm>
          <a:prstGeom prst="rect">
            <a:avLst/>
          </a:prstGeom>
        </p:spPr>
      </p:pic>
      <p:pic>
        <p:nvPicPr>
          <p:cNvPr id="4" name="图片 3" descr="noun-rate-button-901822"/>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7829550" y="3738245"/>
            <a:ext cx="345440" cy="345440"/>
          </a:xfrm>
          <a:prstGeom prst="rect">
            <a:avLst/>
          </a:prstGeom>
        </p:spPr>
      </p:pic>
      <p:pic>
        <p:nvPicPr>
          <p:cNvPr id="12" name="图片 11" descr="屋顶资源管理"/>
          <p:cNvPicPr>
            <a:picLocks noChangeAspect="1"/>
          </p:cNvPicPr>
          <p:nvPr/>
        </p:nvPicPr>
        <p:blipFill>
          <a:blip r:embed="rId53">
            <a:extLst>
              <a:ext uri="{96DAC541-7B7A-43D3-8B79-37D633B846F1}">
                <asvg:svgBlip xmlns:asvg="http://schemas.microsoft.com/office/drawing/2016/SVG/main" r:embed="rId54"/>
              </a:ext>
            </a:extLst>
          </a:blip>
          <a:stretch>
            <a:fillRect/>
          </a:stretch>
        </p:blipFill>
        <p:spPr>
          <a:xfrm>
            <a:off x="355600" y="186055"/>
            <a:ext cx="549910" cy="549910"/>
          </a:xfrm>
          <a:prstGeom prst="rect">
            <a:avLst/>
          </a:prstGeom>
        </p:spPr>
      </p:pic>
      <p:grpSp>
        <p:nvGrpSpPr>
          <p:cNvPr id="7" name="组合 6"/>
          <p:cNvGrpSpPr/>
          <p:nvPr/>
        </p:nvGrpSpPr>
        <p:grpSpPr>
          <a:xfrm>
            <a:off x="8738235" y="348615"/>
            <a:ext cx="3219450" cy="332740"/>
            <a:chOff x="13761" y="549"/>
            <a:chExt cx="5070" cy="524"/>
          </a:xfrm>
        </p:grpSpPr>
        <p:pic>
          <p:nvPicPr>
            <p:cNvPr id="8" name="图片 7"/>
            <p:cNvPicPr>
              <a:picLocks noChangeAspect="1"/>
            </p:cNvPicPr>
            <p:nvPr userDrawn="1"/>
          </p:nvPicPr>
          <p:blipFill>
            <a:blip r:embed="rId55"/>
            <a:srcRect l="17002" t="-1765" r="56499" b="-1176"/>
            <a:stretch>
              <a:fillRect/>
            </a:stretch>
          </p:blipFill>
          <p:spPr>
            <a:xfrm>
              <a:off x="13761" y="549"/>
              <a:ext cx="1582" cy="525"/>
            </a:xfrm>
            <a:prstGeom prst="rect">
              <a:avLst/>
            </a:prstGeom>
          </p:spPr>
        </p:pic>
        <p:sp>
          <p:nvSpPr>
            <p:cNvPr id="10" name="文本框 9"/>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传统行业数字化转型架构</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6" name="流程图: 数据 5"/>
          <p:cNvSpPr/>
          <p:nvPr/>
        </p:nvSpPr>
        <p:spPr>
          <a:xfrm>
            <a:off x="2843530" y="3846830"/>
            <a:ext cx="4916170" cy="855345"/>
          </a:xfrm>
          <a:prstGeom prst="flowChartInputOutput">
            <a:avLst/>
          </a:prstGeom>
          <a:solidFill>
            <a:schemeClr val="accent1">
              <a:lumMod val="60000"/>
              <a:lumOff val="40000"/>
              <a:alpha val="20000"/>
            </a:schemeClr>
          </a:solidFill>
          <a:ln>
            <a:solidFill>
              <a:schemeClr val="accent1">
                <a:lumMod val="60000"/>
                <a:lumOff val="40000"/>
              </a:schemeClr>
            </a:solid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 name="流程图: 数据 7"/>
          <p:cNvSpPr/>
          <p:nvPr/>
        </p:nvSpPr>
        <p:spPr>
          <a:xfrm>
            <a:off x="5158740" y="2633345"/>
            <a:ext cx="3945255" cy="855345"/>
          </a:xfrm>
          <a:prstGeom prst="flowChartInputOutput">
            <a:avLst/>
          </a:prstGeom>
          <a:solidFill>
            <a:schemeClr val="accent1">
              <a:lumMod val="60000"/>
              <a:lumOff val="40000"/>
              <a:alpha val="30000"/>
            </a:schemeClr>
          </a:solidFill>
          <a:ln>
            <a:solidFill>
              <a:schemeClr val="accent1">
                <a:lumMod val="60000"/>
                <a:lumOff val="40000"/>
                <a:alpha val="50000"/>
              </a:schemeClr>
            </a:solid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9" name="任意多边形 8"/>
          <p:cNvSpPr/>
          <p:nvPr/>
        </p:nvSpPr>
        <p:spPr>
          <a:xfrm>
            <a:off x="3183255" y="5276850"/>
            <a:ext cx="3009900" cy="855345"/>
          </a:xfrm>
          <a:custGeom>
            <a:avLst/>
            <a:gdLst>
              <a:gd name="connsiteX0" fmla="*/ 0 w 4740"/>
              <a:gd name="connsiteY0" fmla="*/ 1347 h 1347"/>
              <a:gd name="connsiteX1" fmla="*/ 1405 w 4740"/>
              <a:gd name="connsiteY1" fmla="*/ 0 h 1347"/>
              <a:gd name="connsiteX2" fmla="*/ 4740 w 4740"/>
              <a:gd name="connsiteY2" fmla="*/ 23 h 1347"/>
              <a:gd name="connsiteX3" fmla="*/ 3488 w 4740"/>
              <a:gd name="connsiteY3" fmla="*/ 1347 h 1347"/>
              <a:gd name="connsiteX4" fmla="*/ 0 w 4740"/>
              <a:gd name="connsiteY4" fmla="*/ 1347 h 1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0" h="1347">
                <a:moveTo>
                  <a:pt x="0" y="1347"/>
                </a:moveTo>
                <a:lnTo>
                  <a:pt x="1405" y="0"/>
                </a:lnTo>
                <a:lnTo>
                  <a:pt x="4740" y="23"/>
                </a:lnTo>
                <a:lnTo>
                  <a:pt x="3488" y="1347"/>
                </a:lnTo>
                <a:lnTo>
                  <a:pt x="0" y="1347"/>
                </a:lnTo>
                <a:close/>
              </a:path>
            </a:pathLst>
          </a:custGeom>
          <a:solidFill>
            <a:schemeClr val="accent1">
              <a:lumMod val="60000"/>
              <a:lumOff val="40000"/>
              <a:alpha val="30000"/>
            </a:schemeClr>
          </a:solidFill>
          <a:ln>
            <a:solidFill>
              <a:schemeClr val="accent1">
                <a:lumMod val="60000"/>
                <a:lumOff val="40000"/>
                <a:alpha val="50000"/>
              </a:schemeClr>
            </a:solid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1" name="流程图: 数据 10"/>
          <p:cNvSpPr/>
          <p:nvPr/>
        </p:nvSpPr>
        <p:spPr>
          <a:xfrm>
            <a:off x="3964940" y="1388110"/>
            <a:ext cx="3945255" cy="855345"/>
          </a:xfrm>
          <a:prstGeom prst="flowChartInputOutput">
            <a:avLst/>
          </a:prstGeom>
          <a:solidFill>
            <a:schemeClr val="accent5">
              <a:alpha val="20000"/>
            </a:schemeClr>
          </a:solidFill>
          <a:ln>
            <a:solidFill>
              <a:schemeClr val="accent5">
                <a:alpha val="50000"/>
              </a:schemeClr>
            </a:solid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2" name="任意多边形 11"/>
          <p:cNvSpPr/>
          <p:nvPr/>
        </p:nvSpPr>
        <p:spPr>
          <a:xfrm>
            <a:off x="4350385" y="1741805"/>
            <a:ext cx="896366"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412" h="593">
                <a:moveTo>
                  <a:pt x="0" y="593"/>
                </a:moveTo>
                <a:lnTo>
                  <a:pt x="502" y="0"/>
                </a:lnTo>
                <a:lnTo>
                  <a:pt x="1412" y="0"/>
                </a:lnTo>
                <a:lnTo>
                  <a:pt x="910" y="593"/>
                </a:lnTo>
                <a:lnTo>
                  <a:pt x="0" y="593"/>
                </a:lnTo>
                <a:close/>
              </a:path>
            </a:pathLst>
          </a:custGeom>
          <a:solidFill>
            <a:schemeClr val="accent5"/>
          </a:solidFill>
          <a:ln>
            <a:no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sz="1000">
              <a:cs typeface="微软雅黑" panose="020B0503020204020204" charset="-122"/>
            </a:endParaRPr>
          </a:p>
        </p:txBody>
      </p:sp>
      <p:sp>
        <p:nvSpPr>
          <p:cNvPr id="14" name="任意多边形 13"/>
          <p:cNvSpPr/>
          <p:nvPr/>
        </p:nvSpPr>
        <p:spPr>
          <a:xfrm>
            <a:off x="5025771" y="1741805"/>
            <a:ext cx="895985"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412" h="593">
                <a:moveTo>
                  <a:pt x="0" y="593"/>
                </a:moveTo>
                <a:lnTo>
                  <a:pt x="502" y="0"/>
                </a:lnTo>
                <a:lnTo>
                  <a:pt x="1412" y="0"/>
                </a:lnTo>
                <a:lnTo>
                  <a:pt x="910" y="593"/>
                </a:lnTo>
                <a:lnTo>
                  <a:pt x="0" y="593"/>
                </a:lnTo>
                <a:close/>
              </a:path>
            </a:pathLst>
          </a:custGeom>
          <a:solidFill>
            <a:schemeClr val="accent5"/>
          </a:solidFill>
          <a:ln>
            <a:no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15" name="任意多边形 14"/>
          <p:cNvSpPr/>
          <p:nvPr/>
        </p:nvSpPr>
        <p:spPr>
          <a:xfrm>
            <a:off x="5700776" y="1741805"/>
            <a:ext cx="895985"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412" h="593">
                <a:moveTo>
                  <a:pt x="0" y="593"/>
                </a:moveTo>
                <a:lnTo>
                  <a:pt x="502" y="0"/>
                </a:lnTo>
                <a:lnTo>
                  <a:pt x="1412" y="0"/>
                </a:lnTo>
                <a:lnTo>
                  <a:pt x="910" y="593"/>
                </a:lnTo>
                <a:lnTo>
                  <a:pt x="0" y="593"/>
                </a:lnTo>
                <a:close/>
              </a:path>
            </a:pathLst>
          </a:custGeom>
          <a:solidFill>
            <a:schemeClr val="accent5"/>
          </a:solidFill>
          <a:ln>
            <a:no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16" name="任意多边形 15"/>
          <p:cNvSpPr/>
          <p:nvPr/>
        </p:nvSpPr>
        <p:spPr>
          <a:xfrm>
            <a:off x="6375781" y="1741805"/>
            <a:ext cx="895985"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412" h="593">
                <a:moveTo>
                  <a:pt x="0" y="593"/>
                </a:moveTo>
                <a:lnTo>
                  <a:pt x="502" y="0"/>
                </a:lnTo>
                <a:lnTo>
                  <a:pt x="1412" y="0"/>
                </a:lnTo>
                <a:lnTo>
                  <a:pt x="910" y="593"/>
                </a:lnTo>
                <a:lnTo>
                  <a:pt x="0" y="593"/>
                </a:lnTo>
                <a:close/>
              </a:path>
            </a:pathLst>
          </a:custGeom>
          <a:solidFill>
            <a:schemeClr val="accent5"/>
          </a:solidFill>
          <a:ln>
            <a:no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17" name="文本框 16"/>
          <p:cNvSpPr txBox="1"/>
          <p:nvPr/>
        </p:nvSpPr>
        <p:spPr>
          <a:xfrm>
            <a:off x="4975860" y="1444625"/>
            <a:ext cx="2237740" cy="245110"/>
          </a:xfrm>
          <a:prstGeom prst="rect">
            <a:avLst/>
          </a:prstGeom>
          <a:noFill/>
          <a:scene3d>
            <a:camera prst="orthographicFront">
              <a:rot lat="0" lon="0" rev="0"/>
            </a:camera>
            <a:lightRig rig="threePt" dir="t"/>
          </a:scene3d>
        </p:spPr>
        <p:txBody>
          <a:bodyPr wrap="square" rtlCol="0">
            <a:spAutoFit/>
          </a:bodyPr>
          <a:p>
            <a:r>
              <a:rPr lang="zh-CN" altLang="en-US" sz="1000" b="1">
                <a:solidFill>
                  <a:schemeClr val="tx2"/>
                </a:solidFill>
                <a:latin typeface="微软雅黑" panose="020B0503020204020204" charset="-122"/>
                <a:ea typeface="微软雅黑" panose="020B0503020204020204" charset="-122"/>
                <a:cs typeface="微软雅黑" panose="020B0503020204020204" charset="-122"/>
              </a:rPr>
              <a:t>数字化战略定位</a:t>
            </a:r>
            <a:r>
              <a:rPr lang="en-US" altLang="zh-CN" sz="1000" b="1">
                <a:solidFill>
                  <a:schemeClr val="tx2"/>
                </a:solidFill>
                <a:latin typeface="微软雅黑" panose="020B0503020204020204" charset="-122"/>
                <a:ea typeface="微软雅黑" panose="020B0503020204020204" charset="-122"/>
                <a:cs typeface="微软雅黑" panose="020B0503020204020204" charset="-122"/>
              </a:rPr>
              <a:t> / </a:t>
            </a: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第二曲线价值重构</a:t>
            </a:r>
            <a:endParaRPr lang="zh-CN" altLang="en-US" sz="10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 name="任意多边形 17"/>
          <p:cNvSpPr/>
          <p:nvPr/>
        </p:nvSpPr>
        <p:spPr>
          <a:xfrm>
            <a:off x="5579745" y="2993390"/>
            <a:ext cx="896366"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412" h="593">
                <a:moveTo>
                  <a:pt x="0" y="593"/>
                </a:moveTo>
                <a:lnTo>
                  <a:pt x="502" y="0"/>
                </a:lnTo>
                <a:lnTo>
                  <a:pt x="1412" y="0"/>
                </a:lnTo>
                <a:lnTo>
                  <a:pt x="910" y="593"/>
                </a:lnTo>
                <a:lnTo>
                  <a:pt x="0" y="593"/>
                </a:lnTo>
                <a:close/>
              </a:path>
            </a:pathLst>
          </a:custGeom>
          <a:solidFill>
            <a:schemeClr val="accent1">
              <a:lumMod val="60000"/>
              <a:lumOff val="40000"/>
            </a:schemeClr>
          </a:solidFill>
          <a:ln>
            <a:no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19" name="任意多边形 18"/>
          <p:cNvSpPr/>
          <p:nvPr/>
        </p:nvSpPr>
        <p:spPr>
          <a:xfrm>
            <a:off x="6255131" y="2993390"/>
            <a:ext cx="895985"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412" h="593">
                <a:moveTo>
                  <a:pt x="0" y="593"/>
                </a:moveTo>
                <a:lnTo>
                  <a:pt x="502" y="0"/>
                </a:lnTo>
                <a:lnTo>
                  <a:pt x="1412" y="0"/>
                </a:lnTo>
                <a:lnTo>
                  <a:pt x="910" y="593"/>
                </a:lnTo>
                <a:lnTo>
                  <a:pt x="0" y="593"/>
                </a:lnTo>
                <a:close/>
              </a:path>
            </a:pathLst>
          </a:custGeom>
          <a:solidFill>
            <a:schemeClr val="accent1">
              <a:lumMod val="60000"/>
              <a:lumOff val="40000"/>
            </a:schemeClr>
          </a:solidFill>
          <a:ln>
            <a:no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20" name="任意多边形 19"/>
          <p:cNvSpPr/>
          <p:nvPr/>
        </p:nvSpPr>
        <p:spPr>
          <a:xfrm>
            <a:off x="6930136" y="2993390"/>
            <a:ext cx="895985"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412" h="593">
                <a:moveTo>
                  <a:pt x="0" y="593"/>
                </a:moveTo>
                <a:lnTo>
                  <a:pt x="502" y="0"/>
                </a:lnTo>
                <a:lnTo>
                  <a:pt x="1412" y="0"/>
                </a:lnTo>
                <a:lnTo>
                  <a:pt x="910" y="593"/>
                </a:lnTo>
                <a:lnTo>
                  <a:pt x="0" y="593"/>
                </a:lnTo>
                <a:close/>
              </a:path>
            </a:pathLst>
          </a:custGeom>
          <a:solidFill>
            <a:schemeClr val="accent1">
              <a:lumMod val="60000"/>
              <a:lumOff val="40000"/>
            </a:schemeClr>
          </a:solidFill>
          <a:ln>
            <a:no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21" name="任意多边形 20"/>
          <p:cNvSpPr/>
          <p:nvPr/>
        </p:nvSpPr>
        <p:spPr>
          <a:xfrm>
            <a:off x="7605141" y="2993390"/>
            <a:ext cx="895985"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412" h="593">
                <a:moveTo>
                  <a:pt x="0" y="593"/>
                </a:moveTo>
                <a:lnTo>
                  <a:pt x="502" y="0"/>
                </a:lnTo>
                <a:lnTo>
                  <a:pt x="1412" y="0"/>
                </a:lnTo>
                <a:lnTo>
                  <a:pt x="910" y="593"/>
                </a:lnTo>
                <a:lnTo>
                  <a:pt x="0" y="593"/>
                </a:lnTo>
                <a:close/>
              </a:path>
            </a:pathLst>
          </a:custGeom>
          <a:solidFill>
            <a:schemeClr val="accent1">
              <a:lumMod val="60000"/>
              <a:lumOff val="40000"/>
            </a:schemeClr>
          </a:solidFill>
          <a:ln>
            <a:no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22" name="任意多边形 21"/>
          <p:cNvSpPr/>
          <p:nvPr/>
        </p:nvSpPr>
        <p:spPr>
          <a:xfrm>
            <a:off x="3183255" y="4164330"/>
            <a:ext cx="981998"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546" h="593">
                <a:moveTo>
                  <a:pt x="0" y="593"/>
                </a:moveTo>
                <a:lnTo>
                  <a:pt x="653" y="0"/>
                </a:lnTo>
                <a:lnTo>
                  <a:pt x="1546" y="0"/>
                </a:lnTo>
                <a:lnTo>
                  <a:pt x="893" y="593"/>
                </a:lnTo>
                <a:lnTo>
                  <a:pt x="0" y="593"/>
                </a:lnTo>
                <a:close/>
              </a:path>
            </a:pathLst>
          </a:custGeom>
          <a:solidFill>
            <a:schemeClr val="accent1"/>
          </a:solidFill>
          <a:ln>
            <a:solidFill>
              <a:schemeClr val="accent1">
                <a:lumMod val="20000"/>
                <a:lumOff val="80000"/>
              </a:schemeClr>
            </a:solid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25" name="任意多边形 24"/>
          <p:cNvSpPr/>
          <p:nvPr/>
        </p:nvSpPr>
        <p:spPr>
          <a:xfrm>
            <a:off x="3798858" y="4164330"/>
            <a:ext cx="981710"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546" h="593">
                <a:moveTo>
                  <a:pt x="0" y="593"/>
                </a:moveTo>
                <a:lnTo>
                  <a:pt x="653" y="0"/>
                </a:lnTo>
                <a:lnTo>
                  <a:pt x="1546" y="0"/>
                </a:lnTo>
                <a:lnTo>
                  <a:pt x="893" y="593"/>
                </a:lnTo>
                <a:lnTo>
                  <a:pt x="0" y="593"/>
                </a:lnTo>
                <a:close/>
              </a:path>
            </a:pathLst>
          </a:custGeom>
          <a:solidFill>
            <a:schemeClr val="accent1"/>
          </a:solidFill>
          <a:ln>
            <a:solidFill>
              <a:schemeClr val="accent1">
                <a:lumMod val="20000"/>
                <a:lumOff val="80000"/>
              </a:schemeClr>
            </a:solid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26" name="任意多边形 25"/>
          <p:cNvSpPr/>
          <p:nvPr/>
        </p:nvSpPr>
        <p:spPr>
          <a:xfrm>
            <a:off x="4414173" y="4164330"/>
            <a:ext cx="981710"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546" h="593">
                <a:moveTo>
                  <a:pt x="0" y="593"/>
                </a:moveTo>
                <a:lnTo>
                  <a:pt x="653" y="0"/>
                </a:lnTo>
                <a:lnTo>
                  <a:pt x="1546" y="0"/>
                </a:lnTo>
                <a:lnTo>
                  <a:pt x="893" y="593"/>
                </a:lnTo>
                <a:lnTo>
                  <a:pt x="0" y="593"/>
                </a:lnTo>
                <a:close/>
              </a:path>
            </a:pathLst>
          </a:custGeom>
          <a:solidFill>
            <a:schemeClr val="accent1"/>
          </a:solidFill>
          <a:ln>
            <a:solidFill>
              <a:schemeClr val="accent1">
                <a:lumMod val="20000"/>
                <a:lumOff val="80000"/>
              </a:schemeClr>
            </a:solid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27" name="任意多边形 26"/>
          <p:cNvSpPr/>
          <p:nvPr/>
        </p:nvSpPr>
        <p:spPr>
          <a:xfrm>
            <a:off x="5029488" y="4164330"/>
            <a:ext cx="981710"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546" h="593">
                <a:moveTo>
                  <a:pt x="0" y="593"/>
                </a:moveTo>
                <a:lnTo>
                  <a:pt x="653" y="0"/>
                </a:lnTo>
                <a:lnTo>
                  <a:pt x="1546" y="0"/>
                </a:lnTo>
                <a:lnTo>
                  <a:pt x="893" y="593"/>
                </a:lnTo>
                <a:lnTo>
                  <a:pt x="0" y="593"/>
                </a:lnTo>
                <a:close/>
              </a:path>
            </a:pathLst>
          </a:custGeom>
          <a:solidFill>
            <a:schemeClr val="accent1"/>
          </a:solidFill>
          <a:ln>
            <a:solidFill>
              <a:schemeClr val="accent1">
                <a:lumMod val="20000"/>
                <a:lumOff val="80000"/>
              </a:schemeClr>
            </a:solid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28" name="任意多边形 27"/>
          <p:cNvSpPr/>
          <p:nvPr/>
        </p:nvSpPr>
        <p:spPr>
          <a:xfrm>
            <a:off x="5644803" y="4164330"/>
            <a:ext cx="981710"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546" h="593">
                <a:moveTo>
                  <a:pt x="0" y="593"/>
                </a:moveTo>
                <a:lnTo>
                  <a:pt x="653" y="0"/>
                </a:lnTo>
                <a:lnTo>
                  <a:pt x="1546" y="0"/>
                </a:lnTo>
                <a:lnTo>
                  <a:pt x="893" y="593"/>
                </a:lnTo>
                <a:lnTo>
                  <a:pt x="0" y="593"/>
                </a:lnTo>
                <a:close/>
              </a:path>
            </a:pathLst>
          </a:custGeom>
          <a:solidFill>
            <a:schemeClr val="accent1"/>
          </a:solidFill>
          <a:ln>
            <a:solidFill>
              <a:schemeClr val="accent1">
                <a:lumMod val="20000"/>
                <a:lumOff val="80000"/>
              </a:schemeClr>
            </a:solid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29" name="任意多边形 28"/>
          <p:cNvSpPr/>
          <p:nvPr/>
        </p:nvSpPr>
        <p:spPr>
          <a:xfrm>
            <a:off x="6260118" y="4164330"/>
            <a:ext cx="981710"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546" h="593">
                <a:moveTo>
                  <a:pt x="0" y="593"/>
                </a:moveTo>
                <a:lnTo>
                  <a:pt x="653" y="0"/>
                </a:lnTo>
                <a:lnTo>
                  <a:pt x="1546" y="0"/>
                </a:lnTo>
                <a:lnTo>
                  <a:pt x="893" y="593"/>
                </a:lnTo>
                <a:lnTo>
                  <a:pt x="0" y="593"/>
                </a:lnTo>
                <a:close/>
              </a:path>
            </a:pathLst>
          </a:custGeom>
          <a:solidFill>
            <a:schemeClr val="accent1"/>
          </a:solidFill>
          <a:ln>
            <a:solidFill>
              <a:schemeClr val="accent1">
                <a:lumMod val="20000"/>
                <a:lumOff val="80000"/>
              </a:schemeClr>
            </a:solid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32" name="任意多边形 31"/>
          <p:cNvSpPr/>
          <p:nvPr/>
        </p:nvSpPr>
        <p:spPr>
          <a:xfrm>
            <a:off x="3448685" y="5638165"/>
            <a:ext cx="807720"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546" h="593">
                <a:moveTo>
                  <a:pt x="0" y="593"/>
                </a:moveTo>
                <a:lnTo>
                  <a:pt x="653" y="0"/>
                </a:lnTo>
                <a:lnTo>
                  <a:pt x="1546" y="0"/>
                </a:lnTo>
                <a:lnTo>
                  <a:pt x="893" y="593"/>
                </a:lnTo>
                <a:lnTo>
                  <a:pt x="0" y="593"/>
                </a:lnTo>
                <a:close/>
              </a:path>
            </a:pathLst>
          </a:custGeom>
          <a:solidFill>
            <a:schemeClr val="accent1">
              <a:lumMod val="60000"/>
              <a:lumOff val="40000"/>
            </a:schemeClr>
          </a:solidFill>
          <a:ln>
            <a:no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cxnSp>
        <p:nvCxnSpPr>
          <p:cNvPr id="39" name="直接箭头连接符 38"/>
          <p:cNvCxnSpPr/>
          <p:nvPr/>
        </p:nvCxnSpPr>
        <p:spPr>
          <a:xfrm>
            <a:off x="4664710" y="4758690"/>
            <a:ext cx="0" cy="461645"/>
          </a:xfrm>
          <a:prstGeom prst="straightConnector1">
            <a:avLst/>
          </a:prstGeom>
          <a:ln>
            <a:solidFill>
              <a:schemeClr val="tx2"/>
            </a:solidFill>
            <a:tailEnd type="triangle"/>
          </a:ln>
        </p:spPr>
        <p:style>
          <a:lnRef idx="2">
            <a:schemeClr val="accent1"/>
          </a:lnRef>
          <a:fillRef idx="0">
            <a:srgbClr val="FFFFFF"/>
          </a:fillRef>
          <a:effectRef idx="0">
            <a:srgbClr val="FFFFFF"/>
          </a:effectRef>
          <a:fontRef idx="minor">
            <a:schemeClr val="tx1"/>
          </a:fontRef>
        </p:style>
      </p:cxnSp>
      <p:cxnSp>
        <p:nvCxnSpPr>
          <p:cNvPr id="40" name="直接箭头连接符 39"/>
          <p:cNvCxnSpPr/>
          <p:nvPr/>
        </p:nvCxnSpPr>
        <p:spPr>
          <a:xfrm flipV="1">
            <a:off x="4791710" y="4758690"/>
            <a:ext cx="0" cy="461645"/>
          </a:xfrm>
          <a:prstGeom prst="straightConnector1">
            <a:avLst/>
          </a:prstGeom>
          <a:ln>
            <a:solidFill>
              <a:schemeClr val="tx2"/>
            </a:solidFill>
            <a:tailEnd type="triangle"/>
          </a:ln>
        </p:spPr>
        <p:style>
          <a:lnRef idx="2">
            <a:schemeClr val="accent1"/>
          </a:lnRef>
          <a:fillRef idx="0">
            <a:srgbClr val="FFFFFF"/>
          </a:fillRef>
          <a:effectRef idx="0">
            <a:srgbClr val="FFFFFF"/>
          </a:effectRef>
          <a:fontRef idx="minor">
            <a:schemeClr val="tx1"/>
          </a:fontRef>
        </p:style>
      </p:cxnSp>
      <p:cxnSp>
        <p:nvCxnSpPr>
          <p:cNvPr id="2" name="直接箭头连接符 1"/>
          <p:cNvCxnSpPr/>
          <p:nvPr/>
        </p:nvCxnSpPr>
        <p:spPr>
          <a:xfrm>
            <a:off x="4232275" y="2330450"/>
            <a:ext cx="0" cy="1409065"/>
          </a:xfrm>
          <a:prstGeom prst="straightConnector1">
            <a:avLst/>
          </a:prstGeom>
          <a:ln>
            <a:solidFill>
              <a:schemeClr val="tx2"/>
            </a:solidFill>
            <a:tailEnd type="triangle"/>
          </a:ln>
        </p:spPr>
        <p:style>
          <a:lnRef idx="2">
            <a:schemeClr val="accent1"/>
          </a:lnRef>
          <a:fillRef idx="0">
            <a:srgbClr val="FFFFFF"/>
          </a:fillRef>
          <a:effectRef idx="0">
            <a:srgbClr val="FFFFFF"/>
          </a:effectRef>
          <a:fontRef idx="minor">
            <a:schemeClr val="tx1"/>
          </a:fontRef>
        </p:style>
      </p:cxnSp>
      <p:cxnSp>
        <p:nvCxnSpPr>
          <p:cNvPr id="3" name="直接箭头连接符 2"/>
          <p:cNvCxnSpPr/>
          <p:nvPr/>
        </p:nvCxnSpPr>
        <p:spPr>
          <a:xfrm flipV="1">
            <a:off x="4359275" y="2349500"/>
            <a:ext cx="0" cy="1390015"/>
          </a:xfrm>
          <a:prstGeom prst="straightConnector1">
            <a:avLst/>
          </a:prstGeom>
          <a:ln>
            <a:solidFill>
              <a:schemeClr val="tx2"/>
            </a:solidFill>
            <a:tailEnd type="triangle"/>
          </a:ln>
        </p:spPr>
        <p:style>
          <a:lnRef idx="2">
            <a:schemeClr val="accent1"/>
          </a:lnRef>
          <a:fillRef idx="0">
            <a:srgbClr val="FFFFFF"/>
          </a:fillRef>
          <a:effectRef idx="0">
            <a:srgbClr val="FFFFFF"/>
          </a:effectRef>
          <a:fontRef idx="minor">
            <a:schemeClr val="tx1"/>
          </a:fontRef>
        </p:style>
      </p:cxnSp>
      <p:cxnSp>
        <p:nvCxnSpPr>
          <p:cNvPr id="4" name="直接箭头连接符 3"/>
          <p:cNvCxnSpPr/>
          <p:nvPr/>
        </p:nvCxnSpPr>
        <p:spPr>
          <a:xfrm>
            <a:off x="6759575" y="2298700"/>
            <a:ext cx="0" cy="279400"/>
          </a:xfrm>
          <a:prstGeom prst="straightConnector1">
            <a:avLst/>
          </a:prstGeom>
          <a:ln>
            <a:solidFill>
              <a:schemeClr val="tx2"/>
            </a:solidFill>
            <a:tailEnd type="triangle"/>
          </a:ln>
        </p:spPr>
        <p:style>
          <a:lnRef idx="2">
            <a:schemeClr val="accent1"/>
          </a:lnRef>
          <a:fillRef idx="0">
            <a:srgbClr val="FFFFFF"/>
          </a:fillRef>
          <a:effectRef idx="0">
            <a:srgbClr val="FFFFFF"/>
          </a:effectRef>
          <a:fontRef idx="minor">
            <a:schemeClr val="tx1"/>
          </a:fontRef>
        </p:style>
      </p:cxnSp>
      <p:cxnSp>
        <p:nvCxnSpPr>
          <p:cNvPr id="7" name="直接箭头连接符 6"/>
          <p:cNvCxnSpPr/>
          <p:nvPr/>
        </p:nvCxnSpPr>
        <p:spPr>
          <a:xfrm flipV="1">
            <a:off x="6886575" y="2298700"/>
            <a:ext cx="0" cy="273050"/>
          </a:xfrm>
          <a:prstGeom prst="straightConnector1">
            <a:avLst/>
          </a:prstGeom>
          <a:ln>
            <a:solidFill>
              <a:schemeClr val="tx2"/>
            </a:solidFill>
            <a:tailEnd type="triangle"/>
          </a:ln>
        </p:spPr>
        <p:style>
          <a:lnRef idx="2">
            <a:schemeClr val="accent1"/>
          </a:lnRef>
          <a:fillRef idx="0">
            <a:srgbClr val="FFFFFF"/>
          </a:fillRef>
          <a:effectRef idx="0">
            <a:srgbClr val="FFFFFF"/>
          </a:effectRef>
          <a:fontRef idx="minor">
            <a:schemeClr val="tx1"/>
          </a:fontRef>
        </p:style>
      </p:cxnSp>
      <p:cxnSp>
        <p:nvCxnSpPr>
          <p:cNvPr id="13" name="直接箭头连接符 12"/>
          <p:cNvCxnSpPr/>
          <p:nvPr/>
        </p:nvCxnSpPr>
        <p:spPr>
          <a:xfrm>
            <a:off x="8201025" y="3663315"/>
            <a:ext cx="0" cy="1524635"/>
          </a:xfrm>
          <a:prstGeom prst="straightConnector1">
            <a:avLst/>
          </a:prstGeom>
          <a:ln>
            <a:solidFill>
              <a:schemeClr val="tx2"/>
            </a:solidFill>
            <a:tailEnd type="triangle"/>
          </a:ln>
        </p:spPr>
        <p:style>
          <a:lnRef idx="2">
            <a:schemeClr val="accent1"/>
          </a:lnRef>
          <a:fillRef idx="0">
            <a:srgbClr val="FFFFFF"/>
          </a:fillRef>
          <a:effectRef idx="0">
            <a:srgbClr val="FFFFFF"/>
          </a:effectRef>
          <a:fontRef idx="minor">
            <a:schemeClr val="tx1"/>
          </a:fontRef>
        </p:style>
      </p:cxnSp>
      <p:cxnSp>
        <p:nvCxnSpPr>
          <p:cNvPr id="23" name="直接箭头连接符 22"/>
          <p:cNvCxnSpPr/>
          <p:nvPr/>
        </p:nvCxnSpPr>
        <p:spPr>
          <a:xfrm flipV="1">
            <a:off x="8286115" y="3688715"/>
            <a:ext cx="0" cy="1499235"/>
          </a:xfrm>
          <a:prstGeom prst="straightConnector1">
            <a:avLst/>
          </a:prstGeom>
          <a:ln>
            <a:solidFill>
              <a:schemeClr val="tx2"/>
            </a:solidFill>
            <a:tailEnd type="triangle"/>
          </a:ln>
        </p:spPr>
        <p:style>
          <a:lnRef idx="2">
            <a:schemeClr val="accent1"/>
          </a:lnRef>
          <a:fillRef idx="0">
            <a:srgbClr val="FFFFFF"/>
          </a:fillRef>
          <a:effectRef idx="0">
            <a:srgbClr val="FFFFFF"/>
          </a:effectRef>
          <a:fontRef idx="minor">
            <a:schemeClr val="tx1"/>
          </a:fontRef>
        </p:style>
      </p:cxnSp>
      <p:cxnSp>
        <p:nvCxnSpPr>
          <p:cNvPr id="24" name="直接箭头连接符 23"/>
          <p:cNvCxnSpPr/>
          <p:nvPr/>
        </p:nvCxnSpPr>
        <p:spPr>
          <a:xfrm>
            <a:off x="6646545" y="4740275"/>
            <a:ext cx="0" cy="464185"/>
          </a:xfrm>
          <a:prstGeom prst="straightConnector1">
            <a:avLst/>
          </a:prstGeom>
          <a:ln>
            <a:solidFill>
              <a:schemeClr val="tx2"/>
            </a:solidFill>
            <a:tailEnd type="triangle"/>
          </a:ln>
        </p:spPr>
        <p:style>
          <a:lnRef idx="2">
            <a:schemeClr val="accent1"/>
          </a:lnRef>
          <a:fillRef idx="0">
            <a:srgbClr val="FFFFFF"/>
          </a:fillRef>
          <a:effectRef idx="0">
            <a:srgbClr val="FFFFFF"/>
          </a:effectRef>
          <a:fontRef idx="minor">
            <a:schemeClr val="tx1"/>
          </a:fontRef>
        </p:style>
      </p:cxnSp>
      <p:cxnSp>
        <p:nvCxnSpPr>
          <p:cNvPr id="30" name="直接箭头连接符 29"/>
          <p:cNvCxnSpPr/>
          <p:nvPr/>
        </p:nvCxnSpPr>
        <p:spPr>
          <a:xfrm flipV="1">
            <a:off x="6718300" y="4727575"/>
            <a:ext cx="0" cy="496570"/>
          </a:xfrm>
          <a:prstGeom prst="straightConnector1">
            <a:avLst/>
          </a:prstGeom>
          <a:ln>
            <a:solidFill>
              <a:schemeClr val="tx2"/>
            </a:solidFill>
            <a:tailEnd type="triangle"/>
          </a:ln>
        </p:spPr>
        <p:style>
          <a:lnRef idx="2">
            <a:schemeClr val="accent1"/>
          </a:lnRef>
          <a:fillRef idx="0">
            <a:srgbClr val="FFFFFF"/>
          </a:fillRef>
          <a:effectRef idx="0">
            <a:srgbClr val="FFFFFF"/>
          </a:effectRef>
          <a:fontRef idx="minor">
            <a:schemeClr val="tx1"/>
          </a:fontRef>
        </p:style>
      </p:cxnSp>
      <p:cxnSp>
        <p:nvCxnSpPr>
          <p:cNvPr id="38" name="直接箭头连接符 37"/>
          <p:cNvCxnSpPr/>
          <p:nvPr/>
        </p:nvCxnSpPr>
        <p:spPr>
          <a:xfrm>
            <a:off x="6632575" y="3530600"/>
            <a:ext cx="0" cy="279400"/>
          </a:xfrm>
          <a:prstGeom prst="straightConnector1">
            <a:avLst/>
          </a:prstGeom>
          <a:ln>
            <a:solidFill>
              <a:schemeClr val="tx2"/>
            </a:solidFill>
            <a:tailEnd type="triangle"/>
          </a:ln>
        </p:spPr>
        <p:style>
          <a:lnRef idx="2">
            <a:schemeClr val="accent1"/>
          </a:lnRef>
          <a:fillRef idx="0">
            <a:srgbClr val="FFFFFF"/>
          </a:fillRef>
          <a:effectRef idx="0">
            <a:srgbClr val="FFFFFF"/>
          </a:effectRef>
          <a:fontRef idx="minor">
            <a:schemeClr val="tx1"/>
          </a:fontRef>
        </p:style>
      </p:cxnSp>
      <p:cxnSp>
        <p:nvCxnSpPr>
          <p:cNvPr id="41" name="直接箭头连接符 40"/>
          <p:cNvCxnSpPr/>
          <p:nvPr/>
        </p:nvCxnSpPr>
        <p:spPr>
          <a:xfrm flipV="1">
            <a:off x="6759575" y="3530600"/>
            <a:ext cx="0" cy="273050"/>
          </a:xfrm>
          <a:prstGeom prst="straightConnector1">
            <a:avLst/>
          </a:prstGeom>
          <a:ln>
            <a:solidFill>
              <a:schemeClr val="tx2"/>
            </a:solidFill>
            <a:tailEnd type="triangle"/>
          </a:ln>
        </p:spPr>
        <p:style>
          <a:lnRef idx="2">
            <a:schemeClr val="accent1"/>
          </a:lnRef>
          <a:fillRef idx="0">
            <a:srgbClr val="FFFFFF"/>
          </a:fillRef>
          <a:effectRef idx="0">
            <a:srgbClr val="FFFFFF"/>
          </a:effectRef>
          <a:fontRef idx="minor">
            <a:schemeClr val="tx1"/>
          </a:fontRef>
        </p:style>
      </p:cxnSp>
      <p:cxnSp>
        <p:nvCxnSpPr>
          <p:cNvPr id="48" name="肘形连接符 47"/>
          <p:cNvCxnSpPr/>
          <p:nvPr/>
        </p:nvCxnSpPr>
        <p:spPr>
          <a:xfrm rot="5400000">
            <a:off x="5737225" y="3140075"/>
            <a:ext cx="1746250" cy="2527300"/>
          </a:xfrm>
          <a:prstGeom prst="bentConnector3">
            <a:avLst>
              <a:gd name="adj1" fmla="val 84909"/>
            </a:avLst>
          </a:prstGeom>
          <a:ln>
            <a:solidFill>
              <a:schemeClr val="tx2"/>
            </a:solidFill>
            <a:headEnd type="triangle" w="med" len="med"/>
            <a:tailEnd type="none"/>
          </a:ln>
        </p:spPr>
        <p:style>
          <a:lnRef idx="2">
            <a:schemeClr val="accent1"/>
          </a:lnRef>
          <a:fillRef idx="0">
            <a:srgbClr val="FFFFFF"/>
          </a:fillRef>
          <a:effectRef idx="0">
            <a:srgbClr val="FFFFFF"/>
          </a:effectRef>
          <a:fontRef idx="minor">
            <a:schemeClr val="tx1"/>
          </a:fontRef>
        </p:style>
      </p:cxnSp>
      <p:sp>
        <p:nvSpPr>
          <p:cNvPr id="49" name="文本框 48"/>
          <p:cNvSpPr txBox="1"/>
          <p:nvPr/>
        </p:nvSpPr>
        <p:spPr>
          <a:xfrm>
            <a:off x="4546600" y="1761490"/>
            <a:ext cx="512445" cy="337185"/>
          </a:xfrm>
          <a:prstGeom prst="rect">
            <a:avLst/>
          </a:prstGeom>
          <a:noFill/>
          <a:scene3d>
            <a:camera prst="orthographicFront">
              <a:rot lat="0" lon="0" rev="0"/>
            </a:camera>
            <a:lightRig rig="threePt" dir="t"/>
          </a:scene3d>
        </p:spPr>
        <p:txBody>
          <a:bodyPr wrap="square" rtlCol="0">
            <a:spAutoFit/>
          </a:bodyPr>
          <a:p>
            <a:pPr algn="ctr"/>
            <a:r>
              <a:rPr lang="zh-CN" sz="800" i="1">
                <a:solidFill>
                  <a:schemeClr val="bg1"/>
                </a:solidFill>
                <a:latin typeface="微软雅黑" panose="020B0503020204020204" charset="-122"/>
                <a:ea typeface="微软雅黑" panose="020B0503020204020204" charset="-122"/>
                <a:cs typeface="微软雅黑" panose="020B0503020204020204" charset="-122"/>
              </a:rPr>
              <a:t>生态协同优势</a:t>
            </a:r>
            <a:endParaRPr lang="zh-CN" sz="800" i="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0" name="文本框 49"/>
          <p:cNvSpPr txBox="1"/>
          <p:nvPr/>
        </p:nvSpPr>
        <p:spPr>
          <a:xfrm>
            <a:off x="5224780" y="1768475"/>
            <a:ext cx="512445" cy="337185"/>
          </a:xfrm>
          <a:prstGeom prst="rect">
            <a:avLst/>
          </a:prstGeom>
          <a:noFill/>
          <a:scene3d>
            <a:camera prst="orthographicFront">
              <a:rot lat="0" lon="0" rev="0"/>
            </a:camera>
            <a:lightRig rig="threePt" dir="t"/>
          </a:scene3d>
        </p:spPr>
        <p:txBody>
          <a:bodyPr wrap="square" rtlCol="0">
            <a:spAutoFit/>
          </a:bodyPr>
          <a:p>
            <a:pPr algn="ctr"/>
            <a:r>
              <a:rPr lang="zh-CN" sz="800" i="1">
                <a:solidFill>
                  <a:schemeClr val="bg1"/>
                </a:solidFill>
                <a:latin typeface="微软雅黑" panose="020B0503020204020204" charset="-122"/>
                <a:ea typeface="微软雅黑" panose="020B0503020204020204" charset="-122"/>
                <a:cs typeface="微软雅黑" panose="020B0503020204020204" charset="-122"/>
              </a:rPr>
              <a:t>全新业务场景</a:t>
            </a:r>
            <a:endParaRPr lang="zh-CN" sz="800" i="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1" name="文本框 50"/>
          <p:cNvSpPr txBox="1"/>
          <p:nvPr/>
        </p:nvSpPr>
        <p:spPr>
          <a:xfrm>
            <a:off x="5910580" y="1768475"/>
            <a:ext cx="512445" cy="337185"/>
          </a:xfrm>
          <a:prstGeom prst="rect">
            <a:avLst/>
          </a:prstGeom>
          <a:noFill/>
          <a:scene3d>
            <a:camera prst="orthographicFront">
              <a:rot lat="0" lon="0" rev="0"/>
            </a:camera>
            <a:lightRig rig="threePt" dir="t"/>
          </a:scene3d>
        </p:spPr>
        <p:txBody>
          <a:bodyPr wrap="square" rtlCol="0">
            <a:spAutoFit/>
          </a:bodyPr>
          <a:p>
            <a:pPr algn="ctr"/>
            <a:r>
              <a:rPr lang="zh-CN" sz="800" i="1">
                <a:solidFill>
                  <a:schemeClr val="bg1"/>
                </a:solidFill>
                <a:latin typeface="微软雅黑" panose="020B0503020204020204" charset="-122"/>
                <a:ea typeface="微软雅黑" panose="020B0503020204020204" charset="-122"/>
                <a:cs typeface="微软雅黑" panose="020B0503020204020204" charset="-122"/>
              </a:rPr>
              <a:t>数据资产变现</a:t>
            </a:r>
            <a:endParaRPr lang="zh-CN" sz="800" i="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2" name="文本框 51"/>
          <p:cNvSpPr txBox="1"/>
          <p:nvPr/>
        </p:nvSpPr>
        <p:spPr>
          <a:xfrm>
            <a:off x="6372860" y="2699385"/>
            <a:ext cx="2128520" cy="245110"/>
          </a:xfrm>
          <a:prstGeom prst="rect">
            <a:avLst/>
          </a:prstGeom>
          <a:noFill/>
          <a:scene3d>
            <a:camera prst="orthographicFront">
              <a:rot lat="0" lon="0" rev="0"/>
            </a:camera>
            <a:lightRig rig="threePt" dir="t"/>
          </a:scene3d>
        </p:spPr>
        <p:txBody>
          <a:bodyPr wrap="square" rtlCol="0">
            <a:spAutoFit/>
          </a:bodyPr>
          <a:p>
            <a:pPr lvl="0" algn="l">
              <a:buClrTx/>
              <a:buSzTx/>
              <a:buFontTx/>
            </a:pPr>
            <a:r>
              <a:rPr lang="zh-CN" altLang="en-US" sz="1000" b="1">
                <a:solidFill>
                  <a:schemeClr val="tx2"/>
                </a:solidFill>
                <a:latin typeface="微软雅黑" panose="020B0503020204020204" charset="-122"/>
                <a:ea typeface="微软雅黑" panose="020B0503020204020204" charset="-122"/>
                <a:cs typeface="微软雅黑" panose="020B0503020204020204" charset="-122"/>
                <a:sym typeface="+mn-ea"/>
              </a:rPr>
              <a:t>第二曲线突破</a:t>
            </a:r>
            <a:r>
              <a:rPr lang="en-US" altLang="zh-CN" sz="1000" b="1">
                <a:solidFill>
                  <a:schemeClr val="tx2"/>
                </a:solidFill>
                <a:latin typeface="微软雅黑" panose="020B0503020204020204" charset="-122"/>
                <a:ea typeface="微软雅黑" panose="020B0503020204020204" charset="-122"/>
                <a:cs typeface="微软雅黑" panose="020B0503020204020204" charset="-122"/>
                <a:sym typeface="+mn-ea"/>
              </a:rPr>
              <a:t> / </a:t>
            </a:r>
            <a:r>
              <a:rPr lang="zh-CN" altLang="en-US" sz="1000" b="1">
                <a:solidFill>
                  <a:schemeClr val="tx2"/>
                </a:solidFill>
                <a:latin typeface="微软雅黑" panose="020B0503020204020204" charset="-122"/>
                <a:ea typeface="微软雅黑" panose="020B0503020204020204" charset="-122"/>
                <a:cs typeface="微软雅黑" panose="020B0503020204020204" charset="-122"/>
                <a:sym typeface="+mn-ea"/>
              </a:rPr>
              <a:t>数字化价值捕获</a:t>
            </a:r>
            <a:endParaRPr lang="zh-CN" altLang="en-US" sz="1000" b="1">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53" name="文本框 52"/>
          <p:cNvSpPr txBox="1"/>
          <p:nvPr/>
        </p:nvSpPr>
        <p:spPr>
          <a:xfrm>
            <a:off x="5777230" y="3017520"/>
            <a:ext cx="512445" cy="337185"/>
          </a:xfrm>
          <a:prstGeom prst="rect">
            <a:avLst/>
          </a:prstGeom>
          <a:noFill/>
          <a:scene3d>
            <a:camera prst="orthographicFront">
              <a:rot lat="0" lon="0" rev="0"/>
            </a:camera>
            <a:lightRig rig="threePt" dir="t"/>
          </a:scene3d>
        </p:spPr>
        <p:txBody>
          <a:bodyPr wrap="square" rtlCol="0">
            <a:spAutoFit/>
          </a:bodyPr>
          <a:p>
            <a:pPr algn="ctr"/>
            <a:r>
              <a:rPr lang="zh-CN" sz="800" i="1">
                <a:solidFill>
                  <a:schemeClr val="bg1"/>
                </a:solidFill>
                <a:latin typeface="微软雅黑" panose="020B0503020204020204" charset="-122"/>
                <a:ea typeface="微软雅黑" panose="020B0503020204020204" charset="-122"/>
                <a:cs typeface="微软雅黑" panose="020B0503020204020204" charset="-122"/>
              </a:rPr>
              <a:t>业务数字化</a:t>
            </a:r>
            <a:endParaRPr lang="zh-CN" sz="800" i="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6453505" y="3017520"/>
            <a:ext cx="512445" cy="337185"/>
          </a:xfrm>
          <a:prstGeom prst="rect">
            <a:avLst/>
          </a:prstGeom>
          <a:noFill/>
          <a:scene3d>
            <a:camera prst="orthographicFront">
              <a:rot lat="0" lon="0" rev="0"/>
            </a:camera>
            <a:lightRig rig="threePt" dir="t"/>
          </a:scene3d>
        </p:spPr>
        <p:txBody>
          <a:bodyPr wrap="square" rtlCol="0">
            <a:spAutoFit/>
          </a:bodyPr>
          <a:p>
            <a:pPr algn="ctr"/>
            <a:r>
              <a:rPr lang="zh-CN" sz="800" i="1">
                <a:solidFill>
                  <a:schemeClr val="bg1"/>
                </a:solidFill>
                <a:latin typeface="微软雅黑" panose="020B0503020204020204" charset="-122"/>
                <a:ea typeface="微软雅黑" panose="020B0503020204020204" charset="-122"/>
                <a:cs typeface="微软雅黑" panose="020B0503020204020204" charset="-122"/>
              </a:rPr>
              <a:t>服务化转型</a:t>
            </a:r>
            <a:endParaRPr lang="zh-CN" sz="800" i="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5" name="文本框 54"/>
          <p:cNvSpPr txBox="1"/>
          <p:nvPr/>
        </p:nvSpPr>
        <p:spPr>
          <a:xfrm>
            <a:off x="4511040" y="3873500"/>
            <a:ext cx="2170430" cy="245110"/>
          </a:xfrm>
          <a:prstGeom prst="rect">
            <a:avLst/>
          </a:prstGeom>
          <a:noFill/>
          <a:scene3d>
            <a:camera prst="orthographicFront">
              <a:rot lat="0" lon="0" rev="0"/>
            </a:camera>
            <a:lightRig rig="threePt" dir="t"/>
          </a:scene3d>
        </p:spPr>
        <p:txBody>
          <a:bodyPr wrap="square" rtlCol="0">
            <a:spAutoFit/>
          </a:bodyPr>
          <a:p>
            <a:r>
              <a:rPr lang="zh-CN" altLang="en-US" sz="1000" b="1">
                <a:solidFill>
                  <a:schemeClr val="tx2"/>
                </a:solidFill>
                <a:latin typeface="微软雅黑" panose="020B0503020204020204" charset="-122"/>
                <a:ea typeface="微软雅黑" panose="020B0503020204020204" charset="-122"/>
                <a:cs typeface="微软雅黑" panose="020B0503020204020204" charset="-122"/>
              </a:rPr>
              <a:t>数字能力基座</a:t>
            </a:r>
            <a:r>
              <a:rPr lang="en-US" altLang="zh-CN" sz="1000" b="1">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价值重构引擎</a:t>
            </a:r>
            <a:endParaRPr lang="zh-CN" altLang="en-US" sz="10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6" name="文本框 55"/>
          <p:cNvSpPr txBox="1"/>
          <p:nvPr/>
        </p:nvSpPr>
        <p:spPr>
          <a:xfrm>
            <a:off x="3397250" y="4198620"/>
            <a:ext cx="548640" cy="275590"/>
          </a:xfrm>
          <a:prstGeom prst="rect">
            <a:avLst/>
          </a:prstGeom>
          <a:noFill/>
          <a:scene3d>
            <a:camera prst="orthographicFront">
              <a:rot lat="0" lon="0" rev="0"/>
            </a:camera>
            <a:lightRig rig="threePt" dir="t"/>
          </a:scene3d>
        </p:spPr>
        <p:txBody>
          <a:bodyPr wrap="square" rtlCol="0">
            <a:spAutoFit/>
          </a:bodyPr>
          <a:p>
            <a:pPr algn="ctr"/>
            <a:r>
              <a:rPr lang="zh-CN" altLang="en-US" sz="600" i="1">
                <a:solidFill>
                  <a:schemeClr val="bg1"/>
                </a:solidFill>
                <a:latin typeface="微软雅黑" panose="020B0503020204020204" charset="-122"/>
                <a:ea typeface="微软雅黑" panose="020B0503020204020204" charset="-122"/>
                <a:cs typeface="微软雅黑" panose="020B0503020204020204" charset="-122"/>
              </a:rPr>
              <a:t>数据中台支撑能力</a:t>
            </a:r>
            <a:endParaRPr lang="zh-CN" altLang="en-US" sz="600" i="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7" name="任意多边形 56"/>
          <p:cNvSpPr/>
          <p:nvPr/>
        </p:nvSpPr>
        <p:spPr>
          <a:xfrm>
            <a:off x="3938270" y="5638165"/>
            <a:ext cx="807720"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546" h="593">
                <a:moveTo>
                  <a:pt x="0" y="593"/>
                </a:moveTo>
                <a:lnTo>
                  <a:pt x="653" y="0"/>
                </a:lnTo>
                <a:lnTo>
                  <a:pt x="1546" y="0"/>
                </a:lnTo>
                <a:lnTo>
                  <a:pt x="893" y="593"/>
                </a:lnTo>
                <a:lnTo>
                  <a:pt x="0" y="593"/>
                </a:lnTo>
                <a:close/>
              </a:path>
            </a:pathLst>
          </a:custGeom>
          <a:solidFill>
            <a:schemeClr val="accent1">
              <a:lumMod val="60000"/>
              <a:lumOff val="40000"/>
            </a:schemeClr>
          </a:solidFill>
          <a:ln>
            <a:no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58" name="任意多边形 57"/>
          <p:cNvSpPr/>
          <p:nvPr/>
        </p:nvSpPr>
        <p:spPr>
          <a:xfrm>
            <a:off x="4427855" y="5638165"/>
            <a:ext cx="807720"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546" h="593">
                <a:moveTo>
                  <a:pt x="0" y="593"/>
                </a:moveTo>
                <a:lnTo>
                  <a:pt x="653" y="0"/>
                </a:lnTo>
                <a:lnTo>
                  <a:pt x="1546" y="0"/>
                </a:lnTo>
                <a:lnTo>
                  <a:pt x="893" y="593"/>
                </a:lnTo>
                <a:lnTo>
                  <a:pt x="0" y="593"/>
                </a:lnTo>
                <a:close/>
              </a:path>
            </a:pathLst>
          </a:custGeom>
          <a:solidFill>
            <a:schemeClr val="accent1">
              <a:lumMod val="60000"/>
              <a:lumOff val="40000"/>
            </a:schemeClr>
          </a:solidFill>
          <a:ln>
            <a:no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59" name="任意多边形 58"/>
          <p:cNvSpPr/>
          <p:nvPr/>
        </p:nvSpPr>
        <p:spPr>
          <a:xfrm>
            <a:off x="4917440" y="5645150"/>
            <a:ext cx="807720"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546" h="593">
                <a:moveTo>
                  <a:pt x="0" y="593"/>
                </a:moveTo>
                <a:lnTo>
                  <a:pt x="653" y="0"/>
                </a:lnTo>
                <a:lnTo>
                  <a:pt x="1546" y="0"/>
                </a:lnTo>
                <a:lnTo>
                  <a:pt x="893" y="593"/>
                </a:lnTo>
                <a:lnTo>
                  <a:pt x="0" y="593"/>
                </a:lnTo>
                <a:close/>
              </a:path>
            </a:pathLst>
          </a:custGeom>
          <a:solidFill>
            <a:schemeClr val="accent1">
              <a:lumMod val="60000"/>
              <a:lumOff val="40000"/>
            </a:schemeClr>
          </a:solidFill>
          <a:ln>
            <a:no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60" name="文本框 59"/>
          <p:cNvSpPr txBox="1"/>
          <p:nvPr/>
        </p:nvSpPr>
        <p:spPr>
          <a:xfrm>
            <a:off x="3902710" y="5352415"/>
            <a:ext cx="1815465" cy="245110"/>
          </a:xfrm>
          <a:prstGeom prst="rect">
            <a:avLst/>
          </a:prstGeom>
          <a:noFill/>
          <a:scene3d>
            <a:camera prst="orthographicFront">
              <a:rot lat="0" lon="0" rev="0"/>
            </a:camera>
            <a:lightRig rig="threePt" dir="t"/>
          </a:scene3d>
        </p:spPr>
        <p:txBody>
          <a:bodyPr wrap="square" rtlCol="0">
            <a:spAutoFit/>
          </a:bodyPr>
          <a:p>
            <a:pPr algn="ct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数字技术栈</a:t>
            </a:r>
            <a:r>
              <a:rPr lang="en-US" altLang="zh-CN" sz="1000" b="1">
                <a:solidFill>
                  <a:schemeClr val="tx2"/>
                </a:solidFill>
                <a:latin typeface="微软雅黑" panose="020B0503020204020204" charset="-122"/>
                <a:ea typeface="微软雅黑" panose="020B0503020204020204" charset="-122"/>
                <a:cs typeface="微软雅黑" panose="020B0503020204020204" charset="-122"/>
              </a:rPr>
              <a:t> / </a:t>
            </a: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转型赋能体系</a:t>
            </a:r>
            <a:endParaRPr lang="zh-CN" altLang="en-US" sz="10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1" name="文本框 60"/>
          <p:cNvSpPr txBox="1"/>
          <p:nvPr/>
        </p:nvSpPr>
        <p:spPr>
          <a:xfrm>
            <a:off x="3557270" y="5650230"/>
            <a:ext cx="512445" cy="337185"/>
          </a:xfrm>
          <a:prstGeom prst="rect">
            <a:avLst/>
          </a:prstGeom>
          <a:noFill/>
          <a:scene3d>
            <a:camera prst="orthographicFront">
              <a:rot lat="0" lon="0" rev="0"/>
            </a:camera>
            <a:lightRig rig="threePt" dir="t"/>
          </a:scene3d>
        </p:spPr>
        <p:txBody>
          <a:bodyPr wrap="square" rtlCol="0">
            <a:spAutoFit/>
          </a:bodyPr>
          <a:p>
            <a:pPr algn="ctr"/>
            <a:r>
              <a:rPr lang="en-US" altLang="zh-CN" sz="800" i="1">
                <a:solidFill>
                  <a:schemeClr val="bg1"/>
                </a:solidFill>
                <a:latin typeface="微软雅黑" panose="020B0503020204020204" charset="-122"/>
                <a:ea typeface="微软雅黑" panose="020B0503020204020204" charset="-122"/>
                <a:cs typeface="微软雅黑" panose="020B0503020204020204" charset="-122"/>
              </a:rPr>
              <a:t>    </a:t>
            </a:r>
            <a:r>
              <a:rPr lang="zh-CN" sz="800" i="1">
                <a:solidFill>
                  <a:schemeClr val="bg1"/>
                </a:solidFill>
                <a:latin typeface="微软雅黑" panose="020B0503020204020204" charset="-122"/>
                <a:ea typeface="微软雅黑" panose="020B0503020204020204" charset="-122"/>
                <a:cs typeface="微软雅黑" panose="020B0503020204020204" charset="-122"/>
              </a:rPr>
              <a:t>实时</a:t>
            </a:r>
            <a:endParaRPr lang="zh-CN" sz="800" i="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sz="800" i="1">
                <a:solidFill>
                  <a:schemeClr val="bg1"/>
                </a:solidFill>
                <a:latin typeface="微软雅黑" panose="020B0503020204020204" charset="-122"/>
                <a:ea typeface="微软雅黑" panose="020B0503020204020204" charset="-122"/>
                <a:cs typeface="微软雅黑" panose="020B0503020204020204" charset="-122"/>
              </a:rPr>
              <a:t>数据</a:t>
            </a:r>
            <a:endParaRPr lang="zh-CN" sz="800" i="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62" name="文本框 61"/>
          <p:cNvSpPr txBox="1"/>
          <p:nvPr/>
        </p:nvSpPr>
        <p:spPr>
          <a:xfrm>
            <a:off x="4047490" y="5650230"/>
            <a:ext cx="512445" cy="337185"/>
          </a:xfrm>
          <a:prstGeom prst="rect">
            <a:avLst/>
          </a:prstGeom>
          <a:noFill/>
          <a:scene3d>
            <a:camera prst="orthographicFront">
              <a:rot lat="0" lon="0" rev="0"/>
            </a:camera>
            <a:lightRig rig="threePt" dir="t"/>
          </a:scene3d>
        </p:spPr>
        <p:txBody>
          <a:bodyPr wrap="square" rtlCol="0">
            <a:spAutoFit/>
          </a:bodyPr>
          <a:p>
            <a:pPr lvl="0" algn="ctr">
              <a:buClrTx/>
              <a:buSzTx/>
              <a:buFontTx/>
            </a:pPr>
            <a:r>
              <a:rPr lang="en-US" altLang="zh-CN" sz="800" i="1">
                <a:solidFill>
                  <a:schemeClr val="bg1"/>
                </a:solidFill>
                <a:latin typeface="微软雅黑" panose="020B0503020204020204" charset="-122"/>
                <a:ea typeface="微软雅黑" panose="020B0503020204020204" charset="-122"/>
                <a:cs typeface="微软雅黑" panose="020B0503020204020204" charset="-122"/>
                <a:sym typeface="+mn-ea"/>
              </a:rPr>
              <a:t>    </a:t>
            </a:r>
            <a:r>
              <a:rPr lang="en-US" altLang="zh-CN" sz="800" i="1">
                <a:solidFill>
                  <a:schemeClr val="bg1"/>
                </a:solidFill>
                <a:latin typeface="微软雅黑" panose="020B0503020204020204" charset="-122"/>
                <a:ea typeface="微软雅黑" panose="020B0503020204020204" charset="-122"/>
                <a:cs typeface="微软雅黑" panose="020B0503020204020204" charset="-122"/>
                <a:sym typeface="+mn-ea"/>
              </a:rPr>
              <a:t>数据</a:t>
            </a:r>
            <a:endParaRPr lang="en-US" altLang="zh-CN" sz="800" i="1">
              <a:solidFill>
                <a:schemeClr val="bg1"/>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en-US" altLang="zh-CN" sz="800" i="1">
                <a:solidFill>
                  <a:schemeClr val="bg1"/>
                </a:solidFill>
                <a:latin typeface="微软雅黑" panose="020B0503020204020204" charset="-122"/>
                <a:ea typeface="微软雅黑" panose="020B0503020204020204" charset="-122"/>
                <a:cs typeface="微软雅黑" panose="020B0503020204020204" charset="-122"/>
                <a:sym typeface="+mn-ea"/>
              </a:rPr>
              <a:t>孪生</a:t>
            </a:r>
            <a:endParaRPr lang="en-US" altLang="zh-CN" sz="800" i="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63" name="文本框 62"/>
          <p:cNvSpPr txBox="1"/>
          <p:nvPr/>
        </p:nvSpPr>
        <p:spPr>
          <a:xfrm>
            <a:off x="4537710" y="5650230"/>
            <a:ext cx="512445" cy="337185"/>
          </a:xfrm>
          <a:prstGeom prst="rect">
            <a:avLst/>
          </a:prstGeom>
          <a:noFill/>
          <a:scene3d>
            <a:camera prst="orthographicFront">
              <a:rot lat="0" lon="0" rev="0"/>
            </a:camera>
            <a:lightRig rig="threePt" dir="t"/>
          </a:scene3d>
        </p:spPr>
        <p:txBody>
          <a:bodyPr wrap="square" rtlCol="0">
            <a:spAutoFit/>
          </a:bodyPr>
          <a:p>
            <a:pPr lvl="0" algn="ctr">
              <a:buClrTx/>
              <a:buSzTx/>
              <a:buFontTx/>
            </a:pPr>
            <a:r>
              <a:rPr lang="en-US" altLang="zh-CN" sz="800" i="1">
                <a:solidFill>
                  <a:schemeClr val="bg1"/>
                </a:solidFill>
                <a:latin typeface="微软雅黑" panose="020B0503020204020204" charset="-122"/>
                <a:ea typeface="微软雅黑" panose="020B0503020204020204" charset="-122"/>
                <a:cs typeface="微软雅黑" panose="020B0503020204020204" charset="-122"/>
                <a:sym typeface="+mn-ea"/>
              </a:rPr>
              <a:t>   RPA</a:t>
            </a:r>
            <a:endParaRPr lang="en-US" altLang="zh-CN" sz="800" i="1">
              <a:solidFill>
                <a:schemeClr val="bg1"/>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en-US" altLang="zh-CN" sz="800" i="1">
                <a:solidFill>
                  <a:schemeClr val="bg1"/>
                </a:solidFill>
                <a:latin typeface="微软雅黑" panose="020B0503020204020204" charset="-122"/>
                <a:ea typeface="微软雅黑" panose="020B0503020204020204" charset="-122"/>
                <a:cs typeface="微软雅黑" panose="020B0503020204020204" charset="-122"/>
                <a:sym typeface="+mn-ea"/>
              </a:rPr>
              <a:t>自动化</a:t>
            </a:r>
            <a:endParaRPr lang="en-US" altLang="zh-CN" sz="800" i="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64" name="文本框 63"/>
          <p:cNvSpPr txBox="1"/>
          <p:nvPr/>
        </p:nvSpPr>
        <p:spPr>
          <a:xfrm>
            <a:off x="5053330" y="5678170"/>
            <a:ext cx="512445" cy="337185"/>
          </a:xfrm>
          <a:prstGeom prst="rect">
            <a:avLst/>
          </a:prstGeom>
          <a:noFill/>
          <a:scene3d>
            <a:camera prst="orthographicFront">
              <a:rot lat="0" lon="0" rev="0"/>
            </a:camera>
            <a:lightRig rig="threePt" dir="t"/>
          </a:scene3d>
        </p:spPr>
        <p:txBody>
          <a:bodyPr wrap="square" rtlCol="0">
            <a:spAutoFit/>
          </a:bodyPr>
          <a:p>
            <a:pPr lvl="0" algn="ctr">
              <a:buClrTx/>
              <a:buSzTx/>
              <a:buFontTx/>
            </a:pPr>
            <a:r>
              <a:rPr lang="en-US" altLang="zh-CN" sz="800" i="1">
                <a:solidFill>
                  <a:schemeClr val="bg1"/>
                </a:solidFill>
                <a:latin typeface="微软雅黑" panose="020B0503020204020204" charset="-122"/>
                <a:ea typeface="微软雅黑" panose="020B0503020204020204" charset="-122"/>
                <a:cs typeface="微软雅黑" panose="020B0503020204020204" charset="-122"/>
                <a:sym typeface="+mn-ea"/>
              </a:rPr>
              <a:t>平台型组织</a:t>
            </a:r>
            <a:endParaRPr lang="en-US" altLang="zh-CN" sz="800" i="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75" name="文本框 74"/>
          <p:cNvSpPr txBox="1"/>
          <p:nvPr/>
        </p:nvSpPr>
        <p:spPr>
          <a:xfrm>
            <a:off x="3846195" y="2754630"/>
            <a:ext cx="512445" cy="213995"/>
          </a:xfrm>
          <a:prstGeom prst="rect">
            <a:avLst/>
          </a:prstGeom>
          <a:noFill/>
          <a:ln>
            <a:noFill/>
          </a:ln>
          <a:scene3d>
            <a:camera prst="orthographicFront">
              <a:rot lat="0" lon="0" rev="0"/>
            </a:camera>
            <a:lightRig rig="threePt" dir="t"/>
          </a:scene3d>
        </p:spPr>
        <p:txBody>
          <a:bodyPr wrap="square" rtlCol="0">
            <a:spAutoFit/>
          </a:bodyPr>
          <a:p>
            <a:pPr algn="ctr"/>
            <a:r>
              <a:rPr lang="zh-CN" sz="800">
                <a:solidFill>
                  <a:schemeClr val="tx1"/>
                </a:solidFill>
                <a:latin typeface="微软雅黑" panose="020B0503020204020204" charset="-122"/>
                <a:ea typeface="微软雅黑" panose="020B0503020204020204" charset="-122"/>
                <a:cs typeface="微软雅黑" panose="020B0503020204020204" charset="-122"/>
              </a:rPr>
              <a:t>需求</a:t>
            </a:r>
            <a:endParaRPr lang="zh-CN" sz="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76" name="文本框 75"/>
          <p:cNvSpPr txBox="1"/>
          <p:nvPr/>
        </p:nvSpPr>
        <p:spPr>
          <a:xfrm>
            <a:off x="4219575" y="2881630"/>
            <a:ext cx="512445" cy="213995"/>
          </a:xfrm>
          <a:prstGeom prst="rect">
            <a:avLst/>
          </a:prstGeom>
          <a:noFill/>
          <a:ln>
            <a:noFill/>
          </a:ln>
          <a:scene3d>
            <a:camera prst="orthographicFront">
              <a:rot lat="0" lon="0" rev="0"/>
            </a:camera>
            <a:lightRig rig="threePt" dir="t"/>
          </a:scene3d>
        </p:spPr>
        <p:txBody>
          <a:bodyPr wrap="square" rtlCol="0">
            <a:spAutoFit/>
          </a:bodyPr>
          <a:p>
            <a:pPr algn="ctr"/>
            <a:r>
              <a:rPr lang="zh-CN" sz="800">
                <a:solidFill>
                  <a:schemeClr val="tx1"/>
                </a:solidFill>
                <a:latin typeface="微软雅黑" panose="020B0503020204020204" charset="-122"/>
                <a:ea typeface="微软雅黑" panose="020B0503020204020204" charset="-122"/>
                <a:cs typeface="微软雅黑" panose="020B0503020204020204" charset="-122"/>
              </a:rPr>
              <a:t>能力</a:t>
            </a:r>
            <a:endParaRPr lang="zh-CN" sz="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77" name="文本框 76"/>
          <p:cNvSpPr txBox="1"/>
          <p:nvPr/>
        </p:nvSpPr>
        <p:spPr>
          <a:xfrm>
            <a:off x="6323330" y="2349500"/>
            <a:ext cx="512445" cy="213995"/>
          </a:xfrm>
          <a:prstGeom prst="rect">
            <a:avLst/>
          </a:prstGeom>
          <a:noFill/>
          <a:ln>
            <a:noFill/>
          </a:ln>
          <a:scene3d>
            <a:camera prst="orthographicFront">
              <a:rot lat="0" lon="0" rev="0"/>
            </a:camera>
            <a:lightRig rig="threePt" dir="t"/>
          </a:scene3d>
        </p:spPr>
        <p:txBody>
          <a:bodyPr wrap="square" rtlCol="0">
            <a:spAutoFit/>
          </a:bodyPr>
          <a:p>
            <a:pPr algn="ctr"/>
            <a:r>
              <a:rPr lang="zh-CN" sz="800">
                <a:solidFill>
                  <a:schemeClr val="tx1"/>
                </a:solidFill>
                <a:latin typeface="微软雅黑" panose="020B0503020204020204" charset="-122"/>
                <a:ea typeface="微软雅黑" panose="020B0503020204020204" charset="-122"/>
                <a:cs typeface="微软雅黑" panose="020B0503020204020204" charset="-122"/>
              </a:rPr>
              <a:t>需求</a:t>
            </a:r>
            <a:endParaRPr lang="zh-CN" sz="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78" name="文本框 77"/>
          <p:cNvSpPr txBox="1"/>
          <p:nvPr/>
        </p:nvSpPr>
        <p:spPr>
          <a:xfrm>
            <a:off x="6843395" y="2349500"/>
            <a:ext cx="669290" cy="213995"/>
          </a:xfrm>
          <a:prstGeom prst="rect">
            <a:avLst/>
          </a:prstGeom>
          <a:noFill/>
          <a:scene3d>
            <a:camera prst="orthographicFront">
              <a:rot lat="0" lon="0" rev="0"/>
            </a:camera>
            <a:lightRig rig="threePt" dir="t"/>
          </a:scene3d>
        </p:spPr>
        <p:txBody>
          <a:bodyPr wrap="square" rtlCol="0">
            <a:spAutoFit/>
          </a:bodyPr>
          <a:p>
            <a:pPr algn="ctr"/>
            <a:r>
              <a:rPr lang="zh-CN" sz="800">
                <a:solidFill>
                  <a:schemeClr val="tx1"/>
                </a:solidFill>
                <a:latin typeface="微软雅黑" panose="020B0503020204020204" charset="-122"/>
                <a:ea typeface="微软雅黑" panose="020B0503020204020204" charset="-122"/>
                <a:cs typeface="微软雅黑" panose="020B0503020204020204" charset="-122"/>
              </a:rPr>
              <a:t>价值实现</a:t>
            </a:r>
            <a:endParaRPr lang="zh-CN" sz="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79" name="文本框 78"/>
          <p:cNvSpPr txBox="1"/>
          <p:nvPr/>
        </p:nvSpPr>
        <p:spPr>
          <a:xfrm>
            <a:off x="6205855" y="3563620"/>
            <a:ext cx="512445" cy="213995"/>
          </a:xfrm>
          <a:prstGeom prst="rect">
            <a:avLst/>
          </a:prstGeom>
          <a:noFill/>
          <a:ln>
            <a:noFill/>
          </a:ln>
          <a:scene3d>
            <a:camera prst="orthographicFront">
              <a:rot lat="0" lon="0" rev="0"/>
            </a:camera>
            <a:lightRig rig="threePt" dir="t"/>
          </a:scene3d>
        </p:spPr>
        <p:txBody>
          <a:bodyPr wrap="square" rtlCol="0">
            <a:spAutoFit/>
          </a:bodyPr>
          <a:p>
            <a:pPr algn="ctr"/>
            <a:r>
              <a:rPr lang="zh-CN" sz="800">
                <a:solidFill>
                  <a:schemeClr val="tx1"/>
                </a:solidFill>
                <a:latin typeface="微软雅黑" panose="020B0503020204020204" charset="-122"/>
                <a:ea typeface="微软雅黑" panose="020B0503020204020204" charset="-122"/>
                <a:cs typeface="微软雅黑" panose="020B0503020204020204" charset="-122"/>
              </a:rPr>
              <a:t>需求</a:t>
            </a:r>
            <a:endParaRPr lang="zh-CN" sz="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80" name="文本框 79"/>
          <p:cNvSpPr txBox="1"/>
          <p:nvPr/>
        </p:nvSpPr>
        <p:spPr>
          <a:xfrm>
            <a:off x="6701155" y="3578860"/>
            <a:ext cx="512445" cy="213995"/>
          </a:xfrm>
          <a:prstGeom prst="rect">
            <a:avLst/>
          </a:prstGeom>
          <a:noFill/>
          <a:ln>
            <a:noFill/>
          </a:ln>
          <a:scene3d>
            <a:camera prst="orthographicFront">
              <a:rot lat="0" lon="0" rev="0"/>
            </a:camera>
            <a:lightRig rig="threePt" dir="t"/>
          </a:scene3d>
        </p:spPr>
        <p:txBody>
          <a:bodyPr wrap="square" rtlCol="0">
            <a:spAutoFit/>
          </a:bodyPr>
          <a:p>
            <a:pPr algn="ctr"/>
            <a:r>
              <a:rPr lang="zh-CN" sz="800">
                <a:solidFill>
                  <a:schemeClr val="tx1"/>
                </a:solidFill>
                <a:latin typeface="微软雅黑" panose="020B0503020204020204" charset="-122"/>
                <a:ea typeface="微软雅黑" panose="020B0503020204020204" charset="-122"/>
                <a:cs typeface="微软雅黑" panose="020B0503020204020204" charset="-122"/>
              </a:rPr>
              <a:t>赋能</a:t>
            </a:r>
            <a:endParaRPr lang="zh-CN" sz="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81" name="文本框 80"/>
          <p:cNvSpPr txBox="1"/>
          <p:nvPr/>
        </p:nvSpPr>
        <p:spPr>
          <a:xfrm>
            <a:off x="7821295" y="4027170"/>
            <a:ext cx="512445" cy="213995"/>
          </a:xfrm>
          <a:prstGeom prst="rect">
            <a:avLst/>
          </a:prstGeom>
          <a:noFill/>
          <a:ln>
            <a:noFill/>
          </a:ln>
          <a:scene3d>
            <a:camera prst="orthographicFront">
              <a:rot lat="0" lon="0" rev="0"/>
            </a:camera>
            <a:lightRig rig="threePt" dir="t"/>
          </a:scene3d>
        </p:spPr>
        <p:txBody>
          <a:bodyPr wrap="square" rtlCol="0">
            <a:spAutoFit/>
          </a:bodyPr>
          <a:p>
            <a:pPr algn="ctr"/>
            <a:r>
              <a:rPr lang="zh-CN" sz="800">
                <a:solidFill>
                  <a:schemeClr val="tx1"/>
                </a:solidFill>
                <a:latin typeface="微软雅黑" panose="020B0503020204020204" charset="-122"/>
                <a:ea typeface="微软雅黑" panose="020B0503020204020204" charset="-122"/>
                <a:cs typeface="微软雅黑" panose="020B0503020204020204" charset="-122"/>
              </a:rPr>
              <a:t>需求</a:t>
            </a:r>
            <a:endParaRPr lang="zh-CN" sz="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82" name="文本框 81"/>
          <p:cNvSpPr txBox="1"/>
          <p:nvPr/>
        </p:nvSpPr>
        <p:spPr>
          <a:xfrm>
            <a:off x="4251325" y="4820285"/>
            <a:ext cx="512445" cy="213995"/>
          </a:xfrm>
          <a:prstGeom prst="rect">
            <a:avLst/>
          </a:prstGeom>
          <a:noFill/>
          <a:scene3d>
            <a:camera prst="orthographicFront">
              <a:rot lat="0" lon="0" rev="0"/>
            </a:camera>
            <a:lightRig rig="threePt" dir="t"/>
          </a:scene3d>
        </p:spPr>
        <p:txBody>
          <a:bodyPr wrap="square" rtlCol="0">
            <a:spAutoFit/>
          </a:bodyPr>
          <a:p>
            <a:pPr algn="ctr"/>
            <a:r>
              <a:rPr lang="zh-CN" sz="800">
                <a:solidFill>
                  <a:schemeClr val="tx1"/>
                </a:solidFill>
                <a:latin typeface="微软雅黑" panose="020B0503020204020204" charset="-122"/>
                <a:ea typeface="微软雅黑" panose="020B0503020204020204" charset="-122"/>
                <a:cs typeface="微软雅黑" panose="020B0503020204020204" charset="-122"/>
              </a:rPr>
              <a:t>需求</a:t>
            </a:r>
            <a:endParaRPr lang="zh-CN" sz="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83" name="文本框 82"/>
          <p:cNvSpPr txBox="1"/>
          <p:nvPr/>
        </p:nvSpPr>
        <p:spPr>
          <a:xfrm>
            <a:off x="6205855" y="5006340"/>
            <a:ext cx="512445" cy="213995"/>
          </a:xfrm>
          <a:prstGeom prst="rect">
            <a:avLst/>
          </a:prstGeom>
          <a:noFill/>
          <a:scene3d>
            <a:camera prst="orthographicFront">
              <a:rot lat="0" lon="0" rev="0"/>
            </a:camera>
            <a:lightRig rig="threePt" dir="t"/>
          </a:scene3d>
        </p:spPr>
        <p:txBody>
          <a:bodyPr wrap="square" rtlCol="0">
            <a:spAutoFit/>
          </a:bodyPr>
          <a:p>
            <a:pPr algn="ctr"/>
            <a:r>
              <a:rPr lang="zh-CN" sz="800">
                <a:solidFill>
                  <a:schemeClr val="tx1"/>
                </a:solidFill>
                <a:latin typeface="微软雅黑" panose="020B0503020204020204" charset="-122"/>
                <a:ea typeface="微软雅黑" panose="020B0503020204020204" charset="-122"/>
                <a:cs typeface="微软雅黑" panose="020B0503020204020204" charset="-122"/>
              </a:rPr>
              <a:t>需求</a:t>
            </a:r>
            <a:endParaRPr lang="zh-CN" sz="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84" name="文本框 83"/>
          <p:cNvSpPr txBox="1"/>
          <p:nvPr/>
        </p:nvSpPr>
        <p:spPr>
          <a:xfrm>
            <a:off x="6640195" y="4702175"/>
            <a:ext cx="652145" cy="213995"/>
          </a:xfrm>
          <a:prstGeom prst="rect">
            <a:avLst/>
          </a:prstGeom>
          <a:noFill/>
          <a:ln>
            <a:noFill/>
          </a:ln>
          <a:scene3d>
            <a:camera prst="orthographicFront">
              <a:rot lat="0" lon="0" rev="0"/>
            </a:camera>
            <a:lightRig rig="threePt" dir="t"/>
          </a:scene3d>
        </p:spPr>
        <p:txBody>
          <a:bodyPr wrap="square" rtlCol="0">
            <a:spAutoFit/>
          </a:bodyPr>
          <a:p>
            <a:pPr algn="ctr"/>
            <a:r>
              <a:rPr lang="zh-CN" sz="800">
                <a:solidFill>
                  <a:schemeClr val="tx1"/>
                </a:solidFill>
                <a:latin typeface="微软雅黑" panose="020B0503020204020204" charset="-122"/>
                <a:ea typeface="微软雅黑" panose="020B0503020204020204" charset="-122"/>
                <a:cs typeface="微软雅黑" panose="020B0503020204020204" charset="-122"/>
              </a:rPr>
              <a:t>管理保障</a:t>
            </a:r>
            <a:endParaRPr lang="zh-CN" sz="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85" name="文本框 84"/>
          <p:cNvSpPr txBox="1"/>
          <p:nvPr/>
        </p:nvSpPr>
        <p:spPr>
          <a:xfrm>
            <a:off x="4629150" y="4820285"/>
            <a:ext cx="652145" cy="337185"/>
          </a:xfrm>
          <a:prstGeom prst="rect">
            <a:avLst/>
          </a:prstGeom>
          <a:noFill/>
          <a:scene3d>
            <a:camera prst="orthographicFront">
              <a:rot lat="0" lon="0" rev="0"/>
            </a:camera>
            <a:lightRig rig="threePt" dir="t"/>
          </a:scene3d>
        </p:spPr>
        <p:txBody>
          <a:bodyPr wrap="square" rtlCol="0">
            <a:spAutoFit/>
          </a:bodyPr>
          <a:p>
            <a:pPr algn="ctr"/>
            <a:r>
              <a:rPr lang="zh-CN" sz="800">
                <a:solidFill>
                  <a:schemeClr val="tx1"/>
                </a:solidFill>
                <a:latin typeface="微软雅黑" panose="020B0503020204020204" charset="-122"/>
                <a:ea typeface="微软雅黑" panose="020B0503020204020204" charset="-122"/>
                <a:cs typeface="微软雅黑" panose="020B0503020204020204" charset="-122"/>
              </a:rPr>
              <a:t>技术</a:t>
            </a:r>
            <a:endParaRPr lang="zh-CN" sz="800">
              <a:solidFill>
                <a:schemeClr val="tx1"/>
              </a:solidFill>
              <a:latin typeface="微软雅黑" panose="020B0503020204020204" charset="-122"/>
              <a:ea typeface="微软雅黑" panose="020B0503020204020204" charset="-122"/>
              <a:cs typeface="微软雅黑" panose="020B0503020204020204" charset="-122"/>
            </a:endParaRPr>
          </a:p>
          <a:p>
            <a:pPr algn="ctr"/>
            <a:r>
              <a:rPr lang="zh-CN" sz="800">
                <a:solidFill>
                  <a:schemeClr val="tx1"/>
                </a:solidFill>
                <a:latin typeface="微软雅黑" panose="020B0503020204020204" charset="-122"/>
                <a:ea typeface="微软雅黑" panose="020B0503020204020204" charset="-122"/>
                <a:cs typeface="微软雅黑" panose="020B0503020204020204" charset="-122"/>
              </a:rPr>
              <a:t>支持</a:t>
            </a:r>
            <a:endParaRPr lang="zh-CN" sz="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86" name="文本框 85"/>
          <p:cNvSpPr txBox="1"/>
          <p:nvPr/>
        </p:nvSpPr>
        <p:spPr>
          <a:xfrm>
            <a:off x="7704455" y="4453255"/>
            <a:ext cx="652145" cy="337185"/>
          </a:xfrm>
          <a:prstGeom prst="rect">
            <a:avLst/>
          </a:prstGeom>
          <a:noFill/>
          <a:ln>
            <a:noFill/>
          </a:ln>
          <a:scene3d>
            <a:camera prst="orthographicFront">
              <a:rot lat="0" lon="0" rev="0"/>
            </a:camera>
            <a:lightRig rig="threePt" dir="t"/>
          </a:scene3d>
        </p:spPr>
        <p:txBody>
          <a:bodyPr wrap="square" rtlCol="0">
            <a:spAutoFit/>
          </a:bodyPr>
          <a:p>
            <a:pPr algn="ctr"/>
            <a:r>
              <a:rPr lang="zh-CN" sz="800">
                <a:solidFill>
                  <a:schemeClr val="tx1"/>
                </a:solidFill>
                <a:latin typeface="微软雅黑" panose="020B0503020204020204" charset="-122"/>
                <a:ea typeface="微软雅黑" panose="020B0503020204020204" charset="-122"/>
                <a:cs typeface="微软雅黑" panose="020B0503020204020204" charset="-122"/>
              </a:rPr>
              <a:t>技术</a:t>
            </a:r>
            <a:endParaRPr lang="zh-CN" sz="800">
              <a:solidFill>
                <a:schemeClr val="tx1"/>
              </a:solidFill>
              <a:latin typeface="微软雅黑" panose="020B0503020204020204" charset="-122"/>
              <a:ea typeface="微软雅黑" panose="020B0503020204020204" charset="-122"/>
              <a:cs typeface="微软雅黑" panose="020B0503020204020204" charset="-122"/>
            </a:endParaRPr>
          </a:p>
          <a:p>
            <a:pPr algn="ctr"/>
            <a:r>
              <a:rPr lang="zh-CN" sz="800">
                <a:solidFill>
                  <a:schemeClr val="tx1"/>
                </a:solidFill>
                <a:latin typeface="微软雅黑" panose="020B0503020204020204" charset="-122"/>
                <a:ea typeface="微软雅黑" panose="020B0503020204020204" charset="-122"/>
                <a:cs typeface="微软雅黑" panose="020B0503020204020204" charset="-122"/>
              </a:rPr>
              <a:t>支持</a:t>
            </a:r>
            <a:endParaRPr lang="zh-CN" sz="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87" name="文本框 86"/>
          <p:cNvSpPr txBox="1"/>
          <p:nvPr/>
        </p:nvSpPr>
        <p:spPr>
          <a:xfrm>
            <a:off x="8114030" y="3977640"/>
            <a:ext cx="652145" cy="337185"/>
          </a:xfrm>
          <a:prstGeom prst="rect">
            <a:avLst/>
          </a:prstGeom>
          <a:noFill/>
          <a:ln>
            <a:noFill/>
          </a:ln>
          <a:scene3d>
            <a:camera prst="orthographicFront">
              <a:rot lat="0" lon="0" rev="0"/>
            </a:camera>
            <a:lightRig rig="threePt" dir="t"/>
          </a:scene3d>
        </p:spPr>
        <p:txBody>
          <a:bodyPr wrap="square" rtlCol="0">
            <a:spAutoFit/>
          </a:bodyPr>
          <a:p>
            <a:pPr algn="ctr"/>
            <a:r>
              <a:rPr lang="zh-CN" sz="800">
                <a:solidFill>
                  <a:schemeClr val="tx1"/>
                </a:solidFill>
                <a:latin typeface="微软雅黑" panose="020B0503020204020204" charset="-122"/>
                <a:ea typeface="微软雅黑" panose="020B0503020204020204" charset="-122"/>
                <a:cs typeface="微软雅黑" panose="020B0503020204020204" charset="-122"/>
              </a:rPr>
              <a:t>管理</a:t>
            </a:r>
            <a:endParaRPr lang="zh-CN" sz="800">
              <a:solidFill>
                <a:schemeClr val="tx1"/>
              </a:solidFill>
              <a:latin typeface="微软雅黑" panose="020B0503020204020204" charset="-122"/>
              <a:ea typeface="微软雅黑" panose="020B0503020204020204" charset="-122"/>
              <a:cs typeface="微软雅黑" panose="020B0503020204020204" charset="-122"/>
            </a:endParaRPr>
          </a:p>
          <a:p>
            <a:pPr algn="ctr"/>
            <a:r>
              <a:rPr lang="zh-CN" sz="800">
                <a:solidFill>
                  <a:schemeClr val="tx1"/>
                </a:solidFill>
                <a:latin typeface="微软雅黑" panose="020B0503020204020204" charset="-122"/>
                <a:ea typeface="微软雅黑" panose="020B0503020204020204" charset="-122"/>
                <a:cs typeface="微软雅黑" panose="020B0503020204020204" charset="-122"/>
              </a:rPr>
              <a:t>保障</a:t>
            </a:r>
            <a:endParaRPr lang="zh-CN" sz="800">
              <a:solidFill>
                <a:schemeClr val="tx1"/>
              </a:solidFill>
              <a:latin typeface="微软雅黑" panose="020B0503020204020204" charset="-122"/>
              <a:ea typeface="微软雅黑" panose="020B0503020204020204" charset="-122"/>
              <a:cs typeface="微软雅黑" panose="020B0503020204020204" charset="-122"/>
            </a:endParaRPr>
          </a:p>
        </p:txBody>
      </p:sp>
      <p:cxnSp>
        <p:nvCxnSpPr>
          <p:cNvPr id="89" name="直接连接符 88"/>
          <p:cNvCxnSpPr/>
          <p:nvPr/>
        </p:nvCxnSpPr>
        <p:spPr>
          <a:xfrm>
            <a:off x="989965" y="1904365"/>
            <a:ext cx="3074670" cy="0"/>
          </a:xfrm>
          <a:prstGeom prst="line">
            <a:avLst/>
          </a:prstGeom>
          <a:ln>
            <a:solidFill>
              <a:schemeClr val="accent5"/>
            </a:solidFill>
            <a:tailEnd type="oval"/>
          </a:ln>
        </p:spPr>
        <p:style>
          <a:lnRef idx="2">
            <a:schemeClr val="accent1"/>
          </a:lnRef>
          <a:fillRef idx="0">
            <a:srgbClr val="FFFFFF"/>
          </a:fillRef>
          <a:effectRef idx="0">
            <a:srgbClr val="FFFFFF"/>
          </a:effectRef>
          <a:fontRef idx="minor">
            <a:schemeClr val="tx1"/>
          </a:fontRef>
        </p:style>
      </p:cxnSp>
      <p:sp>
        <p:nvSpPr>
          <p:cNvPr id="90" name="文本框 89"/>
          <p:cNvSpPr txBox="1"/>
          <p:nvPr/>
        </p:nvSpPr>
        <p:spPr>
          <a:xfrm>
            <a:off x="1437640" y="1567815"/>
            <a:ext cx="2321560" cy="275590"/>
          </a:xfrm>
          <a:prstGeom prst="rect">
            <a:avLst/>
          </a:prstGeom>
          <a:noFill/>
          <a:scene3d>
            <a:camera prst="orthographicFront">
              <a:rot lat="0" lon="0" rev="0"/>
            </a:camera>
            <a:lightRig rig="threePt" dir="t"/>
          </a:scene3d>
        </p:spPr>
        <p:txBody>
          <a:bodyPr wrap="square" rtlCol="0">
            <a:spAutoFit/>
          </a:bodyPr>
          <a:p>
            <a:r>
              <a:rPr lang="en-US" sz="1200" b="1">
                <a:solidFill>
                  <a:schemeClr val="accent5"/>
                </a:solidFill>
                <a:latin typeface="微软雅黑" panose="020B0503020204020204" charset="-122"/>
                <a:ea typeface="微软雅黑" panose="020B0503020204020204" charset="-122"/>
                <a:cs typeface="微软雅黑" panose="020B0503020204020204" charset="-122"/>
              </a:rPr>
              <a:t> </a:t>
            </a: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战略重构：重塑价值内核</a:t>
            </a:r>
            <a:endParaRPr lang="zh-CN" altLang="en-US" sz="12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296" name="Rectangle: Top Corners Rounded 32"/>
          <p:cNvSpPr/>
          <p:nvPr/>
        </p:nvSpPr>
        <p:spPr>
          <a:xfrm>
            <a:off x="1196667" y="1567640"/>
            <a:ext cx="241202" cy="241013"/>
          </a:xfrm>
          <a:prstGeom prst="ellipse">
            <a:avLst/>
          </a:prstGeom>
          <a:solidFill>
            <a:schemeClr val="accent5"/>
          </a:solidFill>
          <a:ln w="9525" cap="flat" cmpd="sng" algn="ctr">
            <a:noFill/>
            <a:prstDash val="solid"/>
            <a:miter lim="800000"/>
          </a:ln>
          <a:effectLst>
            <a:outerShdw blurRad="50800" dist="38100" dir="2700000" algn="tl" rotWithShape="0">
              <a:prstClr val="black">
                <a:alpha val="40000"/>
              </a:prstClr>
            </a:outerShdw>
          </a:effectLst>
        </p:spPr>
        <p:txBody>
          <a:bodyPr rtlCol="0" anchor="ctr"/>
          <a:p>
            <a:pPr algn="ctr"/>
            <a:r>
              <a:rPr lang="en-US" sz="1050" kern="0">
                <a:solidFill>
                  <a:schemeClr val="bg1"/>
                </a:solidFill>
                <a:latin typeface="微软雅黑" panose="020B0503020204020204" charset="-122"/>
                <a:ea typeface="微软雅黑" panose="020B0503020204020204" charset="-122"/>
                <a:cs typeface="微软雅黑" panose="020B0503020204020204" charset="-122"/>
                <a:sym typeface="+mn-lt"/>
              </a:rPr>
              <a:t>1</a:t>
            </a:r>
            <a:endParaRPr lang="en-US" sz="1050" kern="0" dirty="0">
              <a:solidFill>
                <a:schemeClr val="bg1"/>
              </a:solidFill>
              <a:latin typeface="微软雅黑" panose="020B0503020204020204" charset="-122"/>
              <a:ea typeface="微软雅黑" panose="020B0503020204020204" charset="-122"/>
              <a:cs typeface="微软雅黑" panose="020B0503020204020204" charset="-122"/>
              <a:sym typeface="+mn-lt"/>
            </a:endParaRPr>
          </a:p>
        </p:txBody>
      </p:sp>
      <p:grpSp>
        <p:nvGrpSpPr>
          <p:cNvPr id="178" name="组合 177"/>
          <p:cNvGrpSpPr/>
          <p:nvPr/>
        </p:nvGrpSpPr>
        <p:grpSpPr>
          <a:xfrm>
            <a:off x="1050290" y="2058670"/>
            <a:ext cx="2924810" cy="245110"/>
            <a:chOff x="1510" y="2852"/>
            <a:chExt cx="4606" cy="386"/>
          </a:xfrm>
        </p:grpSpPr>
        <p:sp>
          <p:nvSpPr>
            <p:cNvPr id="91" name="文本框 90"/>
            <p:cNvSpPr txBox="1"/>
            <p:nvPr/>
          </p:nvSpPr>
          <p:spPr>
            <a:xfrm>
              <a:off x="1510" y="2852"/>
              <a:ext cx="2594" cy="386"/>
            </a:xfrm>
            <a:prstGeom prst="rect">
              <a:avLst/>
            </a:prstGeom>
            <a:noFill/>
            <a:scene3d>
              <a:camera prst="orthographicFront">
                <a:rot lat="0" lon="0" rev="0"/>
              </a:camera>
              <a:lightRig rig="threePt" dir="t"/>
            </a:scene3d>
          </p:spPr>
          <p:txBody>
            <a:bodyPr wrap="square" rtlCol="0">
              <a:spAutoFit/>
            </a:bodyPr>
            <a:p>
              <a:pPr algn="l"/>
              <a:r>
                <a:rPr lang="zh-CN" altLang="en-US" sz="1000" b="1">
                  <a:solidFill>
                    <a:schemeClr val="tx2"/>
                  </a:solidFill>
                  <a:latin typeface="微软雅黑" panose="020B0503020204020204" charset="-122"/>
                  <a:ea typeface="微软雅黑" panose="020B0503020204020204" charset="-122"/>
                  <a:cs typeface="微软雅黑" panose="020B0503020204020204" charset="-122"/>
                </a:rPr>
                <a:t>价值内核转变：</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规模效应</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5" name="文本框 94"/>
            <p:cNvSpPr txBox="1"/>
            <p:nvPr/>
          </p:nvSpPr>
          <p:spPr>
            <a:xfrm>
              <a:off x="4334" y="2852"/>
              <a:ext cx="1783" cy="386"/>
            </a:xfrm>
            <a:prstGeom prst="rect">
              <a:avLst/>
            </a:prstGeom>
            <a:noFill/>
            <a:scene3d>
              <a:camera prst="orthographicFront">
                <a:rot lat="0" lon="0" rev="0"/>
              </a:camera>
              <a:lightRig rig="threePt" dir="t"/>
            </a:scene3d>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数据驱动决策</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6" name="右箭头 95"/>
            <p:cNvSpPr/>
            <p:nvPr/>
          </p:nvSpPr>
          <p:spPr>
            <a:xfrm>
              <a:off x="4104" y="2920"/>
              <a:ext cx="356" cy="215"/>
            </a:xfrm>
            <a:prstGeom prst="rightArrow">
              <a:avLst/>
            </a:prstGeom>
            <a:solidFill>
              <a:schemeClr val="tx2"/>
            </a:solidFill>
            <a:ln>
              <a:solidFill>
                <a:schemeClr val="tx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2"/>
                </a:solidFill>
                <a:cs typeface="微软雅黑" panose="020B0503020204020204" charset="-122"/>
              </a:endParaRPr>
            </a:p>
          </p:txBody>
        </p:sp>
      </p:grpSp>
      <p:sp>
        <p:nvSpPr>
          <p:cNvPr id="92" name="文本框 91"/>
          <p:cNvSpPr txBox="1"/>
          <p:nvPr/>
        </p:nvSpPr>
        <p:spPr>
          <a:xfrm>
            <a:off x="6581775" y="1762125"/>
            <a:ext cx="512445" cy="337185"/>
          </a:xfrm>
          <a:prstGeom prst="rect">
            <a:avLst/>
          </a:prstGeom>
          <a:noFill/>
          <a:scene3d>
            <a:camera prst="orthographicFront">
              <a:rot lat="0" lon="0" rev="0"/>
            </a:camera>
            <a:lightRig rig="threePt" dir="t"/>
          </a:scene3d>
        </p:spPr>
        <p:txBody>
          <a:bodyPr wrap="square" rtlCol="0">
            <a:spAutoFit/>
          </a:bodyPr>
          <a:p>
            <a:pPr algn="ctr"/>
            <a:r>
              <a:rPr lang="zh-CN" sz="800" i="1">
                <a:solidFill>
                  <a:schemeClr val="bg1"/>
                </a:solidFill>
                <a:latin typeface="微软雅黑" panose="020B0503020204020204" charset="-122"/>
                <a:ea typeface="微软雅黑" panose="020B0503020204020204" charset="-122"/>
                <a:cs typeface="微软雅黑" panose="020B0503020204020204" charset="-122"/>
              </a:rPr>
              <a:t>价值模式重构</a:t>
            </a:r>
            <a:endParaRPr lang="zh-CN" sz="800" i="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7" name="文本框 96"/>
          <p:cNvSpPr txBox="1"/>
          <p:nvPr/>
        </p:nvSpPr>
        <p:spPr>
          <a:xfrm>
            <a:off x="7799705" y="3017520"/>
            <a:ext cx="512445" cy="337185"/>
          </a:xfrm>
          <a:prstGeom prst="rect">
            <a:avLst/>
          </a:prstGeom>
          <a:noFill/>
          <a:scene3d>
            <a:camera prst="orthographicFront">
              <a:rot lat="0" lon="0" rev="0"/>
            </a:camera>
            <a:lightRig rig="threePt" dir="t"/>
          </a:scene3d>
        </p:spPr>
        <p:txBody>
          <a:bodyPr wrap="square" rtlCol="0">
            <a:spAutoFit/>
          </a:bodyPr>
          <a:p>
            <a:pPr algn="ctr"/>
            <a:r>
              <a:rPr lang="zh-CN" sz="800" i="1">
                <a:solidFill>
                  <a:schemeClr val="bg1"/>
                </a:solidFill>
                <a:latin typeface="微软雅黑" panose="020B0503020204020204" charset="-122"/>
                <a:ea typeface="微软雅黑" panose="020B0503020204020204" charset="-122"/>
                <a:cs typeface="微软雅黑" panose="020B0503020204020204" charset="-122"/>
              </a:rPr>
              <a:t>智能业务培育</a:t>
            </a:r>
            <a:endParaRPr lang="zh-CN" sz="800" i="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9" name="文本框 98"/>
          <p:cNvSpPr txBox="1"/>
          <p:nvPr/>
        </p:nvSpPr>
        <p:spPr>
          <a:xfrm>
            <a:off x="7132320" y="3017520"/>
            <a:ext cx="512445" cy="337185"/>
          </a:xfrm>
          <a:prstGeom prst="rect">
            <a:avLst/>
          </a:prstGeom>
          <a:noFill/>
          <a:scene3d>
            <a:camera prst="orthographicFront">
              <a:rot lat="0" lon="0" rev="0"/>
            </a:camera>
            <a:lightRig rig="threePt" dir="t"/>
          </a:scene3d>
        </p:spPr>
        <p:txBody>
          <a:bodyPr wrap="square" rtlCol="0">
            <a:spAutoFit/>
          </a:bodyPr>
          <a:p>
            <a:pPr algn="ctr"/>
            <a:r>
              <a:rPr lang="zh-CN" sz="800" i="1">
                <a:solidFill>
                  <a:schemeClr val="bg1"/>
                </a:solidFill>
                <a:latin typeface="微软雅黑" panose="020B0503020204020204" charset="-122"/>
                <a:ea typeface="微软雅黑" panose="020B0503020204020204" charset="-122"/>
                <a:cs typeface="微软雅黑" panose="020B0503020204020204" charset="-122"/>
              </a:rPr>
              <a:t>数字产品孵化</a:t>
            </a:r>
            <a:endParaRPr lang="zh-CN" sz="800" i="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1" name="文本框 120"/>
          <p:cNvSpPr txBox="1"/>
          <p:nvPr/>
        </p:nvSpPr>
        <p:spPr>
          <a:xfrm>
            <a:off x="4020820" y="4198620"/>
            <a:ext cx="548640" cy="275590"/>
          </a:xfrm>
          <a:prstGeom prst="rect">
            <a:avLst/>
          </a:prstGeom>
          <a:noFill/>
          <a:scene3d>
            <a:camera prst="orthographicFront">
              <a:rot lat="0" lon="0" rev="0"/>
            </a:camera>
            <a:lightRig rig="threePt" dir="t"/>
          </a:scene3d>
        </p:spPr>
        <p:txBody>
          <a:bodyPr wrap="square" rtlCol="0">
            <a:spAutoFit/>
          </a:bodyPr>
          <a:p>
            <a:pPr algn="ctr"/>
            <a:r>
              <a:rPr lang="zh-CN" altLang="en-US" sz="600" i="1">
                <a:solidFill>
                  <a:schemeClr val="bg1"/>
                </a:solidFill>
                <a:latin typeface="微软雅黑" panose="020B0503020204020204" charset="-122"/>
                <a:ea typeface="微软雅黑" panose="020B0503020204020204" charset="-122"/>
                <a:cs typeface="微软雅黑" panose="020B0503020204020204" charset="-122"/>
              </a:rPr>
              <a:t>敏捷迭代开发能力</a:t>
            </a:r>
            <a:endParaRPr lang="zh-CN" altLang="en-US" sz="600" i="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2" name="文本框 121"/>
          <p:cNvSpPr txBox="1"/>
          <p:nvPr/>
        </p:nvSpPr>
        <p:spPr>
          <a:xfrm>
            <a:off x="4629150" y="4198620"/>
            <a:ext cx="548640" cy="275590"/>
          </a:xfrm>
          <a:prstGeom prst="rect">
            <a:avLst/>
          </a:prstGeom>
          <a:noFill/>
          <a:scene3d>
            <a:camera prst="orthographicFront">
              <a:rot lat="0" lon="0" rev="0"/>
            </a:camera>
            <a:lightRig rig="threePt" dir="t"/>
          </a:scene3d>
        </p:spPr>
        <p:txBody>
          <a:bodyPr wrap="square" rtlCol="0">
            <a:spAutoFit/>
          </a:bodyPr>
          <a:p>
            <a:pPr algn="ctr"/>
            <a:r>
              <a:rPr lang="zh-CN" altLang="en-US" sz="600" i="1">
                <a:solidFill>
                  <a:schemeClr val="bg1"/>
                </a:solidFill>
                <a:latin typeface="微软雅黑" panose="020B0503020204020204" charset="-122"/>
                <a:ea typeface="微软雅黑" panose="020B0503020204020204" charset="-122"/>
                <a:cs typeface="微软雅黑" panose="020B0503020204020204" charset="-122"/>
              </a:rPr>
              <a:t>数字资产交易能力</a:t>
            </a:r>
            <a:endParaRPr lang="zh-CN" altLang="en-US" sz="600" i="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3" name="文本框 122"/>
          <p:cNvSpPr txBox="1"/>
          <p:nvPr/>
        </p:nvSpPr>
        <p:spPr>
          <a:xfrm>
            <a:off x="5235575" y="4198620"/>
            <a:ext cx="548640" cy="275590"/>
          </a:xfrm>
          <a:prstGeom prst="rect">
            <a:avLst/>
          </a:prstGeom>
          <a:noFill/>
          <a:scene3d>
            <a:camera prst="orthographicFront">
              <a:rot lat="0" lon="0" rev="0"/>
            </a:camera>
            <a:lightRig rig="threePt" dir="t"/>
          </a:scene3d>
        </p:spPr>
        <p:txBody>
          <a:bodyPr wrap="square" rtlCol="0">
            <a:spAutoFit/>
          </a:bodyPr>
          <a:p>
            <a:pPr algn="ctr"/>
            <a:r>
              <a:rPr lang="zh-CN" altLang="en-US" sz="600" i="1">
                <a:solidFill>
                  <a:schemeClr val="bg1"/>
                </a:solidFill>
                <a:latin typeface="微软雅黑" panose="020B0503020204020204" charset="-122"/>
                <a:ea typeface="微软雅黑" panose="020B0503020204020204" charset="-122"/>
                <a:cs typeface="微软雅黑" panose="020B0503020204020204" charset="-122"/>
              </a:rPr>
              <a:t>生态伙伴集成能力</a:t>
            </a:r>
            <a:endParaRPr lang="zh-CN" altLang="en-US" sz="600" i="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4" name="文本框 123"/>
          <p:cNvSpPr txBox="1"/>
          <p:nvPr/>
        </p:nvSpPr>
        <p:spPr>
          <a:xfrm>
            <a:off x="5859145" y="4198620"/>
            <a:ext cx="581660" cy="275590"/>
          </a:xfrm>
          <a:prstGeom prst="rect">
            <a:avLst/>
          </a:prstGeom>
          <a:noFill/>
          <a:scene3d>
            <a:camera prst="orthographicFront">
              <a:rot lat="0" lon="0" rev="0"/>
            </a:camera>
            <a:lightRig rig="threePt" dir="t"/>
          </a:scene3d>
        </p:spPr>
        <p:txBody>
          <a:bodyPr wrap="square" rtlCol="0">
            <a:spAutoFit/>
          </a:bodyPr>
          <a:p>
            <a:pPr algn="ctr"/>
            <a:r>
              <a:rPr lang="zh-CN" altLang="en-US" sz="600" i="1">
                <a:solidFill>
                  <a:schemeClr val="bg1"/>
                </a:solidFill>
                <a:latin typeface="微软雅黑" panose="020B0503020204020204" charset="-122"/>
                <a:ea typeface="微软雅黑" panose="020B0503020204020204" charset="-122"/>
                <a:cs typeface="微软雅黑" panose="020B0503020204020204" charset="-122"/>
              </a:rPr>
              <a:t>工业互联网平台能力</a:t>
            </a:r>
            <a:endParaRPr lang="zh-CN" altLang="en-US" sz="600" i="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5" name="文本框 124"/>
          <p:cNvSpPr txBox="1"/>
          <p:nvPr/>
        </p:nvSpPr>
        <p:spPr>
          <a:xfrm>
            <a:off x="6518910" y="4184015"/>
            <a:ext cx="548640" cy="368300"/>
          </a:xfrm>
          <a:prstGeom prst="rect">
            <a:avLst/>
          </a:prstGeom>
          <a:noFill/>
          <a:scene3d>
            <a:camera prst="orthographicFront">
              <a:rot lat="0" lon="0" rev="0"/>
            </a:camera>
            <a:lightRig rig="threePt" dir="t"/>
          </a:scene3d>
        </p:spPr>
        <p:txBody>
          <a:bodyPr wrap="square" rtlCol="0">
            <a:spAutoFit/>
          </a:bodyPr>
          <a:p>
            <a:pPr algn="l"/>
            <a:r>
              <a:rPr lang="zh-CN" altLang="en-US" sz="600" i="1">
                <a:solidFill>
                  <a:schemeClr val="bg1"/>
                </a:solidFill>
                <a:latin typeface="微软雅黑" panose="020B0503020204020204" charset="-122"/>
                <a:ea typeface="微软雅黑" panose="020B0503020204020204" charset="-122"/>
                <a:cs typeface="微软雅黑" panose="020B0503020204020204" charset="-122"/>
              </a:rPr>
              <a:t>数字化转型变革管理能力</a:t>
            </a:r>
            <a:endParaRPr lang="zh-CN" altLang="en-US" sz="600" i="1">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128" name="肘形连接符 127"/>
          <p:cNvCxnSpPr/>
          <p:nvPr/>
        </p:nvCxnSpPr>
        <p:spPr>
          <a:xfrm rot="16200000">
            <a:off x="5647055" y="3131185"/>
            <a:ext cx="1741805" cy="2540000"/>
          </a:xfrm>
          <a:prstGeom prst="bentConnector3">
            <a:avLst>
              <a:gd name="adj1" fmla="val 20470"/>
            </a:avLst>
          </a:prstGeom>
          <a:ln>
            <a:solidFill>
              <a:schemeClr val="tx2"/>
            </a:solidFill>
            <a:headEnd type="triangle"/>
            <a:tailEnd type="none" w="sm" len="med"/>
          </a:ln>
        </p:spPr>
        <p:style>
          <a:lnRef idx="2">
            <a:schemeClr val="accent1"/>
          </a:lnRef>
          <a:fillRef idx="0">
            <a:srgbClr val="FFFFFF"/>
          </a:fillRef>
          <a:effectRef idx="0">
            <a:srgbClr val="FFFFFF"/>
          </a:effectRef>
          <a:fontRef idx="minor">
            <a:schemeClr val="tx1"/>
          </a:fontRef>
        </p:style>
      </p:cxnSp>
      <p:sp>
        <p:nvSpPr>
          <p:cNvPr id="131" name="文本框 130"/>
          <p:cNvSpPr txBox="1"/>
          <p:nvPr/>
        </p:nvSpPr>
        <p:spPr>
          <a:xfrm>
            <a:off x="7421245" y="4489450"/>
            <a:ext cx="436880" cy="213995"/>
          </a:xfrm>
          <a:prstGeom prst="rect">
            <a:avLst/>
          </a:prstGeom>
          <a:noFill/>
          <a:ln>
            <a:noFill/>
          </a:ln>
          <a:scene3d>
            <a:camera prst="orthographicFront">
              <a:rot lat="0" lon="0" rev="0"/>
            </a:camera>
            <a:lightRig rig="threePt" dir="t"/>
          </a:scene3d>
        </p:spPr>
        <p:txBody>
          <a:bodyPr wrap="square" rtlCol="0">
            <a:spAutoFit/>
          </a:bodyPr>
          <a:p>
            <a:pPr algn="ctr"/>
            <a:r>
              <a:rPr lang="zh-CN" sz="800">
                <a:solidFill>
                  <a:schemeClr val="tx1"/>
                </a:solidFill>
                <a:latin typeface="微软雅黑" panose="020B0503020204020204" charset="-122"/>
                <a:ea typeface="微软雅黑" panose="020B0503020204020204" charset="-122"/>
                <a:cs typeface="微软雅黑" panose="020B0503020204020204" charset="-122"/>
              </a:rPr>
              <a:t>需求</a:t>
            </a:r>
            <a:endParaRPr lang="zh-CN" sz="80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32" name="任意多边形 131"/>
          <p:cNvSpPr/>
          <p:nvPr/>
        </p:nvSpPr>
        <p:spPr>
          <a:xfrm>
            <a:off x="5807710" y="5261610"/>
            <a:ext cx="3009900" cy="855345"/>
          </a:xfrm>
          <a:custGeom>
            <a:avLst/>
            <a:gdLst>
              <a:gd name="connsiteX0" fmla="*/ 0 w 4740"/>
              <a:gd name="connsiteY0" fmla="*/ 1347 h 1347"/>
              <a:gd name="connsiteX1" fmla="*/ 1405 w 4740"/>
              <a:gd name="connsiteY1" fmla="*/ 0 h 1347"/>
              <a:gd name="connsiteX2" fmla="*/ 4740 w 4740"/>
              <a:gd name="connsiteY2" fmla="*/ 23 h 1347"/>
              <a:gd name="connsiteX3" fmla="*/ 3488 w 4740"/>
              <a:gd name="connsiteY3" fmla="*/ 1347 h 1347"/>
              <a:gd name="connsiteX4" fmla="*/ 0 w 4740"/>
              <a:gd name="connsiteY4" fmla="*/ 1347 h 1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0" h="1347">
                <a:moveTo>
                  <a:pt x="0" y="1347"/>
                </a:moveTo>
                <a:lnTo>
                  <a:pt x="1405" y="0"/>
                </a:lnTo>
                <a:lnTo>
                  <a:pt x="4740" y="23"/>
                </a:lnTo>
                <a:lnTo>
                  <a:pt x="3488" y="1347"/>
                </a:lnTo>
                <a:lnTo>
                  <a:pt x="0" y="1347"/>
                </a:lnTo>
                <a:close/>
              </a:path>
            </a:pathLst>
          </a:custGeom>
          <a:solidFill>
            <a:schemeClr val="accent5">
              <a:lumMod val="60000"/>
              <a:lumOff val="40000"/>
              <a:alpha val="20000"/>
            </a:schemeClr>
          </a:solidFill>
          <a:ln>
            <a:solidFill>
              <a:schemeClr val="accent5">
                <a:lumMod val="60000"/>
                <a:lumOff val="40000"/>
                <a:alpha val="50000"/>
              </a:schemeClr>
            </a:solid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33" name="任意多边形 132"/>
          <p:cNvSpPr/>
          <p:nvPr/>
        </p:nvSpPr>
        <p:spPr>
          <a:xfrm>
            <a:off x="6073140" y="5622925"/>
            <a:ext cx="807720"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546" h="593">
                <a:moveTo>
                  <a:pt x="0" y="593"/>
                </a:moveTo>
                <a:lnTo>
                  <a:pt x="653" y="0"/>
                </a:lnTo>
                <a:lnTo>
                  <a:pt x="1546" y="0"/>
                </a:lnTo>
                <a:lnTo>
                  <a:pt x="893" y="593"/>
                </a:lnTo>
                <a:lnTo>
                  <a:pt x="0" y="593"/>
                </a:lnTo>
                <a:close/>
              </a:path>
            </a:pathLst>
          </a:custGeom>
          <a:solidFill>
            <a:schemeClr val="accent5">
              <a:lumMod val="60000"/>
              <a:lumOff val="40000"/>
            </a:schemeClr>
          </a:solidFill>
          <a:ln>
            <a:no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134" name="任意多边形 133"/>
          <p:cNvSpPr/>
          <p:nvPr/>
        </p:nvSpPr>
        <p:spPr>
          <a:xfrm>
            <a:off x="6562725" y="5622925"/>
            <a:ext cx="807720"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546" h="593">
                <a:moveTo>
                  <a:pt x="0" y="593"/>
                </a:moveTo>
                <a:lnTo>
                  <a:pt x="653" y="0"/>
                </a:lnTo>
                <a:lnTo>
                  <a:pt x="1546" y="0"/>
                </a:lnTo>
                <a:lnTo>
                  <a:pt x="893" y="593"/>
                </a:lnTo>
                <a:lnTo>
                  <a:pt x="0" y="593"/>
                </a:lnTo>
                <a:close/>
              </a:path>
            </a:pathLst>
          </a:custGeom>
          <a:solidFill>
            <a:schemeClr val="accent5">
              <a:lumMod val="60000"/>
              <a:lumOff val="40000"/>
            </a:schemeClr>
          </a:solidFill>
          <a:ln>
            <a:no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135" name="任意多边形 134"/>
          <p:cNvSpPr/>
          <p:nvPr/>
        </p:nvSpPr>
        <p:spPr>
          <a:xfrm>
            <a:off x="7052310" y="5622925"/>
            <a:ext cx="807720"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546" h="593">
                <a:moveTo>
                  <a:pt x="0" y="593"/>
                </a:moveTo>
                <a:lnTo>
                  <a:pt x="653" y="0"/>
                </a:lnTo>
                <a:lnTo>
                  <a:pt x="1546" y="0"/>
                </a:lnTo>
                <a:lnTo>
                  <a:pt x="893" y="593"/>
                </a:lnTo>
                <a:lnTo>
                  <a:pt x="0" y="593"/>
                </a:lnTo>
                <a:close/>
              </a:path>
            </a:pathLst>
          </a:custGeom>
          <a:solidFill>
            <a:schemeClr val="accent5">
              <a:lumMod val="60000"/>
              <a:lumOff val="40000"/>
            </a:schemeClr>
          </a:solidFill>
          <a:ln>
            <a:no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136" name="任意多边形 135"/>
          <p:cNvSpPr/>
          <p:nvPr/>
        </p:nvSpPr>
        <p:spPr>
          <a:xfrm>
            <a:off x="7541895" y="5629910"/>
            <a:ext cx="807720" cy="376555"/>
          </a:xfrm>
          <a:custGeom>
            <a:avLst/>
            <a:gdLst>
              <a:gd name="x3" fmla="*/ w 2 5"/>
              <a:gd name="x4" fmla="*/ w 3 5"/>
              <a:gd name="x5" fmla="*/ w 4 5"/>
              <a:gd name="x6" fmla="*/ w 9 10"/>
            </a:gdLst>
            <a:ahLst/>
            <a:cxnLst>
              <a:cxn ang="3">
                <a:pos x="x4" y="t"/>
              </a:cxn>
              <a:cxn ang="3">
                <a:pos x="hc" y="t"/>
              </a:cxn>
              <a:cxn ang="cd2">
                <a:pos x="wd10" y="vc"/>
              </a:cxn>
              <a:cxn ang="cd4">
                <a:pos x="x3" y="b"/>
              </a:cxn>
              <a:cxn ang="cd4">
                <a:pos x="hc" y="b"/>
              </a:cxn>
              <a:cxn ang="0">
                <a:pos x="x6" y="vc"/>
              </a:cxn>
            </a:cxnLst>
            <a:rect l="l" t="t" r="r" b="b"/>
            <a:pathLst>
              <a:path w="1546" h="593">
                <a:moveTo>
                  <a:pt x="0" y="593"/>
                </a:moveTo>
                <a:lnTo>
                  <a:pt x="653" y="0"/>
                </a:lnTo>
                <a:lnTo>
                  <a:pt x="1546" y="0"/>
                </a:lnTo>
                <a:lnTo>
                  <a:pt x="893" y="593"/>
                </a:lnTo>
                <a:lnTo>
                  <a:pt x="0" y="593"/>
                </a:lnTo>
                <a:close/>
              </a:path>
            </a:pathLst>
          </a:custGeom>
          <a:solidFill>
            <a:schemeClr val="accent5">
              <a:lumMod val="60000"/>
              <a:lumOff val="40000"/>
            </a:schemeClr>
          </a:solidFill>
          <a:ln>
            <a:noFill/>
          </a:ln>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137" name="文本框 136"/>
          <p:cNvSpPr txBox="1"/>
          <p:nvPr/>
        </p:nvSpPr>
        <p:spPr>
          <a:xfrm>
            <a:off x="6527165" y="5337175"/>
            <a:ext cx="1815465" cy="245110"/>
          </a:xfrm>
          <a:prstGeom prst="rect">
            <a:avLst/>
          </a:prstGeom>
          <a:noFill/>
          <a:scene3d>
            <a:camera prst="orthographicFront">
              <a:rot lat="0" lon="0" rev="0"/>
            </a:camera>
            <a:lightRig rig="threePt" dir="t"/>
          </a:scene3d>
        </p:spPr>
        <p:txBody>
          <a:bodyPr wrap="square" rtlCol="0">
            <a:spAutoFit/>
          </a:bodyPr>
          <a:p>
            <a:pPr algn="ctr"/>
            <a:r>
              <a:rPr lang="zh-CN" altLang="en-US" sz="1000" b="1">
                <a:solidFill>
                  <a:schemeClr val="tx2"/>
                </a:solidFill>
                <a:latin typeface="微软雅黑" panose="020B0503020204020204" charset="-122"/>
                <a:ea typeface="微软雅黑" panose="020B0503020204020204" charset="-122"/>
                <a:cs typeface="微软雅黑" panose="020B0503020204020204" charset="-122"/>
                <a:sym typeface="+mn-ea"/>
              </a:rPr>
              <a:t>双模治理体系</a:t>
            </a:r>
            <a:r>
              <a:rPr lang="en-US" altLang="zh-CN" sz="1000" b="1">
                <a:solidFill>
                  <a:schemeClr val="tx2"/>
                </a:solidFill>
                <a:latin typeface="微软雅黑" panose="020B0503020204020204" charset="-122"/>
                <a:ea typeface="微软雅黑" panose="020B0503020204020204" charset="-122"/>
                <a:cs typeface="微软雅黑" panose="020B0503020204020204" charset="-122"/>
                <a:sym typeface="+mn-ea"/>
              </a:rPr>
              <a:t> / </a:t>
            </a:r>
            <a:r>
              <a:rPr lang="zh-CN" altLang="en-US" sz="1000" b="1">
                <a:solidFill>
                  <a:schemeClr val="tx2"/>
                </a:solidFill>
                <a:latin typeface="微软雅黑" panose="020B0503020204020204" charset="-122"/>
                <a:ea typeface="微软雅黑" panose="020B0503020204020204" charset="-122"/>
                <a:cs typeface="微软雅黑" panose="020B0503020204020204" charset="-122"/>
                <a:sym typeface="+mn-ea"/>
              </a:rPr>
              <a:t>数字化保障</a:t>
            </a:r>
            <a:endParaRPr lang="zh-CN" altLang="en-US" sz="1000" b="1">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38" name="文本框 137"/>
          <p:cNvSpPr txBox="1"/>
          <p:nvPr/>
        </p:nvSpPr>
        <p:spPr>
          <a:xfrm>
            <a:off x="6164580" y="5634990"/>
            <a:ext cx="512445" cy="337185"/>
          </a:xfrm>
          <a:prstGeom prst="rect">
            <a:avLst/>
          </a:prstGeom>
          <a:noFill/>
          <a:scene3d>
            <a:camera prst="orthographicFront">
              <a:rot lat="0" lon="0" rev="0"/>
            </a:camera>
            <a:lightRig rig="threePt" dir="t"/>
          </a:scene3d>
        </p:spPr>
        <p:txBody>
          <a:bodyPr wrap="square" rtlCol="0">
            <a:spAutoFit/>
          </a:bodyPr>
          <a:p>
            <a:pPr algn="ctr"/>
            <a:r>
              <a:rPr lang="en-US" altLang="zh-CN" sz="800" i="1">
                <a:solidFill>
                  <a:schemeClr val="bg1"/>
                </a:solidFill>
                <a:latin typeface="微软雅黑" panose="020B0503020204020204" charset="-122"/>
                <a:ea typeface="微软雅黑" panose="020B0503020204020204" charset="-122"/>
                <a:cs typeface="微软雅黑" panose="020B0503020204020204" charset="-122"/>
              </a:rPr>
              <a:t>    </a:t>
            </a:r>
            <a:r>
              <a:rPr lang="zh-CN" altLang="en-US" sz="800" i="1">
                <a:solidFill>
                  <a:schemeClr val="bg1"/>
                </a:solidFill>
                <a:latin typeface="微软雅黑" panose="020B0503020204020204" charset="-122"/>
                <a:ea typeface="微软雅黑" panose="020B0503020204020204" charset="-122"/>
                <a:cs typeface="微软雅黑" panose="020B0503020204020204" charset="-122"/>
              </a:rPr>
              <a:t>数据</a:t>
            </a:r>
            <a:endParaRPr lang="zh-CN" altLang="en-US" sz="800" i="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800" i="1">
                <a:solidFill>
                  <a:schemeClr val="bg1"/>
                </a:solidFill>
                <a:latin typeface="微软雅黑" panose="020B0503020204020204" charset="-122"/>
                <a:ea typeface="微软雅黑" panose="020B0503020204020204" charset="-122"/>
                <a:cs typeface="微软雅黑" panose="020B0503020204020204" charset="-122"/>
              </a:rPr>
              <a:t>治理</a:t>
            </a:r>
            <a:endParaRPr lang="zh-CN" altLang="en-US" sz="800" i="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9" name="文本框 138"/>
          <p:cNvSpPr txBox="1"/>
          <p:nvPr/>
        </p:nvSpPr>
        <p:spPr>
          <a:xfrm>
            <a:off x="6653530" y="5634990"/>
            <a:ext cx="512445" cy="337185"/>
          </a:xfrm>
          <a:prstGeom prst="rect">
            <a:avLst/>
          </a:prstGeom>
          <a:noFill/>
          <a:scene3d>
            <a:camera prst="orthographicFront">
              <a:rot lat="0" lon="0" rev="0"/>
            </a:camera>
            <a:lightRig rig="threePt" dir="t"/>
          </a:scene3d>
        </p:spPr>
        <p:txBody>
          <a:bodyPr wrap="square" rtlCol="0">
            <a:spAutoFit/>
          </a:bodyPr>
          <a:p>
            <a:pPr algn="ctr"/>
            <a:r>
              <a:rPr lang="en-US" altLang="zh-CN" sz="800" i="1">
                <a:solidFill>
                  <a:schemeClr val="bg1"/>
                </a:solidFill>
                <a:latin typeface="微软雅黑" panose="020B0503020204020204" charset="-122"/>
                <a:ea typeface="微软雅黑" panose="020B0503020204020204" charset="-122"/>
                <a:cs typeface="微软雅黑" panose="020B0503020204020204" charset="-122"/>
              </a:rPr>
              <a:t>   </a:t>
            </a:r>
            <a:r>
              <a:rPr lang="zh-CN" sz="800" i="1">
                <a:solidFill>
                  <a:schemeClr val="bg1"/>
                </a:solidFill>
                <a:latin typeface="微软雅黑" panose="020B0503020204020204" charset="-122"/>
                <a:ea typeface="微软雅黑" panose="020B0503020204020204" charset="-122"/>
                <a:cs typeface="微软雅黑" panose="020B0503020204020204" charset="-122"/>
              </a:rPr>
              <a:t>组织</a:t>
            </a:r>
            <a:endParaRPr lang="zh-CN" sz="800" i="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sz="800" i="1">
                <a:solidFill>
                  <a:schemeClr val="bg1"/>
                </a:solidFill>
                <a:latin typeface="微软雅黑" panose="020B0503020204020204" charset="-122"/>
                <a:ea typeface="微软雅黑" panose="020B0503020204020204" charset="-122"/>
                <a:cs typeface="微软雅黑" panose="020B0503020204020204" charset="-122"/>
              </a:rPr>
              <a:t>机制</a:t>
            </a:r>
            <a:endParaRPr lang="zh-CN" sz="800" i="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40" name="文本框 139"/>
          <p:cNvSpPr txBox="1"/>
          <p:nvPr/>
        </p:nvSpPr>
        <p:spPr>
          <a:xfrm>
            <a:off x="7142480" y="5634990"/>
            <a:ext cx="512445" cy="337185"/>
          </a:xfrm>
          <a:prstGeom prst="rect">
            <a:avLst/>
          </a:prstGeom>
          <a:noFill/>
          <a:scene3d>
            <a:camera prst="orthographicFront">
              <a:rot lat="0" lon="0" rev="0"/>
            </a:camera>
            <a:lightRig rig="threePt" dir="t"/>
          </a:scene3d>
        </p:spPr>
        <p:txBody>
          <a:bodyPr wrap="square" rtlCol="0">
            <a:spAutoFit/>
          </a:bodyPr>
          <a:p>
            <a:pPr algn="ctr"/>
            <a:r>
              <a:rPr lang="en-US" altLang="zh-CN" sz="800" i="1">
                <a:solidFill>
                  <a:schemeClr val="bg1"/>
                </a:solidFill>
                <a:latin typeface="微软雅黑" panose="020B0503020204020204" charset="-122"/>
                <a:ea typeface="微软雅黑" panose="020B0503020204020204" charset="-122"/>
                <a:cs typeface="微软雅黑" panose="020B0503020204020204" charset="-122"/>
              </a:rPr>
              <a:t>    </a:t>
            </a:r>
            <a:r>
              <a:rPr lang="zh-CN" altLang="en-US" sz="800" i="1">
                <a:solidFill>
                  <a:schemeClr val="bg1"/>
                </a:solidFill>
                <a:latin typeface="微软雅黑" panose="020B0503020204020204" charset="-122"/>
                <a:ea typeface="微软雅黑" panose="020B0503020204020204" charset="-122"/>
                <a:cs typeface="微软雅黑" panose="020B0503020204020204" charset="-122"/>
              </a:rPr>
              <a:t>决策</a:t>
            </a:r>
            <a:endParaRPr lang="zh-CN" altLang="en-US" sz="800" i="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800" i="1">
                <a:solidFill>
                  <a:schemeClr val="bg1"/>
                </a:solidFill>
                <a:latin typeface="微软雅黑" panose="020B0503020204020204" charset="-122"/>
                <a:ea typeface="微软雅黑" panose="020B0503020204020204" charset="-122"/>
                <a:cs typeface="微软雅黑" panose="020B0503020204020204" charset="-122"/>
              </a:rPr>
              <a:t>机制</a:t>
            </a:r>
            <a:endParaRPr lang="zh-CN" altLang="en-US" sz="800" i="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41" name="文本框 140"/>
          <p:cNvSpPr txBox="1"/>
          <p:nvPr/>
        </p:nvSpPr>
        <p:spPr>
          <a:xfrm>
            <a:off x="7631430" y="5634990"/>
            <a:ext cx="512445" cy="337185"/>
          </a:xfrm>
          <a:prstGeom prst="rect">
            <a:avLst/>
          </a:prstGeom>
          <a:noFill/>
          <a:scene3d>
            <a:camera prst="orthographicFront">
              <a:rot lat="0" lon="0" rev="0"/>
            </a:camera>
            <a:lightRig rig="threePt" dir="t"/>
          </a:scene3d>
        </p:spPr>
        <p:txBody>
          <a:bodyPr wrap="square" rtlCol="0">
            <a:spAutoFit/>
          </a:bodyPr>
          <a:p>
            <a:pPr algn="ctr"/>
            <a:r>
              <a:rPr lang="en-US" altLang="zh-CN" sz="800" i="1">
                <a:solidFill>
                  <a:schemeClr val="bg1"/>
                </a:solidFill>
                <a:latin typeface="微软雅黑" panose="020B0503020204020204" charset="-122"/>
                <a:ea typeface="微软雅黑" panose="020B0503020204020204" charset="-122"/>
                <a:cs typeface="微软雅黑" panose="020B0503020204020204" charset="-122"/>
              </a:rPr>
              <a:t>    </a:t>
            </a:r>
            <a:r>
              <a:rPr lang="zh-CN" sz="800" i="1">
                <a:solidFill>
                  <a:schemeClr val="bg1"/>
                </a:solidFill>
                <a:latin typeface="微软雅黑" panose="020B0503020204020204" charset="-122"/>
                <a:ea typeface="微软雅黑" panose="020B0503020204020204" charset="-122"/>
                <a:cs typeface="微软雅黑" panose="020B0503020204020204" charset="-122"/>
              </a:rPr>
              <a:t>文化</a:t>
            </a:r>
            <a:endParaRPr lang="zh-CN" sz="800" i="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sz="800" i="1">
                <a:solidFill>
                  <a:schemeClr val="bg1"/>
                </a:solidFill>
                <a:latin typeface="微软雅黑" panose="020B0503020204020204" charset="-122"/>
                <a:ea typeface="微软雅黑" panose="020B0503020204020204" charset="-122"/>
                <a:cs typeface="微软雅黑" panose="020B0503020204020204" charset="-122"/>
              </a:rPr>
              <a:t>培育</a:t>
            </a:r>
            <a:endParaRPr lang="zh-CN" sz="800" i="1">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179" name="组合 178"/>
          <p:cNvGrpSpPr/>
          <p:nvPr/>
        </p:nvGrpSpPr>
        <p:grpSpPr>
          <a:xfrm>
            <a:off x="1050290" y="2349500"/>
            <a:ext cx="2925445" cy="245110"/>
            <a:chOff x="1644" y="3284"/>
            <a:chExt cx="4607" cy="386"/>
          </a:xfrm>
        </p:grpSpPr>
        <p:sp>
          <p:nvSpPr>
            <p:cNvPr id="175" name="文本框 174"/>
            <p:cNvSpPr txBox="1"/>
            <p:nvPr/>
          </p:nvSpPr>
          <p:spPr>
            <a:xfrm>
              <a:off x="1644" y="3284"/>
              <a:ext cx="2594" cy="386"/>
            </a:xfrm>
            <a:prstGeom prst="rect">
              <a:avLst/>
            </a:prstGeom>
            <a:noFill/>
            <a:scene3d>
              <a:camera prst="orthographicFront">
                <a:rot lat="0" lon="0" rev="0"/>
              </a:camera>
              <a:lightRig rig="threePt" dir="t"/>
            </a:scene3d>
          </p:spPr>
          <p:txBody>
            <a:bodyPr wrap="square" rtlCol="0">
              <a:spAutoFit/>
            </a:bodyPr>
            <a:p>
              <a:pPr algn="l"/>
              <a:r>
                <a:rPr lang="zh-CN" altLang="en-US" sz="1000" b="1">
                  <a:solidFill>
                    <a:schemeClr val="tx2"/>
                  </a:solidFill>
                  <a:latin typeface="微软雅黑" panose="020B0503020204020204" charset="-122"/>
                  <a:ea typeface="微软雅黑" panose="020B0503020204020204" charset="-122"/>
                  <a:cs typeface="微软雅黑" panose="020B0503020204020204" charset="-122"/>
                </a:rPr>
                <a:t>战略定位转移：</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行业跟随</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6" name="文本框 175"/>
            <p:cNvSpPr txBox="1"/>
            <p:nvPr/>
          </p:nvSpPr>
          <p:spPr>
            <a:xfrm>
              <a:off x="4468" y="3284"/>
              <a:ext cx="1783" cy="386"/>
            </a:xfrm>
            <a:prstGeom prst="rect">
              <a:avLst/>
            </a:prstGeom>
            <a:noFill/>
            <a:scene3d>
              <a:camera prst="orthographicFront">
                <a:rot lat="0" lon="0" rev="0"/>
              </a:camera>
              <a:lightRig rig="threePt" dir="t"/>
            </a:scene3d>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生态构建者</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7" name="右箭头 176"/>
            <p:cNvSpPr/>
            <p:nvPr/>
          </p:nvSpPr>
          <p:spPr>
            <a:xfrm>
              <a:off x="4238" y="3352"/>
              <a:ext cx="356" cy="215"/>
            </a:xfrm>
            <a:prstGeom prst="rightArrow">
              <a:avLst/>
            </a:prstGeom>
            <a:solidFill>
              <a:schemeClr val="tx2"/>
            </a:solidFill>
            <a:ln>
              <a:solidFill>
                <a:schemeClr val="tx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2"/>
                </a:solidFill>
                <a:cs typeface="微软雅黑" panose="020B0503020204020204" charset="-122"/>
              </a:endParaRPr>
            </a:p>
          </p:txBody>
        </p:sp>
      </p:grpSp>
      <p:grpSp>
        <p:nvGrpSpPr>
          <p:cNvPr id="180" name="组合 179"/>
          <p:cNvGrpSpPr/>
          <p:nvPr/>
        </p:nvGrpSpPr>
        <p:grpSpPr>
          <a:xfrm>
            <a:off x="1050290" y="2640330"/>
            <a:ext cx="2925445" cy="245110"/>
            <a:chOff x="1644" y="3284"/>
            <a:chExt cx="4607" cy="386"/>
          </a:xfrm>
        </p:grpSpPr>
        <p:sp>
          <p:nvSpPr>
            <p:cNvPr id="181" name="文本框 180"/>
            <p:cNvSpPr txBox="1"/>
            <p:nvPr/>
          </p:nvSpPr>
          <p:spPr>
            <a:xfrm>
              <a:off x="1644" y="3284"/>
              <a:ext cx="2594" cy="386"/>
            </a:xfrm>
            <a:prstGeom prst="rect">
              <a:avLst/>
            </a:prstGeom>
            <a:noFill/>
            <a:scene3d>
              <a:camera prst="orthographicFront">
                <a:rot lat="0" lon="0" rev="0"/>
              </a:camera>
              <a:lightRig rig="threePt" dir="t"/>
            </a:scene3d>
          </p:spPr>
          <p:txBody>
            <a:bodyPr wrap="square" rtlCol="0">
              <a:spAutoFit/>
            </a:bodyPr>
            <a:p>
              <a:pPr algn="l"/>
              <a:r>
                <a:rPr lang="zh-CN" altLang="en-US" sz="1000" b="1">
                  <a:solidFill>
                    <a:schemeClr val="tx2"/>
                  </a:solidFill>
                  <a:latin typeface="微软雅黑" panose="020B0503020204020204" charset="-122"/>
                  <a:ea typeface="微软雅黑" panose="020B0503020204020204" charset="-122"/>
                  <a:cs typeface="微软雅黑" panose="020B0503020204020204" charset="-122"/>
                </a:rPr>
                <a:t>增长逻辑升级：</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线性增长</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2" name="文本框 181"/>
            <p:cNvSpPr txBox="1"/>
            <p:nvPr/>
          </p:nvSpPr>
          <p:spPr>
            <a:xfrm>
              <a:off x="4468" y="3284"/>
              <a:ext cx="1783" cy="386"/>
            </a:xfrm>
            <a:prstGeom prst="rect">
              <a:avLst/>
            </a:prstGeom>
            <a:noFill/>
            <a:scene3d>
              <a:camera prst="orthographicFront">
                <a:rot lat="0" lon="0" rev="0"/>
              </a:camera>
              <a:lightRig rig="threePt" dir="t"/>
            </a:scene3d>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指数增长</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3" name="右箭头 182"/>
            <p:cNvSpPr/>
            <p:nvPr/>
          </p:nvSpPr>
          <p:spPr>
            <a:xfrm>
              <a:off x="4238" y="3352"/>
              <a:ext cx="356" cy="215"/>
            </a:xfrm>
            <a:prstGeom prst="rightArrow">
              <a:avLst/>
            </a:prstGeom>
            <a:solidFill>
              <a:schemeClr val="tx2"/>
            </a:solidFill>
            <a:ln>
              <a:solidFill>
                <a:schemeClr val="tx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2"/>
                </a:solidFill>
                <a:cs typeface="微软雅黑" panose="020B0503020204020204" charset="-122"/>
              </a:endParaRPr>
            </a:p>
          </p:txBody>
        </p:sp>
      </p:grpSp>
      <p:cxnSp>
        <p:nvCxnSpPr>
          <p:cNvPr id="184" name="直接连接符 183"/>
          <p:cNvCxnSpPr/>
          <p:nvPr/>
        </p:nvCxnSpPr>
        <p:spPr>
          <a:xfrm flipV="1">
            <a:off x="481330" y="4069715"/>
            <a:ext cx="2899410" cy="8890"/>
          </a:xfrm>
          <a:prstGeom prst="line">
            <a:avLst/>
          </a:prstGeom>
          <a:ln>
            <a:solidFill>
              <a:schemeClr val="accent1"/>
            </a:solidFill>
            <a:tailEnd type="oval"/>
          </a:ln>
        </p:spPr>
        <p:style>
          <a:lnRef idx="2">
            <a:schemeClr val="accent1"/>
          </a:lnRef>
          <a:fillRef idx="0">
            <a:srgbClr val="FFFFFF"/>
          </a:fillRef>
          <a:effectRef idx="0">
            <a:srgbClr val="FFFFFF"/>
          </a:effectRef>
          <a:fontRef idx="minor">
            <a:schemeClr val="tx1"/>
          </a:fontRef>
        </p:style>
      </p:cxnSp>
      <p:sp>
        <p:nvSpPr>
          <p:cNvPr id="185" name="文本框 184"/>
          <p:cNvSpPr txBox="1"/>
          <p:nvPr/>
        </p:nvSpPr>
        <p:spPr>
          <a:xfrm>
            <a:off x="756285" y="3737610"/>
            <a:ext cx="2321560" cy="275590"/>
          </a:xfrm>
          <a:prstGeom prst="rect">
            <a:avLst/>
          </a:prstGeom>
          <a:noFill/>
          <a:scene3d>
            <a:camera prst="orthographicFront">
              <a:rot lat="0" lon="0" rev="0"/>
            </a:camera>
            <a:lightRig rig="threePt" dir="t"/>
          </a:scene3d>
        </p:spPr>
        <p:txBody>
          <a:bodyPr wrap="square" rtlCol="0">
            <a:spAutoFit/>
          </a:bodyPr>
          <a:p>
            <a:r>
              <a:rPr lang="en-US" sz="1200" b="1">
                <a:solidFill>
                  <a:schemeClr val="accent1"/>
                </a:solidFill>
                <a:latin typeface="微软雅黑" panose="020B0503020204020204" charset="-122"/>
                <a:ea typeface="微软雅黑" panose="020B0503020204020204" charset="-122"/>
                <a:cs typeface="微软雅黑" panose="020B0503020204020204" charset="-122"/>
              </a:rPr>
              <a:t> </a:t>
            </a: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战略重构：重塑价值内核</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86" name="Rectangle: Top Corners Rounded 32"/>
          <p:cNvSpPr/>
          <p:nvPr/>
        </p:nvSpPr>
        <p:spPr>
          <a:xfrm>
            <a:off x="515312" y="3737435"/>
            <a:ext cx="241202" cy="241013"/>
          </a:xfrm>
          <a:prstGeom prst="ellipse">
            <a:avLst/>
          </a:prstGeom>
          <a:solidFill>
            <a:schemeClr val="accent1"/>
          </a:solidFill>
          <a:ln w="9525" cap="flat" cmpd="sng" algn="ctr">
            <a:noFill/>
            <a:prstDash val="solid"/>
            <a:miter lim="800000"/>
          </a:ln>
          <a:effectLst>
            <a:outerShdw blurRad="50800" dist="38100" dir="2700000" algn="tl" rotWithShape="0">
              <a:prstClr val="black">
                <a:alpha val="40000"/>
              </a:prstClr>
            </a:outerShdw>
          </a:effectLst>
        </p:spPr>
        <p:txBody>
          <a:bodyPr rtlCol="0" anchor="ctr"/>
          <a:p>
            <a:pPr algn="ctr"/>
            <a:r>
              <a:rPr lang="en-US" sz="1050" kern="0">
                <a:solidFill>
                  <a:schemeClr val="bg1"/>
                </a:solidFill>
                <a:latin typeface="微软雅黑" panose="020B0503020204020204" charset="-122"/>
                <a:ea typeface="微软雅黑" panose="020B0503020204020204" charset="-122"/>
                <a:cs typeface="微软雅黑" panose="020B0503020204020204" charset="-122"/>
                <a:sym typeface="+mn-lt"/>
              </a:rPr>
              <a:t>2</a:t>
            </a:r>
            <a:endParaRPr lang="en-US" sz="1050" kern="0" dirty="0">
              <a:solidFill>
                <a:schemeClr val="bg1"/>
              </a:solidFill>
              <a:latin typeface="微软雅黑" panose="020B0503020204020204" charset="-122"/>
              <a:ea typeface="微软雅黑" panose="020B0503020204020204" charset="-122"/>
              <a:cs typeface="微软雅黑" panose="020B0503020204020204" charset="-122"/>
              <a:sym typeface="+mn-lt"/>
            </a:endParaRPr>
          </a:p>
        </p:txBody>
      </p:sp>
      <p:grpSp>
        <p:nvGrpSpPr>
          <p:cNvPr id="187" name="组合 186"/>
          <p:cNvGrpSpPr/>
          <p:nvPr/>
        </p:nvGrpSpPr>
        <p:grpSpPr>
          <a:xfrm>
            <a:off x="446405" y="4184015"/>
            <a:ext cx="2605405" cy="252730"/>
            <a:chOff x="1510" y="2840"/>
            <a:chExt cx="4103" cy="398"/>
          </a:xfrm>
        </p:grpSpPr>
        <p:sp>
          <p:nvSpPr>
            <p:cNvPr id="188" name="文本框 187"/>
            <p:cNvSpPr txBox="1"/>
            <p:nvPr/>
          </p:nvSpPr>
          <p:spPr>
            <a:xfrm>
              <a:off x="1510" y="2852"/>
              <a:ext cx="2594" cy="386"/>
            </a:xfrm>
            <a:prstGeom prst="rect">
              <a:avLst/>
            </a:prstGeom>
            <a:noFill/>
            <a:scene3d>
              <a:camera prst="orthographicFront">
                <a:rot lat="0" lon="0" rev="0"/>
              </a:camera>
              <a:lightRig rig="threePt" dir="t"/>
            </a:scene3d>
          </p:spPr>
          <p:txBody>
            <a:bodyPr wrap="square" rtlCol="0">
              <a:spAutoFit/>
            </a:bodyPr>
            <a:p>
              <a:pPr algn="l"/>
              <a:r>
                <a:rPr lang="zh-CN" altLang="en-US" sz="1000" b="1">
                  <a:solidFill>
                    <a:schemeClr val="tx2"/>
                  </a:solidFill>
                  <a:latin typeface="微软雅黑" panose="020B0503020204020204" charset="-122"/>
                  <a:ea typeface="微软雅黑" panose="020B0503020204020204" charset="-122"/>
                  <a:cs typeface="微软雅黑" panose="020B0503020204020204" charset="-122"/>
                </a:rPr>
                <a:t>能力维度：</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机械执行</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9" name="文本框 188"/>
            <p:cNvSpPr txBox="1"/>
            <p:nvPr/>
          </p:nvSpPr>
          <p:spPr>
            <a:xfrm>
              <a:off x="3830" y="2840"/>
              <a:ext cx="1783" cy="386"/>
            </a:xfrm>
            <a:prstGeom prst="rect">
              <a:avLst/>
            </a:prstGeom>
            <a:noFill/>
            <a:scene3d>
              <a:camera prst="orthographicFront">
                <a:rot lat="0" lon="0" rev="0"/>
              </a:camera>
              <a:lightRig rig="threePt" dir="t"/>
            </a:scene3d>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智能决策能力</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90" name="右箭头 189"/>
            <p:cNvSpPr/>
            <p:nvPr/>
          </p:nvSpPr>
          <p:spPr>
            <a:xfrm>
              <a:off x="3600" y="2925"/>
              <a:ext cx="356" cy="215"/>
            </a:xfrm>
            <a:prstGeom prst="rightArrow">
              <a:avLst/>
            </a:prstGeom>
            <a:solidFill>
              <a:schemeClr val="tx2"/>
            </a:solidFill>
            <a:ln>
              <a:solidFill>
                <a:schemeClr val="tx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2"/>
                </a:solidFill>
                <a:cs typeface="微软雅黑" panose="020B0503020204020204" charset="-122"/>
              </a:endParaRPr>
            </a:p>
          </p:txBody>
        </p:sp>
      </p:grpSp>
      <p:grpSp>
        <p:nvGrpSpPr>
          <p:cNvPr id="200" name="组合 199"/>
          <p:cNvGrpSpPr/>
          <p:nvPr/>
        </p:nvGrpSpPr>
        <p:grpSpPr>
          <a:xfrm>
            <a:off x="446405" y="4437380"/>
            <a:ext cx="2605405" cy="252730"/>
            <a:chOff x="1510" y="2840"/>
            <a:chExt cx="4103" cy="398"/>
          </a:xfrm>
        </p:grpSpPr>
        <p:sp>
          <p:nvSpPr>
            <p:cNvPr id="201" name="文本框 200"/>
            <p:cNvSpPr txBox="1"/>
            <p:nvPr/>
          </p:nvSpPr>
          <p:spPr>
            <a:xfrm>
              <a:off x="1510" y="2852"/>
              <a:ext cx="2594" cy="386"/>
            </a:xfrm>
            <a:prstGeom prst="rect">
              <a:avLst/>
            </a:prstGeom>
            <a:noFill/>
            <a:scene3d>
              <a:camera prst="orthographicFront">
                <a:rot lat="0" lon="0" rev="0"/>
              </a:camera>
              <a:lightRig rig="threePt" dir="t"/>
            </a:scene3d>
          </p:spPr>
          <p:txBody>
            <a:bodyPr wrap="square" rtlCol="0">
              <a:spAutoFit/>
            </a:bodyPr>
            <a:p>
              <a:pPr algn="l"/>
              <a:r>
                <a:rPr lang="zh-CN" altLang="en-US" sz="1000" b="1">
                  <a:solidFill>
                    <a:schemeClr val="tx2"/>
                  </a:solidFill>
                  <a:latin typeface="微软雅黑" panose="020B0503020204020204" charset="-122"/>
                  <a:ea typeface="微软雅黑" panose="020B0503020204020204" charset="-122"/>
                  <a:cs typeface="微软雅黑" panose="020B0503020204020204" charset="-122"/>
                </a:rPr>
                <a:t>技术架构：</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信息系统</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02" name="文本框 201"/>
            <p:cNvSpPr txBox="1"/>
            <p:nvPr/>
          </p:nvSpPr>
          <p:spPr>
            <a:xfrm>
              <a:off x="3830" y="2840"/>
              <a:ext cx="1783" cy="386"/>
            </a:xfrm>
            <a:prstGeom prst="rect">
              <a:avLst/>
            </a:prstGeom>
            <a:noFill/>
            <a:scene3d>
              <a:camera prst="orthographicFront">
                <a:rot lat="0" lon="0" rev="0"/>
              </a:camera>
              <a:lightRig rig="threePt" dir="t"/>
            </a:scene3d>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数字孪生体系</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03" name="右箭头 202"/>
            <p:cNvSpPr/>
            <p:nvPr/>
          </p:nvSpPr>
          <p:spPr>
            <a:xfrm>
              <a:off x="3600" y="2925"/>
              <a:ext cx="356" cy="215"/>
            </a:xfrm>
            <a:prstGeom prst="rightArrow">
              <a:avLst/>
            </a:prstGeom>
            <a:solidFill>
              <a:schemeClr val="tx2"/>
            </a:solidFill>
            <a:ln>
              <a:solidFill>
                <a:schemeClr val="tx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2"/>
                </a:solidFill>
                <a:cs typeface="微软雅黑" panose="020B0503020204020204" charset="-122"/>
              </a:endParaRPr>
            </a:p>
          </p:txBody>
        </p:sp>
      </p:grpSp>
      <p:grpSp>
        <p:nvGrpSpPr>
          <p:cNvPr id="204" name="组合 203"/>
          <p:cNvGrpSpPr/>
          <p:nvPr/>
        </p:nvGrpSpPr>
        <p:grpSpPr>
          <a:xfrm>
            <a:off x="446405" y="4708525"/>
            <a:ext cx="2605405" cy="252730"/>
            <a:chOff x="1510" y="2840"/>
            <a:chExt cx="4103" cy="398"/>
          </a:xfrm>
        </p:grpSpPr>
        <p:sp>
          <p:nvSpPr>
            <p:cNvPr id="205" name="文本框 204"/>
            <p:cNvSpPr txBox="1"/>
            <p:nvPr/>
          </p:nvSpPr>
          <p:spPr>
            <a:xfrm>
              <a:off x="1510" y="2852"/>
              <a:ext cx="2594" cy="386"/>
            </a:xfrm>
            <a:prstGeom prst="rect">
              <a:avLst/>
            </a:prstGeom>
            <a:noFill/>
            <a:scene3d>
              <a:camera prst="orthographicFront">
                <a:rot lat="0" lon="0" rev="0"/>
              </a:camera>
              <a:lightRig rig="threePt" dir="t"/>
            </a:scene3d>
          </p:spPr>
          <p:txBody>
            <a:bodyPr wrap="square" rtlCol="0">
              <a:spAutoFit/>
            </a:bodyPr>
            <a:p>
              <a:pPr algn="l"/>
              <a:r>
                <a:rPr lang="zh-CN" altLang="en-US" sz="1000" b="1">
                  <a:solidFill>
                    <a:schemeClr val="tx2"/>
                  </a:solidFill>
                  <a:latin typeface="微软雅黑" panose="020B0503020204020204" charset="-122"/>
                  <a:ea typeface="微软雅黑" panose="020B0503020204020204" charset="-122"/>
                  <a:cs typeface="微软雅黑" panose="020B0503020204020204" charset="-122"/>
                </a:rPr>
                <a:t>迭代机制：</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常规开发</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06" name="文本框 205"/>
            <p:cNvSpPr txBox="1"/>
            <p:nvPr/>
          </p:nvSpPr>
          <p:spPr>
            <a:xfrm>
              <a:off x="3830" y="2840"/>
              <a:ext cx="1783" cy="386"/>
            </a:xfrm>
            <a:prstGeom prst="rect">
              <a:avLst/>
            </a:prstGeom>
            <a:noFill/>
            <a:scene3d>
              <a:camera prst="orthographicFront">
                <a:rot lat="0" lon="0" rev="0"/>
              </a:camera>
              <a:lightRig rig="threePt" dir="t"/>
            </a:scene3d>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敏捷迭代能力</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07" name="右箭头 206"/>
            <p:cNvSpPr/>
            <p:nvPr/>
          </p:nvSpPr>
          <p:spPr>
            <a:xfrm>
              <a:off x="3600" y="2925"/>
              <a:ext cx="356" cy="215"/>
            </a:xfrm>
            <a:prstGeom prst="rightArrow">
              <a:avLst/>
            </a:prstGeom>
            <a:solidFill>
              <a:schemeClr val="tx2"/>
            </a:solidFill>
            <a:ln>
              <a:solidFill>
                <a:schemeClr val="tx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2"/>
                </a:solidFill>
                <a:cs typeface="微软雅黑" panose="020B0503020204020204" charset="-122"/>
              </a:endParaRPr>
            </a:p>
          </p:txBody>
        </p:sp>
      </p:grpSp>
      <p:cxnSp>
        <p:nvCxnSpPr>
          <p:cNvPr id="208" name="直接连接符 207"/>
          <p:cNvCxnSpPr/>
          <p:nvPr/>
        </p:nvCxnSpPr>
        <p:spPr>
          <a:xfrm>
            <a:off x="944880" y="5748655"/>
            <a:ext cx="2463165" cy="10160"/>
          </a:xfrm>
          <a:prstGeom prst="line">
            <a:avLst/>
          </a:prstGeom>
          <a:ln>
            <a:solidFill>
              <a:schemeClr val="accent1">
                <a:lumMod val="60000"/>
                <a:lumOff val="40000"/>
              </a:schemeClr>
            </a:solidFill>
            <a:tailEnd type="oval"/>
          </a:ln>
        </p:spPr>
        <p:style>
          <a:lnRef idx="2">
            <a:schemeClr val="accent1"/>
          </a:lnRef>
          <a:fillRef idx="0">
            <a:srgbClr val="FFFFFF"/>
          </a:fillRef>
          <a:effectRef idx="0">
            <a:srgbClr val="FFFFFF"/>
          </a:effectRef>
          <a:fontRef idx="minor">
            <a:schemeClr val="tx1"/>
          </a:fontRef>
        </p:style>
      </p:cxnSp>
      <p:sp>
        <p:nvSpPr>
          <p:cNvPr id="209" name="文本框 208"/>
          <p:cNvSpPr txBox="1"/>
          <p:nvPr/>
        </p:nvSpPr>
        <p:spPr>
          <a:xfrm>
            <a:off x="1251585" y="5402580"/>
            <a:ext cx="2321560" cy="275590"/>
          </a:xfrm>
          <a:prstGeom prst="rect">
            <a:avLst/>
          </a:prstGeom>
          <a:noFill/>
          <a:scene3d>
            <a:camera prst="orthographicFront">
              <a:rot lat="0" lon="0" rev="0"/>
            </a:camera>
            <a:lightRig rig="threePt" dir="t"/>
          </a:scene3d>
        </p:spPr>
        <p:txBody>
          <a:bodyPr wrap="square" rtlCol="0">
            <a:spAutoFit/>
          </a:bodyPr>
          <a:p>
            <a:r>
              <a:rPr lang="en-US" sz="12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 </a:t>
            </a:r>
            <a:r>
              <a:rPr lang="zh-CN" altLang="en-US" sz="12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技术融合：打造赋能体系</a:t>
            </a:r>
            <a:endParaRPr lang="zh-CN" altLang="en-US" sz="12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10" name="Rectangle: Top Corners Rounded 32"/>
          <p:cNvSpPr/>
          <p:nvPr/>
        </p:nvSpPr>
        <p:spPr>
          <a:xfrm>
            <a:off x="1010612" y="5402405"/>
            <a:ext cx="241202" cy="241013"/>
          </a:xfrm>
          <a:prstGeom prst="ellipse">
            <a:avLst/>
          </a:prstGeom>
          <a:solidFill>
            <a:schemeClr val="accent1">
              <a:lumMod val="60000"/>
              <a:lumOff val="40000"/>
            </a:schemeClr>
          </a:solidFill>
          <a:ln w="9525" cap="flat" cmpd="sng" algn="ctr">
            <a:noFill/>
            <a:prstDash val="solid"/>
            <a:miter lim="800000"/>
          </a:ln>
          <a:effectLst>
            <a:outerShdw blurRad="50800" dist="38100" dir="2700000" algn="tl" rotWithShape="0">
              <a:prstClr val="black">
                <a:alpha val="40000"/>
              </a:prstClr>
            </a:outerShdw>
          </a:effectLst>
        </p:spPr>
        <p:txBody>
          <a:bodyPr rtlCol="0" anchor="ctr"/>
          <a:p>
            <a:pPr algn="ctr"/>
            <a:r>
              <a:rPr lang="en-US" sz="1050" kern="0">
                <a:solidFill>
                  <a:schemeClr val="bg1"/>
                </a:solidFill>
                <a:latin typeface="微软雅黑" panose="020B0503020204020204" charset="-122"/>
                <a:ea typeface="微软雅黑" panose="020B0503020204020204" charset="-122"/>
                <a:cs typeface="微软雅黑" panose="020B0503020204020204" charset="-122"/>
                <a:sym typeface="+mn-lt"/>
              </a:rPr>
              <a:t>3</a:t>
            </a:r>
            <a:endParaRPr lang="en-US" sz="1050" kern="0" dirty="0">
              <a:solidFill>
                <a:schemeClr val="bg1"/>
              </a:solidFill>
              <a:latin typeface="微软雅黑" panose="020B0503020204020204" charset="-122"/>
              <a:ea typeface="微软雅黑" panose="020B0503020204020204" charset="-122"/>
              <a:cs typeface="微软雅黑" panose="020B0503020204020204" charset="-122"/>
              <a:sym typeface="+mn-lt"/>
            </a:endParaRPr>
          </a:p>
        </p:txBody>
      </p:sp>
      <p:sp>
        <p:nvSpPr>
          <p:cNvPr id="212" name="文本框 211"/>
          <p:cNvSpPr txBox="1"/>
          <p:nvPr/>
        </p:nvSpPr>
        <p:spPr>
          <a:xfrm>
            <a:off x="977265" y="5856605"/>
            <a:ext cx="2533015" cy="245110"/>
          </a:xfrm>
          <a:prstGeom prst="rect">
            <a:avLst/>
          </a:prstGeom>
          <a:noFill/>
          <a:scene3d>
            <a:camera prst="orthographicFront">
              <a:rot lat="0" lon="0" rev="0"/>
            </a:camera>
            <a:lightRig rig="threePt" dir="t"/>
          </a:scene3d>
        </p:spPr>
        <p:txBody>
          <a:bodyPr wrap="square" rtlCol="0">
            <a:spAutoFit/>
          </a:bodyPr>
          <a:p>
            <a:pPr algn="l"/>
            <a:r>
              <a:rPr lang="zh-CN" altLang="en-US" sz="1000" b="1">
                <a:solidFill>
                  <a:schemeClr val="tx2"/>
                </a:solidFill>
                <a:latin typeface="微软雅黑" panose="020B0503020204020204" charset="-122"/>
                <a:ea typeface="微软雅黑" panose="020B0503020204020204" charset="-122"/>
                <a:cs typeface="微软雅黑" panose="020B0503020204020204" charset="-122"/>
              </a:rPr>
              <a:t>基础架构：</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云计算</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+5G+</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物联网</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23" name="文本框 222"/>
          <p:cNvSpPr txBox="1"/>
          <p:nvPr/>
        </p:nvSpPr>
        <p:spPr>
          <a:xfrm>
            <a:off x="977265" y="6116955"/>
            <a:ext cx="2533015" cy="245110"/>
          </a:xfrm>
          <a:prstGeom prst="rect">
            <a:avLst/>
          </a:prstGeom>
          <a:noFill/>
          <a:scene3d>
            <a:camera prst="orthographicFront">
              <a:rot lat="0" lon="0" rev="0"/>
            </a:camera>
            <a:lightRig rig="threePt" dir="t"/>
          </a:scene3d>
        </p:spPr>
        <p:txBody>
          <a:bodyPr wrap="square" rtlCol="0">
            <a:spAutoFit/>
          </a:bodyPr>
          <a:p>
            <a:pPr algn="l"/>
            <a:r>
              <a:rPr lang="zh-CN" altLang="en-US" sz="1000" b="1">
                <a:solidFill>
                  <a:schemeClr val="tx2"/>
                </a:solidFill>
                <a:latin typeface="微软雅黑" panose="020B0503020204020204" charset="-122"/>
                <a:ea typeface="微软雅黑" panose="020B0503020204020204" charset="-122"/>
                <a:cs typeface="微软雅黑" panose="020B0503020204020204" charset="-122"/>
              </a:rPr>
              <a:t>中枢系统：</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大数据平台与</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AI</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算法中台</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24" name="文本框 223"/>
          <p:cNvSpPr txBox="1"/>
          <p:nvPr/>
        </p:nvSpPr>
        <p:spPr>
          <a:xfrm>
            <a:off x="977265" y="6362065"/>
            <a:ext cx="2785745" cy="398780"/>
          </a:xfrm>
          <a:prstGeom prst="rect">
            <a:avLst/>
          </a:prstGeom>
          <a:noFill/>
          <a:scene3d>
            <a:camera prst="orthographicFront">
              <a:rot lat="0" lon="0" rev="0"/>
            </a:camera>
            <a:lightRig rig="threePt" dir="t"/>
          </a:scene3d>
        </p:spPr>
        <p:txBody>
          <a:bodyPr wrap="square" rtlCol="0">
            <a:spAutoFit/>
          </a:bodyPr>
          <a:p>
            <a:pPr algn="l"/>
            <a:r>
              <a:rPr lang="zh-CN" altLang="en-US" sz="1000" b="1">
                <a:solidFill>
                  <a:schemeClr val="tx2"/>
                </a:solidFill>
                <a:latin typeface="微软雅黑" panose="020B0503020204020204" charset="-122"/>
                <a:ea typeface="微软雅黑" panose="020B0503020204020204" charset="-122"/>
                <a:cs typeface="微软雅黑" panose="020B0503020204020204" charset="-122"/>
              </a:rPr>
              <a:t>应用矩阵：</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智能工厂</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智慧供应链</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l"/>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225" name="直接连接符 224"/>
          <p:cNvCxnSpPr/>
          <p:nvPr/>
        </p:nvCxnSpPr>
        <p:spPr>
          <a:xfrm flipV="1">
            <a:off x="8817610" y="5402580"/>
            <a:ext cx="2494280" cy="13970"/>
          </a:xfrm>
          <a:prstGeom prst="line">
            <a:avLst/>
          </a:prstGeom>
          <a:ln>
            <a:solidFill>
              <a:schemeClr val="accent5">
                <a:lumMod val="60000"/>
                <a:lumOff val="40000"/>
              </a:schemeClr>
            </a:solidFill>
            <a:headEnd type="oval"/>
            <a:tailEnd type="none"/>
          </a:ln>
        </p:spPr>
        <p:style>
          <a:lnRef idx="2">
            <a:schemeClr val="accent1"/>
          </a:lnRef>
          <a:fillRef idx="0">
            <a:srgbClr val="FFFFFF"/>
          </a:fillRef>
          <a:effectRef idx="0">
            <a:srgbClr val="FFFFFF"/>
          </a:effectRef>
          <a:fontRef idx="minor">
            <a:schemeClr val="tx1"/>
          </a:fontRef>
        </p:style>
      </p:cxnSp>
      <p:sp>
        <p:nvSpPr>
          <p:cNvPr id="226" name="文本框 225"/>
          <p:cNvSpPr txBox="1"/>
          <p:nvPr/>
        </p:nvSpPr>
        <p:spPr>
          <a:xfrm>
            <a:off x="9345295" y="5076825"/>
            <a:ext cx="2321560" cy="275590"/>
          </a:xfrm>
          <a:prstGeom prst="rect">
            <a:avLst/>
          </a:prstGeom>
          <a:noFill/>
          <a:scene3d>
            <a:camera prst="orthographicFront">
              <a:rot lat="0" lon="0" rev="0"/>
            </a:camera>
            <a:lightRig rig="threePt" dir="t"/>
          </a:scene3d>
        </p:spPr>
        <p:txBody>
          <a:bodyPr wrap="square" rtlCol="0">
            <a:spAutoFit/>
          </a:bodyPr>
          <a:p>
            <a:r>
              <a:rPr lang="zh-CN" altLang="en-US" sz="12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治理革新：构建敏捷机制</a:t>
            </a:r>
            <a:endParaRPr lang="zh-CN" altLang="en-US" sz="12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27" name="Rectangle: Top Corners Rounded 32"/>
          <p:cNvSpPr/>
          <p:nvPr/>
        </p:nvSpPr>
        <p:spPr>
          <a:xfrm>
            <a:off x="9104322" y="5076650"/>
            <a:ext cx="241202" cy="241013"/>
          </a:xfrm>
          <a:prstGeom prst="ellipse">
            <a:avLst/>
          </a:prstGeom>
          <a:solidFill>
            <a:schemeClr val="accent5">
              <a:lumMod val="60000"/>
              <a:lumOff val="40000"/>
            </a:schemeClr>
          </a:solidFill>
          <a:ln w="9525" cap="flat" cmpd="sng" algn="ctr">
            <a:noFill/>
            <a:prstDash val="solid"/>
            <a:miter lim="800000"/>
          </a:ln>
          <a:effectLst>
            <a:outerShdw blurRad="50800" dist="38100" dir="2700000" algn="tl" rotWithShape="0">
              <a:prstClr val="black">
                <a:alpha val="40000"/>
              </a:prstClr>
            </a:outerShdw>
          </a:effectLst>
        </p:spPr>
        <p:txBody>
          <a:bodyPr rtlCol="0" anchor="ctr"/>
          <a:p>
            <a:pPr algn="ctr"/>
            <a:r>
              <a:rPr lang="en-US" sz="1050" kern="0">
                <a:solidFill>
                  <a:schemeClr val="bg1"/>
                </a:solidFill>
                <a:latin typeface="微软雅黑" panose="020B0503020204020204" charset="-122"/>
                <a:ea typeface="微软雅黑" panose="020B0503020204020204" charset="-122"/>
                <a:cs typeface="微软雅黑" panose="020B0503020204020204" charset="-122"/>
                <a:sym typeface="+mn-lt"/>
              </a:rPr>
              <a:t>4</a:t>
            </a:r>
            <a:endParaRPr lang="en-US" sz="1050" kern="0" dirty="0">
              <a:solidFill>
                <a:schemeClr val="bg1"/>
              </a:solidFill>
              <a:latin typeface="微软雅黑" panose="020B0503020204020204" charset="-122"/>
              <a:ea typeface="微软雅黑" panose="020B0503020204020204" charset="-122"/>
              <a:cs typeface="微软雅黑" panose="020B0503020204020204" charset="-122"/>
              <a:sym typeface="+mn-lt"/>
            </a:endParaRPr>
          </a:p>
        </p:txBody>
      </p:sp>
      <p:grpSp>
        <p:nvGrpSpPr>
          <p:cNvPr id="228" name="组合 227"/>
          <p:cNvGrpSpPr/>
          <p:nvPr/>
        </p:nvGrpSpPr>
        <p:grpSpPr>
          <a:xfrm>
            <a:off x="8766175" y="5577205"/>
            <a:ext cx="2605405" cy="252730"/>
            <a:chOff x="1510" y="2840"/>
            <a:chExt cx="4103" cy="398"/>
          </a:xfrm>
        </p:grpSpPr>
        <p:sp>
          <p:nvSpPr>
            <p:cNvPr id="229" name="文本框 228"/>
            <p:cNvSpPr txBox="1"/>
            <p:nvPr/>
          </p:nvSpPr>
          <p:spPr>
            <a:xfrm>
              <a:off x="1510" y="2852"/>
              <a:ext cx="2594" cy="386"/>
            </a:xfrm>
            <a:prstGeom prst="rect">
              <a:avLst/>
            </a:prstGeom>
            <a:noFill/>
            <a:scene3d>
              <a:camera prst="orthographicFront">
                <a:rot lat="0" lon="0" rev="0"/>
              </a:camera>
              <a:lightRig rig="threePt" dir="t"/>
            </a:scene3d>
          </p:spPr>
          <p:txBody>
            <a:bodyPr wrap="square" rtlCol="0">
              <a:spAutoFit/>
            </a:bodyPr>
            <a:p>
              <a:pPr algn="l"/>
              <a:r>
                <a:rPr lang="zh-CN" altLang="en-US" sz="1000" b="1">
                  <a:solidFill>
                    <a:schemeClr val="tx2"/>
                  </a:solidFill>
                  <a:latin typeface="微软雅黑" panose="020B0503020204020204" charset="-122"/>
                  <a:ea typeface="微软雅黑" panose="020B0503020204020204" charset="-122"/>
                  <a:cs typeface="微软雅黑" panose="020B0503020204020204" charset="-122"/>
                </a:rPr>
                <a:t>组织形态：</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层架架构</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30" name="文本框 229"/>
            <p:cNvSpPr txBox="1"/>
            <p:nvPr/>
          </p:nvSpPr>
          <p:spPr>
            <a:xfrm>
              <a:off x="3830" y="2840"/>
              <a:ext cx="1783" cy="386"/>
            </a:xfrm>
            <a:prstGeom prst="rect">
              <a:avLst/>
            </a:prstGeom>
            <a:noFill/>
            <a:scene3d>
              <a:camera prst="orthographicFront">
                <a:rot lat="0" lon="0" rev="0"/>
              </a:camera>
              <a:lightRig rig="threePt" dir="t"/>
            </a:scene3d>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平台型组织</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31" name="右箭头 230"/>
            <p:cNvSpPr/>
            <p:nvPr/>
          </p:nvSpPr>
          <p:spPr>
            <a:xfrm>
              <a:off x="3600" y="2925"/>
              <a:ext cx="356" cy="215"/>
            </a:xfrm>
            <a:prstGeom prst="rightArrow">
              <a:avLst/>
            </a:prstGeom>
            <a:solidFill>
              <a:schemeClr val="tx2"/>
            </a:solidFill>
            <a:ln>
              <a:solidFill>
                <a:schemeClr val="tx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2"/>
                </a:solidFill>
                <a:cs typeface="微软雅黑" panose="020B0503020204020204" charset="-122"/>
              </a:endParaRPr>
            </a:p>
          </p:txBody>
        </p:sp>
      </p:grpSp>
      <p:grpSp>
        <p:nvGrpSpPr>
          <p:cNvPr id="232" name="组合 231"/>
          <p:cNvGrpSpPr/>
          <p:nvPr/>
        </p:nvGrpSpPr>
        <p:grpSpPr>
          <a:xfrm>
            <a:off x="8766175" y="5830570"/>
            <a:ext cx="2605405" cy="252730"/>
            <a:chOff x="1510" y="2840"/>
            <a:chExt cx="4103" cy="398"/>
          </a:xfrm>
        </p:grpSpPr>
        <p:sp>
          <p:nvSpPr>
            <p:cNvPr id="233" name="文本框 232"/>
            <p:cNvSpPr txBox="1"/>
            <p:nvPr/>
          </p:nvSpPr>
          <p:spPr>
            <a:xfrm>
              <a:off x="1510" y="2852"/>
              <a:ext cx="2594" cy="386"/>
            </a:xfrm>
            <a:prstGeom prst="rect">
              <a:avLst/>
            </a:prstGeom>
            <a:noFill/>
            <a:scene3d>
              <a:camera prst="orthographicFront">
                <a:rot lat="0" lon="0" rev="0"/>
              </a:camera>
              <a:lightRig rig="threePt" dir="t"/>
            </a:scene3d>
          </p:spPr>
          <p:txBody>
            <a:bodyPr wrap="square" rtlCol="0">
              <a:spAutoFit/>
            </a:bodyPr>
            <a:p>
              <a:pPr algn="l"/>
              <a:r>
                <a:rPr lang="zh-CN" altLang="en-US" sz="1000" b="1">
                  <a:solidFill>
                    <a:schemeClr val="tx2"/>
                  </a:solidFill>
                  <a:latin typeface="微软雅黑" panose="020B0503020204020204" charset="-122"/>
                  <a:ea typeface="微软雅黑" panose="020B0503020204020204" charset="-122"/>
                  <a:cs typeface="微软雅黑" panose="020B0503020204020204" charset="-122"/>
                </a:rPr>
                <a:t>决策机制：</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经验决策</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34" name="文本框 233"/>
            <p:cNvSpPr txBox="1"/>
            <p:nvPr/>
          </p:nvSpPr>
          <p:spPr>
            <a:xfrm>
              <a:off x="3830" y="2840"/>
              <a:ext cx="1783" cy="386"/>
            </a:xfrm>
            <a:prstGeom prst="rect">
              <a:avLst/>
            </a:prstGeom>
            <a:noFill/>
            <a:scene3d>
              <a:camera prst="orthographicFront">
                <a:rot lat="0" lon="0" rev="0"/>
              </a:camera>
              <a:lightRig rig="threePt" dir="t"/>
            </a:scene3d>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数据驱动</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35" name="右箭头 234"/>
            <p:cNvSpPr/>
            <p:nvPr/>
          </p:nvSpPr>
          <p:spPr>
            <a:xfrm>
              <a:off x="3600" y="2925"/>
              <a:ext cx="356" cy="215"/>
            </a:xfrm>
            <a:prstGeom prst="rightArrow">
              <a:avLst/>
            </a:prstGeom>
            <a:solidFill>
              <a:schemeClr val="tx2"/>
            </a:solidFill>
            <a:ln>
              <a:solidFill>
                <a:schemeClr val="tx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2"/>
                </a:solidFill>
                <a:cs typeface="微软雅黑" panose="020B0503020204020204" charset="-122"/>
              </a:endParaRPr>
            </a:p>
          </p:txBody>
        </p:sp>
      </p:grpSp>
      <p:grpSp>
        <p:nvGrpSpPr>
          <p:cNvPr id="236" name="组合 235"/>
          <p:cNvGrpSpPr/>
          <p:nvPr/>
        </p:nvGrpSpPr>
        <p:grpSpPr>
          <a:xfrm>
            <a:off x="8766175" y="6101715"/>
            <a:ext cx="2605405" cy="252730"/>
            <a:chOff x="1510" y="2840"/>
            <a:chExt cx="4103" cy="398"/>
          </a:xfrm>
        </p:grpSpPr>
        <p:sp>
          <p:nvSpPr>
            <p:cNvPr id="237" name="文本框 236"/>
            <p:cNvSpPr txBox="1"/>
            <p:nvPr/>
          </p:nvSpPr>
          <p:spPr>
            <a:xfrm>
              <a:off x="1510" y="2852"/>
              <a:ext cx="2594" cy="386"/>
            </a:xfrm>
            <a:prstGeom prst="rect">
              <a:avLst/>
            </a:prstGeom>
            <a:noFill/>
            <a:scene3d>
              <a:camera prst="orthographicFront">
                <a:rot lat="0" lon="0" rev="0"/>
              </a:camera>
              <a:lightRig rig="threePt" dir="t"/>
            </a:scene3d>
          </p:spPr>
          <p:txBody>
            <a:bodyPr wrap="square" rtlCol="0">
              <a:spAutoFit/>
            </a:bodyPr>
            <a:p>
              <a:pPr algn="l"/>
              <a:r>
                <a:rPr lang="zh-CN" altLang="en-US" sz="1000" b="1">
                  <a:solidFill>
                    <a:schemeClr val="tx2"/>
                  </a:solidFill>
                  <a:latin typeface="微软雅黑" panose="020B0503020204020204" charset="-122"/>
                  <a:ea typeface="微软雅黑" panose="020B0503020204020204" charset="-122"/>
                  <a:cs typeface="微软雅黑" panose="020B0503020204020204" charset="-122"/>
                </a:rPr>
                <a:t>风控体系：</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合规管理</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38" name="文本框 237"/>
            <p:cNvSpPr txBox="1"/>
            <p:nvPr/>
          </p:nvSpPr>
          <p:spPr>
            <a:xfrm>
              <a:off x="3830" y="2840"/>
              <a:ext cx="1783" cy="386"/>
            </a:xfrm>
            <a:prstGeom prst="rect">
              <a:avLst/>
            </a:prstGeom>
            <a:noFill/>
            <a:scene3d>
              <a:camera prst="orthographicFront">
                <a:rot lat="0" lon="0" rev="0"/>
              </a:camera>
              <a:lightRig rig="threePt" dir="t"/>
            </a:scene3d>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智能风控</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39" name="右箭头 238"/>
            <p:cNvSpPr/>
            <p:nvPr/>
          </p:nvSpPr>
          <p:spPr>
            <a:xfrm>
              <a:off x="3600" y="2925"/>
              <a:ext cx="356" cy="215"/>
            </a:xfrm>
            <a:prstGeom prst="rightArrow">
              <a:avLst/>
            </a:prstGeom>
            <a:solidFill>
              <a:schemeClr val="tx2"/>
            </a:solidFill>
            <a:ln>
              <a:solidFill>
                <a:schemeClr val="tx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2"/>
                </a:solidFill>
                <a:cs typeface="微软雅黑" panose="020B0503020204020204" charset="-122"/>
              </a:endParaRPr>
            </a:p>
          </p:txBody>
        </p:sp>
      </p:grpSp>
      <p:cxnSp>
        <p:nvCxnSpPr>
          <p:cNvPr id="240" name="直接连接符 239"/>
          <p:cNvCxnSpPr/>
          <p:nvPr/>
        </p:nvCxnSpPr>
        <p:spPr>
          <a:xfrm flipV="1">
            <a:off x="9093835" y="2789555"/>
            <a:ext cx="2494280" cy="13970"/>
          </a:xfrm>
          <a:prstGeom prst="line">
            <a:avLst/>
          </a:prstGeom>
          <a:ln>
            <a:solidFill>
              <a:schemeClr val="accent1">
                <a:lumMod val="60000"/>
                <a:lumOff val="40000"/>
              </a:schemeClr>
            </a:solidFill>
            <a:headEnd type="oval"/>
            <a:tailEnd type="none"/>
          </a:ln>
        </p:spPr>
        <p:style>
          <a:lnRef idx="2">
            <a:schemeClr val="accent1"/>
          </a:lnRef>
          <a:fillRef idx="0">
            <a:srgbClr val="FFFFFF"/>
          </a:fillRef>
          <a:effectRef idx="0">
            <a:srgbClr val="FFFFFF"/>
          </a:effectRef>
          <a:fontRef idx="minor">
            <a:schemeClr val="tx1"/>
          </a:fontRef>
        </p:style>
      </p:cxnSp>
      <p:sp>
        <p:nvSpPr>
          <p:cNvPr id="241" name="文本框 240"/>
          <p:cNvSpPr txBox="1"/>
          <p:nvPr/>
        </p:nvSpPr>
        <p:spPr>
          <a:xfrm>
            <a:off x="9523730" y="2463800"/>
            <a:ext cx="2321560" cy="275590"/>
          </a:xfrm>
          <a:prstGeom prst="rect">
            <a:avLst/>
          </a:prstGeom>
          <a:noFill/>
          <a:scene3d>
            <a:camera prst="orthographicFront">
              <a:rot lat="0" lon="0" rev="0"/>
            </a:camera>
            <a:lightRig rig="threePt" dir="t"/>
          </a:scene3d>
        </p:spPr>
        <p:txBody>
          <a:bodyPr wrap="square" rtlCol="0">
            <a:spAutoFit/>
          </a:bodyPr>
          <a:p>
            <a:r>
              <a:rPr lang="zh-CN" altLang="en-US" sz="12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价值跃迁：实现第二曲线</a:t>
            </a:r>
            <a:endParaRPr lang="zh-CN" altLang="en-US" sz="12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42" name="Rectangle: Top Corners Rounded 32"/>
          <p:cNvSpPr/>
          <p:nvPr/>
        </p:nvSpPr>
        <p:spPr>
          <a:xfrm>
            <a:off x="9282757" y="2463625"/>
            <a:ext cx="241202" cy="241013"/>
          </a:xfrm>
          <a:prstGeom prst="ellipse">
            <a:avLst/>
          </a:prstGeom>
          <a:solidFill>
            <a:schemeClr val="accent1">
              <a:lumMod val="60000"/>
              <a:lumOff val="40000"/>
            </a:schemeClr>
          </a:solidFill>
          <a:ln w="9525" cap="flat" cmpd="sng" algn="ctr">
            <a:noFill/>
            <a:prstDash val="solid"/>
            <a:miter lim="800000"/>
          </a:ln>
          <a:effectLst>
            <a:outerShdw blurRad="50800" dist="38100" dir="2700000" algn="tl" rotWithShape="0">
              <a:prstClr val="black">
                <a:alpha val="40000"/>
              </a:prstClr>
            </a:outerShdw>
          </a:effectLst>
        </p:spPr>
        <p:txBody>
          <a:bodyPr rtlCol="0" anchor="ctr"/>
          <a:p>
            <a:pPr algn="ctr"/>
            <a:r>
              <a:rPr lang="en-US" sz="1050" kern="0">
                <a:solidFill>
                  <a:schemeClr val="bg1"/>
                </a:solidFill>
                <a:latin typeface="微软雅黑" panose="020B0503020204020204" charset="-122"/>
                <a:ea typeface="微软雅黑" panose="020B0503020204020204" charset="-122"/>
                <a:cs typeface="微软雅黑" panose="020B0503020204020204" charset="-122"/>
                <a:sym typeface="+mn-lt"/>
              </a:rPr>
              <a:t>5</a:t>
            </a:r>
            <a:endParaRPr lang="en-US" sz="1050" kern="0" dirty="0">
              <a:solidFill>
                <a:schemeClr val="bg1"/>
              </a:solidFill>
              <a:latin typeface="微软雅黑" panose="020B0503020204020204" charset="-122"/>
              <a:ea typeface="微软雅黑" panose="020B0503020204020204" charset="-122"/>
              <a:cs typeface="微软雅黑" panose="020B0503020204020204" charset="-122"/>
              <a:sym typeface="+mn-lt"/>
            </a:endParaRPr>
          </a:p>
        </p:txBody>
      </p:sp>
      <p:grpSp>
        <p:nvGrpSpPr>
          <p:cNvPr id="243" name="组合 242"/>
          <p:cNvGrpSpPr/>
          <p:nvPr/>
        </p:nvGrpSpPr>
        <p:grpSpPr>
          <a:xfrm>
            <a:off x="9042400" y="2964180"/>
            <a:ext cx="2823210" cy="252730"/>
            <a:chOff x="1510" y="2840"/>
            <a:chExt cx="4446" cy="398"/>
          </a:xfrm>
        </p:grpSpPr>
        <p:sp>
          <p:nvSpPr>
            <p:cNvPr id="244" name="文本框 243"/>
            <p:cNvSpPr txBox="1"/>
            <p:nvPr/>
          </p:nvSpPr>
          <p:spPr>
            <a:xfrm>
              <a:off x="1510" y="2852"/>
              <a:ext cx="2594" cy="386"/>
            </a:xfrm>
            <a:prstGeom prst="rect">
              <a:avLst/>
            </a:prstGeom>
            <a:noFill/>
            <a:scene3d>
              <a:camera prst="orthographicFront">
                <a:rot lat="0" lon="0" rev="0"/>
              </a:camera>
              <a:lightRig rig="threePt" dir="t"/>
            </a:scene3d>
          </p:spPr>
          <p:txBody>
            <a:bodyPr wrap="square" rtlCol="0">
              <a:spAutoFit/>
            </a:bodyPr>
            <a:p>
              <a:pPr algn="l"/>
              <a:r>
                <a:rPr lang="zh-CN" altLang="en-US" sz="1000" b="1">
                  <a:solidFill>
                    <a:schemeClr val="tx2"/>
                  </a:solidFill>
                  <a:latin typeface="微软雅黑" panose="020B0503020204020204" charset="-122"/>
                  <a:ea typeface="微软雅黑" panose="020B0503020204020204" charset="-122"/>
                  <a:cs typeface="微软雅黑" panose="020B0503020204020204" charset="-122"/>
                </a:rPr>
                <a:t>业务重构：</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产品中心</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45" name="文本框 244"/>
            <p:cNvSpPr txBox="1"/>
            <p:nvPr/>
          </p:nvSpPr>
          <p:spPr>
            <a:xfrm>
              <a:off x="3830" y="2840"/>
              <a:ext cx="2126" cy="386"/>
            </a:xfrm>
            <a:prstGeom prst="rect">
              <a:avLst/>
            </a:prstGeom>
            <a:noFill/>
            <a:scene3d>
              <a:camera prst="orthographicFront">
                <a:rot lat="0" lon="0" rev="0"/>
              </a:camera>
              <a:lightRig rig="threePt" dir="t"/>
            </a:scene3d>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客户生命周期运营</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46" name="右箭头 245"/>
            <p:cNvSpPr/>
            <p:nvPr/>
          </p:nvSpPr>
          <p:spPr>
            <a:xfrm>
              <a:off x="3600" y="2925"/>
              <a:ext cx="356" cy="215"/>
            </a:xfrm>
            <a:prstGeom prst="rightArrow">
              <a:avLst/>
            </a:prstGeom>
            <a:solidFill>
              <a:schemeClr val="tx2"/>
            </a:solidFill>
            <a:ln>
              <a:solidFill>
                <a:schemeClr val="tx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2"/>
                </a:solidFill>
                <a:cs typeface="微软雅黑" panose="020B0503020204020204" charset="-122"/>
              </a:endParaRPr>
            </a:p>
          </p:txBody>
        </p:sp>
      </p:grpSp>
      <p:grpSp>
        <p:nvGrpSpPr>
          <p:cNvPr id="247" name="组合 246"/>
          <p:cNvGrpSpPr/>
          <p:nvPr/>
        </p:nvGrpSpPr>
        <p:grpSpPr>
          <a:xfrm>
            <a:off x="9042400" y="3217545"/>
            <a:ext cx="2605405" cy="252730"/>
            <a:chOff x="1510" y="2840"/>
            <a:chExt cx="4103" cy="398"/>
          </a:xfrm>
        </p:grpSpPr>
        <p:sp>
          <p:nvSpPr>
            <p:cNvPr id="248" name="文本框 247"/>
            <p:cNvSpPr txBox="1"/>
            <p:nvPr/>
          </p:nvSpPr>
          <p:spPr>
            <a:xfrm>
              <a:off x="1510" y="2852"/>
              <a:ext cx="2594" cy="386"/>
            </a:xfrm>
            <a:prstGeom prst="rect">
              <a:avLst/>
            </a:prstGeom>
            <a:noFill/>
            <a:scene3d>
              <a:camera prst="orthographicFront">
                <a:rot lat="0" lon="0" rev="0"/>
              </a:camera>
              <a:lightRig rig="threePt" dir="t"/>
            </a:scene3d>
          </p:spPr>
          <p:txBody>
            <a:bodyPr wrap="square" rtlCol="0">
              <a:spAutoFit/>
            </a:bodyPr>
            <a:p>
              <a:pPr algn="l"/>
              <a:r>
                <a:rPr lang="zh-CN" altLang="en-US" sz="1000" b="1">
                  <a:solidFill>
                    <a:schemeClr val="tx2"/>
                  </a:solidFill>
                  <a:latin typeface="微软雅黑" panose="020B0503020204020204" charset="-122"/>
                  <a:ea typeface="微软雅黑" panose="020B0503020204020204" charset="-122"/>
                  <a:cs typeface="微软雅黑" panose="020B0503020204020204" charset="-122"/>
                </a:rPr>
                <a:t>模式创新：</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交易收入</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49" name="文本框 248"/>
            <p:cNvSpPr txBox="1"/>
            <p:nvPr/>
          </p:nvSpPr>
          <p:spPr>
            <a:xfrm>
              <a:off x="3830" y="2840"/>
              <a:ext cx="1783" cy="386"/>
            </a:xfrm>
            <a:prstGeom prst="rect">
              <a:avLst/>
            </a:prstGeom>
            <a:noFill/>
            <a:scene3d>
              <a:camera prst="orthographicFront">
                <a:rot lat="0" lon="0" rev="0"/>
              </a:camera>
              <a:lightRig rig="threePt" dir="t"/>
            </a:scene3d>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订阅制服务</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50" name="右箭头 249"/>
            <p:cNvSpPr/>
            <p:nvPr/>
          </p:nvSpPr>
          <p:spPr>
            <a:xfrm>
              <a:off x="3600" y="2925"/>
              <a:ext cx="356" cy="215"/>
            </a:xfrm>
            <a:prstGeom prst="rightArrow">
              <a:avLst/>
            </a:prstGeom>
            <a:solidFill>
              <a:schemeClr val="tx2"/>
            </a:solidFill>
            <a:ln>
              <a:solidFill>
                <a:schemeClr val="tx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2"/>
                </a:solidFill>
                <a:cs typeface="微软雅黑" panose="020B0503020204020204" charset="-122"/>
              </a:endParaRPr>
            </a:p>
          </p:txBody>
        </p:sp>
      </p:grpSp>
      <p:grpSp>
        <p:nvGrpSpPr>
          <p:cNvPr id="251" name="组合 250"/>
          <p:cNvGrpSpPr/>
          <p:nvPr/>
        </p:nvGrpSpPr>
        <p:grpSpPr>
          <a:xfrm>
            <a:off x="9042400" y="3488690"/>
            <a:ext cx="2645410" cy="252730"/>
            <a:chOff x="1510" y="2840"/>
            <a:chExt cx="4166" cy="398"/>
          </a:xfrm>
        </p:grpSpPr>
        <p:sp>
          <p:nvSpPr>
            <p:cNvPr id="252" name="文本框 251"/>
            <p:cNvSpPr txBox="1"/>
            <p:nvPr/>
          </p:nvSpPr>
          <p:spPr>
            <a:xfrm>
              <a:off x="1510" y="2852"/>
              <a:ext cx="2594" cy="386"/>
            </a:xfrm>
            <a:prstGeom prst="rect">
              <a:avLst/>
            </a:prstGeom>
            <a:noFill/>
            <a:scene3d>
              <a:camera prst="orthographicFront">
                <a:rot lat="0" lon="0" rev="0"/>
              </a:camera>
              <a:lightRig rig="threePt" dir="t"/>
            </a:scene3d>
          </p:spPr>
          <p:txBody>
            <a:bodyPr wrap="square" rtlCol="0">
              <a:spAutoFit/>
            </a:bodyPr>
            <a:p>
              <a:pPr algn="l"/>
              <a:r>
                <a:rPr lang="zh-CN" altLang="en-US" sz="1000" b="1">
                  <a:solidFill>
                    <a:schemeClr val="tx2"/>
                  </a:solidFill>
                  <a:latin typeface="微软雅黑" panose="020B0503020204020204" charset="-122"/>
                  <a:ea typeface="微软雅黑" panose="020B0503020204020204" charset="-122"/>
                  <a:cs typeface="微软雅黑" panose="020B0503020204020204" charset="-122"/>
                </a:rPr>
                <a:t>生态进化：</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产业链</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53" name="文本框 252"/>
            <p:cNvSpPr txBox="1"/>
            <p:nvPr/>
          </p:nvSpPr>
          <p:spPr>
            <a:xfrm>
              <a:off x="3893" y="2840"/>
              <a:ext cx="1783" cy="386"/>
            </a:xfrm>
            <a:prstGeom prst="rect">
              <a:avLst/>
            </a:prstGeom>
            <a:noFill/>
            <a:scene3d>
              <a:camera prst="orthographicFront">
                <a:rot lat="0" lon="0" rev="0"/>
              </a:camera>
              <a:lightRig rig="threePt" dir="t"/>
            </a:scene3d>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数字生态共同体</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54" name="右箭头 253"/>
            <p:cNvSpPr/>
            <p:nvPr/>
          </p:nvSpPr>
          <p:spPr>
            <a:xfrm>
              <a:off x="3600" y="2925"/>
              <a:ext cx="356" cy="215"/>
            </a:xfrm>
            <a:prstGeom prst="rightArrow">
              <a:avLst/>
            </a:prstGeom>
            <a:solidFill>
              <a:schemeClr val="tx2"/>
            </a:solidFill>
            <a:ln>
              <a:solidFill>
                <a:schemeClr val="tx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2"/>
                </a:solidFill>
                <a:cs typeface="微软雅黑" panose="020B0503020204020204" charset="-122"/>
              </a:endParaRPr>
            </a:p>
          </p:txBody>
        </p:sp>
      </p:grpSp>
      <p:pic>
        <p:nvPicPr>
          <p:cNvPr id="31" name="图片 30"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10" name="组合 9"/>
          <p:cNvGrpSpPr/>
          <p:nvPr/>
        </p:nvGrpSpPr>
        <p:grpSpPr>
          <a:xfrm>
            <a:off x="8715375" y="348615"/>
            <a:ext cx="3219450" cy="332740"/>
            <a:chOff x="13761" y="549"/>
            <a:chExt cx="5070" cy="524"/>
          </a:xfrm>
        </p:grpSpPr>
        <p:pic>
          <p:nvPicPr>
            <p:cNvPr id="33" name="图片 32"/>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34" name="文本框 33"/>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任意多边形 12"/>
          <p:cNvSpPr/>
          <p:nvPr/>
        </p:nvSpPr>
        <p:spPr>
          <a:xfrm flipH="1" flipV="1">
            <a:off x="3337560" y="4521835"/>
            <a:ext cx="5546725" cy="1186180"/>
          </a:xfrm>
          <a:custGeom>
            <a:avLst/>
            <a:gdLst>
              <a:gd name="adj" fmla="val 50000"/>
              <a:gd name="a" fmla="pin 0 adj 100000"/>
              <a:gd name="x1" fmla="*/ w a 200000"/>
              <a:gd name="x2" fmla="*/ w a 100000"/>
              <a:gd name="x3" fmla="+- x1 wd2 0"/>
            </a:gdLst>
            <a:ahLst/>
            <a:cxnLst>
              <a:cxn ang="3">
                <a:pos x="x2" y="t"/>
              </a:cxn>
              <a:cxn ang="cd2">
                <a:pos x="x1" y="vc"/>
              </a:cxn>
              <a:cxn ang="cd4">
                <a:pos x="l" y="b"/>
              </a:cxn>
              <a:cxn ang="cd4">
                <a:pos x="x2" y="b"/>
              </a:cxn>
              <a:cxn ang="cd4">
                <a:pos x="r" y="b"/>
              </a:cxn>
              <a:cxn ang="0">
                <a:pos x="x3" y="vc"/>
              </a:cxn>
            </a:cxnLst>
            <a:rect l="l" t="t" r="r" b="b"/>
            <a:pathLst>
              <a:path w="8318" h="1677">
                <a:moveTo>
                  <a:pt x="0" y="1677"/>
                </a:moveTo>
                <a:lnTo>
                  <a:pt x="2088" y="0"/>
                </a:lnTo>
                <a:lnTo>
                  <a:pt x="6231" y="0"/>
                </a:lnTo>
                <a:lnTo>
                  <a:pt x="8318" y="1677"/>
                </a:lnTo>
                <a:lnTo>
                  <a:pt x="0" y="1677"/>
                </a:lnTo>
                <a:close/>
              </a:path>
            </a:pathLst>
          </a:custGeom>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14" name="任意多边形 13"/>
          <p:cNvSpPr/>
          <p:nvPr/>
        </p:nvSpPr>
        <p:spPr>
          <a:xfrm flipH="1" flipV="1">
            <a:off x="813797" y="2428240"/>
            <a:ext cx="10568850" cy="1838960"/>
          </a:xfrm>
          <a:custGeom>
            <a:avLst/>
            <a:gdLst>
              <a:gd name="adj" fmla="val 50000"/>
              <a:gd name="a" fmla="pin 0 adj 100000"/>
              <a:gd name="x1" fmla="*/ w a 200000"/>
              <a:gd name="x2" fmla="*/ w a 100000"/>
              <a:gd name="x3" fmla="+- x1 wd2 0"/>
            </a:gdLst>
            <a:ahLst/>
            <a:cxnLst>
              <a:cxn ang="3">
                <a:pos x="x2" y="t"/>
              </a:cxn>
              <a:cxn ang="cd2">
                <a:pos x="x1" y="vc"/>
              </a:cxn>
              <a:cxn ang="cd4">
                <a:pos x="l" y="b"/>
              </a:cxn>
              <a:cxn ang="cd4">
                <a:pos x="x2" y="b"/>
              </a:cxn>
              <a:cxn ang="cd4">
                <a:pos x="r" y="b"/>
              </a:cxn>
              <a:cxn ang="0">
                <a:pos x="x3" y="vc"/>
              </a:cxn>
            </a:cxnLst>
            <a:rect l="l" t="t" r="r" b="b"/>
            <a:pathLst>
              <a:path w="16644" h="2896">
                <a:moveTo>
                  <a:pt x="0" y="2896"/>
                </a:moveTo>
                <a:lnTo>
                  <a:pt x="3605" y="0"/>
                </a:lnTo>
                <a:lnTo>
                  <a:pt x="13039" y="0"/>
                </a:lnTo>
                <a:lnTo>
                  <a:pt x="16644" y="2896"/>
                </a:lnTo>
                <a:lnTo>
                  <a:pt x="0" y="2896"/>
                </a:lnTo>
                <a:close/>
              </a:path>
            </a:pathLst>
          </a:custGeom>
          <a:noFill/>
          <a:ln w="25400">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营销渠道触点布局优化</a:t>
            </a:r>
            <a:endParaRPr lang="en-US" altLang="zh-CN" sz="250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 name="圆角矩形 1"/>
          <p:cNvSpPr/>
          <p:nvPr/>
        </p:nvSpPr>
        <p:spPr>
          <a:xfrm>
            <a:off x="3121025" y="4944110"/>
            <a:ext cx="5946140" cy="654050"/>
          </a:xfrm>
          <a:prstGeom prst="roundRect">
            <a:avLst/>
          </a:prstGeom>
          <a:solidFill>
            <a:schemeClr val="bg1"/>
          </a:solidFill>
          <a:ln>
            <a:solidFill>
              <a:schemeClr val="accent1">
                <a:alpha val="80000"/>
              </a:schemeClr>
            </a:solidFill>
            <a:prstDash val="dash"/>
          </a:ln>
          <a:effectLst>
            <a:outerShdw blurRad="50800" dist="38100" dir="2700000" algn="tl" rotWithShape="0">
              <a:schemeClr val="accent1">
                <a:lumMod val="20000"/>
                <a:lumOff val="80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sz="1400" b="1">
              <a:solidFill>
                <a:schemeClr val="accent2"/>
              </a:solidFill>
              <a:cs typeface="微软雅黑" panose="020B0503020204020204" charset="-122"/>
              <a:sym typeface="+mn-ea"/>
            </a:endParaRPr>
          </a:p>
        </p:txBody>
      </p:sp>
      <p:grpSp>
        <p:nvGrpSpPr>
          <p:cNvPr id="59" name="组合 58"/>
          <p:cNvGrpSpPr/>
          <p:nvPr/>
        </p:nvGrpSpPr>
        <p:grpSpPr>
          <a:xfrm>
            <a:off x="4145915" y="4015740"/>
            <a:ext cx="492760" cy="429895"/>
            <a:chOff x="6881" y="6392"/>
            <a:chExt cx="776" cy="677"/>
          </a:xfrm>
        </p:grpSpPr>
        <p:sp>
          <p:nvSpPr>
            <p:cNvPr id="124" name="菱形 123"/>
            <p:cNvSpPr/>
            <p:nvPr/>
          </p:nvSpPr>
          <p:spPr>
            <a:xfrm flipV="1">
              <a:off x="6881" y="6541"/>
              <a:ext cx="776" cy="529"/>
            </a:xfrm>
            <a:prstGeom prst="diamond">
              <a:avLst/>
            </a:prstGeom>
            <a:gradFill>
              <a:gsLst>
                <a:gs pos="0">
                  <a:schemeClr val="accent1">
                    <a:lumMod val="60000"/>
                    <a:lumOff val="40000"/>
                  </a:schemeClr>
                </a:gs>
                <a:gs pos="50000">
                  <a:schemeClr val="accent1">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25" name="菱形 124"/>
            <p:cNvSpPr/>
            <p:nvPr/>
          </p:nvSpPr>
          <p:spPr>
            <a:xfrm flipV="1">
              <a:off x="6881" y="6392"/>
              <a:ext cx="776" cy="529"/>
            </a:xfrm>
            <a:prstGeom prst="diamond">
              <a:avLst/>
            </a:prstGeom>
            <a:gradFill>
              <a:gsLst>
                <a:gs pos="0">
                  <a:schemeClr val="accent1">
                    <a:lumMod val="60000"/>
                    <a:lumOff val="40000"/>
                  </a:schemeClr>
                </a:gs>
                <a:gs pos="50000">
                  <a:schemeClr val="accent1">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rtlCol="0" anchor="ctr"/>
            <a:p>
              <a:pPr algn="ctr" defTabSz="914400">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endParaRPr>
            </a:p>
          </p:txBody>
        </p:sp>
      </p:grpSp>
      <p:grpSp>
        <p:nvGrpSpPr>
          <p:cNvPr id="36" name="组合 35"/>
          <p:cNvGrpSpPr/>
          <p:nvPr/>
        </p:nvGrpSpPr>
        <p:grpSpPr>
          <a:xfrm>
            <a:off x="2900680" y="2849851"/>
            <a:ext cx="3101975" cy="1211609"/>
            <a:chOff x="3590" y="4033"/>
            <a:chExt cx="5904" cy="2436"/>
          </a:xfrm>
        </p:grpSpPr>
        <p:sp>
          <p:nvSpPr>
            <p:cNvPr id="17" name="圆角矩形 16"/>
            <p:cNvSpPr/>
            <p:nvPr/>
          </p:nvSpPr>
          <p:spPr>
            <a:xfrm>
              <a:off x="3590" y="4033"/>
              <a:ext cx="5904" cy="744"/>
            </a:xfrm>
            <a:prstGeom prst="roundRect">
              <a:avLst/>
            </a:prstGeom>
            <a:solidFill>
              <a:schemeClr val="accent1">
                <a:lumMod val="20000"/>
                <a:lumOff val="80000"/>
                <a:alpha val="50000"/>
              </a:schemeClr>
            </a:solidFill>
            <a:ln>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solidFill>
                    <a:schemeClr val="tx2"/>
                  </a:solidFill>
                  <a:cs typeface="微软雅黑" panose="020B0503020204020204" charset="-122"/>
                  <a:sym typeface="+mn-ea"/>
                </a:rPr>
                <a:t>传统平台</a:t>
              </a:r>
              <a:endParaRPr lang="zh-CN" altLang="en-US" sz="1400" b="1">
                <a:solidFill>
                  <a:schemeClr val="tx2"/>
                </a:solidFill>
                <a:cs typeface="微软雅黑" panose="020B0503020204020204" charset="-122"/>
                <a:sym typeface="+mn-ea"/>
              </a:endParaRPr>
            </a:p>
          </p:txBody>
        </p:sp>
        <p:sp>
          <p:nvSpPr>
            <p:cNvPr id="20" name="矩形 19"/>
            <p:cNvSpPr/>
            <p:nvPr/>
          </p:nvSpPr>
          <p:spPr>
            <a:xfrm>
              <a:off x="3649" y="4905"/>
              <a:ext cx="1819" cy="1518"/>
            </a:xfrm>
            <a:prstGeom prst="rect">
              <a:avLst/>
            </a:prstGeom>
            <a:solidFill>
              <a:schemeClr val="bg1"/>
            </a:solidFill>
            <a:ln>
              <a:solidFill>
                <a:schemeClr val="accent1">
                  <a:lumMod val="60000"/>
                  <a:lumOff val="40000"/>
                  <a:alpha val="50000"/>
                </a:schemeClr>
              </a:solidFill>
            </a:ln>
            <a:effectLst>
              <a:outerShdw blurRad="50800" dist="38100" dir="2700000" algn="tl" rotWithShape="0">
                <a:schemeClr val="accent1">
                  <a:lumMod val="60000"/>
                  <a:lumOff val="40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solidFill>
                    <a:schemeClr val="tx2"/>
                  </a:solidFill>
                  <a:cs typeface="微软雅黑" panose="020B0503020204020204" charset="-122"/>
                  <a:sym typeface="+mn-ea"/>
                </a:rPr>
                <a:t>自有平台</a:t>
              </a:r>
              <a:endParaRPr lang="zh-CN" altLang="en-US" sz="1400" b="1">
                <a:solidFill>
                  <a:schemeClr val="tx2"/>
                </a:solidFill>
                <a:cs typeface="微软雅黑" panose="020B0503020204020204" charset="-122"/>
                <a:sym typeface="+mn-ea"/>
              </a:endParaRPr>
            </a:p>
          </p:txBody>
        </p:sp>
        <p:sp>
          <p:nvSpPr>
            <p:cNvPr id="21" name="矩形 20"/>
            <p:cNvSpPr/>
            <p:nvPr/>
          </p:nvSpPr>
          <p:spPr>
            <a:xfrm>
              <a:off x="5668" y="4900"/>
              <a:ext cx="1819" cy="1533"/>
            </a:xfrm>
            <a:prstGeom prst="rect">
              <a:avLst/>
            </a:prstGeom>
            <a:solidFill>
              <a:schemeClr val="bg1"/>
            </a:solidFill>
            <a:ln>
              <a:solidFill>
                <a:schemeClr val="accent1">
                  <a:lumMod val="60000"/>
                  <a:lumOff val="40000"/>
                  <a:alpha val="50000"/>
                </a:schemeClr>
              </a:solidFill>
            </a:ln>
            <a:effectLst>
              <a:outerShdw blurRad="50800" dist="38100" dir="2700000" algn="tl" rotWithShape="0">
                <a:schemeClr val="accent1">
                  <a:lumMod val="60000"/>
                  <a:lumOff val="40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solidFill>
                    <a:schemeClr val="tx2"/>
                  </a:solidFill>
                  <a:cs typeface="微软雅黑" panose="020B0503020204020204" charset="-122"/>
                  <a:sym typeface="+mn-ea"/>
                </a:rPr>
                <a:t>垂类平台</a:t>
              </a:r>
              <a:endParaRPr lang="zh-CN" altLang="en-US" sz="1400" b="1">
                <a:solidFill>
                  <a:schemeClr val="tx2"/>
                </a:solidFill>
                <a:cs typeface="微软雅黑" panose="020B0503020204020204" charset="-122"/>
                <a:sym typeface="+mn-ea"/>
              </a:endParaRPr>
            </a:p>
          </p:txBody>
        </p:sp>
        <p:sp>
          <p:nvSpPr>
            <p:cNvPr id="22" name="矩形 21"/>
            <p:cNvSpPr/>
            <p:nvPr/>
          </p:nvSpPr>
          <p:spPr>
            <a:xfrm>
              <a:off x="7675" y="4895"/>
              <a:ext cx="1819" cy="1574"/>
            </a:xfrm>
            <a:prstGeom prst="rect">
              <a:avLst/>
            </a:prstGeom>
            <a:solidFill>
              <a:schemeClr val="bg1"/>
            </a:solidFill>
            <a:ln>
              <a:solidFill>
                <a:schemeClr val="accent1">
                  <a:lumMod val="60000"/>
                  <a:lumOff val="40000"/>
                  <a:alpha val="50000"/>
                </a:schemeClr>
              </a:solidFill>
            </a:ln>
            <a:effectLst>
              <a:outerShdw blurRad="50800" dist="38100" dir="2700000" algn="tl" rotWithShape="0">
                <a:schemeClr val="accent1">
                  <a:lumMod val="60000"/>
                  <a:lumOff val="40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solidFill>
                    <a:schemeClr val="tx2"/>
                  </a:solidFill>
                  <a:cs typeface="微软雅黑" panose="020B0503020204020204" charset="-122"/>
                  <a:sym typeface="+mn-ea"/>
                </a:rPr>
                <a:t>广告平台</a:t>
              </a:r>
              <a:endParaRPr lang="zh-CN" altLang="en-US" sz="1400" b="1">
                <a:solidFill>
                  <a:schemeClr val="tx2"/>
                </a:solidFill>
                <a:cs typeface="微软雅黑" panose="020B0503020204020204" charset="-122"/>
                <a:sym typeface="+mn-ea"/>
              </a:endParaRPr>
            </a:p>
          </p:txBody>
        </p:sp>
      </p:grpSp>
      <p:sp>
        <p:nvSpPr>
          <p:cNvPr id="26" name="下箭头 25"/>
          <p:cNvSpPr/>
          <p:nvPr/>
        </p:nvSpPr>
        <p:spPr>
          <a:xfrm>
            <a:off x="3121025" y="2085340"/>
            <a:ext cx="266065" cy="284480"/>
          </a:xfrm>
          <a:prstGeom prst="downArrow">
            <a:avLst/>
          </a:prstGeom>
          <a:gradFill>
            <a:gsLst>
              <a:gs pos="0">
                <a:schemeClr val="accent1">
                  <a:alpha val="0"/>
                </a:schemeClr>
              </a:gs>
              <a:gs pos="100000">
                <a:schemeClr val="accent1"/>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7" name="下箭头 26"/>
          <p:cNvSpPr/>
          <p:nvPr/>
        </p:nvSpPr>
        <p:spPr>
          <a:xfrm>
            <a:off x="4561840" y="2085340"/>
            <a:ext cx="266065" cy="284480"/>
          </a:xfrm>
          <a:prstGeom prst="downArrow">
            <a:avLst/>
          </a:prstGeom>
          <a:gradFill>
            <a:gsLst>
              <a:gs pos="0">
                <a:schemeClr val="accent1">
                  <a:alpha val="0"/>
                </a:schemeClr>
              </a:gs>
              <a:gs pos="100000">
                <a:schemeClr val="accent1"/>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8" name="下箭头 27"/>
          <p:cNvSpPr/>
          <p:nvPr/>
        </p:nvSpPr>
        <p:spPr>
          <a:xfrm>
            <a:off x="6002655" y="2085340"/>
            <a:ext cx="266065" cy="284480"/>
          </a:xfrm>
          <a:prstGeom prst="downArrow">
            <a:avLst/>
          </a:prstGeom>
          <a:gradFill>
            <a:gsLst>
              <a:gs pos="0">
                <a:schemeClr val="accent1">
                  <a:alpha val="0"/>
                </a:schemeClr>
              </a:gs>
              <a:gs pos="100000">
                <a:schemeClr val="accent1"/>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9" name="下箭头 28"/>
          <p:cNvSpPr/>
          <p:nvPr/>
        </p:nvSpPr>
        <p:spPr>
          <a:xfrm>
            <a:off x="7443470" y="2085340"/>
            <a:ext cx="266065" cy="284480"/>
          </a:xfrm>
          <a:prstGeom prst="downArrow">
            <a:avLst/>
          </a:prstGeom>
          <a:gradFill>
            <a:gsLst>
              <a:gs pos="0">
                <a:schemeClr val="accent1">
                  <a:alpha val="0"/>
                </a:schemeClr>
              </a:gs>
              <a:gs pos="100000">
                <a:schemeClr val="accent1"/>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0" name="下箭头 29"/>
          <p:cNvSpPr/>
          <p:nvPr/>
        </p:nvSpPr>
        <p:spPr>
          <a:xfrm>
            <a:off x="8884285" y="2085340"/>
            <a:ext cx="266065" cy="284480"/>
          </a:xfrm>
          <a:prstGeom prst="downArrow">
            <a:avLst/>
          </a:prstGeom>
          <a:gradFill>
            <a:gsLst>
              <a:gs pos="0">
                <a:schemeClr val="accent1">
                  <a:alpha val="0"/>
                </a:schemeClr>
              </a:gs>
              <a:gs pos="100000">
                <a:schemeClr val="accent1"/>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1" name="矩形 30"/>
          <p:cNvSpPr/>
          <p:nvPr/>
        </p:nvSpPr>
        <p:spPr>
          <a:xfrm>
            <a:off x="748030" y="1607820"/>
            <a:ext cx="10697845" cy="518795"/>
          </a:xfrm>
          <a:prstGeom prst="rect">
            <a:avLst/>
          </a:prstGeom>
          <a:gradFill>
            <a:gsLst>
              <a:gs pos="0">
                <a:schemeClr val="accent1">
                  <a:lumMod val="20000"/>
                  <a:lumOff val="80000"/>
                  <a:alpha val="0"/>
                </a:schemeClr>
              </a:gs>
              <a:gs pos="100000">
                <a:schemeClr val="accent1">
                  <a:lumMod val="20000"/>
                  <a:lumOff val="80000"/>
                </a:schemeClr>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2" name="矩形 41"/>
          <p:cNvSpPr/>
          <p:nvPr/>
        </p:nvSpPr>
        <p:spPr>
          <a:xfrm>
            <a:off x="1254760" y="1012190"/>
            <a:ext cx="9957435" cy="514350"/>
          </a:xfrm>
          <a:prstGeom prst="rect">
            <a:avLst/>
          </a:prstGeom>
          <a:gradFill>
            <a:gsLst>
              <a:gs pos="16000">
                <a:schemeClr val="accent1"/>
              </a:gs>
              <a:gs pos="0">
                <a:schemeClr val="accent1">
                  <a:alpha val="0"/>
                </a:schemeClr>
              </a:gs>
              <a:gs pos="100000">
                <a:schemeClr val="accent1"/>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53" name="椭圆 52"/>
          <p:cNvSpPr/>
          <p:nvPr/>
        </p:nvSpPr>
        <p:spPr>
          <a:xfrm>
            <a:off x="1029970" y="1011555"/>
            <a:ext cx="515620" cy="515620"/>
          </a:xfrm>
          <a:prstGeom prst="ellipse">
            <a:avLst/>
          </a:prstGeom>
          <a:solidFill>
            <a:schemeClr val="bg2"/>
          </a:solidFill>
          <a:ln w="25400">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pic>
        <p:nvPicPr>
          <p:cNvPr id="54" name="图片 53" descr="渠道"/>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19188" y="1100773"/>
            <a:ext cx="337185" cy="337185"/>
          </a:xfrm>
          <a:prstGeom prst="rect">
            <a:avLst/>
          </a:prstGeom>
        </p:spPr>
      </p:pic>
      <p:sp>
        <p:nvSpPr>
          <p:cNvPr id="55" name="标题 2"/>
          <p:cNvSpPr>
            <a:spLocks noGrp="1"/>
          </p:cNvSpPr>
          <p:nvPr/>
        </p:nvSpPr>
        <p:spPr>
          <a:xfrm>
            <a:off x="1681163" y="1160780"/>
            <a:ext cx="8965565" cy="271780"/>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ctr"/>
            <a:r>
              <a:rPr lang="zh-CN" altLang="en-US" sz="1600">
                <a:solidFill>
                  <a:schemeClr val="bg1"/>
                </a:solidFill>
                <a:effectLst/>
                <a:latin typeface="微软雅黑" panose="020B0503020204020204" charset="-122"/>
                <a:ea typeface="微软雅黑" panose="020B0503020204020204" charset="-122"/>
                <a:cs typeface="微软雅黑" panose="020B0503020204020204" charset="-122"/>
              </a:rPr>
              <a:t>营销渠道触点布局优化是提升用户转化率、降低获客成本、增强用户体验的关键策略。</a:t>
            </a:r>
            <a:endParaRPr lang="zh-CN" altLang="en-US" sz="1600">
              <a:solidFill>
                <a:schemeClr val="bg1"/>
              </a:solidFill>
              <a:effectLst/>
              <a:latin typeface="微软雅黑" panose="020B0503020204020204" charset="-122"/>
              <a:ea typeface="微软雅黑" panose="020B0503020204020204" charset="-122"/>
              <a:cs typeface="微软雅黑" panose="020B0503020204020204" charset="-122"/>
            </a:endParaRPr>
          </a:p>
        </p:txBody>
      </p:sp>
      <p:sp>
        <p:nvSpPr>
          <p:cNvPr id="56" name="文本框 55"/>
          <p:cNvSpPr txBox="1"/>
          <p:nvPr/>
        </p:nvSpPr>
        <p:spPr>
          <a:xfrm>
            <a:off x="882015" y="1720215"/>
            <a:ext cx="10563860" cy="337185"/>
          </a:xfrm>
          <a:prstGeom prst="rect">
            <a:avLst/>
          </a:prstGeom>
          <a:noFill/>
        </p:spPr>
        <p:txBody>
          <a:bodyPr wrap="square" rtlCol="0">
            <a:spAutoFit/>
          </a:bodyPr>
          <a:p>
            <a:pPr algn="ctr"/>
            <a:r>
              <a:rPr lang="zh-CN" altLang="en-US" sz="1600">
                <a:latin typeface="微软雅黑" panose="020B0503020204020204" charset="-122"/>
                <a:ea typeface="微软雅黑" panose="020B0503020204020204" charset="-122"/>
                <a:cs typeface="微软雅黑" panose="020B0503020204020204" charset="-122"/>
              </a:rPr>
              <a:t>充分发挥公私域触点的属性与能力，合理培育、联动转化品牌潜客，提升营销的覆盖全面性与渗透深度</a:t>
            </a:r>
            <a:endParaRPr lang="zh-CN" altLang="en-US" sz="1600">
              <a:latin typeface="微软雅黑" panose="020B0503020204020204" charset="-122"/>
              <a:ea typeface="微软雅黑" panose="020B0503020204020204" charset="-122"/>
              <a:cs typeface="微软雅黑" panose="020B0503020204020204" charset="-122"/>
            </a:endParaRPr>
          </a:p>
        </p:txBody>
      </p:sp>
      <p:sp>
        <p:nvSpPr>
          <p:cNvPr id="58" name="文本框 57"/>
          <p:cNvSpPr txBox="1"/>
          <p:nvPr/>
        </p:nvSpPr>
        <p:spPr>
          <a:xfrm>
            <a:off x="3056573" y="2434590"/>
            <a:ext cx="6214745" cy="337185"/>
          </a:xfrm>
          <a:prstGeom prst="rect">
            <a:avLst/>
          </a:prstGeom>
          <a:noFill/>
        </p:spPr>
        <p:txBody>
          <a:bodyPr wrap="square" rtlCol="0">
            <a:spAutoFit/>
          </a:bodyPr>
          <a:p>
            <a:pPr algn="ctr"/>
            <a:r>
              <a:rPr lang="zh-CN" altLang="en-US"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公域与泛私域平台曝光</a:t>
            </a:r>
            <a:r>
              <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a:t>
            </a:r>
            <a:r>
              <a:rPr lang="zh-CN" altLang="en-US"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集客</a:t>
            </a:r>
            <a:endParaRPr lang="zh-CN" altLang="en-US"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nvGrpSpPr>
          <p:cNvPr id="60" name="组合 59"/>
          <p:cNvGrpSpPr/>
          <p:nvPr/>
        </p:nvGrpSpPr>
        <p:grpSpPr>
          <a:xfrm>
            <a:off x="5324475" y="4015740"/>
            <a:ext cx="492760" cy="429895"/>
            <a:chOff x="6881" y="6392"/>
            <a:chExt cx="776" cy="677"/>
          </a:xfrm>
        </p:grpSpPr>
        <p:sp>
          <p:nvSpPr>
            <p:cNvPr id="61" name="菱形 60"/>
            <p:cNvSpPr/>
            <p:nvPr/>
          </p:nvSpPr>
          <p:spPr>
            <a:xfrm flipV="1">
              <a:off x="6881" y="6541"/>
              <a:ext cx="776" cy="529"/>
            </a:xfrm>
            <a:prstGeom prst="diamond">
              <a:avLst/>
            </a:prstGeom>
            <a:gradFill>
              <a:gsLst>
                <a:gs pos="0">
                  <a:schemeClr val="accent1">
                    <a:lumMod val="60000"/>
                    <a:lumOff val="40000"/>
                  </a:schemeClr>
                </a:gs>
                <a:gs pos="50000">
                  <a:schemeClr val="accent1">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62" name="菱形 61"/>
            <p:cNvSpPr/>
            <p:nvPr/>
          </p:nvSpPr>
          <p:spPr>
            <a:xfrm flipV="1">
              <a:off x="6881" y="6392"/>
              <a:ext cx="776" cy="529"/>
            </a:xfrm>
            <a:prstGeom prst="diamond">
              <a:avLst/>
            </a:prstGeom>
            <a:gradFill>
              <a:gsLst>
                <a:gs pos="0">
                  <a:schemeClr val="accent1">
                    <a:lumMod val="60000"/>
                    <a:lumOff val="40000"/>
                  </a:schemeClr>
                </a:gs>
                <a:gs pos="50000">
                  <a:schemeClr val="accent1">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63" name="组合 62"/>
          <p:cNvGrpSpPr/>
          <p:nvPr/>
        </p:nvGrpSpPr>
        <p:grpSpPr>
          <a:xfrm>
            <a:off x="6503035" y="4015740"/>
            <a:ext cx="492760" cy="429895"/>
            <a:chOff x="6881" y="6392"/>
            <a:chExt cx="776" cy="677"/>
          </a:xfrm>
        </p:grpSpPr>
        <p:sp>
          <p:nvSpPr>
            <p:cNvPr id="64" name="菱形 63"/>
            <p:cNvSpPr/>
            <p:nvPr/>
          </p:nvSpPr>
          <p:spPr>
            <a:xfrm flipV="1">
              <a:off x="6881" y="6541"/>
              <a:ext cx="776" cy="529"/>
            </a:xfrm>
            <a:prstGeom prst="diamond">
              <a:avLst/>
            </a:prstGeom>
            <a:gradFill>
              <a:gsLst>
                <a:gs pos="0">
                  <a:schemeClr val="accent1">
                    <a:lumMod val="60000"/>
                    <a:lumOff val="40000"/>
                  </a:schemeClr>
                </a:gs>
                <a:gs pos="50000">
                  <a:schemeClr val="accent1">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65" name="菱形 64"/>
            <p:cNvSpPr/>
            <p:nvPr/>
          </p:nvSpPr>
          <p:spPr>
            <a:xfrm flipV="1">
              <a:off x="6881" y="6392"/>
              <a:ext cx="776" cy="529"/>
            </a:xfrm>
            <a:prstGeom prst="diamond">
              <a:avLst/>
            </a:prstGeom>
            <a:gradFill>
              <a:gsLst>
                <a:gs pos="0">
                  <a:schemeClr val="accent1">
                    <a:lumMod val="60000"/>
                    <a:lumOff val="40000"/>
                  </a:schemeClr>
                </a:gs>
                <a:gs pos="50000">
                  <a:schemeClr val="accent1">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66" name="组合 65"/>
          <p:cNvGrpSpPr/>
          <p:nvPr/>
        </p:nvGrpSpPr>
        <p:grpSpPr>
          <a:xfrm>
            <a:off x="7681595" y="4015740"/>
            <a:ext cx="492760" cy="429895"/>
            <a:chOff x="6881" y="6392"/>
            <a:chExt cx="776" cy="677"/>
          </a:xfrm>
        </p:grpSpPr>
        <p:sp>
          <p:nvSpPr>
            <p:cNvPr id="67" name="菱形 66"/>
            <p:cNvSpPr/>
            <p:nvPr/>
          </p:nvSpPr>
          <p:spPr>
            <a:xfrm flipV="1">
              <a:off x="6881" y="6541"/>
              <a:ext cx="776" cy="529"/>
            </a:xfrm>
            <a:prstGeom prst="diamond">
              <a:avLst/>
            </a:prstGeom>
            <a:gradFill>
              <a:gsLst>
                <a:gs pos="0">
                  <a:schemeClr val="accent1">
                    <a:lumMod val="60000"/>
                    <a:lumOff val="40000"/>
                  </a:schemeClr>
                </a:gs>
                <a:gs pos="50000">
                  <a:schemeClr val="accent1">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68" name="菱形 67"/>
            <p:cNvSpPr/>
            <p:nvPr/>
          </p:nvSpPr>
          <p:spPr>
            <a:xfrm flipV="1">
              <a:off x="6881" y="6392"/>
              <a:ext cx="776" cy="529"/>
            </a:xfrm>
            <a:prstGeom prst="diamond">
              <a:avLst/>
            </a:prstGeom>
            <a:gradFill>
              <a:gsLst>
                <a:gs pos="0">
                  <a:schemeClr val="accent1">
                    <a:lumMod val="60000"/>
                    <a:lumOff val="40000"/>
                  </a:schemeClr>
                </a:gs>
                <a:gs pos="50000">
                  <a:schemeClr val="accent1">
                    <a:lumMod val="60000"/>
                    <a:lumOff val="40000"/>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79" name="组合 78"/>
          <p:cNvGrpSpPr/>
          <p:nvPr/>
        </p:nvGrpSpPr>
        <p:grpSpPr>
          <a:xfrm>
            <a:off x="3336925" y="5296535"/>
            <a:ext cx="5547360" cy="275590"/>
            <a:chOff x="5607" y="8233"/>
            <a:chExt cx="8736" cy="434"/>
          </a:xfrm>
        </p:grpSpPr>
        <p:sp>
          <p:nvSpPr>
            <p:cNvPr id="70" name="文本框 69"/>
            <p:cNvSpPr txBox="1"/>
            <p:nvPr/>
          </p:nvSpPr>
          <p:spPr>
            <a:xfrm>
              <a:off x="5607" y="8233"/>
              <a:ext cx="1628" cy="434"/>
            </a:xfrm>
            <a:prstGeom prst="rect">
              <a:avLst/>
            </a:prstGeom>
            <a:noFill/>
          </p:spPr>
          <p:txBody>
            <a:bodyPr wrap="square" rtlCol="0">
              <a:spAutoFit/>
            </a:bodyPr>
            <a:p>
              <a:pPr algn="ctr"/>
              <a:r>
                <a:rPr lang="zh-CN" altLang="en-US" sz="1200">
                  <a:latin typeface="微软雅黑" panose="020B0503020204020204" charset="-122"/>
                  <a:ea typeface="微软雅黑" panose="020B0503020204020204" charset="-122"/>
                  <a:cs typeface="微软雅黑" panose="020B0503020204020204" charset="-122"/>
                </a:rPr>
                <a:t>企业微信</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71" name="文本框 70"/>
            <p:cNvSpPr txBox="1"/>
            <p:nvPr/>
          </p:nvSpPr>
          <p:spPr>
            <a:xfrm>
              <a:off x="7384" y="8233"/>
              <a:ext cx="1628" cy="434"/>
            </a:xfrm>
            <a:prstGeom prst="rect">
              <a:avLst/>
            </a:prstGeom>
            <a:noFill/>
          </p:spPr>
          <p:txBody>
            <a:bodyPr wrap="square" rtlCol="0">
              <a:spAutoFit/>
            </a:bodyPr>
            <a:p>
              <a:pPr algn="ctr"/>
              <a:r>
                <a:rPr lang="zh-CN" altLang="en-US" sz="1200">
                  <a:latin typeface="微软雅黑" panose="020B0503020204020204" charset="-122"/>
                  <a:ea typeface="微软雅黑" panose="020B0503020204020204" charset="-122"/>
                  <a:cs typeface="微软雅黑" panose="020B0503020204020204" charset="-122"/>
                </a:rPr>
                <a:t>公众号</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72" name="文本框 71"/>
            <p:cNvSpPr txBox="1"/>
            <p:nvPr/>
          </p:nvSpPr>
          <p:spPr>
            <a:xfrm>
              <a:off x="9161" y="8233"/>
              <a:ext cx="1628" cy="434"/>
            </a:xfrm>
            <a:prstGeom prst="rect">
              <a:avLst/>
            </a:prstGeom>
            <a:noFill/>
          </p:spPr>
          <p:txBody>
            <a:bodyPr wrap="square" rtlCol="0">
              <a:spAutoFit/>
            </a:bodyPr>
            <a:p>
              <a:pPr algn="ctr"/>
              <a:r>
                <a:rPr lang="en-US" altLang="zh-CN" sz="1200">
                  <a:latin typeface="微软雅黑" panose="020B0503020204020204" charset="-122"/>
                  <a:ea typeface="微软雅黑" panose="020B0503020204020204" charset="-122"/>
                  <a:cs typeface="微软雅黑" panose="020B0503020204020204" charset="-122"/>
                </a:rPr>
                <a:t>APP</a:t>
              </a:r>
              <a:endParaRPr lang="en-US" altLang="zh-CN" sz="1200">
                <a:latin typeface="微软雅黑" panose="020B0503020204020204" charset="-122"/>
                <a:ea typeface="微软雅黑" panose="020B0503020204020204" charset="-122"/>
                <a:cs typeface="微软雅黑" panose="020B0503020204020204" charset="-122"/>
              </a:endParaRPr>
            </a:p>
          </p:txBody>
        </p:sp>
        <p:sp>
          <p:nvSpPr>
            <p:cNvPr id="73" name="文本框 72"/>
            <p:cNvSpPr txBox="1"/>
            <p:nvPr/>
          </p:nvSpPr>
          <p:spPr>
            <a:xfrm>
              <a:off x="10938" y="8233"/>
              <a:ext cx="1628" cy="434"/>
            </a:xfrm>
            <a:prstGeom prst="rect">
              <a:avLst/>
            </a:prstGeom>
            <a:noFill/>
          </p:spPr>
          <p:txBody>
            <a:bodyPr wrap="square" rtlCol="0">
              <a:spAutoFit/>
            </a:bodyPr>
            <a:p>
              <a:pPr algn="ctr"/>
              <a:r>
                <a:rPr lang="zh-CN" altLang="en-US" sz="1200">
                  <a:latin typeface="微软雅黑" panose="020B0503020204020204" charset="-122"/>
                  <a:ea typeface="微软雅黑" panose="020B0503020204020204" charset="-122"/>
                  <a:cs typeface="微软雅黑" panose="020B0503020204020204" charset="-122"/>
                </a:rPr>
                <a:t>官网</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74" name="文本框 73"/>
            <p:cNvSpPr txBox="1"/>
            <p:nvPr/>
          </p:nvSpPr>
          <p:spPr>
            <a:xfrm>
              <a:off x="12715" y="8233"/>
              <a:ext cx="1628" cy="434"/>
            </a:xfrm>
            <a:prstGeom prst="rect">
              <a:avLst/>
            </a:prstGeom>
            <a:noFill/>
          </p:spPr>
          <p:txBody>
            <a:bodyPr wrap="square" rtlCol="0">
              <a:spAutoFit/>
            </a:bodyPr>
            <a:p>
              <a:pPr algn="ctr"/>
              <a:r>
                <a:rPr lang="zh-CN" altLang="en-US" sz="1200">
                  <a:latin typeface="微软雅黑" panose="020B0503020204020204" charset="-122"/>
                  <a:ea typeface="微软雅黑" panose="020B0503020204020204" charset="-122"/>
                  <a:cs typeface="微软雅黑" panose="020B0503020204020204" charset="-122"/>
                </a:rPr>
                <a:t>小程序</a:t>
              </a:r>
              <a:endParaRPr lang="zh-CN" altLang="en-US" sz="1200">
                <a:latin typeface="微软雅黑" panose="020B0503020204020204" charset="-122"/>
                <a:ea typeface="微软雅黑" panose="020B0503020204020204" charset="-122"/>
                <a:cs typeface="微软雅黑" panose="020B0503020204020204" charset="-122"/>
              </a:endParaRPr>
            </a:p>
          </p:txBody>
        </p:sp>
      </p:grpSp>
      <p:pic>
        <p:nvPicPr>
          <p:cNvPr id="75" name="图片 74" descr="企业微信"/>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38550" y="4988644"/>
            <a:ext cx="387809" cy="324000"/>
          </a:xfrm>
          <a:prstGeom prst="rect">
            <a:avLst/>
          </a:prstGeom>
        </p:spPr>
      </p:pic>
      <p:pic>
        <p:nvPicPr>
          <p:cNvPr id="76" name="图片 75" descr="公众号"/>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27905" y="4988644"/>
            <a:ext cx="324000" cy="324000"/>
          </a:xfrm>
          <a:prstGeom prst="rect">
            <a:avLst/>
          </a:prstGeom>
        </p:spPr>
      </p:pic>
      <p:pic>
        <p:nvPicPr>
          <p:cNvPr id="77" name="图片 76" descr="小程序"/>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41030" y="5019199"/>
            <a:ext cx="262890" cy="262890"/>
          </a:xfrm>
          <a:prstGeom prst="rect">
            <a:avLst/>
          </a:prstGeom>
        </p:spPr>
      </p:pic>
      <p:pic>
        <p:nvPicPr>
          <p:cNvPr id="78" name="图片 77" descr="APP(1)"/>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002655" y="4996339"/>
            <a:ext cx="308610" cy="308610"/>
          </a:xfrm>
          <a:prstGeom prst="rect">
            <a:avLst/>
          </a:prstGeom>
        </p:spPr>
      </p:pic>
      <p:pic>
        <p:nvPicPr>
          <p:cNvPr id="80" name="图片 79" descr="官网"/>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049770" y="4988644"/>
            <a:ext cx="324000" cy="324000"/>
          </a:xfrm>
          <a:prstGeom prst="rect">
            <a:avLst/>
          </a:prstGeom>
        </p:spPr>
      </p:pic>
      <p:sp>
        <p:nvSpPr>
          <p:cNvPr id="91" name="紫荆的职场Point99-4"/>
          <p:cNvSpPr/>
          <p:nvPr/>
        </p:nvSpPr>
        <p:spPr>
          <a:xfrm rot="10800000" flipH="1">
            <a:off x="5324475" y="5490845"/>
            <a:ext cx="347980" cy="381000"/>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a:gsLst>
              <a:gs pos="0">
                <a:schemeClr val="accent5">
                  <a:lumMod val="60000"/>
                  <a:lumOff val="40000"/>
                </a:schemeClr>
              </a:gs>
              <a:gs pos="73000">
                <a:schemeClr val="accent5"/>
              </a:gs>
            </a:gsLst>
            <a:lin ang="16200000" scaled="0"/>
          </a:gradFill>
          <a:ln w="6350" cap="flat" cmpd="sng" algn="ctr">
            <a:solidFill>
              <a:schemeClr val="bg1"/>
            </a:solidFill>
            <a:prstDash val="solid"/>
            <a:miter lim="800000"/>
          </a:ln>
          <a:effectLst>
            <a:outerShdw blurRad="190500" algn="ctr" rotWithShape="0">
              <a:schemeClr val="accent5">
                <a:lumMod val="60000"/>
                <a:lumOff val="40000"/>
                <a:alpha val="40000"/>
              </a:schemeClr>
            </a:outerShdw>
          </a:effectLst>
        </p:spPr>
        <p:txBody>
          <a:bodyPr wrap="square" rtlCol="0" anchor="ctr">
            <a:noAutofit/>
          </a:bodyP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2" name="紫荆的职场Point99-4"/>
          <p:cNvSpPr/>
          <p:nvPr/>
        </p:nvSpPr>
        <p:spPr>
          <a:xfrm rot="10800000" flipH="1">
            <a:off x="6627495" y="5490845"/>
            <a:ext cx="347980" cy="381000"/>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a:gsLst>
              <a:gs pos="0">
                <a:schemeClr val="accent5">
                  <a:lumMod val="60000"/>
                  <a:lumOff val="40000"/>
                </a:schemeClr>
              </a:gs>
              <a:gs pos="73000">
                <a:schemeClr val="accent5"/>
              </a:gs>
            </a:gsLst>
            <a:lin ang="16200000" scaled="0"/>
          </a:gradFill>
          <a:ln w="6350" cap="flat" cmpd="sng" algn="ctr">
            <a:solidFill>
              <a:schemeClr val="bg1"/>
            </a:solidFill>
            <a:prstDash val="solid"/>
            <a:miter lim="800000"/>
          </a:ln>
          <a:effectLst>
            <a:outerShdw blurRad="190500" algn="ctr" rotWithShape="0">
              <a:schemeClr val="accent5">
                <a:lumMod val="60000"/>
                <a:lumOff val="40000"/>
                <a:alpha val="40000"/>
              </a:schemeClr>
            </a:outerShdw>
          </a:effectLst>
        </p:spPr>
        <p:txBody>
          <a:bodyPr wrap="square" rtlCol="0" anchor="ctr">
            <a:noAutofit/>
          </a:bodyPr>
          <a:p>
            <a:pPr lvl="0" algn="ctr">
              <a:spcBef>
                <a:spcPts val="0"/>
              </a:spcBef>
              <a:spcAft>
                <a:spcPts val="0"/>
              </a:spcAft>
              <a:buClrTx/>
              <a:buSzTx/>
              <a:buFontTx/>
              <a:defRPr/>
            </a:pPr>
            <a:endParaRPr lang="zh-CN" altLang="en-US" kern="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pic>
        <p:nvPicPr>
          <p:cNvPr id="95" name="图片 94" descr="屋顶资源管理"/>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55600" y="186055"/>
            <a:ext cx="549910" cy="549910"/>
          </a:xfrm>
          <a:prstGeom prst="rect">
            <a:avLst/>
          </a:prstGeom>
        </p:spPr>
      </p:pic>
      <p:grpSp>
        <p:nvGrpSpPr>
          <p:cNvPr id="9" name="组合 8"/>
          <p:cNvGrpSpPr/>
          <p:nvPr/>
        </p:nvGrpSpPr>
        <p:grpSpPr>
          <a:xfrm>
            <a:off x="8715375" y="348615"/>
            <a:ext cx="3219450" cy="332740"/>
            <a:chOff x="13761" y="549"/>
            <a:chExt cx="5070" cy="524"/>
          </a:xfrm>
        </p:grpSpPr>
        <p:pic>
          <p:nvPicPr>
            <p:cNvPr id="10" name="图片 9"/>
            <p:cNvPicPr>
              <a:picLocks noChangeAspect="1"/>
            </p:cNvPicPr>
            <p:nvPr userDrawn="1"/>
          </p:nvPicPr>
          <p:blipFill>
            <a:blip r:embed="rId15"/>
            <a:srcRect l="17002" t="-1765" r="56499" b="-1176"/>
            <a:stretch>
              <a:fillRect/>
            </a:stretch>
          </p:blipFill>
          <p:spPr>
            <a:xfrm>
              <a:off x="13761" y="549"/>
              <a:ext cx="1582" cy="525"/>
            </a:xfrm>
            <a:prstGeom prst="rect">
              <a:avLst/>
            </a:prstGeom>
          </p:spPr>
        </p:pic>
        <p:sp>
          <p:nvSpPr>
            <p:cNvPr id="4" name="文本框 3"/>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
        <p:nvSpPr>
          <p:cNvPr id="12" name="任意多边形 11"/>
          <p:cNvSpPr/>
          <p:nvPr/>
        </p:nvSpPr>
        <p:spPr>
          <a:xfrm flipH="1" flipV="1">
            <a:off x="4752340" y="5901055"/>
            <a:ext cx="2621280" cy="772160"/>
          </a:xfrm>
          <a:custGeom>
            <a:avLst/>
            <a:gdLst>
              <a:gd name="adj" fmla="val 50000"/>
              <a:gd name="a" fmla="pin 0 adj 100000"/>
              <a:gd name="x1" fmla="*/ w a 200000"/>
              <a:gd name="x2" fmla="*/ w a 100000"/>
              <a:gd name="x3" fmla="+- x1 wd2 0"/>
            </a:gdLst>
            <a:ahLst/>
            <a:cxnLst>
              <a:cxn ang="3">
                <a:pos x="x2" y="t"/>
              </a:cxn>
              <a:cxn ang="cd2">
                <a:pos x="x1" y="vc"/>
              </a:cxn>
              <a:cxn ang="cd4">
                <a:pos x="l" y="b"/>
              </a:cxn>
              <a:cxn ang="cd4">
                <a:pos x="x2" y="b"/>
              </a:cxn>
              <a:cxn ang="cd4">
                <a:pos x="r" y="b"/>
              </a:cxn>
              <a:cxn ang="0">
                <a:pos x="x3" y="vc"/>
              </a:cxn>
            </a:cxnLst>
            <a:rect l="l" t="t" r="r" b="b"/>
            <a:pathLst>
              <a:path w="3028" h="1216">
                <a:moveTo>
                  <a:pt x="0" y="1216"/>
                </a:moveTo>
                <a:lnTo>
                  <a:pt x="1514" y="0"/>
                </a:lnTo>
                <a:lnTo>
                  <a:pt x="3028" y="1216"/>
                </a:lnTo>
                <a:lnTo>
                  <a:pt x="0" y="1216"/>
                </a:lnTo>
                <a:close/>
              </a:path>
            </a:pathLst>
          </a:custGeom>
          <a:gradFill>
            <a:gsLst>
              <a:gs pos="0">
                <a:schemeClr val="accent5">
                  <a:lumMod val="60000"/>
                  <a:lumOff val="40000"/>
                </a:schemeClr>
              </a:gs>
              <a:gs pos="73000">
                <a:schemeClr val="accent5"/>
              </a:gs>
            </a:gsLst>
            <a:lin ang="162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grpSp>
        <p:nvGrpSpPr>
          <p:cNvPr id="37" name="组合 36"/>
          <p:cNvGrpSpPr/>
          <p:nvPr/>
        </p:nvGrpSpPr>
        <p:grpSpPr>
          <a:xfrm>
            <a:off x="6271260" y="2849851"/>
            <a:ext cx="3101975" cy="1211609"/>
            <a:chOff x="3590" y="4033"/>
            <a:chExt cx="5904" cy="2436"/>
          </a:xfrm>
        </p:grpSpPr>
        <p:sp>
          <p:nvSpPr>
            <p:cNvPr id="38" name="圆角矩形 37"/>
            <p:cNvSpPr/>
            <p:nvPr/>
          </p:nvSpPr>
          <p:spPr>
            <a:xfrm>
              <a:off x="3590" y="4033"/>
              <a:ext cx="5904" cy="744"/>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cs typeface="微软雅黑" panose="020B0503020204020204" charset="-122"/>
                  <a:sym typeface="+mn-ea"/>
                </a:rPr>
                <a:t>新兴渠道</a:t>
              </a:r>
              <a:endParaRPr lang="zh-CN" altLang="en-US" sz="1400" b="1">
                <a:cs typeface="微软雅黑" panose="020B0503020204020204" charset="-122"/>
                <a:sym typeface="+mn-ea"/>
              </a:endParaRPr>
            </a:p>
          </p:txBody>
        </p:sp>
        <p:sp>
          <p:nvSpPr>
            <p:cNvPr id="39" name="矩形 38"/>
            <p:cNvSpPr/>
            <p:nvPr/>
          </p:nvSpPr>
          <p:spPr>
            <a:xfrm>
              <a:off x="3649" y="4905"/>
              <a:ext cx="1819" cy="1518"/>
            </a:xfrm>
            <a:prstGeom prst="rect">
              <a:avLst/>
            </a:prstGeom>
            <a:solidFill>
              <a:schemeClr val="bg1"/>
            </a:solidFill>
            <a:ln>
              <a:solidFill>
                <a:schemeClr val="accent1">
                  <a:lumMod val="60000"/>
                  <a:lumOff val="40000"/>
                  <a:alpha val="50000"/>
                </a:schemeClr>
              </a:solidFill>
            </a:ln>
            <a:effectLst>
              <a:outerShdw blurRad="50800" dist="38100" dir="2700000" algn="tl" rotWithShape="0">
                <a:schemeClr val="accent1">
                  <a:lumMod val="60000"/>
                  <a:lumOff val="40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solidFill>
                    <a:schemeClr val="accent1">
                      <a:lumMod val="60000"/>
                      <a:lumOff val="40000"/>
                    </a:schemeClr>
                  </a:solidFill>
                  <a:cs typeface="微软雅黑" panose="020B0503020204020204" charset="-122"/>
                  <a:sym typeface="+mn-ea"/>
                </a:rPr>
                <a:t>电商平台</a:t>
              </a:r>
              <a:endParaRPr lang="zh-CN" altLang="en-US" sz="1400" b="1">
                <a:solidFill>
                  <a:schemeClr val="accent1">
                    <a:lumMod val="60000"/>
                    <a:lumOff val="40000"/>
                  </a:schemeClr>
                </a:solidFill>
                <a:cs typeface="微软雅黑" panose="020B0503020204020204" charset="-122"/>
                <a:sym typeface="+mn-ea"/>
              </a:endParaRPr>
            </a:p>
          </p:txBody>
        </p:sp>
        <p:sp>
          <p:nvSpPr>
            <p:cNvPr id="40" name="矩形 39"/>
            <p:cNvSpPr/>
            <p:nvPr/>
          </p:nvSpPr>
          <p:spPr>
            <a:xfrm>
              <a:off x="5668" y="4900"/>
              <a:ext cx="1819" cy="1533"/>
            </a:xfrm>
            <a:prstGeom prst="rect">
              <a:avLst/>
            </a:prstGeom>
            <a:solidFill>
              <a:schemeClr val="bg1"/>
            </a:solidFill>
            <a:ln>
              <a:solidFill>
                <a:schemeClr val="accent1">
                  <a:lumMod val="60000"/>
                  <a:lumOff val="40000"/>
                  <a:alpha val="50000"/>
                </a:schemeClr>
              </a:solidFill>
            </a:ln>
            <a:effectLst>
              <a:outerShdw blurRad="50800" dist="38100" dir="2700000" algn="tl" rotWithShape="0">
                <a:schemeClr val="accent1">
                  <a:lumMod val="60000"/>
                  <a:lumOff val="40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solidFill>
                    <a:schemeClr val="accent1">
                      <a:lumMod val="60000"/>
                      <a:lumOff val="40000"/>
                    </a:schemeClr>
                  </a:solidFill>
                  <a:cs typeface="微软雅黑" panose="020B0503020204020204" charset="-122"/>
                  <a:sym typeface="+mn-ea"/>
                </a:rPr>
                <a:t>社交平台</a:t>
              </a:r>
              <a:endParaRPr lang="zh-CN" altLang="en-US" sz="1400" b="1">
                <a:solidFill>
                  <a:schemeClr val="accent1">
                    <a:lumMod val="60000"/>
                    <a:lumOff val="40000"/>
                  </a:schemeClr>
                </a:solidFill>
                <a:cs typeface="微软雅黑" panose="020B0503020204020204" charset="-122"/>
                <a:sym typeface="+mn-ea"/>
              </a:endParaRPr>
            </a:p>
          </p:txBody>
        </p:sp>
        <p:sp>
          <p:nvSpPr>
            <p:cNvPr id="41" name="矩形 40"/>
            <p:cNvSpPr/>
            <p:nvPr/>
          </p:nvSpPr>
          <p:spPr>
            <a:xfrm>
              <a:off x="7675" y="4895"/>
              <a:ext cx="1819" cy="1574"/>
            </a:xfrm>
            <a:prstGeom prst="rect">
              <a:avLst/>
            </a:prstGeom>
            <a:solidFill>
              <a:schemeClr val="bg1"/>
            </a:solidFill>
            <a:ln>
              <a:solidFill>
                <a:schemeClr val="accent1">
                  <a:lumMod val="60000"/>
                  <a:lumOff val="40000"/>
                  <a:alpha val="50000"/>
                </a:schemeClr>
              </a:solidFill>
            </a:ln>
            <a:effectLst>
              <a:outerShdw blurRad="50800" dist="38100" dir="2700000" algn="tl" rotWithShape="0">
                <a:schemeClr val="accent1">
                  <a:lumMod val="60000"/>
                  <a:lumOff val="40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b="1">
                  <a:solidFill>
                    <a:schemeClr val="accent1">
                      <a:lumMod val="60000"/>
                      <a:lumOff val="40000"/>
                    </a:schemeClr>
                  </a:solidFill>
                  <a:cs typeface="微软雅黑" panose="020B0503020204020204" charset="-122"/>
                  <a:sym typeface="+mn-ea"/>
                </a:rPr>
                <a:t>视频平台</a:t>
              </a:r>
              <a:endParaRPr lang="zh-CN" altLang="en-US" sz="1400" b="1">
                <a:solidFill>
                  <a:schemeClr val="accent1">
                    <a:lumMod val="60000"/>
                    <a:lumOff val="40000"/>
                  </a:schemeClr>
                </a:solidFill>
                <a:cs typeface="微软雅黑" panose="020B0503020204020204" charset="-122"/>
                <a:sym typeface="+mn-ea"/>
              </a:endParaRPr>
            </a:p>
          </p:txBody>
        </p:sp>
      </p:grpSp>
      <p:sp>
        <p:nvSpPr>
          <p:cNvPr id="43" name="等腰三角形 42"/>
          <p:cNvSpPr/>
          <p:nvPr/>
        </p:nvSpPr>
        <p:spPr>
          <a:xfrm rot="5400000">
            <a:off x="6074410" y="2952750"/>
            <a:ext cx="224790" cy="163195"/>
          </a:xfrm>
          <a:prstGeom prst="triangle">
            <a:avLst/>
          </a:prstGeom>
          <a:solidFill>
            <a:schemeClr val="accent1">
              <a:lumMod val="60000"/>
              <a:lumOff val="4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6" name="文本框 45"/>
          <p:cNvSpPr txBox="1"/>
          <p:nvPr/>
        </p:nvSpPr>
        <p:spPr>
          <a:xfrm>
            <a:off x="5392420" y="5975350"/>
            <a:ext cx="1402715" cy="521970"/>
          </a:xfrm>
          <a:prstGeom prst="rect">
            <a:avLst/>
          </a:prstGeom>
          <a:noFill/>
        </p:spPr>
        <p:txBody>
          <a:bodyPr wrap="square" rtlCol="0">
            <a:spAutoFit/>
          </a:bodyPr>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客户忠诚</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培育</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7" name="文本框 46"/>
          <p:cNvSpPr txBox="1"/>
          <p:nvPr/>
        </p:nvSpPr>
        <p:spPr>
          <a:xfrm>
            <a:off x="3457575" y="4559935"/>
            <a:ext cx="5281295" cy="337185"/>
          </a:xfrm>
          <a:prstGeom prst="rect">
            <a:avLst/>
          </a:prstGeom>
          <a:noFill/>
        </p:spPr>
        <p:txBody>
          <a:bodyPr wrap="square" rtlCol="0">
            <a:spAutoFit/>
          </a:bodyPr>
          <a:p>
            <a:pPr algn="ctr"/>
            <a:r>
              <a:rPr lang="zh-CN" sz="1600" b="1">
                <a:solidFill>
                  <a:schemeClr val="bg1"/>
                </a:solidFill>
                <a:latin typeface="微软雅黑" panose="020B0503020204020204" charset="-122"/>
                <a:ea typeface="微软雅黑" panose="020B0503020204020204" charset="-122"/>
                <a:cs typeface="微软雅黑" panose="020B0503020204020204" charset="-122"/>
              </a:rPr>
              <a:t>私域平台收拢</a:t>
            </a:r>
            <a:r>
              <a:rPr lang="en-US" altLang="zh-CN" sz="1600" b="1">
                <a:solidFill>
                  <a:schemeClr val="bg1"/>
                </a:solidFill>
                <a:latin typeface="微软雅黑" panose="020B0503020204020204" charset="-122"/>
                <a:ea typeface="微软雅黑" panose="020B0503020204020204" charset="-122"/>
                <a:cs typeface="微软雅黑" panose="020B0503020204020204" charset="-122"/>
              </a:rPr>
              <a:t>/</a:t>
            </a:r>
            <a:r>
              <a:rPr lang="zh-CN" altLang="en-US" sz="1600" b="1">
                <a:solidFill>
                  <a:schemeClr val="bg1"/>
                </a:solidFill>
                <a:latin typeface="微软雅黑" panose="020B0503020204020204" charset="-122"/>
                <a:ea typeface="微软雅黑" panose="020B0503020204020204" charset="-122"/>
                <a:cs typeface="微软雅黑" panose="020B0503020204020204" charset="-122"/>
              </a:rPr>
              <a:t>运营</a:t>
            </a:r>
            <a:endParaRPr lang="zh-CN" altLang="en-US" sz="1600" b="1">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6" name="肘形连接符 5"/>
          <p:cNvCxnSpPr/>
          <p:nvPr/>
        </p:nvCxnSpPr>
        <p:spPr>
          <a:xfrm flipH="1">
            <a:off x="6995795" y="3383280"/>
            <a:ext cx="3312160" cy="2875280"/>
          </a:xfrm>
          <a:prstGeom prst="bentConnector3">
            <a:avLst>
              <a:gd name="adj1" fmla="val 325"/>
            </a:avLst>
          </a:prstGeom>
          <a:ln>
            <a:gradFill>
              <a:gsLst>
                <a:gs pos="0">
                  <a:schemeClr val="accent5">
                    <a:lumMod val="60000"/>
                    <a:lumOff val="40000"/>
                    <a:alpha val="100000"/>
                  </a:schemeClr>
                </a:gs>
                <a:gs pos="100000">
                  <a:schemeClr val="accent5"/>
                </a:gs>
              </a:gsLst>
              <a:lin ang="5400000" scaled="1"/>
            </a:gradFill>
            <a:prstDash val="dash"/>
            <a:headEnd type="none"/>
            <a:tailEnd type="triangle" w="lg" len="med"/>
          </a:ln>
        </p:spPr>
        <p:style>
          <a:lnRef idx="2">
            <a:schemeClr val="accent1"/>
          </a:lnRef>
          <a:fillRef idx="0">
            <a:srgbClr val="FFFFFF"/>
          </a:fillRef>
          <a:effectRef idx="0">
            <a:srgbClr val="FFFFFF"/>
          </a:effectRef>
          <a:fontRef idx="minor">
            <a:schemeClr val="tx1"/>
          </a:fontRef>
        </p:style>
      </p:cxnSp>
      <p:cxnSp>
        <p:nvCxnSpPr>
          <p:cNvPr id="11" name="曲线连接符 10"/>
          <p:cNvCxnSpPr/>
          <p:nvPr/>
        </p:nvCxnSpPr>
        <p:spPr>
          <a:xfrm rot="5400000" flipV="1">
            <a:off x="1311275" y="3526155"/>
            <a:ext cx="2084070" cy="1407160"/>
          </a:xfrm>
          <a:prstGeom prst="curvedConnector2">
            <a:avLst/>
          </a:prstGeom>
          <a:ln>
            <a:gradFill>
              <a:gsLst>
                <a:gs pos="0">
                  <a:schemeClr val="accent5">
                    <a:lumMod val="60000"/>
                    <a:lumOff val="40000"/>
                    <a:alpha val="100000"/>
                  </a:schemeClr>
                </a:gs>
                <a:gs pos="100000">
                  <a:schemeClr val="accent5"/>
                </a:gs>
              </a:gsLst>
              <a:lin ang="5400000" scaled="1"/>
            </a:gradFill>
            <a:prstDash val="dash"/>
            <a:headEnd type="none"/>
            <a:tailEnd type="triangle" w="lg" len="med"/>
          </a:ln>
        </p:spPr>
        <p:style>
          <a:lnRef idx="2">
            <a:schemeClr val="accent1"/>
          </a:lnRef>
          <a:fillRef idx="0">
            <a:srgbClr val="FFFFFF"/>
          </a:fillRef>
          <a:effectRef idx="0">
            <a:srgbClr val="FFFFFF"/>
          </a:effectRef>
          <a:fontRef idx="minor">
            <a:schemeClr val="tx1"/>
          </a:fontRef>
        </p:style>
      </p:cxnSp>
      <p:cxnSp>
        <p:nvCxnSpPr>
          <p:cNvPr id="15" name="曲线连接符 14"/>
          <p:cNvCxnSpPr/>
          <p:nvPr/>
        </p:nvCxnSpPr>
        <p:spPr>
          <a:xfrm rot="5400000" flipV="1">
            <a:off x="4252595" y="5187950"/>
            <a:ext cx="782320" cy="1749425"/>
          </a:xfrm>
          <a:prstGeom prst="curvedConnector2">
            <a:avLst/>
          </a:prstGeom>
          <a:ln>
            <a:gradFill>
              <a:gsLst>
                <a:gs pos="0">
                  <a:schemeClr val="accent5">
                    <a:lumMod val="60000"/>
                    <a:lumOff val="40000"/>
                    <a:alpha val="100000"/>
                  </a:schemeClr>
                </a:gs>
                <a:gs pos="100000">
                  <a:schemeClr val="accent5"/>
                </a:gs>
              </a:gsLst>
              <a:lin ang="5400000" scaled="1"/>
            </a:gradFill>
            <a:prstDash val="dash"/>
            <a:headEnd type="none"/>
            <a:tailEnd type="triangle" w="lg" len="med"/>
          </a:ln>
        </p:spPr>
        <p:style>
          <a:lnRef idx="2">
            <a:schemeClr val="accent1"/>
          </a:lnRef>
          <a:fillRef idx="0">
            <a:srgbClr val="FFFFFF"/>
          </a:fillRef>
          <a:effectRef idx="0">
            <a:srgbClr val="FFFFFF"/>
          </a:effectRef>
          <a:fontRef idx="minor">
            <a:schemeClr val="tx1"/>
          </a:fontRef>
        </p:style>
      </p:cxnSp>
      <p:sp>
        <p:nvSpPr>
          <p:cNvPr id="24" name="文本框 23"/>
          <p:cNvSpPr txBox="1"/>
          <p:nvPr/>
        </p:nvSpPr>
        <p:spPr>
          <a:xfrm>
            <a:off x="391795" y="3991610"/>
            <a:ext cx="1330960" cy="275590"/>
          </a:xfrm>
          <a:prstGeom prst="rect">
            <a:avLst/>
          </a:prstGeom>
          <a:noFill/>
          <a:ln>
            <a:solidFill>
              <a:schemeClr val="accent5"/>
            </a:solidFill>
          </a:ln>
        </p:spPr>
        <p:txBody>
          <a:bodyPr wrap="square" rtlCol="0">
            <a:spAutoFit/>
          </a:bodyPr>
          <a:p>
            <a:pPr algn="ct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流量引入与筛选</a:t>
            </a:r>
            <a:endParaRPr lang="zh-CN" altLang="en-US" sz="12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25" name="文本框 24"/>
          <p:cNvSpPr txBox="1"/>
          <p:nvPr/>
        </p:nvSpPr>
        <p:spPr>
          <a:xfrm>
            <a:off x="337185" y="4343400"/>
            <a:ext cx="1670685" cy="706755"/>
          </a:xfrm>
          <a:prstGeom prst="rect">
            <a:avLst/>
          </a:prstGeom>
          <a:noFill/>
        </p:spPr>
        <p:txBody>
          <a:bodyPr wrap="square" rtlCol="0">
            <a:spAutoFit/>
          </a:bodyPr>
          <a:p>
            <a:pPr marL="171450" indent="-171450" algn="l">
              <a:buFont typeface="Wingdings" panose="05000000000000000000" charset="0"/>
              <a:buChar char="l"/>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触达与引流（解决</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怎么来</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培育与转化（解决</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怎么进</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nvSpPr>
        <p:spPr>
          <a:xfrm>
            <a:off x="2065020" y="5840095"/>
            <a:ext cx="1643380" cy="275590"/>
          </a:xfrm>
          <a:prstGeom prst="rect">
            <a:avLst/>
          </a:prstGeom>
          <a:noFill/>
          <a:ln>
            <a:solidFill>
              <a:schemeClr val="accent5"/>
            </a:solidFill>
          </a:ln>
        </p:spPr>
        <p:txBody>
          <a:bodyPr wrap="square" rtlCol="0">
            <a:spAutoFit/>
          </a:bodyPr>
          <a:p>
            <a:pPr algn="ct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深度连接与价值挖潜</a:t>
            </a:r>
            <a:endParaRPr lang="zh-CN" altLang="en-US" sz="12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33" name="文本框 32"/>
          <p:cNvSpPr txBox="1"/>
          <p:nvPr/>
        </p:nvSpPr>
        <p:spPr>
          <a:xfrm>
            <a:off x="2073910" y="6197600"/>
            <a:ext cx="2330450" cy="553085"/>
          </a:xfrm>
          <a:prstGeom prst="rect">
            <a:avLst/>
          </a:prstGeom>
          <a:noFill/>
        </p:spPr>
        <p:txBody>
          <a:bodyPr wrap="square" rtlCol="0">
            <a:spAutoFit/>
          </a:bodyPr>
          <a:p>
            <a:pPr marL="171450" indent="-171450" algn="l">
              <a:buFont typeface="Wingdings" panose="05000000000000000000" charset="0"/>
              <a:buChar char="l"/>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建立强连接（解决</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信任</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精细化运营（解决</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留存</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l"/>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提升生命周期价值（解决</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复购</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4" name="文本框 33"/>
          <p:cNvSpPr txBox="1"/>
          <p:nvPr/>
        </p:nvSpPr>
        <p:spPr>
          <a:xfrm>
            <a:off x="10452100" y="3890010"/>
            <a:ext cx="1483360" cy="275590"/>
          </a:xfrm>
          <a:prstGeom prst="rect">
            <a:avLst/>
          </a:prstGeom>
          <a:noFill/>
          <a:ln>
            <a:solidFill>
              <a:schemeClr val="accent5"/>
            </a:solidFill>
          </a:ln>
        </p:spPr>
        <p:txBody>
          <a:bodyPr wrap="square" rtlCol="0">
            <a:spAutoFit/>
          </a:bodyPr>
          <a:p>
            <a:pPr algn="ct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流量奠定用户基础</a:t>
            </a:r>
            <a:endParaRPr lang="en-US" altLang="zh-CN" sz="12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35" name="文本框 34"/>
          <p:cNvSpPr txBox="1"/>
          <p:nvPr/>
        </p:nvSpPr>
        <p:spPr>
          <a:xfrm>
            <a:off x="10396855" y="4267200"/>
            <a:ext cx="1669415" cy="1322070"/>
          </a:xfrm>
          <a:prstGeom prst="rect">
            <a:avLst/>
          </a:prstGeom>
          <a:noFill/>
        </p:spPr>
        <p:txBody>
          <a:bodyPr wrap="square" rtlCol="0">
            <a:spAutoFit/>
          </a:bodyPr>
          <a:p>
            <a:pPr indent="0" algn="l">
              <a:buFont typeface="Wingdings" panose="05000000000000000000" charset="0"/>
              <a:buNone/>
            </a:pPr>
            <a:r>
              <a:rPr lang="zh-CN" altLang="en-US" sz="1000">
                <a:solidFill>
                  <a:schemeClr val="tx2"/>
                </a:solidFill>
                <a:latin typeface="微软雅黑" panose="020B0503020204020204" charset="-122"/>
                <a:ea typeface="微软雅黑" panose="020B0503020204020204" charset="-122"/>
                <a:cs typeface="微软雅黑" panose="020B0503020204020204" charset="-122"/>
              </a:rPr>
              <a:t>公域与泛私域曝光</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集客是客户忠诚培育的</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上游水源</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，它不仅提供了培育对象的数量基础，更通过精准筛选、前置信任建立、多触点强化和数据反馈，大幅提升了后续私域运营中忠诚培育的效率和质量。</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数据管理平台架构</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2" name="任意多边形 11"/>
          <p:cNvSpPr/>
          <p:nvPr/>
        </p:nvSpPr>
        <p:spPr>
          <a:xfrm>
            <a:off x="2569845" y="1273810"/>
            <a:ext cx="7189470" cy="1066800"/>
          </a:xfrm>
          <a:custGeom>
            <a:avLst/>
            <a:gdLst>
              <a:gd name="connisteX0" fmla="*/ 0 w 7189470"/>
              <a:gd name="connsiteY0" fmla="*/ 1066800 h 1066800"/>
              <a:gd name="connisteX1" fmla="*/ 3638550 w 7189470"/>
              <a:gd name="connsiteY1" fmla="*/ 0 h 1066800"/>
              <a:gd name="connisteX2" fmla="*/ 7189470 w 7189470"/>
              <a:gd name="connsiteY2" fmla="*/ 1062990 h 1066800"/>
              <a:gd name="connisteX3" fmla="*/ 7185660 w 7189470"/>
              <a:gd name="connsiteY3" fmla="*/ 1062990 h 1066800"/>
            </a:gdLst>
            <a:ahLst/>
            <a:cxnLst>
              <a:cxn ang="0">
                <a:pos x="connisteX0" y="connsiteY0"/>
              </a:cxn>
              <a:cxn ang="0">
                <a:pos x="connisteX1" y="connsiteY1"/>
              </a:cxn>
              <a:cxn ang="0">
                <a:pos x="connisteX2" y="connsiteY2"/>
              </a:cxn>
              <a:cxn ang="0">
                <a:pos x="connisteX3" y="connsiteY3"/>
              </a:cxn>
            </a:cxnLst>
            <a:rect l="l" t="t" r="r" b="b"/>
            <a:pathLst>
              <a:path w="7189470" h="1066800">
                <a:moveTo>
                  <a:pt x="0" y="1066800"/>
                </a:moveTo>
                <a:cubicBezTo>
                  <a:pt x="656590" y="832485"/>
                  <a:pt x="2200910" y="635"/>
                  <a:pt x="3638550" y="0"/>
                </a:cubicBezTo>
                <a:cubicBezTo>
                  <a:pt x="5076190" y="-635"/>
                  <a:pt x="6480175" y="850265"/>
                  <a:pt x="7189470" y="1062990"/>
                </a:cubicBezTo>
              </a:path>
            </a:pathLst>
          </a:custGeom>
          <a:noFill/>
          <a:ln>
            <a:solidFill>
              <a:schemeClr val="accent6">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微软雅黑" panose="020B0503020204020204" charset="-122"/>
              <a:sym typeface="+mn-ea"/>
            </a:endParaRPr>
          </a:p>
        </p:txBody>
      </p:sp>
      <p:sp>
        <p:nvSpPr>
          <p:cNvPr id="13" name="梯形 12"/>
          <p:cNvSpPr/>
          <p:nvPr/>
        </p:nvSpPr>
        <p:spPr>
          <a:xfrm>
            <a:off x="5102697" y="1092243"/>
            <a:ext cx="2107158" cy="357868"/>
          </a:xfrm>
          <a:prstGeom prst="trapezoid">
            <a:avLst>
              <a:gd name="adj" fmla="val 45279"/>
            </a:avLst>
          </a:prstGeom>
          <a:solidFill>
            <a:schemeClr val="accent5"/>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4" name="文本框 13"/>
          <p:cNvSpPr txBox="1"/>
          <p:nvPr/>
        </p:nvSpPr>
        <p:spPr>
          <a:xfrm>
            <a:off x="5288039" y="1058072"/>
            <a:ext cx="1736474" cy="376642"/>
          </a:xfrm>
          <a:prstGeom prst="rect">
            <a:avLst/>
          </a:prstGeom>
          <a:noFill/>
        </p:spPr>
        <p:txBody>
          <a:bodyPr wrap="square">
            <a:spAutoFit/>
          </a:bodyPr>
          <a:lstStyle>
            <a:defPPr>
              <a:defRPr lang="zh-CN"/>
            </a:defPPr>
            <a:lvl1pPr>
              <a:lnSpc>
                <a:spcPct val="125000"/>
              </a:lnSpc>
              <a:defRPr sz="1200">
                <a:solidFill>
                  <a:schemeClr val="tx1">
                    <a:lumMod val="75000"/>
                    <a:lumOff val="25000"/>
                  </a:schemeClr>
                </a:solidFill>
                <a:latin typeface="+mn-ea"/>
              </a:defRPr>
            </a:lvl1pPr>
          </a:lstStyle>
          <a:p>
            <a:pPr algn="ct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数据管理平台</a:t>
            </a:r>
            <a:endParaRPr lang="zh-CN" altLang="en-US" sz="16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5" name="梯形 14"/>
          <p:cNvSpPr/>
          <p:nvPr/>
        </p:nvSpPr>
        <p:spPr>
          <a:xfrm>
            <a:off x="1395356" y="2279520"/>
            <a:ext cx="9597129" cy="3902589"/>
          </a:xfrm>
          <a:prstGeom prst="trapezoid">
            <a:avLst>
              <a:gd name="adj" fmla="val 31509"/>
            </a:avLst>
          </a:prstGeom>
          <a:solidFill>
            <a:srgbClr val="FFFFFF"/>
          </a:solidFill>
          <a:ln>
            <a:noFill/>
          </a:ln>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cxnSp>
        <p:nvCxnSpPr>
          <p:cNvPr id="16" name="直接箭头连接符 15"/>
          <p:cNvCxnSpPr/>
          <p:nvPr/>
        </p:nvCxnSpPr>
        <p:spPr>
          <a:xfrm flipV="1">
            <a:off x="1298692" y="2577503"/>
            <a:ext cx="991271" cy="3406158"/>
          </a:xfrm>
          <a:prstGeom prst="straightConnector1">
            <a:avLst/>
          </a:prstGeom>
          <a:ln>
            <a:solidFill>
              <a:srgbClr val="404040"/>
            </a:solidFill>
            <a:prstDash val="dash"/>
            <a:tailEnd type="triangle"/>
          </a:ln>
        </p:spPr>
        <p:style>
          <a:lnRef idx="1">
            <a:srgbClr val="24396B"/>
          </a:lnRef>
          <a:fillRef idx="0">
            <a:srgbClr val="24396B"/>
          </a:fillRef>
          <a:effectRef idx="0">
            <a:srgbClr val="24396B"/>
          </a:effectRef>
          <a:fontRef idx="minor">
            <a:srgbClr val="000000"/>
          </a:fontRef>
        </p:style>
      </p:cxnSp>
      <p:cxnSp>
        <p:nvCxnSpPr>
          <p:cNvPr id="17" name="直接箭头连接符 16"/>
          <p:cNvCxnSpPr/>
          <p:nvPr/>
        </p:nvCxnSpPr>
        <p:spPr>
          <a:xfrm flipH="1" flipV="1">
            <a:off x="10017733" y="2528725"/>
            <a:ext cx="1069007" cy="3469450"/>
          </a:xfrm>
          <a:prstGeom prst="straightConnector1">
            <a:avLst/>
          </a:prstGeom>
          <a:ln>
            <a:solidFill>
              <a:srgbClr val="404040"/>
            </a:solidFill>
            <a:prstDash val="dash"/>
            <a:tailEnd type="triangle"/>
          </a:ln>
        </p:spPr>
        <p:style>
          <a:lnRef idx="1">
            <a:srgbClr val="24396B"/>
          </a:lnRef>
          <a:fillRef idx="0">
            <a:srgbClr val="24396B"/>
          </a:fillRef>
          <a:effectRef idx="0">
            <a:srgbClr val="24396B"/>
          </a:effectRef>
          <a:fontRef idx="minor">
            <a:srgbClr val="000000"/>
          </a:fontRef>
        </p:style>
      </p:cxnSp>
      <p:sp>
        <p:nvSpPr>
          <p:cNvPr id="18" name="任意多边形: 形状 559"/>
          <p:cNvSpPr/>
          <p:nvPr>
            <p:custDataLst>
              <p:tags r:id="rId1"/>
            </p:custDataLst>
          </p:nvPr>
        </p:nvSpPr>
        <p:spPr>
          <a:xfrm flipH="1">
            <a:off x="1370965" y="5606415"/>
            <a:ext cx="9621520" cy="588645"/>
          </a:xfrm>
          <a:custGeom>
            <a:avLst/>
            <a:gdLst>
              <a:gd name="connsiteX0" fmla="*/ 4316044 w 8632088"/>
              <a:gd name="connsiteY0" fmla="*/ 0 h 588531"/>
              <a:gd name="connsiteX1" fmla="*/ 115653 w 8632088"/>
              <a:gd name="connsiteY1" fmla="*/ 258985 h 588531"/>
              <a:gd name="connsiteX2" fmla="*/ 110961 w 8632088"/>
              <a:gd name="connsiteY2" fmla="*/ 258985 h 588531"/>
              <a:gd name="connsiteX3" fmla="*/ 0 w 8632088"/>
              <a:gd name="connsiteY3" fmla="*/ 588531 h 588531"/>
              <a:gd name="connsiteX4" fmla="*/ 8632088 w 8632088"/>
              <a:gd name="connsiteY4" fmla="*/ 588531 h 588531"/>
              <a:gd name="connsiteX5" fmla="*/ 8521127 w 8632088"/>
              <a:gd name="connsiteY5" fmla="*/ 258985 h 588531"/>
              <a:gd name="connsiteX6" fmla="*/ 8516435 w 8632088"/>
              <a:gd name="connsiteY6" fmla="*/ 258985 h 588531"/>
              <a:gd name="connsiteX7" fmla="*/ 4316044 w 8632088"/>
              <a:gd name="connsiteY7" fmla="*/ 0 h 588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32088" h="588531">
                <a:moveTo>
                  <a:pt x="4316044" y="0"/>
                </a:moveTo>
                <a:cubicBezTo>
                  <a:pt x="1996232" y="0"/>
                  <a:pt x="115653" y="115952"/>
                  <a:pt x="115653" y="258985"/>
                </a:cubicBezTo>
                <a:lnTo>
                  <a:pt x="110961" y="258985"/>
                </a:lnTo>
                <a:lnTo>
                  <a:pt x="0" y="588531"/>
                </a:lnTo>
                <a:lnTo>
                  <a:pt x="8632088" y="588531"/>
                </a:lnTo>
                <a:lnTo>
                  <a:pt x="8521127" y="258985"/>
                </a:lnTo>
                <a:lnTo>
                  <a:pt x="8516435" y="258985"/>
                </a:lnTo>
                <a:cubicBezTo>
                  <a:pt x="8516435" y="115952"/>
                  <a:pt x="6635856" y="0"/>
                  <a:pt x="4316044" y="0"/>
                </a:cubicBezTo>
                <a:close/>
              </a:path>
            </a:pathLst>
          </a:custGeom>
          <a:solidFill>
            <a:schemeClr val="accent1"/>
          </a:solidFill>
          <a:ln w="38100">
            <a:noFill/>
          </a:ln>
          <a:effectLst/>
        </p:spPr>
        <p:style>
          <a:lnRef idx="2">
            <a:srgbClr val="24396B">
              <a:shade val="50000"/>
            </a:srgbClr>
          </a:lnRef>
          <a:fillRef idx="1">
            <a:srgbClr val="24396B"/>
          </a:fillRef>
          <a:effectRef idx="0">
            <a:srgbClr val="24396B"/>
          </a:effectRef>
          <a:fontRef idx="minor">
            <a:srgbClr val="FFFFFF"/>
          </a:fontRef>
        </p:style>
        <p:txBody>
          <a:bodyPr wrap="square" lIns="98755" tIns="49378" rIns="98755" bIns="49378" rtlCol="0" anchor="ctr">
            <a:noAutofit/>
          </a:bodyPr>
          <a:lstStyle/>
          <a:p>
            <a:pPr algn="ctr"/>
            <a:endParaRPr lang="zh-CN" altLang="en-US" sz="1945" dirty="0">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9" name="椭圆 18"/>
          <p:cNvSpPr/>
          <p:nvPr>
            <p:custDataLst>
              <p:tags r:id="rId2"/>
            </p:custDataLst>
          </p:nvPr>
        </p:nvSpPr>
        <p:spPr>
          <a:xfrm flipH="1">
            <a:off x="1370965" y="5928995"/>
            <a:ext cx="9621520" cy="530225"/>
          </a:xfrm>
          <a:prstGeom prst="ellipse">
            <a:avLst/>
          </a:prstGeom>
          <a:solidFill>
            <a:schemeClr val="accent1">
              <a:lumMod val="40000"/>
              <a:lumOff val="60000"/>
            </a:schemeClr>
          </a:solidFill>
          <a:ln w="15875">
            <a:gradFill>
              <a:gsLst>
                <a:gs pos="78000">
                  <a:schemeClr val="accent1">
                    <a:alpha val="0"/>
                  </a:schemeClr>
                </a:gs>
                <a:gs pos="25000">
                  <a:schemeClr val="accent1"/>
                </a:gs>
              </a:gsLst>
              <a:lin ang="5400000" scaled="1"/>
            </a:gradFill>
            <a:prstDash val="dash"/>
          </a:ln>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1945" dirty="0">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cxnSp>
        <p:nvCxnSpPr>
          <p:cNvPr id="20" name="直接连接符 19"/>
          <p:cNvCxnSpPr/>
          <p:nvPr/>
        </p:nvCxnSpPr>
        <p:spPr>
          <a:xfrm flipV="1">
            <a:off x="1489611" y="2377743"/>
            <a:ext cx="1080000" cy="3483869"/>
          </a:xfrm>
          <a:prstGeom prst="line">
            <a:avLst/>
          </a:prstGeom>
          <a:ln>
            <a:solidFill>
              <a:schemeClr val="accent6">
                <a:lumMod val="60000"/>
                <a:lumOff val="40000"/>
              </a:schemeClr>
            </a:solidFill>
            <a:prstDash val="dash"/>
          </a:ln>
        </p:spPr>
        <p:style>
          <a:lnRef idx="1">
            <a:srgbClr val="24396B"/>
          </a:lnRef>
          <a:fillRef idx="0">
            <a:srgbClr val="24396B"/>
          </a:fillRef>
          <a:effectRef idx="0">
            <a:srgbClr val="24396B"/>
          </a:effectRef>
          <a:fontRef idx="minor">
            <a:srgbClr val="000000"/>
          </a:fontRef>
        </p:style>
      </p:cxnSp>
      <p:cxnSp>
        <p:nvCxnSpPr>
          <p:cNvPr id="21" name="直接连接符 20"/>
          <p:cNvCxnSpPr/>
          <p:nvPr/>
        </p:nvCxnSpPr>
        <p:spPr>
          <a:xfrm flipH="1" flipV="1">
            <a:off x="9769611" y="2377743"/>
            <a:ext cx="1080000" cy="3483869"/>
          </a:xfrm>
          <a:prstGeom prst="line">
            <a:avLst/>
          </a:prstGeom>
          <a:ln>
            <a:solidFill>
              <a:schemeClr val="accent6">
                <a:lumMod val="60000"/>
                <a:lumOff val="40000"/>
              </a:schemeClr>
            </a:solidFill>
            <a:prstDash val="dash"/>
          </a:ln>
        </p:spPr>
        <p:style>
          <a:lnRef idx="1">
            <a:srgbClr val="24396B"/>
          </a:lnRef>
          <a:fillRef idx="0">
            <a:srgbClr val="24396B"/>
          </a:fillRef>
          <a:effectRef idx="0">
            <a:srgbClr val="24396B"/>
          </a:effectRef>
          <a:fontRef idx="minor">
            <a:srgbClr val="000000"/>
          </a:fontRef>
        </p:style>
      </p:cxnSp>
      <p:sp>
        <p:nvSpPr>
          <p:cNvPr id="22" name="任意多边形: 形状 556"/>
          <p:cNvSpPr/>
          <p:nvPr>
            <p:custDataLst>
              <p:tags r:id="rId3"/>
            </p:custDataLst>
          </p:nvPr>
        </p:nvSpPr>
        <p:spPr>
          <a:xfrm flipH="1">
            <a:off x="2489820" y="2158545"/>
            <a:ext cx="7380000" cy="447040"/>
          </a:xfrm>
          <a:custGeom>
            <a:avLst/>
            <a:gdLst>
              <a:gd name="connsiteX0" fmla="*/ 4316044 w 8632088"/>
              <a:gd name="connsiteY0" fmla="*/ 0 h 588531"/>
              <a:gd name="connsiteX1" fmla="*/ 115653 w 8632088"/>
              <a:gd name="connsiteY1" fmla="*/ 258985 h 588531"/>
              <a:gd name="connsiteX2" fmla="*/ 110961 w 8632088"/>
              <a:gd name="connsiteY2" fmla="*/ 258985 h 588531"/>
              <a:gd name="connsiteX3" fmla="*/ 0 w 8632088"/>
              <a:gd name="connsiteY3" fmla="*/ 588531 h 588531"/>
              <a:gd name="connsiteX4" fmla="*/ 8632088 w 8632088"/>
              <a:gd name="connsiteY4" fmla="*/ 588531 h 588531"/>
              <a:gd name="connsiteX5" fmla="*/ 8521127 w 8632088"/>
              <a:gd name="connsiteY5" fmla="*/ 258985 h 588531"/>
              <a:gd name="connsiteX6" fmla="*/ 8516435 w 8632088"/>
              <a:gd name="connsiteY6" fmla="*/ 258985 h 588531"/>
              <a:gd name="connsiteX7" fmla="*/ 4316044 w 8632088"/>
              <a:gd name="connsiteY7" fmla="*/ 0 h 588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32088" h="588531">
                <a:moveTo>
                  <a:pt x="4316044" y="0"/>
                </a:moveTo>
                <a:cubicBezTo>
                  <a:pt x="1996232" y="0"/>
                  <a:pt x="115653" y="115952"/>
                  <a:pt x="115653" y="258985"/>
                </a:cubicBezTo>
                <a:lnTo>
                  <a:pt x="110961" y="258985"/>
                </a:lnTo>
                <a:lnTo>
                  <a:pt x="0" y="588531"/>
                </a:lnTo>
                <a:lnTo>
                  <a:pt x="8632088" y="588531"/>
                </a:lnTo>
                <a:lnTo>
                  <a:pt x="8521127" y="258985"/>
                </a:lnTo>
                <a:lnTo>
                  <a:pt x="8516435" y="258985"/>
                </a:lnTo>
                <a:cubicBezTo>
                  <a:pt x="8516435" y="115952"/>
                  <a:pt x="6635856" y="0"/>
                  <a:pt x="4316044" y="0"/>
                </a:cubicBezTo>
                <a:close/>
              </a:path>
            </a:pathLst>
          </a:custGeom>
          <a:solidFill>
            <a:schemeClr val="accent5"/>
          </a:solidFill>
          <a:ln w="38100">
            <a:noFill/>
          </a:ln>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1945" dirty="0">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23" name="椭圆 22"/>
          <p:cNvSpPr/>
          <p:nvPr>
            <p:custDataLst>
              <p:tags r:id="rId4"/>
            </p:custDataLst>
          </p:nvPr>
        </p:nvSpPr>
        <p:spPr>
          <a:xfrm flipH="1">
            <a:off x="2489820" y="2403782"/>
            <a:ext cx="7380000" cy="402763"/>
          </a:xfrm>
          <a:prstGeom prst="ellipse">
            <a:avLst/>
          </a:prstGeom>
          <a:solidFill>
            <a:schemeClr val="accent5">
              <a:lumMod val="20000"/>
              <a:lumOff val="80000"/>
            </a:schemeClr>
          </a:solidFill>
          <a:ln w="15875">
            <a:gradFill>
              <a:gsLst>
                <a:gs pos="78000">
                  <a:schemeClr val="accent5">
                    <a:alpha val="0"/>
                  </a:schemeClr>
                </a:gs>
                <a:gs pos="25000">
                  <a:schemeClr val="accent5"/>
                </a:gs>
              </a:gsLst>
              <a:lin ang="5400000" scaled="1"/>
            </a:gradFill>
            <a:prstDash val="dash"/>
          </a:ln>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1945" dirty="0">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24" name="任意多边形: 形状 532"/>
          <p:cNvSpPr/>
          <p:nvPr>
            <p:custDataLst>
              <p:tags r:id="rId5"/>
            </p:custDataLst>
          </p:nvPr>
        </p:nvSpPr>
        <p:spPr>
          <a:xfrm flipH="1">
            <a:off x="1853567" y="4082813"/>
            <a:ext cx="8632088" cy="588531"/>
          </a:xfrm>
          <a:custGeom>
            <a:avLst/>
            <a:gdLst>
              <a:gd name="connsiteX0" fmla="*/ 4316044 w 8632088"/>
              <a:gd name="connsiteY0" fmla="*/ 0 h 588531"/>
              <a:gd name="connsiteX1" fmla="*/ 115653 w 8632088"/>
              <a:gd name="connsiteY1" fmla="*/ 258985 h 588531"/>
              <a:gd name="connsiteX2" fmla="*/ 110961 w 8632088"/>
              <a:gd name="connsiteY2" fmla="*/ 258985 h 588531"/>
              <a:gd name="connsiteX3" fmla="*/ 0 w 8632088"/>
              <a:gd name="connsiteY3" fmla="*/ 588531 h 588531"/>
              <a:gd name="connsiteX4" fmla="*/ 8632088 w 8632088"/>
              <a:gd name="connsiteY4" fmla="*/ 588531 h 588531"/>
              <a:gd name="connsiteX5" fmla="*/ 8521127 w 8632088"/>
              <a:gd name="connsiteY5" fmla="*/ 258985 h 588531"/>
              <a:gd name="connsiteX6" fmla="*/ 8516435 w 8632088"/>
              <a:gd name="connsiteY6" fmla="*/ 258985 h 588531"/>
              <a:gd name="connsiteX7" fmla="*/ 4316044 w 8632088"/>
              <a:gd name="connsiteY7" fmla="*/ 0 h 588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32088" h="588531">
                <a:moveTo>
                  <a:pt x="4316044" y="0"/>
                </a:moveTo>
                <a:cubicBezTo>
                  <a:pt x="1996232" y="0"/>
                  <a:pt x="115653" y="115952"/>
                  <a:pt x="115653" y="258985"/>
                </a:cubicBezTo>
                <a:lnTo>
                  <a:pt x="110961" y="258985"/>
                </a:lnTo>
                <a:lnTo>
                  <a:pt x="0" y="588531"/>
                </a:lnTo>
                <a:lnTo>
                  <a:pt x="8632088" y="588531"/>
                </a:lnTo>
                <a:lnTo>
                  <a:pt x="8521127" y="258985"/>
                </a:lnTo>
                <a:lnTo>
                  <a:pt x="8516435" y="258985"/>
                </a:lnTo>
                <a:cubicBezTo>
                  <a:pt x="8516435" y="115952"/>
                  <a:pt x="6635856" y="0"/>
                  <a:pt x="4316044" y="0"/>
                </a:cubicBezTo>
                <a:close/>
              </a:path>
            </a:pathLst>
          </a:custGeom>
          <a:solidFill>
            <a:schemeClr val="accent1">
              <a:lumMod val="60000"/>
              <a:lumOff val="40000"/>
            </a:schemeClr>
          </a:solidFill>
          <a:ln w="38100">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5" name="椭圆 24"/>
          <p:cNvSpPr/>
          <p:nvPr>
            <p:custDataLst>
              <p:tags r:id="rId6"/>
            </p:custDataLst>
          </p:nvPr>
        </p:nvSpPr>
        <p:spPr>
          <a:xfrm flipH="1">
            <a:off x="1853567" y="4405669"/>
            <a:ext cx="8632088" cy="530240"/>
          </a:xfrm>
          <a:prstGeom prst="ellipse">
            <a:avLst/>
          </a:prstGeom>
          <a:solidFill>
            <a:schemeClr val="accent1">
              <a:lumMod val="20000"/>
              <a:lumOff val="80000"/>
            </a:schemeClr>
          </a:solidFill>
          <a:ln w="15875">
            <a:gradFill>
              <a:gsLst>
                <a:gs pos="78000">
                  <a:schemeClr val="accent1">
                    <a:lumMod val="60000"/>
                    <a:lumOff val="40000"/>
                    <a:alpha val="0"/>
                  </a:schemeClr>
                </a:gs>
                <a:gs pos="25000">
                  <a:schemeClr val="accent1">
                    <a:lumMod val="60000"/>
                    <a:lumOff val="40000"/>
                  </a:schemeClr>
                </a:gs>
              </a:gsLst>
              <a:lin ang="5400000" scaled="1"/>
            </a:gradFill>
            <a:prstDash val="dash"/>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6" name="文本框 25"/>
          <p:cNvSpPr txBox="1"/>
          <p:nvPr/>
        </p:nvSpPr>
        <p:spPr>
          <a:xfrm>
            <a:off x="5477322" y="2389182"/>
            <a:ext cx="1384578" cy="376642"/>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r>
              <a:rPr lang="zh-CN" altLang="en-US" sz="1600" dirty="0">
                <a:latin typeface="微软雅黑" panose="020B0503020204020204" charset="-122"/>
                <a:ea typeface="微软雅黑" panose="020B0503020204020204" charset="-122"/>
                <a:cs typeface="微软雅黑" panose="020B0503020204020204" charset="-122"/>
              </a:rPr>
              <a:t>数据应用</a:t>
            </a:r>
            <a:endParaRPr lang="zh-CN" altLang="en-US" sz="1600" dirty="0">
              <a:latin typeface="微软雅黑" panose="020B0503020204020204" charset="-122"/>
              <a:ea typeface="微软雅黑" panose="020B0503020204020204" charset="-122"/>
              <a:cs typeface="微软雅黑" panose="020B0503020204020204" charset="-122"/>
            </a:endParaRPr>
          </a:p>
        </p:txBody>
      </p:sp>
      <p:sp>
        <p:nvSpPr>
          <p:cNvPr id="27" name="文本框 26"/>
          <p:cNvSpPr txBox="1"/>
          <p:nvPr/>
        </p:nvSpPr>
        <p:spPr>
          <a:xfrm>
            <a:off x="5477322" y="4470152"/>
            <a:ext cx="1384578" cy="376642"/>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r>
              <a:rPr lang="zh-CN" altLang="en-US" sz="1600" dirty="0">
                <a:latin typeface="微软雅黑" panose="020B0503020204020204" charset="-122"/>
                <a:ea typeface="微软雅黑" panose="020B0503020204020204" charset="-122"/>
                <a:cs typeface="微软雅黑" panose="020B0503020204020204" charset="-122"/>
              </a:rPr>
              <a:t>数据总线</a:t>
            </a:r>
            <a:endParaRPr lang="zh-CN" altLang="en-US" sz="1600" dirty="0">
              <a:latin typeface="微软雅黑" panose="020B0503020204020204" charset="-122"/>
              <a:ea typeface="微软雅黑" panose="020B0503020204020204" charset="-122"/>
              <a:cs typeface="微软雅黑" panose="020B0503020204020204" charset="-122"/>
            </a:endParaRPr>
          </a:p>
        </p:txBody>
      </p:sp>
      <p:sp>
        <p:nvSpPr>
          <p:cNvPr id="28" name="文本框 27"/>
          <p:cNvSpPr txBox="1"/>
          <p:nvPr/>
        </p:nvSpPr>
        <p:spPr>
          <a:xfrm>
            <a:off x="5477322" y="6011865"/>
            <a:ext cx="1384578" cy="376642"/>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数据源</a:t>
            </a:r>
            <a:endParaRPr lang="zh-CN" altLang="en-US" sz="16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9" name="矩形: 对角圆角 475"/>
          <p:cNvSpPr/>
          <p:nvPr/>
        </p:nvSpPr>
        <p:spPr>
          <a:xfrm>
            <a:off x="2777278" y="3648932"/>
            <a:ext cx="1143054" cy="317580"/>
          </a:xfrm>
          <a:custGeom>
            <a:avLst/>
            <a:gdLst>
              <a:gd name="connsiteX0" fmla="*/ 80761 w 1582121"/>
              <a:gd name="connsiteY0" fmla="*/ 0 h 484554"/>
              <a:gd name="connsiteX1" fmla="*/ 1582121 w 1582121"/>
              <a:gd name="connsiteY1" fmla="*/ 0 h 484554"/>
              <a:gd name="connsiteX2" fmla="*/ 1582121 w 1582121"/>
              <a:gd name="connsiteY2" fmla="*/ 0 h 484554"/>
              <a:gd name="connsiteX3" fmla="*/ 1582121 w 1582121"/>
              <a:gd name="connsiteY3" fmla="*/ 403793 h 484554"/>
              <a:gd name="connsiteX4" fmla="*/ 1501360 w 1582121"/>
              <a:gd name="connsiteY4" fmla="*/ 484554 h 484554"/>
              <a:gd name="connsiteX5" fmla="*/ 0 w 1582121"/>
              <a:gd name="connsiteY5" fmla="*/ 484554 h 484554"/>
              <a:gd name="connsiteX6" fmla="*/ 0 w 1582121"/>
              <a:gd name="connsiteY6" fmla="*/ 484554 h 484554"/>
              <a:gd name="connsiteX7" fmla="*/ 0 w 1582121"/>
              <a:gd name="connsiteY7" fmla="*/ 80761 h 484554"/>
              <a:gd name="connsiteX8" fmla="*/ 80761 w 1582121"/>
              <a:gd name="connsiteY8" fmla="*/ 0 h 484554"/>
              <a:gd name="connsiteX0-1" fmla="*/ 128386 w 1629746"/>
              <a:gd name="connsiteY0-2" fmla="*/ 0 h 484554"/>
              <a:gd name="connsiteX1-3" fmla="*/ 1629746 w 1629746"/>
              <a:gd name="connsiteY1-4" fmla="*/ 0 h 484554"/>
              <a:gd name="connsiteX2-5" fmla="*/ 1629746 w 1629746"/>
              <a:gd name="connsiteY2-6" fmla="*/ 0 h 484554"/>
              <a:gd name="connsiteX3-7" fmla="*/ 1629746 w 1629746"/>
              <a:gd name="connsiteY3-8" fmla="*/ 403793 h 484554"/>
              <a:gd name="connsiteX4-9" fmla="*/ 1548985 w 1629746"/>
              <a:gd name="connsiteY4-10" fmla="*/ 484554 h 484554"/>
              <a:gd name="connsiteX5-11" fmla="*/ 47625 w 1629746"/>
              <a:gd name="connsiteY5-12" fmla="*/ 484554 h 484554"/>
              <a:gd name="connsiteX6-13" fmla="*/ 0 w 1629746"/>
              <a:gd name="connsiteY6-14" fmla="*/ 484554 h 484554"/>
              <a:gd name="connsiteX7-15" fmla="*/ 47625 w 1629746"/>
              <a:gd name="connsiteY7-16" fmla="*/ 80761 h 484554"/>
              <a:gd name="connsiteX8-17" fmla="*/ 128386 w 1629746"/>
              <a:gd name="connsiteY8-18" fmla="*/ 0 h 484554"/>
              <a:gd name="connsiteX0-19" fmla="*/ 128386 w 1677371"/>
              <a:gd name="connsiteY0-20" fmla="*/ 9525 h 494079"/>
              <a:gd name="connsiteX1-21" fmla="*/ 1629746 w 1677371"/>
              <a:gd name="connsiteY1-22" fmla="*/ 9525 h 494079"/>
              <a:gd name="connsiteX2-23" fmla="*/ 1677371 w 1677371"/>
              <a:gd name="connsiteY2-24" fmla="*/ 0 h 494079"/>
              <a:gd name="connsiteX3-25" fmla="*/ 1629746 w 1677371"/>
              <a:gd name="connsiteY3-26" fmla="*/ 413318 h 494079"/>
              <a:gd name="connsiteX4-27" fmla="*/ 1548985 w 1677371"/>
              <a:gd name="connsiteY4-28" fmla="*/ 494079 h 494079"/>
              <a:gd name="connsiteX5-29" fmla="*/ 47625 w 1677371"/>
              <a:gd name="connsiteY5-30" fmla="*/ 494079 h 494079"/>
              <a:gd name="connsiteX6-31" fmla="*/ 0 w 1677371"/>
              <a:gd name="connsiteY6-32" fmla="*/ 494079 h 494079"/>
              <a:gd name="connsiteX7-33" fmla="*/ 47625 w 1677371"/>
              <a:gd name="connsiteY7-34" fmla="*/ 90286 h 494079"/>
              <a:gd name="connsiteX8-35" fmla="*/ 128386 w 1677371"/>
              <a:gd name="connsiteY8-36" fmla="*/ 9525 h 494079"/>
              <a:gd name="connsiteX0-37" fmla="*/ 128386 w 1705946"/>
              <a:gd name="connsiteY0-38" fmla="*/ 9525 h 494079"/>
              <a:gd name="connsiteX1-39" fmla="*/ 1629746 w 1705946"/>
              <a:gd name="connsiteY1-40" fmla="*/ 9525 h 494079"/>
              <a:gd name="connsiteX2-41" fmla="*/ 1705946 w 1705946"/>
              <a:gd name="connsiteY2-42" fmla="*/ 0 h 494079"/>
              <a:gd name="connsiteX3-43" fmla="*/ 1629746 w 1705946"/>
              <a:gd name="connsiteY3-44" fmla="*/ 413318 h 494079"/>
              <a:gd name="connsiteX4-45" fmla="*/ 1548985 w 1705946"/>
              <a:gd name="connsiteY4-46" fmla="*/ 494079 h 494079"/>
              <a:gd name="connsiteX5-47" fmla="*/ 47625 w 1705946"/>
              <a:gd name="connsiteY5-48" fmla="*/ 494079 h 494079"/>
              <a:gd name="connsiteX6-49" fmla="*/ 0 w 1705946"/>
              <a:gd name="connsiteY6-50" fmla="*/ 494079 h 494079"/>
              <a:gd name="connsiteX7-51" fmla="*/ 47625 w 1705946"/>
              <a:gd name="connsiteY7-52" fmla="*/ 90286 h 494079"/>
              <a:gd name="connsiteX8-53" fmla="*/ 128386 w 1705946"/>
              <a:gd name="connsiteY8-54" fmla="*/ 9525 h 494079"/>
              <a:gd name="connsiteX0-55" fmla="*/ 128386 w 1718646"/>
              <a:gd name="connsiteY0-56" fmla="*/ 0 h 484554"/>
              <a:gd name="connsiteX1-57" fmla="*/ 1629746 w 1718646"/>
              <a:gd name="connsiteY1-58" fmla="*/ 0 h 484554"/>
              <a:gd name="connsiteX2-59" fmla="*/ 1718646 w 1718646"/>
              <a:gd name="connsiteY2-60" fmla="*/ 6350 h 484554"/>
              <a:gd name="connsiteX3-61" fmla="*/ 1629746 w 1718646"/>
              <a:gd name="connsiteY3-62" fmla="*/ 403793 h 484554"/>
              <a:gd name="connsiteX4-63" fmla="*/ 1548985 w 1718646"/>
              <a:gd name="connsiteY4-64" fmla="*/ 484554 h 484554"/>
              <a:gd name="connsiteX5-65" fmla="*/ 47625 w 1718646"/>
              <a:gd name="connsiteY5-66" fmla="*/ 484554 h 484554"/>
              <a:gd name="connsiteX6-67" fmla="*/ 0 w 1718646"/>
              <a:gd name="connsiteY6-68" fmla="*/ 484554 h 484554"/>
              <a:gd name="connsiteX7-69" fmla="*/ 47625 w 1718646"/>
              <a:gd name="connsiteY7-70" fmla="*/ 80761 h 484554"/>
              <a:gd name="connsiteX8-71" fmla="*/ 128386 w 1718646"/>
              <a:gd name="connsiteY8-72" fmla="*/ 0 h 484554"/>
              <a:gd name="connsiteX0-73" fmla="*/ 128386 w 1718646"/>
              <a:gd name="connsiteY0-74" fmla="*/ 0 h 484554"/>
              <a:gd name="connsiteX1-75" fmla="*/ 1718646 w 1718646"/>
              <a:gd name="connsiteY1-76" fmla="*/ 6350 h 484554"/>
              <a:gd name="connsiteX2-77" fmla="*/ 1629746 w 1718646"/>
              <a:gd name="connsiteY2-78" fmla="*/ 403793 h 484554"/>
              <a:gd name="connsiteX3-79" fmla="*/ 1548985 w 1718646"/>
              <a:gd name="connsiteY3-80" fmla="*/ 484554 h 484554"/>
              <a:gd name="connsiteX4-81" fmla="*/ 47625 w 1718646"/>
              <a:gd name="connsiteY4-82" fmla="*/ 484554 h 484554"/>
              <a:gd name="connsiteX5-83" fmla="*/ 0 w 1718646"/>
              <a:gd name="connsiteY5-84" fmla="*/ 484554 h 484554"/>
              <a:gd name="connsiteX6-85" fmla="*/ 47625 w 1718646"/>
              <a:gd name="connsiteY6-86" fmla="*/ 80761 h 484554"/>
              <a:gd name="connsiteX7-87" fmla="*/ 128386 w 1718646"/>
              <a:gd name="connsiteY7-88" fmla="*/ 0 h 484554"/>
              <a:gd name="connsiteX0-89" fmla="*/ 128386 w 1715471"/>
              <a:gd name="connsiteY0-90" fmla="*/ 0 h 484554"/>
              <a:gd name="connsiteX1-91" fmla="*/ 1715471 w 1715471"/>
              <a:gd name="connsiteY1-92" fmla="*/ 0 h 484554"/>
              <a:gd name="connsiteX2-93" fmla="*/ 1629746 w 1715471"/>
              <a:gd name="connsiteY2-94" fmla="*/ 403793 h 484554"/>
              <a:gd name="connsiteX3-95" fmla="*/ 1548985 w 1715471"/>
              <a:gd name="connsiteY3-96" fmla="*/ 484554 h 484554"/>
              <a:gd name="connsiteX4-97" fmla="*/ 47625 w 1715471"/>
              <a:gd name="connsiteY4-98" fmla="*/ 484554 h 484554"/>
              <a:gd name="connsiteX5-99" fmla="*/ 0 w 1715471"/>
              <a:gd name="connsiteY5-100" fmla="*/ 484554 h 484554"/>
              <a:gd name="connsiteX6-101" fmla="*/ 47625 w 1715471"/>
              <a:gd name="connsiteY6-102" fmla="*/ 80761 h 484554"/>
              <a:gd name="connsiteX7-103" fmla="*/ 128386 w 1715471"/>
              <a:gd name="connsiteY7-104" fmla="*/ 0 h 484554"/>
              <a:gd name="connsiteX0-105" fmla="*/ 128386 w 1715471"/>
              <a:gd name="connsiteY0-106" fmla="*/ 0 h 484554"/>
              <a:gd name="connsiteX1-107" fmla="*/ 1715471 w 1715471"/>
              <a:gd name="connsiteY1-108" fmla="*/ 0 h 484554"/>
              <a:gd name="connsiteX2-109" fmla="*/ 1629746 w 1715471"/>
              <a:gd name="connsiteY2-110" fmla="*/ 403793 h 484554"/>
              <a:gd name="connsiteX3-111" fmla="*/ 1548985 w 1715471"/>
              <a:gd name="connsiteY3-112" fmla="*/ 484554 h 484554"/>
              <a:gd name="connsiteX4-113" fmla="*/ 0 w 1715471"/>
              <a:gd name="connsiteY4-114" fmla="*/ 484554 h 484554"/>
              <a:gd name="connsiteX5-115" fmla="*/ 47625 w 1715471"/>
              <a:gd name="connsiteY5-116" fmla="*/ 80761 h 484554"/>
              <a:gd name="connsiteX6-117" fmla="*/ 128386 w 1715471"/>
              <a:gd name="connsiteY6-118" fmla="*/ 0 h 484554"/>
              <a:gd name="connsiteX0-119" fmla="*/ 137911 w 1724996"/>
              <a:gd name="connsiteY0-120" fmla="*/ 0 h 484554"/>
              <a:gd name="connsiteX1-121" fmla="*/ 1724996 w 1724996"/>
              <a:gd name="connsiteY1-122" fmla="*/ 0 h 484554"/>
              <a:gd name="connsiteX2-123" fmla="*/ 1639271 w 1724996"/>
              <a:gd name="connsiteY2-124" fmla="*/ 403793 h 484554"/>
              <a:gd name="connsiteX3-125" fmla="*/ 1558510 w 1724996"/>
              <a:gd name="connsiteY3-126" fmla="*/ 484554 h 484554"/>
              <a:gd name="connsiteX4-127" fmla="*/ 0 w 1724996"/>
              <a:gd name="connsiteY4-128" fmla="*/ 484554 h 484554"/>
              <a:gd name="connsiteX5-129" fmla="*/ 57150 w 1724996"/>
              <a:gd name="connsiteY5-130" fmla="*/ 80761 h 484554"/>
              <a:gd name="connsiteX6-131" fmla="*/ 137911 w 1724996"/>
              <a:gd name="connsiteY6-132" fmla="*/ 0 h 484554"/>
              <a:gd name="connsiteX0-133" fmla="*/ 137911 w 1724996"/>
              <a:gd name="connsiteY0-134" fmla="*/ 0 h 484554"/>
              <a:gd name="connsiteX1-135" fmla="*/ 1724996 w 1724996"/>
              <a:gd name="connsiteY1-136" fmla="*/ 0 h 484554"/>
              <a:gd name="connsiteX2-137" fmla="*/ 1639271 w 1724996"/>
              <a:gd name="connsiteY2-138" fmla="*/ 403793 h 484554"/>
              <a:gd name="connsiteX3-139" fmla="*/ 1558510 w 1724996"/>
              <a:gd name="connsiteY3-140" fmla="*/ 484554 h 484554"/>
              <a:gd name="connsiteX4-141" fmla="*/ 0 w 1724996"/>
              <a:gd name="connsiteY4-142" fmla="*/ 484554 h 484554"/>
              <a:gd name="connsiteX5-143" fmla="*/ 57150 w 1724996"/>
              <a:gd name="connsiteY5-144" fmla="*/ 80761 h 484554"/>
              <a:gd name="connsiteX6-145" fmla="*/ 137911 w 1724996"/>
              <a:gd name="connsiteY6-146" fmla="*/ 0 h 484554"/>
              <a:gd name="connsiteX0-147" fmla="*/ 137911 w 1724996"/>
              <a:gd name="connsiteY0-148" fmla="*/ 0 h 484554"/>
              <a:gd name="connsiteX1-149" fmla="*/ 1724996 w 1724996"/>
              <a:gd name="connsiteY1-150" fmla="*/ 0 h 484554"/>
              <a:gd name="connsiteX2-151" fmla="*/ 1639271 w 1724996"/>
              <a:gd name="connsiteY2-152" fmla="*/ 403793 h 484554"/>
              <a:gd name="connsiteX3-153" fmla="*/ 1558510 w 1724996"/>
              <a:gd name="connsiteY3-154" fmla="*/ 484554 h 484554"/>
              <a:gd name="connsiteX4-155" fmla="*/ 0 w 1724996"/>
              <a:gd name="connsiteY4-156" fmla="*/ 484554 h 484554"/>
              <a:gd name="connsiteX5-157" fmla="*/ 57150 w 1724996"/>
              <a:gd name="connsiteY5-158" fmla="*/ 80761 h 484554"/>
              <a:gd name="connsiteX6-159" fmla="*/ 137911 w 1724996"/>
              <a:gd name="connsiteY6-160" fmla="*/ 0 h 484554"/>
              <a:gd name="connsiteX0-161" fmla="*/ 156961 w 1744046"/>
              <a:gd name="connsiteY0-162" fmla="*/ 0 h 484554"/>
              <a:gd name="connsiteX1-163" fmla="*/ 1744046 w 1744046"/>
              <a:gd name="connsiteY1-164" fmla="*/ 0 h 484554"/>
              <a:gd name="connsiteX2-165" fmla="*/ 1658321 w 1744046"/>
              <a:gd name="connsiteY2-166" fmla="*/ 403793 h 484554"/>
              <a:gd name="connsiteX3-167" fmla="*/ 1577560 w 1744046"/>
              <a:gd name="connsiteY3-168" fmla="*/ 484554 h 484554"/>
              <a:gd name="connsiteX4-169" fmla="*/ 0 w 1744046"/>
              <a:gd name="connsiteY4-170" fmla="*/ 484554 h 484554"/>
              <a:gd name="connsiteX5-171" fmla="*/ 76200 w 1744046"/>
              <a:gd name="connsiteY5-172" fmla="*/ 80761 h 484554"/>
              <a:gd name="connsiteX6-173" fmla="*/ 156961 w 1744046"/>
              <a:gd name="connsiteY6-174" fmla="*/ 0 h 484554"/>
              <a:gd name="connsiteX0-175" fmla="*/ 156961 w 1744046"/>
              <a:gd name="connsiteY0-176" fmla="*/ 0 h 484554"/>
              <a:gd name="connsiteX1-177" fmla="*/ 1744046 w 1744046"/>
              <a:gd name="connsiteY1-178" fmla="*/ 0 h 484554"/>
              <a:gd name="connsiteX2-179" fmla="*/ 1658321 w 1744046"/>
              <a:gd name="connsiteY2-180" fmla="*/ 403793 h 484554"/>
              <a:gd name="connsiteX3-181" fmla="*/ 1577560 w 1744046"/>
              <a:gd name="connsiteY3-182" fmla="*/ 484554 h 484554"/>
              <a:gd name="connsiteX4-183" fmla="*/ 0 w 1744046"/>
              <a:gd name="connsiteY4-184" fmla="*/ 484554 h 484554"/>
              <a:gd name="connsiteX5-185" fmla="*/ 76200 w 1744046"/>
              <a:gd name="connsiteY5-186" fmla="*/ 80761 h 484554"/>
              <a:gd name="connsiteX6-187" fmla="*/ 156961 w 1744046"/>
              <a:gd name="connsiteY6-188" fmla="*/ 0 h 484554"/>
              <a:gd name="connsiteX0-189" fmla="*/ 156961 w 1744046"/>
              <a:gd name="connsiteY0-190" fmla="*/ 0 h 484554"/>
              <a:gd name="connsiteX1-191" fmla="*/ 1744046 w 1744046"/>
              <a:gd name="connsiteY1-192" fmla="*/ 0 h 484554"/>
              <a:gd name="connsiteX2-193" fmla="*/ 1658321 w 1744046"/>
              <a:gd name="connsiteY2-194" fmla="*/ 403793 h 484554"/>
              <a:gd name="connsiteX3-195" fmla="*/ 1577560 w 1744046"/>
              <a:gd name="connsiteY3-196" fmla="*/ 484554 h 484554"/>
              <a:gd name="connsiteX4-197" fmla="*/ 0 w 1744046"/>
              <a:gd name="connsiteY4-198" fmla="*/ 484554 h 484554"/>
              <a:gd name="connsiteX5-199" fmla="*/ 76200 w 1744046"/>
              <a:gd name="connsiteY5-200" fmla="*/ 80761 h 484554"/>
              <a:gd name="connsiteX6-201" fmla="*/ 156961 w 1744046"/>
              <a:gd name="connsiteY6-202" fmla="*/ 0 h 484554"/>
              <a:gd name="connsiteX0-203" fmla="*/ 156961 w 1744046"/>
              <a:gd name="connsiteY0-204" fmla="*/ 0 h 484554"/>
              <a:gd name="connsiteX1-205" fmla="*/ 1744046 w 1744046"/>
              <a:gd name="connsiteY1-206" fmla="*/ 0 h 484554"/>
              <a:gd name="connsiteX2-207" fmla="*/ 1658321 w 1744046"/>
              <a:gd name="connsiteY2-208" fmla="*/ 403793 h 484554"/>
              <a:gd name="connsiteX3-209" fmla="*/ 1577560 w 1744046"/>
              <a:gd name="connsiteY3-210" fmla="*/ 484554 h 484554"/>
              <a:gd name="connsiteX4-211" fmla="*/ 0 w 1744046"/>
              <a:gd name="connsiteY4-212" fmla="*/ 484554 h 484554"/>
              <a:gd name="connsiteX5-213" fmla="*/ 76200 w 1744046"/>
              <a:gd name="connsiteY5-214" fmla="*/ 80761 h 484554"/>
              <a:gd name="connsiteX6-215" fmla="*/ 156961 w 1744046"/>
              <a:gd name="connsiteY6-216" fmla="*/ 0 h 484554"/>
              <a:gd name="connsiteX0-217" fmla="*/ 156961 w 1744046"/>
              <a:gd name="connsiteY0-218" fmla="*/ 0 h 484554"/>
              <a:gd name="connsiteX1-219" fmla="*/ 1744046 w 1744046"/>
              <a:gd name="connsiteY1-220" fmla="*/ 0 h 484554"/>
              <a:gd name="connsiteX2-221" fmla="*/ 1658321 w 1744046"/>
              <a:gd name="connsiteY2-222" fmla="*/ 403793 h 484554"/>
              <a:gd name="connsiteX3-223" fmla="*/ 1577560 w 1744046"/>
              <a:gd name="connsiteY3-224" fmla="*/ 484554 h 484554"/>
              <a:gd name="connsiteX4-225" fmla="*/ 0 w 1744046"/>
              <a:gd name="connsiteY4-226" fmla="*/ 484554 h 484554"/>
              <a:gd name="connsiteX5-227" fmla="*/ 76200 w 1744046"/>
              <a:gd name="connsiteY5-228" fmla="*/ 80761 h 484554"/>
              <a:gd name="connsiteX6-229" fmla="*/ 156961 w 1744046"/>
              <a:gd name="connsiteY6-230" fmla="*/ 0 h 484554"/>
              <a:gd name="connsiteX0-231" fmla="*/ 156961 w 1744046"/>
              <a:gd name="connsiteY0-232" fmla="*/ 0 h 484554"/>
              <a:gd name="connsiteX1-233" fmla="*/ 1744046 w 1744046"/>
              <a:gd name="connsiteY1-234" fmla="*/ 0 h 484554"/>
              <a:gd name="connsiteX2-235" fmla="*/ 1658321 w 1744046"/>
              <a:gd name="connsiteY2-236" fmla="*/ 403793 h 484554"/>
              <a:gd name="connsiteX3-237" fmla="*/ 1577560 w 1744046"/>
              <a:gd name="connsiteY3-238" fmla="*/ 484554 h 484554"/>
              <a:gd name="connsiteX4-239" fmla="*/ 0 w 1744046"/>
              <a:gd name="connsiteY4-240" fmla="*/ 484554 h 484554"/>
              <a:gd name="connsiteX5-241" fmla="*/ 76200 w 1744046"/>
              <a:gd name="connsiteY5-242" fmla="*/ 80761 h 484554"/>
              <a:gd name="connsiteX6-243" fmla="*/ 156961 w 1744046"/>
              <a:gd name="connsiteY6-244" fmla="*/ 0 h 4845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744046" h="484554">
                <a:moveTo>
                  <a:pt x="156961" y="0"/>
                </a:moveTo>
                <a:lnTo>
                  <a:pt x="1744046" y="0"/>
                </a:lnTo>
                <a:lnTo>
                  <a:pt x="1658321" y="403793"/>
                </a:lnTo>
                <a:cubicBezTo>
                  <a:pt x="1658321" y="448396"/>
                  <a:pt x="1622163" y="484554"/>
                  <a:pt x="1577560" y="484554"/>
                </a:cubicBezTo>
                <a:lnTo>
                  <a:pt x="0" y="484554"/>
                </a:lnTo>
                <a:cubicBezTo>
                  <a:pt x="19050" y="343606"/>
                  <a:pt x="57150" y="180434"/>
                  <a:pt x="76200" y="80761"/>
                </a:cubicBezTo>
                <a:cubicBezTo>
                  <a:pt x="88900" y="36158"/>
                  <a:pt x="112358" y="0"/>
                  <a:pt x="156961" y="0"/>
                </a:cubicBezTo>
                <a:close/>
              </a:path>
            </a:pathLst>
          </a:custGeom>
          <a:solidFill>
            <a:schemeClr val="accent1">
              <a:lumMod val="60000"/>
              <a:lumOff val="40000"/>
            </a:schemeClr>
          </a:solidFill>
          <a:ln w="38100">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0" name="矩形: 对角圆角 475"/>
          <p:cNvSpPr/>
          <p:nvPr/>
        </p:nvSpPr>
        <p:spPr>
          <a:xfrm>
            <a:off x="4460186" y="3648932"/>
            <a:ext cx="1143054" cy="317580"/>
          </a:xfrm>
          <a:custGeom>
            <a:avLst/>
            <a:gdLst>
              <a:gd name="connsiteX0" fmla="*/ 80761 w 1582121"/>
              <a:gd name="connsiteY0" fmla="*/ 0 h 484554"/>
              <a:gd name="connsiteX1" fmla="*/ 1582121 w 1582121"/>
              <a:gd name="connsiteY1" fmla="*/ 0 h 484554"/>
              <a:gd name="connsiteX2" fmla="*/ 1582121 w 1582121"/>
              <a:gd name="connsiteY2" fmla="*/ 0 h 484554"/>
              <a:gd name="connsiteX3" fmla="*/ 1582121 w 1582121"/>
              <a:gd name="connsiteY3" fmla="*/ 403793 h 484554"/>
              <a:gd name="connsiteX4" fmla="*/ 1501360 w 1582121"/>
              <a:gd name="connsiteY4" fmla="*/ 484554 h 484554"/>
              <a:gd name="connsiteX5" fmla="*/ 0 w 1582121"/>
              <a:gd name="connsiteY5" fmla="*/ 484554 h 484554"/>
              <a:gd name="connsiteX6" fmla="*/ 0 w 1582121"/>
              <a:gd name="connsiteY6" fmla="*/ 484554 h 484554"/>
              <a:gd name="connsiteX7" fmla="*/ 0 w 1582121"/>
              <a:gd name="connsiteY7" fmla="*/ 80761 h 484554"/>
              <a:gd name="connsiteX8" fmla="*/ 80761 w 1582121"/>
              <a:gd name="connsiteY8" fmla="*/ 0 h 484554"/>
              <a:gd name="connsiteX0-1" fmla="*/ 128386 w 1629746"/>
              <a:gd name="connsiteY0-2" fmla="*/ 0 h 484554"/>
              <a:gd name="connsiteX1-3" fmla="*/ 1629746 w 1629746"/>
              <a:gd name="connsiteY1-4" fmla="*/ 0 h 484554"/>
              <a:gd name="connsiteX2-5" fmla="*/ 1629746 w 1629746"/>
              <a:gd name="connsiteY2-6" fmla="*/ 0 h 484554"/>
              <a:gd name="connsiteX3-7" fmla="*/ 1629746 w 1629746"/>
              <a:gd name="connsiteY3-8" fmla="*/ 403793 h 484554"/>
              <a:gd name="connsiteX4-9" fmla="*/ 1548985 w 1629746"/>
              <a:gd name="connsiteY4-10" fmla="*/ 484554 h 484554"/>
              <a:gd name="connsiteX5-11" fmla="*/ 47625 w 1629746"/>
              <a:gd name="connsiteY5-12" fmla="*/ 484554 h 484554"/>
              <a:gd name="connsiteX6-13" fmla="*/ 0 w 1629746"/>
              <a:gd name="connsiteY6-14" fmla="*/ 484554 h 484554"/>
              <a:gd name="connsiteX7-15" fmla="*/ 47625 w 1629746"/>
              <a:gd name="connsiteY7-16" fmla="*/ 80761 h 484554"/>
              <a:gd name="connsiteX8-17" fmla="*/ 128386 w 1629746"/>
              <a:gd name="connsiteY8-18" fmla="*/ 0 h 484554"/>
              <a:gd name="connsiteX0-19" fmla="*/ 128386 w 1677371"/>
              <a:gd name="connsiteY0-20" fmla="*/ 9525 h 494079"/>
              <a:gd name="connsiteX1-21" fmla="*/ 1629746 w 1677371"/>
              <a:gd name="connsiteY1-22" fmla="*/ 9525 h 494079"/>
              <a:gd name="connsiteX2-23" fmla="*/ 1677371 w 1677371"/>
              <a:gd name="connsiteY2-24" fmla="*/ 0 h 494079"/>
              <a:gd name="connsiteX3-25" fmla="*/ 1629746 w 1677371"/>
              <a:gd name="connsiteY3-26" fmla="*/ 413318 h 494079"/>
              <a:gd name="connsiteX4-27" fmla="*/ 1548985 w 1677371"/>
              <a:gd name="connsiteY4-28" fmla="*/ 494079 h 494079"/>
              <a:gd name="connsiteX5-29" fmla="*/ 47625 w 1677371"/>
              <a:gd name="connsiteY5-30" fmla="*/ 494079 h 494079"/>
              <a:gd name="connsiteX6-31" fmla="*/ 0 w 1677371"/>
              <a:gd name="connsiteY6-32" fmla="*/ 494079 h 494079"/>
              <a:gd name="connsiteX7-33" fmla="*/ 47625 w 1677371"/>
              <a:gd name="connsiteY7-34" fmla="*/ 90286 h 494079"/>
              <a:gd name="connsiteX8-35" fmla="*/ 128386 w 1677371"/>
              <a:gd name="connsiteY8-36" fmla="*/ 9525 h 494079"/>
              <a:gd name="connsiteX0-37" fmla="*/ 128386 w 1705946"/>
              <a:gd name="connsiteY0-38" fmla="*/ 9525 h 494079"/>
              <a:gd name="connsiteX1-39" fmla="*/ 1629746 w 1705946"/>
              <a:gd name="connsiteY1-40" fmla="*/ 9525 h 494079"/>
              <a:gd name="connsiteX2-41" fmla="*/ 1705946 w 1705946"/>
              <a:gd name="connsiteY2-42" fmla="*/ 0 h 494079"/>
              <a:gd name="connsiteX3-43" fmla="*/ 1629746 w 1705946"/>
              <a:gd name="connsiteY3-44" fmla="*/ 413318 h 494079"/>
              <a:gd name="connsiteX4-45" fmla="*/ 1548985 w 1705946"/>
              <a:gd name="connsiteY4-46" fmla="*/ 494079 h 494079"/>
              <a:gd name="connsiteX5-47" fmla="*/ 47625 w 1705946"/>
              <a:gd name="connsiteY5-48" fmla="*/ 494079 h 494079"/>
              <a:gd name="connsiteX6-49" fmla="*/ 0 w 1705946"/>
              <a:gd name="connsiteY6-50" fmla="*/ 494079 h 494079"/>
              <a:gd name="connsiteX7-51" fmla="*/ 47625 w 1705946"/>
              <a:gd name="connsiteY7-52" fmla="*/ 90286 h 494079"/>
              <a:gd name="connsiteX8-53" fmla="*/ 128386 w 1705946"/>
              <a:gd name="connsiteY8-54" fmla="*/ 9525 h 494079"/>
              <a:gd name="connsiteX0-55" fmla="*/ 128386 w 1718646"/>
              <a:gd name="connsiteY0-56" fmla="*/ 0 h 484554"/>
              <a:gd name="connsiteX1-57" fmla="*/ 1629746 w 1718646"/>
              <a:gd name="connsiteY1-58" fmla="*/ 0 h 484554"/>
              <a:gd name="connsiteX2-59" fmla="*/ 1718646 w 1718646"/>
              <a:gd name="connsiteY2-60" fmla="*/ 6350 h 484554"/>
              <a:gd name="connsiteX3-61" fmla="*/ 1629746 w 1718646"/>
              <a:gd name="connsiteY3-62" fmla="*/ 403793 h 484554"/>
              <a:gd name="connsiteX4-63" fmla="*/ 1548985 w 1718646"/>
              <a:gd name="connsiteY4-64" fmla="*/ 484554 h 484554"/>
              <a:gd name="connsiteX5-65" fmla="*/ 47625 w 1718646"/>
              <a:gd name="connsiteY5-66" fmla="*/ 484554 h 484554"/>
              <a:gd name="connsiteX6-67" fmla="*/ 0 w 1718646"/>
              <a:gd name="connsiteY6-68" fmla="*/ 484554 h 484554"/>
              <a:gd name="connsiteX7-69" fmla="*/ 47625 w 1718646"/>
              <a:gd name="connsiteY7-70" fmla="*/ 80761 h 484554"/>
              <a:gd name="connsiteX8-71" fmla="*/ 128386 w 1718646"/>
              <a:gd name="connsiteY8-72" fmla="*/ 0 h 484554"/>
              <a:gd name="connsiteX0-73" fmla="*/ 128386 w 1718646"/>
              <a:gd name="connsiteY0-74" fmla="*/ 0 h 484554"/>
              <a:gd name="connsiteX1-75" fmla="*/ 1718646 w 1718646"/>
              <a:gd name="connsiteY1-76" fmla="*/ 6350 h 484554"/>
              <a:gd name="connsiteX2-77" fmla="*/ 1629746 w 1718646"/>
              <a:gd name="connsiteY2-78" fmla="*/ 403793 h 484554"/>
              <a:gd name="connsiteX3-79" fmla="*/ 1548985 w 1718646"/>
              <a:gd name="connsiteY3-80" fmla="*/ 484554 h 484554"/>
              <a:gd name="connsiteX4-81" fmla="*/ 47625 w 1718646"/>
              <a:gd name="connsiteY4-82" fmla="*/ 484554 h 484554"/>
              <a:gd name="connsiteX5-83" fmla="*/ 0 w 1718646"/>
              <a:gd name="connsiteY5-84" fmla="*/ 484554 h 484554"/>
              <a:gd name="connsiteX6-85" fmla="*/ 47625 w 1718646"/>
              <a:gd name="connsiteY6-86" fmla="*/ 80761 h 484554"/>
              <a:gd name="connsiteX7-87" fmla="*/ 128386 w 1718646"/>
              <a:gd name="connsiteY7-88" fmla="*/ 0 h 484554"/>
              <a:gd name="connsiteX0-89" fmla="*/ 128386 w 1715471"/>
              <a:gd name="connsiteY0-90" fmla="*/ 0 h 484554"/>
              <a:gd name="connsiteX1-91" fmla="*/ 1715471 w 1715471"/>
              <a:gd name="connsiteY1-92" fmla="*/ 0 h 484554"/>
              <a:gd name="connsiteX2-93" fmla="*/ 1629746 w 1715471"/>
              <a:gd name="connsiteY2-94" fmla="*/ 403793 h 484554"/>
              <a:gd name="connsiteX3-95" fmla="*/ 1548985 w 1715471"/>
              <a:gd name="connsiteY3-96" fmla="*/ 484554 h 484554"/>
              <a:gd name="connsiteX4-97" fmla="*/ 47625 w 1715471"/>
              <a:gd name="connsiteY4-98" fmla="*/ 484554 h 484554"/>
              <a:gd name="connsiteX5-99" fmla="*/ 0 w 1715471"/>
              <a:gd name="connsiteY5-100" fmla="*/ 484554 h 484554"/>
              <a:gd name="connsiteX6-101" fmla="*/ 47625 w 1715471"/>
              <a:gd name="connsiteY6-102" fmla="*/ 80761 h 484554"/>
              <a:gd name="connsiteX7-103" fmla="*/ 128386 w 1715471"/>
              <a:gd name="connsiteY7-104" fmla="*/ 0 h 484554"/>
              <a:gd name="connsiteX0-105" fmla="*/ 128386 w 1715471"/>
              <a:gd name="connsiteY0-106" fmla="*/ 0 h 484554"/>
              <a:gd name="connsiteX1-107" fmla="*/ 1715471 w 1715471"/>
              <a:gd name="connsiteY1-108" fmla="*/ 0 h 484554"/>
              <a:gd name="connsiteX2-109" fmla="*/ 1629746 w 1715471"/>
              <a:gd name="connsiteY2-110" fmla="*/ 403793 h 484554"/>
              <a:gd name="connsiteX3-111" fmla="*/ 1548985 w 1715471"/>
              <a:gd name="connsiteY3-112" fmla="*/ 484554 h 484554"/>
              <a:gd name="connsiteX4-113" fmla="*/ 0 w 1715471"/>
              <a:gd name="connsiteY4-114" fmla="*/ 484554 h 484554"/>
              <a:gd name="connsiteX5-115" fmla="*/ 47625 w 1715471"/>
              <a:gd name="connsiteY5-116" fmla="*/ 80761 h 484554"/>
              <a:gd name="connsiteX6-117" fmla="*/ 128386 w 1715471"/>
              <a:gd name="connsiteY6-118" fmla="*/ 0 h 484554"/>
              <a:gd name="connsiteX0-119" fmla="*/ 137911 w 1724996"/>
              <a:gd name="connsiteY0-120" fmla="*/ 0 h 484554"/>
              <a:gd name="connsiteX1-121" fmla="*/ 1724996 w 1724996"/>
              <a:gd name="connsiteY1-122" fmla="*/ 0 h 484554"/>
              <a:gd name="connsiteX2-123" fmla="*/ 1639271 w 1724996"/>
              <a:gd name="connsiteY2-124" fmla="*/ 403793 h 484554"/>
              <a:gd name="connsiteX3-125" fmla="*/ 1558510 w 1724996"/>
              <a:gd name="connsiteY3-126" fmla="*/ 484554 h 484554"/>
              <a:gd name="connsiteX4-127" fmla="*/ 0 w 1724996"/>
              <a:gd name="connsiteY4-128" fmla="*/ 484554 h 484554"/>
              <a:gd name="connsiteX5-129" fmla="*/ 57150 w 1724996"/>
              <a:gd name="connsiteY5-130" fmla="*/ 80761 h 484554"/>
              <a:gd name="connsiteX6-131" fmla="*/ 137911 w 1724996"/>
              <a:gd name="connsiteY6-132" fmla="*/ 0 h 484554"/>
              <a:gd name="connsiteX0-133" fmla="*/ 137911 w 1724996"/>
              <a:gd name="connsiteY0-134" fmla="*/ 0 h 484554"/>
              <a:gd name="connsiteX1-135" fmla="*/ 1724996 w 1724996"/>
              <a:gd name="connsiteY1-136" fmla="*/ 0 h 484554"/>
              <a:gd name="connsiteX2-137" fmla="*/ 1639271 w 1724996"/>
              <a:gd name="connsiteY2-138" fmla="*/ 403793 h 484554"/>
              <a:gd name="connsiteX3-139" fmla="*/ 1558510 w 1724996"/>
              <a:gd name="connsiteY3-140" fmla="*/ 484554 h 484554"/>
              <a:gd name="connsiteX4-141" fmla="*/ 0 w 1724996"/>
              <a:gd name="connsiteY4-142" fmla="*/ 484554 h 484554"/>
              <a:gd name="connsiteX5-143" fmla="*/ 57150 w 1724996"/>
              <a:gd name="connsiteY5-144" fmla="*/ 80761 h 484554"/>
              <a:gd name="connsiteX6-145" fmla="*/ 137911 w 1724996"/>
              <a:gd name="connsiteY6-146" fmla="*/ 0 h 484554"/>
              <a:gd name="connsiteX0-147" fmla="*/ 137911 w 1724996"/>
              <a:gd name="connsiteY0-148" fmla="*/ 0 h 484554"/>
              <a:gd name="connsiteX1-149" fmla="*/ 1724996 w 1724996"/>
              <a:gd name="connsiteY1-150" fmla="*/ 0 h 484554"/>
              <a:gd name="connsiteX2-151" fmla="*/ 1639271 w 1724996"/>
              <a:gd name="connsiteY2-152" fmla="*/ 403793 h 484554"/>
              <a:gd name="connsiteX3-153" fmla="*/ 1558510 w 1724996"/>
              <a:gd name="connsiteY3-154" fmla="*/ 484554 h 484554"/>
              <a:gd name="connsiteX4-155" fmla="*/ 0 w 1724996"/>
              <a:gd name="connsiteY4-156" fmla="*/ 484554 h 484554"/>
              <a:gd name="connsiteX5-157" fmla="*/ 57150 w 1724996"/>
              <a:gd name="connsiteY5-158" fmla="*/ 80761 h 484554"/>
              <a:gd name="connsiteX6-159" fmla="*/ 137911 w 1724996"/>
              <a:gd name="connsiteY6-160" fmla="*/ 0 h 484554"/>
              <a:gd name="connsiteX0-161" fmla="*/ 156961 w 1744046"/>
              <a:gd name="connsiteY0-162" fmla="*/ 0 h 484554"/>
              <a:gd name="connsiteX1-163" fmla="*/ 1744046 w 1744046"/>
              <a:gd name="connsiteY1-164" fmla="*/ 0 h 484554"/>
              <a:gd name="connsiteX2-165" fmla="*/ 1658321 w 1744046"/>
              <a:gd name="connsiteY2-166" fmla="*/ 403793 h 484554"/>
              <a:gd name="connsiteX3-167" fmla="*/ 1577560 w 1744046"/>
              <a:gd name="connsiteY3-168" fmla="*/ 484554 h 484554"/>
              <a:gd name="connsiteX4-169" fmla="*/ 0 w 1744046"/>
              <a:gd name="connsiteY4-170" fmla="*/ 484554 h 484554"/>
              <a:gd name="connsiteX5-171" fmla="*/ 76200 w 1744046"/>
              <a:gd name="connsiteY5-172" fmla="*/ 80761 h 484554"/>
              <a:gd name="connsiteX6-173" fmla="*/ 156961 w 1744046"/>
              <a:gd name="connsiteY6-174" fmla="*/ 0 h 484554"/>
              <a:gd name="connsiteX0-175" fmla="*/ 156961 w 1744046"/>
              <a:gd name="connsiteY0-176" fmla="*/ 0 h 484554"/>
              <a:gd name="connsiteX1-177" fmla="*/ 1744046 w 1744046"/>
              <a:gd name="connsiteY1-178" fmla="*/ 0 h 484554"/>
              <a:gd name="connsiteX2-179" fmla="*/ 1658321 w 1744046"/>
              <a:gd name="connsiteY2-180" fmla="*/ 403793 h 484554"/>
              <a:gd name="connsiteX3-181" fmla="*/ 1577560 w 1744046"/>
              <a:gd name="connsiteY3-182" fmla="*/ 484554 h 484554"/>
              <a:gd name="connsiteX4-183" fmla="*/ 0 w 1744046"/>
              <a:gd name="connsiteY4-184" fmla="*/ 484554 h 484554"/>
              <a:gd name="connsiteX5-185" fmla="*/ 76200 w 1744046"/>
              <a:gd name="connsiteY5-186" fmla="*/ 80761 h 484554"/>
              <a:gd name="connsiteX6-187" fmla="*/ 156961 w 1744046"/>
              <a:gd name="connsiteY6-188" fmla="*/ 0 h 484554"/>
              <a:gd name="connsiteX0-189" fmla="*/ 156961 w 1744046"/>
              <a:gd name="connsiteY0-190" fmla="*/ 0 h 484554"/>
              <a:gd name="connsiteX1-191" fmla="*/ 1744046 w 1744046"/>
              <a:gd name="connsiteY1-192" fmla="*/ 0 h 484554"/>
              <a:gd name="connsiteX2-193" fmla="*/ 1658321 w 1744046"/>
              <a:gd name="connsiteY2-194" fmla="*/ 403793 h 484554"/>
              <a:gd name="connsiteX3-195" fmla="*/ 1577560 w 1744046"/>
              <a:gd name="connsiteY3-196" fmla="*/ 484554 h 484554"/>
              <a:gd name="connsiteX4-197" fmla="*/ 0 w 1744046"/>
              <a:gd name="connsiteY4-198" fmla="*/ 484554 h 484554"/>
              <a:gd name="connsiteX5-199" fmla="*/ 76200 w 1744046"/>
              <a:gd name="connsiteY5-200" fmla="*/ 80761 h 484554"/>
              <a:gd name="connsiteX6-201" fmla="*/ 156961 w 1744046"/>
              <a:gd name="connsiteY6-202" fmla="*/ 0 h 484554"/>
              <a:gd name="connsiteX0-203" fmla="*/ 156961 w 1744046"/>
              <a:gd name="connsiteY0-204" fmla="*/ 0 h 484554"/>
              <a:gd name="connsiteX1-205" fmla="*/ 1744046 w 1744046"/>
              <a:gd name="connsiteY1-206" fmla="*/ 0 h 484554"/>
              <a:gd name="connsiteX2-207" fmla="*/ 1658321 w 1744046"/>
              <a:gd name="connsiteY2-208" fmla="*/ 403793 h 484554"/>
              <a:gd name="connsiteX3-209" fmla="*/ 1577560 w 1744046"/>
              <a:gd name="connsiteY3-210" fmla="*/ 484554 h 484554"/>
              <a:gd name="connsiteX4-211" fmla="*/ 0 w 1744046"/>
              <a:gd name="connsiteY4-212" fmla="*/ 484554 h 484554"/>
              <a:gd name="connsiteX5-213" fmla="*/ 76200 w 1744046"/>
              <a:gd name="connsiteY5-214" fmla="*/ 80761 h 484554"/>
              <a:gd name="connsiteX6-215" fmla="*/ 156961 w 1744046"/>
              <a:gd name="connsiteY6-216" fmla="*/ 0 h 484554"/>
              <a:gd name="connsiteX0-217" fmla="*/ 156961 w 1744046"/>
              <a:gd name="connsiteY0-218" fmla="*/ 0 h 484554"/>
              <a:gd name="connsiteX1-219" fmla="*/ 1744046 w 1744046"/>
              <a:gd name="connsiteY1-220" fmla="*/ 0 h 484554"/>
              <a:gd name="connsiteX2-221" fmla="*/ 1658321 w 1744046"/>
              <a:gd name="connsiteY2-222" fmla="*/ 403793 h 484554"/>
              <a:gd name="connsiteX3-223" fmla="*/ 1577560 w 1744046"/>
              <a:gd name="connsiteY3-224" fmla="*/ 484554 h 484554"/>
              <a:gd name="connsiteX4-225" fmla="*/ 0 w 1744046"/>
              <a:gd name="connsiteY4-226" fmla="*/ 484554 h 484554"/>
              <a:gd name="connsiteX5-227" fmla="*/ 76200 w 1744046"/>
              <a:gd name="connsiteY5-228" fmla="*/ 80761 h 484554"/>
              <a:gd name="connsiteX6-229" fmla="*/ 156961 w 1744046"/>
              <a:gd name="connsiteY6-230" fmla="*/ 0 h 484554"/>
              <a:gd name="connsiteX0-231" fmla="*/ 156961 w 1744046"/>
              <a:gd name="connsiteY0-232" fmla="*/ 0 h 484554"/>
              <a:gd name="connsiteX1-233" fmla="*/ 1744046 w 1744046"/>
              <a:gd name="connsiteY1-234" fmla="*/ 0 h 484554"/>
              <a:gd name="connsiteX2-235" fmla="*/ 1658321 w 1744046"/>
              <a:gd name="connsiteY2-236" fmla="*/ 403793 h 484554"/>
              <a:gd name="connsiteX3-237" fmla="*/ 1577560 w 1744046"/>
              <a:gd name="connsiteY3-238" fmla="*/ 484554 h 484554"/>
              <a:gd name="connsiteX4-239" fmla="*/ 0 w 1744046"/>
              <a:gd name="connsiteY4-240" fmla="*/ 484554 h 484554"/>
              <a:gd name="connsiteX5-241" fmla="*/ 76200 w 1744046"/>
              <a:gd name="connsiteY5-242" fmla="*/ 80761 h 484554"/>
              <a:gd name="connsiteX6-243" fmla="*/ 156961 w 1744046"/>
              <a:gd name="connsiteY6-244" fmla="*/ 0 h 4845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744046" h="484554">
                <a:moveTo>
                  <a:pt x="156961" y="0"/>
                </a:moveTo>
                <a:lnTo>
                  <a:pt x="1744046" y="0"/>
                </a:lnTo>
                <a:lnTo>
                  <a:pt x="1658321" y="403793"/>
                </a:lnTo>
                <a:cubicBezTo>
                  <a:pt x="1658321" y="448396"/>
                  <a:pt x="1622163" y="484554"/>
                  <a:pt x="1577560" y="484554"/>
                </a:cubicBezTo>
                <a:lnTo>
                  <a:pt x="0" y="484554"/>
                </a:lnTo>
                <a:cubicBezTo>
                  <a:pt x="19050" y="343606"/>
                  <a:pt x="57150" y="180434"/>
                  <a:pt x="76200" y="80761"/>
                </a:cubicBezTo>
                <a:cubicBezTo>
                  <a:pt x="88900" y="36158"/>
                  <a:pt x="112358" y="0"/>
                  <a:pt x="156961" y="0"/>
                </a:cubicBezTo>
                <a:close/>
              </a:path>
            </a:pathLst>
          </a:custGeom>
          <a:solidFill>
            <a:schemeClr val="accent1">
              <a:lumMod val="60000"/>
              <a:lumOff val="40000"/>
            </a:schemeClr>
          </a:solidFill>
          <a:ln w="38100">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1" name="矩形: 对角圆角 475"/>
          <p:cNvSpPr/>
          <p:nvPr/>
        </p:nvSpPr>
        <p:spPr>
          <a:xfrm>
            <a:off x="2777278" y="3233597"/>
            <a:ext cx="1143054" cy="317580"/>
          </a:xfrm>
          <a:custGeom>
            <a:avLst/>
            <a:gdLst>
              <a:gd name="connsiteX0" fmla="*/ 80761 w 1582121"/>
              <a:gd name="connsiteY0" fmla="*/ 0 h 484554"/>
              <a:gd name="connsiteX1" fmla="*/ 1582121 w 1582121"/>
              <a:gd name="connsiteY1" fmla="*/ 0 h 484554"/>
              <a:gd name="connsiteX2" fmla="*/ 1582121 w 1582121"/>
              <a:gd name="connsiteY2" fmla="*/ 0 h 484554"/>
              <a:gd name="connsiteX3" fmla="*/ 1582121 w 1582121"/>
              <a:gd name="connsiteY3" fmla="*/ 403793 h 484554"/>
              <a:gd name="connsiteX4" fmla="*/ 1501360 w 1582121"/>
              <a:gd name="connsiteY4" fmla="*/ 484554 h 484554"/>
              <a:gd name="connsiteX5" fmla="*/ 0 w 1582121"/>
              <a:gd name="connsiteY5" fmla="*/ 484554 h 484554"/>
              <a:gd name="connsiteX6" fmla="*/ 0 w 1582121"/>
              <a:gd name="connsiteY6" fmla="*/ 484554 h 484554"/>
              <a:gd name="connsiteX7" fmla="*/ 0 w 1582121"/>
              <a:gd name="connsiteY7" fmla="*/ 80761 h 484554"/>
              <a:gd name="connsiteX8" fmla="*/ 80761 w 1582121"/>
              <a:gd name="connsiteY8" fmla="*/ 0 h 484554"/>
              <a:gd name="connsiteX0-1" fmla="*/ 128386 w 1629746"/>
              <a:gd name="connsiteY0-2" fmla="*/ 0 h 484554"/>
              <a:gd name="connsiteX1-3" fmla="*/ 1629746 w 1629746"/>
              <a:gd name="connsiteY1-4" fmla="*/ 0 h 484554"/>
              <a:gd name="connsiteX2-5" fmla="*/ 1629746 w 1629746"/>
              <a:gd name="connsiteY2-6" fmla="*/ 0 h 484554"/>
              <a:gd name="connsiteX3-7" fmla="*/ 1629746 w 1629746"/>
              <a:gd name="connsiteY3-8" fmla="*/ 403793 h 484554"/>
              <a:gd name="connsiteX4-9" fmla="*/ 1548985 w 1629746"/>
              <a:gd name="connsiteY4-10" fmla="*/ 484554 h 484554"/>
              <a:gd name="connsiteX5-11" fmla="*/ 47625 w 1629746"/>
              <a:gd name="connsiteY5-12" fmla="*/ 484554 h 484554"/>
              <a:gd name="connsiteX6-13" fmla="*/ 0 w 1629746"/>
              <a:gd name="connsiteY6-14" fmla="*/ 484554 h 484554"/>
              <a:gd name="connsiteX7-15" fmla="*/ 47625 w 1629746"/>
              <a:gd name="connsiteY7-16" fmla="*/ 80761 h 484554"/>
              <a:gd name="connsiteX8-17" fmla="*/ 128386 w 1629746"/>
              <a:gd name="connsiteY8-18" fmla="*/ 0 h 484554"/>
              <a:gd name="connsiteX0-19" fmla="*/ 128386 w 1677371"/>
              <a:gd name="connsiteY0-20" fmla="*/ 9525 h 494079"/>
              <a:gd name="connsiteX1-21" fmla="*/ 1629746 w 1677371"/>
              <a:gd name="connsiteY1-22" fmla="*/ 9525 h 494079"/>
              <a:gd name="connsiteX2-23" fmla="*/ 1677371 w 1677371"/>
              <a:gd name="connsiteY2-24" fmla="*/ 0 h 494079"/>
              <a:gd name="connsiteX3-25" fmla="*/ 1629746 w 1677371"/>
              <a:gd name="connsiteY3-26" fmla="*/ 413318 h 494079"/>
              <a:gd name="connsiteX4-27" fmla="*/ 1548985 w 1677371"/>
              <a:gd name="connsiteY4-28" fmla="*/ 494079 h 494079"/>
              <a:gd name="connsiteX5-29" fmla="*/ 47625 w 1677371"/>
              <a:gd name="connsiteY5-30" fmla="*/ 494079 h 494079"/>
              <a:gd name="connsiteX6-31" fmla="*/ 0 w 1677371"/>
              <a:gd name="connsiteY6-32" fmla="*/ 494079 h 494079"/>
              <a:gd name="connsiteX7-33" fmla="*/ 47625 w 1677371"/>
              <a:gd name="connsiteY7-34" fmla="*/ 90286 h 494079"/>
              <a:gd name="connsiteX8-35" fmla="*/ 128386 w 1677371"/>
              <a:gd name="connsiteY8-36" fmla="*/ 9525 h 494079"/>
              <a:gd name="connsiteX0-37" fmla="*/ 128386 w 1705946"/>
              <a:gd name="connsiteY0-38" fmla="*/ 9525 h 494079"/>
              <a:gd name="connsiteX1-39" fmla="*/ 1629746 w 1705946"/>
              <a:gd name="connsiteY1-40" fmla="*/ 9525 h 494079"/>
              <a:gd name="connsiteX2-41" fmla="*/ 1705946 w 1705946"/>
              <a:gd name="connsiteY2-42" fmla="*/ 0 h 494079"/>
              <a:gd name="connsiteX3-43" fmla="*/ 1629746 w 1705946"/>
              <a:gd name="connsiteY3-44" fmla="*/ 413318 h 494079"/>
              <a:gd name="connsiteX4-45" fmla="*/ 1548985 w 1705946"/>
              <a:gd name="connsiteY4-46" fmla="*/ 494079 h 494079"/>
              <a:gd name="connsiteX5-47" fmla="*/ 47625 w 1705946"/>
              <a:gd name="connsiteY5-48" fmla="*/ 494079 h 494079"/>
              <a:gd name="connsiteX6-49" fmla="*/ 0 w 1705946"/>
              <a:gd name="connsiteY6-50" fmla="*/ 494079 h 494079"/>
              <a:gd name="connsiteX7-51" fmla="*/ 47625 w 1705946"/>
              <a:gd name="connsiteY7-52" fmla="*/ 90286 h 494079"/>
              <a:gd name="connsiteX8-53" fmla="*/ 128386 w 1705946"/>
              <a:gd name="connsiteY8-54" fmla="*/ 9525 h 494079"/>
              <a:gd name="connsiteX0-55" fmla="*/ 128386 w 1718646"/>
              <a:gd name="connsiteY0-56" fmla="*/ 0 h 484554"/>
              <a:gd name="connsiteX1-57" fmla="*/ 1629746 w 1718646"/>
              <a:gd name="connsiteY1-58" fmla="*/ 0 h 484554"/>
              <a:gd name="connsiteX2-59" fmla="*/ 1718646 w 1718646"/>
              <a:gd name="connsiteY2-60" fmla="*/ 6350 h 484554"/>
              <a:gd name="connsiteX3-61" fmla="*/ 1629746 w 1718646"/>
              <a:gd name="connsiteY3-62" fmla="*/ 403793 h 484554"/>
              <a:gd name="connsiteX4-63" fmla="*/ 1548985 w 1718646"/>
              <a:gd name="connsiteY4-64" fmla="*/ 484554 h 484554"/>
              <a:gd name="connsiteX5-65" fmla="*/ 47625 w 1718646"/>
              <a:gd name="connsiteY5-66" fmla="*/ 484554 h 484554"/>
              <a:gd name="connsiteX6-67" fmla="*/ 0 w 1718646"/>
              <a:gd name="connsiteY6-68" fmla="*/ 484554 h 484554"/>
              <a:gd name="connsiteX7-69" fmla="*/ 47625 w 1718646"/>
              <a:gd name="connsiteY7-70" fmla="*/ 80761 h 484554"/>
              <a:gd name="connsiteX8-71" fmla="*/ 128386 w 1718646"/>
              <a:gd name="connsiteY8-72" fmla="*/ 0 h 484554"/>
              <a:gd name="connsiteX0-73" fmla="*/ 128386 w 1718646"/>
              <a:gd name="connsiteY0-74" fmla="*/ 0 h 484554"/>
              <a:gd name="connsiteX1-75" fmla="*/ 1718646 w 1718646"/>
              <a:gd name="connsiteY1-76" fmla="*/ 6350 h 484554"/>
              <a:gd name="connsiteX2-77" fmla="*/ 1629746 w 1718646"/>
              <a:gd name="connsiteY2-78" fmla="*/ 403793 h 484554"/>
              <a:gd name="connsiteX3-79" fmla="*/ 1548985 w 1718646"/>
              <a:gd name="connsiteY3-80" fmla="*/ 484554 h 484554"/>
              <a:gd name="connsiteX4-81" fmla="*/ 47625 w 1718646"/>
              <a:gd name="connsiteY4-82" fmla="*/ 484554 h 484554"/>
              <a:gd name="connsiteX5-83" fmla="*/ 0 w 1718646"/>
              <a:gd name="connsiteY5-84" fmla="*/ 484554 h 484554"/>
              <a:gd name="connsiteX6-85" fmla="*/ 47625 w 1718646"/>
              <a:gd name="connsiteY6-86" fmla="*/ 80761 h 484554"/>
              <a:gd name="connsiteX7-87" fmla="*/ 128386 w 1718646"/>
              <a:gd name="connsiteY7-88" fmla="*/ 0 h 484554"/>
              <a:gd name="connsiteX0-89" fmla="*/ 128386 w 1715471"/>
              <a:gd name="connsiteY0-90" fmla="*/ 0 h 484554"/>
              <a:gd name="connsiteX1-91" fmla="*/ 1715471 w 1715471"/>
              <a:gd name="connsiteY1-92" fmla="*/ 0 h 484554"/>
              <a:gd name="connsiteX2-93" fmla="*/ 1629746 w 1715471"/>
              <a:gd name="connsiteY2-94" fmla="*/ 403793 h 484554"/>
              <a:gd name="connsiteX3-95" fmla="*/ 1548985 w 1715471"/>
              <a:gd name="connsiteY3-96" fmla="*/ 484554 h 484554"/>
              <a:gd name="connsiteX4-97" fmla="*/ 47625 w 1715471"/>
              <a:gd name="connsiteY4-98" fmla="*/ 484554 h 484554"/>
              <a:gd name="connsiteX5-99" fmla="*/ 0 w 1715471"/>
              <a:gd name="connsiteY5-100" fmla="*/ 484554 h 484554"/>
              <a:gd name="connsiteX6-101" fmla="*/ 47625 w 1715471"/>
              <a:gd name="connsiteY6-102" fmla="*/ 80761 h 484554"/>
              <a:gd name="connsiteX7-103" fmla="*/ 128386 w 1715471"/>
              <a:gd name="connsiteY7-104" fmla="*/ 0 h 484554"/>
              <a:gd name="connsiteX0-105" fmla="*/ 128386 w 1715471"/>
              <a:gd name="connsiteY0-106" fmla="*/ 0 h 484554"/>
              <a:gd name="connsiteX1-107" fmla="*/ 1715471 w 1715471"/>
              <a:gd name="connsiteY1-108" fmla="*/ 0 h 484554"/>
              <a:gd name="connsiteX2-109" fmla="*/ 1629746 w 1715471"/>
              <a:gd name="connsiteY2-110" fmla="*/ 403793 h 484554"/>
              <a:gd name="connsiteX3-111" fmla="*/ 1548985 w 1715471"/>
              <a:gd name="connsiteY3-112" fmla="*/ 484554 h 484554"/>
              <a:gd name="connsiteX4-113" fmla="*/ 0 w 1715471"/>
              <a:gd name="connsiteY4-114" fmla="*/ 484554 h 484554"/>
              <a:gd name="connsiteX5-115" fmla="*/ 47625 w 1715471"/>
              <a:gd name="connsiteY5-116" fmla="*/ 80761 h 484554"/>
              <a:gd name="connsiteX6-117" fmla="*/ 128386 w 1715471"/>
              <a:gd name="connsiteY6-118" fmla="*/ 0 h 484554"/>
              <a:gd name="connsiteX0-119" fmla="*/ 137911 w 1724996"/>
              <a:gd name="connsiteY0-120" fmla="*/ 0 h 484554"/>
              <a:gd name="connsiteX1-121" fmla="*/ 1724996 w 1724996"/>
              <a:gd name="connsiteY1-122" fmla="*/ 0 h 484554"/>
              <a:gd name="connsiteX2-123" fmla="*/ 1639271 w 1724996"/>
              <a:gd name="connsiteY2-124" fmla="*/ 403793 h 484554"/>
              <a:gd name="connsiteX3-125" fmla="*/ 1558510 w 1724996"/>
              <a:gd name="connsiteY3-126" fmla="*/ 484554 h 484554"/>
              <a:gd name="connsiteX4-127" fmla="*/ 0 w 1724996"/>
              <a:gd name="connsiteY4-128" fmla="*/ 484554 h 484554"/>
              <a:gd name="connsiteX5-129" fmla="*/ 57150 w 1724996"/>
              <a:gd name="connsiteY5-130" fmla="*/ 80761 h 484554"/>
              <a:gd name="connsiteX6-131" fmla="*/ 137911 w 1724996"/>
              <a:gd name="connsiteY6-132" fmla="*/ 0 h 484554"/>
              <a:gd name="connsiteX0-133" fmla="*/ 137911 w 1724996"/>
              <a:gd name="connsiteY0-134" fmla="*/ 0 h 484554"/>
              <a:gd name="connsiteX1-135" fmla="*/ 1724996 w 1724996"/>
              <a:gd name="connsiteY1-136" fmla="*/ 0 h 484554"/>
              <a:gd name="connsiteX2-137" fmla="*/ 1639271 w 1724996"/>
              <a:gd name="connsiteY2-138" fmla="*/ 403793 h 484554"/>
              <a:gd name="connsiteX3-139" fmla="*/ 1558510 w 1724996"/>
              <a:gd name="connsiteY3-140" fmla="*/ 484554 h 484554"/>
              <a:gd name="connsiteX4-141" fmla="*/ 0 w 1724996"/>
              <a:gd name="connsiteY4-142" fmla="*/ 484554 h 484554"/>
              <a:gd name="connsiteX5-143" fmla="*/ 57150 w 1724996"/>
              <a:gd name="connsiteY5-144" fmla="*/ 80761 h 484554"/>
              <a:gd name="connsiteX6-145" fmla="*/ 137911 w 1724996"/>
              <a:gd name="connsiteY6-146" fmla="*/ 0 h 484554"/>
              <a:gd name="connsiteX0-147" fmla="*/ 137911 w 1724996"/>
              <a:gd name="connsiteY0-148" fmla="*/ 0 h 484554"/>
              <a:gd name="connsiteX1-149" fmla="*/ 1724996 w 1724996"/>
              <a:gd name="connsiteY1-150" fmla="*/ 0 h 484554"/>
              <a:gd name="connsiteX2-151" fmla="*/ 1639271 w 1724996"/>
              <a:gd name="connsiteY2-152" fmla="*/ 403793 h 484554"/>
              <a:gd name="connsiteX3-153" fmla="*/ 1558510 w 1724996"/>
              <a:gd name="connsiteY3-154" fmla="*/ 484554 h 484554"/>
              <a:gd name="connsiteX4-155" fmla="*/ 0 w 1724996"/>
              <a:gd name="connsiteY4-156" fmla="*/ 484554 h 484554"/>
              <a:gd name="connsiteX5-157" fmla="*/ 57150 w 1724996"/>
              <a:gd name="connsiteY5-158" fmla="*/ 80761 h 484554"/>
              <a:gd name="connsiteX6-159" fmla="*/ 137911 w 1724996"/>
              <a:gd name="connsiteY6-160" fmla="*/ 0 h 484554"/>
              <a:gd name="connsiteX0-161" fmla="*/ 156961 w 1744046"/>
              <a:gd name="connsiteY0-162" fmla="*/ 0 h 484554"/>
              <a:gd name="connsiteX1-163" fmla="*/ 1744046 w 1744046"/>
              <a:gd name="connsiteY1-164" fmla="*/ 0 h 484554"/>
              <a:gd name="connsiteX2-165" fmla="*/ 1658321 w 1744046"/>
              <a:gd name="connsiteY2-166" fmla="*/ 403793 h 484554"/>
              <a:gd name="connsiteX3-167" fmla="*/ 1577560 w 1744046"/>
              <a:gd name="connsiteY3-168" fmla="*/ 484554 h 484554"/>
              <a:gd name="connsiteX4-169" fmla="*/ 0 w 1744046"/>
              <a:gd name="connsiteY4-170" fmla="*/ 484554 h 484554"/>
              <a:gd name="connsiteX5-171" fmla="*/ 76200 w 1744046"/>
              <a:gd name="connsiteY5-172" fmla="*/ 80761 h 484554"/>
              <a:gd name="connsiteX6-173" fmla="*/ 156961 w 1744046"/>
              <a:gd name="connsiteY6-174" fmla="*/ 0 h 484554"/>
              <a:gd name="connsiteX0-175" fmla="*/ 156961 w 1744046"/>
              <a:gd name="connsiteY0-176" fmla="*/ 0 h 484554"/>
              <a:gd name="connsiteX1-177" fmla="*/ 1744046 w 1744046"/>
              <a:gd name="connsiteY1-178" fmla="*/ 0 h 484554"/>
              <a:gd name="connsiteX2-179" fmla="*/ 1658321 w 1744046"/>
              <a:gd name="connsiteY2-180" fmla="*/ 403793 h 484554"/>
              <a:gd name="connsiteX3-181" fmla="*/ 1577560 w 1744046"/>
              <a:gd name="connsiteY3-182" fmla="*/ 484554 h 484554"/>
              <a:gd name="connsiteX4-183" fmla="*/ 0 w 1744046"/>
              <a:gd name="connsiteY4-184" fmla="*/ 484554 h 484554"/>
              <a:gd name="connsiteX5-185" fmla="*/ 76200 w 1744046"/>
              <a:gd name="connsiteY5-186" fmla="*/ 80761 h 484554"/>
              <a:gd name="connsiteX6-187" fmla="*/ 156961 w 1744046"/>
              <a:gd name="connsiteY6-188" fmla="*/ 0 h 484554"/>
              <a:gd name="connsiteX0-189" fmla="*/ 156961 w 1744046"/>
              <a:gd name="connsiteY0-190" fmla="*/ 0 h 484554"/>
              <a:gd name="connsiteX1-191" fmla="*/ 1744046 w 1744046"/>
              <a:gd name="connsiteY1-192" fmla="*/ 0 h 484554"/>
              <a:gd name="connsiteX2-193" fmla="*/ 1658321 w 1744046"/>
              <a:gd name="connsiteY2-194" fmla="*/ 403793 h 484554"/>
              <a:gd name="connsiteX3-195" fmla="*/ 1577560 w 1744046"/>
              <a:gd name="connsiteY3-196" fmla="*/ 484554 h 484554"/>
              <a:gd name="connsiteX4-197" fmla="*/ 0 w 1744046"/>
              <a:gd name="connsiteY4-198" fmla="*/ 484554 h 484554"/>
              <a:gd name="connsiteX5-199" fmla="*/ 76200 w 1744046"/>
              <a:gd name="connsiteY5-200" fmla="*/ 80761 h 484554"/>
              <a:gd name="connsiteX6-201" fmla="*/ 156961 w 1744046"/>
              <a:gd name="connsiteY6-202" fmla="*/ 0 h 484554"/>
              <a:gd name="connsiteX0-203" fmla="*/ 156961 w 1744046"/>
              <a:gd name="connsiteY0-204" fmla="*/ 0 h 484554"/>
              <a:gd name="connsiteX1-205" fmla="*/ 1744046 w 1744046"/>
              <a:gd name="connsiteY1-206" fmla="*/ 0 h 484554"/>
              <a:gd name="connsiteX2-207" fmla="*/ 1658321 w 1744046"/>
              <a:gd name="connsiteY2-208" fmla="*/ 403793 h 484554"/>
              <a:gd name="connsiteX3-209" fmla="*/ 1577560 w 1744046"/>
              <a:gd name="connsiteY3-210" fmla="*/ 484554 h 484554"/>
              <a:gd name="connsiteX4-211" fmla="*/ 0 w 1744046"/>
              <a:gd name="connsiteY4-212" fmla="*/ 484554 h 484554"/>
              <a:gd name="connsiteX5-213" fmla="*/ 76200 w 1744046"/>
              <a:gd name="connsiteY5-214" fmla="*/ 80761 h 484554"/>
              <a:gd name="connsiteX6-215" fmla="*/ 156961 w 1744046"/>
              <a:gd name="connsiteY6-216" fmla="*/ 0 h 484554"/>
              <a:gd name="connsiteX0-217" fmla="*/ 156961 w 1744046"/>
              <a:gd name="connsiteY0-218" fmla="*/ 0 h 484554"/>
              <a:gd name="connsiteX1-219" fmla="*/ 1744046 w 1744046"/>
              <a:gd name="connsiteY1-220" fmla="*/ 0 h 484554"/>
              <a:gd name="connsiteX2-221" fmla="*/ 1658321 w 1744046"/>
              <a:gd name="connsiteY2-222" fmla="*/ 403793 h 484554"/>
              <a:gd name="connsiteX3-223" fmla="*/ 1577560 w 1744046"/>
              <a:gd name="connsiteY3-224" fmla="*/ 484554 h 484554"/>
              <a:gd name="connsiteX4-225" fmla="*/ 0 w 1744046"/>
              <a:gd name="connsiteY4-226" fmla="*/ 484554 h 484554"/>
              <a:gd name="connsiteX5-227" fmla="*/ 76200 w 1744046"/>
              <a:gd name="connsiteY5-228" fmla="*/ 80761 h 484554"/>
              <a:gd name="connsiteX6-229" fmla="*/ 156961 w 1744046"/>
              <a:gd name="connsiteY6-230" fmla="*/ 0 h 484554"/>
              <a:gd name="connsiteX0-231" fmla="*/ 156961 w 1744046"/>
              <a:gd name="connsiteY0-232" fmla="*/ 0 h 484554"/>
              <a:gd name="connsiteX1-233" fmla="*/ 1744046 w 1744046"/>
              <a:gd name="connsiteY1-234" fmla="*/ 0 h 484554"/>
              <a:gd name="connsiteX2-235" fmla="*/ 1658321 w 1744046"/>
              <a:gd name="connsiteY2-236" fmla="*/ 403793 h 484554"/>
              <a:gd name="connsiteX3-237" fmla="*/ 1577560 w 1744046"/>
              <a:gd name="connsiteY3-238" fmla="*/ 484554 h 484554"/>
              <a:gd name="connsiteX4-239" fmla="*/ 0 w 1744046"/>
              <a:gd name="connsiteY4-240" fmla="*/ 484554 h 484554"/>
              <a:gd name="connsiteX5-241" fmla="*/ 76200 w 1744046"/>
              <a:gd name="connsiteY5-242" fmla="*/ 80761 h 484554"/>
              <a:gd name="connsiteX6-243" fmla="*/ 156961 w 1744046"/>
              <a:gd name="connsiteY6-244" fmla="*/ 0 h 4845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744046" h="484554">
                <a:moveTo>
                  <a:pt x="156961" y="0"/>
                </a:moveTo>
                <a:lnTo>
                  <a:pt x="1744046" y="0"/>
                </a:lnTo>
                <a:lnTo>
                  <a:pt x="1658321" y="403793"/>
                </a:lnTo>
                <a:cubicBezTo>
                  <a:pt x="1658321" y="448396"/>
                  <a:pt x="1622163" y="484554"/>
                  <a:pt x="1577560" y="484554"/>
                </a:cubicBezTo>
                <a:lnTo>
                  <a:pt x="0" y="484554"/>
                </a:lnTo>
                <a:cubicBezTo>
                  <a:pt x="19050" y="343606"/>
                  <a:pt x="57150" y="180434"/>
                  <a:pt x="76200" y="80761"/>
                </a:cubicBezTo>
                <a:cubicBezTo>
                  <a:pt x="88900" y="36158"/>
                  <a:pt x="112358" y="0"/>
                  <a:pt x="156961" y="0"/>
                </a:cubicBezTo>
                <a:close/>
              </a:path>
            </a:pathLst>
          </a:custGeom>
          <a:solidFill>
            <a:schemeClr val="accent1">
              <a:lumMod val="60000"/>
              <a:lumOff val="40000"/>
            </a:schemeClr>
          </a:solidFill>
          <a:ln w="38100">
            <a:noFill/>
          </a:ln>
          <a:effectLst/>
        </p:spPr>
        <p:style>
          <a:lnRef idx="2">
            <a:srgbClr val="24396B">
              <a:shade val="50000"/>
            </a:srgbClr>
          </a:lnRef>
          <a:fillRef idx="1">
            <a:srgbClr val="24396B"/>
          </a:fillRef>
          <a:effectRef idx="0">
            <a:srgbClr val="24396B"/>
          </a:effectRef>
          <a:fontRef idx="minor">
            <a:srgbClr val="FFFFFF"/>
          </a:fontRef>
        </p:style>
        <p:txBody>
          <a:bodyPr wrap="square" lIns="98755" tIns="49378" rIns="98755" bIns="49378" rtlCol="0" anchor="ctr">
            <a:noAutofit/>
          </a:bodyPr>
          <a:lstStyle/>
          <a:p>
            <a:pPr algn="ctr"/>
            <a:endParaRPr lang="zh-CN" altLang="en-US" sz="1945">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32" name="矩形: 对角圆角 475"/>
          <p:cNvSpPr/>
          <p:nvPr/>
        </p:nvSpPr>
        <p:spPr>
          <a:xfrm>
            <a:off x="4460186" y="3233597"/>
            <a:ext cx="1143054" cy="317580"/>
          </a:xfrm>
          <a:custGeom>
            <a:avLst/>
            <a:gdLst>
              <a:gd name="connsiteX0" fmla="*/ 80761 w 1582121"/>
              <a:gd name="connsiteY0" fmla="*/ 0 h 484554"/>
              <a:gd name="connsiteX1" fmla="*/ 1582121 w 1582121"/>
              <a:gd name="connsiteY1" fmla="*/ 0 h 484554"/>
              <a:gd name="connsiteX2" fmla="*/ 1582121 w 1582121"/>
              <a:gd name="connsiteY2" fmla="*/ 0 h 484554"/>
              <a:gd name="connsiteX3" fmla="*/ 1582121 w 1582121"/>
              <a:gd name="connsiteY3" fmla="*/ 403793 h 484554"/>
              <a:gd name="connsiteX4" fmla="*/ 1501360 w 1582121"/>
              <a:gd name="connsiteY4" fmla="*/ 484554 h 484554"/>
              <a:gd name="connsiteX5" fmla="*/ 0 w 1582121"/>
              <a:gd name="connsiteY5" fmla="*/ 484554 h 484554"/>
              <a:gd name="connsiteX6" fmla="*/ 0 w 1582121"/>
              <a:gd name="connsiteY6" fmla="*/ 484554 h 484554"/>
              <a:gd name="connsiteX7" fmla="*/ 0 w 1582121"/>
              <a:gd name="connsiteY7" fmla="*/ 80761 h 484554"/>
              <a:gd name="connsiteX8" fmla="*/ 80761 w 1582121"/>
              <a:gd name="connsiteY8" fmla="*/ 0 h 484554"/>
              <a:gd name="connsiteX0-1" fmla="*/ 128386 w 1629746"/>
              <a:gd name="connsiteY0-2" fmla="*/ 0 h 484554"/>
              <a:gd name="connsiteX1-3" fmla="*/ 1629746 w 1629746"/>
              <a:gd name="connsiteY1-4" fmla="*/ 0 h 484554"/>
              <a:gd name="connsiteX2-5" fmla="*/ 1629746 w 1629746"/>
              <a:gd name="connsiteY2-6" fmla="*/ 0 h 484554"/>
              <a:gd name="connsiteX3-7" fmla="*/ 1629746 w 1629746"/>
              <a:gd name="connsiteY3-8" fmla="*/ 403793 h 484554"/>
              <a:gd name="connsiteX4-9" fmla="*/ 1548985 w 1629746"/>
              <a:gd name="connsiteY4-10" fmla="*/ 484554 h 484554"/>
              <a:gd name="connsiteX5-11" fmla="*/ 47625 w 1629746"/>
              <a:gd name="connsiteY5-12" fmla="*/ 484554 h 484554"/>
              <a:gd name="connsiteX6-13" fmla="*/ 0 w 1629746"/>
              <a:gd name="connsiteY6-14" fmla="*/ 484554 h 484554"/>
              <a:gd name="connsiteX7-15" fmla="*/ 47625 w 1629746"/>
              <a:gd name="connsiteY7-16" fmla="*/ 80761 h 484554"/>
              <a:gd name="connsiteX8-17" fmla="*/ 128386 w 1629746"/>
              <a:gd name="connsiteY8-18" fmla="*/ 0 h 484554"/>
              <a:gd name="connsiteX0-19" fmla="*/ 128386 w 1677371"/>
              <a:gd name="connsiteY0-20" fmla="*/ 9525 h 494079"/>
              <a:gd name="connsiteX1-21" fmla="*/ 1629746 w 1677371"/>
              <a:gd name="connsiteY1-22" fmla="*/ 9525 h 494079"/>
              <a:gd name="connsiteX2-23" fmla="*/ 1677371 w 1677371"/>
              <a:gd name="connsiteY2-24" fmla="*/ 0 h 494079"/>
              <a:gd name="connsiteX3-25" fmla="*/ 1629746 w 1677371"/>
              <a:gd name="connsiteY3-26" fmla="*/ 413318 h 494079"/>
              <a:gd name="connsiteX4-27" fmla="*/ 1548985 w 1677371"/>
              <a:gd name="connsiteY4-28" fmla="*/ 494079 h 494079"/>
              <a:gd name="connsiteX5-29" fmla="*/ 47625 w 1677371"/>
              <a:gd name="connsiteY5-30" fmla="*/ 494079 h 494079"/>
              <a:gd name="connsiteX6-31" fmla="*/ 0 w 1677371"/>
              <a:gd name="connsiteY6-32" fmla="*/ 494079 h 494079"/>
              <a:gd name="connsiteX7-33" fmla="*/ 47625 w 1677371"/>
              <a:gd name="connsiteY7-34" fmla="*/ 90286 h 494079"/>
              <a:gd name="connsiteX8-35" fmla="*/ 128386 w 1677371"/>
              <a:gd name="connsiteY8-36" fmla="*/ 9525 h 494079"/>
              <a:gd name="connsiteX0-37" fmla="*/ 128386 w 1705946"/>
              <a:gd name="connsiteY0-38" fmla="*/ 9525 h 494079"/>
              <a:gd name="connsiteX1-39" fmla="*/ 1629746 w 1705946"/>
              <a:gd name="connsiteY1-40" fmla="*/ 9525 h 494079"/>
              <a:gd name="connsiteX2-41" fmla="*/ 1705946 w 1705946"/>
              <a:gd name="connsiteY2-42" fmla="*/ 0 h 494079"/>
              <a:gd name="connsiteX3-43" fmla="*/ 1629746 w 1705946"/>
              <a:gd name="connsiteY3-44" fmla="*/ 413318 h 494079"/>
              <a:gd name="connsiteX4-45" fmla="*/ 1548985 w 1705946"/>
              <a:gd name="connsiteY4-46" fmla="*/ 494079 h 494079"/>
              <a:gd name="connsiteX5-47" fmla="*/ 47625 w 1705946"/>
              <a:gd name="connsiteY5-48" fmla="*/ 494079 h 494079"/>
              <a:gd name="connsiteX6-49" fmla="*/ 0 w 1705946"/>
              <a:gd name="connsiteY6-50" fmla="*/ 494079 h 494079"/>
              <a:gd name="connsiteX7-51" fmla="*/ 47625 w 1705946"/>
              <a:gd name="connsiteY7-52" fmla="*/ 90286 h 494079"/>
              <a:gd name="connsiteX8-53" fmla="*/ 128386 w 1705946"/>
              <a:gd name="connsiteY8-54" fmla="*/ 9525 h 494079"/>
              <a:gd name="connsiteX0-55" fmla="*/ 128386 w 1718646"/>
              <a:gd name="connsiteY0-56" fmla="*/ 0 h 484554"/>
              <a:gd name="connsiteX1-57" fmla="*/ 1629746 w 1718646"/>
              <a:gd name="connsiteY1-58" fmla="*/ 0 h 484554"/>
              <a:gd name="connsiteX2-59" fmla="*/ 1718646 w 1718646"/>
              <a:gd name="connsiteY2-60" fmla="*/ 6350 h 484554"/>
              <a:gd name="connsiteX3-61" fmla="*/ 1629746 w 1718646"/>
              <a:gd name="connsiteY3-62" fmla="*/ 403793 h 484554"/>
              <a:gd name="connsiteX4-63" fmla="*/ 1548985 w 1718646"/>
              <a:gd name="connsiteY4-64" fmla="*/ 484554 h 484554"/>
              <a:gd name="connsiteX5-65" fmla="*/ 47625 w 1718646"/>
              <a:gd name="connsiteY5-66" fmla="*/ 484554 h 484554"/>
              <a:gd name="connsiteX6-67" fmla="*/ 0 w 1718646"/>
              <a:gd name="connsiteY6-68" fmla="*/ 484554 h 484554"/>
              <a:gd name="connsiteX7-69" fmla="*/ 47625 w 1718646"/>
              <a:gd name="connsiteY7-70" fmla="*/ 80761 h 484554"/>
              <a:gd name="connsiteX8-71" fmla="*/ 128386 w 1718646"/>
              <a:gd name="connsiteY8-72" fmla="*/ 0 h 484554"/>
              <a:gd name="connsiteX0-73" fmla="*/ 128386 w 1718646"/>
              <a:gd name="connsiteY0-74" fmla="*/ 0 h 484554"/>
              <a:gd name="connsiteX1-75" fmla="*/ 1718646 w 1718646"/>
              <a:gd name="connsiteY1-76" fmla="*/ 6350 h 484554"/>
              <a:gd name="connsiteX2-77" fmla="*/ 1629746 w 1718646"/>
              <a:gd name="connsiteY2-78" fmla="*/ 403793 h 484554"/>
              <a:gd name="connsiteX3-79" fmla="*/ 1548985 w 1718646"/>
              <a:gd name="connsiteY3-80" fmla="*/ 484554 h 484554"/>
              <a:gd name="connsiteX4-81" fmla="*/ 47625 w 1718646"/>
              <a:gd name="connsiteY4-82" fmla="*/ 484554 h 484554"/>
              <a:gd name="connsiteX5-83" fmla="*/ 0 w 1718646"/>
              <a:gd name="connsiteY5-84" fmla="*/ 484554 h 484554"/>
              <a:gd name="connsiteX6-85" fmla="*/ 47625 w 1718646"/>
              <a:gd name="connsiteY6-86" fmla="*/ 80761 h 484554"/>
              <a:gd name="connsiteX7-87" fmla="*/ 128386 w 1718646"/>
              <a:gd name="connsiteY7-88" fmla="*/ 0 h 484554"/>
              <a:gd name="connsiteX0-89" fmla="*/ 128386 w 1715471"/>
              <a:gd name="connsiteY0-90" fmla="*/ 0 h 484554"/>
              <a:gd name="connsiteX1-91" fmla="*/ 1715471 w 1715471"/>
              <a:gd name="connsiteY1-92" fmla="*/ 0 h 484554"/>
              <a:gd name="connsiteX2-93" fmla="*/ 1629746 w 1715471"/>
              <a:gd name="connsiteY2-94" fmla="*/ 403793 h 484554"/>
              <a:gd name="connsiteX3-95" fmla="*/ 1548985 w 1715471"/>
              <a:gd name="connsiteY3-96" fmla="*/ 484554 h 484554"/>
              <a:gd name="connsiteX4-97" fmla="*/ 47625 w 1715471"/>
              <a:gd name="connsiteY4-98" fmla="*/ 484554 h 484554"/>
              <a:gd name="connsiteX5-99" fmla="*/ 0 w 1715471"/>
              <a:gd name="connsiteY5-100" fmla="*/ 484554 h 484554"/>
              <a:gd name="connsiteX6-101" fmla="*/ 47625 w 1715471"/>
              <a:gd name="connsiteY6-102" fmla="*/ 80761 h 484554"/>
              <a:gd name="connsiteX7-103" fmla="*/ 128386 w 1715471"/>
              <a:gd name="connsiteY7-104" fmla="*/ 0 h 484554"/>
              <a:gd name="connsiteX0-105" fmla="*/ 128386 w 1715471"/>
              <a:gd name="connsiteY0-106" fmla="*/ 0 h 484554"/>
              <a:gd name="connsiteX1-107" fmla="*/ 1715471 w 1715471"/>
              <a:gd name="connsiteY1-108" fmla="*/ 0 h 484554"/>
              <a:gd name="connsiteX2-109" fmla="*/ 1629746 w 1715471"/>
              <a:gd name="connsiteY2-110" fmla="*/ 403793 h 484554"/>
              <a:gd name="connsiteX3-111" fmla="*/ 1548985 w 1715471"/>
              <a:gd name="connsiteY3-112" fmla="*/ 484554 h 484554"/>
              <a:gd name="connsiteX4-113" fmla="*/ 0 w 1715471"/>
              <a:gd name="connsiteY4-114" fmla="*/ 484554 h 484554"/>
              <a:gd name="connsiteX5-115" fmla="*/ 47625 w 1715471"/>
              <a:gd name="connsiteY5-116" fmla="*/ 80761 h 484554"/>
              <a:gd name="connsiteX6-117" fmla="*/ 128386 w 1715471"/>
              <a:gd name="connsiteY6-118" fmla="*/ 0 h 484554"/>
              <a:gd name="connsiteX0-119" fmla="*/ 137911 w 1724996"/>
              <a:gd name="connsiteY0-120" fmla="*/ 0 h 484554"/>
              <a:gd name="connsiteX1-121" fmla="*/ 1724996 w 1724996"/>
              <a:gd name="connsiteY1-122" fmla="*/ 0 h 484554"/>
              <a:gd name="connsiteX2-123" fmla="*/ 1639271 w 1724996"/>
              <a:gd name="connsiteY2-124" fmla="*/ 403793 h 484554"/>
              <a:gd name="connsiteX3-125" fmla="*/ 1558510 w 1724996"/>
              <a:gd name="connsiteY3-126" fmla="*/ 484554 h 484554"/>
              <a:gd name="connsiteX4-127" fmla="*/ 0 w 1724996"/>
              <a:gd name="connsiteY4-128" fmla="*/ 484554 h 484554"/>
              <a:gd name="connsiteX5-129" fmla="*/ 57150 w 1724996"/>
              <a:gd name="connsiteY5-130" fmla="*/ 80761 h 484554"/>
              <a:gd name="connsiteX6-131" fmla="*/ 137911 w 1724996"/>
              <a:gd name="connsiteY6-132" fmla="*/ 0 h 484554"/>
              <a:gd name="connsiteX0-133" fmla="*/ 137911 w 1724996"/>
              <a:gd name="connsiteY0-134" fmla="*/ 0 h 484554"/>
              <a:gd name="connsiteX1-135" fmla="*/ 1724996 w 1724996"/>
              <a:gd name="connsiteY1-136" fmla="*/ 0 h 484554"/>
              <a:gd name="connsiteX2-137" fmla="*/ 1639271 w 1724996"/>
              <a:gd name="connsiteY2-138" fmla="*/ 403793 h 484554"/>
              <a:gd name="connsiteX3-139" fmla="*/ 1558510 w 1724996"/>
              <a:gd name="connsiteY3-140" fmla="*/ 484554 h 484554"/>
              <a:gd name="connsiteX4-141" fmla="*/ 0 w 1724996"/>
              <a:gd name="connsiteY4-142" fmla="*/ 484554 h 484554"/>
              <a:gd name="connsiteX5-143" fmla="*/ 57150 w 1724996"/>
              <a:gd name="connsiteY5-144" fmla="*/ 80761 h 484554"/>
              <a:gd name="connsiteX6-145" fmla="*/ 137911 w 1724996"/>
              <a:gd name="connsiteY6-146" fmla="*/ 0 h 484554"/>
              <a:gd name="connsiteX0-147" fmla="*/ 137911 w 1724996"/>
              <a:gd name="connsiteY0-148" fmla="*/ 0 h 484554"/>
              <a:gd name="connsiteX1-149" fmla="*/ 1724996 w 1724996"/>
              <a:gd name="connsiteY1-150" fmla="*/ 0 h 484554"/>
              <a:gd name="connsiteX2-151" fmla="*/ 1639271 w 1724996"/>
              <a:gd name="connsiteY2-152" fmla="*/ 403793 h 484554"/>
              <a:gd name="connsiteX3-153" fmla="*/ 1558510 w 1724996"/>
              <a:gd name="connsiteY3-154" fmla="*/ 484554 h 484554"/>
              <a:gd name="connsiteX4-155" fmla="*/ 0 w 1724996"/>
              <a:gd name="connsiteY4-156" fmla="*/ 484554 h 484554"/>
              <a:gd name="connsiteX5-157" fmla="*/ 57150 w 1724996"/>
              <a:gd name="connsiteY5-158" fmla="*/ 80761 h 484554"/>
              <a:gd name="connsiteX6-159" fmla="*/ 137911 w 1724996"/>
              <a:gd name="connsiteY6-160" fmla="*/ 0 h 484554"/>
              <a:gd name="connsiteX0-161" fmla="*/ 156961 w 1744046"/>
              <a:gd name="connsiteY0-162" fmla="*/ 0 h 484554"/>
              <a:gd name="connsiteX1-163" fmla="*/ 1744046 w 1744046"/>
              <a:gd name="connsiteY1-164" fmla="*/ 0 h 484554"/>
              <a:gd name="connsiteX2-165" fmla="*/ 1658321 w 1744046"/>
              <a:gd name="connsiteY2-166" fmla="*/ 403793 h 484554"/>
              <a:gd name="connsiteX3-167" fmla="*/ 1577560 w 1744046"/>
              <a:gd name="connsiteY3-168" fmla="*/ 484554 h 484554"/>
              <a:gd name="connsiteX4-169" fmla="*/ 0 w 1744046"/>
              <a:gd name="connsiteY4-170" fmla="*/ 484554 h 484554"/>
              <a:gd name="connsiteX5-171" fmla="*/ 76200 w 1744046"/>
              <a:gd name="connsiteY5-172" fmla="*/ 80761 h 484554"/>
              <a:gd name="connsiteX6-173" fmla="*/ 156961 w 1744046"/>
              <a:gd name="connsiteY6-174" fmla="*/ 0 h 484554"/>
              <a:gd name="connsiteX0-175" fmla="*/ 156961 w 1744046"/>
              <a:gd name="connsiteY0-176" fmla="*/ 0 h 484554"/>
              <a:gd name="connsiteX1-177" fmla="*/ 1744046 w 1744046"/>
              <a:gd name="connsiteY1-178" fmla="*/ 0 h 484554"/>
              <a:gd name="connsiteX2-179" fmla="*/ 1658321 w 1744046"/>
              <a:gd name="connsiteY2-180" fmla="*/ 403793 h 484554"/>
              <a:gd name="connsiteX3-181" fmla="*/ 1577560 w 1744046"/>
              <a:gd name="connsiteY3-182" fmla="*/ 484554 h 484554"/>
              <a:gd name="connsiteX4-183" fmla="*/ 0 w 1744046"/>
              <a:gd name="connsiteY4-184" fmla="*/ 484554 h 484554"/>
              <a:gd name="connsiteX5-185" fmla="*/ 76200 w 1744046"/>
              <a:gd name="connsiteY5-186" fmla="*/ 80761 h 484554"/>
              <a:gd name="connsiteX6-187" fmla="*/ 156961 w 1744046"/>
              <a:gd name="connsiteY6-188" fmla="*/ 0 h 484554"/>
              <a:gd name="connsiteX0-189" fmla="*/ 156961 w 1744046"/>
              <a:gd name="connsiteY0-190" fmla="*/ 0 h 484554"/>
              <a:gd name="connsiteX1-191" fmla="*/ 1744046 w 1744046"/>
              <a:gd name="connsiteY1-192" fmla="*/ 0 h 484554"/>
              <a:gd name="connsiteX2-193" fmla="*/ 1658321 w 1744046"/>
              <a:gd name="connsiteY2-194" fmla="*/ 403793 h 484554"/>
              <a:gd name="connsiteX3-195" fmla="*/ 1577560 w 1744046"/>
              <a:gd name="connsiteY3-196" fmla="*/ 484554 h 484554"/>
              <a:gd name="connsiteX4-197" fmla="*/ 0 w 1744046"/>
              <a:gd name="connsiteY4-198" fmla="*/ 484554 h 484554"/>
              <a:gd name="connsiteX5-199" fmla="*/ 76200 w 1744046"/>
              <a:gd name="connsiteY5-200" fmla="*/ 80761 h 484554"/>
              <a:gd name="connsiteX6-201" fmla="*/ 156961 w 1744046"/>
              <a:gd name="connsiteY6-202" fmla="*/ 0 h 484554"/>
              <a:gd name="connsiteX0-203" fmla="*/ 156961 w 1744046"/>
              <a:gd name="connsiteY0-204" fmla="*/ 0 h 484554"/>
              <a:gd name="connsiteX1-205" fmla="*/ 1744046 w 1744046"/>
              <a:gd name="connsiteY1-206" fmla="*/ 0 h 484554"/>
              <a:gd name="connsiteX2-207" fmla="*/ 1658321 w 1744046"/>
              <a:gd name="connsiteY2-208" fmla="*/ 403793 h 484554"/>
              <a:gd name="connsiteX3-209" fmla="*/ 1577560 w 1744046"/>
              <a:gd name="connsiteY3-210" fmla="*/ 484554 h 484554"/>
              <a:gd name="connsiteX4-211" fmla="*/ 0 w 1744046"/>
              <a:gd name="connsiteY4-212" fmla="*/ 484554 h 484554"/>
              <a:gd name="connsiteX5-213" fmla="*/ 76200 w 1744046"/>
              <a:gd name="connsiteY5-214" fmla="*/ 80761 h 484554"/>
              <a:gd name="connsiteX6-215" fmla="*/ 156961 w 1744046"/>
              <a:gd name="connsiteY6-216" fmla="*/ 0 h 484554"/>
              <a:gd name="connsiteX0-217" fmla="*/ 156961 w 1744046"/>
              <a:gd name="connsiteY0-218" fmla="*/ 0 h 484554"/>
              <a:gd name="connsiteX1-219" fmla="*/ 1744046 w 1744046"/>
              <a:gd name="connsiteY1-220" fmla="*/ 0 h 484554"/>
              <a:gd name="connsiteX2-221" fmla="*/ 1658321 w 1744046"/>
              <a:gd name="connsiteY2-222" fmla="*/ 403793 h 484554"/>
              <a:gd name="connsiteX3-223" fmla="*/ 1577560 w 1744046"/>
              <a:gd name="connsiteY3-224" fmla="*/ 484554 h 484554"/>
              <a:gd name="connsiteX4-225" fmla="*/ 0 w 1744046"/>
              <a:gd name="connsiteY4-226" fmla="*/ 484554 h 484554"/>
              <a:gd name="connsiteX5-227" fmla="*/ 76200 w 1744046"/>
              <a:gd name="connsiteY5-228" fmla="*/ 80761 h 484554"/>
              <a:gd name="connsiteX6-229" fmla="*/ 156961 w 1744046"/>
              <a:gd name="connsiteY6-230" fmla="*/ 0 h 484554"/>
              <a:gd name="connsiteX0-231" fmla="*/ 156961 w 1744046"/>
              <a:gd name="connsiteY0-232" fmla="*/ 0 h 484554"/>
              <a:gd name="connsiteX1-233" fmla="*/ 1744046 w 1744046"/>
              <a:gd name="connsiteY1-234" fmla="*/ 0 h 484554"/>
              <a:gd name="connsiteX2-235" fmla="*/ 1658321 w 1744046"/>
              <a:gd name="connsiteY2-236" fmla="*/ 403793 h 484554"/>
              <a:gd name="connsiteX3-237" fmla="*/ 1577560 w 1744046"/>
              <a:gd name="connsiteY3-238" fmla="*/ 484554 h 484554"/>
              <a:gd name="connsiteX4-239" fmla="*/ 0 w 1744046"/>
              <a:gd name="connsiteY4-240" fmla="*/ 484554 h 484554"/>
              <a:gd name="connsiteX5-241" fmla="*/ 76200 w 1744046"/>
              <a:gd name="connsiteY5-242" fmla="*/ 80761 h 484554"/>
              <a:gd name="connsiteX6-243" fmla="*/ 156961 w 1744046"/>
              <a:gd name="connsiteY6-244" fmla="*/ 0 h 4845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744046" h="484554">
                <a:moveTo>
                  <a:pt x="156961" y="0"/>
                </a:moveTo>
                <a:lnTo>
                  <a:pt x="1744046" y="0"/>
                </a:lnTo>
                <a:lnTo>
                  <a:pt x="1658321" y="403793"/>
                </a:lnTo>
                <a:cubicBezTo>
                  <a:pt x="1658321" y="448396"/>
                  <a:pt x="1622163" y="484554"/>
                  <a:pt x="1577560" y="484554"/>
                </a:cubicBezTo>
                <a:lnTo>
                  <a:pt x="0" y="484554"/>
                </a:lnTo>
                <a:cubicBezTo>
                  <a:pt x="19050" y="343606"/>
                  <a:pt x="57150" y="180434"/>
                  <a:pt x="76200" y="80761"/>
                </a:cubicBezTo>
                <a:cubicBezTo>
                  <a:pt x="88900" y="36158"/>
                  <a:pt x="112358" y="0"/>
                  <a:pt x="156961" y="0"/>
                </a:cubicBezTo>
                <a:close/>
              </a:path>
            </a:pathLst>
          </a:custGeom>
          <a:solidFill>
            <a:schemeClr val="accent1">
              <a:lumMod val="60000"/>
              <a:lumOff val="40000"/>
            </a:schemeClr>
          </a:solidFill>
          <a:ln w="38100">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3" name="矩形: 对角圆角 475"/>
          <p:cNvSpPr/>
          <p:nvPr/>
        </p:nvSpPr>
        <p:spPr>
          <a:xfrm>
            <a:off x="6801763" y="3648932"/>
            <a:ext cx="1143054" cy="317580"/>
          </a:xfrm>
          <a:custGeom>
            <a:avLst/>
            <a:gdLst>
              <a:gd name="connsiteX0" fmla="*/ 80761 w 1582121"/>
              <a:gd name="connsiteY0" fmla="*/ 0 h 484554"/>
              <a:gd name="connsiteX1" fmla="*/ 1582121 w 1582121"/>
              <a:gd name="connsiteY1" fmla="*/ 0 h 484554"/>
              <a:gd name="connsiteX2" fmla="*/ 1582121 w 1582121"/>
              <a:gd name="connsiteY2" fmla="*/ 0 h 484554"/>
              <a:gd name="connsiteX3" fmla="*/ 1582121 w 1582121"/>
              <a:gd name="connsiteY3" fmla="*/ 403793 h 484554"/>
              <a:gd name="connsiteX4" fmla="*/ 1501360 w 1582121"/>
              <a:gd name="connsiteY4" fmla="*/ 484554 h 484554"/>
              <a:gd name="connsiteX5" fmla="*/ 0 w 1582121"/>
              <a:gd name="connsiteY5" fmla="*/ 484554 h 484554"/>
              <a:gd name="connsiteX6" fmla="*/ 0 w 1582121"/>
              <a:gd name="connsiteY6" fmla="*/ 484554 h 484554"/>
              <a:gd name="connsiteX7" fmla="*/ 0 w 1582121"/>
              <a:gd name="connsiteY7" fmla="*/ 80761 h 484554"/>
              <a:gd name="connsiteX8" fmla="*/ 80761 w 1582121"/>
              <a:gd name="connsiteY8" fmla="*/ 0 h 484554"/>
              <a:gd name="connsiteX0-1" fmla="*/ 128386 w 1629746"/>
              <a:gd name="connsiteY0-2" fmla="*/ 0 h 484554"/>
              <a:gd name="connsiteX1-3" fmla="*/ 1629746 w 1629746"/>
              <a:gd name="connsiteY1-4" fmla="*/ 0 h 484554"/>
              <a:gd name="connsiteX2-5" fmla="*/ 1629746 w 1629746"/>
              <a:gd name="connsiteY2-6" fmla="*/ 0 h 484554"/>
              <a:gd name="connsiteX3-7" fmla="*/ 1629746 w 1629746"/>
              <a:gd name="connsiteY3-8" fmla="*/ 403793 h 484554"/>
              <a:gd name="connsiteX4-9" fmla="*/ 1548985 w 1629746"/>
              <a:gd name="connsiteY4-10" fmla="*/ 484554 h 484554"/>
              <a:gd name="connsiteX5-11" fmla="*/ 47625 w 1629746"/>
              <a:gd name="connsiteY5-12" fmla="*/ 484554 h 484554"/>
              <a:gd name="connsiteX6-13" fmla="*/ 0 w 1629746"/>
              <a:gd name="connsiteY6-14" fmla="*/ 484554 h 484554"/>
              <a:gd name="connsiteX7-15" fmla="*/ 47625 w 1629746"/>
              <a:gd name="connsiteY7-16" fmla="*/ 80761 h 484554"/>
              <a:gd name="connsiteX8-17" fmla="*/ 128386 w 1629746"/>
              <a:gd name="connsiteY8-18" fmla="*/ 0 h 484554"/>
              <a:gd name="connsiteX0-19" fmla="*/ 128386 w 1677371"/>
              <a:gd name="connsiteY0-20" fmla="*/ 9525 h 494079"/>
              <a:gd name="connsiteX1-21" fmla="*/ 1629746 w 1677371"/>
              <a:gd name="connsiteY1-22" fmla="*/ 9525 h 494079"/>
              <a:gd name="connsiteX2-23" fmla="*/ 1677371 w 1677371"/>
              <a:gd name="connsiteY2-24" fmla="*/ 0 h 494079"/>
              <a:gd name="connsiteX3-25" fmla="*/ 1629746 w 1677371"/>
              <a:gd name="connsiteY3-26" fmla="*/ 413318 h 494079"/>
              <a:gd name="connsiteX4-27" fmla="*/ 1548985 w 1677371"/>
              <a:gd name="connsiteY4-28" fmla="*/ 494079 h 494079"/>
              <a:gd name="connsiteX5-29" fmla="*/ 47625 w 1677371"/>
              <a:gd name="connsiteY5-30" fmla="*/ 494079 h 494079"/>
              <a:gd name="connsiteX6-31" fmla="*/ 0 w 1677371"/>
              <a:gd name="connsiteY6-32" fmla="*/ 494079 h 494079"/>
              <a:gd name="connsiteX7-33" fmla="*/ 47625 w 1677371"/>
              <a:gd name="connsiteY7-34" fmla="*/ 90286 h 494079"/>
              <a:gd name="connsiteX8-35" fmla="*/ 128386 w 1677371"/>
              <a:gd name="connsiteY8-36" fmla="*/ 9525 h 494079"/>
              <a:gd name="connsiteX0-37" fmla="*/ 128386 w 1705946"/>
              <a:gd name="connsiteY0-38" fmla="*/ 9525 h 494079"/>
              <a:gd name="connsiteX1-39" fmla="*/ 1629746 w 1705946"/>
              <a:gd name="connsiteY1-40" fmla="*/ 9525 h 494079"/>
              <a:gd name="connsiteX2-41" fmla="*/ 1705946 w 1705946"/>
              <a:gd name="connsiteY2-42" fmla="*/ 0 h 494079"/>
              <a:gd name="connsiteX3-43" fmla="*/ 1629746 w 1705946"/>
              <a:gd name="connsiteY3-44" fmla="*/ 413318 h 494079"/>
              <a:gd name="connsiteX4-45" fmla="*/ 1548985 w 1705946"/>
              <a:gd name="connsiteY4-46" fmla="*/ 494079 h 494079"/>
              <a:gd name="connsiteX5-47" fmla="*/ 47625 w 1705946"/>
              <a:gd name="connsiteY5-48" fmla="*/ 494079 h 494079"/>
              <a:gd name="connsiteX6-49" fmla="*/ 0 w 1705946"/>
              <a:gd name="connsiteY6-50" fmla="*/ 494079 h 494079"/>
              <a:gd name="connsiteX7-51" fmla="*/ 47625 w 1705946"/>
              <a:gd name="connsiteY7-52" fmla="*/ 90286 h 494079"/>
              <a:gd name="connsiteX8-53" fmla="*/ 128386 w 1705946"/>
              <a:gd name="connsiteY8-54" fmla="*/ 9525 h 494079"/>
              <a:gd name="connsiteX0-55" fmla="*/ 128386 w 1718646"/>
              <a:gd name="connsiteY0-56" fmla="*/ 0 h 484554"/>
              <a:gd name="connsiteX1-57" fmla="*/ 1629746 w 1718646"/>
              <a:gd name="connsiteY1-58" fmla="*/ 0 h 484554"/>
              <a:gd name="connsiteX2-59" fmla="*/ 1718646 w 1718646"/>
              <a:gd name="connsiteY2-60" fmla="*/ 6350 h 484554"/>
              <a:gd name="connsiteX3-61" fmla="*/ 1629746 w 1718646"/>
              <a:gd name="connsiteY3-62" fmla="*/ 403793 h 484554"/>
              <a:gd name="connsiteX4-63" fmla="*/ 1548985 w 1718646"/>
              <a:gd name="connsiteY4-64" fmla="*/ 484554 h 484554"/>
              <a:gd name="connsiteX5-65" fmla="*/ 47625 w 1718646"/>
              <a:gd name="connsiteY5-66" fmla="*/ 484554 h 484554"/>
              <a:gd name="connsiteX6-67" fmla="*/ 0 w 1718646"/>
              <a:gd name="connsiteY6-68" fmla="*/ 484554 h 484554"/>
              <a:gd name="connsiteX7-69" fmla="*/ 47625 w 1718646"/>
              <a:gd name="connsiteY7-70" fmla="*/ 80761 h 484554"/>
              <a:gd name="connsiteX8-71" fmla="*/ 128386 w 1718646"/>
              <a:gd name="connsiteY8-72" fmla="*/ 0 h 484554"/>
              <a:gd name="connsiteX0-73" fmla="*/ 128386 w 1718646"/>
              <a:gd name="connsiteY0-74" fmla="*/ 0 h 484554"/>
              <a:gd name="connsiteX1-75" fmla="*/ 1718646 w 1718646"/>
              <a:gd name="connsiteY1-76" fmla="*/ 6350 h 484554"/>
              <a:gd name="connsiteX2-77" fmla="*/ 1629746 w 1718646"/>
              <a:gd name="connsiteY2-78" fmla="*/ 403793 h 484554"/>
              <a:gd name="connsiteX3-79" fmla="*/ 1548985 w 1718646"/>
              <a:gd name="connsiteY3-80" fmla="*/ 484554 h 484554"/>
              <a:gd name="connsiteX4-81" fmla="*/ 47625 w 1718646"/>
              <a:gd name="connsiteY4-82" fmla="*/ 484554 h 484554"/>
              <a:gd name="connsiteX5-83" fmla="*/ 0 w 1718646"/>
              <a:gd name="connsiteY5-84" fmla="*/ 484554 h 484554"/>
              <a:gd name="connsiteX6-85" fmla="*/ 47625 w 1718646"/>
              <a:gd name="connsiteY6-86" fmla="*/ 80761 h 484554"/>
              <a:gd name="connsiteX7-87" fmla="*/ 128386 w 1718646"/>
              <a:gd name="connsiteY7-88" fmla="*/ 0 h 484554"/>
              <a:gd name="connsiteX0-89" fmla="*/ 128386 w 1715471"/>
              <a:gd name="connsiteY0-90" fmla="*/ 0 h 484554"/>
              <a:gd name="connsiteX1-91" fmla="*/ 1715471 w 1715471"/>
              <a:gd name="connsiteY1-92" fmla="*/ 0 h 484554"/>
              <a:gd name="connsiteX2-93" fmla="*/ 1629746 w 1715471"/>
              <a:gd name="connsiteY2-94" fmla="*/ 403793 h 484554"/>
              <a:gd name="connsiteX3-95" fmla="*/ 1548985 w 1715471"/>
              <a:gd name="connsiteY3-96" fmla="*/ 484554 h 484554"/>
              <a:gd name="connsiteX4-97" fmla="*/ 47625 w 1715471"/>
              <a:gd name="connsiteY4-98" fmla="*/ 484554 h 484554"/>
              <a:gd name="connsiteX5-99" fmla="*/ 0 w 1715471"/>
              <a:gd name="connsiteY5-100" fmla="*/ 484554 h 484554"/>
              <a:gd name="connsiteX6-101" fmla="*/ 47625 w 1715471"/>
              <a:gd name="connsiteY6-102" fmla="*/ 80761 h 484554"/>
              <a:gd name="connsiteX7-103" fmla="*/ 128386 w 1715471"/>
              <a:gd name="connsiteY7-104" fmla="*/ 0 h 484554"/>
              <a:gd name="connsiteX0-105" fmla="*/ 128386 w 1715471"/>
              <a:gd name="connsiteY0-106" fmla="*/ 0 h 484554"/>
              <a:gd name="connsiteX1-107" fmla="*/ 1715471 w 1715471"/>
              <a:gd name="connsiteY1-108" fmla="*/ 0 h 484554"/>
              <a:gd name="connsiteX2-109" fmla="*/ 1629746 w 1715471"/>
              <a:gd name="connsiteY2-110" fmla="*/ 403793 h 484554"/>
              <a:gd name="connsiteX3-111" fmla="*/ 1548985 w 1715471"/>
              <a:gd name="connsiteY3-112" fmla="*/ 484554 h 484554"/>
              <a:gd name="connsiteX4-113" fmla="*/ 0 w 1715471"/>
              <a:gd name="connsiteY4-114" fmla="*/ 484554 h 484554"/>
              <a:gd name="connsiteX5-115" fmla="*/ 47625 w 1715471"/>
              <a:gd name="connsiteY5-116" fmla="*/ 80761 h 484554"/>
              <a:gd name="connsiteX6-117" fmla="*/ 128386 w 1715471"/>
              <a:gd name="connsiteY6-118" fmla="*/ 0 h 484554"/>
              <a:gd name="connsiteX0-119" fmla="*/ 137911 w 1724996"/>
              <a:gd name="connsiteY0-120" fmla="*/ 0 h 484554"/>
              <a:gd name="connsiteX1-121" fmla="*/ 1724996 w 1724996"/>
              <a:gd name="connsiteY1-122" fmla="*/ 0 h 484554"/>
              <a:gd name="connsiteX2-123" fmla="*/ 1639271 w 1724996"/>
              <a:gd name="connsiteY2-124" fmla="*/ 403793 h 484554"/>
              <a:gd name="connsiteX3-125" fmla="*/ 1558510 w 1724996"/>
              <a:gd name="connsiteY3-126" fmla="*/ 484554 h 484554"/>
              <a:gd name="connsiteX4-127" fmla="*/ 0 w 1724996"/>
              <a:gd name="connsiteY4-128" fmla="*/ 484554 h 484554"/>
              <a:gd name="connsiteX5-129" fmla="*/ 57150 w 1724996"/>
              <a:gd name="connsiteY5-130" fmla="*/ 80761 h 484554"/>
              <a:gd name="connsiteX6-131" fmla="*/ 137911 w 1724996"/>
              <a:gd name="connsiteY6-132" fmla="*/ 0 h 484554"/>
              <a:gd name="connsiteX0-133" fmla="*/ 137911 w 1724996"/>
              <a:gd name="connsiteY0-134" fmla="*/ 0 h 484554"/>
              <a:gd name="connsiteX1-135" fmla="*/ 1724996 w 1724996"/>
              <a:gd name="connsiteY1-136" fmla="*/ 0 h 484554"/>
              <a:gd name="connsiteX2-137" fmla="*/ 1639271 w 1724996"/>
              <a:gd name="connsiteY2-138" fmla="*/ 403793 h 484554"/>
              <a:gd name="connsiteX3-139" fmla="*/ 1558510 w 1724996"/>
              <a:gd name="connsiteY3-140" fmla="*/ 484554 h 484554"/>
              <a:gd name="connsiteX4-141" fmla="*/ 0 w 1724996"/>
              <a:gd name="connsiteY4-142" fmla="*/ 484554 h 484554"/>
              <a:gd name="connsiteX5-143" fmla="*/ 57150 w 1724996"/>
              <a:gd name="connsiteY5-144" fmla="*/ 80761 h 484554"/>
              <a:gd name="connsiteX6-145" fmla="*/ 137911 w 1724996"/>
              <a:gd name="connsiteY6-146" fmla="*/ 0 h 484554"/>
              <a:gd name="connsiteX0-147" fmla="*/ 137911 w 1724996"/>
              <a:gd name="connsiteY0-148" fmla="*/ 0 h 484554"/>
              <a:gd name="connsiteX1-149" fmla="*/ 1724996 w 1724996"/>
              <a:gd name="connsiteY1-150" fmla="*/ 0 h 484554"/>
              <a:gd name="connsiteX2-151" fmla="*/ 1639271 w 1724996"/>
              <a:gd name="connsiteY2-152" fmla="*/ 403793 h 484554"/>
              <a:gd name="connsiteX3-153" fmla="*/ 1558510 w 1724996"/>
              <a:gd name="connsiteY3-154" fmla="*/ 484554 h 484554"/>
              <a:gd name="connsiteX4-155" fmla="*/ 0 w 1724996"/>
              <a:gd name="connsiteY4-156" fmla="*/ 484554 h 484554"/>
              <a:gd name="connsiteX5-157" fmla="*/ 57150 w 1724996"/>
              <a:gd name="connsiteY5-158" fmla="*/ 80761 h 484554"/>
              <a:gd name="connsiteX6-159" fmla="*/ 137911 w 1724996"/>
              <a:gd name="connsiteY6-160" fmla="*/ 0 h 484554"/>
              <a:gd name="connsiteX0-161" fmla="*/ 156961 w 1744046"/>
              <a:gd name="connsiteY0-162" fmla="*/ 0 h 484554"/>
              <a:gd name="connsiteX1-163" fmla="*/ 1744046 w 1744046"/>
              <a:gd name="connsiteY1-164" fmla="*/ 0 h 484554"/>
              <a:gd name="connsiteX2-165" fmla="*/ 1658321 w 1744046"/>
              <a:gd name="connsiteY2-166" fmla="*/ 403793 h 484554"/>
              <a:gd name="connsiteX3-167" fmla="*/ 1577560 w 1744046"/>
              <a:gd name="connsiteY3-168" fmla="*/ 484554 h 484554"/>
              <a:gd name="connsiteX4-169" fmla="*/ 0 w 1744046"/>
              <a:gd name="connsiteY4-170" fmla="*/ 484554 h 484554"/>
              <a:gd name="connsiteX5-171" fmla="*/ 76200 w 1744046"/>
              <a:gd name="connsiteY5-172" fmla="*/ 80761 h 484554"/>
              <a:gd name="connsiteX6-173" fmla="*/ 156961 w 1744046"/>
              <a:gd name="connsiteY6-174" fmla="*/ 0 h 484554"/>
              <a:gd name="connsiteX0-175" fmla="*/ 156961 w 1744046"/>
              <a:gd name="connsiteY0-176" fmla="*/ 0 h 484554"/>
              <a:gd name="connsiteX1-177" fmla="*/ 1744046 w 1744046"/>
              <a:gd name="connsiteY1-178" fmla="*/ 0 h 484554"/>
              <a:gd name="connsiteX2-179" fmla="*/ 1658321 w 1744046"/>
              <a:gd name="connsiteY2-180" fmla="*/ 403793 h 484554"/>
              <a:gd name="connsiteX3-181" fmla="*/ 1577560 w 1744046"/>
              <a:gd name="connsiteY3-182" fmla="*/ 484554 h 484554"/>
              <a:gd name="connsiteX4-183" fmla="*/ 0 w 1744046"/>
              <a:gd name="connsiteY4-184" fmla="*/ 484554 h 484554"/>
              <a:gd name="connsiteX5-185" fmla="*/ 76200 w 1744046"/>
              <a:gd name="connsiteY5-186" fmla="*/ 80761 h 484554"/>
              <a:gd name="connsiteX6-187" fmla="*/ 156961 w 1744046"/>
              <a:gd name="connsiteY6-188" fmla="*/ 0 h 484554"/>
              <a:gd name="connsiteX0-189" fmla="*/ 156961 w 1744046"/>
              <a:gd name="connsiteY0-190" fmla="*/ 0 h 484554"/>
              <a:gd name="connsiteX1-191" fmla="*/ 1744046 w 1744046"/>
              <a:gd name="connsiteY1-192" fmla="*/ 0 h 484554"/>
              <a:gd name="connsiteX2-193" fmla="*/ 1658321 w 1744046"/>
              <a:gd name="connsiteY2-194" fmla="*/ 403793 h 484554"/>
              <a:gd name="connsiteX3-195" fmla="*/ 1577560 w 1744046"/>
              <a:gd name="connsiteY3-196" fmla="*/ 484554 h 484554"/>
              <a:gd name="connsiteX4-197" fmla="*/ 0 w 1744046"/>
              <a:gd name="connsiteY4-198" fmla="*/ 484554 h 484554"/>
              <a:gd name="connsiteX5-199" fmla="*/ 76200 w 1744046"/>
              <a:gd name="connsiteY5-200" fmla="*/ 80761 h 484554"/>
              <a:gd name="connsiteX6-201" fmla="*/ 156961 w 1744046"/>
              <a:gd name="connsiteY6-202" fmla="*/ 0 h 484554"/>
              <a:gd name="connsiteX0-203" fmla="*/ 156961 w 1744046"/>
              <a:gd name="connsiteY0-204" fmla="*/ 0 h 484554"/>
              <a:gd name="connsiteX1-205" fmla="*/ 1744046 w 1744046"/>
              <a:gd name="connsiteY1-206" fmla="*/ 0 h 484554"/>
              <a:gd name="connsiteX2-207" fmla="*/ 1658321 w 1744046"/>
              <a:gd name="connsiteY2-208" fmla="*/ 403793 h 484554"/>
              <a:gd name="connsiteX3-209" fmla="*/ 1577560 w 1744046"/>
              <a:gd name="connsiteY3-210" fmla="*/ 484554 h 484554"/>
              <a:gd name="connsiteX4-211" fmla="*/ 0 w 1744046"/>
              <a:gd name="connsiteY4-212" fmla="*/ 484554 h 484554"/>
              <a:gd name="connsiteX5-213" fmla="*/ 76200 w 1744046"/>
              <a:gd name="connsiteY5-214" fmla="*/ 80761 h 484554"/>
              <a:gd name="connsiteX6-215" fmla="*/ 156961 w 1744046"/>
              <a:gd name="connsiteY6-216" fmla="*/ 0 h 484554"/>
              <a:gd name="connsiteX0-217" fmla="*/ 156961 w 1744046"/>
              <a:gd name="connsiteY0-218" fmla="*/ 0 h 484554"/>
              <a:gd name="connsiteX1-219" fmla="*/ 1744046 w 1744046"/>
              <a:gd name="connsiteY1-220" fmla="*/ 0 h 484554"/>
              <a:gd name="connsiteX2-221" fmla="*/ 1658321 w 1744046"/>
              <a:gd name="connsiteY2-222" fmla="*/ 403793 h 484554"/>
              <a:gd name="connsiteX3-223" fmla="*/ 1577560 w 1744046"/>
              <a:gd name="connsiteY3-224" fmla="*/ 484554 h 484554"/>
              <a:gd name="connsiteX4-225" fmla="*/ 0 w 1744046"/>
              <a:gd name="connsiteY4-226" fmla="*/ 484554 h 484554"/>
              <a:gd name="connsiteX5-227" fmla="*/ 76200 w 1744046"/>
              <a:gd name="connsiteY5-228" fmla="*/ 80761 h 484554"/>
              <a:gd name="connsiteX6-229" fmla="*/ 156961 w 1744046"/>
              <a:gd name="connsiteY6-230" fmla="*/ 0 h 484554"/>
              <a:gd name="connsiteX0-231" fmla="*/ 156961 w 1744046"/>
              <a:gd name="connsiteY0-232" fmla="*/ 0 h 484554"/>
              <a:gd name="connsiteX1-233" fmla="*/ 1744046 w 1744046"/>
              <a:gd name="connsiteY1-234" fmla="*/ 0 h 484554"/>
              <a:gd name="connsiteX2-235" fmla="*/ 1658321 w 1744046"/>
              <a:gd name="connsiteY2-236" fmla="*/ 403793 h 484554"/>
              <a:gd name="connsiteX3-237" fmla="*/ 1577560 w 1744046"/>
              <a:gd name="connsiteY3-238" fmla="*/ 484554 h 484554"/>
              <a:gd name="connsiteX4-239" fmla="*/ 0 w 1744046"/>
              <a:gd name="connsiteY4-240" fmla="*/ 484554 h 484554"/>
              <a:gd name="connsiteX5-241" fmla="*/ 76200 w 1744046"/>
              <a:gd name="connsiteY5-242" fmla="*/ 80761 h 484554"/>
              <a:gd name="connsiteX6-243" fmla="*/ 156961 w 1744046"/>
              <a:gd name="connsiteY6-244" fmla="*/ 0 h 4845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744046" h="484554">
                <a:moveTo>
                  <a:pt x="156961" y="0"/>
                </a:moveTo>
                <a:lnTo>
                  <a:pt x="1744046" y="0"/>
                </a:lnTo>
                <a:lnTo>
                  <a:pt x="1658321" y="403793"/>
                </a:lnTo>
                <a:cubicBezTo>
                  <a:pt x="1658321" y="448396"/>
                  <a:pt x="1622163" y="484554"/>
                  <a:pt x="1577560" y="484554"/>
                </a:cubicBezTo>
                <a:lnTo>
                  <a:pt x="0" y="484554"/>
                </a:lnTo>
                <a:cubicBezTo>
                  <a:pt x="19050" y="343606"/>
                  <a:pt x="57150" y="180434"/>
                  <a:pt x="76200" y="80761"/>
                </a:cubicBezTo>
                <a:cubicBezTo>
                  <a:pt x="88900" y="36158"/>
                  <a:pt x="112358" y="0"/>
                  <a:pt x="156961" y="0"/>
                </a:cubicBezTo>
                <a:close/>
              </a:path>
            </a:pathLst>
          </a:custGeom>
          <a:solidFill>
            <a:schemeClr val="accent1">
              <a:lumMod val="60000"/>
              <a:lumOff val="40000"/>
            </a:schemeClr>
          </a:solidFill>
          <a:ln w="38100">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4" name="矩形: 对角圆角 475"/>
          <p:cNvSpPr/>
          <p:nvPr/>
        </p:nvSpPr>
        <p:spPr>
          <a:xfrm>
            <a:off x="8484671" y="3648932"/>
            <a:ext cx="1143054" cy="317580"/>
          </a:xfrm>
          <a:custGeom>
            <a:avLst/>
            <a:gdLst>
              <a:gd name="connsiteX0" fmla="*/ 80761 w 1582121"/>
              <a:gd name="connsiteY0" fmla="*/ 0 h 484554"/>
              <a:gd name="connsiteX1" fmla="*/ 1582121 w 1582121"/>
              <a:gd name="connsiteY1" fmla="*/ 0 h 484554"/>
              <a:gd name="connsiteX2" fmla="*/ 1582121 w 1582121"/>
              <a:gd name="connsiteY2" fmla="*/ 0 h 484554"/>
              <a:gd name="connsiteX3" fmla="*/ 1582121 w 1582121"/>
              <a:gd name="connsiteY3" fmla="*/ 403793 h 484554"/>
              <a:gd name="connsiteX4" fmla="*/ 1501360 w 1582121"/>
              <a:gd name="connsiteY4" fmla="*/ 484554 h 484554"/>
              <a:gd name="connsiteX5" fmla="*/ 0 w 1582121"/>
              <a:gd name="connsiteY5" fmla="*/ 484554 h 484554"/>
              <a:gd name="connsiteX6" fmla="*/ 0 w 1582121"/>
              <a:gd name="connsiteY6" fmla="*/ 484554 h 484554"/>
              <a:gd name="connsiteX7" fmla="*/ 0 w 1582121"/>
              <a:gd name="connsiteY7" fmla="*/ 80761 h 484554"/>
              <a:gd name="connsiteX8" fmla="*/ 80761 w 1582121"/>
              <a:gd name="connsiteY8" fmla="*/ 0 h 484554"/>
              <a:gd name="connsiteX0-1" fmla="*/ 128386 w 1629746"/>
              <a:gd name="connsiteY0-2" fmla="*/ 0 h 484554"/>
              <a:gd name="connsiteX1-3" fmla="*/ 1629746 w 1629746"/>
              <a:gd name="connsiteY1-4" fmla="*/ 0 h 484554"/>
              <a:gd name="connsiteX2-5" fmla="*/ 1629746 w 1629746"/>
              <a:gd name="connsiteY2-6" fmla="*/ 0 h 484554"/>
              <a:gd name="connsiteX3-7" fmla="*/ 1629746 w 1629746"/>
              <a:gd name="connsiteY3-8" fmla="*/ 403793 h 484554"/>
              <a:gd name="connsiteX4-9" fmla="*/ 1548985 w 1629746"/>
              <a:gd name="connsiteY4-10" fmla="*/ 484554 h 484554"/>
              <a:gd name="connsiteX5-11" fmla="*/ 47625 w 1629746"/>
              <a:gd name="connsiteY5-12" fmla="*/ 484554 h 484554"/>
              <a:gd name="connsiteX6-13" fmla="*/ 0 w 1629746"/>
              <a:gd name="connsiteY6-14" fmla="*/ 484554 h 484554"/>
              <a:gd name="connsiteX7-15" fmla="*/ 47625 w 1629746"/>
              <a:gd name="connsiteY7-16" fmla="*/ 80761 h 484554"/>
              <a:gd name="connsiteX8-17" fmla="*/ 128386 w 1629746"/>
              <a:gd name="connsiteY8-18" fmla="*/ 0 h 484554"/>
              <a:gd name="connsiteX0-19" fmla="*/ 128386 w 1677371"/>
              <a:gd name="connsiteY0-20" fmla="*/ 9525 h 494079"/>
              <a:gd name="connsiteX1-21" fmla="*/ 1629746 w 1677371"/>
              <a:gd name="connsiteY1-22" fmla="*/ 9525 h 494079"/>
              <a:gd name="connsiteX2-23" fmla="*/ 1677371 w 1677371"/>
              <a:gd name="connsiteY2-24" fmla="*/ 0 h 494079"/>
              <a:gd name="connsiteX3-25" fmla="*/ 1629746 w 1677371"/>
              <a:gd name="connsiteY3-26" fmla="*/ 413318 h 494079"/>
              <a:gd name="connsiteX4-27" fmla="*/ 1548985 w 1677371"/>
              <a:gd name="connsiteY4-28" fmla="*/ 494079 h 494079"/>
              <a:gd name="connsiteX5-29" fmla="*/ 47625 w 1677371"/>
              <a:gd name="connsiteY5-30" fmla="*/ 494079 h 494079"/>
              <a:gd name="connsiteX6-31" fmla="*/ 0 w 1677371"/>
              <a:gd name="connsiteY6-32" fmla="*/ 494079 h 494079"/>
              <a:gd name="connsiteX7-33" fmla="*/ 47625 w 1677371"/>
              <a:gd name="connsiteY7-34" fmla="*/ 90286 h 494079"/>
              <a:gd name="connsiteX8-35" fmla="*/ 128386 w 1677371"/>
              <a:gd name="connsiteY8-36" fmla="*/ 9525 h 494079"/>
              <a:gd name="connsiteX0-37" fmla="*/ 128386 w 1705946"/>
              <a:gd name="connsiteY0-38" fmla="*/ 9525 h 494079"/>
              <a:gd name="connsiteX1-39" fmla="*/ 1629746 w 1705946"/>
              <a:gd name="connsiteY1-40" fmla="*/ 9525 h 494079"/>
              <a:gd name="connsiteX2-41" fmla="*/ 1705946 w 1705946"/>
              <a:gd name="connsiteY2-42" fmla="*/ 0 h 494079"/>
              <a:gd name="connsiteX3-43" fmla="*/ 1629746 w 1705946"/>
              <a:gd name="connsiteY3-44" fmla="*/ 413318 h 494079"/>
              <a:gd name="connsiteX4-45" fmla="*/ 1548985 w 1705946"/>
              <a:gd name="connsiteY4-46" fmla="*/ 494079 h 494079"/>
              <a:gd name="connsiteX5-47" fmla="*/ 47625 w 1705946"/>
              <a:gd name="connsiteY5-48" fmla="*/ 494079 h 494079"/>
              <a:gd name="connsiteX6-49" fmla="*/ 0 w 1705946"/>
              <a:gd name="connsiteY6-50" fmla="*/ 494079 h 494079"/>
              <a:gd name="connsiteX7-51" fmla="*/ 47625 w 1705946"/>
              <a:gd name="connsiteY7-52" fmla="*/ 90286 h 494079"/>
              <a:gd name="connsiteX8-53" fmla="*/ 128386 w 1705946"/>
              <a:gd name="connsiteY8-54" fmla="*/ 9525 h 494079"/>
              <a:gd name="connsiteX0-55" fmla="*/ 128386 w 1718646"/>
              <a:gd name="connsiteY0-56" fmla="*/ 0 h 484554"/>
              <a:gd name="connsiteX1-57" fmla="*/ 1629746 w 1718646"/>
              <a:gd name="connsiteY1-58" fmla="*/ 0 h 484554"/>
              <a:gd name="connsiteX2-59" fmla="*/ 1718646 w 1718646"/>
              <a:gd name="connsiteY2-60" fmla="*/ 6350 h 484554"/>
              <a:gd name="connsiteX3-61" fmla="*/ 1629746 w 1718646"/>
              <a:gd name="connsiteY3-62" fmla="*/ 403793 h 484554"/>
              <a:gd name="connsiteX4-63" fmla="*/ 1548985 w 1718646"/>
              <a:gd name="connsiteY4-64" fmla="*/ 484554 h 484554"/>
              <a:gd name="connsiteX5-65" fmla="*/ 47625 w 1718646"/>
              <a:gd name="connsiteY5-66" fmla="*/ 484554 h 484554"/>
              <a:gd name="connsiteX6-67" fmla="*/ 0 w 1718646"/>
              <a:gd name="connsiteY6-68" fmla="*/ 484554 h 484554"/>
              <a:gd name="connsiteX7-69" fmla="*/ 47625 w 1718646"/>
              <a:gd name="connsiteY7-70" fmla="*/ 80761 h 484554"/>
              <a:gd name="connsiteX8-71" fmla="*/ 128386 w 1718646"/>
              <a:gd name="connsiteY8-72" fmla="*/ 0 h 484554"/>
              <a:gd name="connsiteX0-73" fmla="*/ 128386 w 1718646"/>
              <a:gd name="connsiteY0-74" fmla="*/ 0 h 484554"/>
              <a:gd name="connsiteX1-75" fmla="*/ 1718646 w 1718646"/>
              <a:gd name="connsiteY1-76" fmla="*/ 6350 h 484554"/>
              <a:gd name="connsiteX2-77" fmla="*/ 1629746 w 1718646"/>
              <a:gd name="connsiteY2-78" fmla="*/ 403793 h 484554"/>
              <a:gd name="connsiteX3-79" fmla="*/ 1548985 w 1718646"/>
              <a:gd name="connsiteY3-80" fmla="*/ 484554 h 484554"/>
              <a:gd name="connsiteX4-81" fmla="*/ 47625 w 1718646"/>
              <a:gd name="connsiteY4-82" fmla="*/ 484554 h 484554"/>
              <a:gd name="connsiteX5-83" fmla="*/ 0 w 1718646"/>
              <a:gd name="connsiteY5-84" fmla="*/ 484554 h 484554"/>
              <a:gd name="connsiteX6-85" fmla="*/ 47625 w 1718646"/>
              <a:gd name="connsiteY6-86" fmla="*/ 80761 h 484554"/>
              <a:gd name="connsiteX7-87" fmla="*/ 128386 w 1718646"/>
              <a:gd name="connsiteY7-88" fmla="*/ 0 h 484554"/>
              <a:gd name="connsiteX0-89" fmla="*/ 128386 w 1715471"/>
              <a:gd name="connsiteY0-90" fmla="*/ 0 h 484554"/>
              <a:gd name="connsiteX1-91" fmla="*/ 1715471 w 1715471"/>
              <a:gd name="connsiteY1-92" fmla="*/ 0 h 484554"/>
              <a:gd name="connsiteX2-93" fmla="*/ 1629746 w 1715471"/>
              <a:gd name="connsiteY2-94" fmla="*/ 403793 h 484554"/>
              <a:gd name="connsiteX3-95" fmla="*/ 1548985 w 1715471"/>
              <a:gd name="connsiteY3-96" fmla="*/ 484554 h 484554"/>
              <a:gd name="connsiteX4-97" fmla="*/ 47625 w 1715471"/>
              <a:gd name="connsiteY4-98" fmla="*/ 484554 h 484554"/>
              <a:gd name="connsiteX5-99" fmla="*/ 0 w 1715471"/>
              <a:gd name="connsiteY5-100" fmla="*/ 484554 h 484554"/>
              <a:gd name="connsiteX6-101" fmla="*/ 47625 w 1715471"/>
              <a:gd name="connsiteY6-102" fmla="*/ 80761 h 484554"/>
              <a:gd name="connsiteX7-103" fmla="*/ 128386 w 1715471"/>
              <a:gd name="connsiteY7-104" fmla="*/ 0 h 484554"/>
              <a:gd name="connsiteX0-105" fmla="*/ 128386 w 1715471"/>
              <a:gd name="connsiteY0-106" fmla="*/ 0 h 484554"/>
              <a:gd name="connsiteX1-107" fmla="*/ 1715471 w 1715471"/>
              <a:gd name="connsiteY1-108" fmla="*/ 0 h 484554"/>
              <a:gd name="connsiteX2-109" fmla="*/ 1629746 w 1715471"/>
              <a:gd name="connsiteY2-110" fmla="*/ 403793 h 484554"/>
              <a:gd name="connsiteX3-111" fmla="*/ 1548985 w 1715471"/>
              <a:gd name="connsiteY3-112" fmla="*/ 484554 h 484554"/>
              <a:gd name="connsiteX4-113" fmla="*/ 0 w 1715471"/>
              <a:gd name="connsiteY4-114" fmla="*/ 484554 h 484554"/>
              <a:gd name="connsiteX5-115" fmla="*/ 47625 w 1715471"/>
              <a:gd name="connsiteY5-116" fmla="*/ 80761 h 484554"/>
              <a:gd name="connsiteX6-117" fmla="*/ 128386 w 1715471"/>
              <a:gd name="connsiteY6-118" fmla="*/ 0 h 484554"/>
              <a:gd name="connsiteX0-119" fmla="*/ 137911 w 1724996"/>
              <a:gd name="connsiteY0-120" fmla="*/ 0 h 484554"/>
              <a:gd name="connsiteX1-121" fmla="*/ 1724996 w 1724996"/>
              <a:gd name="connsiteY1-122" fmla="*/ 0 h 484554"/>
              <a:gd name="connsiteX2-123" fmla="*/ 1639271 w 1724996"/>
              <a:gd name="connsiteY2-124" fmla="*/ 403793 h 484554"/>
              <a:gd name="connsiteX3-125" fmla="*/ 1558510 w 1724996"/>
              <a:gd name="connsiteY3-126" fmla="*/ 484554 h 484554"/>
              <a:gd name="connsiteX4-127" fmla="*/ 0 w 1724996"/>
              <a:gd name="connsiteY4-128" fmla="*/ 484554 h 484554"/>
              <a:gd name="connsiteX5-129" fmla="*/ 57150 w 1724996"/>
              <a:gd name="connsiteY5-130" fmla="*/ 80761 h 484554"/>
              <a:gd name="connsiteX6-131" fmla="*/ 137911 w 1724996"/>
              <a:gd name="connsiteY6-132" fmla="*/ 0 h 484554"/>
              <a:gd name="connsiteX0-133" fmla="*/ 137911 w 1724996"/>
              <a:gd name="connsiteY0-134" fmla="*/ 0 h 484554"/>
              <a:gd name="connsiteX1-135" fmla="*/ 1724996 w 1724996"/>
              <a:gd name="connsiteY1-136" fmla="*/ 0 h 484554"/>
              <a:gd name="connsiteX2-137" fmla="*/ 1639271 w 1724996"/>
              <a:gd name="connsiteY2-138" fmla="*/ 403793 h 484554"/>
              <a:gd name="connsiteX3-139" fmla="*/ 1558510 w 1724996"/>
              <a:gd name="connsiteY3-140" fmla="*/ 484554 h 484554"/>
              <a:gd name="connsiteX4-141" fmla="*/ 0 w 1724996"/>
              <a:gd name="connsiteY4-142" fmla="*/ 484554 h 484554"/>
              <a:gd name="connsiteX5-143" fmla="*/ 57150 w 1724996"/>
              <a:gd name="connsiteY5-144" fmla="*/ 80761 h 484554"/>
              <a:gd name="connsiteX6-145" fmla="*/ 137911 w 1724996"/>
              <a:gd name="connsiteY6-146" fmla="*/ 0 h 484554"/>
              <a:gd name="connsiteX0-147" fmla="*/ 137911 w 1724996"/>
              <a:gd name="connsiteY0-148" fmla="*/ 0 h 484554"/>
              <a:gd name="connsiteX1-149" fmla="*/ 1724996 w 1724996"/>
              <a:gd name="connsiteY1-150" fmla="*/ 0 h 484554"/>
              <a:gd name="connsiteX2-151" fmla="*/ 1639271 w 1724996"/>
              <a:gd name="connsiteY2-152" fmla="*/ 403793 h 484554"/>
              <a:gd name="connsiteX3-153" fmla="*/ 1558510 w 1724996"/>
              <a:gd name="connsiteY3-154" fmla="*/ 484554 h 484554"/>
              <a:gd name="connsiteX4-155" fmla="*/ 0 w 1724996"/>
              <a:gd name="connsiteY4-156" fmla="*/ 484554 h 484554"/>
              <a:gd name="connsiteX5-157" fmla="*/ 57150 w 1724996"/>
              <a:gd name="connsiteY5-158" fmla="*/ 80761 h 484554"/>
              <a:gd name="connsiteX6-159" fmla="*/ 137911 w 1724996"/>
              <a:gd name="connsiteY6-160" fmla="*/ 0 h 484554"/>
              <a:gd name="connsiteX0-161" fmla="*/ 156961 w 1744046"/>
              <a:gd name="connsiteY0-162" fmla="*/ 0 h 484554"/>
              <a:gd name="connsiteX1-163" fmla="*/ 1744046 w 1744046"/>
              <a:gd name="connsiteY1-164" fmla="*/ 0 h 484554"/>
              <a:gd name="connsiteX2-165" fmla="*/ 1658321 w 1744046"/>
              <a:gd name="connsiteY2-166" fmla="*/ 403793 h 484554"/>
              <a:gd name="connsiteX3-167" fmla="*/ 1577560 w 1744046"/>
              <a:gd name="connsiteY3-168" fmla="*/ 484554 h 484554"/>
              <a:gd name="connsiteX4-169" fmla="*/ 0 w 1744046"/>
              <a:gd name="connsiteY4-170" fmla="*/ 484554 h 484554"/>
              <a:gd name="connsiteX5-171" fmla="*/ 76200 w 1744046"/>
              <a:gd name="connsiteY5-172" fmla="*/ 80761 h 484554"/>
              <a:gd name="connsiteX6-173" fmla="*/ 156961 w 1744046"/>
              <a:gd name="connsiteY6-174" fmla="*/ 0 h 484554"/>
              <a:gd name="connsiteX0-175" fmla="*/ 156961 w 1744046"/>
              <a:gd name="connsiteY0-176" fmla="*/ 0 h 484554"/>
              <a:gd name="connsiteX1-177" fmla="*/ 1744046 w 1744046"/>
              <a:gd name="connsiteY1-178" fmla="*/ 0 h 484554"/>
              <a:gd name="connsiteX2-179" fmla="*/ 1658321 w 1744046"/>
              <a:gd name="connsiteY2-180" fmla="*/ 403793 h 484554"/>
              <a:gd name="connsiteX3-181" fmla="*/ 1577560 w 1744046"/>
              <a:gd name="connsiteY3-182" fmla="*/ 484554 h 484554"/>
              <a:gd name="connsiteX4-183" fmla="*/ 0 w 1744046"/>
              <a:gd name="connsiteY4-184" fmla="*/ 484554 h 484554"/>
              <a:gd name="connsiteX5-185" fmla="*/ 76200 w 1744046"/>
              <a:gd name="connsiteY5-186" fmla="*/ 80761 h 484554"/>
              <a:gd name="connsiteX6-187" fmla="*/ 156961 w 1744046"/>
              <a:gd name="connsiteY6-188" fmla="*/ 0 h 484554"/>
              <a:gd name="connsiteX0-189" fmla="*/ 156961 w 1744046"/>
              <a:gd name="connsiteY0-190" fmla="*/ 0 h 484554"/>
              <a:gd name="connsiteX1-191" fmla="*/ 1744046 w 1744046"/>
              <a:gd name="connsiteY1-192" fmla="*/ 0 h 484554"/>
              <a:gd name="connsiteX2-193" fmla="*/ 1658321 w 1744046"/>
              <a:gd name="connsiteY2-194" fmla="*/ 403793 h 484554"/>
              <a:gd name="connsiteX3-195" fmla="*/ 1577560 w 1744046"/>
              <a:gd name="connsiteY3-196" fmla="*/ 484554 h 484554"/>
              <a:gd name="connsiteX4-197" fmla="*/ 0 w 1744046"/>
              <a:gd name="connsiteY4-198" fmla="*/ 484554 h 484554"/>
              <a:gd name="connsiteX5-199" fmla="*/ 76200 w 1744046"/>
              <a:gd name="connsiteY5-200" fmla="*/ 80761 h 484554"/>
              <a:gd name="connsiteX6-201" fmla="*/ 156961 w 1744046"/>
              <a:gd name="connsiteY6-202" fmla="*/ 0 h 484554"/>
              <a:gd name="connsiteX0-203" fmla="*/ 156961 w 1744046"/>
              <a:gd name="connsiteY0-204" fmla="*/ 0 h 484554"/>
              <a:gd name="connsiteX1-205" fmla="*/ 1744046 w 1744046"/>
              <a:gd name="connsiteY1-206" fmla="*/ 0 h 484554"/>
              <a:gd name="connsiteX2-207" fmla="*/ 1658321 w 1744046"/>
              <a:gd name="connsiteY2-208" fmla="*/ 403793 h 484554"/>
              <a:gd name="connsiteX3-209" fmla="*/ 1577560 w 1744046"/>
              <a:gd name="connsiteY3-210" fmla="*/ 484554 h 484554"/>
              <a:gd name="connsiteX4-211" fmla="*/ 0 w 1744046"/>
              <a:gd name="connsiteY4-212" fmla="*/ 484554 h 484554"/>
              <a:gd name="connsiteX5-213" fmla="*/ 76200 w 1744046"/>
              <a:gd name="connsiteY5-214" fmla="*/ 80761 h 484554"/>
              <a:gd name="connsiteX6-215" fmla="*/ 156961 w 1744046"/>
              <a:gd name="connsiteY6-216" fmla="*/ 0 h 484554"/>
              <a:gd name="connsiteX0-217" fmla="*/ 156961 w 1744046"/>
              <a:gd name="connsiteY0-218" fmla="*/ 0 h 484554"/>
              <a:gd name="connsiteX1-219" fmla="*/ 1744046 w 1744046"/>
              <a:gd name="connsiteY1-220" fmla="*/ 0 h 484554"/>
              <a:gd name="connsiteX2-221" fmla="*/ 1658321 w 1744046"/>
              <a:gd name="connsiteY2-222" fmla="*/ 403793 h 484554"/>
              <a:gd name="connsiteX3-223" fmla="*/ 1577560 w 1744046"/>
              <a:gd name="connsiteY3-224" fmla="*/ 484554 h 484554"/>
              <a:gd name="connsiteX4-225" fmla="*/ 0 w 1744046"/>
              <a:gd name="connsiteY4-226" fmla="*/ 484554 h 484554"/>
              <a:gd name="connsiteX5-227" fmla="*/ 76200 w 1744046"/>
              <a:gd name="connsiteY5-228" fmla="*/ 80761 h 484554"/>
              <a:gd name="connsiteX6-229" fmla="*/ 156961 w 1744046"/>
              <a:gd name="connsiteY6-230" fmla="*/ 0 h 484554"/>
              <a:gd name="connsiteX0-231" fmla="*/ 156961 w 1744046"/>
              <a:gd name="connsiteY0-232" fmla="*/ 0 h 484554"/>
              <a:gd name="connsiteX1-233" fmla="*/ 1744046 w 1744046"/>
              <a:gd name="connsiteY1-234" fmla="*/ 0 h 484554"/>
              <a:gd name="connsiteX2-235" fmla="*/ 1658321 w 1744046"/>
              <a:gd name="connsiteY2-236" fmla="*/ 403793 h 484554"/>
              <a:gd name="connsiteX3-237" fmla="*/ 1577560 w 1744046"/>
              <a:gd name="connsiteY3-238" fmla="*/ 484554 h 484554"/>
              <a:gd name="connsiteX4-239" fmla="*/ 0 w 1744046"/>
              <a:gd name="connsiteY4-240" fmla="*/ 484554 h 484554"/>
              <a:gd name="connsiteX5-241" fmla="*/ 76200 w 1744046"/>
              <a:gd name="connsiteY5-242" fmla="*/ 80761 h 484554"/>
              <a:gd name="connsiteX6-243" fmla="*/ 156961 w 1744046"/>
              <a:gd name="connsiteY6-244" fmla="*/ 0 h 4845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744046" h="484554">
                <a:moveTo>
                  <a:pt x="156961" y="0"/>
                </a:moveTo>
                <a:lnTo>
                  <a:pt x="1744046" y="0"/>
                </a:lnTo>
                <a:lnTo>
                  <a:pt x="1658321" y="403793"/>
                </a:lnTo>
                <a:cubicBezTo>
                  <a:pt x="1658321" y="448396"/>
                  <a:pt x="1622163" y="484554"/>
                  <a:pt x="1577560" y="484554"/>
                </a:cubicBezTo>
                <a:lnTo>
                  <a:pt x="0" y="484554"/>
                </a:lnTo>
                <a:cubicBezTo>
                  <a:pt x="19050" y="343606"/>
                  <a:pt x="57150" y="180434"/>
                  <a:pt x="76200" y="80761"/>
                </a:cubicBezTo>
                <a:cubicBezTo>
                  <a:pt x="88900" y="36158"/>
                  <a:pt x="112358" y="0"/>
                  <a:pt x="156961" y="0"/>
                </a:cubicBezTo>
                <a:close/>
              </a:path>
            </a:pathLst>
          </a:custGeom>
          <a:solidFill>
            <a:schemeClr val="accent1">
              <a:lumMod val="60000"/>
              <a:lumOff val="40000"/>
            </a:schemeClr>
          </a:solidFill>
          <a:ln w="38100">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5" name="矩形: 对角圆角 475"/>
          <p:cNvSpPr/>
          <p:nvPr/>
        </p:nvSpPr>
        <p:spPr>
          <a:xfrm>
            <a:off x="6801763" y="3233597"/>
            <a:ext cx="1143054" cy="317580"/>
          </a:xfrm>
          <a:custGeom>
            <a:avLst/>
            <a:gdLst>
              <a:gd name="connsiteX0" fmla="*/ 80761 w 1582121"/>
              <a:gd name="connsiteY0" fmla="*/ 0 h 484554"/>
              <a:gd name="connsiteX1" fmla="*/ 1582121 w 1582121"/>
              <a:gd name="connsiteY1" fmla="*/ 0 h 484554"/>
              <a:gd name="connsiteX2" fmla="*/ 1582121 w 1582121"/>
              <a:gd name="connsiteY2" fmla="*/ 0 h 484554"/>
              <a:gd name="connsiteX3" fmla="*/ 1582121 w 1582121"/>
              <a:gd name="connsiteY3" fmla="*/ 403793 h 484554"/>
              <a:gd name="connsiteX4" fmla="*/ 1501360 w 1582121"/>
              <a:gd name="connsiteY4" fmla="*/ 484554 h 484554"/>
              <a:gd name="connsiteX5" fmla="*/ 0 w 1582121"/>
              <a:gd name="connsiteY5" fmla="*/ 484554 h 484554"/>
              <a:gd name="connsiteX6" fmla="*/ 0 w 1582121"/>
              <a:gd name="connsiteY6" fmla="*/ 484554 h 484554"/>
              <a:gd name="connsiteX7" fmla="*/ 0 w 1582121"/>
              <a:gd name="connsiteY7" fmla="*/ 80761 h 484554"/>
              <a:gd name="connsiteX8" fmla="*/ 80761 w 1582121"/>
              <a:gd name="connsiteY8" fmla="*/ 0 h 484554"/>
              <a:gd name="connsiteX0-1" fmla="*/ 128386 w 1629746"/>
              <a:gd name="connsiteY0-2" fmla="*/ 0 h 484554"/>
              <a:gd name="connsiteX1-3" fmla="*/ 1629746 w 1629746"/>
              <a:gd name="connsiteY1-4" fmla="*/ 0 h 484554"/>
              <a:gd name="connsiteX2-5" fmla="*/ 1629746 w 1629746"/>
              <a:gd name="connsiteY2-6" fmla="*/ 0 h 484554"/>
              <a:gd name="connsiteX3-7" fmla="*/ 1629746 w 1629746"/>
              <a:gd name="connsiteY3-8" fmla="*/ 403793 h 484554"/>
              <a:gd name="connsiteX4-9" fmla="*/ 1548985 w 1629746"/>
              <a:gd name="connsiteY4-10" fmla="*/ 484554 h 484554"/>
              <a:gd name="connsiteX5-11" fmla="*/ 47625 w 1629746"/>
              <a:gd name="connsiteY5-12" fmla="*/ 484554 h 484554"/>
              <a:gd name="connsiteX6-13" fmla="*/ 0 w 1629746"/>
              <a:gd name="connsiteY6-14" fmla="*/ 484554 h 484554"/>
              <a:gd name="connsiteX7-15" fmla="*/ 47625 w 1629746"/>
              <a:gd name="connsiteY7-16" fmla="*/ 80761 h 484554"/>
              <a:gd name="connsiteX8-17" fmla="*/ 128386 w 1629746"/>
              <a:gd name="connsiteY8-18" fmla="*/ 0 h 484554"/>
              <a:gd name="connsiteX0-19" fmla="*/ 128386 w 1677371"/>
              <a:gd name="connsiteY0-20" fmla="*/ 9525 h 494079"/>
              <a:gd name="connsiteX1-21" fmla="*/ 1629746 w 1677371"/>
              <a:gd name="connsiteY1-22" fmla="*/ 9525 h 494079"/>
              <a:gd name="connsiteX2-23" fmla="*/ 1677371 w 1677371"/>
              <a:gd name="connsiteY2-24" fmla="*/ 0 h 494079"/>
              <a:gd name="connsiteX3-25" fmla="*/ 1629746 w 1677371"/>
              <a:gd name="connsiteY3-26" fmla="*/ 413318 h 494079"/>
              <a:gd name="connsiteX4-27" fmla="*/ 1548985 w 1677371"/>
              <a:gd name="connsiteY4-28" fmla="*/ 494079 h 494079"/>
              <a:gd name="connsiteX5-29" fmla="*/ 47625 w 1677371"/>
              <a:gd name="connsiteY5-30" fmla="*/ 494079 h 494079"/>
              <a:gd name="connsiteX6-31" fmla="*/ 0 w 1677371"/>
              <a:gd name="connsiteY6-32" fmla="*/ 494079 h 494079"/>
              <a:gd name="connsiteX7-33" fmla="*/ 47625 w 1677371"/>
              <a:gd name="connsiteY7-34" fmla="*/ 90286 h 494079"/>
              <a:gd name="connsiteX8-35" fmla="*/ 128386 w 1677371"/>
              <a:gd name="connsiteY8-36" fmla="*/ 9525 h 494079"/>
              <a:gd name="connsiteX0-37" fmla="*/ 128386 w 1705946"/>
              <a:gd name="connsiteY0-38" fmla="*/ 9525 h 494079"/>
              <a:gd name="connsiteX1-39" fmla="*/ 1629746 w 1705946"/>
              <a:gd name="connsiteY1-40" fmla="*/ 9525 h 494079"/>
              <a:gd name="connsiteX2-41" fmla="*/ 1705946 w 1705946"/>
              <a:gd name="connsiteY2-42" fmla="*/ 0 h 494079"/>
              <a:gd name="connsiteX3-43" fmla="*/ 1629746 w 1705946"/>
              <a:gd name="connsiteY3-44" fmla="*/ 413318 h 494079"/>
              <a:gd name="connsiteX4-45" fmla="*/ 1548985 w 1705946"/>
              <a:gd name="connsiteY4-46" fmla="*/ 494079 h 494079"/>
              <a:gd name="connsiteX5-47" fmla="*/ 47625 w 1705946"/>
              <a:gd name="connsiteY5-48" fmla="*/ 494079 h 494079"/>
              <a:gd name="connsiteX6-49" fmla="*/ 0 w 1705946"/>
              <a:gd name="connsiteY6-50" fmla="*/ 494079 h 494079"/>
              <a:gd name="connsiteX7-51" fmla="*/ 47625 w 1705946"/>
              <a:gd name="connsiteY7-52" fmla="*/ 90286 h 494079"/>
              <a:gd name="connsiteX8-53" fmla="*/ 128386 w 1705946"/>
              <a:gd name="connsiteY8-54" fmla="*/ 9525 h 494079"/>
              <a:gd name="connsiteX0-55" fmla="*/ 128386 w 1718646"/>
              <a:gd name="connsiteY0-56" fmla="*/ 0 h 484554"/>
              <a:gd name="connsiteX1-57" fmla="*/ 1629746 w 1718646"/>
              <a:gd name="connsiteY1-58" fmla="*/ 0 h 484554"/>
              <a:gd name="connsiteX2-59" fmla="*/ 1718646 w 1718646"/>
              <a:gd name="connsiteY2-60" fmla="*/ 6350 h 484554"/>
              <a:gd name="connsiteX3-61" fmla="*/ 1629746 w 1718646"/>
              <a:gd name="connsiteY3-62" fmla="*/ 403793 h 484554"/>
              <a:gd name="connsiteX4-63" fmla="*/ 1548985 w 1718646"/>
              <a:gd name="connsiteY4-64" fmla="*/ 484554 h 484554"/>
              <a:gd name="connsiteX5-65" fmla="*/ 47625 w 1718646"/>
              <a:gd name="connsiteY5-66" fmla="*/ 484554 h 484554"/>
              <a:gd name="connsiteX6-67" fmla="*/ 0 w 1718646"/>
              <a:gd name="connsiteY6-68" fmla="*/ 484554 h 484554"/>
              <a:gd name="connsiteX7-69" fmla="*/ 47625 w 1718646"/>
              <a:gd name="connsiteY7-70" fmla="*/ 80761 h 484554"/>
              <a:gd name="connsiteX8-71" fmla="*/ 128386 w 1718646"/>
              <a:gd name="connsiteY8-72" fmla="*/ 0 h 484554"/>
              <a:gd name="connsiteX0-73" fmla="*/ 128386 w 1718646"/>
              <a:gd name="connsiteY0-74" fmla="*/ 0 h 484554"/>
              <a:gd name="connsiteX1-75" fmla="*/ 1718646 w 1718646"/>
              <a:gd name="connsiteY1-76" fmla="*/ 6350 h 484554"/>
              <a:gd name="connsiteX2-77" fmla="*/ 1629746 w 1718646"/>
              <a:gd name="connsiteY2-78" fmla="*/ 403793 h 484554"/>
              <a:gd name="connsiteX3-79" fmla="*/ 1548985 w 1718646"/>
              <a:gd name="connsiteY3-80" fmla="*/ 484554 h 484554"/>
              <a:gd name="connsiteX4-81" fmla="*/ 47625 w 1718646"/>
              <a:gd name="connsiteY4-82" fmla="*/ 484554 h 484554"/>
              <a:gd name="connsiteX5-83" fmla="*/ 0 w 1718646"/>
              <a:gd name="connsiteY5-84" fmla="*/ 484554 h 484554"/>
              <a:gd name="connsiteX6-85" fmla="*/ 47625 w 1718646"/>
              <a:gd name="connsiteY6-86" fmla="*/ 80761 h 484554"/>
              <a:gd name="connsiteX7-87" fmla="*/ 128386 w 1718646"/>
              <a:gd name="connsiteY7-88" fmla="*/ 0 h 484554"/>
              <a:gd name="connsiteX0-89" fmla="*/ 128386 w 1715471"/>
              <a:gd name="connsiteY0-90" fmla="*/ 0 h 484554"/>
              <a:gd name="connsiteX1-91" fmla="*/ 1715471 w 1715471"/>
              <a:gd name="connsiteY1-92" fmla="*/ 0 h 484554"/>
              <a:gd name="connsiteX2-93" fmla="*/ 1629746 w 1715471"/>
              <a:gd name="connsiteY2-94" fmla="*/ 403793 h 484554"/>
              <a:gd name="connsiteX3-95" fmla="*/ 1548985 w 1715471"/>
              <a:gd name="connsiteY3-96" fmla="*/ 484554 h 484554"/>
              <a:gd name="connsiteX4-97" fmla="*/ 47625 w 1715471"/>
              <a:gd name="connsiteY4-98" fmla="*/ 484554 h 484554"/>
              <a:gd name="connsiteX5-99" fmla="*/ 0 w 1715471"/>
              <a:gd name="connsiteY5-100" fmla="*/ 484554 h 484554"/>
              <a:gd name="connsiteX6-101" fmla="*/ 47625 w 1715471"/>
              <a:gd name="connsiteY6-102" fmla="*/ 80761 h 484554"/>
              <a:gd name="connsiteX7-103" fmla="*/ 128386 w 1715471"/>
              <a:gd name="connsiteY7-104" fmla="*/ 0 h 484554"/>
              <a:gd name="connsiteX0-105" fmla="*/ 128386 w 1715471"/>
              <a:gd name="connsiteY0-106" fmla="*/ 0 h 484554"/>
              <a:gd name="connsiteX1-107" fmla="*/ 1715471 w 1715471"/>
              <a:gd name="connsiteY1-108" fmla="*/ 0 h 484554"/>
              <a:gd name="connsiteX2-109" fmla="*/ 1629746 w 1715471"/>
              <a:gd name="connsiteY2-110" fmla="*/ 403793 h 484554"/>
              <a:gd name="connsiteX3-111" fmla="*/ 1548985 w 1715471"/>
              <a:gd name="connsiteY3-112" fmla="*/ 484554 h 484554"/>
              <a:gd name="connsiteX4-113" fmla="*/ 0 w 1715471"/>
              <a:gd name="connsiteY4-114" fmla="*/ 484554 h 484554"/>
              <a:gd name="connsiteX5-115" fmla="*/ 47625 w 1715471"/>
              <a:gd name="connsiteY5-116" fmla="*/ 80761 h 484554"/>
              <a:gd name="connsiteX6-117" fmla="*/ 128386 w 1715471"/>
              <a:gd name="connsiteY6-118" fmla="*/ 0 h 484554"/>
              <a:gd name="connsiteX0-119" fmla="*/ 137911 w 1724996"/>
              <a:gd name="connsiteY0-120" fmla="*/ 0 h 484554"/>
              <a:gd name="connsiteX1-121" fmla="*/ 1724996 w 1724996"/>
              <a:gd name="connsiteY1-122" fmla="*/ 0 h 484554"/>
              <a:gd name="connsiteX2-123" fmla="*/ 1639271 w 1724996"/>
              <a:gd name="connsiteY2-124" fmla="*/ 403793 h 484554"/>
              <a:gd name="connsiteX3-125" fmla="*/ 1558510 w 1724996"/>
              <a:gd name="connsiteY3-126" fmla="*/ 484554 h 484554"/>
              <a:gd name="connsiteX4-127" fmla="*/ 0 w 1724996"/>
              <a:gd name="connsiteY4-128" fmla="*/ 484554 h 484554"/>
              <a:gd name="connsiteX5-129" fmla="*/ 57150 w 1724996"/>
              <a:gd name="connsiteY5-130" fmla="*/ 80761 h 484554"/>
              <a:gd name="connsiteX6-131" fmla="*/ 137911 w 1724996"/>
              <a:gd name="connsiteY6-132" fmla="*/ 0 h 484554"/>
              <a:gd name="connsiteX0-133" fmla="*/ 137911 w 1724996"/>
              <a:gd name="connsiteY0-134" fmla="*/ 0 h 484554"/>
              <a:gd name="connsiteX1-135" fmla="*/ 1724996 w 1724996"/>
              <a:gd name="connsiteY1-136" fmla="*/ 0 h 484554"/>
              <a:gd name="connsiteX2-137" fmla="*/ 1639271 w 1724996"/>
              <a:gd name="connsiteY2-138" fmla="*/ 403793 h 484554"/>
              <a:gd name="connsiteX3-139" fmla="*/ 1558510 w 1724996"/>
              <a:gd name="connsiteY3-140" fmla="*/ 484554 h 484554"/>
              <a:gd name="connsiteX4-141" fmla="*/ 0 w 1724996"/>
              <a:gd name="connsiteY4-142" fmla="*/ 484554 h 484554"/>
              <a:gd name="connsiteX5-143" fmla="*/ 57150 w 1724996"/>
              <a:gd name="connsiteY5-144" fmla="*/ 80761 h 484554"/>
              <a:gd name="connsiteX6-145" fmla="*/ 137911 w 1724996"/>
              <a:gd name="connsiteY6-146" fmla="*/ 0 h 484554"/>
              <a:gd name="connsiteX0-147" fmla="*/ 137911 w 1724996"/>
              <a:gd name="connsiteY0-148" fmla="*/ 0 h 484554"/>
              <a:gd name="connsiteX1-149" fmla="*/ 1724996 w 1724996"/>
              <a:gd name="connsiteY1-150" fmla="*/ 0 h 484554"/>
              <a:gd name="connsiteX2-151" fmla="*/ 1639271 w 1724996"/>
              <a:gd name="connsiteY2-152" fmla="*/ 403793 h 484554"/>
              <a:gd name="connsiteX3-153" fmla="*/ 1558510 w 1724996"/>
              <a:gd name="connsiteY3-154" fmla="*/ 484554 h 484554"/>
              <a:gd name="connsiteX4-155" fmla="*/ 0 w 1724996"/>
              <a:gd name="connsiteY4-156" fmla="*/ 484554 h 484554"/>
              <a:gd name="connsiteX5-157" fmla="*/ 57150 w 1724996"/>
              <a:gd name="connsiteY5-158" fmla="*/ 80761 h 484554"/>
              <a:gd name="connsiteX6-159" fmla="*/ 137911 w 1724996"/>
              <a:gd name="connsiteY6-160" fmla="*/ 0 h 484554"/>
              <a:gd name="connsiteX0-161" fmla="*/ 156961 w 1744046"/>
              <a:gd name="connsiteY0-162" fmla="*/ 0 h 484554"/>
              <a:gd name="connsiteX1-163" fmla="*/ 1744046 w 1744046"/>
              <a:gd name="connsiteY1-164" fmla="*/ 0 h 484554"/>
              <a:gd name="connsiteX2-165" fmla="*/ 1658321 w 1744046"/>
              <a:gd name="connsiteY2-166" fmla="*/ 403793 h 484554"/>
              <a:gd name="connsiteX3-167" fmla="*/ 1577560 w 1744046"/>
              <a:gd name="connsiteY3-168" fmla="*/ 484554 h 484554"/>
              <a:gd name="connsiteX4-169" fmla="*/ 0 w 1744046"/>
              <a:gd name="connsiteY4-170" fmla="*/ 484554 h 484554"/>
              <a:gd name="connsiteX5-171" fmla="*/ 76200 w 1744046"/>
              <a:gd name="connsiteY5-172" fmla="*/ 80761 h 484554"/>
              <a:gd name="connsiteX6-173" fmla="*/ 156961 w 1744046"/>
              <a:gd name="connsiteY6-174" fmla="*/ 0 h 484554"/>
              <a:gd name="connsiteX0-175" fmla="*/ 156961 w 1744046"/>
              <a:gd name="connsiteY0-176" fmla="*/ 0 h 484554"/>
              <a:gd name="connsiteX1-177" fmla="*/ 1744046 w 1744046"/>
              <a:gd name="connsiteY1-178" fmla="*/ 0 h 484554"/>
              <a:gd name="connsiteX2-179" fmla="*/ 1658321 w 1744046"/>
              <a:gd name="connsiteY2-180" fmla="*/ 403793 h 484554"/>
              <a:gd name="connsiteX3-181" fmla="*/ 1577560 w 1744046"/>
              <a:gd name="connsiteY3-182" fmla="*/ 484554 h 484554"/>
              <a:gd name="connsiteX4-183" fmla="*/ 0 w 1744046"/>
              <a:gd name="connsiteY4-184" fmla="*/ 484554 h 484554"/>
              <a:gd name="connsiteX5-185" fmla="*/ 76200 w 1744046"/>
              <a:gd name="connsiteY5-186" fmla="*/ 80761 h 484554"/>
              <a:gd name="connsiteX6-187" fmla="*/ 156961 w 1744046"/>
              <a:gd name="connsiteY6-188" fmla="*/ 0 h 484554"/>
              <a:gd name="connsiteX0-189" fmla="*/ 156961 w 1744046"/>
              <a:gd name="connsiteY0-190" fmla="*/ 0 h 484554"/>
              <a:gd name="connsiteX1-191" fmla="*/ 1744046 w 1744046"/>
              <a:gd name="connsiteY1-192" fmla="*/ 0 h 484554"/>
              <a:gd name="connsiteX2-193" fmla="*/ 1658321 w 1744046"/>
              <a:gd name="connsiteY2-194" fmla="*/ 403793 h 484554"/>
              <a:gd name="connsiteX3-195" fmla="*/ 1577560 w 1744046"/>
              <a:gd name="connsiteY3-196" fmla="*/ 484554 h 484554"/>
              <a:gd name="connsiteX4-197" fmla="*/ 0 w 1744046"/>
              <a:gd name="connsiteY4-198" fmla="*/ 484554 h 484554"/>
              <a:gd name="connsiteX5-199" fmla="*/ 76200 w 1744046"/>
              <a:gd name="connsiteY5-200" fmla="*/ 80761 h 484554"/>
              <a:gd name="connsiteX6-201" fmla="*/ 156961 w 1744046"/>
              <a:gd name="connsiteY6-202" fmla="*/ 0 h 484554"/>
              <a:gd name="connsiteX0-203" fmla="*/ 156961 w 1744046"/>
              <a:gd name="connsiteY0-204" fmla="*/ 0 h 484554"/>
              <a:gd name="connsiteX1-205" fmla="*/ 1744046 w 1744046"/>
              <a:gd name="connsiteY1-206" fmla="*/ 0 h 484554"/>
              <a:gd name="connsiteX2-207" fmla="*/ 1658321 w 1744046"/>
              <a:gd name="connsiteY2-208" fmla="*/ 403793 h 484554"/>
              <a:gd name="connsiteX3-209" fmla="*/ 1577560 w 1744046"/>
              <a:gd name="connsiteY3-210" fmla="*/ 484554 h 484554"/>
              <a:gd name="connsiteX4-211" fmla="*/ 0 w 1744046"/>
              <a:gd name="connsiteY4-212" fmla="*/ 484554 h 484554"/>
              <a:gd name="connsiteX5-213" fmla="*/ 76200 w 1744046"/>
              <a:gd name="connsiteY5-214" fmla="*/ 80761 h 484554"/>
              <a:gd name="connsiteX6-215" fmla="*/ 156961 w 1744046"/>
              <a:gd name="connsiteY6-216" fmla="*/ 0 h 484554"/>
              <a:gd name="connsiteX0-217" fmla="*/ 156961 w 1744046"/>
              <a:gd name="connsiteY0-218" fmla="*/ 0 h 484554"/>
              <a:gd name="connsiteX1-219" fmla="*/ 1744046 w 1744046"/>
              <a:gd name="connsiteY1-220" fmla="*/ 0 h 484554"/>
              <a:gd name="connsiteX2-221" fmla="*/ 1658321 w 1744046"/>
              <a:gd name="connsiteY2-222" fmla="*/ 403793 h 484554"/>
              <a:gd name="connsiteX3-223" fmla="*/ 1577560 w 1744046"/>
              <a:gd name="connsiteY3-224" fmla="*/ 484554 h 484554"/>
              <a:gd name="connsiteX4-225" fmla="*/ 0 w 1744046"/>
              <a:gd name="connsiteY4-226" fmla="*/ 484554 h 484554"/>
              <a:gd name="connsiteX5-227" fmla="*/ 76200 w 1744046"/>
              <a:gd name="connsiteY5-228" fmla="*/ 80761 h 484554"/>
              <a:gd name="connsiteX6-229" fmla="*/ 156961 w 1744046"/>
              <a:gd name="connsiteY6-230" fmla="*/ 0 h 484554"/>
              <a:gd name="connsiteX0-231" fmla="*/ 156961 w 1744046"/>
              <a:gd name="connsiteY0-232" fmla="*/ 0 h 484554"/>
              <a:gd name="connsiteX1-233" fmla="*/ 1744046 w 1744046"/>
              <a:gd name="connsiteY1-234" fmla="*/ 0 h 484554"/>
              <a:gd name="connsiteX2-235" fmla="*/ 1658321 w 1744046"/>
              <a:gd name="connsiteY2-236" fmla="*/ 403793 h 484554"/>
              <a:gd name="connsiteX3-237" fmla="*/ 1577560 w 1744046"/>
              <a:gd name="connsiteY3-238" fmla="*/ 484554 h 484554"/>
              <a:gd name="connsiteX4-239" fmla="*/ 0 w 1744046"/>
              <a:gd name="connsiteY4-240" fmla="*/ 484554 h 484554"/>
              <a:gd name="connsiteX5-241" fmla="*/ 76200 w 1744046"/>
              <a:gd name="connsiteY5-242" fmla="*/ 80761 h 484554"/>
              <a:gd name="connsiteX6-243" fmla="*/ 156961 w 1744046"/>
              <a:gd name="connsiteY6-244" fmla="*/ 0 h 4845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744046" h="484554">
                <a:moveTo>
                  <a:pt x="156961" y="0"/>
                </a:moveTo>
                <a:lnTo>
                  <a:pt x="1744046" y="0"/>
                </a:lnTo>
                <a:lnTo>
                  <a:pt x="1658321" y="403793"/>
                </a:lnTo>
                <a:cubicBezTo>
                  <a:pt x="1658321" y="448396"/>
                  <a:pt x="1622163" y="484554"/>
                  <a:pt x="1577560" y="484554"/>
                </a:cubicBezTo>
                <a:lnTo>
                  <a:pt x="0" y="484554"/>
                </a:lnTo>
                <a:cubicBezTo>
                  <a:pt x="19050" y="343606"/>
                  <a:pt x="57150" y="180434"/>
                  <a:pt x="76200" y="80761"/>
                </a:cubicBezTo>
                <a:cubicBezTo>
                  <a:pt x="88900" y="36158"/>
                  <a:pt x="112358" y="0"/>
                  <a:pt x="156961" y="0"/>
                </a:cubicBezTo>
                <a:close/>
              </a:path>
            </a:pathLst>
          </a:custGeom>
          <a:solidFill>
            <a:schemeClr val="accent1">
              <a:lumMod val="60000"/>
              <a:lumOff val="40000"/>
            </a:schemeClr>
          </a:solidFill>
          <a:ln w="38100">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6" name="矩形: 对角圆角 475"/>
          <p:cNvSpPr/>
          <p:nvPr/>
        </p:nvSpPr>
        <p:spPr>
          <a:xfrm>
            <a:off x="8484671" y="3233597"/>
            <a:ext cx="1143054" cy="317580"/>
          </a:xfrm>
          <a:custGeom>
            <a:avLst/>
            <a:gdLst>
              <a:gd name="connsiteX0" fmla="*/ 80761 w 1582121"/>
              <a:gd name="connsiteY0" fmla="*/ 0 h 484554"/>
              <a:gd name="connsiteX1" fmla="*/ 1582121 w 1582121"/>
              <a:gd name="connsiteY1" fmla="*/ 0 h 484554"/>
              <a:gd name="connsiteX2" fmla="*/ 1582121 w 1582121"/>
              <a:gd name="connsiteY2" fmla="*/ 0 h 484554"/>
              <a:gd name="connsiteX3" fmla="*/ 1582121 w 1582121"/>
              <a:gd name="connsiteY3" fmla="*/ 403793 h 484554"/>
              <a:gd name="connsiteX4" fmla="*/ 1501360 w 1582121"/>
              <a:gd name="connsiteY4" fmla="*/ 484554 h 484554"/>
              <a:gd name="connsiteX5" fmla="*/ 0 w 1582121"/>
              <a:gd name="connsiteY5" fmla="*/ 484554 h 484554"/>
              <a:gd name="connsiteX6" fmla="*/ 0 w 1582121"/>
              <a:gd name="connsiteY6" fmla="*/ 484554 h 484554"/>
              <a:gd name="connsiteX7" fmla="*/ 0 w 1582121"/>
              <a:gd name="connsiteY7" fmla="*/ 80761 h 484554"/>
              <a:gd name="connsiteX8" fmla="*/ 80761 w 1582121"/>
              <a:gd name="connsiteY8" fmla="*/ 0 h 484554"/>
              <a:gd name="connsiteX0-1" fmla="*/ 128386 w 1629746"/>
              <a:gd name="connsiteY0-2" fmla="*/ 0 h 484554"/>
              <a:gd name="connsiteX1-3" fmla="*/ 1629746 w 1629746"/>
              <a:gd name="connsiteY1-4" fmla="*/ 0 h 484554"/>
              <a:gd name="connsiteX2-5" fmla="*/ 1629746 w 1629746"/>
              <a:gd name="connsiteY2-6" fmla="*/ 0 h 484554"/>
              <a:gd name="connsiteX3-7" fmla="*/ 1629746 w 1629746"/>
              <a:gd name="connsiteY3-8" fmla="*/ 403793 h 484554"/>
              <a:gd name="connsiteX4-9" fmla="*/ 1548985 w 1629746"/>
              <a:gd name="connsiteY4-10" fmla="*/ 484554 h 484554"/>
              <a:gd name="connsiteX5-11" fmla="*/ 47625 w 1629746"/>
              <a:gd name="connsiteY5-12" fmla="*/ 484554 h 484554"/>
              <a:gd name="connsiteX6-13" fmla="*/ 0 w 1629746"/>
              <a:gd name="connsiteY6-14" fmla="*/ 484554 h 484554"/>
              <a:gd name="connsiteX7-15" fmla="*/ 47625 w 1629746"/>
              <a:gd name="connsiteY7-16" fmla="*/ 80761 h 484554"/>
              <a:gd name="connsiteX8-17" fmla="*/ 128386 w 1629746"/>
              <a:gd name="connsiteY8-18" fmla="*/ 0 h 484554"/>
              <a:gd name="connsiteX0-19" fmla="*/ 128386 w 1677371"/>
              <a:gd name="connsiteY0-20" fmla="*/ 9525 h 494079"/>
              <a:gd name="connsiteX1-21" fmla="*/ 1629746 w 1677371"/>
              <a:gd name="connsiteY1-22" fmla="*/ 9525 h 494079"/>
              <a:gd name="connsiteX2-23" fmla="*/ 1677371 w 1677371"/>
              <a:gd name="connsiteY2-24" fmla="*/ 0 h 494079"/>
              <a:gd name="connsiteX3-25" fmla="*/ 1629746 w 1677371"/>
              <a:gd name="connsiteY3-26" fmla="*/ 413318 h 494079"/>
              <a:gd name="connsiteX4-27" fmla="*/ 1548985 w 1677371"/>
              <a:gd name="connsiteY4-28" fmla="*/ 494079 h 494079"/>
              <a:gd name="connsiteX5-29" fmla="*/ 47625 w 1677371"/>
              <a:gd name="connsiteY5-30" fmla="*/ 494079 h 494079"/>
              <a:gd name="connsiteX6-31" fmla="*/ 0 w 1677371"/>
              <a:gd name="connsiteY6-32" fmla="*/ 494079 h 494079"/>
              <a:gd name="connsiteX7-33" fmla="*/ 47625 w 1677371"/>
              <a:gd name="connsiteY7-34" fmla="*/ 90286 h 494079"/>
              <a:gd name="connsiteX8-35" fmla="*/ 128386 w 1677371"/>
              <a:gd name="connsiteY8-36" fmla="*/ 9525 h 494079"/>
              <a:gd name="connsiteX0-37" fmla="*/ 128386 w 1705946"/>
              <a:gd name="connsiteY0-38" fmla="*/ 9525 h 494079"/>
              <a:gd name="connsiteX1-39" fmla="*/ 1629746 w 1705946"/>
              <a:gd name="connsiteY1-40" fmla="*/ 9525 h 494079"/>
              <a:gd name="connsiteX2-41" fmla="*/ 1705946 w 1705946"/>
              <a:gd name="connsiteY2-42" fmla="*/ 0 h 494079"/>
              <a:gd name="connsiteX3-43" fmla="*/ 1629746 w 1705946"/>
              <a:gd name="connsiteY3-44" fmla="*/ 413318 h 494079"/>
              <a:gd name="connsiteX4-45" fmla="*/ 1548985 w 1705946"/>
              <a:gd name="connsiteY4-46" fmla="*/ 494079 h 494079"/>
              <a:gd name="connsiteX5-47" fmla="*/ 47625 w 1705946"/>
              <a:gd name="connsiteY5-48" fmla="*/ 494079 h 494079"/>
              <a:gd name="connsiteX6-49" fmla="*/ 0 w 1705946"/>
              <a:gd name="connsiteY6-50" fmla="*/ 494079 h 494079"/>
              <a:gd name="connsiteX7-51" fmla="*/ 47625 w 1705946"/>
              <a:gd name="connsiteY7-52" fmla="*/ 90286 h 494079"/>
              <a:gd name="connsiteX8-53" fmla="*/ 128386 w 1705946"/>
              <a:gd name="connsiteY8-54" fmla="*/ 9525 h 494079"/>
              <a:gd name="connsiteX0-55" fmla="*/ 128386 w 1718646"/>
              <a:gd name="connsiteY0-56" fmla="*/ 0 h 484554"/>
              <a:gd name="connsiteX1-57" fmla="*/ 1629746 w 1718646"/>
              <a:gd name="connsiteY1-58" fmla="*/ 0 h 484554"/>
              <a:gd name="connsiteX2-59" fmla="*/ 1718646 w 1718646"/>
              <a:gd name="connsiteY2-60" fmla="*/ 6350 h 484554"/>
              <a:gd name="connsiteX3-61" fmla="*/ 1629746 w 1718646"/>
              <a:gd name="connsiteY3-62" fmla="*/ 403793 h 484554"/>
              <a:gd name="connsiteX4-63" fmla="*/ 1548985 w 1718646"/>
              <a:gd name="connsiteY4-64" fmla="*/ 484554 h 484554"/>
              <a:gd name="connsiteX5-65" fmla="*/ 47625 w 1718646"/>
              <a:gd name="connsiteY5-66" fmla="*/ 484554 h 484554"/>
              <a:gd name="connsiteX6-67" fmla="*/ 0 w 1718646"/>
              <a:gd name="connsiteY6-68" fmla="*/ 484554 h 484554"/>
              <a:gd name="connsiteX7-69" fmla="*/ 47625 w 1718646"/>
              <a:gd name="connsiteY7-70" fmla="*/ 80761 h 484554"/>
              <a:gd name="connsiteX8-71" fmla="*/ 128386 w 1718646"/>
              <a:gd name="connsiteY8-72" fmla="*/ 0 h 484554"/>
              <a:gd name="connsiteX0-73" fmla="*/ 128386 w 1718646"/>
              <a:gd name="connsiteY0-74" fmla="*/ 0 h 484554"/>
              <a:gd name="connsiteX1-75" fmla="*/ 1718646 w 1718646"/>
              <a:gd name="connsiteY1-76" fmla="*/ 6350 h 484554"/>
              <a:gd name="connsiteX2-77" fmla="*/ 1629746 w 1718646"/>
              <a:gd name="connsiteY2-78" fmla="*/ 403793 h 484554"/>
              <a:gd name="connsiteX3-79" fmla="*/ 1548985 w 1718646"/>
              <a:gd name="connsiteY3-80" fmla="*/ 484554 h 484554"/>
              <a:gd name="connsiteX4-81" fmla="*/ 47625 w 1718646"/>
              <a:gd name="connsiteY4-82" fmla="*/ 484554 h 484554"/>
              <a:gd name="connsiteX5-83" fmla="*/ 0 w 1718646"/>
              <a:gd name="connsiteY5-84" fmla="*/ 484554 h 484554"/>
              <a:gd name="connsiteX6-85" fmla="*/ 47625 w 1718646"/>
              <a:gd name="connsiteY6-86" fmla="*/ 80761 h 484554"/>
              <a:gd name="connsiteX7-87" fmla="*/ 128386 w 1718646"/>
              <a:gd name="connsiteY7-88" fmla="*/ 0 h 484554"/>
              <a:gd name="connsiteX0-89" fmla="*/ 128386 w 1715471"/>
              <a:gd name="connsiteY0-90" fmla="*/ 0 h 484554"/>
              <a:gd name="connsiteX1-91" fmla="*/ 1715471 w 1715471"/>
              <a:gd name="connsiteY1-92" fmla="*/ 0 h 484554"/>
              <a:gd name="connsiteX2-93" fmla="*/ 1629746 w 1715471"/>
              <a:gd name="connsiteY2-94" fmla="*/ 403793 h 484554"/>
              <a:gd name="connsiteX3-95" fmla="*/ 1548985 w 1715471"/>
              <a:gd name="connsiteY3-96" fmla="*/ 484554 h 484554"/>
              <a:gd name="connsiteX4-97" fmla="*/ 47625 w 1715471"/>
              <a:gd name="connsiteY4-98" fmla="*/ 484554 h 484554"/>
              <a:gd name="connsiteX5-99" fmla="*/ 0 w 1715471"/>
              <a:gd name="connsiteY5-100" fmla="*/ 484554 h 484554"/>
              <a:gd name="connsiteX6-101" fmla="*/ 47625 w 1715471"/>
              <a:gd name="connsiteY6-102" fmla="*/ 80761 h 484554"/>
              <a:gd name="connsiteX7-103" fmla="*/ 128386 w 1715471"/>
              <a:gd name="connsiteY7-104" fmla="*/ 0 h 484554"/>
              <a:gd name="connsiteX0-105" fmla="*/ 128386 w 1715471"/>
              <a:gd name="connsiteY0-106" fmla="*/ 0 h 484554"/>
              <a:gd name="connsiteX1-107" fmla="*/ 1715471 w 1715471"/>
              <a:gd name="connsiteY1-108" fmla="*/ 0 h 484554"/>
              <a:gd name="connsiteX2-109" fmla="*/ 1629746 w 1715471"/>
              <a:gd name="connsiteY2-110" fmla="*/ 403793 h 484554"/>
              <a:gd name="connsiteX3-111" fmla="*/ 1548985 w 1715471"/>
              <a:gd name="connsiteY3-112" fmla="*/ 484554 h 484554"/>
              <a:gd name="connsiteX4-113" fmla="*/ 0 w 1715471"/>
              <a:gd name="connsiteY4-114" fmla="*/ 484554 h 484554"/>
              <a:gd name="connsiteX5-115" fmla="*/ 47625 w 1715471"/>
              <a:gd name="connsiteY5-116" fmla="*/ 80761 h 484554"/>
              <a:gd name="connsiteX6-117" fmla="*/ 128386 w 1715471"/>
              <a:gd name="connsiteY6-118" fmla="*/ 0 h 484554"/>
              <a:gd name="connsiteX0-119" fmla="*/ 137911 w 1724996"/>
              <a:gd name="connsiteY0-120" fmla="*/ 0 h 484554"/>
              <a:gd name="connsiteX1-121" fmla="*/ 1724996 w 1724996"/>
              <a:gd name="connsiteY1-122" fmla="*/ 0 h 484554"/>
              <a:gd name="connsiteX2-123" fmla="*/ 1639271 w 1724996"/>
              <a:gd name="connsiteY2-124" fmla="*/ 403793 h 484554"/>
              <a:gd name="connsiteX3-125" fmla="*/ 1558510 w 1724996"/>
              <a:gd name="connsiteY3-126" fmla="*/ 484554 h 484554"/>
              <a:gd name="connsiteX4-127" fmla="*/ 0 w 1724996"/>
              <a:gd name="connsiteY4-128" fmla="*/ 484554 h 484554"/>
              <a:gd name="connsiteX5-129" fmla="*/ 57150 w 1724996"/>
              <a:gd name="connsiteY5-130" fmla="*/ 80761 h 484554"/>
              <a:gd name="connsiteX6-131" fmla="*/ 137911 w 1724996"/>
              <a:gd name="connsiteY6-132" fmla="*/ 0 h 484554"/>
              <a:gd name="connsiteX0-133" fmla="*/ 137911 w 1724996"/>
              <a:gd name="connsiteY0-134" fmla="*/ 0 h 484554"/>
              <a:gd name="connsiteX1-135" fmla="*/ 1724996 w 1724996"/>
              <a:gd name="connsiteY1-136" fmla="*/ 0 h 484554"/>
              <a:gd name="connsiteX2-137" fmla="*/ 1639271 w 1724996"/>
              <a:gd name="connsiteY2-138" fmla="*/ 403793 h 484554"/>
              <a:gd name="connsiteX3-139" fmla="*/ 1558510 w 1724996"/>
              <a:gd name="connsiteY3-140" fmla="*/ 484554 h 484554"/>
              <a:gd name="connsiteX4-141" fmla="*/ 0 w 1724996"/>
              <a:gd name="connsiteY4-142" fmla="*/ 484554 h 484554"/>
              <a:gd name="connsiteX5-143" fmla="*/ 57150 w 1724996"/>
              <a:gd name="connsiteY5-144" fmla="*/ 80761 h 484554"/>
              <a:gd name="connsiteX6-145" fmla="*/ 137911 w 1724996"/>
              <a:gd name="connsiteY6-146" fmla="*/ 0 h 484554"/>
              <a:gd name="connsiteX0-147" fmla="*/ 137911 w 1724996"/>
              <a:gd name="connsiteY0-148" fmla="*/ 0 h 484554"/>
              <a:gd name="connsiteX1-149" fmla="*/ 1724996 w 1724996"/>
              <a:gd name="connsiteY1-150" fmla="*/ 0 h 484554"/>
              <a:gd name="connsiteX2-151" fmla="*/ 1639271 w 1724996"/>
              <a:gd name="connsiteY2-152" fmla="*/ 403793 h 484554"/>
              <a:gd name="connsiteX3-153" fmla="*/ 1558510 w 1724996"/>
              <a:gd name="connsiteY3-154" fmla="*/ 484554 h 484554"/>
              <a:gd name="connsiteX4-155" fmla="*/ 0 w 1724996"/>
              <a:gd name="connsiteY4-156" fmla="*/ 484554 h 484554"/>
              <a:gd name="connsiteX5-157" fmla="*/ 57150 w 1724996"/>
              <a:gd name="connsiteY5-158" fmla="*/ 80761 h 484554"/>
              <a:gd name="connsiteX6-159" fmla="*/ 137911 w 1724996"/>
              <a:gd name="connsiteY6-160" fmla="*/ 0 h 484554"/>
              <a:gd name="connsiteX0-161" fmla="*/ 156961 w 1744046"/>
              <a:gd name="connsiteY0-162" fmla="*/ 0 h 484554"/>
              <a:gd name="connsiteX1-163" fmla="*/ 1744046 w 1744046"/>
              <a:gd name="connsiteY1-164" fmla="*/ 0 h 484554"/>
              <a:gd name="connsiteX2-165" fmla="*/ 1658321 w 1744046"/>
              <a:gd name="connsiteY2-166" fmla="*/ 403793 h 484554"/>
              <a:gd name="connsiteX3-167" fmla="*/ 1577560 w 1744046"/>
              <a:gd name="connsiteY3-168" fmla="*/ 484554 h 484554"/>
              <a:gd name="connsiteX4-169" fmla="*/ 0 w 1744046"/>
              <a:gd name="connsiteY4-170" fmla="*/ 484554 h 484554"/>
              <a:gd name="connsiteX5-171" fmla="*/ 76200 w 1744046"/>
              <a:gd name="connsiteY5-172" fmla="*/ 80761 h 484554"/>
              <a:gd name="connsiteX6-173" fmla="*/ 156961 w 1744046"/>
              <a:gd name="connsiteY6-174" fmla="*/ 0 h 484554"/>
              <a:gd name="connsiteX0-175" fmla="*/ 156961 w 1744046"/>
              <a:gd name="connsiteY0-176" fmla="*/ 0 h 484554"/>
              <a:gd name="connsiteX1-177" fmla="*/ 1744046 w 1744046"/>
              <a:gd name="connsiteY1-178" fmla="*/ 0 h 484554"/>
              <a:gd name="connsiteX2-179" fmla="*/ 1658321 w 1744046"/>
              <a:gd name="connsiteY2-180" fmla="*/ 403793 h 484554"/>
              <a:gd name="connsiteX3-181" fmla="*/ 1577560 w 1744046"/>
              <a:gd name="connsiteY3-182" fmla="*/ 484554 h 484554"/>
              <a:gd name="connsiteX4-183" fmla="*/ 0 w 1744046"/>
              <a:gd name="connsiteY4-184" fmla="*/ 484554 h 484554"/>
              <a:gd name="connsiteX5-185" fmla="*/ 76200 w 1744046"/>
              <a:gd name="connsiteY5-186" fmla="*/ 80761 h 484554"/>
              <a:gd name="connsiteX6-187" fmla="*/ 156961 w 1744046"/>
              <a:gd name="connsiteY6-188" fmla="*/ 0 h 484554"/>
              <a:gd name="connsiteX0-189" fmla="*/ 156961 w 1744046"/>
              <a:gd name="connsiteY0-190" fmla="*/ 0 h 484554"/>
              <a:gd name="connsiteX1-191" fmla="*/ 1744046 w 1744046"/>
              <a:gd name="connsiteY1-192" fmla="*/ 0 h 484554"/>
              <a:gd name="connsiteX2-193" fmla="*/ 1658321 w 1744046"/>
              <a:gd name="connsiteY2-194" fmla="*/ 403793 h 484554"/>
              <a:gd name="connsiteX3-195" fmla="*/ 1577560 w 1744046"/>
              <a:gd name="connsiteY3-196" fmla="*/ 484554 h 484554"/>
              <a:gd name="connsiteX4-197" fmla="*/ 0 w 1744046"/>
              <a:gd name="connsiteY4-198" fmla="*/ 484554 h 484554"/>
              <a:gd name="connsiteX5-199" fmla="*/ 76200 w 1744046"/>
              <a:gd name="connsiteY5-200" fmla="*/ 80761 h 484554"/>
              <a:gd name="connsiteX6-201" fmla="*/ 156961 w 1744046"/>
              <a:gd name="connsiteY6-202" fmla="*/ 0 h 484554"/>
              <a:gd name="connsiteX0-203" fmla="*/ 156961 w 1744046"/>
              <a:gd name="connsiteY0-204" fmla="*/ 0 h 484554"/>
              <a:gd name="connsiteX1-205" fmla="*/ 1744046 w 1744046"/>
              <a:gd name="connsiteY1-206" fmla="*/ 0 h 484554"/>
              <a:gd name="connsiteX2-207" fmla="*/ 1658321 w 1744046"/>
              <a:gd name="connsiteY2-208" fmla="*/ 403793 h 484554"/>
              <a:gd name="connsiteX3-209" fmla="*/ 1577560 w 1744046"/>
              <a:gd name="connsiteY3-210" fmla="*/ 484554 h 484554"/>
              <a:gd name="connsiteX4-211" fmla="*/ 0 w 1744046"/>
              <a:gd name="connsiteY4-212" fmla="*/ 484554 h 484554"/>
              <a:gd name="connsiteX5-213" fmla="*/ 76200 w 1744046"/>
              <a:gd name="connsiteY5-214" fmla="*/ 80761 h 484554"/>
              <a:gd name="connsiteX6-215" fmla="*/ 156961 w 1744046"/>
              <a:gd name="connsiteY6-216" fmla="*/ 0 h 484554"/>
              <a:gd name="connsiteX0-217" fmla="*/ 156961 w 1744046"/>
              <a:gd name="connsiteY0-218" fmla="*/ 0 h 484554"/>
              <a:gd name="connsiteX1-219" fmla="*/ 1744046 w 1744046"/>
              <a:gd name="connsiteY1-220" fmla="*/ 0 h 484554"/>
              <a:gd name="connsiteX2-221" fmla="*/ 1658321 w 1744046"/>
              <a:gd name="connsiteY2-222" fmla="*/ 403793 h 484554"/>
              <a:gd name="connsiteX3-223" fmla="*/ 1577560 w 1744046"/>
              <a:gd name="connsiteY3-224" fmla="*/ 484554 h 484554"/>
              <a:gd name="connsiteX4-225" fmla="*/ 0 w 1744046"/>
              <a:gd name="connsiteY4-226" fmla="*/ 484554 h 484554"/>
              <a:gd name="connsiteX5-227" fmla="*/ 76200 w 1744046"/>
              <a:gd name="connsiteY5-228" fmla="*/ 80761 h 484554"/>
              <a:gd name="connsiteX6-229" fmla="*/ 156961 w 1744046"/>
              <a:gd name="connsiteY6-230" fmla="*/ 0 h 484554"/>
              <a:gd name="connsiteX0-231" fmla="*/ 156961 w 1744046"/>
              <a:gd name="connsiteY0-232" fmla="*/ 0 h 484554"/>
              <a:gd name="connsiteX1-233" fmla="*/ 1744046 w 1744046"/>
              <a:gd name="connsiteY1-234" fmla="*/ 0 h 484554"/>
              <a:gd name="connsiteX2-235" fmla="*/ 1658321 w 1744046"/>
              <a:gd name="connsiteY2-236" fmla="*/ 403793 h 484554"/>
              <a:gd name="connsiteX3-237" fmla="*/ 1577560 w 1744046"/>
              <a:gd name="connsiteY3-238" fmla="*/ 484554 h 484554"/>
              <a:gd name="connsiteX4-239" fmla="*/ 0 w 1744046"/>
              <a:gd name="connsiteY4-240" fmla="*/ 484554 h 484554"/>
              <a:gd name="connsiteX5-241" fmla="*/ 76200 w 1744046"/>
              <a:gd name="connsiteY5-242" fmla="*/ 80761 h 484554"/>
              <a:gd name="connsiteX6-243" fmla="*/ 156961 w 1744046"/>
              <a:gd name="connsiteY6-244" fmla="*/ 0 h 4845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744046" h="484554">
                <a:moveTo>
                  <a:pt x="156961" y="0"/>
                </a:moveTo>
                <a:lnTo>
                  <a:pt x="1744046" y="0"/>
                </a:lnTo>
                <a:lnTo>
                  <a:pt x="1658321" y="403793"/>
                </a:lnTo>
                <a:cubicBezTo>
                  <a:pt x="1658321" y="448396"/>
                  <a:pt x="1622163" y="484554"/>
                  <a:pt x="1577560" y="484554"/>
                </a:cubicBezTo>
                <a:lnTo>
                  <a:pt x="0" y="484554"/>
                </a:lnTo>
                <a:cubicBezTo>
                  <a:pt x="19050" y="343606"/>
                  <a:pt x="57150" y="180434"/>
                  <a:pt x="76200" y="80761"/>
                </a:cubicBezTo>
                <a:cubicBezTo>
                  <a:pt x="88900" y="36158"/>
                  <a:pt x="112358" y="0"/>
                  <a:pt x="156961" y="0"/>
                </a:cubicBezTo>
                <a:close/>
              </a:path>
            </a:pathLst>
          </a:custGeom>
          <a:solidFill>
            <a:schemeClr val="accent1">
              <a:lumMod val="60000"/>
              <a:lumOff val="40000"/>
            </a:schemeClr>
          </a:solidFill>
          <a:ln w="38100">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7" name="右大括号 36"/>
          <p:cNvSpPr/>
          <p:nvPr/>
        </p:nvSpPr>
        <p:spPr>
          <a:xfrm rot="16200000">
            <a:off x="4083860" y="2055101"/>
            <a:ext cx="159532" cy="2095916"/>
          </a:xfrm>
          <a:prstGeom prst="rightBrace">
            <a:avLst>
              <a:gd name="adj1" fmla="val 53950"/>
              <a:gd name="adj2" fmla="val 50000"/>
            </a:avLst>
          </a:prstGeom>
          <a:noFill/>
          <a:ln w="12700">
            <a:solidFill>
              <a:schemeClr val="accent1">
                <a:lumMod val="60000"/>
                <a:lumOff val="40000"/>
              </a:schemeClr>
            </a:solidFill>
            <a:prstDash val="dash"/>
          </a:ln>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1945">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8" name="右大括号 37"/>
          <p:cNvSpPr/>
          <p:nvPr/>
        </p:nvSpPr>
        <p:spPr>
          <a:xfrm rot="16200000">
            <a:off x="8191382" y="2055102"/>
            <a:ext cx="159532" cy="2095916"/>
          </a:xfrm>
          <a:prstGeom prst="rightBrace">
            <a:avLst>
              <a:gd name="adj1" fmla="val 53950"/>
              <a:gd name="adj2" fmla="val 50000"/>
            </a:avLst>
          </a:prstGeom>
          <a:noFill/>
          <a:ln w="12700">
            <a:solidFill>
              <a:schemeClr val="accent1">
                <a:lumMod val="60000"/>
                <a:lumOff val="40000"/>
              </a:schemeClr>
            </a:solidFill>
            <a:prstDash val="dash"/>
          </a:ln>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1945">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9" name="文本框 38"/>
          <p:cNvSpPr txBox="1"/>
          <p:nvPr/>
        </p:nvSpPr>
        <p:spPr>
          <a:xfrm>
            <a:off x="3485850" y="2742464"/>
            <a:ext cx="1384578" cy="321945"/>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r>
              <a:rPr lang="zh-CN" altLang="en-US"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数据标准</a:t>
            </a:r>
            <a:endParaRPr lang="zh-CN" altLang="en-US"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40" name="文本框 39"/>
          <p:cNvSpPr txBox="1"/>
          <p:nvPr/>
        </p:nvSpPr>
        <p:spPr>
          <a:xfrm>
            <a:off x="7493893" y="2735479"/>
            <a:ext cx="1384578" cy="321945"/>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r>
              <a:rPr lang="zh-CN" altLang="en-US"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数据资产管理</a:t>
            </a:r>
            <a:endParaRPr lang="zh-CN" altLang="en-US"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41" name="文本框 40"/>
          <p:cNvSpPr txBox="1"/>
          <p:nvPr/>
        </p:nvSpPr>
        <p:spPr>
          <a:xfrm rot="843444">
            <a:off x="1341392" y="2986064"/>
            <a:ext cx="402604" cy="2152256"/>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r>
              <a:rPr lang="zh-CN" altLang="en-US" dirty="0">
                <a:solidFill>
                  <a:schemeClr val="accent6"/>
                </a:solidFill>
                <a:latin typeface="微软雅黑" panose="020B0503020204020204" charset="-122"/>
                <a:ea typeface="微软雅黑" panose="020B0503020204020204" charset="-122"/>
                <a:cs typeface="微软雅黑" panose="020B0503020204020204" charset="-122"/>
              </a:rPr>
              <a:t>数据圈生命周期管理</a:t>
            </a:r>
            <a:endParaRPr lang="zh-CN" altLang="en-US" dirty="0">
              <a:solidFill>
                <a:schemeClr val="accent6"/>
              </a:solidFill>
              <a:latin typeface="微软雅黑" panose="020B0503020204020204" charset="-122"/>
              <a:ea typeface="微软雅黑" panose="020B0503020204020204" charset="-122"/>
              <a:cs typeface="微软雅黑" panose="020B0503020204020204" charset="-122"/>
            </a:endParaRPr>
          </a:p>
        </p:txBody>
      </p:sp>
      <p:sp>
        <p:nvSpPr>
          <p:cNvPr id="42" name="文本框 41"/>
          <p:cNvSpPr txBox="1"/>
          <p:nvPr/>
        </p:nvSpPr>
        <p:spPr>
          <a:xfrm rot="20672589">
            <a:off x="10507091" y="3386968"/>
            <a:ext cx="457834" cy="998094"/>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r>
              <a:rPr lang="zh-CN" altLang="en-US" dirty="0">
                <a:solidFill>
                  <a:schemeClr val="accent6"/>
                </a:solidFill>
                <a:latin typeface="微软雅黑" panose="020B0503020204020204" charset="-122"/>
                <a:ea typeface="微软雅黑" panose="020B0503020204020204" charset="-122"/>
                <a:cs typeface="微软雅黑" panose="020B0503020204020204" charset="-122"/>
              </a:rPr>
              <a:t>数据安全</a:t>
            </a:r>
            <a:endParaRPr lang="zh-CN" altLang="en-US" dirty="0">
              <a:solidFill>
                <a:schemeClr val="accent6"/>
              </a:solidFill>
              <a:latin typeface="微软雅黑" panose="020B0503020204020204" charset="-122"/>
              <a:ea typeface="微软雅黑" panose="020B0503020204020204" charset="-122"/>
              <a:cs typeface="微软雅黑" panose="020B0503020204020204" charset="-122"/>
            </a:endParaRPr>
          </a:p>
        </p:txBody>
      </p:sp>
      <p:cxnSp>
        <p:nvCxnSpPr>
          <p:cNvPr id="43" name="直接连接符 42"/>
          <p:cNvCxnSpPr/>
          <p:nvPr/>
        </p:nvCxnSpPr>
        <p:spPr>
          <a:xfrm flipV="1">
            <a:off x="6169611" y="2207374"/>
            <a:ext cx="8068" cy="3365823"/>
          </a:xfrm>
          <a:prstGeom prst="line">
            <a:avLst/>
          </a:prstGeom>
          <a:ln>
            <a:solidFill>
              <a:srgbClr val="FFFFFF">
                <a:lumMod val="65000"/>
                <a:alpha val="70000"/>
              </a:srgbClr>
            </a:solidFill>
            <a:prstDash val="dash"/>
          </a:ln>
        </p:spPr>
        <p:style>
          <a:lnRef idx="1">
            <a:srgbClr val="24396B"/>
          </a:lnRef>
          <a:fillRef idx="0">
            <a:srgbClr val="24396B"/>
          </a:fillRef>
          <a:effectRef idx="0">
            <a:srgbClr val="24396B"/>
          </a:effectRef>
          <a:fontRef idx="minor">
            <a:srgbClr val="000000"/>
          </a:fontRef>
        </p:style>
      </p:cxnSp>
      <p:sp>
        <p:nvSpPr>
          <p:cNvPr id="44" name="矩形: 对角圆角 475"/>
          <p:cNvSpPr/>
          <p:nvPr/>
        </p:nvSpPr>
        <p:spPr>
          <a:xfrm>
            <a:off x="2522638" y="5081405"/>
            <a:ext cx="1143054" cy="317580"/>
          </a:xfrm>
          <a:custGeom>
            <a:avLst/>
            <a:gdLst>
              <a:gd name="connsiteX0" fmla="*/ 80761 w 1582121"/>
              <a:gd name="connsiteY0" fmla="*/ 0 h 484554"/>
              <a:gd name="connsiteX1" fmla="*/ 1582121 w 1582121"/>
              <a:gd name="connsiteY1" fmla="*/ 0 h 484554"/>
              <a:gd name="connsiteX2" fmla="*/ 1582121 w 1582121"/>
              <a:gd name="connsiteY2" fmla="*/ 0 h 484554"/>
              <a:gd name="connsiteX3" fmla="*/ 1582121 w 1582121"/>
              <a:gd name="connsiteY3" fmla="*/ 403793 h 484554"/>
              <a:gd name="connsiteX4" fmla="*/ 1501360 w 1582121"/>
              <a:gd name="connsiteY4" fmla="*/ 484554 h 484554"/>
              <a:gd name="connsiteX5" fmla="*/ 0 w 1582121"/>
              <a:gd name="connsiteY5" fmla="*/ 484554 h 484554"/>
              <a:gd name="connsiteX6" fmla="*/ 0 w 1582121"/>
              <a:gd name="connsiteY6" fmla="*/ 484554 h 484554"/>
              <a:gd name="connsiteX7" fmla="*/ 0 w 1582121"/>
              <a:gd name="connsiteY7" fmla="*/ 80761 h 484554"/>
              <a:gd name="connsiteX8" fmla="*/ 80761 w 1582121"/>
              <a:gd name="connsiteY8" fmla="*/ 0 h 484554"/>
              <a:gd name="connsiteX0-1" fmla="*/ 128386 w 1629746"/>
              <a:gd name="connsiteY0-2" fmla="*/ 0 h 484554"/>
              <a:gd name="connsiteX1-3" fmla="*/ 1629746 w 1629746"/>
              <a:gd name="connsiteY1-4" fmla="*/ 0 h 484554"/>
              <a:gd name="connsiteX2-5" fmla="*/ 1629746 w 1629746"/>
              <a:gd name="connsiteY2-6" fmla="*/ 0 h 484554"/>
              <a:gd name="connsiteX3-7" fmla="*/ 1629746 w 1629746"/>
              <a:gd name="connsiteY3-8" fmla="*/ 403793 h 484554"/>
              <a:gd name="connsiteX4-9" fmla="*/ 1548985 w 1629746"/>
              <a:gd name="connsiteY4-10" fmla="*/ 484554 h 484554"/>
              <a:gd name="connsiteX5-11" fmla="*/ 47625 w 1629746"/>
              <a:gd name="connsiteY5-12" fmla="*/ 484554 h 484554"/>
              <a:gd name="connsiteX6-13" fmla="*/ 0 w 1629746"/>
              <a:gd name="connsiteY6-14" fmla="*/ 484554 h 484554"/>
              <a:gd name="connsiteX7-15" fmla="*/ 47625 w 1629746"/>
              <a:gd name="connsiteY7-16" fmla="*/ 80761 h 484554"/>
              <a:gd name="connsiteX8-17" fmla="*/ 128386 w 1629746"/>
              <a:gd name="connsiteY8-18" fmla="*/ 0 h 484554"/>
              <a:gd name="connsiteX0-19" fmla="*/ 128386 w 1677371"/>
              <a:gd name="connsiteY0-20" fmla="*/ 9525 h 494079"/>
              <a:gd name="connsiteX1-21" fmla="*/ 1629746 w 1677371"/>
              <a:gd name="connsiteY1-22" fmla="*/ 9525 h 494079"/>
              <a:gd name="connsiteX2-23" fmla="*/ 1677371 w 1677371"/>
              <a:gd name="connsiteY2-24" fmla="*/ 0 h 494079"/>
              <a:gd name="connsiteX3-25" fmla="*/ 1629746 w 1677371"/>
              <a:gd name="connsiteY3-26" fmla="*/ 413318 h 494079"/>
              <a:gd name="connsiteX4-27" fmla="*/ 1548985 w 1677371"/>
              <a:gd name="connsiteY4-28" fmla="*/ 494079 h 494079"/>
              <a:gd name="connsiteX5-29" fmla="*/ 47625 w 1677371"/>
              <a:gd name="connsiteY5-30" fmla="*/ 494079 h 494079"/>
              <a:gd name="connsiteX6-31" fmla="*/ 0 w 1677371"/>
              <a:gd name="connsiteY6-32" fmla="*/ 494079 h 494079"/>
              <a:gd name="connsiteX7-33" fmla="*/ 47625 w 1677371"/>
              <a:gd name="connsiteY7-34" fmla="*/ 90286 h 494079"/>
              <a:gd name="connsiteX8-35" fmla="*/ 128386 w 1677371"/>
              <a:gd name="connsiteY8-36" fmla="*/ 9525 h 494079"/>
              <a:gd name="connsiteX0-37" fmla="*/ 128386 w 1705946"/>
              <a:gd name="connsiteY0-38" fmla="*/ 9525 h 494079"/>
              <a:gd name="connsiteX1-39" fmla="*/ 1629746 w 1705946"/>
              <a:gd name="connsiteY1-40" fmla="*/ 9525 h 494079"/>
              <a:gd name="connsiteX2-41" fmla="*/ 1705946 w 1705946"/>
              <a:gd name="connsiteY2-42" fmla="*/ 0 h 494079"/>
              <a:gd name="connsiteX3-43" fmla="*/ 1629746 w 1705946"/>
              <a:gd name="connsiteY3-44" fmla="*/ 413318 h 494079"/>
              <a:gd name="connsiteX4-45" fmla="*/ 1548985 w 1705946"/>
              <a:gd name="connsiteY4-46" fmla="*/ 494079 h 494079"/>
              <a:gd name="connsiteX5-47" fmla="*/ 47625 w 1705946"/>
              <a:gd name="connsiteY5-48" fmla="*/ 494079 h 494079"/>
              <a:gd name="connsiteX6-49" fmla="*/ 0 w 1705946"/>
              <a:gd name="connsiteY6-50" fmla="*/ 494079 h 494079"/>
              <a:gd name="connsiteX7-51" fmla="*/ 47625 w 1705946"/>
              <a:gd name="connsiteY7-52" fmla="*/ 90286 h 494079"/>
              <a:gd name="connsiteX8-53" fmla="*/ 128386 w 1705946"/>
              <a:gd name="connsiteY8-54" fmla="*/ 9525 h 494079"/>
              <a:gd name="connsiteX0-55" fmla="*/ 128386 w 1718646"/>
              <a:gd name="connsiteY0-56" fmla="*/ 0 h 484554"/>
              <a:gd name="connsiteX1-57" fmla="*/ 1629746 w 1718646"/>
              <a:gd name="connsiteY1-58" fmla="*/ 0 h 484554"/>
              <a:gd name="connsiteX2-59" fmla="*/ 1718646 w 1718646"/>
              <a:gd name="connsiteY2-60" fmla="*/ 6350 h 484554"/>
              <a:gd name="connsiteX3-61" fmla="*/ 1629746 w 1718646"/>
              <a:gd name="connsiteY3-62" fmla="*/ 403793 h 484554"/>
              <a:gd name="connsiteX4-63" fmla="*/ 1548985 w 1718646"/>
              <a:gd name="connsiteY4-64" fmla="*/ 484554 h 484554"/>
              <a:gd name="connsiteX5-65" fmla="*/ 47625 w 1718646"/>
              <a:gd name="connsiteY5-66" fmla="*/ 484554 h 484554"/>
              <a:gd name="connsiteX6-67" fmla="*/ 0 w 1718646"/>
              <a:gd name="connsiteY6-68" fmla="*/ 484554 h 484554"/>
              <a:gd name="connsiteX7-69" fmla="*/ 47625 w 1718646"/>
              <a:gd name="connsiteY7-70" fmla="*/ 80761 h 484554"/>
              <a:gd name="connsiteX8-71" fmla="*/ 128386 w 1718646"/>
              <a:gd name="connsiteY8-72" fmla="*/ 0 h 484554"/>
              <a:gd name="connsiteX0-73" fmla="*/ 128386 w 1718646"/>
              <a:gd name="connsiteY0-74" fmla="*/ 0 h 484554"/>
              <a:gd name="connsiteX1-75" fmla="*/ 1718646 w 1718646"/>
              <a:gd name="connsiteY1-76" fmla="*/ 6350 h 484554"/>
              <a:gd name="connsiteX2-77" fmla="*/ 1629746 w 1718646"/>
              <a:gd name="connsiteY2-78" fmla="*/ 403793 h 484554"/>
              <a:gd name="connsiteX3-79" fmla="*/ 1548985 w 1718646"/>
              <a:gd name="connsiteY3-80" fmla="*/ 484554 h 484554"/>
              <a:gd name="connsiteX4-81" fmla="*/ 47625 w 1718646"/>
              <a:gd name="connsiteY4-82" fmla="*/ 484554 h 484554"/>
              <a:gd name="connsiteX5-83" fmla="*/ 0 w 1718646"/>
              <a:gd name="connsiteY5-84" fmla="*/ 484554 h 484554"/>
              <a:gd name="connsiteX6-85" fmla="*/ 47625 w 1718646"/>
              <a:gd name="connsiteY6-86" fmla="*/ 80761 h 484554"/>
              <a:gd name="connsiteX7-87" fmla="*/ 128386 w 1718646"/>
              <a:gd name="connsiteY7-88" fmla="*/ 0 h 484554"/>
              <a:gd name="connsiteX0-89" fmla="*/ 128386 w 1715471"/>
              <a:gd name="connsiteY0-90" fmla="*/ 0 h 484554"/>
              <a:gd name="connsiteX1-91" fmla="*/ 1715471 w 1715471"/>
              <a:gd name="connsiteY1-92" fmla="*/ 0 h 484554"/>
              <a:gd name="connsiteX2-93" fmla="*/ 1629746 w 1715471"/>
              <a:gd name="connsiteY2-94" fmla="*/ 403793 h 484554"/>
              <a:gd name="connsiteX3-95" fmla="*/ 1548985 w 1715471"/>
              <a:gd name="connsiteY3-96" fmla="*/ 484554 h 484554"/>
              <a:gd name="connsiteX4-97" fmla="*/ 47625 w 1715471"/>
              <a:gd name="connsiteY4-98" fmla="*/ 484554 h 484554"/>
              <a:gd name="connsiteX5-99" fmla="*/ 0 w 1715471"/>
              <a:gd name="connsiteY5-100" fmla="*/ 484554 h 484554"/>
              <a:gd name="connsiteX6-101" fmla="*/ 47625 w 1715471"/>
              <a:gd name="connsiteY6-102" fmla="*/ 80761 h 484554"/>
              <a:gd name="connsiteX7-103" fmla="*/ 128386 w 1715471"/>
              <a:gd name="connsiteY7-104" fmla="*/ 0 h 484554"/>
              <a:gd name="connsiteX0-105" fmla="*/ 128386 w 1715471"/>
              <a:gd name="connsiteY0-106" fmla="*/ 0 h 484554"/>
              <a:gd name="connsiteX1-107" fmla="*/ 1715471 w 1715471"/>
              <a:gd name="connsiteY1-108" fmla="*/ 0 h 484554"/>
              <a:gd name="connsiteX2-109" fmla="*/ 1629746 w 1715471"/>
              <a:gd name="connsiteY2-110" fmla="*/ 403793 h 484554"/>
              <a:gd name="connsiteX3-111" fmla="*/ 1548985 w 1715471"/>
              <a:gd name="connsiteY3-112" fmla="*/ 484554 h 484554"/>
              <a:gd name="connsiteX4-113" fmla="*/ 0 w 1715471"/>
              <a:gd name="connsiteY4-114" fmla="*/ 484554 h 484554"/>
              <a:gd name="connsiteX5-115" fmla="*/ 47625 w 1715471"/>
              <a:gd name="connsiteY5-116" fmla="*/ 80761 h 484554"/>
              <a:gd name="connsiteX6-117" fmla="*/ 128386 w 1715471"/>
              <a:gd name="connsiteY6-118" fmla="*/ 0 h 484554"/>
              <a:gd name="connsiteX0-119" fmla="*/ 137911 w 1724996"/>
              <a:gd name="connsiteY0-120" fmla="*/ 0 h 484554"/>
              <a:gd name="connsiteX1-121" fmla="*/ 1724996 w 1724996"/>
              <a:gd name="connsiteY1-122" fmla="*/ 0 h 484554"/>
              <a:gd name="connsiteX2-123" fmla="*/ 1639271 w 1724996"/>
              <a:gd name="connsiteY2-124" fmla="*/ 403793 h 484554"/>
              <a:gd name="connsiteX3-125" fmla="*/ 1558510 w 1724996"/>
              <a:gd name="connsiteY3-126" fmla="*/ 484554 h 484554"/>
              <a:gd name="connsiteX4-127" fmla="*/ 0 w 1724996"/>
              <a:gd name="connsiteY4-128" fmla="*/ 484554 h 484554"/>
              <a:gd name="connsiteX5-129" fmla="*/ 57150 w 1724996"/>
              <a:gd name="connsiteY5-130" fmla="*/ 80761 h 484554"/>
              <a:gd name="connsiteX6-131" fmla="*/ 137911 w 1724996"/>
              <a:gd name="connsiteY6-132" fmla="*/ 0 h 484554"/>
              <a:gd name="connsiteX0-133" fmla="*/ 137911 w 1724996"/>
              <a:gd name="connsiteY0-134" fmla="*/ 0 h 484554"/>
              <a:gd name="connsiteX1-135" fmla="*/ 1724996 w 1724996"/>
              <a:gd name="connsiteY1-136" fmla="*/ 0 h 484554"/>
              <a:gd name="connsiteX2-137" fmla="*/ 1639271 w 1724996"/>
              <a:gd name="connsiteY2-138" fmla="*/ 403793 h 484554"/>
              <a:gd name="connsiteX3-139" fmla="*/ 1558510 w 1724996"/>
              <a:gd name="connsiteY3-140" fmla="*/ 484554 h 484554"/>
              <a:gd name="connsiteX4-141" fmla="*/ 0 w 1724996"/>
              <a:gd name="connsiteY4-142" fmla="*/ 484554 h 484554"/>
              <a:gd name="connsiteX5-143" fmla="*/ 57150 w 1724996"/>
              <a:gd name="connsiteY5-144" fmla="*/ 80761 h 484554"/>
              <a:gd name="connsiteX6-145" fmla="*/ 137911 w 1724996"/>
              <a:gd name="connsiteY6-146" fmla="*/ 0 h 484554"/>
              <a:gd name="connsiteX0-147" fmla="*/ 137911 w 1724996"/>
              <a:gd name="connsiteY0-148" fmla="*/ 0 h 484554"/>
              <a:gd name="connsiteX1-149" fmla="*/ 1724996 w 1724996"/>
              <a:gd name="connsiteY1-150" fmla="*/ 0 h 484554"/>
              <a:gd name="connsiteX2-151" fmla="*/ 1639271 w 1724996"/>
              <a:gd name="connsiteY2-152" fmla="*/ 403793 h 484554"/>
              <a:gd name="connsiteX3-153" fmla="*/ 1558510 w 1724996"/>
              <a:gd name="connsiteY3-154" fmla="*/ 484554 h 484554"/>
              <a:gd name="connsiteX4-155" fmla="*/ 0 w 1724996"/>
              <a:gd name="connsiteY4-156" fmla="*/ 484554 h 484554"/>
              <a:gd name="connsiteX5-157" fmla="*/ 57150 w 1724996"/>
              <a:gd name="connsiteY5-158" fmla="*/ 80761 h 484554"/>
              <a:gd name="connsiteX6-159" fmla="*/ 137911 w 1724996"/>
              <a:gd name="connsiteY6-160" fmla="*/ 0 h 484554"/>
              <a:gd name="connsiteX0-161" fmla="*/ 156961 w 1744046"/>
              <a:gd name="connsiteY0-162" fmla="*/ 0 h 484554"/>
              <a:gd name="connsiteX1-163" fmla="*/ 1744046 w 1744046"/>
              <a:gd name="connsiteY1-164" fmla="*/ 0 h 484554"/>
              <a:gd name="connsiteX2-165" fmla="*/ 1658321 w 1744046"/>
              <a:gd name="connsiteY2-166" fmla="*/ 403793 h 484554"/>
              <a:gd name="connsiteX3-167" fmla="*/ 1577560 w 1744046"/>
              <a:gd name="connsiteY3-168" fmla="*/ 484554 h 484554"/>
              <a:gd name="connsiteX4-169" fmla="*/ 0 w 1744046"/>
              <a:gd name="connsiteY4-170" fmla="*/ 484554 h 484554"/>
              <a:gd name="connsiteX5-171" fmla="*/ 76200 w 1744046"/>
              <a:gd name="connsiteY5-172" fmla="*/ 80761 h 484554"/>
              <a:gd name="connsiteX6-173" fmla="*/ 156961 w 1744046"/>
              <a:gd name="connsiteY6-174" fmla="*/ 0 h 484554"/>
              <a:gd name="connsiteX0-175" fmla="*/ 156961 w 1744046"/>
              <a:gd name="connsiteY0-176" fmla="*/ 0 h 484554"/>
              <a:gd name="connsiteX1-177" fmla="*/ 1744046 w 1744046"/>
              <a:gd name="connsiteY1-178" fmla="*/ 0 h 484554"/>
              <a:gd name="connsiteX2-179" fmla="*/ 1658321 w 1744046"/>
              <a:gd name="connsiteY2-180" fmla="*/ 403793 h 484554"/>
              <a:gd name="connsiteX3-181" fmla="*/ 1577560 w 1744046"/>
              <a:gd name="connsiteY3-182" fmla="*/ 484554 h 484554"/>
              <a:gd name="connsiteX4-183" fmla="*/ 0 w 1744046"/>
              <a:gd name="connsiteY4-184" fmla="*/ 484554 h 484554"/>
              <a:gd name="connsiteX5-185" fmla="*/ 76200 w 1744046"/>
              <a:gd name="connsiteY5-186" fmla="*/ 80761 h 484554"/>
              <a:gd name="connsiteX6-187" fmla="*/ 156961 w 1744046"/>
              <a:gd name="connsiteY6-188" fmla="*/ 0 h 484554"/>
              <a:gd name="connsiteX0-189" fmla="*/ 156961 w 1744046"/>
              <a:gd name="connsiteY0-190" fmla="*/ 0 h 484554"/>
              <a:gd name="connsiteX1-191" fmla="*/ 1744046 w 1744046"/>
              <a:gd name="connsiteY1-192" fmla="*/ 0 h 484554"/>
              <a:gd name="connsiteX2-193" fmla="*/ 1658321 w 1744046"/>
              <a:gd name="connsiteY2-194" fmla="*/ 403793 h 484554"/>
              <a:gd name="connsiteX3-195" fmla="*/ 1577560 w 1744046"/>
              <a:gd name="connsiteY3-196" fmla="*/ 484554 h 484554"/>
              <a:gd name="connsiteX4-197" fmla="*/ 0 w 1744046"/>
              <a:gd name="connsiteY4-198" fmla="*/ 484554 h 484554"/>
              <a:gd name="connsiteX5-199" fmla="*/ 76200 w 1744046"/>
              <a:gd name="connsiteY5-200" fmla="*/ 80761 h 484554"/>
              <a:gd name="connsiteX6-201" fmla="*/ 156961 w 1744046"/>
              <a:gd name="connsiteY6-202" fmla="*/ 0 h 484554"/>
              <a:gd name="connsiteX0-203" fmla="*/ 156961 w 1744046"/>
              <a:gd name="connsiteY0-204" fmla="*/ 0 h 484554"/>
              <a:gd name="connsiteX1-205" fmla="*/ 1744046 w 1744046"/>
              <a:gd name="connsiteY1-206" fmla="*/ 0 h 484554"/>
              <a:gd name="connsiteX2-207" fmla="*/ 1658321 w 1744046"/>
              <a:gd name="connsiteY2-208" fmla="*/ 403793 h 484554"/>
              <a:gd name="connsiteX3-209" fmla="*/ 1577560 w 1744046"/>
              <a:gd name="connsiteY3-210" fmla="*/ 484554 h 484554"/>
              <a:gd name="connsiteX4-211" fmla="*/ 0 w 1744046"/>
              <a:gd name="connsiteY4-212" fmla="*/ 484554 h 484554"/>
              <a:gd name="connsiteX5-213" fmla="*/ 76200 w 1744046"/>
              <a:gd name="connsiteY5-214" fmla="*/ 80761 h 484554"/>
              <a:gd name="connsiteX6-215" fmla="*/ 156961 w 1744046"/>
              <a:gd name="connsiteY6-216" fmla="*/ 0 h 484554"/>
              <a:gd name="connsiteX0-217" fmla="*/ 156961 w 1744046"/>
              <a:gd name="connsiteY0-218" fmla="*/ 0 h 484554"/>
              <a:gd name="connsiteX1-219" fmla="*/ 1744046 w 1744046"/>
              <a:gd name="connsiteY1-220" fmla="*/ 0 h 484554"/>
              <a:gd name="connsiteX2-221" fmla="*/ 1658321 w 1744046"/>
              <a:gd name="connsiteY2-222" fmla="*/ 403793 h 484554"/>
              <a:gd name="connsiteX3-223" fmla="*/ 1577560 w 1744046"/>
              <a:gd name="connsiteY3-224" fmla="*/ 484554 h 484554"/>
              <a:gd name="connsiteX4-225" fmla="*/ 0 w 1744046"/>
              <a:gd name="connsiteY4-226" fmla="*/ 484554 h 484554"/>
              <a:gd name="connsiteX5-227" fmla="*/ 76200 w 1744046"/>
              <a:gd name="connsiteY5-228" fmla="*/ 80761 h 484554"/>
              <a:gd name="connsiteX6-229" fmla="*/ 156961 w 1744046"/>
              <a:gd name="connsiteY6-230" fmla="*/ 0 h 484554"/>
              <a:gd name="connsiteX0-231" fmla="*/ 156961 w 1744046"/>
              <a:gd name="connsiteY0-232" fmla="*/ 0 h 484554"/>
              <a:gd name="connsiteX1-233" fmla="*/ 1744046 w 1744046"/>
              <a:gd name="connsiteY1-234" fmla="*/ 0 h 484554"/>
              <a:gd name="connsiteX2-235" fmla="*/ 1658321 w 1744046"/>
              <a:gd name="connsiteY2-236" fmla="*/ 403793 h 484554"/>
              <a:gd name="connsiteX3-237" fmla="*/ 1577560 w 1744046"/>
              <a:gd name="connsiteY3-238" fmla="*/ 484554 h 484554"/>
              <a:gd name="connsiteX4-239" fmla="*/ 0 w 1744046"/>
              <a:gd name="connsiteY4-240" fmla="*/ 484554 h 484554"/>
              <a:gd name="connsiteX5-241" fmla="*/ 76200 w 1744046"/>
              <a:gd name="connsiteY5-242" fmla="*/ 80761 h 484554"/>
              <a:gd name="connsiteX6-243" fmla="*/ 156961 w 1744046"/>
              <a:gd name="connsiteY6-244" fmla="*/ 0 h 4845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744046" h="484554">
                <a:moveTo>
                  <a:pt x="156961" y="0"/>
                </a:moveTo>
                <a:lnTo>
                  <a:pt x="1744046" y="0"/>
                </a:lnTo>
                <a:lnTo>
                  <a:pt x="1658321" y="403793"/>
                </a:lnTo>
                <a:cubicBezTo>
                  <a:pt x="1658321" y="448396"/>
                  <a:pt x="1622163" y="484554"/>
                  <a:pt x="1577560" y="484554"/>
                </a:cubicBezTo>
                <a:lnTo>
                  <a:pt x="0" y="484554"/>
                </a:lnTo>
                <a:cubicBezTo>
                  <a:pt x="19050" y="343606"/>
                  <a:pt x="57150" y="180434"/>
                  <a:pt x="76200" y="80761"/>
                </a:cubicBezTo>
                <a:cubicBezTo>
                  <a:pt x="88900" y="36158"/>
                  <a:pt x="112358" y="0"/>
                  <a:pt x="156961" y="0"/>
                </a:cubicBezTo>
                <a:close/>
              </a:path>
            </a:pathLst>
          </a:custGeom>
          <a:solidFill>
            <a:schemeClr val="accent1"/>
          </a:solidFill>
          <a:ln w="38100">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45" name="矩形: 对角圆角 475"/>
          <p:cNvSpPr/>
          <p:nvPr/>
        </p:nvSpPr>
        <p:spPr>
          <a:xfrm>
            <a:off x="8974939" y="5081405"/>
            <a:ext cx="1143054" cy="317580"/>
          </a:xfrm>
          <a:custGeom>
            <a:avLst/>
            <a:gdLst>
              <a:gd name="connsiteX0" fmla="*/ 80761 w 1582121"/>
              <a:gd name="connsiteY0" fmla="*/ 0 h 484554"/>
              <a:gd name="connsiteX1" fmla="*/ 1582121 w 1582121"/>
              <a:gd name="connsiteY1" fmla="*/ 0 h 484554"/>
              <a:gd name="connsiteX2" fmla="*/ 1582121 w 1582121"/>
              <a:gd name="connsiteY2" fmla="*/ 0 h 484554"/>
              <a:gd name="connsiteX3" fmla="*/ 1582121 w 1582121"/>
              <a:gd name="connsiteY3" fmla="*/ 403793 h 484554"/>
              <a:gd name="connsiteX4" fmla="*/ 1501360 w 1582121"/>
              <a:gd name="connsiteY4" fmla="*/ 484554 h 484554"/>
              <a:gd name="connsiteX5" fmla="*/ 0 w 1582121"/>
              <a:gd name="connsiteY5" fmla="*/ 484554 h 484554"/>
              <a:gd name="connsiteX6" fmla="*/ 0 w 1582121"/>
              <a:gd name="connsiteY6" fmla="*/ 484554 h 484554"/>
              <a:gd name="connsiteX7" fmla="*/ 0 w 1582121"/>
              <a:gd name="connsiteY7" fmla="*/ 80761 h 484554"/>
              <a:gd name="connsiteX8" fmla="*/ 80761 w 1582121"/>
              <a:gd name="connsiteY8" fmla="*/ 0 h 484554"/>
              <a:gd name="connsiteX0-1" fmla="*/ 128386 w 1629746"/>
              <a:gd name="connsiteY0-2" fmla="*/ 0 h 484554"/>
              <a:gd name="connsiteX1-3" fmla="*/ 1629746 w 1629746"/>
              <a:gd name="connsiteY1-4" fmla="*/ 0 h 484554"/>
              <a:gd name="connsiteX2-5" fmla="*/ 1629746 w 1629746"/>
              <a:gd name="connsiteY2-6" fmla="*/ 0 h 484554"/>
              <a:gd name="connsiteX3-7" fmla="*/ 1629746 w 1629746"/>
              <a:gd name="connsiteY3-8" fmla="*/ 403793 h 484554"/>
              <a:gd name="connsiteX4-9" fmla="*/ 1548985 w 1629746"/>
              <a:gd name="connsiteY4-10" fmla="*/ 484554 h 484554"/>
              <a:gd name="connsiteX5-11" fmla="*/ 47625 w 1629746"/>
              <a:gd name="connsiteY5-12" fmla="*/ 484554 h 484554"/>
              <a:gd name="connsiteX6-13" fmla="*/ 0 w 1629746"/>
              <a:gd name="connsiteY6-14" fmla="*/ 484554 h 484554"/>
              <a:gd name="connsiteX7-15" fmla="*/ 47625 w 1629746"/>
              <a:gd name="connsiteY7-16" fmla="*/ 80761 h 484554"/>
              <a:gd name="connsiteX8-17" fmla="*/ 128386 w 1629746"/>
              <a:gd name="connsiteY8-18" fmla="*/ 0 h 484554"/>
              <a:gd name="connsiteX0-19" fmla="*/ 128386 w 1677371"/>
              <a:gd name="connsiteY0-20" fmla="*/ 9525 h 494079"/>
              <a:gd name="connsiteX1-21" fmla="*/ 1629746 w 1677371"/>
              <a:gd name="connsiteY1-22" fmla="*/ 9525 h 494079"/>
              <a:gd name="connsiteX2-23" fmla="*/ 1677371 w 1677371"/>
              <a:gd name="connsiteY2-24" fmla="*/ 0 h 494079"/>
              <a:gd name="connsiteX3-25" fmla="*/ 1629746 w 1677371"/>
              <a:gd name="connsiteY3-26" fmla="*/ 413318 h 494079"/>
              <a:gd name="connsiteX4-27" fmla="*/ 1548985 w 1677371"/>
              <a:gd name="connsiteY4-28" fmla="*/ 494079 h 494079"/>
              <a:gd name="connsiteX5-29" fmla="*/ 47625 w 1677371"/>
              <a:gd name="connsiteY5-30" fmla="*/ 494079 h 494079"/>
              <a:gd name="connsiteX6-31" fmla="*/ 0 w 1677371"/>
              <a:gd name="connsiteY6-32" fmla="*/ 494079 h 494079"/>
              <a:gd name="connsiteX7-33" fmla="*/ 47625 w 1677371"/>
              <a:gd name="connsiteY7-34" fmla="*/ 90286 h 494079"/>
              <a:gd name="connsiteX8-35" fmla="*/ 128386 w 1677371"/>
              <a:gd name="connsiteY8-36" fmla="*/ 9525 h 494079"/>
              <a:gd name="connsiteX0-37" fmla="*/ 128386 w 1705946"/>
              <a:gd name="connsiteY0-38" fmla="*/ 9525 h 494079"/>
              <a:gd name="connsiteX1-39" fmla="*/ 1629746 w 1705946"/>
              <a:gd name="connsiteY1-40" fmla="*/ 9525 h 494079"/>
              <a:gd name="connsiteX2-41" fmla="*/ 1705946 w 1705946"/>
              <a:gd name="connsiteY2-42" fmla="*/ 0 h 494079"/>
              <a:gd name="connsiteX3-43" fmla="*/ 1629746 w 1705946"/>
              <a:gd name="connsiteY3-44" fmla="*/ 413318 h 494079"/>
              <a:gd name="connsiteX4-45" fmla="*/ 1548985 w 1705946"/>
              <a:gd name="connsiteY4-46" fmla="*/ 494079 h 494079"/>
              <a:gd name="connsiteX5-47" fmla="*/ 47625 w 1705946"/>
              <a:gd name="connsiteY5-48" fmla="*/ 494079 h 494079"/>
              <a:gd name="connsiteX6-49" fmla="*/ 0 w 1705946"/>
              <a:gd name="connsiteY6-50" fmla="*/ 494079 h 494079"/>
              <a:gd name="connsiteX7-51" fmla="*/ 47625 w 1705946"/>
              <a:gd name="connsiteY7-52" fmla="*/ 90286 h 494079"/>
              <a:gd name="connsiteX8-53" fmla="*/ 128386 w 1705946"/>
              <a:gd name="connsiteY8-54" fmla="*/ 9525 h 494079"/>
              <a:gd name="connsiteX0-55" fmla="*/ 128386 w 1718646"/>
              <a:gd name="connsiteY0-56" fmla="*/ 0 h 484554"/>
              <a:gd name="connsiteX1-57" fmla="*/ 1629746 w 1718646"/>
              <a:gd name="connsiteY1-58" fmla="*/ 0 h 484554"/>
              <a:gd name="connsiteX2-59" fmla="*/ 1718646 w 1718646"/>
              <a:gd name="connsiteY2-60" fmla="*/ 6350 h 484554"/>
              <a:gd name="connsiteX3-61" fmla="*/ 1629746 w 1718646"/>
              <a:gd name="connsiteY3-62" fmla="*/ 403793 h 484554"/>
              <a:gd name="connsiteX4-63" fmla="*/ 1548985 w 1718646"/>
              <a:gd name="connsiteY4-64" fmla="*/ 484554 h 484554"/>
              <a:gd name="connsiteX5-65" fmla="*/ 47625 w 1718646"/>
              <a:gd name="connsiteY5-66" fmla="*/ 484554 h 484554"/>
              <a:gd name="connsiteX6-67" fmla="*/ 0 w 1718646"/>
              <a:gd name="connsiteY6-68" fmla="*/ 484554 h 484554"/>
              <a:gd name="connsiteX7-69" fmla="*/ 47625 w 1718646"/>
              <a:gd name="connsiteY7-70" fmla="*/ 80761 h 484554"/>
              <a:gd name="connsiteX8-71" fmla="*/ 128386 w 1718646"/>
              <a:gd name="connsiteY8-72" fmla="*/ 0 h 484554"/>
              <a:gd name="connsiteX0-73" fmla="*/ 128386 w 1718646"/>
              <a:gd name="connsiteY0-74" fmla="*/ 0 h 484554"/>
              <a:gd name="connsiteX1-75" fmla="*/ 1718646 w 1718646"/>
              <a:gd name="connsiteY1-76" fmla="*/ 6350 h 484554"/>
              <a:gd name="connsiteX2-77" fmla="*/ 1629746 w 1718646"/>
              <a:gd name="connsiteY2-78" fmla="*/ 403793 h 484554"/>
              <a:gd name="connsiteX3-79" fmla="*/ 1548985 w 1718646"/>
              <a:gd name="connsiteY3-80" fmla="*/ 484554 h 484554"/>
              <a:gd name="connsiteX4-81" fmla="*/ 47625 w 1718646"/>
              <a:gd name="connsiteY4-82" fmla="*/ 484554 h 484554"/>
              <a:gd name="connsiteX5-83" fmla="*/ 0 w 1718646"/>
              <a:gd name="connsiteY5-84" fmla="*/ 484554 h 484554"/>
              <a:gd name="connsiteX6-85" fmla="*/ 47625 w 1718646"/>
              <a:gd name="connsiteY6-86" fmla="*/ 80761 h 484554"/>
              <a:gd name="connsiteX7-87" fmla="*/ 128386 w 1718646"/>
              <a:gd name="connsiteY7-88" fmla="*/ 0 h 484554"/>
              <a:gd name="connsiteX0-89" fmla="*/ 128386 w 1715471"/>
              <a:gd name="connsiteY0-90" fmla="*/ 0 h 484554"/>
              <a:gd name="connsiteX1-91" fmla="*/ 1715471 w 1715471"/>
              <a:gd name="connsiteY1-92" fmla="*/ 0 h 484554"/>
              <a:gd name="connsiteX2-93" fmla="*/ 1629746 w 1715471"/>
              <a:gd name="connsiteY2-94" fmla="*/ 403793 h 484554"/>
              <a:gd name="connsiteX3-95" fmla="*/ 1548985 w 1715471"/>
              <a:gd name="connsiteY3-96" fmla="*/ 484554 h 484554"/>
              <a:gd name="connsiteX4-97" fmla="*/ 47625 w 1715471"/>
              <a:gd name="connsiteY4-98" fmla="*/ 484554 h 484554"/>
              <a:gd name="connsiteX5-99" fmla="*/ 0 w 1715471"/>
              <a:gd name="connsiteY5-100" fmla="*/ 484554 h 484554"/>
              <a:gd name="connsiteX6-101" fmla="*/ 47625 w 1715471"/>
              <a:gd name="connsiteY6-102" fmla="*/ 80761 h 484554"/>
              <a:gd name="connsiteX7-103" fmla="*/ 128386 w 1715471"/>
              <a:gd name="connsiteY7-104" fmla="*/ 0 h 484554"/>
              <a:gd name="connsiteX0-105" fmla="*/ 128386 w 1715471"/>
              <a:gd name="connsiteY0-106" fmla="*/ 0 h 484554"/>
              <a:gd name="connsiteX1-107" fmla="*/ 1715471 w 1715471"/>
              <a:gd name="connsiteY1-108" fmla="*/ 0 h 484554"/>
              <a:gd name="connsiteX2-109" fmla="*/ 1629746 w 1715471"/>
              <a:gd name="connsiteY2-110" fmla="*/ 403793 h 484554"/>
              <a:gd name="connsiteX3-111" fmla="*/ 1548985 w 1715471"/>
              <a:gd name="connsiteY3-112" fmla="*/ 484554 h 484554"/>
              <a:gd name="connsiteX4-113" fmla="*/ 0 w 1715471"/>
              <a:gd name="connsiteY4-114" fmla="*/ 484554 h 484554"/>
              <a:gd name="connsiteX5-115" fmla="*/ 47625 w 1715471"/>
              <a:gd name="connsiteY5-116" fmla="*/ 80761 h 484554"/>
              <a:gd name="connsiteX6-117" fmla="*/ 128386 w 1715471"/>
              <a:gd name="connsiteY6-118" fmla="*/ 0 h 484554"/>
              <a:gd name="connsiteX0-119" fmla="*/ 137911 w 1724996"/>
              <a:gd name="connsiteY0-120" fmla="*/ 0 h 484554"/>
              <a:gd name="connsiteX1-121" fmla="*/ 1724996 w 1724996"/>
              <a:gd name="connsiteY1-122" fmla="*/ 0 h 484554"/>
              <a:gd name="connsiteX2-123" fmla="*/ 1639271 w 1724996"/>
              <a:gd name="connsiteY2-124" fmla="*/ 403793 h 484554"/>
              <a:gd name="connsiteX3-125" fmla="*/ 1558510 w 1724996"/>
              <a:gd name="connsiteY3-126" fmla="*/ 484554 h 484554"/>
              <a:gd name="connsiteX4-127" fmla="*/ 0 w 1724996"/>
              <a:gd name="connsiteY4-128" fmla="*/ 484554 h 484554"/>
              <a:gd name="connsiteX5-129" fmla="*/ 57150 w 1724996"/>
              <a:gd name="connsiteY5-130" fmla="*/ 80761 h 484554"/>
              <a:gd name="connsiteX6-131" fmla="*/ 137911 w 1724996"/>
              <a:gd name="connsiteY6-132" fmla="*/ 0 h 484554"/>
              <a:gd name="connsiteX0-133" fmla="*/ 137911 w 1724996"/>
              <a:gd name="connsiteY0-134" fmla="*/ 0 h 484554"/>
              <a:gd name="connsiteX1-135" fmla="*/ 1724996 w 1724996"/>
              <a:gd name="connsiteY1-136" fmla="*/ 0 h 484554"/>
              <a:gd name="connsiteX2-137" fmla="*/ 1639271 w 1724996"/>
              <a:gd name="connsiteY2-138" fmla="*/ 403793 h 484554"/>
              <a:gd name="connsiteX3-139" fmla="*/ 1558510 w 1724996"/>
              <a:gd name="connsiteY3-140" fmla="*/ 484554 h 484554"/>
              <a:gd name="connsiteX4-141" fmla="*/ 0 w 1724996"/>
              <a:gd name="connsiteY4-142" fmla="*/ 484554 h 484554"/>
              <a:gd name="connsiteX5-143" fmla="*/ 57150 w 1724996"/>
              <a:gd name="connsiteY5-144" fmla="*/ 80761 h 484554"/>
              <a:gd name="connsiteX6-145" fmla="*/ 137911 w 1724996"/>
              <a:gd name="connsiteY6-146" fmla="*/ 0 h 484554"/>
              <a:gd name="connsiteX0-147" fmla="*/ 137911 w 1724996"/>
              <a:gd name="connsiteY0-148" fmla="*/ 0 h 484554"/>
              <a:gd name="connsiteX1-149" fmla="*/ 1724996 w 1724996"/>
              <a:gd name="connsiteY1-150" fmla="*/ 0 h 484554"/>
              <a:gd name="connsiteX2-151" fmla="*/ 1639271 w 1724996"/>
              <a:gd name="connsiteY2-152" fmla="*/ 403793 h 484554"/>
              <a:gd name="connsiteX3-153" fmla="*/ 1558510 w 1724996"/>
              <a:gd name="connsiteY3-154" fmla="*/ 484554 h 484554"/>
              <a:gd name="connsiteX4-155" fmla="*/ 0 w 1724996"/>
              <a:gd name="connsiteY4-156" fmla="*/ 484554 h 484554"/>
              <a:gd name="connsiteX5-157" fmla="*/ 57150 w 1724996"/>
              <a:gd name="connsiteY5-158" fmla="*/ 80761 h 484554"/>
              <a:gd name="connsiteX6-159" fmla="*/ 137911 w 1724996"/>
              <a:gd name="connsiteY6-160" fmla="*/ 0 h 484554"/>
              <a:gd name="connsiteX0-161" fmla="*/ 156961 w 1744046"/>
              <a:gd name="connsiteY0-162" fmla="*/ 0 h 484554"/>
              <a:gd name="connsiteX1-163" fmla="*/ 1744046 w 1744046"/>
              <a:gd name="connsiteY1-164" fmla="*/ 0 h 484554"/>
              <a:gd name="connsiteX2-165" fmla="*/ 1658321 w 1744046"/>
              <a:gd name="connsiteY2-166" fmla="*/ 403793 h 484554"/>
              <a:gd name="connsiteX3-167" fmla="*/ 1577560 w 1744046"/>
              <a:gd name="connsiteY3-168" fmla="*/ 484554 h 484554"/>
              <a:gd name="connsiteX4-169" fmla="*/ 0 w 1744046"/>
              <a:gd name="connsiteY4-170" fmla="*/ 484554 h 484554"/>
              <a:gd name="connsiteX5-171" fmla="*/ 76200 w 1744046"/>
              <a:gd name="connsiteY5-172" fmla="*/ 80761 h 484554"/>
              <a:gd name="connsiteX6-173" fmla="*/ 156961 w 1744046"/>
              <a:gd name="connsiteY6-174" fmla="*/ 0 h 484554"/>
              <a:gd name="connsiteX0-175" fmla="*/ 156961 w 1744046"/>
              <a:gd name="connsiteY0-176" fmla="*/ 0 h 484554"/>
              <a:gd name="connsiteX1-177" fmla="*/ 1744046 w 1744046"/>
              <a:gd name="connsiteY1-178" fmla="*/ 0 h 484554"/>
              <a:gd name="connsiteX2-179" fmla="*/ 1658321 w 1744046"/>
              <a:gd name="connsiteY2-180" fmla="*/ 403793 h 484554"/>
              <a:gd name="connsiteX3-181" fmla="*/ 1577560 w 1744046"/>
              <a:gd name="connsiteY3-182" fmla="*/ 484554 h 484554"/>
              <a:gd name="connsiteX4-183" fmla="*/ 0 w 1744046"/>
              <a:gd name="connsiteY4-184" fmla="*/ 484554 h 484554"/>
              <a:gd name="connsiteX5-185" fmla="*/ 76200 w 1744046"/>
              <a:gd name="connsiteY5-186" fmla="*/ 80761 h 484554"/>
              <a:gd name="connsiteX6-187" fmla="*/ 156961 w 1744046"/>
              <a:gd name="connsiteY6-188" fmla="*/ 0 h 484554"/>
              <a:gd name="connsiteX0-189" fmla="*/ 156961 w 1744046"/>
              <a:gd name="connsiteY0-190" fmla="*/ 0 h 484554"/>
              <a:gd name="connsiteX1-191" fmla="*/ 1744046 w 1744046"/>
              <a:gd name="connsiteY1-192" fmla="*/ 0 h 484554"/>
              <a:gd name="connsiteX2-193" fmla="*/ 1658321 w 1744046"/>
              <a:gd name="connsiteY2-194" fmla="*/ 403793 h 484554"/>
              <a:gd name="connsiteX3-195" fmla="*/ 1577560 w 1744046"/>
              <a:gd name="connsiteY3-196" fmla="*/ 484554 h 484554"/>
              <a:gd name="connsiteX4-197" fmla="*/ 0 w 1744046"/>
              <a:gd name="connsiteY4-198" fmla="*/ 484554 h 484554"/>
              <a:gd name="connsiteX5-199" fmla="*/ 76200 w 1744046"/>
              <a:gd name="connsiteY5-200" fmla="*/ 80761 h 484554"/>
              <a:gd name="connsiteX6-201" fmla="*/ 156961 w 1744046"/>
              <a:gd name="connsiteY6-202" fmla="*/ 0 h 484554"/>
              <a:gd name="connsiteX0-203" fmla="*/ 156961 w 1744046"/>
              <a:gd name="connsiteY0-204" fmla="*/ 0 h 484554"/>
              <a:gd name="connsiteX1-205" fmla="*/ 1744046 w 1744046"/>
              <a:gd name="connsiteY1-206" fmla="*/ 0 h 484554"/>
              <a:gd name="connsiteX2-207" fmla="*/ 1658321 w 1744046"/>
              <a:gd name="connsiteY2-208" fmla="*/ 403793 h 484554"/>
              <a:gd name="connsiteX3-209" fmla="*/ 1577560 w 1744046"/>
              <a:gd name="connsiteY3-210" fmla="*/ 484554 h 484554"/>
              <a:gd name="connsiteX4-211" fmla="*/ 0 w 1744046"/>
              <a:gd name="connsiteY4-212" fmla="*/ 484554 h 484554"/>
              <a:gd name="connsiteX5-213" fmla="*/ 76200 w 1744046"/>
              <a:gd name="connsiteY5-214" fmla="*/ 80761 h 484554"/>
              <a:gd name="connsiteX6-215" fmla="*/ 156961 w 1744046"/>
              <a:gd name="connsiteY6-216" fmla="*/ 0 h 484554"/>
              <a:gd name="connsiteX0-217" fmla="*/ 156961 w 1744046"/>
              <a:gd name="connsiteY0-218" fmla="*/ 0 h 484554"/>
              <a:gd name="connsiteX1-219" fmla="*/ 1744046 w 1744046"/>
              <a:gd name="connsiteY1-220" fmla="*/ 0 h 484554"/>
              <a:gd name="connsiteX2-221" fmla="*/ 1658321 w 1744046"/>
              <a:gd name="connsiteY2-222" fmla="*/ 403793 h 484554"/>
              <a:gd name="connsiteX3-223" fmla="*/ 1577560 w 1744046"/>
              <a:gd name="connsiteY3-224" fmla="*/ 484554 h 484554"/>
              <a:gd name="connsiteX4-225" fmla="*/ 0 w 1744046"/>
              <a:gd name="connsiteY4-226" fmla="*/ 484554 h 484554"/>
              <a:gd name="connsiteX5-227" fmla="*/ 76200 w 1744046"/>
              <a:gd name="connsiteY5-228" fmla="*/ 80761 h 484554"/>
              <a:gd name="connsiteX6-229" fmla="*/ 156961 w 1744046"/>
              <a:gd name="connsiteY6-230" fmla="*/ 0 h 484554"/>
              <a:gd name="connsiteX0-231" fmla="*/ 156961 w 1744046"/>
              <a:gd name="connsiteY0-232" fmla="*/ 0 h 484554"/>
              <a:gd name="connsiteX1-233" fmla="*/ 1744046 w 1744046"/>
              <a:gd name="connsiteY1-234" fmla="*/ 0 h 484554"/>
              <a:gd name="connsiteX2-235" fmla="*/ 1658321 w 1744046"/>
              <a:gd name="connsiteY2-236" fmla="*/ 403793 h 484554"/>
              <a:gd name="connsiteX3-237" fmla="*/ 1577560 w 1744046"/>
              <a:gd name="connsiteY3-238" fmla="*/ 484554 h 484554"/>
              <a:gd name="connsiteX4-239" fmla="*/ 0 w 1744046"/>
              <a:gd name="connsiteY4-240" fmla="*/ 484554 h 484554"/>
              <a:gd name="connsiteX5-241" fmla="*/ 76200 w 1744046"/>
              <a:gd name="connsiteY5-242" fmla="*/ 80761 h 484554"/>
              <a:gd name="connsiteX6-243" fmla="*/ 156961 w 1744046"/>
              <a:gd name="connsiteY6-244" fmla="*/ 0 h 48455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744046" h="484554">
                <a:moveTo>
                  <a:pt x="156961" y="0"/>
                </a:moveTo>
                <a:lnTo>
                  <a:pt x="1744046" y="0"/>
                </a:lnTo>
                <a:lnTo>
                  <a:pt x="1658321" y="403793"/>
                </a:lnTo>
                <a:cubicBezTo>
                  <a:pt x="1658321" y="448396"/>
                  <a:pt x="1622163" y="484554"/>
                  <a:pt x="1577560" y="484554"/>
                </a:cubicBezTo>
                <a:lnTo>
                  <a:pt x="0" y="484554"/>
                </a:lnTo>
                <a:cubicBezTo>
                  <a:pt x="19050" y="343606"/>
                  <a:pt x="57150" y="180434"/>
                  <a:pt x="76200" y="80761"/>
                </a:cubicBezTo>
                <a:cubicBezTo>
                  <a:pt x="88900" y="36158"/>
                  <a:pt x="112358" y="0"/>
                  <a:pt x="156961" y="0"/>
                </a:cubicBezTo>
                <a:close/>
              </a:path>
            </a:pathLst>
          </a:custGeom>
          <a:solidFill>
            <a:schemeClr val="accent1"/>
          </a:solidFill>
          <a:ln w="38100">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dirty="0">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46" name="文本框 45"/>
          <p:cNvSpPr txBox="1"/>
          <p:nvPr/>
        </p:nvSpPr>
        <p:spPr>
          <a:xfrm>
            <a:off x="3846482" y="4960966"/>
            <a:ext cx="824930"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en-US" altLang="zh-CN" sz="1000" dirty="0">
                <a:latin typeface="微软雅黑" panose="020B0503020204020204" charset="-122"/>
                <a:ea typeface="微软雅黑" panose="020B0503020204020204" charset="-122"/>
                <a:cs typeface="微软雅黑" panose="020B0503020204020204" charset="-122"/>
              </a:rPr>
              <a:t>OA</a:t>
            </a:r>
            <a:r>
              <a:rPr lang="zh-CN" altLang="en-US" sz="1000" dirty="0">
                <a:latin typeface="微软雅黑" panose="020B0503020204020204" charset="-122"/>
                <a:ea typeface="微软雅黑" panose="020B0503020204020204" charset="-122"/>
                <a:cs typeface="微软雅黑" panose="020B0503020204020204" charset="-122"/>
              </a:rPr>
              <a:t>系统</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47" name="文本框 46"/>
          <p:cNvSpPr txBox="1"/>
          <p:nvPr/>
        </p:nvSpPr>
        <p:spPr>
          <a:xfrm>
            <a:off x="4662623" y="4960966"/>
            <a:ext cx="824930"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en-US" altLang="zh-CN" sz="1000" dirty="0">
                <a:latin typeface="微软雅黑" panose="020B0503020204020204" charset="-122"/>
                <a:ea typeface="微软雅黑" panose="020B0503020204020204" charset="-122"/>
                <a:cs typeface="微软雅黑" panose="020B0503020204020204" charset="-122"/>
              </a:rPr>
              <a:t>PLM</a:t>
            </a:r>
            <a:r>
              <a:rPr lang="zh-CN" altLang="en-US" sz="1000" dirty="0">
                <a:latin typeface="微软雅黑" panose="020B0503020204020204" charset="-122"/>
                <a:ea typeface="微软雅黑" panose="020B0503020204020204" charset="-122"/>
                <a:cs typeface="微软雅黑" panose="020B0503020204020204" charset="-122"/>
              </a:rPr>
              <a:t>系统</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48" name="文本框 47"/>
          <p:cNvSpPr txBox="1"/>
          <p:nvPr/>
        </p:nvSpPr>
        <p:spPr>
          <a:xfrm>
            <a:off x="3846482" y="5238172"/>
            <a:ext cx="824930"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en-US" altLang="zh-CN" sz="1000" dirty="0">
                <a:latin typeface="微软雅黑" panose="020B0503020204020204" charset="-122"/>
                <a:ea typeface="微软雅黑" panose="020B0503020204020204" charset="-122"/>
                <a:cs typeface="微软雅黑" panose="020B0503020204020204" charset="-122"/>
              </a:rPr>
              <a:t>ERP</a:t>
            </a:r>
            <a:r>
              <a:rPr lang="zh-CN" altLang="en-US" sz="1000" dirty="0">
                <a:latin typeface="微软雅黑" panose="020B0503020204020204" charset="-122"/>
                <a:ea typeface="微软雅黑" panose="020B0503020204020204" charset="-122"/>
                <a:cs typeface="微软雅黑" panose="020B0503020204020204" charset="-122"/>
              </a:rPr>
              <a:t>系统</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49" name="文本框 48"/>
          <p:cNvSpPr txBox="1"/>
          <p:nvPr/>
        </p:nvSpPr>
        <p:spPr>
          <a:xfrm>
            <a:off x="4662623" y="5238172"/>
            <a:ext cx="824930"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latin typeface="微软雅黑" panose="020B0503020204020204" charset="-122"/>
                <a:ea typeface="微软雅黑" panose="020B0503020204020204" charset="-122"/>
                <a:cs typeface="微软雅黑" panose="020B0503020204020204" charset="-122"/>
              </a:rPr>
              <a:t>其他系统</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50" name="文本框 49"/>
          <p:cNvSpPr txBox="1"/>
          <p:nvPr/>
        </p:nvSpPr>
        <p:spPr>
          <a:xfrm>
            <a:off x="7046114" y="4960966"/>
            <a:ext cx="824930"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latin typeface="微软雅黑" panose="020B0503020204020204" charset="-122"/>
                <a:ea typeface="微软雅黑" panose="020B0503020204020204" charset="-122"/>
                <a:cs typeface="微软雅黑" panose="020B0503020204020204" charset="-122"/>
              </a:rPr>
              <a:t>社交媒体</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51" name="文本框 50"/>
          <p:cNvSpPr txBox="1"/>
          <p:nvPr/>
        </p:nvSpPr>
        <p:spPr>
          <a:xfrm>
            <a:off x="7862255" y="4960966"/>
            <a:ext cx="824930"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latin typeface="微软雅黑" panose="020B0503020204020204" charset="-122"/>
                <a:ea typeface="微软雅黑" panose="020B0503020204020204" charset="-122"/>
                <a:cs typeface="微软雅黑" panose="020B0503020204020204" charset="-122"/>
              </a:rPr>
              <a:t>互联网</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52" name="文本框 51"/>
          <p:cNvSpPr txBox="1"/>
          <p:nvPr/>
        </p:nvSpPr>
        <p:spPr>
          <a:xfrm>
            <a:off x="6925800" y="5238172"/>
            <a:ext cx="1065558"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latin typeface="微软雅黑" panose="020B0503020204020204" charset="-122"/>
                <a:ea typeface="微软雅黑" panose="020B0503020204020204" charset="-122"/>
                <a:cs typeface="微软雅黑" panose="020B0503020204020204" charset="-122"/>
              </a:rPr>
              <a:t>其他企业应用</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53" name="文本框 52"/>
          <p:cNvSpPr txBox="1"/>
          <p:nvPr/>
        </p:nvSpPr>
        <p:spPr>
          <a:xfrm>
            <a:off x="7862255" y="5238172"/>
            <a:ext cx="824930"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latin typeface="微软雅黑" panose="020B0503020204020204" charset="-122"/>
                <a:ea typeface="微软雅黑" panose="020B0503020204020204" charset="-122"/>
                <a:cs typeface="微软雅黑" panose="020B0503020204020204" charset="-122"/>
              </a:rPr>
              <a:t>政府数据</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nvSpPr>
        <p:spPr>
          <a:xfrm>
            <a:off x="2754023" y="1810524"/>
            <a:ext cx="1261038"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latin typeface="微软雅黑" panose="020B0503020204020204" charset="-122"/>
                <a:ea typeface="微软雅黑" panose="020B0503020204020204" charset="-122"/>
                <a:cs typeface="微软雅黑" panose="020B0503020204020204" charset="-122"/>
              </a:rPr>
              <a:t>基础数据统一</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55" name="文本框 54"/>
          <p:cNvSpPr txBox="1"/>
          <p:nvPr/>
        </p:nvSpPr>
        <p:spPr>
          <a:xfrm>
            <a:off x="4239072" y="1780230"/>
            <a:ext cx="1067128"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latin typeface="微软雅黑" panose="020B0503020204020204" charset="-122"/>
                <a:ea typeface="微软雅黑" panose="020B0503020204020204" charset="-122"/>
                <a:cs typeface="微软雅黑" panose="020B0503020204020204" charset="-122"/>
              </a:rPr>
              <a:t>运营决策系统</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56" name="文本框 55"/>
          <p:cNvSpPr txBox="1"/>
          <p:nvPr/>
        </p:nvSpPr>
        <p:spPr>
          <a:xfrm>
            <a:off x="5644115" y="1780230"/>
            <a:ext cx="1067128"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latin typeface="微软雅黑" panose="020B0503020204020204" charset="-122"/>
                <a:ea typeface="微软雅黑" panose="020B0503020204020204" charset="-122"/>
                <a:cs typeface="微软雅黑" panose="020B0503020204020204" charset="-122"/>
              </a:rPr>
              <a:t>缩减管理成本</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57" name="文本框 56"/>
          <p:cNvSpPr txBox="1"/>
          <p:nvPr/>
        </p:nvSpPr>
        <p:spPr>
          <a:xfrm>
            <a:off x="7043503" y="1780230"/>
            <a:ext cx="1067128"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latin typeface="微软雅黑" panose="020B0503020204020204" charset="-122"/>
                <a:ea typeface="微软雅黑" panose="020B0503020204020204" charset="-122"/>
                <a:cs typeface="微软雅黑" panose="020B0503020204020204" charset="-122"/>
              </a:rPr>
              <a:t>提升数据价值</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58" name="文本框 57"/>
          <p:cNvSpPr txBox="1"/>
          <p:nvPr/>
        </p:nvSpPr>
        <p:spPr>
          <a:xfrm>
            <a:off x="8442891" y="1810524"/>
            <a:ext cx="1067128"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latin typeface="微软雅黑" panose="020B0503020204020204" charset="-122"/>
                <a:ea typeface="微软雅黑" panose="020B0503020204020204" charset="-122"/>
                <a:cs typeface="微软雅黑" panose="020B0503020204020204" charset="-122"/>
              </a:rPr>
              <a:t>降低数据风险</a:t>
            </a:r>
            <a:endParaRPr lang="zh-CN" altLang="en-US" sz="1000" dirty="0">
              <a:latin typeface="微软雅黑" panose="020B0503020204020204" charset="-122"/>
              <a:ea typeface="微软雅黑" panose="020B0503020204020204" charset="-122"/>
              <a:cs typeface="微软雅黑" panose="020B0503020204020204" charset="-122"/>
            </a:endParaRPr>
          </a:p>
        </p:txBody>
      </p:sp>
      <p:sp>
        <p:nvSpPr>
          <p:cNvPr id="59" name="文本框 58"/>
          <p:cNvSpPr txBox="1"/>
          <p:nvPr/>
        </p:nvSpPr>
        <p:spPr>
          <a:xfrm>
            <a:off x="5491844" y="4076936"/>
            <a:ext cx="1384578" cy="305596"/>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r>
              <a:rPr lang="zh-CN" altLang="en-US" dirty="0">
                <a:solidFill>
                  <a:srgbClr val="FFFFFF"/>
                </a:solidFill>
                <a:latin typeface="微软雅黑" panose="020B0503020204020204" charset="-122"/>
                <a:ea typeface="微软雅黑" panose="020B0503020204020204" charset="-122"/>
                <a:cs typeface="微软雅黑" panose="020B0503020204020204" charset="-122"/>
              </a:rPr>
              <a:t>元数据</a:t>
            </a:r>
            <a:endParaRPr lang="zh-CN" altLang="en-US"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1" name="文本框 60"/>
          <p:cNvSpPr txBox="1"/>
          <p:nvPr/>
        </p:nvSpPr>
        <p:spPr>
          <a:xfrm>
            <a:off x="4662623" y="4135429"/>
            <a:ext cx="824930"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en-US" altLang="zh-CN" sz="1000" dirty="0">
                <a:solidFill>
                  <a:srgbClr val="FFFFFF"/>
                </a:solidFill>
                <a:latin typeface="微软雅黑" panose="020B0503020204020204" charset="-122"/>
                <a:ea typeface="微软雅黑" panose="020B0503020204020204" charset="-122"/>
                <a:cs typeface="微软雅黑" panose="020B0503020204020204" charset="-122"/>
              </a:rPr>
              <a:t>OA</a:t>
            </a: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系统</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2" name="文本框 61"/>
          <p:cNvSpPr txBox="1"/>
          <p:nvPr/>
        </p:nvSpPr>
        <p:spPr>
          <a:xfrm>
            <a:off x="3569475" y="4160829"/>
            <a:ext cx="824930"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en-US" altLang="zh-CN" sz="1000" dirty="0">
                <a:solidFill>
                  <a:srgbClr val="FFFFFF"/>
                </a:solidFill>
                <a:latin typeface="微软雅黑" panose="020B0503020204020204" charset="-122"/>
                <a:ea typeface="微软雅黑" panose="020B0503020204020204" charset="-122"/>
                <a:cs typeface="微软雅黑" panose="020B0503020204020204" charset="-122"/>
              </a:rPr>
              <a:t>ERP</a:t>
            </a: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系统</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4" name="文本框 63"/>
          <p:cNvSpPr txBox="1"/>
          <p:nvPr/>
        </p:nvSpPr>
        <p:spPr>
          <a:xfrm>
            <a:off x="8053541" y="4160829"/>
            <a:ext cx="824930"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en-US" altLang="zh-CN" sz="1000" dirty="0">
                <a:solidFill>
                  <a:srgbClr val="FFFFFF"/>
                </a:solidFill>
                <a:latin typeface="微软雅黑" panose="020B0503020204020204" charset="-122"/>
                <a:ea typeface="微软雅黑" panose="020B0503020204020204" charset="-122"/>
                <a:cs typeface="微软雅黑" panose="020B0503020204020204" charset="-122"/>
              </a:rPr>
              <a:t>PLM</a:t>
            </a: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系统</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5" name="文本框 64"/>
          <p:cNvSpPr txBox="1"/>
          <p:nvPr/>
        </p:nvSpPr>
        <p:spPr>
          <a:xfrm>
            <a:off x="6822306" y="4135429"/>
            <a:ext cx="1101104"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精益营销系统</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6" name="文本框 65"/>
          <p:cNvSpPr txBox="1"/>
          <p:nvPr/>
        </p:nvSpPr>
        <p:spPr>
          <a:xfrm>
            <a:off x="2669314" y="5116388"/>
            <a:ext cx="824930"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内部数据</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7" name="文本框 66"/>
          <p:cNvSpPr txBox="1"/>
          <p:nvPr/>
        </p:nvSpPr>
        <p:spPr>
          <a:xfrm>
            <a:off x="9158766" y="5116388"/>
            <a:ext cx="824930"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外部数据</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1" name="任意多边形: 形状 543"/>
          <p:cNvSpPr/>
          <p:nvPr/>
        </p:nvSpPr>
        <p:spPr>
          <a:xfrm>
            <a:off x="2961088" y="4671344"/>
            <a:ext cx="310158" cy="366010"/>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55000">
                <a:schemeClr val="accent1"/>
              </a:gs>
              <a:gs pos="0">
                <a:schemeClr val="accent1">
                  <a:alpha val="0"/>
                </a:schemeClr>
              </a:gs>
              <a:gs pos="100000">
                <a:schemeClr val="accent1"/>
              </a:gs>
            </a:gsLst>
            <a:lin ang="16200000" scaled="1"/>
            <a:tileRect/>
          </a:gradFill>
          <a:ln w="38100">
            <a:noFill/>
          </a:ln>
          <a:effectLst>
            <a:outerShdw blurRad="411480" dist="123444" dir="5400000" sx="108000" sy="108000" algn="ctr" rotWithShape="0">
              <a:srgbClr val="24396B">
                <a:alpha val="40000"/>
              </a:srgbClr>
            </a:outerShdw>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1945">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72" name="任意多边形: 形状 544"/>
          <p:cNvSpPr/>
          <p:nvPr/>
        </p:nvSpPr>
        <p:spPr>
          <a:xfrm>
            <a:off x="9381517" y="4671344"/>
            <a:ext cx="310158" cy="366010"/>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55000">
                <a:schemeClr val="accent1"/>
              </a:gs>
              <a:gs pos="0">
                <a:schemeClr val="accent1">
                  <a:alpha val="0"/>
                </a:schemeClr>
              </a:gs>
              <a:gs pos="100000">
                <a:schemeClr val="accent1"/>
              </a:gs>
            </a:gsLst>
            <a:lin ang="16200000" scaled="1"/>
            <a:tileRect/>
          </a:gradFill>
          <a:ln w="38100">
            <a:noFill/>
          </a:ln>
          <a:effectLst>
            <a:outerShdw blurRad="411480" dist="123444" dir="5400000" sx="108000" sy="108000" algn="ctr" rotWithShape="0">
              <a:srgbClr val="24396B">
                <a:alpha val="40000"/>
              </a:srgbClr>
            </a:outerShdw>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79" name="文本框 78"/>
          <p:cNvSpPr txBox="1"/>
          <p:nvPr/>
        </p:nvSpPr>
        <p:spPr>
          <a:xfrm>
            <a:off x="3233434" y="5700157"/>
            <a:ext cx="1245696"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en-US" altLang="zh-CN" sz="1000" dirty="0">
                <a:solidFill>
                  <a:srgbClr val="FFFFFF"/>
                </a:solidFill>
                <a:latin typeface="微软雅黑" panose="020B0503020204020204" charset="-122"/>
                <a:ea typeface="微软雅黑" panose="020B0503020204020204" charset="-122"/>
                <a:cs typeface="微软雅黑" panose="020B0503020204020204" charset="-122"/>
              </a:rPr>
              <a:t>ESB</a:t>
            </a: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企业服务总线</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0" name="文本框 79"/>
          <p:cNvSpPr txBox="1"/>
          <p:nvPr/>
        </p:nvSpPr>
        <p:spPr>
          <a:xfrm>
            <a:off x="5643327" y="5671582"/>
            <a:ext cx="1101104"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数据仓库</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1" name="文本框 80"/>
          <p:cNvSpPr txBox="1"/>
          <p:nvPr/>
        </p:nvSpPr>
        <p:spPr>
          <a:xfrm>
            <a:off x="7672385" y="5700157"/>
            <a:ext cx="1101104"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数据集市</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grpSp>
        <p:nvGrpSpPr>
          <p:cNvPr id="82" name="组合 81"/>
          <p:cNvGrpSpPr/>
          <p:nvPr/>
        </p:nvGrpSpPr>
        <p:grpSpPr>
          <a:xfrm>
            <a:off x="3246490" y="2156884"/>
            <a:ext cx="144000" cy="144000"/>
            <a:chOff x="7455208" y="2172067"/>
            <a:chExt cx="85936" cy="85936"/>
          </a:xfrm>
        </p:grpSpPr>
        <p:sp>
          <p:nvSpPr>
            <p:cNvPr id="83" name="椭圆 82"/>
            <p:cNvSpPr/>
            <p:nvPr>
              <p:custDataLst>
                <p:tags r:id="rId7"/>
              </p:custDataLst>
            </p:nvPr>
          </p:nvSpPr>
          <p:spPr>
            <a:xfrm flipH="1">
              <a:off x="7455208" y="2172067"/>
              <a:ext cx="85936" cy="85936"/>
            </a:xfrm>
            <a:prstGeom prst="ellipse">
              <a:avLst/>
            </a:prstGeom>
            <a:solidFill>
              <a:srgbClr val="FFFFFF"/>
            </a:solidFill>
            <a:ln>
              <a:noFill/>
            </a:ln>
            <a:effectLst>
              <a:outerShdw blurRad="137160" algn="ctr" rotWithShape="0">
                <a:srgbClr val="A84031">
                  <a:alpha val="40000"/>
                </a:srgbClr>
              </a:outerShdw>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1945">
                <a:latin typeface="微软雅黑" panose="020B0503020204020204" charset="-122"/>
                <a:ea typeface="微软雅黑" panose="020B0503020204020204" charset="-122"/>
                <a:cs typeface="微软雅黑" panose="020B0503020204020204" charset="-122"/>
              </a:endParaRPr>
            </a:p>
          </p:txBody>
        </p:sp>
        <p:sp>
          <p:nvSpPr>
            <p:cNvPr id="84" name="椭圆 83"/>
            <p:cNvSpPr/>
            <p:nvPr/>
          </p:nvSpPr>
          <p:spPr>
            <a:xfrm flipH="1">
              <a:off x="7478736" y="2195595"/>
              <a:ext cx="38880" cy="38880"/>
            </a:xfrm>
            <a:prstGeom prst="ellipse">
              <a:avLst/>
            </a:prstGeom>
            <a:solidFill>
              <a:schemeClr val="accent5">
                <a:lumMod val="75000"/>
              </a:schemeClr>
            </a:solidFill>
            <a:ln>
              <a:noFill/>
            </a:ln>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1945">
                <a:latin typeface="微软雅黑" panose="020B0503020204020204" charset="-122"/>
                <a:ea typeface="微软雅黑" panose="020B0503020204020204" charset="-122"/>
                <a:cs typeface="微软雅黑" panose="020B0503020204020204" charset="-122"/>
              </a:endParaRPr>
            </a:p>
          </p:txBody>
        </p:sp>
      </p:grpSp>
      <p:grpSp>
        <p:nvGrpSpPr>
          <p:cNvPr id="85" name="组合 84"/>
          <p:cNvGrpSpPr/>
          <p:nvPr/>
        </p:nvGrpSpPr>
        <p:grpSpPr>
          <a:xfrm>
            <a:off x="4693552" y="2100249"/>
            <a:ext cx="144000" cy="144000"/>
            <a:chOff x="7455208" y="2172067"/>
            <a:chExt cx="85936" cy="85936"/>
          </a:xfrm>
        </p:grpSpPr>
        <p:sp>
          <p:nvSpPr>
            <p:cNvPr id="86" name="椭圆 85"/>
            <p:cNvSpPr/>
            <p:nvPr>
              <p:custDataLst>
                <p:tags r:id="rId8"/>
              </p:custDataLst>
            </p:nvPr>
          </p:nvSpPr>
          <p:spPr>
            <a:xfrm flipH="1">
              <a:off x="7455208" y="2172067"/>
              <a:ext cx="85936" cy="85936"/>
            </a:xfrm>
            <a:prstGeom prst="ellipse">
              <a:avLst/>
            </a:prstGeom>
            <a:solidFill>
              <a:srgbClr val="FFFFFF"/>
            </a:solidFill>
            <a:ln>
              <a:noFill/>
            </a:ln>
            <a:effectLst>
              <a:outerShdw blurRad="137160" algn="ctr" rotWithShape="0">
                <a:srgbClr val="A84031">
                  <a:alpha val="40000"/>
                </a:srgbClr>
              </a:outerShdw>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1945">
                <a:latin typeface="微软雅黑" panose="020B0503020204020204" charset="-122"/>
                <a:ea typeface="微软雅黑" panose="020B0503020204020204" charset="-122"/>
                <a:cs typeface="微软雅黑" panose="020B0503020204020204" charset="-122"/>
              </a:endParaRPr>
            </a:p>
          </p:txBody>
        </p:sp>
        <p:sp>
          <p:nvSpPr>
            <p:cNvPr id="87" name="椭圆 86"/>
            <p:cNvSpPr/>
            <p:nvPr/>
          </p:nvSpPr>
          <p:spPr>
            <a:xfrm flipH="1">
              <a:off x="7478736" y="2195595"/>
              <a:ext cx="38880" cy="38880"/>
            </a:xfrm>
            <a:prstGeom prst="ellipse">
              <a:avLst/>
            </a:prstGeom>
            <a:solidFill>
              <a:schemeClr val="accent5">
                <a:lumMod val="75000"/>
              </a:schemeClr>
            </a:solidFill>
            <a:ln>
              <a:noFill/>
            </a:ln>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1945">
                <a:latin typeface="微软雅黑" panose="020B0503020204020204" charset="-122"/>
                <a:ea typeface="微软雅黑" panose="020B0503020204020204" charset="-122"/>
                <a:cs typeface="微软雅黑" panose="020B0503020204020204" charset="-122"/>
              </a:endParaRPr>
            </a:p>
          </p:txBody>
        </p:sp>
      </p:grpSp>
      <p:grpSp>
        <p:nvGrpSpPr>
          <p:cNvPr id="88" name="组合 87"/>
          <p:cNvGrpSpPr/>
          <p:nvPr/>
        </p:nvGrpSpPr>
        <p:grpSpPr>
          <a:xfrm>
            <a:off x="7503913" y="2100249"/>
            <a:ext cx="144000" cy="144000"/>
            <a:chOff x="7455208" y="2172067"/>
            <a:chExt cx="85936" cy="85936"/>
          </a:xfrm>
        </p:grpSpPr>
        <p:sp>
          <p:nvSpPr>
            <p:cNvPr id="89" name="椭圆 88"/>
            <p:cNvSpPr/>
            <p:nvPr>
              <p:custDataLst>
                <p:tags r:id="rId9"/>
              </p:custDataLst>
            </p:nvPr>
          </p:nvSpPr>
          <p:spPr>
            <a:xfrm flipH="1">
              <a:off x="7455208" y="2172067"/>
              <a:ext cx="85936" cy="85936"/>
            </a:xfrm>
            <a:prstGeom prst="ellipse">
              <a:avLst/>
            </a:prstGeom>
            <a:solidFill>
              <a:srgbClr val="FFFFFF"/>
            </a:solidFill>
            <a:ln>
              <a:noFill/>
            </a:ln>
            <a:effectLst>
              <a:outerShdw blurRad="137160" algn="ctr" rotWithShape="0">
                <a:srgbClr val="A84031">
                  <a:alpha val="40000"/>
                </a:srgbClr>
              </a:outerShdw>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1945">
                <a:latin typeface="微软雅黑" panose="020B0503020204020204" charset="-122"/>
                <a:ea typeface="微软雅黑" panose="020B0503020204020204" charset="-122"/>
                <a:cs typeface="微软雅黑" panose="020B0503020204020204" charset="-122"/>
              </a:endParaRPr>
            </a:p>
          </p:txBody>
        </p:sp>
        <p:sp>
          <p:nvSpPr>
            <p:cNvPr id="90" name="椭圆 89"/>
            <p:cNvSpPr/>
            <p:nvPr/>
          </p:nvSpPr>
          <p:spPr>
            <a:xfrm flipH="1">
              <a:off x="7478736" y="2195595"/>
              <a:ext cx="38880" cy="38880"/>
            </a:xfrm>
            <a:prstGeom prst="ellipse">
              <a:avLst/>
            </a:prstGeom>
            <a:solidFill>
              <a:schemeClr val="accent5">
                <a:lumMod val="75000"/>
              </a:schemeClr>
            </a:solidFill>
            <a:ln>
              <a:noFill/>
            </a:ln>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1945">
                <a:latin typeface="微软雅黑" panose="020B0503020204020204" charset="-122"/>
                <a:ea typeface="微软雅黑" panose="020B0503020204020204" charset="-122"/>
                <a:cs typeface="微软雅黑" panose="020B0503020204020204" charset="-122"/>
              </a:endParaRPr>
            </a:p>
          </p:txBody>
        </p:sp>
      </p:grpSp>
      <p:grpSp>
        <p:nvGrpSpPr>
          <p:cNvPr id="91" name="组合 90"/>
          <p:cNvGrpSpPr/>
          <p:nvPr/>
        </p:nvGrpSpPr>
        <p:grpSpPr>
          <a:xfrm>
            <a:off x="8912198" y="2156249"/>
            <a:ext cx="144000" cy="144000"/>
            <a:chOff x="7455208" y="2172067"/>
            <a:chExt cx="85936" cy="85936"/>
          </a:xfrm>
        </p:grpSpPr>
        <p:sp>
          <p:nvSpPr>
            <p:cNvPr id="92" name="椭圆 91"/>
            <p:cNvSpPr/>
            <p:nvPr>
              <p:custDataLst>
                <p:tags r:id="rId10"/>
              </p:custDataLst>
            </p:nvPr>
          </p:nvSpPr>
          <p:spPr>
            <a:xfrm flipH="1">
              <a:off x="7455208" y="2172067"/>
              <a:ext cx="85936" cy="85936"/>
            </a:xfrm>
            <a:prstGeom prst="ellipse">
              <a:avLst/>
            </a:prstGeom>
            <a:solidFill>
              <a:srgbClr val="FFFFFF"/>
            </a:solidFill>
            <a:ln>
              <a:noFill/>
            </a:ln>
            <a:effectLst>
              <a:outerShdw blurRad="137160" algn="ctr" rotWithShape="0">
                <a:srgbClr val="A84031">
                  <a:alpha val="40000"/>
                </a:srgbClr>
              </a:outerShdw>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1945">
                <a:latin typeface="微软雅黑" panose="020B0503020204020204" charset="-122"/>
                <a:ea typeface="微软雅黑" panose="020B0503020204020204" charset="-122"/>
                <a:cs typeface="微软雅黑" panose="020B0503020204020204" charset="-122"/>
              </a:endParaRPr>
            </a:p>
          </p:txBody>
        </p:sp>
        <p:sp>
          <p:nvSpPr>
            <p:cNvPr id="93" name="椭圆 92"/>
            <p:cNvSpPr/>
            <p:nvPr/>
          </p:nvSpPr>
          <p:spPr>
            <a:xfrm flipH="1">
              <a:off x="7478736" y="2195595"/>
              <a:ext cx="38880" cy="38880"/>
            </a:xfrm>
            <a:prstGeom prst="ellipse">
              <a:avLst/>
            </a:prstGeom>
            <a:solidFill>
              <a:schemeClr val="accent5">
                <a:lumMod val="75000"/>
              </a:schemeClr>
            </a:solidFill>
            <a:ln>
              <a:noFill/>
            </a:ln>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1945">
                <a:latin typeface="微软雅黑" panose="020B0503020204020204" charset="-122"/>
                <a:ea typeface="微软雅黑" panose="020B0503020204020204" charset="-122"/>
                <a:cs typeface="微软雅黑" panose="020B0503020204020204" charset="-122"/>
              </a:endParaRPr>
            </a:p>
          </p:txBody>
        </p:sp>
      </p:grpSp>
      <p:grpSp>
        <p:nvGrpSpPr>
          <p:cNvPr id="94" name="组合 93"/>
          <p:cNvGrpSpPr/>
          <p:nvPr/>
        </p:nvGrpSpPr>
        <p:grpSpPr>
          <a:xfrm>
            <a:off x="6109736" y="2100952"/>
            <a:ext cx="144000" cy="144000"/>
            <a:chOff x="7455208" y="2172067"/>
            <a:chExt cx="85936" cy="85936"/>
          </a:xfrm>
        </p:grpSpPr>
        <p:sp>
          <p:nvSpPr>
            <p:cNvPr id="95" name="椭圆 94"/>
            <p:cNvSpPr/>
            <p:nvPr>
              <p:custDataLst>
                <p:tags r:id="rId11"/>
              </p:custDataLst>
            </p:nvPr>
          </p:nvSpPr>
          <p:spPr>
            <a:xfrm flipH="1">
              <a:off x="7455208" y="2172067"/>
              <a:ext cx="85936" cy="85936"/>
            </a:xfrm>
            <a:prstGeom prst="ellipse">
              <a:avLst/>
            </a:prstGeom>
            <a:solidFill>
              <a:srgbClr val="FFFFFF"/>
            </a:solidFill>
            <a:ln>
              <a:noFill/>
            </a:ln>
            <a:effectLst>
              <a:outerShdw blurRad="137160" algn="ctr" rotWithShape="0">
                <a:srgbClr val="A84031">
                  <a:alpha val="40000"/>
                </a:srgbClr>
              </a:outerShdw>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1945">
                <a:latin typeface="微软雅黑" panose="020B0503020204020204" charset="-122"/>
                <a:ea typeface="微软雅黑" panose="020B0503020204020204" charset="-122"/>
                <a:cs typeface="微软雅黑" panose="020B0503020204020204" charset="-122"/>
              </a:endParaRPr>
            </a:p>
          </p:txBody>
        </p:sp>
        <p:sp>
          <p:nvSpPr>
            <p:cNvPr id="96" name="椭圆 95"/>
            <p:cNvSpPr/>
            <p:nvPr/>
          </p:nvSpPr>
          <p:spPr>
            <a:xfrm flipH="1">
              <a:off x="7478736" y="2195595"/>
              <a:ext cx="38880" cy="38880"/>
            </a:xfrm>
            <a:prstGeom prst="ellipse">
              <a:avLst/>
            </a:prstGeom>
            <a:solidFill>
              <a:schemeClr val="accent5">
                <a:lumMod val="75000"/>
              </a:schemeClr>
            </a:solidFill>
            <a:ln>
              <a:noFill/>
            </a:ln>
            <a:effectLst/>
          </p:spPr>
          <p:style>
            <a:lnRef idx="2">
              <a:srgbClr val="24396B">
                <a:shade val="50000"/>
              </a:srgbClr>
            </a:lnRef>
            <a:fillRef idx="1">
              <a:srgbClr val="24396B"/>
            </a:fillRef>
            <a:effectRef idx="0">
              <a:srgbClr val="24396B"/>
            </a:effectRef>
            <a:fontRef idx="minor">
              <a:srgbClr val="FFFFFF"/>
            </a:fontRef>
          </p:style>
          <p:txBody>
            <a:bodyPr lIns="98755" tIns="49378" rIns="98755" bIns="49378" rtlCol="0" anchor="ctr"/>
            <a:lstStyle/>
            <a:p>
              <a:pPr algn="ctr"/>
              <a:endParaRPr lang="zh-CN" altLang="en-US" sz="1945">
                <a:latin typeface="微软雅黑" panose="020B0503020204020204" charset="-122"/>
                <a:ea typeface="微软雅黑" panose="020B0503020204020204" charset="-122"/>
                <a:cs typeface="微软雅黑" panose="020B0503020204020204" charset="-122"/>
              </a:endParaRPr>
            </a:p>
          </p:txBody>
        </p:sp>
      </p:grpSp>
      <p:pic>
        <p:nvPicPr>
          <p:cNvPr id="4" name="图片 3" descr="屋顶资源管理"/>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55600" y="186055"/>
            <a:ext cx="549910" cy="549910"/>
          </a:xfrm>
          <a:prstGeom prst="rect">
            <a:avLst/>
          </a:prstGeom>
        </p:spPr>
      </p:pic>
      <p:grpSp>
        <p:nvGrpSpPr>
          <p:cNvPr id="9" name="组合 8"/>
          <p:cNvGrpSpPr/>
          <p:nvPr/>
        </p:nvGrpSpPr>
        <p:grpSpPr>
          <a:xfrm>
            <a:off x="8715375" y="348615"/>
            <a:ext cx="3219450" cy="332740"/>
            <a:chOff x="13761" y="549"/>
            <a:chExt cx="5070" cy="524"/>
          </a:xfrm>
        </p:grpSpPr>
        <p:pic>
          <p:nvPicPr>
            <p:cNvPr id="10" name="图片 9"/>
            <p:cNvPicPr>
              <a:picLocks noChangeAspect="1"/>
            </p:cNvPicPr>
            <p:nvPr userDrawn="1"/>
          </p:nvPicPr>
          <p:blipFill>
            <a:blip r:embed="rId14"/>
            <a:srcRect l="17002" t="-1765" r="56499" b="-1176"/>
            <a:stretch>
              <a:fillRect/>
            </a:stretch>
          </p:blipFill>
          <p:spPr>
            <a:xfrm>
              <a:off x="13761" y="549"/>
              <a:ext cx="1582" cy="525"/>
            </a:xfrm>
            <a:prstGeom prst="rect">
              <a:avLst/>
            </a:prstGeom>
          </p:spPr>
        </p:pic>
        <p:sp>
          <p:nvSpPr>
            <p:cNvPr id="2" name="文本框 1"/>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
        <p:nvSpPr>
          <p:cNvPr id="3" name="文本框 2"/>
          <p:cNvSpPr txBox="1"/>
          <p:nvPr/>
        </p:nvSpPr>
        <p:spPr>
          <a:xfrm>
            <a:off x="2840990" y="3263900"/>
            <a:ext cx="1055370" cy="245110"/>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数据标准定义</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nvSpPr>
        <p:spPr>
          <a:xfrm>
            <a:off x="2840990" y="3674110"/>
            <a:ext cx="1005205" cy="245110"/>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数据评估检测</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6823840" y="3273019"/>
            <a:ext cx="1082276"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数据同步分发</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8575704" y="3273019"/>
            <a:ext cx="1082276"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数据资产大屏</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6823840" y="3670879"/>
            <a:ext cx="1082276"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全数据管理</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0" name="文本框 59"/>
          <p:cNvSpPr txBox="1"/>
          <p:nvPr/>
        </p:nvSpPr>
        <p:spPr>
          <a:xfrm>
            <a:off x="8522364" y="3693104"/>
            <a:ext cx="1082276"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主数据建模</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3" name="文本框 62"/>
          <p:cNvSpPr txBox="1"/>
          <p:nvPr/>
        </p:nvSpPr>
        <p:spPr>
          <a:xfrm>
            <a:off x="4503924" y="3267939"/>
            <a:ext cx="1082276"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数据标准落地</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8" name="文本框 67"/>
          <p:cNvSpPr txBox="1"/>
          <p:nvPr/>
        </p:nvSpPr>
        <p:spPr>
          <a:xfrm>
            <a:off x="4468364" y="3688024"/>
            <a:ext cx="1082276" cy="246221"/>
          </a:xfrm>
          <a:prstGeom prst="rect">
            <a:avLst/>
          </a:prstGeom>
          <a:noFill/>
        </p:spPr>
        <p:txBody>
          <a:bodyPr wrap="square">
            <a:spAutoFit/>
          </a:bodyPr>
          <a:lstStyle>
            <a:defPPr>
              <a:defRPr lang="zh-CN"/>
            </a:defPPr>
            <a:lvl1pPr>
              <a:lnSpc>
                <a:spcPct val="125000"/>
              </a:lnSpc>
              <a:defRPr sz="1200">
                <a:solidFill>
                  <a:srgbClr val="000000">
                    <a:lumMod val="75000"/>
                    <a:lumOff val="25000"/>
                  </a:srgbClr>
                </a:solidFill>
                <a:latin typeface="+mn-ea"/>
              </a:defRPr>
            </a:lvl1pPr>
          </a:lstStyle>
          <a:p>
            <a:pPr algn="ctr">
              <a:lnSpc>
                <a:spcPct val="100000"/>
              </a:lnSpc>
            </a:pP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标准管理</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供应链运营数字化架构</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 name="矩形 1"/>
          <p:cNvSpPr/>
          <p:nvPr/>
        </p:nvSpPr>
        <p:spPr>
          <a:xfrm>
            <a:off x="1050925" y="5633085"/>
            <a:ext cx="8868410" cy="64008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8" name="梯形 27"/>
          <p:cNvSpPr/>
          <p:nvPr/>
        </p:nvSpPr>
        <p:spPr>
          <a:xfrm>
            <a:off x="1050925" y="4879340"/>
            <a:ext cx="8868410" cy="753745"/>
          </a:xfrm>
          <a:prstGeom prst="trapezoid">
            <a:avLst>
              <a:gd name="adj" fmla="val 187465"/>
            </a:avLst>
          </a:prstGeom>
          <a:gradFill>
            <a:gsLst>
              <a:gs pos="0">
                <a:schemeClr val="accent1">
                  <a:alpha val="0"/>
                </a:schemeClr>
              </a:gs>
              <a:gs pos="100000">
                <a:schemeClr val="accent1">
                  <a:alpha val="50000"/>
                </a:schemeClr>
              </a:gs>
            </a:gsLst>
          </a:gradFill>
        </p:spPr>
        <p:style>
          <a:lnRef idx="0">
            <a:srgbClr val="FFFFFF"/>
          </a:lnRef>
          <a:fillRef idx="2">
            <a:schemeClr val="accent1"/>
          </a:fillRef>
          <a:effectRef idx="0">
            <a:srgbClr val="FFFFFF"/>
          </a:effectRef>
          <a:fontRef idx="minor">
            <a:schemeClr val="dk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81" name="椭圆 80"/>
          <p:cNvSpPr/>
          <p:nvPr>
            <p:custDataLst>
              <p:tags r:id="rId1"/>
            </p:custDataLst>
          </p:nvPr>
        </p:nvSpPr>
        <p:spPr>
          <a:xfrm>
            <a:off x="2225040" y="4652645"/>
            <a:ext cx="700405" cy="700405"/>
          </a:xfrm>
          <a:prstGeom prst="ellipse">
            <a:avLst/>
          </a:prstGeom>
          <a:solidFill>
            <a:schemeClr val="accent1"/>
          </a:solidFill>
          <a:ln>
            <a:solidFill>
              <a:schemeClr val="bg2"/>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 name="椭圆 6"/>
          <p:cNvSpPr/>
          <p:nvPr>
            <p:custDataLst>
              <p:tags r:id="rId2"/>
            </p:custDataLst>
          </p:nvPr>
        </p:nvSpPr>
        <p:spPr>
          <a:xfrm>
            <a:off x="3144520" y="4652645"/>
            <a:ext cx="700405" cy="700405"/>
          </a:xfrm>
          <a:prstGeom prst="ellipse">
            <a:avLst/>
          </a:prstGeom>
          <a:solidFill>
            <a:schemeClr val="accent1"/>
          </a:solidFill>
          <a:ln>
            <a:solidFill>
              <a:schemeClr val="bg2"/>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 name="椭圆 7"/>
          <p:cNvSpPr/>
          <p:nvPr>
            <p:custDataLst>
              <p:tags r:id="rId3"/>
            </p:custDataLst>
          </p:nvPr>
        </p:nvSpPr>
        <p:spPr>
          <a:xfrm>
            <a:off x="4029710" y="4652645"/>
            <a:ext cx="700405" cy="700405"/>
          </a:xfrm>
          <a:prstGeom prst="ellipse">
            <a:avLst/>
          </a:prstGeom>
          <a:solidFill>
            <a:schemeClr val="accent1"/>
          </a:solidFill>
          <a:ln>
            <a:solidFill>
              <a:schemeClr val="bg2"/>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9" name="圆角矩形 8"/>
          <p:cNvSpPr/>
          <p:nvPr/>
        </p:nvSpPr>
        <p:spPr>
          <a:xfrm>
            <a:off x="5428615" y="4761230"/>
            <a:ext cx="1461135" cy="565785"/>
          </a:xfrm>
          <a:prstGeom prst="roundRect">
            <a:avLst/>
          </a:prstGeom>
          <a:solidFill>
            <a:schemeClr val="accent1"/>
          </a:solidFill>
          <a:ln>
            <a:solidFill>
              <a:schemeClr val="bg2"/>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1" name="圆角矩形 10"/>
          <p:cNvSpPr/>
          <p:nvPr/>
        </p:nvSpPr>
        <p:spPr>
          <a:xfrm>
            <a:off x="7096125" y="4761230"/>
            <a:ext cx="1461135" cy="565785"/>
          </a:xfrm>
          <a:prstGeom prst="roundRect">
            <a:avLst/>
          </a:prstGeom>
          <a:solidFill>
            <a:schemeClr val="accent1"/>
          </a:solidFill>
          <a:ln>
            <a:solidFill>
              <a:schemeClr val="bg2"/>
            </a:solid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5" name="梯形 14"/>
          <p:cNvSpPr/>
          <p:nvPr/>
        </p:nvSpPr>
        <p:spPr>
          <a:xfrm>
            <a:off x="1425575" y="2073910"/>
            <a:ext cx="7767320" cy="420370"/>
          </a:xfrm>
          <a:prstGeom prst="trapezoid">
            <a:avLst>
              <a:gd name="adj" fmla="val 218429"/>
            </a:avLst>
          </a:prstGeom>
          <a:gradFill>
            <a:gsLst>
              <a:gs pos="100000">
                <a:schemeClr val="accent5">
                  <a:lumMod val="60000"/>
                  <a:lumOff val="40000"/>
                  <a:alpha val="70000"/>
                </a:schemeClr>
              </a:gs>
              <a:gs pos="0">
                <a:schemeClr val="accent5">
                  <a:lumMod val="60000"/>
                  <a:lumOff val="40000"/>
                  <a:alpha val="0"/>
                </a:schemeClr>
              </a:gs>
            </a:gsLst>
          </a:gradFill>
          <a:scene3d>
            <a:camera prst="orthographicFront">
              <a:rot lat="2100000" lon="0" rev="0"/>
            </a:camera>
            <a:lightRig rig="threePt" dir="t"/>
          </a:scene3d>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 name="梯形 15"/>
          <p:cNvSpPr/>
          <p:nvPr/>
        </p:nvSpPr>
        <p:spPr>
          <a:xfrm>
            <a:off x="1425575" y="2674620"/>
            <a:ext cx="7767320" cy="420370"/>
          </a:xfrm>
          <a:prstGeom prst="trapezoid">
            <a:avLst>
              <a:gd name="adj" fmla="val 218429"/>
            </a:avLst>
          </a:prstGeom>
          <a:gradFill>
            <a:gsLst>
              <a:gs pos="100000">
                <a:schemeClr val="accent5">
                  <a:lumMod val="60000"/>
                  <a:lumOff val="40000"/>
                  <a:alpha val="70000"/>
                </a:schemeClr>
              </a:gs>
              <a:gs pos="0">
                <a:schemeClr val="accent5">
                  <a:lumMod val="60000"/>
                  <a:lumOff val="40000"/>
                  <a:alpha val="0"/>
                </a:schemeClr>
              </a:gs>
            </a:gsLst>
          </a:gradFill>
          <a:scene3d>
            <a:camera prst="orthographicFront">
              <a:rot lat="2100000" lon="0" rev="0"/>
            </a:camera>
            <a:lightRig rig="threePt" dir="t"/>
          </a:scene3d>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7" name="梯形 16"/>
          <p:cNvSpPr/>
          <p:nvPr/>
        </p:nvSpPr>
        <p:spPr>
          <a:xfrm>
            <a:off x="1493520" y="3917315"/>
            <a:ext cx="4002405" cy="420370"/>
          </a:xfrm>
          <a:prstGeom prst="trapezoid">
            <a:avLst>
              <a:gd name="adj" fmla="val 218429"/>
            </a:avLst>
          </a:prstGeom>
          <a:gradFill>
            <a:gsLst>
              <a:gs pos="100000">
                <a:schemeClr val="accent1">
                  <a:lumMod val="60000"/>
                  <a:lumOff val="40000"/>
                  <a:alpha val="70000"/>
                </a:schemeClr>
              </a:gs>
              <a:gs pos="0">
                <a:schemeClr val="accent1">
                  <a:lumMod val="60000"/>
                  <a:lumOff val="40000"/>
                  <a:alpha val="0"/>
                </a:schemeClr>
              </a:gs>
            </a:gsLst>
          </a:gradFill>
          <a:scene3d>
            <a:camera prst="orthographicFront">
              <a:rot lat="2100000" lon="0" rev="0"/>
            </a:camera>
            <a:lightRig rig="threePt" dir="t"/>
          </a:scene3d>
        </p:spPr>
        <p:style>
          <a:lnRef idx="0">
            <a:srgbClr val="FFFFFF"/>
          </a:lnRef>
          <a:fillRef idx="2">
            <a:schemeClr val="accent1"/>
          </a:fillRef>
          <a:effectRef idx="0">
            <a:srgbClr val="FFFFFF"/>
          </a:effectRef>
          <a:fontRef idx="minor">
            <a:schemeClr val="dk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9" name="任意多边形 18"/>
          <p:cNvSpPr/>
          <p:nvPr/>
        </p:nvSpPr>
        <p:spPr>
          <a:xfrm>
            <a:off x="4958080" y="3898265"/>
            <a:ext cx="3613150" cy="439420"/>
          </a:xfrm>
          <a:custGeom>
            <a:avLst/>
            <a:gdLst>
              <a:gd name="adj" fmla="val 218429"/>
              <a:gd name="maxAdj" fmla="*/ 50000 w ss"/>
              <a:gd name="a" fmla="pin 0 adj maxAdj"/>
              <a:gd name="x1" fmla="*/ ss a 200000"/>
              <a:gd name="x2" fmla="*/ ss a 100000"/>
              <a:gd name="x3" fmla="+- r 0 x2"/>
              <a:gd name="x4" fmla="+- r 0 x1"/>
              <a:gd name="il" fmla="*/ wd3 a maxAdj"/>
              <a:gd name="it" fmla="*/ hd3 a maxAdj"/>
              <a:gd name="ir" fmla="+- r 0 il"/>
            </a:gdLst>
            <a:ahLst/>
            <a:cxnLst>
              <a:cxn ang="3">
                <a:pos x="hc" y="t"/>
              </a:cxn>
              <a:cxn ang="cd2">
                <a:pos x="x1" y="vc"/>
              </a:cxn>
              <a:cxn ang="cd4">
                <a:pos x="hc" y="b"/>
              </a:cxn>
              <a:cxn ang="0">
                <a:pos x="x4" y="vc"/>
              </a:cxn>
            </a:cxnLst>
            <a:rect l="l" t="t" r="r" b="b"/>
            <a:pathLst>
              <a:path w="5055" h="662">
                <a:moveTo>
                  <a:pt x="0" y="91"/>
                </a:moveTo>
                <a:lnTo>
                  <a:pt x="198" y="0"/>
                </a:lnTo>
                <a:lnTo>
                  <a:pt x="3609" y="0"/>
                </a:lnTo>
                <a:lnTo>
                  <a:pt x="5055" y="662"/>
                </a:lnTo>
                <a:lnTo>
                  <a:pt x="1182" y="662"/>
                </a:lnTo>
                <a:lnTo>
                  <a:pt x="0" y="91"/>
                </a:lnTo>
                <a:close/>
              </a:path>
            </a:pathLst>
          </a:custGeom>
          <a:gradFill>
            <a:gsLst>
              <a:gs pos="100000">
                <a:schemeClr val="accent1">
                  <a:lumMod val="60000"/>
                  <a:lumOff val="40000"/>
                  <a:alpha val="70000"/>
                </a:schemeClr>
              </a:gs>
              <a:gs pos="0">
                <a:schemeClr val="accent1">
                  <a:lumMod val="60000"/>
                  <a:lumOff val="40000"/>
                  <a:alpha val="0"/>
                </a:schemeClr>
              </a:gs>
            </a:gsLst>
          </a:gradFill>
          <a:scene3d>
            <a:camera prst="orthographicFront">
              <a:rot lat="2100000" lon="0" rev="0"/>
            </a:camera>
            <a:lightRig rig="threePt" dir="t"/>
          </a:scene3d>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2" name="下箭头 21"/>
          <p:cNvSpPr/>
          <p:nvPr/>
        </p:nvSpPr>
        <p:spPr>
          <a:xfrm rot="16200000">
            <a:off x="9467850" y="2386330"/>
            <a:ext cx="401955" cy="951230"/>
          </a:xfrm>
          <a:prstGeom prst="downArrow">
            <a:avLst/>
          </a:prstGeom>
          <a:gradFill>
            <a:gsLst>
              <a:gs pos="0">
                <a:schemeClr val="accent5">
                  <a:alpha val="0"/>
                </a:schemeClr>
              </a:gs>
              <a:gs pos="100000">
                <a:schemeClr val="accent5"/>
              </a:gs>
              <a:gs pos="100000">
                <a:srgbClr val="5B3A4C">
                  <a:alpha val="100000"/>
                </a:srgbClr>
              </a:gs>
              <a:gs pos="100000">
                <a:schemeClr val="accent5"/>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3" name="上下箭头 22"/>
          <p:cNvSpPr/>
          <p:nvPr/>
        </p:nvSpPr>
        <p:spPr>
          <a:xfrm rot="10800000">
            <a:off x="7451725" y="3177540"/>
            <a:ext cx="230505" cy="597535"/>
          </a:xfrm>
          <a:prstGeom prst="upDownArrow">
            <a:avLst/>
          </a:prstGeom>
          <a:gradFill>
            <a:gsLst>
              <a:gs pos="0">
                <a:schemeClr val="accent1">
                  <a:lumMod val="20000"/>
                  <a:lumOff val="80000"/>
                </a:schemeClr>
              </a:gs>
              <a:gs pos="100000">
                <a:schemeClr val="accent1">
                  <a:lumMod val="20000"/>
                  <a:lumOff val="80000"/>
                </a:schemeClr>
              </a:gs>
            </a:gsLst>
            <a:lin ang="5400000" scaled="0"/>
          </a:gra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24" name="上下箭头 23"/>
          <p:cNvSpPr/>
          <p:nvPr/>
        </p:nvSpPr>
        <p:spPr>
          <a:xfrm rot="10800000">
            <a:off x="5749925" y="3177540"/>
            <a:ext cx="230505" cy="597535"/>
          </a:xfrm>
          <a:prstGeom prst="upDownArrow">
            <a:avLst/>
          </a:prstGeom>
          <a:gradFill>
            <a:gsLst>
              <a:gs pos="0">
                <a:schemeClr val="accent1">
                  <a:lumMod val="20000"/>
                  <a:lumOff val="80000"/>
                </a:schemeClr>
              </a:gs>
              <a:gs pos="100000">
                <a:schemeClr val="accent1">
                  <a:lumMod val="20000"/>
                  <a:lumOff val="80000"/>
                </a:schemeClr>
              </a:gs>
            </a:gsLst>
            <a:lin ang="5400000" scaled="0"/>
          </a:gra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25" name="上下箭头 24"/>
          <p:cNvSpPr/>
          <p:nvPr/>
        </p:nvSpPr>
        <p:spPr>
          <a:xfrm rot="10800000">
            <a:off x="4035425" y="3177540"/>
            <a:ext cx="230505" cy="597535"/>
          </a:xfrm>
          <a:prstGeom prst="upDownArrow">
            <a:avLst/>
          </a:prstGeom>
          <a:gradFill>
            <a:gsLst>
              <a:gs pos="0">
                <a:schemeClr val="accent1">
                  <a:lumMod val="20000"/>
                  <a:lumOff val="80000"/>
                </a:schemeClr>
              </a:gs>
              <a:gs pos="100000">
                <a:schemeClr val="accent1">
                  <a:lumMod val="20000"/>
                  <a:lumOff val="80000"/>
                </a:schemeClr>
              </a:gs>
            </a:gsLst>
            <a:lin ang="5400000" scaled="0"/>
          </a:gra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26" name="上下箭头 25"/>
          <p:cNvSpPr/>
          <p:nvPr/>
        </p:nvSpPr>
        <p:spPr>
          <a:xfrm rot="10800000">
            <a:off x="2282825" y="3181350"/>
            <a:ext cx="230505" cy="597535"/>
          </a:xfrm>
          <a:prstGeom prst="upDownArrow">
            <a:avLst/>
          </a:prstGeom>
          <a:gradFill>
            <a:gsLst>
              <a:gs pos="0">
                <a:schemeClr val="accent1">
                  <a:lumMod val="20000"/>
                  <a:lumOff val="80000"/>
                </a:schemeClr>
              </a:gs>
              <a:gs pos="100000">
                <a:schemeClr val="accent1">
                  <a:lumMod val="20000"/>
                  <a:lumOff val="80000"/>
                </a:schemeClr>
              </a:gs>
            </a:gsLst>
            <a:lin ang="5400000" scaled="0"/>
          </a:gra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nvGrpSpPr>
          <p:cNvPr id="93" name="组合 92"/>
          <p:cNvGrpSpPr/>
          <p:nvPr/>
        </p:nvGrpSpPr>
        <p:grpSpPr>
          <a:xfrm>
            <a:off x="2456815" y="4349750"/>
            <a:ext cx="248920" cy="442595"/>
            <a:chOff x="3859" y="6875"/>
            <a:chExt cx="392" cy="697"/>
          </a:xfrm>
        </p:grpSpPr>
        <p:sp>
          <p:nvSpPr>
            <p:cNvPr id="124" name="菱形 123"/>
            <p:cNvSpPr/>
            <p:nvPr/>
          </p:nvSpPr>
          <p:spPr>
            <a:xfrm>
              <a:off x="3859" y="6875"/>
              <a:ext cx="393" cy="529"/>
            </a:xfrm>
            <a:prstGeom prst="diamond">
              <a:avLst/>
            </a:prstGeom>
            <a:gradFill>
              <a:gsLst>
                <a:gs pos="0">
                  <a:schemeClr val="accent1"/>
                </a:gs>
                <a:gs pos="50000">
                  <a:schemeClr val="accent1">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25" name="菱形 124"/>
            <p:cNvSpPr/>
            <p:nvPr/>
          </p:nvSpPr>
          <p:spPr>
            <a:xfrm>
              <a:off x="3859" y="7044"/>
              <a:ext cx="393" cy="529"/>
            </a:xfrm>
            <a:prstGeom prst="diamond">
              <a:avLst/>
            </a:prstGeom>
            <a:gradFill>
              <a:gsLst>
                <a:gs pos="0">
                  <a:schemeClr val="accent1"/>
                </a:gs>
                <a:gs pos="50000">
                  <a:schemeClr val="accent1">
                    <a:alpha val="0"/>
                  </a:schemeClr>
                </a:gs>
              </a:gsLst>
            </a:gradFill>
          </p:spPr>
          <p:style>
            <a:lnRef idx="0">
              <a:srgbClr val="FFFFFF"/>
            </a:lnRef>
            <a:fillRef idx="2">
              <a:schemeClr val="accent1"/>
            </a:fillRef>
            <a:effectRef idx="0">
              <a:srgbClr val="FFFFFF"/>
            </a:effectRef>
            <a:fontRef idx="minor">
              <a:schemeClr val="dk1"/>
            </a:fontRef>
          </p:style>
          <p:txBody>
            <a:bodyPr rtlCol="0" anchor="ctr"/>
            <a:p>
              <a:pPr algn="ctr" defTabSz="914400">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endParaRPr>
            </a:p>
          </p:txBody>
        </p:sp>
      </p:grpSp>
      <p:sp>
        <p:nvSpPr>
          <p:cNvPr id="13" name="圆角矩形 12"/>
          <p:cNvSpPr/>
          <p:nvPr/>
        </p:nvSpPr>
        <p:spPr>
          <a:xfrm>
            <a:off x="10271125" y="1732915"/>
            <a:ext cx="1444625" cy="4458970"/>
          </a:xfrm>
          <a:prstGeom prst="roundRect">
            <a:avLst>
              <a:gd name="adj" fmla="val 7019"/>
            </a:avLst>
          </a:prstGeom>
          <a:solidFill>
            <a:schemeClr val="bg1"/>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4" name="任意多边形 13"/>
          <p:cNvSpPr/>
          <p:nvPr/>
        </p:nvSpPr>
        <p:spPr>
          <a:xfrm>
            <a:off x="10271125" y="1732280"/>
            <a:ext cx="1443990" cy="549275"/>
          </a:xfrm>
          <a:custGeom>
            <a:avLst/>
            <a:gdLst>
              <a:gd name="adj" fmla="val 16667"/>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1794" h="865">
                <a:moveTo>
                  <a:pt x="0" y="168"/>
                </a:moveTo>
                <a:cubicBezTo>
                  <a:pt x="-3" y="73"/>
                  <a:pt x="83" y="-2"/>
                  <a:pt x="168" y="0"/>
                </a:cubicBezTo>
                <a:lnTo>
                  <a:pt x="1626" y="0"/>
                </a:lnTo>
                <a:cubicBezTo>
                  <a:pt x="1721" y="-3"/>
                  <a:pt x="1796" y="83"/>
                  <a:pt x="1794" y="168"/>
                </a:cubicBezTo>
                <a:lnTo>
                  <a:pt x="1794" y="837"/>
                </a:lnTo>
                <a:cubicBezTo>
                  <a:pt x="1794" y="847"/>
                  <a:pt x="1792" y="867"/>
                  <a:pt x="1792" y="865"/>
                </a:cubicBezTo>
                <a:lnTo>
                  <a:pt x="2" y="865"/>
                </a:lnTo>
                <a:cubicBezTo>
                  <a:pt x="1" y="861"/>
                  <a:pt x="-1" y="839"/>
                  <a:pt x="0" y="837"/>
                </a:cubicBezTo>
                <a:lnTo>
                  <a:pt x="0" y="168"/>
                </a:lnTo>
                <a:close/>
              </a:path>
            </a:pathLst>
          </a:custGeom>
          <a:gradFill>
            <a:gsLst>
              <a:gs pos="100000">
                <a:schemeClr val="accent5"/>
              </a:gs>
              <a:gs pos="0">
                <a:schemeClr val="accent5">
                  <a:lumMod val="60000"/>
                  <a:lumOff val="40000"/>
                </a:schemeClr>
              </a:gs>
            </a:gsLst>
            <a:lin ang="0" scaled="0"/>
          </a:gra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83" name="文本框 82"/>
          <p:cNvSpPr txBox="1"/>
          <p:nvPr>
            <p:custDataLst>
              <p:tags r:id="rId4"/>
            </p:custDataLst>
          </p:nvPr>
        </p:nvSpPr>
        <p:spPr>
          <a:xfrm>
            <a:off x="10360660" y="1896110"/>
            <a:ext cx="1264920" cy="275590"/>
          </a:xfrm>
          <a:prstGeom prst="rect">
            <a:avLst/>
          </a:prstGeom>
          <a:noFill/>
        </p:spPr>
        <p:txBody>
          <a:bodyPr wrap="square" rtlCol="0">
            <a:spAutoFit/>
          </a:bodyPr>
          <a:p>
            <a:pPr algn="ctr"/>
            <a:r>
              <a:rPr lang="zh-CN" altLang="en-US" sz="1200" b="1">
                <a:solidFill>
                  <a:schemeClr val="bg1"/>
                </a:solidFill>
                <a:latin typeface="微软雅黑" panose="020B0503020204020204" charset="-122"/>
                <a:ea typeface="微软雅黑" panose="020B0503020204020204" charset="-122"/>
                <a:cs typeface="微软雅黑" panose="020B0503020204020204" charset="-122"/>
              </a:rPr>
              <a:t>供应链透明看板</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37" name="图片 36" descr="认证_机构认证"/>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66070" y="5448300"/>
            <a:ext cx="525145" cy="525145"/>
          </a:xfrm>
          <a:prstGeom prst="rect">
            <a:avLst/>
          </a:prstGeom>
        </p:spPr>
      </p:pic>
      <p:pic>
        <p:nvPicPr>
          <p:cNvPr id="20" name="图片 19" descr="personal development"/>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66070" y="3063240"/>
            <a:ext cx="473710" cy="473710"/>
          </a:xfrm>
          <a:prstGeom prst="rect">
            <a:avLst/>
          </a:prstGeom>
        </p:spPr>
      </p:pic>
      <p:sp>
        <p:nvSpPr>
          <p:cNvPr id="38" name="文本框 37"/>
          <p:cNvSpPr txBox="1"/>
          <p:nvPr>
            <p:custDataLst>
              <p:tags r:id="rId9"/>
            </p:custDataLst>
          </p:nvPr>
        </p:nvSpPr>
        <p:spPr>
          <a:xfrm>
            <a:off x="10855325" y="3061970"/>
            <a:ext cx="908685" cy="460375"/>
          </a:xfrm>
          <a:prstGeom prst="rect">
            <a:avLst/>
          </a:prstGeom>
          <a:noFill/>
        </p:spPr>
        <p:txBody>
          <a:bodyPr wrap="square" rtlCol="0">
            <a:spAutoFit/>
          </a:bodyPr>
          <a:p>
            <a:pPr algn="ctr"/>
            <a:r>
              <a:rPr lang="zh-CN" altLang="en-US" sz="12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rPr>
              <a:t>企业</a:t>
            </a:r>
            <a:endParaRPr lang="zh-CN" altLang="en-US" sz="12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endParaRPr>
          </a:p>
          <a:p>
            <a:pPr algn="ctr"/>
            <a:r>
              <a:rPr lang="zh-CN" altLang="en-US" sz="12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rPr>
              <a:t>管理者</a:t>
            </a:r>
            <a:endParaRPr lang="zh-CN" altLang="en-US" sz="12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endParaRPr>
          </a:p>
        </p:txBody>
      </p:sp>
      <p:pic>
        <p:nvPicPr>
          <p:cNvPr id="35" name="图片 34" descr="客户"/>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466070" y="3882390"/>
            <a:ext cx="473075" cy="473075"/>
          </a:xfrm>
          <a:prstGeom prst="rect">
            <a:avLst/>
          </a:prstGeom>
        </p:spPr>
      </p:pic>
      <p:sp>
        <p:nvSpPr>
          <p:cNvPr id="41" name="文本框 40"/>
          <p:cNvSpPr txBox="1"/>
          <p:nvPr>
            <p:custDataLst>
              <p:tags r:id="rId12"/>
            </p:custDataLst>
          </p:nvPr>
        </p:nvSpPr>
        <p:spPr>
          <a:xfrm>
            <a:off x="10905490" y="3877310"/>
            <a:ext cx="808355" cy="460375"/>
          </a:xfrm>
          <a:prstGeom prst="rect">
            <a:avLst/>
          </a:prstGeom>
          <a:noFill/>
        </p:spPr>
        <p:txBody>
          <a:bodyPr wrap="square" rtlCol="0">
            <a:spAutoFit/>
          </a:bodyPr>
          <a:p>
            <a:pPr algn="ctr"/>
            <a:r>
              <a:rPr lang="zh-CN" altLang="en-US" sz="12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rPr>
              <a:t>公众</a:t>
            </a:r>
            <a:endParaRPr lang="zh-CN" altLang="en-US" sz="12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endParaRPr>
          </a:p>
          <a:p>
            <a:pPr algn="ctr"/>
            <a:r>
              <a:rPr lang="zh-CN" altLang="en-US" sz="12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rPr>
              <a:t>客户</a:t>
            </a:r>
            <a:endParaRPr lang="zh-CN" altLang="en-US" sz="12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endParaRPr>
          </a:p>
        </p:txBody>
      </p:sp>
      <p:pic>
        <p:nvPicPr>
          <p:cNvPr id="36" name="图片 35" descr="政府机构-copy"/>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466070" y="4700905"/>
            <a:ext cx="524510" cy="401955"/>
          </a:xfrm>
          <a:prstGeom prst="rect">
            <a:avLst/>
          </a:prstGeom>
        </p:spPr>
      </p:pic>
      <p:sp>
        <p:nvSpPr>
          <p:cNvPr id="43" name="文本框 42"/>
          <p:cNvSpPr txBox="1"/>
          <p:nvPr>
            <p:custDataLst>
              <p:tags r:id="rId15"/>
            </p:custDataLst>
          </p:nvPr>
        </p:nvSpPr>
        <p:spPr>
          <a:xfrm>
            <a:off x="10905490" y="4692650"/>
            <a:ext cx="808355" cy="460375"/>
          </a:xfrm>
          <a:prstGeom prst="rect">
            <a:avLst/>
          </a:prstGeom>
          <a:noFill/>
        </p:spPr>
        <p:txBody>
          <a:bodyPr wrap="square" rtlCol="0">
            <a:spAutoFit/>
          </a:bodyPr>
          <a:p>
            <a:pPr algn="ctr"/>
            <a:r>
              <a:rPr lang="zh-CN" altLang="en-US" sz="12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rPr>
              <a:t>政府</a:t>
            </a:r>
            <a:endParaRPr lang="zh-CN" altLang="en-US" sz="12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endParaRPr>
          </a:p>
          <a:p>
            <a:pPr algn="ctr"/>
            <a:r>
              <a:rPr lang="zh-CN" altLang="en-US" sz="12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rPr>
              <a:t>机构</a:t>
            </a:r>
            <a:endParaRPr lang="zh-CN" altLang="en-US" sz="12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endParaRPr>
          </a:p>
        </p:txBody>
      </p:sp>
      <p:sp>
        <p:nvSpPr>
          <p:cNvPr id="45" name="文本框 44"/>
          <p:cNvSpPr txBox="1"/>
          <p:nvPr>
            <p:custDataLst>
              <p:tags r:id="rId16"/>
            </p:custDataLst>
          </p:nvPr>
        </p:nvSpPr>
        <p:spPr>
          <a:xfrm>
            <a:off x="10905490" y="5507990"/>
            <a:ext cx="808355" cy="460375"/>
          </a:xfrm>
          <a:prstGeom prst="rect">
            <a:avLst/>
          </a:prstGeom>
          <a:noFill/>
        </p:spPr>
        <p:txBody>
          <a:bodyPr wrap="square" rtlCol="0">
            <a:spAutoFit/>
          </a:bodyPr>
          <a:p>
            <a:pPr algn="ctr"/>
            <a:r>
              <a:rPr lang="zh-CN" altLang="en-US" sz="12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rPr>
              <a:t>认证</a:t>
            </a:r>
            <a:endParaRPr lang="zh-CN" altLang="en-US" sz="12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endParaRPr>
          </a:p>
          <a:p>
            <a:pPr algn="ctr"/>
            <a:r>
              <a:rPr lang="zh-CN" altLang="en-US" sz="12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rPr>
              <a:t>机构</a:t>
            </a:r>
            <a:endParaRPr lang="zh-CN" altLang="en-US" sz="12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endParaRPr>
          </a:p>
        </p:txBody>
      </p:sp>
      <p:sp>
        <p:nvSpPr>
          <p:cNvPr id="46" name="文本框 45"/>
          <p:cNvSpPr txBox="1"/>
          <p:nvPr>
            <p:custDataLst>
              <p:tags r:id="rId17"/>
            </p:custDataLst>
          </p:nvPr>
        </p:nvSpPr>
        <p:spPr>
          <a:xfrm>
            <a:off x="10386695" y="2397760"/>
            <a:ext cx="1264920" cy="460375"/>
          </a:xfrm>
          <a:prstGeom prst="rect">
            <a:avLst/>
          </a:prstGeom>
          <a:noFill/>
        </p:spPr>
        <p:txBody>
          <a:bodyPr wrap="square" rtlCol="0">
            <a:spAutoFit/>
          </a:bodyPr>
          <a:p>
            <a:pPr algn="ctr"/>
            <a:r>
              <a:rPr lang="zh-CN" altLang="en-US" sz="1200" b="1">
                <a:solidFill>
                  <a:schemeClr val="tx2"/>
                </a:solidFill>
                <a:latin typeface="微软雅黑" panose="020B0503020204020204" charset="-122"/>
                <a:ea typeface="微软雅黑" panose="020B0503020204020204" charset="-122"/>
                <a:cs typeface="微软雅黑" panose="020B0503020204020204" charset="-122"/>
              </a:rPr>
              <a:t>全链路透明化与动态可视化</a:t>
            </a:r>
            <a:endParaRPr lang="zh-CN" altLang="en-US" sz="12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1332865" y="6384925"/>
            <a:ext cx="8765540" cy="277495"/>
          </a:xfrm>
          <a:prstGeom prst="rect">
            <a:avLst/>
          </a:prstGeom>
          <a:noFill/>
        </p:spPr>
        <p:txBody>
          <a:bodyPr wrap="square" rtlCol="0">
            <a:noAutofit/>
          </a:bodyPr>
          <a:p>
            <a:pPr algn="ctr"/>
            <a:r>
              <a:rPr lang="zh-CN" altLang="en-US" sz="2000" b="1">
                <a:solidFill>
                  <a:schemeClr val="tx2"/>
                </a:solidFill>
                <a:latin typeface="微软雅黑" panose="020B0503020204020204" charset="-122"/>
                <a:ea typeface="微软雅黑" panose="020B0503020204020204" charset="-122"/>
                <a:cs typeface="微软雅黑" panose="020B0503020204020204" charset="-122"/>
              </a:rPr>
              <a:t>基于</a:t>
            </a:r>
            <a:r>
              <a:rPr lang="en-US" altLang="zh-CN" sz="2000" b="1">
                <a:solidFill>
                  <a:schemeClr val="tx2"/>
                </a:solidFill>
                <a:latin typeface="微软雅黑" panose="020B0503020204020204" charset="-122"/>
                <a:ea typeface="微软雅黑" panose="020B0503020204020204" charset="-122"/>
                <a:cs typeface="微软雅黑" panose="020B0503020204020204" charset="-122"/>
              </a:rPr>
              <a:t>“</a:t>
            </a:r>
            <a:r>
              <a:rPr lang="zh-CN" altLang="en-US" sz="2000" b="1">
                <a:solidFill>
                  <a:schemeClr val="tx2"/>
                </a:solidFill>
                <a:latin typeface="微软雅黑" panose="020B0503020204020204" charset="-122"/>
                <a:ea typeface="微软雅黑" panose="020B0503020204020204" charset="-122"/>
                <a:cs typeface="微软雅黑" panose="020B0503020204020204" charset="-122"/>
              </a:rPr>
              <a:t>供应链</a:t>
            </a:r>
            <a:r>
              <a:rPr lang="en-US" altLang="zh-CN" sz="2000" b="1">
                <a:solidFill>
                  <a:schemeClr val="tx2"/>
                </a:solidFill>
                <a:latin typeface="微软雅黑" panose="020B0503020204020204" charset="-122"/>
                <a:ea typeface="微软雅黑" panose="020B0503020204020204" charset="-122"/>
                <a:cs typeface="微软雅黑" panose="020B0503020204020204" charset="-122"/>
              </a:rPr>
              <a:t>”</a:t>
            </a:r>
            <a:r>
              <a:rPr lang="zh-CN" altLang="en-US" sz="2000" b="1">
                <a:solidFill>
                  <a:schemeClr val="tx2"/>
                </a:solidFill>
                <a:latin typeface="微软雅黑" panose="020B0503020204020204" charset="-122"/>
                <a:ea typeface="微软雅黑" panose="020B0503020204020204" charset="-122"/>
                <a:cs typeface="微软雅黑" panose="020B0503020204020204" charset="-122"/>
              </a:rPr>
              <a:t>的全程溯源与效率优化</a:t>
            </a:r>
            <a:endParaRPr lang="zh-CN" altLang="en-US" sz="20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 name="文本框 17"/>
          <p:cNvSpPr txBox="1"/>
          <p:nvPr>
            <p:custDataLst>
              <p:tags r:id="rId18"/>
            </p:custDataLst>
          </p:nvPr>
        </p:nvSpPr>
        <p:spPr>
          <a:xfrm>
            <a:off x="1185545" y="5658485"/>
            <a:ext cx="1264920" cy="583565"/>
          </a:xfrm>
          <a:prstGeom prst="rect">
            <a:avLst/>
          </a:prstGeom>
          <a:noFill/>
        </p:spPr>
        <p:txBody>
          <a:bodyPr wrap="square" rtlCol="0">
            <a:spAutoFit/>
          </a:bodyPr>
          <a:p>
            <a:pPr algn="ctr"/>
            <a:r>
              <a:rPr lang="zh-CN" altLang="en-US" sz="1600">
                <a:solidFill>
                  <a:schemeClr val="bg1"/>
                </a:solidFill>
                <a:latin typeface="微软雅黑" panose="020B0503020204020204" charset="-122"/>
                <a:ea typeface="微软雅黑" panose="020B0503020204020204" charset="-122"/>
                <a:cs typeface="微软雅黑" panose="020B0503020204020204" charset="-122"/>
              </a:rPr>
              <a:t>原材料</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600">
                <a:solidFill>
                  <a:schemeClr val="bg1"/>
                </a:solidFill>
                <a:latin typeface="微软雅黑" panose="020B0503020204020204" charset="-122"/>
                <a:ea typeface="微软雅黑" panose="020B0503020204020204" charset="-122"/>
                <a:cs typeface="微软雅黑" panose="020B0503020204020204" charset="-122"/>
              </a:rPr>
              <a:t>供应商</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1" name="文本框 20"/>
          <p:cNvSpPr txBox="1"/>
          <p:nvPr>
            <p:custDataLst>
              <p:tags r:id="rId19"/>
            </p:custDataLst>
          </p:nvPr>
        </p:nvSpPr>
        <p:spPr>
          <a:xfrm>
            <a:off x="3007995" y="5658485"/>
            <a:ext cx="1264920" cy="583565"/>
          </a:xfrm>
          <a:prstGeom prst="rect">
            <a:avLst/>
          </a:prstGeom>
          <a:noFill/>
        </p:spPr>
        <p:txBody>
          <a:bodyPr wrap="square" rtlCol="0">
            <a:spAutoFit/>
          </a:bodyPr>
          <a:p>
            <a:pPr algn="ctr"/>
            <a:r>
              <a:rPr lang="zh-CN" altLang="en-US" sz="1600">
                <a:solidFill>
                  <a:schemeClr val="bg1"/>
                </a:solidFill>
                <a:latin typeface="微软雅黑" panose="020B0503020204020204" charset="-122"/>
                <a:ea typeface="微软雅黑" panose="020B0503020204020204" charset="-122"/>
                <a:cs typeface="微软雅黑" panose="020B0503020204020204" charset="-122"/>
              </a:rPr>
              <a:t>生产</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600">
                <a:solidFill>
                  <a:schemeClr val="bg1"/>
                </a:solidFill>
                <a:latin typeface="微软雅黑" panose="020B0503020204020204" charset="-122"/>
                <a:ea typeface="微软雅黑" panose="020B0503020204020204" charset="-122"/>
                <a:cs typeface="微软雅黑" panose="020B0503020204020204" charset="-122"/>
              </a:rPr>
              <a:t>制造商</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4" name="文本框 33"/>
          <p:cNvSpPr txBox="1"/>
          <p:nvPr>
            <p:custDataLst>
              <p:tags r:id="rId20"/>
            </p:custDataLst>
          </p:nvPr>
        </p:nvSpPr>
        <p:spPr>
          <a:xfrm>
            <a:off x="4830445" y="5658485"/>
            <a:ext cx="1264920" cy="583565"/>
          </a:xfrm>
          <a:prstGeom prst="rect">
            <a:avLst/>
          </a:prstGeom>
          <a:noFill/>
        </p:spPr>
        <p:txBody>
          <a:bodyPr wrap="square" rtlCol="0">
            <a:spAutoFit/>
          </a:bodyPr>
          <a:p>
            <a:pPr algn="ctr"/>
            <a:r>
              <a:rPr lang="zh-CN" altLang="en-US" sz="1600">
                <a:solidFill>
                  <a:schemeClr val="bg1"/>
                </a:solidFill>
                <a:latin typeface="微软雅黑" panose="020B0503020204020204" charset="-122"/>
                <a:ea typeface="微软雅黑" panose="020B0503020204020204" charset="-122"/>
                <a:cs typeface="微软雅黑" panose="020B0503020204020204" charset="-122"/>
              </a:rPr>
              <a:t>第三方物流服务商</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9" name="文本框 38"/>
          <p:cNvSpPr txBox="1"/>
          <p:nvPr>
            <p:custDataLst>
              <p:tags r:id="rId21"/>
            </p:custDataLst>
          </p:nvPr>
        </p:nvSpPr>
        <p:spPr>
          <a:xfrm>
            <a:off x="6652895" y="5658485"/>
            <a:ext cx="1264920" cy="583565"/>
          </a:xfrm>
          <a:prstGeom prst="rect">
            <a:avLst/>
          </a:prstGeom>
          <a:noFill/>
        </p:spPr>
        <p:txBody>
          <a:bodyPr wrap="square" rtlCol="0">
            <a:spAutoFit/>
          </a:bodyPr>
          <a:p>
            <a:pPr algn="ctr"/>
            <a:r>
              <a:rPr lang="zh-CN" altLang="en-US" sz="1600">
                <a:solidFill>
                  <a:schemeClr val="bg1"/>
                </a:solidFill>
                <a:latin typeface="微软雅黑" panose="020B0503020204020204" charset="-122"/>
                <a:ea typeface="微软雅黑" panose="020B0503020204020204" charset="-122"/>
                <a:cs typeface="微软雅黑" panose="020B0503020204020204" charset="-122"/>
              </a:rPr>
              <a:t>分销</a:t>
            </a:r>
            <a:r>
              <a:rPr lang="en-US" altLang="zh-CN" sz="1600">
                <a:solidFill>
                  <a:schemeClr val="bg1"/>
                </a:solidFill>
                <a:latin typeface="微软雅黑" panose="020B0503020204020204" charset="-122"/>
                <a:ea typeface="微软雅黑" panose="020B0503020204020204" charset="-122"/>
                <a:cs typeface="微软雅黑" panose="020B0503020204020204" charset="-122"/>
              </a:rPr>
              <a:t>/</a:t>
            </a:r>
            <a:r>
              <a:rPr lang="zh-CN" altLang="en-US" sz="1600">
                <a:solidFill>
                  <a:schemeClr val="bg1"/>
                </a:solidFill>
                <a:latin typeface="微软雅黑" panose="020B0503020204020204" charset="-122"/>
                <a:ea typeface="微软雅黑" panose="020B0503020204020204" charset="-122"/>
                <a:cs typeface="微软雅黑" panose="020B0503020204020204" charset="-122"/>
              </a:rPr>
              <a:t>经销商</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0" name="文本框 39"/>
          <p:cNvSpPr txBox="1"/>
          <p:nvPr>
            <p:custDataLst>
              <p:tags r:id="rId22"/>
            </p:custDataLst>
          </p:nvPr>
        </p:nvSpPr>
        <p:spPr>
          <a:xfrm>
            <a:off x="8475345" y="5658485"/>
            <a:ext cx="1264920" cy="583565"/>
          </a:xfrm>
          <a:prstGeom prst="rect">
            <a:avLst/>
          </a:prstGeom>
          <a:noFill/>
        </p:spPr>
        <p:txBody>
          <a:bodyPr wrap="square" rtlCol="0">
            <a:spAutoFit/>
          </a:bodyPr>
          <a:p>
            <a:pPr algn="ctr"/>
            <a:r>
              <a:rPr lang="zh-CN" sz="1600">
                <a:solidFill>
                  <a:schemeClr val="bg1"/>
                </a:solidFill>
                <a:latin typeface="微软雅黑" panose="020B0503020204020204" charset="-122"/>
                <a:ea typeface="微软雅黑" panose="020B0503020204020204" charset="-122"/>
                <a:cs typeface="微软雅黑" panose="020B0503020204020204" charset="-122"/>
              </a:rPr>
              <a:t>终端</a:t>
            </a:r>
            <a:endParaRPr lang="zh-CN" sz="160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sz="1600">
                <a:solidFill>
                  <a:schemeClr val="bg1"/>
                </a:solidFill>
                <a:latin typeface="微软雅黑" panose="020B0503020204020204" charset="-122"/>
                <a:ea typeface="微软雅黑" panose="020B0503020204020204" charset="-122"/>
                <a:cs typeface="微软雅黑" panose="020B0503020204020204" charset="-122"/>
              </a:rPr>
              <a:t>消费者</a:t>
            </a:r>
            <a:endParaRPr lang="zh-CN" sz="1600">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42" name="直接连接符 41"/>
          <p:cNvCxnSpPr/>
          <p:nvPr/>
        </p:nvCxnSpPr>
        <p:spPr>
          <a:xfrm>
            <a:off x="2755265" y="5763260"/>
            <a:ext cx="0" cy="368300"/>
          </a:xfrm>
          <a:prstGeom prst="line">
            <a:avLst/>
          </a:prstGeom>
          <a:ln w="28575">
            <a:solidFill>
              <a:schemeClr val="bg1"/>
            </a:solidFill>
          </a:ln>
        </p:spPr>
        <p:style>
          <a:lnRef idx="2">
            <a:schemeClr val="accent1"/>
          </a:lnRef>
          <a:fillRef idx="0">
            <a:srgbClr val="FFFFFF"/>
          </a:fillRef>
          <a:effectRef idx="0">
            <a:srgbClr val="FFFFFF"/>
          </a:effectRef>
          <a:fontRef idx="minor">
            <a:schemeClr val="tx1"/>
          </a:fontRef>
        </p:style>
      </p:cxnSp>
      <p:cxnSp>
        <p:nvCxnSpPr>
          <p:cNvPr id="44" name="直接连接符 43"/>
          <p:cNvCxnSpPr/>
          <p:nvPr/>
        </p:nvCxnSpPr>
        <p:spPr>
          <a:xfrm>
            <a:off x="4628515" y="5763260"/>
            <a:ext cx="0" cy="368300"/>
          </a:xfrm>
          <a:prstGeom prst="line">
            <a:avLst/>
          </a:prstGeom>
          <a:ln w="28575">
            <a:solidFill>
              <a:schemeClr val="bg1"/>
            </a:solidFill>
          </a:ln>
        </p:spPr>
        <p:style>
          <a:lnRef idx="2">
            <a:schemeClr val="accent1"/>
          </a:lnRef>
          <a:fillRef idx="0">
            <a:srgbClr val="FFFFFF"/>
          </a:fillRef>
          <a:effectRef idx="0">
            <a:srgbClr val="FFFFFF"/>
          </a:effectRef>
          <a:fontRef idx="minor">
            <a:schemeClr val="tx1"/>
          </a:fontRef>
        </p:style>
      </p:cxnSp>
      <p:cxnSp>
        <p:nvCxnSpPr>
          <p:cNvPr id="47" name="直接连接符 46"/>
          <p:cNvCxnSpPr/>
          <p:nvPr/>
        </p:nvCxnSpPr>
        <p:spPr>
          <a:xfrm>
            <a:off x="6501765" y="5763260"/>
            <a:ext cx="0" cy="368300"/>
          </a:xfrm>
          <a:prstGeom prst="line">
            <a:avLst/>
          </a:prstGeom>
          <a:ln w="28575">
            <a:solidFill>
              <a:schemeClr val="bg1"/>
            </a:solidFill>
          </a:ln>
        </p:spPr>
        <p:style>
          <a:lnRef idx="2">
            <a:schemeClr val="accent1"/>
          </a:lnRef>
          <a:fillRef idx="0">
            <a:srgbClr val="FFFFFF"/>
          </a:fillRef>
          <a:effectRef idx="0">
            <a:srgbClr val="FFFFFF"/>
          </a:effectRef>
          <a:fontRef idx="minor">
            <a:schemeClr val="tx1"/>
          </a:fontRef>
        </p:style>
      </p:cxnSp>
      <p:cxnSp>
        <p:nvCxnSpPr>
          <p:cNvPr id="48" name="直接连接符 47"/>
          <p:cNvCxnSpPr/>
          <p:nvPr/>
        </p:nvCxnSpPr>
        <p:spPr>
          <a:xfrm>
            <a:off x="8375015" y="5763260"/>
            <a:ext cx="0" cy="368300"/>
          </a:xfrm>
          <a:prstGeom prst="line">
            <a:avLst/>
          </a:prstGeom>
          <a:ln w="28575">
            <a:solidFill>
              <a:schemeClr val="bg1"/>
            </a:solidFill>
          </a:ln>
        </p:spPr>
        <p:style>
          <a:lnRef idx="2">
            <a:schemeClr val="accent1"/>
          </a:lnRef>
          <a:fillRef idx="0">
            <a:srgbClr val="FFFFFF"/>
          </a:fillRef>
          <a:effectRef idx="0">
            <a:srgbClr val="FFFFFF"/>
          </a:effectRef>
          <a:fontRef idx="minor">
            <a:schemeClr val="tx1"/>
          </a:fontRef>
        </p:style>
      </p:cxnSp>
      <p:sp>
        <p:nvSpPr>
          <p:cNvPr id="49" name="文本框 48"/>
          <p:cNvSpPr txBox="1"/>
          <p:nvPr>
            <p:custDataLst>
              <p:tags r:id="rId23"/>
            </p:custDataLst>
          </p:nvPr>
        </p:nvSpPr>
        <p:spPr>
          <a:xfrm>
            <a:off x="2167255" y="4716780"/>
            <a:ext cx="833120" cy="583565"/>
          </a:xfrm>
          <a:prstGeom prst="rect">
            <a:avLst/>
          </a:prstGeom>
          <a:noFill/>
        </p:spPr>
        <p:txBody>
          <a:bodyPr wrap="square" rtlCol="0">
            <a:spAutoFit/>
          </a:bodyPr>
          <a:p>
            <a:pPr algn="ctr"/>
            <a:r>
              <a:rPr lang="en-US" altLang="zh-CN" sz="1600">
                <a:solidFill>
                  <a:schemeClr val="bg1"/>
                </a:solidFill>
                <a:latin typeface="微软雅黑" panose="020B0503020204020204" charset="-122"/>
                <a:ea typeface="微软雅黑" panose="020B0503020204020204" charset="-122"/>
                <a:cs typeface="微软雅黑" panose="020B0503020204020204" charset="-122"/>
              </a:rPr>
              <a:t>ERP</a:t>
            </a:r>
            <a:endParaRPr lang="en-US" altLang="zh-CN" sz="160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600">
                <a:solidFill>
                  <a:schemeClr val="bg1"/>
                </a:solidFill>
                <a:latin typeface="微软雅黑" panose="020B0503020204020204" charset="-122"/>
                <a:ea typeface="微软雅黑" panose="020B0503020204020204" charset="-122"/>
                <a:cs typeface="微软雅黑" panose="020B0503020204020204" charset="-122"/>
              </a:rPr>
              <a:t>生产</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0" name="文本框 49"/>
          <p:cNvSpPr txBox="1"/>
          <p:nvPr>
            <p:custDataLst>
              <p:tags r:id="rId24"/>
            </p:custDataLst>
          </p:nvPr>
        </p:nvSpPr>
        <p:spPr>
          <a:xfrm>
            <a:off x="3144520" y="4720590"/>
            <a:ext cx="727710" cy="583565"/>
          </a:xfrm>
          <a:prstGeom prst="rect">
            <a:avLst/>
          </a:prstGeom>
          <a:noFill/>
        </p:spPr>
        <p:txBody>
          <a:bodyPr wrap="square" rtlCol="0">
            <a:spAutoFit/>
          </a:bodyPr>
          <a:p>
            <a:pPr algn="ctr"/>
            <a:r>
              <a:rPr lang="en-US" sz="1600">
                <a:solidFill>
                  <a:schemeClr val="bg1"/>
                </a:solidFill>
                <a:latin typeface="微软雅黑" panose="020B0503020204020204" charset="-122"/>
                <a:ea typeface="微软雅黑" panose="020B0503020204020204" charset="-122"/>
                <a:cs typeface="微软雅黑" panose="020B0503020204020204" charset="-122"/>
              </a:rPr>
              <a:t>WMS</a:t>
            </a:r>
            <a:r>
              <a:rPr lang="zh-CN" altLang="en-US" sz="1600">
                <a:solidFill>
                  <a:schemeClr val="bg1"/>
                </a:solidFill>
                <a:latin typeface="微软雅黑" panose="020B0503020204020204" charset="-122"/>
                <a:ea typeface="微软雅黑" panose="020B0503020204020204" charset="-122"/>
                <a:cs typeface="微软雅黑" panose="020B0503020204020204" charset="-122"/>
              </a:rPr>
              <a:t>仓储</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1" name="文本框 50"/>
          <p:cNvSpPr txBox="1"/>
          <p:nvPr>
            <p:custDataLst>
              <p:tags r:id="rId25"/>
            </p:custDataLst>
          </p:nvPr>
        </p:nvSpPr>
        <p:spPr>
          <a:xfrm>
            <a:off x="4029710" y="4711065"/>
            <a:ext cx="714375" cy="583565"/>
          </a:xfrm>
          <a:prstGeom prst="rect">
            <a:avLst/>
          </a:prstGeom>
          <a:noFill/>
        </p:spPr>
        <p:txBody>
          <a:bodyPr wrap="square" rtlCol="0">
            <a:spAutoFit/>
          </a:bodyPr>
          <a:p>
            <a:pPr algn="ctr"/>
            <a:r>
              <a:rPr lang="en-US" sz="1600">
                <a:solidFill>
                  <a:schemeClr val="bg1"/>
                </a:solidFill>
                <a:latin typeface="微软雅黑" panose="020B0503020204020204" charset="-122"/>
                <a:ea typeface="微软雅黑" panose="020B0503020204020204" charset="-122"/>
                <a:cs typeface="微软雅黑" panose="020B0503020204020204" charset="-122"/>
              </a:rPr>
              <a:t>CRM</a:t>
            </a:r>
            <a:r>
              <a:rPr lang="zh-CN" altLang="en-US" sz="1600">
                <a:solidFill>
                  <a:schemeClr val="bg1"/>
                </a:solidFill>
                <a:latin typeface="微软雅黑" panose="020B0503020204020204" charset="-122"/>
                <a:ea typeface="微软雅黑" panose="020B0503020204020204" charset="-122"/>
                <a:cs typeface="微软雅黑" panose="020B0503020204020204" charset="-122"/>
              </a:rPr>
              <a:t>客户</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2" name="文本框 51"/>
          <p:cNvSpPr txBox="1"/>
          <p:nvPr>
            <p:custDataLst>
              <p:tags r:id="rId26"/>
            </p:custDataLst>
          </p:nvPr>
        </p:nvSpPr>
        <p:spPr>
          <a:xfrm>
            <a:off x="5428615" y="4761230"/>
            <a:ext cx="1486535" cy="583565"/>
          </a:xfrm>
          <a:prstGeom prst="rect">
            <a:avLst/>
          </a:prstGeom>
          <a:noFill/>
        </p:spPr>
        <p:txBody>
          <a:bodyPr wrap="square" rtlCol="0">
            <a:spAutoFit/>
          </a:bodyPr>
          <a:p>
            <a:pPr algn="ctr"/>
            <a:r>
              <a:rPr lang="zh-CN" sz="1600">
                <a:solidFill>
                  <a:schemeClr val="bg1"/>
                </a:solidFill>
                <a:latin typeface="微软雅黑" panose="020B0503020204020204" charset="-122"/>
                <a:ea typeface="微软雅黑" panose="020B0503020204020204" charset="-122"/>
                <a:cs typeface="微软雅黑" panose="020B0503020204020204" charset="-122"/>
              </a:rPr>
              <a:t>供应商数据接入系统</a:t>
            </a:r>
            <a:endParaRPr lang="zh-CN" sz="16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3" name="文本框 52"/>
          <p:cNvSpPr txBox="1"/>
          <p:nvPr>
            <p:custDataLst>
              <p:tags r:id="rId27"/>
            </p:custDataLst>
          </p:nvPr>
        </p:nvSpPr>
        <p:spPr>
          <a:xfrm>
            <a:off x="7092315" y="4754880"/>
            <a:ext cx="1486535" cy="583565"/>
          </a:xfrm>
          <a:prstGeom prst="rect">
            <a:avLst/>
          </a:prstGeom>
          <a:noFill/>
        </p:spPr>
        <p:txBody>
          <a:bodyPr wrap="square" rtlCol="0">
            <a:spAutoFit/>
          </a:bodyPr>
          <a:p>
            <a:pPr algn="ctr"/>
            <a:r>
              <a:rPr lang="zh-CN" sz="1600">
                <a:solidFill>
                  <a:schemeClr val="bg1"/>
                </a:solidFill>
                <a:latin typeface="微软雅黑" panose="020B0503020204020204" charset="-122"/>
                <a:ea typeface="微软雅黑" panose="020B0503020204020204" charset="-122"/>
                <a:cs typeface="微软雅黑" panose="020B0503020204020204" charset="-122"/>
              </a:rPr>
              <a:t>分销渠道</a:t>
            </a:r>
            <a:endParaRPr lang="zh-CN" sz="160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sz="1600">
                <a:solidFill>
                  <a:schemeClr val="bg1"/>
                </a:solidFill>
                <a:latin typeface="微软雅黑" panose="020B0503020204020204" charset="-122"/>
                <a:ea typeface="微软雅黑" panose="020B0503020204020204" charset="-122"/>
                <a:cs typeface="微软雅黑" panose="020B0503020204020204" charset="-122"/>
              </a:rPr>
              <a:t>整合系统</a:t>
            </a:r>
            <a:endParaRPr lang="zh-CN" sz="16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4" name="文本框 53"/>
          <p:cNvSpPr txBox="1"/>
          <p:nvPr>
            <p:custDataLst>
              <p:tags r:id="rId28"/>
            </p:custDataLst>
          </p:nvPr>
        </p:nvSpPr>
        <p:spPr>
          <a:xfrm>
            <a:off x="3435668" y="2605405"/>
            <a:ext cx="3747135" cy="306705"/>
          </a:xfrm>
          <a:prstGeom prst="rect">
            <a:avLst/>
          </a:prstGeom>
          <a:noFill/>
        </p:spPr>
        <p:txBody>
          <a:bodyPr wrap="square" rtlCol="0">
            <a:spAutoFit/>
          </a:bodyPr>
          <a:p>
            <a:pPr lvl="0" algn="ctr">
              <a:buClrTx/>
              <a:buSzTx/>
              <a:buFontTx/>
            </a:pPr>
            <a:r>
              <a:rPr lang="zh-CN" sz="1400" b="1">
                <a:solidFill>
                  <a:schemeClr val="accent5"/>
                </a:solidFill>
                <a:effectLst>
                  <a:reflection blurRad="50800" stA="33000" endA="900" endPos="60000" dist="76200" dir="5400000" sy="-100000" algn="bl" rotWithShape="0"/>
                </a:effectLst>
                <a:latin typeface="微软雅黑" panose="020B0503020204020204" charset="-122"/>
                <a:ea typeface="微软雅黑" panose="020B0503020204020204" charset="-122"/>
                <a:cs typeface="微软雅黑" panose="020B0503020204020204" charset="-122"/>
                <a:sym typeface="+mn-ea"/>
              </a:rPr>
              <a:t>区块链供应链溯源系统</a:t>
            </a:r>
            <a:endParaRPr lang="zh-CN" sz="1400" b="1">
              <a:solidFill>
                <a:schemeClr val="accent5"/>
              </a:solidFill>
              <a:effectLst>
                <a:reflection blurRad="50800" stA="33000" endA="900" endPos="60000" dist="76200" dir="5400000" sy="-100000" algn="bl" rotWithShape="0"/>
              </a:effectLst>
              <a:latin typeface="微软雅黑" panose="020B0503020204020204" charset="-122"/>
              <a:ea typeface="微软雅黑" panose="020B0503020204020204" charset="-122"/>
              <a:cs typeface="微软雅黑" panose="020B0503020204020204" charset="-122"/>
              <a:sym typeface="+mn-ea"/>
            </a:endParaRPr>
          </a:p>
        </p:txBody>
      </p:sp>
      <p:sp>
        <p:nvSpPr>
          <p:cNvPr id="55" name="文本框 54"/>
          <p:cNvSpPr txBox="1"/>
          <p:nvPr>
            <p:custDataLst>
              <p:tags r:id="rId29"/>
            </p:custDataLst>
          </p:nvPr>
        </p:nvSpPr>
        <p:spPr>
          <a:xfrm>
            <a:off x="3435668" y="1972945"/>
            <a:ext cx="3747135" cy="306705"/>
          </a:xfrm>
          <a:prstGeom prst="rect">
            <a:avLst/>
          </a:prstGeom>
          <a:noFill/>
        </p:spPr>
        <p:txBody>
          <a:bodyPr wrap="square" rtlCol="0">
            <a:spAutoFit/>
          </a:bodyPr>
          <a:p>
            <a:pPr lvl="0" algn="ctr">
              <a:buClrTx/>
              <a:buSzTx/>
              <a:buFontTx/>
            </a:pPr>
            <a:r>
              <a:rPr lang="zh-CN" sz="1400" b="1">
                <a:solidFill>
                  <a:schemeClr val="accent5"/>
                </a:solidFill>
                <a:effectLst>
                  <a:reflection blurRad="50800" stA="33000" endA="900" endPos="60000" dist="76200" dir="5400000" sy="-100000" algn="bl" rotWithShape="0"/>
                </a:effectLst>
                <a:latin typeface="微软雅黑" panose="020B0503020204020204" charset="-122"/>
                <a:ea typeface="微软雅黑" panose="020B0503020204020204" charset="-122"/>
                <a:cs typeface="微软雅黑" panose="020B0503020204020204" charset="-122"/>
                <a:sym typeface="+mn-ea"/>
              </a:rPr>
              <a:t>区块链保障供应链数据安全可溯</a:t>
            </a:r>
            <a:endParaRPr lang="zh-CN" sz="1400" b="1">
              <a:solidFill>
                <a:schemeClr val="accent5"/>
              </a:solidFill>
              <a:effectLst>
                <a:reflection blurRad="50800" stA="33000" endA="900" endPos="60000" dist="76200" dir="5400000" sy="-100000" algn="bl" rotWithShape="0"/>
              </a:effectLst>
              <a:latin typeface="微软雅黑" panose="020B0503020204020204" charset="-122"/>
              <a:ea typeface="微软雅黑" panose="020B0503020204020204" charset="-122"/>
              <a:cs typeface="微软雅黑" panose="020B0503020204020204" charset="-122"/>
              <a:sym typeface="+mn-ea"/>
            </a:endParaRPr>
          </a:p>
        </p:txBody>
      </p:sp>
      <p:sp>
        <p:nvSpPr>
          <p:cNvPr id="56" name="文本框 55"/>
          <p:cNvSpPr txBox="1"/>
          <p:nvPr>
            <p:custDataLst>
              <p:tags r:id="rId30"/>
            </p:custDataLst>
          </p:nvPr>
        </p:nvSpPr>
        <p:spPr>
          <a:xfrm>
            <a:off x="2450465" y="3208020"/>
            <a:ext cx="986155" cy="460375"/>
          </a:xfrm>
          <a:prstGeom prst="rect">
            <a:avLst/>
          </a:prstGeom>
          <a:noFill/>
        </p:spPr>
        <p:txBody>
          <a:bodyPr wrap="square" rtlCol="0">
            <a:spAutoFit/>
          </a:bodyPr>
          <a:p>
            <a:pPr algn="ctr"/>
            <a:r>
              <a:rPr lang="zh-CN" sz="1200">
                <a:solidFill>
                  <a:schemeClr val="tx2"/>
                </a:solidFill>
                <a:latin typeface="微软雅黑" panose="020B0503020204020204" charset="-122"/>
                <a:ea typeface="微软雅黑" panose="020B0503020204020204" charset="-122"/>
                <a:cs typeface="微软雅黑" panose="020B0503020204020204" charset="-122"/>
              </a:rPr>
              <a:t>原材料采购数据</a:t>
            </a:r>
            <a:endParaRPr lang="zh-CN"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7" name="文本框 56"/>
          <p:cNvSpPr txBox="1"/>
          <p:nvPr>
            <p:custDataLst>
              <p:tags r:id="rId31"/>
            </p:custDataLst>
          </p:nvPr>
        </p:nvSpPr>
        <p:spPr>
          <a:xfrm>
            <a:off x="4194175" y="3208020"/>
            <a:ext cx="986155" cy="460375"/>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生产制造进度数据</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8" name="文本框 57"/>
          <p:cNvSpPr txBox="1"/>
          <p:nvPr>
            <p:custDataLst>
              <p:tags r:id="rId32"/>
            </p:custDataLst>
          </p:nvPr>
        </p:nvSpPr>
        <p:spPr>
          <a:xfrm>
            <a:off x="5937885" y="3208020"/>
            <a:ext cx="986155" cy="460375"/>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物流运输实时信息</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9" name="文本框 58"/>
          <p:cNvSpPr txBox="1"/>
          <p:nvPr>
            <p:custDataLst>
              <p:tags r:id="rId33"/>
            </p:custDataLst>
          </p:nvPr>
        </p:nvSpPr>
        <p:spPr>
          <a:xfrm>
            <a:off x="7681595" y="3208020"/>
            <a:ext cx="1187450" cy="460375"/>
          </a:xfrm>
          <a:prstGeom prst="rect">
            <a:avLst/>
          </a:prstGeom>
          <a:noFill/>
        </p:spPr>
        <p:txBody>
          <a:bodyPr wrap="square" rtlCol="0">
            <a:spAutoFit/>
          </a:bodyPr>
          <a:p>
            <a:pPr algn="ctr"/>
            <a:r>
              <a:rPr lang="zh-CN" altLang="en-US" sz="1200">
                <a:solidFill>
                  <a:schemeClr val="tx2"/>
                </a:solidFill>
                <a:latin typeface="微软雅黑" panose="020B0503020204020204" charset="-122"/>
                <a:ea typeface="微软雅黑" panose="020B0503020204020204" charset="-122"/>
                <a:cs typeface="微软雅黑" panose="020B0503020204020204" charset="-122"/>
              </a:rPr>
              <a:t>库存与销售匹配数据</a:t>
            </a:r>
            <a:endParaRPr lang="zh-CN" altLang="en-US"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0" name="文本框 59"/>
          <p:cNvSpPr txBox="1"/>
          <p:nvPr>
            <p:custDataLst>
              <p:tags r:id="rId34"/>
            </p:custDataLst>
          </p:nvPr>
        </p:nvSpPr>
        <p:spPr>
          <a:xfrm>
            <a:off x="1890395" y="3844925"/>
            <a:ext cx="3239135" cy="306705"/>
          </a:xfrm>
          <a:prstGeom prst="rect">
            <a:avLst/>
          </a:prstGeom>
          <a:noFill/>
        </p:spPr>
        <p:txBody>
          <a:bodyPr wrap="square" rtlCol="0">
            <a:spAutoFit/>
          </a:bodyPr>
          <a:p>
            <a:pPr algn="ctr"/>
            <a:r>
              <a:rPr lang="zh-CN" sz="1400" b="1">
                <a:solidFill>
                  <a:schemeClr val="accent1">
                    <a:lumMod val="60000"/>
                    <a:lumOff val="40000"/>
                  </a:schemeClr>
                </a:solidFill>
                <a:effectLst>
                  <a:reflection blurRad="50800" stA="33000" endA="900" endPos="60000" dist="76200" dir="5400000" sy="-100000" algn="bl" rotWithShape="0"/>
                </a:effectLst>
                <a:latin typeface="微软雅黑" panose="020B0503020204020204" charset="-122"/>
                <a:ea typeface="微软雅黑" panose="020B0503020204020204" charset="-122"/>
                <a:cs typeface="微软雅黑" panose="020B0503020204020204" charset="-122"/>
              </a:rPr>
              <a:t>企业数据中台</a:t>
            </a:r>
            <a:endParaRPr lang="zh-CN" sz="1400" b="1">
              <a:solidFill>
                <a:schemeClr val="accent1">
                  <a:lumMod val="60000"/>
                  <a:lumOff val="40000"/>
                </a:schemeClr>
              </a:solidFill>
              <a:effectLst>
                <a:reflection blurRad="50800" stA="33000" endA="900" endPos="60000" dist="76200" dir="5400000" sy="-100000" algn="bl" rotWithShape="0"/>
              </a:effectLst>
              <a:latin typeface="微软雅黑" panose="020B0503020204020204" charset="-122"/>
              <a:ea typeface="微软雅黑" panose="020B0503020204020204" charset="-122"/>
              <a:cs typeface="微软雅黑" panose="020B0503020204020204" charset="-122"/>
            </a:endParaRPr>
          </a:p>
        </p:txBody>
      </p:sp>
      <p:sp>
        <p:nvSpPr>
          <p:cNvPr id="61" name="文本框 60"/>
          <p:cNvSpPr txBox="1"/>
          <p:nvPr>
            <p:custDataLst>
              <p:tags r:id="rId35"/>
            </p:custDataLst>
          </p:nvPr>
        </p:nvSpPr>
        <p:spPr>
          <a:xfrm>
            <a:off x="4728210" y="3844925"/>
            <a:ext cx="3747135" cy="306705"/>
          </a:xfrm>
          <a:prstGeom prst="rect">
            <a:avLst/>
          </a:prstGeom>
          <a:noFill/>
        </p:spPr>
        <p:txBody>
          <a:bodyPr wrap="square" rtlCol="0">
            <a:spAutoFit/>
          </a:bodyPr>
          <a:p>
            <a:pPr algn="ctr"/>
            <a:r>
              <a:rPr lang="zh-CN" altLang="en-US" sz="1400" b="1">
                <a:solidFill>
                  <a:schemeClr val="accent1">
                    <a:lumMod val="60000"/>
                    <a:lumOff val="40000"/>
                  </a:schemeClr>
                </a:solidFill>
                <a:effectLst>
                  <a:reflection blurRad="50800" stA="33000" endA="900" endPos="60000" dist="76200" dir="5400000" sy="-100000" algn="bl" rotWithShape="0"/>
                </a:effectLst>
                <a:latin typeface="微软雅黑" panose="020B0503020204020204" charset="-122"/>
                <a:ea typeface="微软雅黑" panose="020B0503020204020204" charset="-122"/>
                <a:cs typeface="微软雅黑" panose="020B0503020204020204" charset="-122"/>
              </a:rPr>
              <a:t>全国统一供应链协同平台</a:t>
            </a:r>
            <a:endParaRPr lang="zh-CN" altLang="en-US" sz="1400" b="1">
              <a:solidFill>
                <a:schemeClr val="accent1">
                  <a:lumMod val="60000"/>
                  <a:lumOff val="40000"/>
                </a:schemeClr>
              </a:solidFill>
              <a:effectLst>
                <a:reflection blurRad="50800" stA="33000" endA="900" endPos="60000" dist="76200" dir="5400000" sy="-100000" algn="bl" rotWithShape="0"/>
              </a:effectLst>
              <a:latin typeface="微软雅黑" panose="020B0503020204020204" charset="-122"/>
              <a:ea typeface="微软雅黑" panose="020B0503020204020204" charset="-122"/>
              <a:cs typeface="微软雅黑" panose="020B0503020204020204" charset="-122"/>
            </a:endParaRPr>
          </a:p>
        </p:txBody>
      </p:sp>
      <p:sp>
        <p:nvSpPr>
          <p:cNvPr id="68" name="矩形 67"/>
          <p:cNvSpPr/>
          <p:nvPr/>
        </p:nvSpPr>
        <p:spPr>
          <a:xfrm>
            <a:off x="3700780" y="1370330"/>
            <a:ext cx="821055" cy="461010"/>
          </a:xfrm>
          <a:prstGeom prst="rect">
            <a:avLst/>
          </a:prstGeom>
          <a:solidFill>
            <a:schemeClr val="bg1"/>
          </a:solidFill>
          <a:ln>
            <a:solidFill>
              <a:schemeClr val="accent5">
                <a:lumMod val="60000"/>
                <a:lumOff val="40000"/>
              </a:schemeClr>
            </a:solidFill>
          </a:ln>
          <a:effectLst>
            <a:outerShdw blurRad="50800" dist="38100" dir="2700000" algn="tl" rotWithShape="0">
              <a:schemeClr val="accent5">
                <a:lumMod val="60000"/>
                <a:lumOff val="40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tx2"/>
              </a:solidFill>
              <a:cs typeface="微软雅黑" panose="020B0503020204020204" charset="-122"/>
              <a:sym typeface="+mn-ea"/>
            </a:endParaRPr>
          </a:p>
        </p:txBody>
      </p:sp>
      <p:sp>
        <p:nvSpPr>
          <p:cNvPr id="79" name="矩形 78"/>
          <p:cNvSpPr/>
          <p:nvPr/>
        </p:nvSpPr>
        <p:spPr>
          <a:xfrm>
            <a:off x="4950460" y="1275080"/>
            <a:ext cx="821055" cy="461010"/>
          </a:xfrm>
          <a:prstGeom prst="rect">
            <a:avLst/>
          </a:prstGeom>
          <a:solidFill>
            <a:schemeClr val="bg1"/>
          </a:solidFill>
          <a:ln>
            <a:solidFill>
              <a:schemeClr val="accent5">
                <a:lumMod val="60000"/>
                <a:lumOff val="40000"/>
              </a:schemeClr>
            </a:solidFill>
          </a:ln>
          <a:effectLst>
            <a:outerShdw blurRad="50800" dist="38100" dir="2700000" algn="tl" rotWithShape="0">
              <a:schemeClr val="accent5">
                <a:lumMod val="60000"/>
                <a:lumOff val="40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tx2"/>
              </a:solidFill>
              <a:cs typeface="微软雅黑" panose="020B0503020204020204" charset="-122"/>
              <a:sym typeface="+mn-ea"/>
            </a:endParaRPr>
          </a:p>
        </p:txBody>
      </p:sp>
      <p:sp>
        <p:nvSpPr>
          <p:cNvPr id="84" name="矩形 83"/>
          <p:cNvSpPr/>
          <p:nvPr/>
        </p:nvSpPr>
        <p:spPr>
          <a:xfrm>
            <a:off x="6200775" y="1370330"/>
            <a:ext cx="821055" cy="461010"/>
          </a:xfrm>
          <a:prstGeom prst="rect">
            <a:avLst/>
          </a:prstGeom>
          <a:solidFill>
            <a:schemeClr val="bg1"/>
          </a:solidFill>
          <a:ln>
            <a:solidFill>
              <a:schemeClr val="accent5">
                <a:lumMod val="60000"/>
                <a:lumOff val="40000"/>
              </a:schemeClr>
            </a:solidFill>
          </a:ln>
          <a:effectLst>
            <a:outerShdw blurRad="50800" dist="38100" dir="2700000" algn="tl" rotWithShape="0">
              <a:schemeClr val="accent5">
                <a:lumMod val="60000"/>
                <a:lumOff val="40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tx2"/>
              </a:solidFill>
              <a:cs typeface="微软雅黑" panose="020B0503020204020204" charset="-122"/>
              <a:sym typeface="+mn-ea"/>
            </a:endParaRPr>
          </a:p>
        </p:txBody>
      </p:sp>
      <p:sp>
        <p:nvSpPr>
          <p:cNvPr id="87" name="矩形 86"/>
          <p:cNvSpPr/>
          <p:nvPr/>
        </p:nvSpPr>
        <p:spPr>
          <a:xfrm>
            <a:off x="7451090" y="1724660"/>
            <a:ext cx="821055" cy="461010"/>
          </a:xfrm>
          <a:prstGeom prst="rect">
            <a:avLst/>
          </a:prstGeom>
          <a:solidFill>
            <a:schemeClr val="bg1"/>
          </a:solidFill>
          <a:ln>
            <a:solidFill>
              <a:schemeClr val="accent5">
                <a:lumMod val="60000"/>
                <a:lumOff val="40000"/>
              </a:schemeClr>
            </a:solidFill>
          </a:ln>
          <a:effectLst>
            <a:outerShdw blurRad="50800" dist="38100" dir="2700000" algn="tl" rotWithShape="0">
              <a:schemeClr val="accent5">
                <a:lumMod val="60000"/>
                <a:lumOff val="40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tx2"/>
              </a:solidFill>
              <a:cs typeface="微软雅黑" panose="020B0503020204020204" charset="-122"/>
              <a:sym typeface="+mn-ea"/>
            </a:endParaRPr>
          </a:p>
        </p:txBody>
      </p:sp>
      <p:sp>
        <p:nvSpPr>
          <p:cNvPr id="90" name="矩形 89"/>
          <p:cNvSpPr/>
          <p:nvPr/>
        </p:nvSpPr>
        <p:spPr>
          <a:xfrm>
            <a:off x="2450465" y="1710690"/>
            <a:ext cx="821055" cy="461010"/>
          </a:xfrm>
          <a:prstGeom prst="rect">
            <a:avLst/>
          </a:prstGeom>
          <a:solidFill>
            <a:schemeClr val="bg1"/>
          </a:solidFill>
          <a:ln>
            <a:solidFill>
              <a:schemeClr val="accent5">
                <a:lumMod val="60000"/>
                <a:lumOff val="40000"/>
              </a:schemeClr>
            </a:solidFill>
          </a:ln>
          <a:effectLst>
            <a:outerShdw blurRad="50800" dist="38100" dir="2700000" algn="tl" rotWithShape="0">
              <a:schemeClr val="accent5">
                <a:lumMod val="60000"/>
                <a:lumOff val="40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2"/>
              </a:solidFill>
              <a:cs typeface="微软雅黑" panose="020B0503020204020204" charset="-122"/>
            </a:endParaRPr>
          </a:p>
        </p:txBody>
      </p:sp>
      <p:grpSp>
        <p:nvGrpSpPr>
          <p:cNvPr id="94" name="组合 93"/>
          <p:cNvGrpSpPr/>
          <p:nvPr/>
        </p:nvGrpSpPr>
        <p:grpSpPr>
          <a:xfrm>
            <a:off x="3361690" y="4349750"/>
            <a:ext cx="248920" cy="442595"/>
            <a:chOff x="3859" y="6875"/>
            <a:chExt cx="392" cy="697"/>
          </a:xfrm>
        </p:grpSpPr>
        <p:sp>
          <p:nvSpPr>
            <p:cNvPr id="95" name="菱形 94"/>
            <p:cNvSpPr/>
            <p:nvPr/>
          </p:nvSpPr>
          <p:spPr>
            <a:xfrm>
              <a:off x="3859" y="6875"/>
              <a:ext cx="393" cy="529"/>
            </a:xfrm>
            <a:prstGeom prst="diamond">
              <a:avLst/>
            </a:prstGeom>
            <a:gradFill>
              <a:gsLst>
                <a:gs pos="0">
                  <a:schemeClr val="accent1"/>
                </a:gs>
                <a:gs pos="50000">
                  <a:schemeClr val="accent1">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96" name="菱形 95"/>
            <p:cNvSpPr/>
            <p:nvPr/>
          </p:nvSpPr>
          <p:spPr>
            <a:xfrm>
              <a:off x="3859" y="7044"/>
              <a:ext cx="393" cy="529"/>
            </a:xfrm>
            <a:prstGeom prst="diamond">
              <a:avLst/>
            </a:prstGeom>
            <a:gradFill>
              <a:gsLst>
                <a:gs pos="0">
                  <a:schemeClr val="accent1"/>
                </a:gs>
                <a:gs pos="50000">
                  <a:schemeClr val="accent1">
                    <a:alpha val="0"/>
                  </a:schemeClr>
                </a:gs>
              </a:gsLst>
            </a:gradFill>
          </p:spPr>
          <p:style>
            <a:lnRef idx="0">
              <a:srgbClr val="FFFFFF"/>
            </a:lnRef>
            <a:fillRef idx="2">
              <a:schemeClr val="accent1"/>
            </a:fillRef>
            <a:effectRef idx="0">
              <a:srgbClr val="FFFFFF"/>
            </a:effectRef>
            <a:fontRef idx="minor">
              <a:schemeClr val="dk1"/>
            </a:fontRef>
          </p:style>
          <p:txBody>
            <a:bodyPr rtlCol="0" anchor="ctr"/>
            <a:p>
              <a:pPr algn="ctr" defTabSz="914400">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endParaRPr>
            </a:p>
          </p:txBody>
        </p:sp>
      </p:grpSp>
      <p:grpSp>
        <p:nvGrpSpPr>
          <p:cNvPr id="97" name="组合 96"/>
          <p:cNvGrpSpPr/>
          <p:nvPr/>
        </p:nvGrpSpPr>
        <p:grpSpPr>
          <a:xfrm>
            <a:off x="4266565" y="4349750"/>
            <a:ext cx="248920" cy="442595"/>
            <a:chOff x="3859" y="6875"/>
            <a:chExt cx="392" cy="697"/>
          </a:xfrm>
        </p:grpSpPr>
        <p:sp>
          <p:nvSpPr>
            <p:cNvPr id="98" name="菱形 97"/>
            <p:cNvSpPr/>
            <p:nvPr/>
          </p:nvSpPr>
          <p:spPr>
            <a:xfrm>
              <a:off x="3859" y="6875"/>
              <a:ext cx="393" cy="529"/>
            </a:xfrm>
            <a:prstGeom prst="diamond">
              <a:avLst/>
            </a:prstGeom>
            <a:gradFill>
              <a:gsLst>
                <a:gs pos="0">
                  <a:schemeClr val="accent1"/>
                </a:gs>
                <a:gs pos="50000">
                  <a:schemeClr val="accent1">
                    <a:alpha val="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99" name="菱形 98"/>
            <p:cNvSpPr/>
            <p:nvPr/>
          </p:nvSpPr>
          <p:spPr>
            <a:xfrm>
              <a:off x="3859" y="7044"/>
              <a:ext cx="393" cy="529"/>
            </a:xfrm>
            <a:prstGeom prst="diamond">
              <a:avLst/>
            </a:prstGeom>
            <a:gradFill>
              <a:gsLst>
                <a:gs pos="0">
                  <a:schemeClr val="accent1"/>
                </a:gs>
                <a:gs pos="50000">
                  <a:schemeClr val="accent1">
                    <a:alpha val="0"/>
                  </a:schemeClr>
                </a:gs>
              </a:gsLst>
            </a:gradFill>
          </p:spPr>
          <p:style>
            <a:lnRef idx="0">
              <a:srgbClr val="FFFFFF"/>
            </a:lnRef>
            <a:fillRef idx="2">
              <a:schemeClr val="accent1"/>
            </a:fillRef>
            <a:effectRef idx="0">
              <a:srgbClr val="FFFFFF"/>
            </a:effectRef>
            <a:fontRef idx="minor">
              <a:schemeClr val="dk1"/>
            </a:fontRef>
          </p:style>
          <p:txBody>
            <a:bodyPr rtlCol="0" anchor="ctr"/>
            <a:p>
              <a:pPr algn="ctr" defTabSz="914400">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endParaRPr>
            </a:p>
          </p:txBody>
        </p:sp>
      </p:grpSp>
      <p:pic>
        <p:nvPicPr>
          <p:cNvPr id="4" name="图片 3" descr="屋顶资源管理"/>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355600" y="186055"/>
            <a:ext cx="549910" cy="549910"/>
          </a:xfrm>
          <a:prstGeom prst="rect">
            <a:avLst/>
          </a:prstGeom>
        </p:spPr>
      </p:pic>
      <p:grpSp>
        <p:nvGrpSpPr>
          <p:cNvPr id="10" name="组合 9"/>
          <p:cNvGrpSpPr/>
          <p:nvPr/>
        </p:nvGrpSpPr>
        <p:grpSpPr>
          <a:xfrm>
            <a:off x="8738235" y="348615"/>
            <a:ext cx="3219450" cy="332740"/>
            <a:chOff x="13761" y="549"/>
            <a:chExt cx="5070" cy="524"/>
          </a:xfrm>
        </p:grpSpPr>
        <p:pic>
          <p:nvPicPr>
            <p:cNvPr id="27" name="图片 26"/>
            <p:cNvPicPr>
              <a:picLocks noChangeAspect="1"/>
            </p:cNvPicPr>
            <p:nvPr userDrawn="1"/>
          </p:nvPicPr>
          <p:blipFill>
            <a:blip r:embed="rId38"/>
            <a:srcRect l="17002" t="-1765" r="56499" b="-1176"/>
            <a:stretch>
              <a:fillRect/>
            </a:stretch>
          </p:blipFill>
          <p:spPr>
            <a:xfrm>
              <a:off x="13761" y="549"/>
              <a:ext cx="1582" cy="525"/>
            </a:xfrm>
            <a:prstGeom prst="rect">
              <a:avLst/>
            </a:prstGeom>
          </p:spPr>
        </p:pic>
        <p:sp>
          <p:nvSpPr>
            <p:cNvPr id="29" name="文本框 28"/>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
        <p:nvSpPr>
          <p:cNvPr id="31" name="文本框 30"/>
          <p:cNvSpPr txBox="1"/>
          <p:nvPr>
            <p:custDataLst>
              <p:tags r:id="rId39"/>
            </p:custDataLst>
          </p:nvPr>
        </p:nvSpPr>
        <p:spPr>
          <a:xfrm>
            <a:off x="3700780" y="1360170"/>
            <a:ext cx="832485" cy="460375"/>
          </a:xfrm>
          <a:prstGeom prst="rect">
            <a:avLst/>
          </a:prstGeom>
          <a:noFill/>
          <a:effectLst/>
        </p:spPr>
        <p:txBody>
          <a:bodyPr wrap="square" rtlCol="0">
            <a:spAutoFit/>
          </a:bodyPr>
          <a:p>
            <a:pPr algn="ctr"/>
            <a:r>
              <a:rPr lang="zh-CN" sz="1200">
                <a:solidFill>
                  <a:schemeClr val="tx2"/>
                </a:solidFill>
                <a:latin typeface="微软雅黑" panose="020B0503020204020204" charset="-122"/>
                <a:ea typeface="微软雅黑" panose="020B0503020204020204" charset="-122"/>
                <a:cs typeface="微软雅黑" panose="020B0503020204020204" charset="-122"/>
              </a:rPr>
              <a:t>生产过程</a:t>
            </a:r>
            <a:endParaRPr lang="zh-CN" sz="12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sz="1200">
                <a:solidFill>
                  <a:schemeClr val="tx2"/>
                </a:solidFill>
                <a:latin typeface="微软雅黑" panose="020B0503020204020204" charset="-122"/>
                <a:ea typeface="微软雅黑" panose="020B0503020204020204" charset="-122"/>
                <a:cs typeface="微软雅黑" panose="020B0503020204020204" charset="-122"/>
              </a:rPr>
              <a:t>存证</a:t>
            </a:r>
            <a:endParaRPr lang="zh-CN"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custDataLst>
              <p:tags r:id="rId40"/>
            </p:custDataLst>
          </p:nvPr>
        </p:nvSpPr>
        <p:spPr>
          <a:xfrm>
            <a:off x="4950460" y="1264920"/>
            <a:ext cx="832485" cy="460375"/>
          </a:xfrm>
          <a:prstGeom prst="rect">
            <a:avLst/>
          </a:prstGeom>
          <a:noFill/>
          <a:effectLst/>
        </p:spPr>
        <p:txBody>
          <a:bodyPr wrap="square" rtlCol="0">
            <a:spAutoFit/>
          </a:bodyPr>
          <a:p>
            <a:pPr algn="ctr"/>
            <a:r>
              <a:rPr lang="zh-CN" sz="1200">
                <a:solidFill>
                  <a:schemeClr val="tx2"/>
                </a:solidFill>
                <a:latin typeface="微软雅黑" panose="020B0503020204020204" charset="-122"/>
                <a:ea typeface="微软雅黑" panose="020B0503020204020204" charset="-122"/>
                <a:cs typeface="微软雅黑" panose="020B0503020204020204" charset="-122"/>
              </a:rPr>
              <a:t>物流运输</a:t>
            </a:r>
            <a:endParaRPr lang="zh-CN" sz="12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sz="1200">
                <a:solidFill>
                  <a:schemeClr val="tx2"/>
                </a:solidFill>
                <a:latin typeface="微软雅黑" panose="020B0503020204020204" charset="-122"/>
                <a:ea typeface="微软雅黑" panose="020B0503020204020204" charset="-122"/>
                <a:cs typeface="微软雅黑" panose="020B0503020204020204" charset="-122"/>
              </a:rPr>
              <a:t>追踪</a:t>
            </a:r>
            <a:endParaRPr lang="zh-CN"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3" name="文本框 32"/>
          <p:cNvSpPr txBox="1"/>
          <p:nvPr>
            <p:custDataLst>
              <p:tags r:id="rId41"/>
            </p:custDataLst>
          </p:nvPr>
        </p:nvSpPr>
        <p:spPr>
          <a:xfrm>
            <a:off x="6200775" y="1360170"/>
            <a:ext cx="832485" cy="460375"/>
          </a:xfrm>
          <a:prstGeom prst="rect">
            <a:avLst/>
          </a:prstGeom>
          <a:noFill/>
          <a:effectLst/>
        </p:spPr>
        <p:txBody>
          <a:bodyPr wrap="square" rtlCol="0">
            <a:spAutoFit/>
          </a:bodyPr>
          <a:p>
            <a:pPr algn="ctr"/>
            <a:r>
              <a:rPr lang="zh-CN" sz="1200">
                <a:solidFill>
                  <a:schemeClr val="tx2"/>
                </a:solidFill>
                <a:latin typeface="微软雅黑" panose="020B0503020204020204" charset="-122"/>
                <a:ea typeface="微软雅黑" panose="020B0503020204020204" charset="-122"/>
                <a:cs typeface="微软雅黑" panose="020B0503020204020204" charset="-122"/>
              </a:rPr>
              <a:t>库存数据协同</a:t>
            </a:r>
            <a:endParaRPr lang="zh-CN"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2" name="文本框 61"/>
          <p:cNvSpPr txBox="1"/>
          <p:nvPr>
            <p:custDataLst>
              <p:tags r:id="rId42"/>
            </p:custDataLst>
          </p:nvPr>
        </p:nvSpPr>
        <p:spPr>
          <a:xfrm>
            <a:off x="7451090" y="1714500"/>
            <a:ext cx="832485" cy="460375"/>
          </a:xfrm>
          <a:prstGeom prst="rect">
            <a:avLst/>
          </a:prstGeom>
          <a:noFill/>
          <a:effectLst/>
        </p:spPr>
        <p:txBody>
          <a:bodyPr wrap="square" rtlCol="0">
            <a:spAutoFit/>
          </a:bodyPr>
          <a:p>
            <a:pPr algn="ctr"/>
            <a:r>
              <a:rPr lang="zh-CN" sz="1200">
                <a:solidFill>
                  <a:schemeClr val="tx2"/>
                </a:solidFill>
                <a:latin typeface="微软雅黑" panose="020B0503020204020204" charset="-122"/>
                <a:ea typeface="微软雅黑" panose="020B0503020204020204" charset="-122"/>
                <a:cs typeface="微软雅黑" panose="020B0503020204020204" charset="-122"/>
              </a:rPr>
              <a:t>供应链金融风控</a:t>
            </a:r>
            <a:endParaRPr lang="zh-CN" sz="12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4" name="文本框 63"/>
          <p:cNvSpPr txBox="1"/>
          <p:nvPr>
            <p:custDataLst>
              <p:tags r:id="rId43"/>
            </p:custDataLst>
          </p:nvPr>
        </p:nvSpPr>
        <p:spPr>
          <a:xfrm>
            <a:off x="2450465" y="1700530"/>
            <a:ext cx="832485" cy="460375"/>
          </a:xfrm>
          <a:prstGeom prst="rect">
            <a:avLst/>
          </a:prstGeom>
          <a:noFill/>
          <a:effectLst/>
        </p:spPr>
        <p:txBody>
          <a:bodyPr wrap="square" rtlCol="0">
            <a:spAutoFit/>
          </a:bodyPr>
          <a:p>
            <a:pPr algn="ctr"/>
            <a:r>
              <a:rPr lang="zh-CN" sz="1200">
                <a:solidFill>
                  <a:schemeClr val="tx2"/>
                </a:solidFill>
                <a:latin typeface="微软雅黑" panose="020B0503020204020204" charset="-122"/>
                <a:ea typeface="微软雅黑" panose="020B0503020204020204" charset="-122"/>
                <a:cs typeface="微软雅黑" panose="020B0503020204020204" charset="-122"/>
              </a:rPr>
              <a:t>原材料采购溯源</a:t>
            </a:r>
            <a:endParaRPr lang="zh-CN" sz="1200">
              <a:solidFill>
                <a:schemeClr val="tx2"/>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latin typeface="微软雅黑" panose="020B0503020204020204" charset="-122"/>
                <a:ea typeface="微软雅黑" panose="020B0503020204020204" charset="-122"/>
                <a:cs typeface="微软雅黑" panose="020B0503020204020204" charset="-122"/>
              </a:rPr>
              <a:t>-</a:t>
            </a:r>
            <a:r>
              <a:rPr sz="2500">
                <a:solidFill>
                  <a:schemeClr val="accent1"/>
                </a:solidFill>
                <a:latin typeface="微软雅黑" panose="020B0503020204020204" charset="-122"/>
                <a:ea typeface="微软雅黑" panose="020B0503020204020204" charset="-122"/>
                <a:cs typeface="微软雅黑" panose="020B0503020204020204" charset="-122"/>
              </a:rPr>
              <a:t>多层平台架构 |</a:t>
            </a:r>
            <a:r>
              <a:rPr sz="2500">
                <a:solidFill>
                  <a:srgbClr val="213271"/>
                </a:solidFill>
                <a:latin typeface="微软雅黑" panose="020B0503020204020204" charset="-122"/>
                <a:ea typeface="微软雅黑" panose="020B0503020204020204" charset="-122"/>
                <a:cs typeface="微软雅黑" panose="020B0503020204020204" charset="-122"/>
              </a:rPr>
              <a:t> </a:t>
            </a:r>
            <a:r>
              <a:rPr sz="2500">
                <a:solidFill>
                  <a:srgbClr val="252C38"/>
                </a:solidFill>
                <a:latin typeface="微软雅黑" panose="020B0503020204020204" charset="-122"/>
                <a:ea typeface="微软雅黑" panose="020B0503020204020204" charset="-122"/>
                <a:cs typeface="微软雅黑" panose="020B0503020204020204" charset="-122"/>
              </a:rPr>
              <a:t>年度营销规划全景图</a:t>
            </a:r>
            <a:endParaRPr sz="2500">
              <a:solidFill>
                <a:srgbClr val="252C38"/>
              </a:solidFill>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6" name="组合 5"/>
          <p:cNvGrpSpPr/>
          <p:nvPr/>
        </p:nvGrpSpPr>
        <p:grpSpPr>
          <a:xfrm>
            <a:off x="8738235" y="348615"/>
            <a:ext cx="3219450" cy="332740"/>
            <a:chOff x="13761" y="549"/>
            <a:chExt cx="5070" cy="524"/>
          </a:xfrm>
        </p:grpSpPr>
        <p:pic>
          <p:nvPicPr>
            <p:cNvPr id="7" name="图片 6"/>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9" name="文本框 8"/>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
        <p:nvSpPr>
          <p:cNvPr id="63" name="矩形 62"/>
          <p:cNvSpPr/>
          <p:nvPr/>
        </p:nvSpPr>
        <p:spPr>
          <a:xfrm>
            <a:off x="398887" y="1201829"/>
            <a:ext cx="11496508" cy="2503633"/>
          </a:xfrm>
          <a:prstGeom prst="rect">
            <a:avLst/>
          </a:prstGeom>
          <a:solidFill>
            <a:schemeClr val="accent5">
              <a:lumMod val="20000"/>
              <a:lumOff val="8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4" name="矩形 63"/>
          <p:cNvSpPr/>
          <p:nvPr/>
        </p:nvSpPr>
        <p:spPr>
          <a:xfrm>
            <a:off x="401086" y="3814087"/>
            <a:ext cx="11496508" cy="1496566"/>
          </a:xfrm>
          <a:prstGeom prst="rect">
            <a:avLst/>
          </a:prstGeom>
          <a:solidFill>
            <a:schemeClr val="accent1">
              <a:lumMod val="20000"/>
              <a:lumOff val="8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kumimoji="1" lang="zh-CN" altLang="en-US" noProof="0">
              <a:ln>
                <a:noFill/>
              </a:ln>
              <a:solidFill>
                <a:srgbClr val="313131"/>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65" name="矩形 64"/>
          <p:cNvSpPr/>
          <p:nvPr/>
        </p:nvSpPr>
        <p:spPr>
          <a:xfrm>
            <a:off x="401086" y="5434666"/>
            <a:ext cx="11496508" cy="1167099"/>
          </a:xfrm>
          <a:prstGeom prst="rect">
            <a:avLst/>
          </a:prstGeom>
          <a:solidFill>
            <a:schemeClr val="accent1">
              <a:lumMod val="20000"/>
              <a:lumOff val="80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kumimoji="1" lang="zh-CN" altLang="en-US" noProof="0">
              <a:ln>
                <a:noFill/>
              </a:ln>
              <a:solidFill>
                <a:srgbClr val="313131"/>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75" name="任意形状 73"/>
          <p:cNvSpPr/>
          <p:nvPr/>
        </p:nvSpPr>
        <p:spPr>
          <a:xfrm>
            <a:off x="1078577" y="5038602"/>
            <a:ext cx="10127672" cy="1553358"/>
          </a:xfrm>
          <a:custGeom>
            <a:avLst/>
            <a:gdLst>
              <a:gd name="connsiteX0" fmla="*/ 5063836 w 10127672"/>
              <a:gd name="connsiteY0" fmla="*/ 0 h 1553358"/>
              <a:gd name="connsiteX1" fmla="*/ 9453597 w 10127672"/>
              <a:gd name="connsiteY1" fmla="*/ 673291 h 1553358"/>
              <a:gd name="connsiteX2" fmla="*/ 10127672 w 10127672"/>
              <a:gd name="connsiteY2" fmla="*/ 673291 h 1553358"/>
              <a:gd name="connsiteX3" fmla="*/ 10127672 w 10127672"/>
              <a:gd name="connsiteY3" fmla="*/ 776679 h 1553358"/>
              <a:gd name="connsiteX4" fmla="*/ 10127672 w 10127672"/>
              <a:gd name="connsiteY4" fmla="*/ 781291 h 1553358"/>
              <a:gd name="connsiteX5" fmla="*/ 10097603 w 10127672"/>
              <a:gd name="connsiteY5" fmla="*/ 781291 h 1553358"/>
              <a:gd name="connsiteX6" fmla="*/ 5063836 w 10127672"/>
              <a:gd name="connsiteY6" fmla="*/ 1553358 h 1553358"/>
              <a:gd name="connsiteX7" fmla="*/ 30070 w 10127672"/>
              <a:gd name="connsiteY7" fmla="*/ 781291 h 1553358"/>
              <a:gd name="connsiteX8" fmla="*/ 0 w 10127672"/>
              <a:gd name="connsiteY8" fmla="*/ 781291 h 1553358"/>
              <a:gd name="connsiteX9" fmla="*/ 0 w 10127672"/>
              <a:gd name="connsiteY9" fmla="*/ 776679 h 1553358"/>
              <a:gd name="connsiteX10" fmla="*/ 0 w 10127672"/>
              <a:gd name="connsiteY10" fmla="*/ 673291 h 1553358"/>
              <a:gd name="connsiteX11" fmla="*/ 674075 w 10127672"/>
              <a:gd name="connsiteY11" fmla="*/ 673291 h 1553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127672" h="1553358">
                <a:moveTo>
                  <a:pt x="5063836" y="0"/>
                </a:moveTo>
                <a:lnTo>
                  <a:pt x="9453597" y="673291"/>
                </a:lnTo>
                <a:lnTo>
                  <a:pt x="10127672" y="673291"/>
                </a:lnTo>
                <a:lnTo>
                  <a:pt x="10127672" y="776679"/>
                </a:lnTo>
                <a:lnTo>
                  <a:pt x="10127672" y="781291"/>
                </a:lnTo>
                <a:lnTo>
                  <a:pt x="10097603" y="781291"/>
                </a:lnTo>
                <a:lnTo>
                  <a:pt x="5063836" y="1553358"/>
                </a:lnTo>
                <a:lnTo>
                  <a:pt x="30070" y="781291"/>
                </a:lnTo>
                <a:lnTo>
                  <a:pt x="0" y="781291"/>
                </a:lnTo>
                <a:lnTo>
                  <a:pt x="0" y="776679"/>
                </a:lnTo>
                <a:lnTo>
                  <a:pt x="0" y="673291"/>
                </a:lnTo>
                <a:lnTo>
                  <a:pt x="674075" y="673291"/>
                </a:lnTo>
                <a:close/>
              </a:path>
            </a:pathLst>
          </a:custGeom>
          <a:solidFill>
            <a:schemeClr val="accent1">
              <a:lumMod val="60000"/>
              <a:lumOff val="40000"/>
              <a:alpha val="6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6" name="菱形 75"/>
          <p:cNvSpPr/>
          <p:nvPr/>
        </p:nvSpPr>
        <p:spPr>
          <a:xfrm>
            <a:off x="1103818" y="4936975"/>
            <a:ext cx="10127672" cy="1553358"/>
          </a:xfrm>
          <a:prstGeom prst="diamond">
            <a:avLst/>
          </a:prstGeom>
          <a:gradFill>
            <a:gsLst>
              <a:gs pos="84000">
                <a:schemeClr val="accent1"/>
              </a:gs>
              <a:gs pos="0">
                <a:schemeClr val="accent1">
                  <a:lumMod val="60000"/>
                  <a:lumOff val="40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8" name="任意形状 72"/>
          <p:cNvSpPr/>
          <p:nvPr/>
        </p:nvSpPr>
        <p:spPr>
          <a:xfrm>
            <a:off x="2729340" y="3913079"/>
            <a:ext cx="6840000" cy="1218624"/>
          </a:xfrm>
          <a:custGeom>
            <a:avLst/>
            <a:gdLst>
              <a:gd name="connsiteX0" fmla="*/ 3420000 w 6840000"/>
              <a:gd name="connsiteY0" fmla="*/ 0 h 1218624"/>
              <a:gd name="connsiteX1" fmla="*/ 6247296 w 6840000"/>
              <a:gd name="connsiteY1" fmla="*/ 503715 h 1218624"/>
              <a:gd name="connsiteX2" fmla="*/ 6840000 w 6840000"/>
              <a:gd name="connsiteY2" fmla="*/ 503715 h 1218624"/>
              <a:gd name="connsiteX3" fmla="*/ 6840000 w 6840000"/>
              <a:gd name="connsiteY3" fmla="*/ 609312 h 1218624"/>
              <a:gd name="connsiteX4" fmla="*/ 6840000 w 6840000"/>
              <a:gd name="connsiteY4" fmla="*/ 611715 h 1218624"/>
              <a:gd name="connsiteX5" fmla="*/ 6826512 w 6840000"/>
              <a:gd name="connsiteY5" fmla="*/ 611715 h 1218624"/>
              <a:gd name="connsiteX6" fmla="*/ 3420000 w 6840000"/>
              <a:gd name="connsiteY6" fmla="*/ 1218624 h 1218624"/>
              <a:gd name="connsiteX7" fmla="*/ 13488 w 6840000"/>
              <a:gd name="connsiteY7" fmla="*/ 611715 h 1218624"/>
              <a:gd name="connsiteX8" fmla="*/ 0 w 6840000"/>
              <a:gd name="connsiteY8" fmla="*/ 611715 h 1218624"/>
              <a:gd name="connsiteX9" fmla="*/ 0 w 6840000"/>
              <a:gd name="connsiteY9" fmla="*/ 609312 h 1218624"/>
              <a:gd name="connsiteX10" fmla="*/ 0 w 6840000"/>
              <a:gd name="connsiteY10" fmla="*/ 503715 h 1218624"/>
              <a:gd name="connsiteX11" fmla="*/ 592704 w 6840000"/>
              <a:gd name="connsiteY11" fmla="*/ 503715 h 1218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40000" h="1218624">
                <a:moveTo>
                  <a:pt x="3420000" y="0"/>
                </a:moveTo>
                <a:lnTo>
                  <a:pt x="6247296" y="503715"/>
                </a:lnTo>
                <a:lnTo>
                  <a:pt x="6840000" y="503715"/>
                </a:lnTo>
                <a:lnTo>
                  <a:pt x="6840000" y="609312"/>
                </a:lnTo>
                <a:lnTo>
                  <a:pt x="6840000" y="611715"/>
                </a:lnTo>
                <a:lnTo>
                  <a:pt x="6826512" y="611715"/>
                </a:lnTo>
                <a:lnTo>
                  <a:pt x="3420000" y="1218624"/>
                </a:lnTo>
                <a:lnTo>
                  <a:pt x="13488" y="611715"/>
                </a:lnTo>
                <a:lnTo>
                  <a:pt x="0" y="611715"/>
                </a:lnTo>
                <a:lnTo>
                  <a:pt x="0" y="609312"/>
                </a:lnTo>
                <a:lnTo>
                  <a:pt x="0" y="503715"/>
                </a:lnTo>
                <a:lnTo>
                  <a:pt x="592704" y="503715"/>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2" name="菱形 111"/>
          <p:cNvSpPr/>
          <p:nvPr/>
        </p:nvSpPr>
        <p:spPr>
          <a:xfrm>
            <a:off x="2729340" y="3814193"/>
            <a:ext cx="6840000" cy="1218624"/>
          </a:xfrm>
          <a:prstGeom prst="diamond">
            <a:avLst/>
          </a:prstGeom>
          <a:gradFill>
            <a:gsLst>
              <a:gs pos="0">
                <a:schemeClr val="accent1">
                  <a:lumMod val="40000"/>
                  <a:lumOff val="60000"/>
                </a:schemeClr>
              </a:gs>
              <a:gs pos="100000">
                <a:schemeClr val="accent1">
                  <a:lumMod val="60000"/>
                  <a:lumOff val="40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3" name="任意形状 71"/>
          <p:cNvSpPr/>
          <p:nvPr/>
        </p:nvSpPr>
        <p:spPr>
          <a:xfrm>
            <a:off x="3452451" y="2744635"/>
            <a:ext cx="5348641" cy="1020666"/>
          </a:xfrm>
          <a:custGeom>
            <a:avLst/>
            <a:gdLst>
              <a:gd name="connsiteX0" fmla="*/ 2672576 w 5348641"/>
              <a:gd name="connsiteY0" fmla="*/ 0 h 1020666"/>
              <a:gd name="connsiteX1" fmla="*/ 4764403 w 5348641"/>
              <a:gd name="connsiteY1" fmla="*/ 399438 h 1020666"/>
              <a:gd name="connsiteX2" fmla="*/ 5348641 w 5348641"/>
              <a:gd name="connsiteY2" fmla="*/ 399438 h 1020666"/>
              <a:gd name="connsiteX3" fmla="*/ 5348641 w 5348641"/>
              <a:gd name="connsiteY3" fmla="*/ 507438 h 1020666"/>
              <a:gd name="connsiteX4" fmla="*/ 5329990 w 5348641"/>
              <a:gd name="connsiteY4" fmla="*/ 507438 h 1020666"/>
              <a:gd name="connsiteX5" fmla="*/ 5345151 w 5348641"/>
              <a:gd name="connsiteY5" fmla="*/ 510333 h 1020666"/>
              <a:gd name="connsiteX6" fmla="*/ 2672576 w 5348641"/>
              <a:gd name="connsiteY6" fmla="*/ 1020666 h 1020666"/>
              <a:gd name="connsiteX7" fmla="*/ 0 w 5348641"/>
              <a:gd name="connsiteY7" fmla="*/ 510333 h 1020666"/>
              <a:gd name="connsiteX8" fmla="*/ 15161 w 5348641"/>
              <a:gd name="connsiteY8" fmla="*/ 507438 h 1020666"/>
              <a:gd name="connsiteX9" fmla="*/ 3490 w 5348641"/>
              <a:gd name="connsiteY9" fmla="*/ 507438 h 1020666"/>
              <a:gd name="connsiteX10" fmla="*/ 3490 w 5348641"/>
              <a:gd name="connsiteY10" fmla="*/ 399438 h 1020666"/>
              <a:gd name="connsiteX11" fmla="*/ 580749 w 5348641"/>
              <a:gd name="connsiteY11" fmla="*/ 399438 h 1020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48641" h="1020666">
                <a:moveTo>
                  <a:pt x="2672576" y="0"/>
                </a:moveTo>
                <a:lnTo>
                  <a:pt x="4764403" y="399438"/>
                </a:lnTo>
                <a:lnTo>
                  <a:pt x="5348641" y="399438"/>
                </a:lnTo>
                <a:lnTo>
                  <a:pt x="5348641" y="507438"/>
                </a:lnTo>
                <a:lnTo>
                  <a:pt x="5329990" y="507438"/>
                </a:lnTo>
                <a:lnTo>
                  <a:pt x="5345151" y="510333"/>
                </a:lnTo>
                <a:lnTo>
                  <a:pt x="2672576" y="1020666"/>
                </a:lnTo>
                <a:lnTo>
                  <a:pt x="0" y="510333"/>
                </a:lnTo>
                <a:lnTo>
                  <a:pt x="15161" y="507438"/>
                </a:lnTo>
                <a:lnTo>
                  <a:pt x="3490" y="507438"/>
                </a:lnTo>
                <a:lnTo>
                  <a:pt x="3490" y="399438"/>
                </a:lnTo>
                <a:lnTo>
                  <a:pt x="580749" y="399438"/>
                </a:ln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31313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4" name="菱形 113"/>
          <p:cNvSpPr/>
          <p:nvPr/>
        </p:nvSpPr>
        <p:spPr>
          <a:xfrm>
            <a:off x="3452451" y="2635256"/>
            <a:ext cx="5345151" cy="1020666"/>
          </a:xfrm>
          <a:prstGeom prst="diamond">
            <a:avLst/>
          </a:prstGeom>
          <a:gradFill>
            <a:gsLst>
              <a:gs pos="0">
                <a:schemeClr val="accent5">
                  <a:lumMod val="60000"/>
                  <a:lumOff val="40000"/>
                </a:schemeClr>
              </a:gs>
              <a:gs pos="100000">
                <a:schemeClr val="accent5">
                  <a:lumMod val="60000"/>
                  <a:lumOff val="4000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31313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5" name="文本框 114"/>
          <p:cNvSpPr txBox="1"/>
          <p:nvPr/>
        </p:nvSpPr>
        <p:spPr>
          <a:xfrm>
            <a:off x="757692" y="2033239"/>
            <a:ext cx="2955904" cy="545021"/>
          </a:xfrm>
          <a:prstGeom prst="rect">
            <a:avLst/>
          </a:prstGeom>
          <a:noFill/>
        </p:spPr>
        <p:txBody>
          <a:bodyPr wrap="square" lIns="0" tIns="0" rIns="0" bIns="0"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alpha val="65000"/>
                  </a:schemeClr>
                </a:solidFill>
                <a:effectLst/>
                <a:uLnTx/>
                <a:uFillTx/>
                <a:latin typeface="微软雅黑" panose="020B0503020204020204" charset="-122"/>
                <a:ea typeface="微软雅黑" panose="020B0503020204020204" charset="-122"/>
                <a:cs typeface="微软雅黑" panose="020B0503020204020204" charset="-122"/>
              </a:rPr>
              <a:t>在全貌图中，首先需要企业的年度营销目标，例如提高品牌知名度、增加销售额、扩大市场份额。这些目标应该具有以便于评估营销计划的成果。</a:t>
            </a:r>
            <a:endParaRPr kumimoji="0" lang="zh-CN" altLang="en-US" sz="1000" b="0" i="0" u="none" strike="noStrike" kern="1200" cap="none" spc="0" normalizeH="0" baseline="0" noProof="0" dirty="0">
              <a:ln>
                <a:noFill/>
              </a:ln>
              <a:solidFill>
                <a:schemeClr val="tx2">
                  <a:alpha val="65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6" name="文本框 115"/>
          <p:cNvSpPr txBox="1"/>
          <p:nvPr/>
        </p:nvSpPr>
        <p:spPr>
          <a:xfrm>
            <a:off x="757691" y="1541425"/>
            <a:ext cx="2892596" cy="30734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营销目标：扩大销售规模</a:t>
            </a:r>
            <a:endParaRPr kumimoji="0" lang="zh-CN" altLang="en-US" sz="2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7" name="文本框 116"/>
          <p:cNvSpPr txBox="1"/>
          <p:nvPr/>
        </p:nvSpPr>
        <p:spPr>
          <a:xfrm flipH="1">
            <a:off x="8612549" y="2033239"/>
            <a:ext cx="3009105" cy="490519"/>
          </a:xfrm>
          <a:prstGeom prst="rect">
            <a:avLst/>
          </a:prstGeom>
          <a:noFill/>
        </p:spPr>
        <p:txBody>
          <a:bodyPr wrap="square" lIns="0" tIns="0" rIns="0" bIns="0"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900" b="0" i="0" u="none" strike="noStrike" kern="1200" cap="none" spc="0" normalizeH="0" baseline="0" noProof="0" dirty="0">
                <a:ln>
                  <a:noFill/>
                </a:ln>
                <a:solidFill>
                  <a:schemeClr val="tx2">
                    <a:alpha val="65000"/>
                  </a:schemeClr>
                </a:solidFill>
                <a:effectLst/>
                <a:uLnTx/>
                <a:uFillTx/>
                <a:latin typeface="微软雅黑" panose="020B0503020204020204" charset="-122"/>
                <a:ea typeface="微软雅黑" panose="020B0503020204020204" charset="-122"/>
                <a:cs typeface="微软雅黑" panose="020B0503020204020204" charset="-122"/>
              </a:rPr>
              <a:t>为各项营销活动制定详细的预算计划，包括广告费用、活动经费、市场调研费用等。合理有助于控制成本的预算分配和制定详细的预算计划提高营销效率。</a:t>
            </a:r>
            <a:endParaRPr kumimoji="0" lang="zh-CN" altLang="en-US" sz="900" b="0" i="0" u="none" strike="noStrike" kern="1200" cap="none" spc="0" normalizeH="0" baseline="0" noProof="0" dirty="0">
              <a:ln>
                <a:noFill/>
              </a:ln>
              <a:solidFill>
                <a:schemeClr val="tx2">
                  <a:alpha val="65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8" name="文本框 117"/>
          <p:cNvSpPr txBox="1"/>
          <p:nvPr/>
        </p:nvSpPr>
        <p:spPr>
          <a:xfrm flipH="1">
            <a:off x="8729059" y="1541425"/>
            <a:ext cx="2892596" cy="307340"/>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预算分配：提高营销效果</a:t>
            </a:r>
            <a:endParaRPr kumimoji="0" lang="zh-CN" altLang="en-US" sz="20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9" name="任意形状 46"/>
          <p:cNvSpPr/>
          <p:nvPr/>
        </p:nvSpPr>
        <p:spPr>
          <a:xfrm>
            <a:off x="2183420" y="988943"/>
            <a:ext cx="8004994" cy="6195619"/>
          </a:xfrm>
          <a:custGeom>
            <a:avLst/>
            <a:gdLst>
              <a:gd name="connsiteX0" fmla="*/ 1249732 w 4395559"/>
              <a:gd name="connsiteY0" fmla="*/ 2486912 h 4190933"/>
              <a:gd name="connsiteX1" fmla="*/ 0 w 4395559"/>
              <a:gd name="connsiteY1" fmla="*/ 4190925 h 4190933"/>
              <a:gd name="connsiteX2" fmla="*/ 4395560 w 4395559"/>
              <a:gd name="connsiteY2" fmla="*/ 4190933 h 4190933"/>
              <a:gd name="connsiteX3" fmla="*/ 3053254 w 4395559"/>
              <a:gd name="connsiteY3" fmla="*/ 2486912 h 4190933"/>
              <a:gd name="connsiteX4" fmla="*/ 2566721 w 4395559"/>
              <a:gd name="connsiteY4" fmla="*/ 834686 h 4190933"/>
              <a:gd name="connsiteX5" fmla="*/ 2781042 w 4395559"/>
              <a:gd name="connsiteY5" fmla="*/ 834686 h 4190933"/>
              <a:gd name="connsiteX6" fmla="*/ 2139599 w 4395559"/>
              <a:gd name="connsiteY6" fmla="*/ 0 h 4190933"/>
              <a:gd name="connsiteX7" fmla="*/ 1498155 w 4395559"/>
              <a:gd name="connsiteY7" fmla="*/ 834686 h 4190933"/>
              <a:gd name="connsiteX8" fmla="*/ 1719824 w 4395559"/>
              <a:gd name="connsiteY8" fmla="*/ 834686 h 4190933"/>
              <a:gd name="connsiteX9" fmla="*/ 1249732 w 4395559"/>
              <a:gd name="connsiteY9" fmla="*/ 2486912 h 4190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95559" h="4190933">
                <a:moveTo>
                  <a:pt x="1249732" y="2486912"/>
                </a:moveTo>
                <a:cubicBezTo>
                  <a:pt x="908028" y="3176944"/>
                  <a:pt x="0" y="4190925"/>
                  <a:pt x="0" y="4190925"/>
                </a:cubicBezTo>
                <a:lnTo>
                  <a:pt x="4395560" y="4190933"/>
                </a:lnTo>
                <a:cubicBezTo>
                  <a:pt x="4395560" y="4190933"/>
                  <a:pt x="3418629" y="3178565"/>
                  <a:pt x="3053254" y="2486912"/>
                </a:cubicBezTo>
                <a:cubicBezTo>
                  <a:pt x="2733567" y="1881771"/>
                  <a:pt x="2584200" y="949271"/>
                  <a:pt x="2566721" y="834686"/>
                </a:cubicBezTo>
                <a:lnTo>
                  <a:pt x="2781042" y="834686"/>
                </a:lnTo>
                <a:lnTo>
                  <a:pt x="2139599" y="0"/>
                </a:lnTo>
                <a:lnTo>
                  <a:pt x="1498155" y="834686"/>
                </a:lnTo>
                <a:lnTo>
                  <a:pt x="1719824" y="834686"/>
                </a:lnTo>
                <a:cubicBezTo>
                  <a:pt x="1701930" y="949205"/>
                  <a:pt x="1549970" y="1880623"/>
                  <a:pt x="1249732" y="2486912"/>
                </a:cubicBezTo>
                <a:close/>
              </a:path>
            </a:pathLst>
          </a:custGeom>
          <a:gradFill>
            <a:gsLst>
              <a:gs pos="62000">
                <a:schemeClr val="accent5">
                  <a:lumMod val="20000"/>
                  <a:lumOff val="80000"/>
                  <a:alpha val="0"/>
                </a:schemeClr>
              </a:gs>
              <a:gs pos="0">
                <a:schemeClr val="accent5"/>
              </a:gs>
              <a:gs pos="24000">
                <a:schemeClr val="accent5">
                  <a:lumMod val="60000"/>
                  <a:lumOff val="40000"/>
                </a:schemeClr>
              </a:gs>
              <a:gs pos="85000">
                <a:schemeClr val="accent5">
                  <a:lumMod val="20000"/>
                  <a:lumOff val="80000"/>
                  <a:alpha val="0"/>
                </a:schemeClr>
              </a:gs>
            </a:gsLst>
            <a:lin ang="5400000" scaled="1"/>
          </a:gradFill>
          <a:ln w="831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0" name="文本框 119"/>
          <p:cNvSpPr txBox="1"/>
          <p:nvPr/>
        </p:nvSpPr>
        <p:spPr>
          <a:xfrm>
            <a:off x="5250180" y="1986360"/>
            <a:ext cx="1700264"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8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营销目标</a:t>
            </a:r>
            <a:endParaRPr kumimoji="1" lang="zh-CN" altLang="en-US" sz="18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2" name="圆角矩形 121"/>
          <p:cNvSpPr/>
          <p:nvPr/>
        </p:nvSpPr>
        <p:spPr>
          <a:xfrm>
            <a:off x="3841308" y="2316645"/>
            <a:ext cx="1296000" cy="432000"/>
          </a:xfrm>
          <a:prstGeom prst="roundRect">
            <a:avLst>
              <a:gd name="adj" fmla="val 50000"/>
            </a:avLst>
          </a:prstGeom>
          <a:solidFill>
            <a:schemeClr val="bg1"/>
          </a:solidFill>
          <a:ln w="12700" cap="flat" cmpd="sng" algn="ctr">
            <a:solidFill>
              <a:schemeClr val="accent5"/>
            </a:solidFill>
            <a:prstDash val="solid"/>
            <a:miter lim="800000"/>
          </a:ln>
          <a:effectLst/>
        </p:spPr>
        <p:txBody>
          <a:bodyPr rtlCol="0" anchor="ctr">
            <a:noAutofit/>
          </a:bodyPr>
          <a:lstStyle/>
          <a:p>
            <a:pPr lvl="0" algn="ctr" defTabSz="456565">
              <a:spcBef>
                <a:spcPts val="0"/>
              </a:spcBef>
              <a:spcAft>
                <a:spcPts val="0"/>
              </a:spcAft>
              <a:buClrTx/>
              <a:buSzTx/>
              <a:buFontTx/>
              <a:defRPr/>
            </a:pPr>
            <a:endParaRPr kumimoji="1" lang="zh-CN" altLang="en-US" sz="900" b="1" kern="0" noProof="0" dirty="0">
              <a:ln>
                <a:noFill/>
              </a:ln>
              <a:solidFill>
                <a:srgbClr val="111340"/>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24" name="文本框 123"/>
          <p:cNvSpPr txBox="1"/>
          <p:nvPr/>
        </p:nvSpPr>
        <p:spPr>
          <a:xfrm>
            <a:off x="4181531" y="2382767"/>
            <a:ext cx="615554"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市场份额</a:t>
            </a:r>
            <a:endParaRPr kumimoji="0" lang="zh-CN" altLang="en-US" sz="12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5" name="文本框 124"/>
          <p:cNvSpPr txBox="1"/>
          <p:nvPr/>
        </p:nvSpPr>
        <p:spPr>
          <a:xfrm>
            <a:off x="4180730" y="2575088"/>
            <a:ext cx="617157" cy="9233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Brand marketing</a:t>
            </a:r>
            <a:endParaRPr kumimoji="0" lang="en-US" altLang="zh-CN" sz="6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7" name="圆角矩形 126"/>
          <p:cNvSpPr/>
          <p:nvPr/>
        </p:nvSpPr>
        <p:spPr>
          <a:xfrm>
            <a:off x="5475798" y="2625340"/>
            <a:ext cx="1296000" cy="432000"/>
          </a:xfrm>
          <a:prstGeom prst="roundRect">
            <a:avLst>
              <a:gd name="adj" fmla="val 50000"/>
            </a:avLst>
          </a:prstGeom>
          <a:solidFill>
            <a:schemeClr val="bg1"/>
          </a:solidFill>
          <a:ln w="12700" cap="flat" cmpd="sng" algn="ctr">
            <a:solidFill>
              <a:schemeClr val="accent5"/>
            </a:solidFill>
            <a:prstDash val="solid"/>
            <a:miter lim="800000"/>
          </a:ln>
          <a:effectLst/>
        </p:spPr>
        <p:txBody>
          <a:bodyPr rtlCol="0" anchor="ctr">
            <a:noAutofit/>
          </a:bodyPr>
          <a:lstStyle/>
          <a:p>
            <a:pPr lvl="0" algn="ctr" defTabSz="456565">
              <a:spcBef>
                <a:spcPts val="0"/>
              </a:spcBef>
              <a:spcAft>
                <a:spcPts val="0"/>
              </a:spcAft>
              <a:buClrTx/>
              <a:buSzTx/>
              <a:buFontTx/>
              <a:defRPr/>
            </a:pPr>
            <a:endParaRPr kumimoji="1" lang="zh-CN" altLang="en-US" sz="900" b="1" kern="0" noProof="0" dirty="0">
              <a:ln>
                <a:noFill/>
              </a:ln>
              <a:solidFill>
                <a:srgbClr val="111340"/>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29" name="文本框 128"/>
          <p:cNvSpPr txBox="1"/>
          <p:nvPr/>
        </p:nvSpPr>
        <p:spPr>
          <a:xfrm>
            <a:off x="5816022" y="2709186"/>
            <a:ext cx="615554"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收入规模</a:t>
            </a:r>
            <a:endParaRPr kumimoji="0" lang="zh-CN" altLang="en-US" sz="12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0" name="文本框 129"/>
          <p:cNvSpPr txBox="1"/>
          <p:nvPr/>
        </p:nvSpPr>
        <p:spPr>
          <a:xfrm>
            <a:off x="5815220" y="2901507"/>
            <a:ext cx="617157" cy="9233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Brand marketing</a:t>
            </a:r>
            <a:endParaRPr kumimoji="0" lang="en-US" altLang="zh-CN" sz="6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1" name="圆角矩形 130"/>
          <p:cNvSpPr/>
          <p:nvPr/>
        </p:nvSpPr>
        <p:spPr>
          <a:xfrm>
            <a:off x="7004910" y="2316645"/>
            <a:ext cx="1296000" cy="432000"/>
          </a:xfrm>
          <a:prstGeom prst="roundRect">
            <a:avLst>
              <a:gd name="adj" fmla="val 50000"/>
            </a:avLst>
          </a:prstGeom>
          <a:solidFill>
            <a:schemeClr val="bg1"/>
          </a:solidFill>
          <a:ln w="12700" cap="flat" cmpd="sng" algn="ctr">
            <a:solidFill>
              <a:schemeClr val="accent5"/>
            </a:solidFill>
            <a:prstDash val="solid"/>
            <a:miter lim="800000"/>
          </a:ln>
          <a:effectLst/>
        </p:spPr>
        <p:txBody>
          <a:bodyPr rtlCol="0" anchor="ctr">
            <a:noAutofit/>
          </a:bodyPr>
          <a:lstStyle/>
          <a:p>
            <a:pPr lvl="0" algn="ctr" defTabSz="456565">
              <a:spcBef>
                <a:spcPts val="0"/>
              </a:spcBef>
              <a:spcAft>
                <a:spcPts val="0"/>
              </a:spcAft>
              <a:buClrTx/>
              <a:buSzTx/>
              <a:buFontTx/>
              <a:defRPr/>
            </a:pPr>
            <a:endParaRPr kumimoji="1" lang="zh-CN" altLang="en-US" sz="900" b="1" kern="0" noProof="0" dirty="0">
              <a:ln>
                <a:noFill/>
              </a:ln>
              <a:solidFill>
                <a:srgbClr val="111340"/>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34" name="文本框 133"/>
          <p:cNvSpPr txBox="1"/>
          <p:nvPr/>
        </p:nvSpPr>
        <p:spPr>
          <a:xfrm>
            <a:off x="7341873" y="2382767"/>
            <a:ext cx="615554" cy="184666"/>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利润规模</a:t>
            </a:r>
            <a:endParaRPr kumimoji="0" lang="zh-CN" altLang="en-US" sz="12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5" name="文本框 134"/>
          <p:cNvSpPr txBox="1"/>
          <p:nvPr/>
        </p:nvSpPr>
        <p:spPr>
          <a:xfrm>
            <a:off x="7341072" y="2575088"/>
            <a:ext cx="617157" cy="9233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Brand marketing</a:t>
            </a:r>
            <a:endParaRPr kumimoji="0" lang="en-US" altLang="zh-CN" sz="6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6" name="文本框 135"/>
          <p:cNvSpPr txBox="1"/>
          <p:nvPr/>
        </p:nvSpPr>
        <p:spPr>
          <a:xfrm>
            <a:off x="4793777" y="3864143"/>
            <a:ext cx="2689860"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营销策略方法</a:t>
            </a:r>
            <a:endParaRPr kumimoji="1" lang="zh-CN" altLang="en-US" sz="16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37" name="组合 136"/>
          <p:cNvGrpSpPr/>
          <p:nvPr/>
        </p:nvGrpSpPr>
        <p:grpSpPr>
          <a:xfrm>
            <a:off x="3052452" y="3672384"/>
            <a:ext cx="682409" cy="682409"/>
            <a:chOff x="3348306" y="4060242"/>
            <a:chExt cx="682409" cy="682409"/>
          </a:xfrm>
        </p:grpSpPr>
        <p:sp>
          <p:nvSpPr>
            <p:cNvPr id="138" name="椭圆 137"/>
            <p:cNvSpPr/>
            <p:nvPr/>
          </p:nvSpPr>
          <p:spPr>
            <a:xfrm>
              <a:off x="3348306" y="4060242"/>
              <a:ext cx="682409" cy="682409"/>
            </a:xfrm>
            <a:prstGeom prst="ellipse">
              <a:avLst/>
            </a:prstGeom>
            <a:gradFill>
              <a:gsLst>
                <a:gs pos="0">
                  <a:schemeClr val="accent1">
                    <a:lumMod val="60000"/>
                    <a:lumOff val="40000"/>
                  </a:schemeClr>
                </a:gs>
                <a:gs pos="100000">
                  <a:schemeClr val="accent1"/>
                </a:gs>
              </a:gsLst>
              <a:lin ang="16200000" scaled="0"/>
            </a:gradFill>
            <a:ln w="38100" cap="flat" cmpd="sng" algn="ctr">
              <a:noFill/>
              <a:prstDash val="solid"/>
              <a:miter lim="800000"/>
            </a:ln>
            <a:effectLst>
              <a:reflection blurRad="6350" stA="52000" endA="300" endPos="28000" dir="5400000" sy="-100000" algn="bl" rotWithShape="0"/>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139" name="文本框 138"/>
            <p:cNvSpPr txBox="1"/>
            <p:nvPr/>
          </p:nvSpPr>
          <p:spPr>
            <a:xfrm>
              <a:off x="3449704" y="4202606"/>
              <a:ext cx="492443" cy="461665"/>
            </a:xfrm>
            <a:prstGeom prst="rect">
              <a:avLst/>
            </a:prstGeom>
            <a:noFill/>
          </p:spPr>
          <p:txBody>
            <a:bodyPr wrap="none" rtlCol="0">
              <a:spAutoFit/>
            </a:bodyPr>
            <a:lstStyle>
              <a:defPPr>
                <a:defRPr lang="zh-CN"/>
              </a:defPPr>
              <a:lvl1pPr marR="0" lvl="0" indent="0" defTabSz="457200" fontAlgn="auto">
                <a:lnSpc>
                  <a:spcPct val="100000"/>
                </a:lnSpc>
                <a:spcBef>
                  <a:spcPts val="0"/>
                </a:spcBef>
                <a:spcAft>
                  <a:spcPts val="0"/>
                </a:spcAft>
                <a:buClrTx/>
                <a:buSzTx/>
                <a:buFontTx/>
                <a:buNone/>
                <a:defRPr kumimoji="1" sz="1200" b="0" i="0" u="none" strike="noStrike" cap="none" spc="0" normalizeH="0" baseline="0">
                  <a:ln>
                    <a:noFill/>
                  </a:ln>
                  <a:solidFill>
                    <a:schemeClr val="bg2">
                      <a:lumMod val="10000"/>
                    </a:schemeClr>
                  </a:solidFill>
                  <a:effectLst/>
                  <a:uLnTx/>
                  <a:uFillTx/>
                  <a:latin typeface="思源黑体 CN Regular" panose="020B0500000000000000" pitchFamily="34" charset="-128"/>
                  <a:ea typeface="思源黑体 CN Regular" panose="020B0500000000000000" pitchFamily="34" charset="-128"/>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媒体</a:t>
              </a:r>
              <a:endParaRPr kumimoji="1"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合作</a:t>
              </a:r>
              <a:endParaRPr kumimoji="1"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42" name="组合 141"/>
          <p:cNvGrpSpPr/>
          <p:nvPr/>
        </p:nvGrpSpPr>
        <p:grpSpPr>
          <a:xfrm>
            <a:off x="8587620" y="3672384"/>
            <a:ext cx="682409" cy="682409"/>
            <a:chOff x="3348306" y="4060242"/>
            <a:chExt cx="682409" cy="682409"/>
          </a:xfrm>
        </p:grpSpPr>
        <p:sp>
          <p:nvSpPr>
            <p:cNvPr id="143" name="椭圆 142"/>
            <p:cNvSpPr/>
            <p:nvPr/>
          </p:nvSpPr>
          <p:spPr>
            <a:xfrm>
              <a:off x="3348306" y="4060242"/>
              <a:ext cx="682409" cy="682409"/>
            </a:xfrm>
            <a:prstGeom prst="ellipse">
              <a:avLst/>
            </a:prstGeom>
            <a:gradFill>
              <a:gsLst>
                <a:gs pos="0">
                  <a:schemeClr val="accent1">
                    <a:lumMod val="60000"/>
                    <a:lumOff val="40000"/>
                  </a:schemeClr>
                </a:gs>
                <a:gs pos="100000">
                  <a:schemeClr val="accent1"/>
                </a:gs>
              </a:gsLst>
              <a:lin ang="16200000" scaled="0"/>
            </a:gradFill>
            <a:ln w="38100" cap="flat" cmpd="sng" algn="ctr">
              <a:noFill/>
              <a:prstDash val="solid"/>
              <a:miter lim="800000"/>
            </a:ln>
            <a:effectLst>
              <a:reflection blurRad="6350" stA="52000" endA="300" endPos="28000" dir="5400000" sy="-100000" algn="bl" rotWithShape="0"/>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144" name="文本框 143"/>
            <p:cNvSpPr txBox="1"/>
            <p:nvPr/>
          </p:nvSpPr>
          <p:spPr>
            <a:xfrm>
              <a:off x="3449704" y="4202606"/>
              <a:ext cx="492443" cy="461665"/>
            </a:xfrm>
            <a:prstGeom prst="rect">
              <a:avLst/>
            </a:prstGeom>
            <a:noFill/>
          </p:spPr>
          <p:txBody>
            <a:bodyPr wrap="none" rtlCol="0">
              <a:spAutoFit/>
            </a:bodyPr>
            <a:lstStyle>
              <a:defPPr>
                <a:defRPr lang="zh-CN"/>
              </a:defPPr>
              <a:lvl1pPr marR="0" lvl="0" indent="0" defTabSz="457200" fontAlgn="auto">
                <a:lnSpc>
                  <a:spcPct val="100000"/>
                </a:lnSpc>
                <a:spcBef>
                  <a:spcPts val="0"/>
                </a:spcBef>
                <a:spcAft>
                  <a:spcPts val="0"/>
                </a:spcAft>
                <a:buClrTx/>
                <a:buSzTx/>
                <a:buFontTx/>
                <a:buNone/>
                <a:defRPr kumimoji="1" sz="1200" b="0" i="0" u="none" strike="noStrike" cap="none" spc="0" normalizeH="0" baseline="0">
                  <a:ln>
                    <a:noFill/>
                  </a:ln>
                  <a:solidFill>
                    <a:schemeClr val="bg2">
                      <a:lumMod val="10000"/>
                    </a:schemeClr>
                  </a:solidFill>
                  <a:effectLst/>
                  <a:uLnTx/>
                  <a:uFillTx/>
                  <a:latin typeface="思源黑体 CN Regular" panose="020B0500000000000000" pitchFamily="34" charset="-128"/>
                  <a:ea typeface="思源黑体 CN Regular" panose="020B0500000000000000" pitchFamily="34" charset="-128"/>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渠道</a:t>
              </a:r>
              <a:endParaRPr kumimoji="1"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策略</a:t>
              </a:r>
              <a:endParaRPr kumimoji="1"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45" name="组合 144"/>
          <p:cNvGrpSpPr/>
          <p:nvPr/>
        </p:nvGrpSpPr>
        <p:grpSpPr>
          <a:xfrm>
            <a:off x="7203828" y="3944389"/>
            <a:ext cx="682409" cy="682409"/>
            <a:chOff x="3348306" y="4060242"/>
            <a:chExt cx="682409" cy="682409"/>
          </a:xfrm>
        </p:grpSpPr>
        <p:sp>
          <p:nvSpPr>
            <p:cNvPr id="146" name="椭圆 145"/>
            <p:cNvSpPr/>
            <p:nvPr/>
          </p:nvSpPr>
          <p:spPr>
            <a:xfrm>
              <a:off x="3348306" y="4060242"/>
              <a:ext cx="682409" cy="682409"/>
            </a:xfrm>
            <a:prstGeom prst="ellipse">
              <a:avLst/>
            </a:prstGeom>
            <a:gradFill>
              <a:gsLst>
                <a:gs pos="0">
                  <a:schemeClr val="accent1">
                    <a:lumMod val="60000"/>
                    <a:lumOff val="40000"/>
                  </a:schemeClr>
                </a:gs>
                <a:gs pos="100000">
                  <a:schemeClr val="accent1"/>
                </a:gs>
              </a:gsLst>
              <a:lin ang="16200000" scaled="0"/>
            </a:gradFill>
            <a:ln w="38100" cap="flat" cmpd="sng" algn="ctr">
              <a:noFill/>
              <a:prstDash val="solid"/>
              <a:miter lim="800000"/>
            </a:ln>
            <a:effectLst>
              <a:reflection blurRad="6350" stA="52000" endA="300" endPos="28000" dir="5400000" sy="-100000" algn="bl" rotWithShape="0"/>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147" name="文本框 146"/>
            <p:cNvSpPr txBox="1"/>
            <p:nvPr/>
          </p:nvSpPr>
          <p:spPr>
            <a:xfrm>
              <a:off x="3449702" y="4202606"/>
              <a:ext cx="492444" cy="461665"/>
            </a:xfrm>
            <a:prstGeom prst="rect">
              <a:avLst/>
            </a:prstGeom>
            <a:noFill/>
          </p:spPr>
          <p:txBody>
            <a:bodyPr wrap="none" rtlCol="0">
              <a:spAutoFit/>
            </a:bodyPr>
            <a:lstStyle>
              <a:defPPr>
                <a:defRPr lang="zh-CN"/>
              </a:defPPr>
              <a:lvl1pPr marR="0" lvl="0" indent="0" defTabSz="457200" fontAlgn="auto">
                <a:lnSpc>
                  <a:spcPct val="100000"/>
                </a:lnSpc>
                <a:spcBef>
                  <a:spcPts val="0"/>
                </a:spcBef>
                <a:spcAft>
                  <a:spcPts val="0"/>
                </a:spcAft>
                <a:buClrTx/>
                <a:buSzTx/>
                <a:buFontTx/>
                <a:buNone/>
                <a:defRPr kumimoji="1" sz="1200" b="0" i="0" u="none" strike="noStrike" cap="none" spc="0" normalizeH="0" baseline="0">
                  <a:ln>
                    <a:noFill/>
                  </a:ln>
                  <a:solidFill>
                    <a:schemeClr val="bg2">
                      <a:lumMod val="10000"/>
                    </a:schemeClr>
                  </a:solidFill>
                  <a:effectLst/>
                  <a:uLnTx/>
                  <a:uFillTx/>
                  <a:latin typeface="思源黑体 CN Regular" panose="020B0500000000000000" pitchFamily="34" charset="-128"/>
                  <a:ea typeface="思源黑体 CN Regular" panose="020B0500000000000000" pitchFamily="34" charset="-128"/>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公关</a:t>
              </a:r>
              <a:endParaRPr kumimoji="1"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策略</a:t>
              </a:r>
              <a:endParaRPr kumimoji="1"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48" name="组合 147"/>
          <p:cNvGrpSpPr/>
          <p:nvPr/>
        </p:nvGrpSpPr>
        <p:grpSpPr>
          <a:xfrm>
            <a:off x="4436244" y="3955022"/>
            <a:ext cx="682409" cy="682409"/>
            <a:chOff x="3348306" y="4060242"/>
            <a:chExt cx="682409" cy="682409"/>
          </a:xfrm>
        </p:grpSpPr>
        <p:sp>
          <p:nvSpPr>
            <p:cNvPr id="149" name="椭圆 148"/>
            <p:cNvSpPr/>
            <p:nvPr/>
          </p:nvSpPr>
          <p:spPr>
            <a:xfrm>
              <a:off x="3348306" y="4060242"/>
              <a:ext cx="682409" cy="682409"/>
            </a:xfrm>
            <a:prstGeom prst="ellipse">
              <a:avLst/>
            </a:prstGeom>
            <a:gradFill>
              <a:gsLst>
                <a:gs pos="0">
                  <a:schemeClr val="accent1">
                    <a:lumMod val="60000"/>
                    <a:lumOff val="40000"/>
                  </a:schemeClr>
                </a:gs>
                <a:gs pos="100000">
                  <a:schemeClr val="accent1"/>
                </a:gs>
              </a:gsLst>
              <a:lin ang="16200000" scaled="0"/>
            </a:gradFill>
            <a:ln w="38100" cap="flat" cmpd="sng" algn="ctr">
              <a:noFill/>
              <a:prstDash val="solid"/>
              <a:miter lim="800000"/>
            </a:ln>
            <a:effectLst>
              <a:reflection blurRad="6350" stA="52000" endA="300" endPos="28000" dir="5400000" sy="-100000" algn="bl" rotWithShape="0"/>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150" name="文本框 149"/>
            <p:cNvSpPr txBox="1"/>
            <p:nvPr/>
          </p:nvSpPr>
          <p:spPr>
            <a:xfrm>
              <a:off x="3449704" y="4202606"/>
              <a:ext cx="492443" cy="461665"/>
            </a:xfrm>
            <a:prstGeom prst="rect">
              <a:avLst/>
            </a:prstGeom>
            <a:noFill/>
          </p:spPr>
          <p:txBody>
            <a:bodyPr wrap="none" rtlCol="0">
              <a:spAutoFit/>
            </a:bodyPr>
            <a:lstStyle>
              <a:defPPr>
                <a:defRPr lang="zh-CN"/>
              </a:defPPr>
              <a:lvl1pPr marR="0" lvl="0" indent="0" defTabSz="457200" fontAlgn="auto">
                <a:lnSpc>
                  <a:spcPct val="100000"/>
                </a:lnSpc>
                <a:spcBef>
                  <a:spcPts val="0"/>
                </a:spcBef>
                <a:spcAft>
                  <a:spcPts val="0"/>
                </a:spcAft>
                <a:buClrTx/>
                <a:buSzTx/>
                <a:buFontTx/>
                <a:buNone/>
                <a:defRPr kumimoji="1" sz="1200" b="0" i="0" u="none" strike="noStrike" cap="none" spc="0" normalizeH="0" baseline="0">
                  <a:ln>
                    <a:noFill/>
                  </a:ln>
                  <a:solidFill>
                    <a:schemeClr val="bg2">
                      <a:lumMod val="10000"/>
                    </a:schemeClr>
                  </a:solidFill>
                  <a:effectLst/>
                  <a:uLnTx/>
                  <a:uFillTx/>
                  <a:latin typeface="思源黑体 CN Regular" panose="020B0500000000000000" pitchFamily="34" charset="-128"/>
                  <a:ea typeface="思源黑体 CN Regular" panose="020B0500000000000000" pitchFamily="34" charset="-128"/>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补贴</a:t>
              </a:r>
              <a:endParaRPr kumimoji="1"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策略</a:t>
              </a:r>
              <a:endParaRPr kumimoji="1"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51" name="组合 150"/>
          <p:cNvGrpSpPr/>
          <p:nvPr/>
        </p:nvGrpSpPr>
        <p:grpSpPr>
          <a:xfrm>
            <a:off x="5809403" y="4234459"/>
            <a:ext cx="682409" cy="682409"/>
            <a:chOff x="3348306" y="4060242"/>
            <a:chExt cx="682409" cy="682409"/>
          </a:xfrm>
        </p:grpSpPr>
        <p:sp>
          <p:nvSpPr>
            <p:cNvPr id="152" name="椭圆 151"/>
            <p:cNvSpPr/>
            <p:nvPr/>
          </p:nvSpPr>
          <p:spPr>
            <a:xfrm>
              <a:off x="3348306" y="4060242"/>
              <a:ext cx="682409" cy="682409"/>
            </a:xfrm>
            <a:prstGeom prst="ellipse">
              <a:avLst/>
            </a:prstGeom>
            <a:gradFill>
              <a:gsLst>
                <a:gs pos="0">
                  <a:schemeClr val="accent1">
                    <a:lumMod val="60000"/>
                    <a:lumOff val="40000"/>
                  </a:schemeClr>
                </a:gs>
                <a:gs pos="100000">
                  <a:schemeClr val="accent1"/>
                </a:gs>
              </a:gsLst>
              <a:lin ang="16200000" scaled="0"/>
            </a:gradFill>
            <a:ln w="38100" cap="flat" cmpd="sng" algn="ctr">
              <a:noFill/>
              <a:prstDash val="solid"/>
              <a:miter lim="800000"/>
            </a:ln>
            <a:effectLst>
              <a:reflection blurRad="6350" stA="52000" endA="300" endPos="22000" dir="5400000" sy="-100000" algn="bl" rotWithShape="0"/>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153" name="文本框 152"/>
            <p:cNvSpPr txBox="1"/>
            <p:nvPr/>
          </p:nvSpPr>
          <p:spPr>
            <a:xfrm>
              <a:off x="3449703" y="4202606"/>
              <a:ext cx="492444" cy="461665"/>
            </a:xfrm>
            <a:prstGeom prst="rect">
              <a:avLst/>
            </a:prstGeom>
            <a:noFill/>
          </p:spPr>
          <p:txBody>
            <a:bodyPr wrap="none" rtlCol="0">
              <a:spAutoFit/>
            </a:bodyPr>
            <a:lstStyle>
              <a:defPPr>
                <a:defRPr lang="zh-CN"/>
              </a:defPPr>
              <a:lvl1pPr marR="0" lvl="0" indent="0" defTabSz="457200" fontAlgn="auto">
                <a:lnSpc>
                  <a:spcPct val="100000"/>
                </a:lnSpc>
                <a:spcBef>
                  <a:spcPts val="0"/>
                </a:spcBef>
                <a:spcAft>
                  <a:spcPts val="0"/>
                </a:spcAft>
                <a:buClrTx/>
                <a:buSzTx/>
                <a:buFontTx/>
                <a:buNone/>
                <a:defRPr kumimoji="1" sz="1200" b="0" i="0" u="none" strike="noStrike" cap="none" spc="0" normalizeH="0" baseline="0">
                  <a:ln>
                    <a:noFill/>
                  </a:ln>
                  <a:solidFill>
                    <a:schemeClr val="bg2">
                      <a:lumMod val="10000"/>
                    </a:schemeClr>
                  </a:solidFill>
                  <a:effectLst/>
                  <a:uLnTx/>
                  <a:uFillTx/>
                  <a:latin typeface="思源黑体 CN Regular" panose="020B0500000000000000" pitchFamily="34" charset="-128"/>
                  <a:ea typeface="思源黑体 CN Regular" panose="020B0500000000000000" pitchFamily="34" charset="-128"/>
                </a:defRPr>
              </a:lvl1p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广告</a:t>
              </a:r>
              <a:endParaRPr kumimoji="1"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策略</a:t>
              </a:r>
              <a:endParaRPr kumimoji="1"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154" name="Rounded Rectangle 67"/>
          <p:cNvSpPr/>
          <p:nvPr/>
        </p:nvSpPr>
        <p:spPr>
          <a:xfrm>
            <a:off x="756144" y="2789522"/>
            <a:ext cx="930046" cy="252000"/>
          </a:xfrm>
          <a:prstGeom prst="roundRect">
            <a:avLst>
              <a:gd name="adj" fmla="val 0"/>
            </a:avLst>
          </a:prstGeom>
          <a:solidFill>
            <a:schemeClr val="accent5">
              <a:lumMod val="60000"/>
              <a:lumOff val="40000"/>
            </a:schemeClr>
          </a:solidFill>
          <a:ln w="3175" cap="flat" cmpd="sng" algn="ctr">
            <a:noFill/>
            <a:prstDash val="solid"/>
            <a:miter lim="800000"/>
          </a:ln>
          <a:effectLst/>
        </p:spPr>
        <p:txBody>
          <a:bodyPr lIns="36000" rIns="36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活动营销执行</a:t>
            </a:r>
            <a:endParaRPr kumimoji="0" lang="zh-CN" altLang="en-US" sz="10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6" name="Rounded Rectangle 67"/>
          <p:cNvSpPr/>
          <p:nvPr/>
        </p:nvSpPr>
        <p:spPr>
          <a:xfrm>
            <a:off x="1758807" y="2789522"/>
            <a:ext cx="630359" cy="252000"/>
          </a:xfrm>
          <a:prstGeom prst="roundRect">
            <a:avLst>
              <a:gd name="adj" fmla="val 0"/>
            </a:avLst>
          </a:prstGeom>
          <a:solidFill>
            <a:schemeClr val="accent5">
              <a:lumMod val="60000"/>
              <a:lumOff val="40000"/>
            </a:schemeClr>
          </a:solidFill>
          <a:ln w="3175" cap="flat" cmpd="sng" algn="ctr">
            <a:noFill/>
            <a:prstDash val="solid"/>
            <a:miter lim="800000"/>
          </a:ln>
          <a:effectLst/>
        </p:spPr>
        <p:txBody>
          <a:bodyPr lIns="36000" rIns="36000" rtlCol="0" anchor="ctr">
            <a:noAutofit/>
          </a:bodyPr>
          <a:lstStyle/>
          <a:p>
            <a:pPr lvl="0" algn="ctr">
              <a:spcBef>
                <a:spcPts val="0"/>
              </a:spcBef>
              <a:spcAft>
                <a:spcPts val="0"/>
              </a:spcAft>
              <a:buClrTx/>
              <a:buSzTx/>
              <a:buFontTx/>
              <a:defRPr/>
            </a:pPr>
            <a:r>
              <a:rPr lang="zh-CN" altLang="en-US" sz="1000" b="1" kern="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rPr>
              <a:t>产品定位</a:t>
            </a:r>
            <a:endParaRPr lang="zh-CN" altLang="en-US" sz="1000" b="1" kern="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57" name="Rounded Rectangle 67"/>
          <p:cNvSpPr/>
          <p:nvPr/>
        </p:nvSpPr>
        <p:spPr>
          <a:xfrm>
            <a:off x="9974923" y="2715091"/>
            <a:ext cx="930046" cy="252000"/>
          </a:xfrm>
          <a:prstGeom prst="roundRect">
            <a:avLst>
              <a:gd name="adj" fmla="val 0"/>
            </a:avLst>
          </a:prstGeom>
          <a:solidFill>
            <a:schemeClr val="accent5">
              <a:lumMod val="60000"/>
              <a:lumOff val="40000"/>
            </a:schemeClr>
          </a:solidFill>
          <a:ln w="3175" cap="flat" cmpd="sng" algn="ctr">
            <a:noFill/>
            <a:prstDash val="solid"/>
            <a:miter lim="800000"/>
          </a:ln>
          <a:effectLst/>
        </p:spPr>
        <p:txBody>
          <a:bodyPr lIns="36000" rIns="36000" rtlCol="0" anchor="ctr">
            <a:noAutofit/>
          </a:bodyPr>
          <a:lstStyle/>
          <a:p>
            <a:pPr lvl="0" algn="ctr">
              <a:spcBef>
                <a:spcPts val="0"/>
              </a:spcBef>
              <a:spcAft>
                <a:spcPts val="0"/>
              </a:spcAft>
              <a:buClrTx/>
              <a:buSzTx/>
              <a:buFontTx/>
              <a:defRPr/>
            </a:pPr>
            <a:r>
              <a:rPr lang="zh-CN" altLang="en-US" sz="1000" b="1" kern="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rPr>
              <a:t>市场调研经费</a:t>
            </a:r>
            <a:endParaRPr lang="zh-CN" altLang="en-US" sz="1000" b="1" kern="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58" name="Rounded Rectangle 67"/>
          <p:cNvSpPr/>
          <p:nvPr/>
        </p:nvSpPr>
        <p:spPr>
          <a:xfrm>
            <a:off x="10977586" y="2715091"/>
            <a:ext cx="630359" cy="252000"/>
          </a:xfrm>
          <a:prstGeom prst="roundRect">
            <a:avLst>
              <a:gd name="adj" fmla="val 0"/>
            </a:avLst>
          </a:prstGeom>
          <a:solidFill>
            <a:schemeClr val="accent5">
              <a:lumMod val="60000"/>
              <a:lumOff val="40000"/>
            </a:schemeClr>
          </a:solidFill>
          <a:ln w="3175" cap="flat" cmpd="sng" algn="ctr">
            <a:noFill/>
            <a:prstDash val="solid"/>
            <a:miter lim="800000"/>
          </a:ln>
          <a:effectLst/>
        </p:spPr>
        <p:txBody>
          <a:bodyPr lIns="36000" rIns="36000" rtlCol="0" anchor="ctr">
            <a:noAutofit/>
          </a:bodyPr>
          <a:lstStyle/>
          <a:p>
            <a:pPr lvl="0" algn="ctr">
              <a:spcBef>
                <a:spcPts val="0"/>
              </a:spcBef>
              <a:spcAft>
                <a:spcPts val="0"/>
              </a:spcAft>
              <a:buClrTx/>
              <a:buSzTx/>
              <a:buFontTx/>
              <a:defRPr/>
            </a:pPr>
            <a:r>
              <a:rPr lang="zh-CN" altLang="en-US" sz="1000" b="1" kern="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rPr>
              <a:t>内容运营</a:t>
            </a:r>
            <a:endParaRPr lang="zh-CN" altLang="en-US" sz="1000" b="1" kern="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nvGrpSpPr>
          <p:cNvPr id="159" name="组合 158"/>
          <p:cNvGrpSpPr/>
          <p:nvPr/>
        </p:nvGrpSpPr>
        <p:grpSpPr>
          <a:xfrm>
            <a:off x="878397" y="4821562"/>
            <a:ext cx="1872000" cy="1130522"/>
            <a:chOff x="825057" y="4644851"/>
            <a:chExt cx="1872000" cy="1130522"/>
          </a:xfrm>
        </p:grpSpPr>
        <p:sp>
          <p:nvSpPr>
            <p:cNvPr id="160" name="椭圆 159"/>
            <p:cNvSpPr>
              <a:spLocks noChangeAspect="1"/>
            </p:cNvSpPr>
            <p:nvPr/>
          </p:nvSpPr>
          <p:spPr>
            <a:xfrm>
              <a:off x="1576317" y="5415373"/>
              <a:ext cx="360000" cy="360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1" name="Object25"/>
            <p:cNvSpPr/>
            <p:nvPr/>
          </p:nvSpPr>
          <p:spPr>
            <a:xfrm>
              <a:off x="1602829" y="5497669"/>
              <a:ext cx="306976" cy="175689"/>
            </a:xfrm>
            <a:prstGeom prst="rect">
              <a:avLst/>
            </a:prstGeom>
            <a:noFill/>
            <a:effectLst/>
          </p:spPr>
          <p:txBody>
            <a:bodyPr wrap="square" lIns="0" tIns="0" rIns="0" bIns="0" rtlCol="0" anchor="t">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01</a:t>
              </a:r>
              <a:endParaRPr kumimoji="0" lang="en-US"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62" name="直线连接符 150"/>
            <p:cNvCxnSpPr/>
            <p:nvPr/>
          </p:nvCxnSpPr>
          <p:spPr>
            <a:xfrm flipV="1">
              <a:off x="1756317" y="5188151"/>
              <a:ext cx="0" cy="227222"/>
            </a:xfrm>
            <a:prstGeom prst="line">
              <a:avLst/>
            </a:prstGeom>
            <a:ln>
              <a:solidFill>
                <a:schemeClr val="tx2"/>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163" name="矩形: 圆角 707"/>
            <p:cNvSpPr/>
            <p:nvPr/>
          </p:nvSpPr>
          <p:spPr>
            <a:xfrm>
              <a:off x="825057" y="4644851"/>
              <a:ext cx="1872000" cy="576000"/>
            </a:xfrm>
            <a:prstGeom prst="roundRect">
              <a:avLst>
                <a:gd name="adj" fmla="val 50000"/>
              </a:avLst>
            </a:prstGeom>
            <a:solidFill>
              <a:schemeClr val="accent1">
                <a:lumMod val="40000"/>
                <a:lumOff val="60000"/>
              </a:schemeClr>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4" name="文本框 163"/>
            <p:cNvSpPr txBox="1"/>
            <p:nvPr/>
          </p:nvSpPr>
          <p:spPr>
            <a:xfrm>
              <a:off x="1241618" y="4699945"/>
              <a:ext cx="1210588" cy="452688"/>
            </a:xfrm>
            <a:prstGeom prst="rect">
              <a:avLst/>
            </a:prstGeom>
            <a:noFill/>
            <a:ln w="9525">
              <a:noFill/>
            </a:ln>
          </p:spPr>
          <p:txBody>
            <a:bodyPr wrap="none">
              <a:spAutoFit/>
            </a:bodyPr>
            <a:lstStyle>
              <a:defPPr>
                <a:defRPr lang="zh-CN"/>
              </a:defPPr>
              <a:lvl1pPr indent="0">
                <a:defRPr sz="1400" b="0">
                  <a:solidFill>
                    <a:schemeClr val="accent1"/>
                  </a:solidFill>
                  <a:latin typeface="+mn-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针对春季新品推出</a:t>
              </a:r>
              <a:endParaRPr kumimoji="0" lang="en-US" altLang="zh-CN"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相应的营销活动</a:t>
              </a:r>
              <a:endParaRPr kumimoji="0" lang="zh-CN"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5" name="flag-pole-with-black-flag_38306"/>
            <p:cNvSpPr>
              <a:spLocks noChangeAspect="1"/>
            </p:cNvSpPr>
            <p:nvPr/>
          </p:nvSpPr>
          <p:spPr>
            <a:xfrm>
              <a:off x="1022698" y="4837461"/>
              <a:ext cx="181452" cy="216000"/>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rgbClr val="FFFFFF"/>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a:ln>
                  <a:noFill/>
                </a:ln>
                <a:solidFill>
                  <a:srgbClr val="F9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66" name="组合 165"/>
          <p:cNvGrpSpPr/>
          <p:nvPr/>
        </p:nvGrpSpPr>
        <p:grpSpPr>
          <a:xfrm>
            <a:off x="9553767" y="4830070"/>
            <a:ext cx="1872000" cy="1122055"/>
            <a:chOff x="825057" y="4653318"/>
            <a:chExt cx="1872000" cy="1122055"/>
          </a:xfrm>
        </p:grpSpPr>
        <p:sp>
          <p:nvSpPr>
            <p:cNvPr id="167" name="椭圆 166"/>
            <p:cNvSpPr>
              <a:spLocks noChangeAspect="1"/>
            </p:cNvSpPr>
            <p:nvPr/>
          </p:nvSpPr>
          <p:spPr>
            <a:xfrm>
              <a:off x="1576317" y="5415373"/>
              <a:ext cx="360000" cy="360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8" name="Object25"/>
            <p:cNvSpPr/>
            <p:nvPr/>
          </p:nvSpPr>
          <p:spPr>
            <a:xfrm>
              <a:off x="1602829" y="5497669"/>
              <a:ext cx="306976" cy="175689"/>
            </a:xfrm>
            <a:prstGeom prst="rect">
              <a:avLst/>
            </a:prstGeom>
            <a:noFill/>
            <a:effectLst/>
          </p:spPr>
          <p:txBody>
            <a:bodyPr wrap="square" lIns="0" tIns="0" rIns="0" bIns="0" rtlCol="0" anchor="t">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04</a:t>
              </a:r>
              <a:endParaRPr kumimoji="0" 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69" name="直线连接符 158"/>
            <p:cNvCxnSpPr/>
            <p:nvPr/>
          </p:nvCxnSpPr>
          <p:spPr>
            <a:xfrm flipV="1">
              <a:off x="1756317" y="5188151"/>
              <a:ext cx="0" cy="227222"/>
            </a:xfrm>
            <a:prstGeom prst="line">
              <a:avLst/>
            </a:prstGeom>
            <a:ln>
              <a:solidFill>
                <a:schemeClr val="tx2"/>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170" name="矩形: 圆角 707"/>
            <p:cNvSpPr/>
            <p:nvPr/>
          </p:nvSpPr>
          <p:spPr>
            <a:xfrm>
              <a:off x="825057" y="4653318"/>
              <a:ext cx="1872000" cy="576000"/>
            </a:xfrm>
            <a:prstGeom prst="roundRect">
              <a:avLst>
                <a:gd name="adj" fmla="val 50000"/>
              </a:avLst>
            </a:prstGeom>
            <a:solidFill>
              <a:schemeClr val="accent1">
                <a:lumMod val="40000"/>
                <a:lumOff val="60000"/>
              </a:schemeClr>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71" name="文本框 170"/>
            <p:cNvSpPr txBox="1"/>
            <p:nvPr/>
          </p:nvSpPr>
          <p:spPr>
            <a:xfrm>
              <a:off x="1241617" y="4708412"/>
              <a:ext cx="1273389" cy="452688"/>
            </a:xfrm>
            <a:prstGeom prst="rect">
              <a:avLst/>
            </a:prstGeom>
            <a:noFill/>
            <a:ln w="9525">
              <a:noFill/>
            </a:ln>
          </p:spPr>
          <p:txBody>
            <a:bodyPr wrap="square">
              <a:spAutoFit/>
            </a:bodyPr>
            <a:lstStyle>
              <a:defPPr>
                <a:defRPr lang="zh-CN"/>
              </a:defPPr>
              <a:lvl1pPr indent="0">
                <a:defRPr sz="1400" b="0">
                  <a:solidFill>
                    <a:schemeClr val="accent1"/>
                  </a:solidFill>
                  <a:latin typeface="+mn-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全年营销活动进行</a:t>
              </a:r>
              <a:endParaRPr kumimoji="0" lang="en-US" altLang="zh-CN"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总结思考和评估</a:t>
              </a:r>
              <a:endParaRPr kumimoji="0" lang="zh-CN"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73" name="flag-pole-with-black-flag_38306"/>
            <p:cNvSpPr>
              <a:spLocks noChangeAspect="1"/>
            </p:cNvSpPr>
            <p:nvPr/>
          </p:nvSpPr>
          <p:spPr>
            <a:xfrm>
              <a:off x="1022698" y="4845928"/>
              <a:ext cx="181452" cy="216000"/>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rgbClr val="FFFFFF"/>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a:ln>
                  <a:noFill/>
                </a:ln>
                <a:solidFill>
                  <a:srgbClr val="F9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74" name="组合 173"/>
          <p:cNvGrpSpPr/>
          <p:nvPr/>
        </p:nvGrpSpPr>
        <p:grpSpPr>
          <a:xfrm>
            <a:off x="7202276" y="5190949"/>
            <a:ext cx="1872000" cy="1138989"/>
            <a:chOff x="825057" y="4636384"/>
            <a:chExt cx="1872000" cy="1138989"/>
          </a:xfrm>
        </p:grpSpPr>
        <p:sp>
          <p:nvSpPr>
            <p:cNvPr id="175" name="椭圆 174"/>
            <p:cNvSpPr>
              <a:spLocks noChangeAspect="1"/>
            </p:cNvSpPr>
            <p:nvPr/>
          </p:nvSpPr>
          <p:spPr>
            <a:xfrm>
              <a:off x="1576317" y="5415373"/>
              <a:ext cx="360000" cy="360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76" name="Object25"/>
            <p:cNvSpPr/>
            <p:nvPr/>
          </p:nvSpPr>
          <p:spPr>
            <a:xfrm>
              <a:off x="1602829" y="5497669"/>
              <a:ext cx="306976" cy="175689"/>
            </a:xfrm>
            <a:prstGeom prst="rect">
              <a:avLst/>
            </a:prstGeom>
            <a:noFill/>
            <a:effectLst/>
          </p:spPr>
          <p:txBody>
            <a:bodyPr wrap="square" lIns="0" tIns="0" rIns="0" bIns="0" rtlCol="0" anchor="t">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03</a:t>
              </a:r>
              <a:endParaRPr kumimoji="0" 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77" name="直线连接符 165"/>
            <p:cNvCxnSpPr/>
            <p:nvPr/>
          </p:nvCxnSpPr>
          <p:spPr>
            <a:xfrm flipV="1">
              <a:off x="1756317" y="5188151"/>
              <a:ext cx="0" cy="227222"/>
            </a:xfrm>
            <a:prstGeom prst="line">
              <a:avLst/>
            </a:prstGeom>
            <a:ln>
              <a:solidFill>
                <a:schemeClr val="bg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205" name="矩形: 圆角 707"/>
            <p:cNvSpPr/>
            <p:nvPr/>
          </p:nvSpPr>
          <p:spPr>
            <a:xfrm>
              <a:off x="825057" y="4636384"/>
              <a:ext cx="1872000" cy="576000"/>
            </a:xfrm>
            <a:prstGeom prst="roundRect">
              <a:avLst>
                <a:gd name="adj" fmla="val 50000"/>
              </a:avLst>
            </a:prstGeom>
            <a:solidFill>
              <a:schemeClr val="accent1">
                <a:lumMod val="40000"/>
                <a:lumOff val="60000"/>
              </a:schemeClr>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6" name="文本框 205"/>
            <p:cNvSpPr txBox="1"/>
            <p:nvPr/>
          </p:nvSpPr>
          <p:spPr>
            <a:xfrm>
              <a:off x="1241618" y="4691478"/>
              <a:ext cx="1338828" cy="452688"/>
            </a:xfrm>
            <a:prstGeom prst="rect">
              <a:avLst/>
            </a:prstGeom>
            <a:noFill/>
            <a:ln w="9525">
              <a:noFill/>
            </a:ln>
          </p:spPr>
          <p:txBody>
            <a:bodyPr wrap="none">
              <a:spAutoFit/>
            </a:bodyPr>
            <a:lstStyle>
              <a:defPPr>
                <a:defRPr lang="zh-CN"/>
              </a:defPPr>
              <a:lvl1pPr indent="0">
                <a:defRPr sz="1400" b="0">
                  <a:solidFill>
                    <a:schemeClr val="accent1"/>
                  </a:solidFill>
                  <a:latin typeface="+mn-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加强品牌宣传和推广</a:t>
              </a:r>
              <a:endParaRPr kumimoji="0" lang="en-US" altLang="zh-CN"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知名度和美誉度</a:t>
              </a:r>
              <a:endParaRPr kumimoji="0" lang="zh-CN"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7" name="flag-pole-with-black-flag_38306"/>
            <p:cNvSpPr>
              <a:spLocks noChangeAspect="1"/>
            </p:cNvSpPr>
            <p:nvPr/>
          </p:nvSpPr>
          <p:spPr>
            <a:xfrm>
              <a:off x="1022698" y="4828994"/>
              <a:ext cx="181452" cy="216000"/>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rgbClr val="FFFFFF"/>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a:ln>
                  <a:noFill/>
                </a:ln>
                <a:solidFill>
                  <a:srgbClr val="F9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208" name="组合 207"/>
          <p:cNvGrpSpPr/>
          <p:nvPr/>
        </p:nvGrpSpPr>
        <p:grpSpPr>
          <a:xfrm>
            <a:off x="3246653" y="5190949"/>
            <a:ext cx="1872000" cy="1138989"/>
            <a:chOff x="825057" y="4636384"/>
            <a:chExt cx="1872000" cy="1138989"/>
          </a:xfrm>
        </p:grpSpPr>
        <p:sp>
          <p:nvSpPr>
            <p:cNvPr id="212" name="椭圆 211"/>
            <p:cNvSpPr>
              <a:spLocks noChangeAspect="1"/>
            </p:cNvSpPr>
            <p:nvPr/>
          </p:nvSpPr>
          <p:spPr>
            <a:xfrm>
              <a:off x="1576317" y="5415373"/>
              <a:ext cx="360000" cy="36000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13" name="Object25"/>
            <p:cNvSpPr/>
            <p:nvPr/>
          </p:nvSpPr>
          <p:spPr>
            <a:xfrm>
              <a:off x="1602829" y="5497669"/>
              <a:ext cx="306976" cy="175689"/>
            </a:xfrm>
            <a:prstGeom prst="rect">
              <a:avLst/>
            </a:prstGeom>
            <a:noFill/>
            <a:effectLst/>
          </p:spPr>
          <p:txBody>
            <a:bodyPr wrap="square" lIns="0" tIns="0" rIns="0" bIns="0" rtlCol="0" anchor="t">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02</a:t>
              </a:r>
              <a:endParaRPr kumimoji="0" 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216" name="直线连接符 173"/>
            <p:cNvCxnSpPr/>
            <p:nvPr/>
          </p:nvCxnSpPr>
          <p:spPr>
            <a:xfrm flipV="1">
              <a:off x="1756317" y="5188151"/>
              <a:ext cx="0" cy="227222"/>
            </a:xfrm>
            <a:prstGeom prst="line">
              <a:avLst/>
            </a:prstGeom>
            <a:ln>
              <a:solidFill>
                <a:schemeClr val="bg1"/>
              </a:solidFill>
              <a:prstDash val="solid"/>
              <a:tailEnd type="none"/>
            </a:ln>
          </p:spPr>
          <p:style>
            <a:lnRef idx="1">
              <a:schemeClr val="accent1"/>
            </a:lnRef>
            <a:fillRef idx="0">
              <a:schemeClr val="accent1"/>
            </a:fillRef>
            <a:effectRef idx="0">
              <a:schemeClr val="accent1"/>
            </a:effectRef>
            <a:fontRef idx="minor">
              <a:schemeClr val="tx1"/>
            </a:fontRef>
          </p:style>
        </p:cxnSp>
        <p:sp>
          <p:nvSpPr>
            <p:cNvPr id="219" name="矩形: 圆角 707"/>
            <p:cNvSpPr/>
            <p:nvPr/>
          </p:nvSpPr>
          <p:spPr>
            <a:xfrm>
              <a:off x="825057" y="4636384"/>
              <a:ext cx="1872000" cy="576000"/>
            </a:xfrm>
            <a:prstGeom prst="roundRect">
              <a:avLst>
                <a:gd name="adj" fmla="val 50000"/>
              </a:avLst>
            </a:prstGeom>
            <a:solidFill>
              <a:schemeClr val="accent1">
                <a:lumMod val="40000"/>
                <a:lumOff val="60000"/>
              </a:schemeClr>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33" name="文本框 232"/>
            <p:cNvSpPr txBox="1"/>
            <p:nvPr/>
          </p:nvSpPr>
          <p:spPr>
            <a:xfrm>
              <a:off x="1241618" y="4691478"/>
              <a:ext cx="1338828" cy="452688"/>
            </a:xfrm>
            <a:prstGeom prst="rect">
              <a:avLst/>
            </a:prstGeom>
            <a:noFill/>
            <a:ln w="9525">
              <a:noFill/>
            </a:ln>
          </p:spPr>
          <p:txBody>
            <a:bodyPr wrap="none">
              <a:spAutoFit/>
            </a:bodyPr>
            <a:lstStyle>
              <a:defPPr>
                <a:defRPr lang="zh-CN"/>
              </a:defPPr>
              <a:lvl1pPr indent="0">
                <a:defRPr sz="1400" b="0">
                  <a:solidFill>
                    <a:schemeClr val="accent1"/>
                  </a:solidFill>
                  <a:latin typeface="+mn-ea"/>
                </a:defRPr>
              </a:lvl1p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针对夏季产品推出相</a:t>
              </a:r>
              <a:endParaRPr kumimoji="0" lang="en-US" altLang="zh-CN"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应的营销活动</a:t>
              </a:r>
              <a:endParaRPr kumimoji="0" lang="zh-CN"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34" name="flag-pole-with-black-flag_38306"/>
            <p:cNvSpPr>
              <a:spLocks noChangeAspect="1"/>
            </p:cNvSpPr>
            <p:nvPr/>
          </p:nvSpPr>
          <p:spPr>
            <a:xfrm>
              <a:off x="1022698" y="4828994"/>
              <a:ext cx="181452" cy="216000"/>
            </a:xfrm>
            <a:custGeom>
              <a:avLst/>
              <a:gdLst>
                <a:gd name="T0" fmla="*/ 401 w 401"/>
                <a:gd name="T1" fmla="*/ 89 h 478"/>
                <a:gd name="T2" fmla="*/ 401 w 401"/>
                <a:gd name="T3" fmla="*/ 293 h 478"/>
                <a:gd name="T4" fmla="*/ 73 w 401"/>
                <a:gd name="T5" fmla="*/ 293 h 478"/>
                <a:gd name="T6" fmla="*/ 73 w 401"/>
                <a:gd name="T7" fmla="*/ 89 h 478"/>
                <a:gd name="T8" fmla="*/ 401 w 401"/>
                <a:gd name="T9" fmla="*/ 89 h 478"/>
                <a:gd name="T10" fmla="*/ 39 w 401"/>
                <a:gd name="T11" fmla="*/ 0 h 478"/>
                <a:gd name="T12" fmla="*/ 0 w 401"/>
                <a:gd name="T13" fmla="*/ 39 h 478"/>
                <a:gd name="T14" fmla="*/ 23 w 401"/>
                <a:gd name="T15" fmla="*/ 74 h 478"/>
                <a:gd name="T16" fmla="*/ 23 w 401"/>
                <a:gd name="T17" fmla="*/ 478 h 478"/>
                <a:gd name="T18" fmla="*/ 56 w 401"/>
                <a:gd name="T19" fmla="*/ 478 h 478"/>
                <a:gd name="T20" fmla="*/ 56 w 401"/>
                <a:gd name="T21" fmla="*/ 74 h 478"/>
                <a:gd name="T22" fmla="*/ 78 w 401"/>
                <a:gd name="T23" fmla="*/ 39 h 478"/>
                <a:gd name="T24" fmla="*/ 39 w 401"/>
                <a:gd name="T25" fmla="*/ 0 h 4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1" h="478">
                  <a:moveTo>
                    <a:pt x="401" y="89"/>
                  </a:moveTo>
                  <a:lnTo>
                    <a:pt x="401" y="293"/>
                  </a:lnTo>
                  <a:cubicBezTo>
                    <a:pt x="292" y="212"/>
                    <a:pt x="182" y="375"/>
                    <a:pt x="73" y="293"/>
                  </a:cubicBezTo>
                  <a:lnTo>
                    <a:pt x="73" y="89"/>
                  </a:lnTo>
                  <a:cubicBezTo>
                    <a:pt x="182" y="171"/>
                    <a:pt x="292" y="7"/>
                    <a:pt x="401" y="89"/>
                  </a:cubicBezTo>
                  <a:close/>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close/>
                </a:path>
              </a:pathLst>
            </a:custGeom>
            <a:solidFill>
              <a:srgbClr val="FFFFFF"/>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a:ln>
                  <a:noFill/>
                </a:ln>
                <a:solidFill>
                  <a:srgbClr val="F9FFFF"/>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235" name="文本框 234"/>
          <p:cNvSpPr txBox="1"/>
          <p:nvPr/>
        </p:nvSpPr>
        <p:spPr>
          <a:xfrm>
            <a:off x="4804410" y="5610941"/>
            <a:ext cx="2689860"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6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营销时间规划</a:t>
            </a:r>
            <a:endParaRPr kumimoji="1" lang="zh-CN" altLang="en-US" sz="16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36" name="文本框 235"/>
          <p:cNvSpPr txBox="1"/>
          <p:nvPr/>
        </p:nvSpPr>
        <p:spPr>
          <a:xfrm>
            <a:off x="4804410" y="5895251"/>
            <a:ext cx="268986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活动节点</a:t>
            </a:r>
            <a:endParaRPr kumimoji="1"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2" name="直线连接符 91"/>
          <p:cNvCxnSpPr/>
          <p:nvPr/>
        </p:nvCxnSpPr>
        <p:spPr>
          <a:xfrm flipV="1">
            <a:off x="7644392" y="2755297"/>
            <a:ext cx="635" cy="575310"/>
          </a:xfrm>
          <a:prstGeom prst="line">
            <a:avLst/>
          </a:prstGeom>
          <a:ln>
            <a:gradFill>
              <a:gsLst>
                <a:gs pos="32000">
                  <a:schemeClr val="accent5"/>
                </a:gs>
                <a:gs pos="100000">
                  <a:schemeClr val="accent5"/>
                </a:gs>
              </a:gsLst>
              <a:lin ang="5400000" scaled="1"/>
            </a:gra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3" name="直线连接符 95"/>
          <p:cNvCxnSpPr/>
          <p:nvPr/>
        </p:nvCxnSpPr>
        <p:spPr>
          <a:xfrm flipV="1">
            <a:off x="4495315" y="2765347"/>
            <a:ext cx="0" cy="539921"/>
          </a:xfrm>
          <a:prstGeom prst="line">
            <a:avLst/>
          </a:prstGeom>
          <a:ln>
            <a:gradFill>
              <a:gsLst>
                <a:gs pos="32000">
                  <a:schemeClr val="accent5"/>
                </a:gs>
                <a:gs pos="100000">
                  <a:schemeClr val="accent5"/>
                </a:gs>
              </a:gsLst>
              <a:lin ang="5400000" scaled="1"/>
            </a:gradFill>
            <a:prstDash val="dash"/>
            <a:tailEnd type="oval"/>
          </a:ln>
        </p:spPr>
        <p:style>
          <a:lnRef idx="1">
            <a:schemeClr val="accent1"/>
          </a:lnRef>
          <a:fillRef idx="0">
            <a:schemeClr val="accent1"/>
          </a:fillRef>
          <a:effectRef idx="0">
            <a:schemeClr val="accent1"/>
          </a:effectRef>
          <a:fontRef idx="minor">
            <a:schemeClr val="tx1"/>
          </a:fontRef>
        </p:style>
      </p:cxnSp>
      <p:cxnSp>
        <p:nvCxnSpPr>
          <p:cNvPr id="4" name="直线连接符 97"/>
          <p:cNvCxnSpPr/>
          <p:nvPr/>
        </p:nvCxnSpPr>
        <p:spPr>
          <a:xfrm flipV="1">
            <a:off x="6118771" y="3066901"/>
            <a:ext cx="0" cy="544409"/>
          </a:xfrm>
          <a:prstGeom prst="line">
            <a:avLst/>
          </a:prstGeom>
          <a:ln>
            <a:gradFill>
              <a:gsLst>
                <a:gs pos="32000">
                  <a:schemeClr val="accent5"/>
                </a:gs>
                <a:gs pos="100000">
                  <a:schemeClr val="accent5"/>
                </a:gs>
              </a:gsLst>
              <a:lin ang="5400000" scaled="1"/>
            </a:gradFill>
            <a:prstDash val="dash"/>
            <a:tailEnd type="ova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4970780" y="3409315"/>
            <a:ext cx="2288540" cy="471170"/>
            <a:chOff x="7729" y="13195"/>
            <a:chExt cx="3604" cy="742"/>
          </a:xfrm>
        </p:grpSpPr>
        <p:sp>
          <p:nvSpPr>
            <p:cNvPr id="19" name="显眼包PPT3-1"/>
            <p:cNvSpPr/>
            <p:nvPr/>
          </p:nvSpPr>
          <p:spPr>
            <a:xfrm>
              <a:off x="7729" y="13727"/>
              <a:ext cx="3604" cy="210"/>
            </a:xfrm>
            <a:prstGeom prst="ellipse">
              <a:avLst/>
            </a:prstGeom>
            <a:gradFill flip="none" rotWithShape="1">
              <a:gsLst>
                <a:gs pos="50000">
                  <a:schemeClr val="accent5">
                    <a:lumMod val="60000"/>
                    <a:lumOff val="40000"/>
                    <a:alpha val="0"/>
                  </a:schemeClr>
                </a:gs>
                <a:gs pos="0">
                  <a:schemeClr val="accent5">
                    <a:lumMod val="60000"/>
                    <a:lumOff val="40000"/>
                    <a:alpha val="45000"/>
                  </a:schemeClr>
                </a:gs>
                <a:gs pos="100000">
                  <a:schemeClr val="accent5">
                    <a:lumMod val="60000"/>
                    <a:lumOff val="40000"/>
                    <a:alpha val="45000"/>
                  </a:schemeClr>
                </a:gs>
              </a:gsLst>
              <a:lin ang="0" scaled="1"/>
              <a:tileRect/>
            </a:gradFill>
            <a:ln w="12700">
              <a:gradFill flip="none" rotWithShape="1">
                <a:gsLst>
                  <a:gs pos="17000">
                    <a:schemeClr val="accent5">
                      <a:lumMod val="60000"/>
                      <a:lumOff val="40000"/>
                      <a:alpha val="0"/>
                    </a:schemeClr>
                  </a:gs>
                  <a:gs pos="70000">
                    <a:schemeClr val="accent5">
                      <a:lumMod val="60000"/>
                      <a:lumOff val="40000"/>
                    </a:schemeClr>
                  </a:gs>
                  <a:gs pos="100000">
                    <a:schemeClr val="accent5">
                      <a:lumMod val="60000"/>
                      <a:lumOff val="40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微软雅黑" panose="020B0503020204020204" charset="-122"/>
              </a:endParaRPr>
            </a:p>
          </p:txBody>
        </p:sp>
        <p:sp>
          <p:nvSpPr>
            <p:cNvPr id="20" name="显眼包PPT3-2"/>
            <p:cNvSpPr/>
            <p:nvPr/>
          </p:nvSpPr>
          <p:spPr>
            <a:xfrm>
              <a:off x="8134" y="13751"/>
              <a:ext cx="3008" cy="124"/>
            </a:xfrm>
            <a:prstGeom prst="ellipse">
              <a:avLst/>
            </a:prstGeom>
            <a:gradFill>
              <a:gsLst>
                <a:gs pos="0">
                  <a:schemeClr val="bg1">
                    <a:alpha val="0"/>
                  </a:schemeClr>
                </a:gs>
                <a:gs pos="99000">
                  <a:schemeClr val="bg1">
                    <a:alpha val="70000"/>
                  </a:schemeClr>
                </a:gs>
              </a:gsLst>
              <a:lin ang="54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cs typeface="微软雅黑" panose="020B0503020204020204" charset="-122"/>
              </a:endParaRPr>
            </a:p>
          </p:txBody>
        </p:sp>
        <p:sp>
          <p:nvSpPr>
            <p:cNvPr id="21" name="显眼包PPT3-3"/>
            <p:cNvSpPr/>
            <p:nvPr/>
          </p:nvSpPr>
          <p:spPr>
            <a:xfrm>
              <a:off x="7729" y="13195"/>
              <a:ext cx="3604" cy="742"/>
            </a:xfrm>
            <a:custGeom>
              <a:avLst/>
              <a:gdLst>
                <a:gd name="connsiteX0" fmla="*/ 547526 w 1793073"/>
                <a:gd name="connsiteY0" fmla="*/ 1518900 h 1535988"/>
                <a:gd name="connsiteX1" fmla="*/ 547565 w 1793073"/>
                <a:gd name="connsiteY1" fmla="*/ 1518904 h 1535988"/>
                <a:gd name="connsiteX2" fmla="*/ 896538 w 1793073"/>
                <a:gd name="connsiteY2" fmla="*/ 1535988 h 1535988"/>
                <a:gd name="connsiteX3" fmla="*/ 896536 w 1793073"/>
                <a:gd name="connsiteY3" fmla="*/ 1535988 h 1535988"/>
                <a:gd name="connsiteX4" fmla="*/ 547563 w 1793073"/>
                <a:gd name="connsiteY4" fmla="*/ 1518904 h 1535988"/>
                <a:gd name="connsiteX5" fmla="*/ 410383 w 1793073"/>
                <a:gd name="connsiteY5" fmla="*/ 1500850 h 1535988"/>
                <a:gd name="connsiteX6" fmla="*/ 547526 w 1793073"/>
                <a:gd name="connsiteY6" fmla="*/ 1518900 h 1535988"/>
                <a:gd name="connsiteX7" fmla="*/ 431651 w 1793073"/>
                <a:gd name="connsiteY7" fmla="*/ 1504516 h 1535988"/>
                <a:gd name="connsiteX8" fmla="*/ 373009 w 1793073"/>
                <a:gd name="connsiteY8" fmla="*/ 1494407 h 1535988"/>
                <a:gd name="connsiteX9" fmla="*/ 410383 w 1793073"/>
                <a:gd name="connsiteY9" fmla="*/ 1500850 h 1535988"/>
                <a:gd name="connsiteX10" fmla="*/ 395274 w 1793073"/>
                <a:gd name="connsiteY10" fmla="*/ 1498861 h 1535988"/>
                <a:gd name="connsiteX11" fmla="*/ 284671 w 1793073"/>
                <a:gd name="connsiteY11" fmla="*/ 1476733 h 1535988"/>
                <a:gd name="connsiteX12" fmla="*/ 373009 w 1793073"/>
                <a:gd name="connsiteY12" fmla="*/ 1494407 h 1535988"/>
                <a:gd name="connsiteX13" fmla="*/ 326257 w 1793073"/>
                <a:gd name="connsiteY13" fmla="*/ 1486347 h 1535988"/>
                <a:gd name="connsiteX14" fmla="*/ 251635 w 1793073"/>
                <a:gd name="connsiteY14" fmla="*/ 1469096 h 1535988"/>
                <a:gd name="connsiteX15" fmla="*/ 284671 w 1793073"/>
                <a:gd name="connsiteY15" fmla="*/ 1476733 h 1535988"/>
                <a:gd name="connsiteX16" fmla="*/ 262589 w 1793073"/>
                <a:gd name="connsiteY16" fmla="*/ 1472316 h 1535988"/>
                <a:gd name="connsiteX17" fmla="*/ 78869 w 1793073"/>
                <a:gd name="connsiteY17" fmla="*/ 1406974 h 1535988"/>
                <a:gd name="connsiteX18" fmla="*/ 153114 w 1793073"/>
                <a:gd name="connsiteY18" fmla="*/ 1440142 h 1535988"/>
                <a:gd name="connsiteX19" fmla="*/ 251635 w 1793073"/>
                <a:gd name="connsiteY19" fmla="*/ 1469096 h 1535988"/>
                <a:gd name="connsiteX20" fmla="*/ 232904 w 1793073"/>
                <a:gd name="connsiteY20" fmla="*/ 1464766 h 1535988"/>
                <a:gd name="connsiteX21" fmla="*/ 88408 w 1793073"/>
                <a:gd name="connsiteY21" fmla="*/ 1412845 h 1535988"/>
                <a:gd name="connsiteX22" fmla="*/ 61889 w 1793073"/>
                <a:gd name="connsiteY22" fmla="*/ 1396524 h 1535988"/>
                <a:gd name="connsiteX23" fmla="*/ 78869 w 1793073"/>
                <a:gd name="connsiteY23" fmla="*/ 1406974 h 1535988"/>
                <a:gd name="connsiteX24" fmla="*/ 70454 w 1793073"/>
                <a:gd name="connsiteY24" fmla="*/ 1403215 h 1535988"/>
                <a:gd name="connsiteX25" fmla="*/ 27108 w 1793073"/>
                <a:gd name="connsiteY25" fmla="*/ 1369355 h 1535988"/>
                <a:gd name="connsiteX26" fmla="*/ 61889 w 1793073"/>
                <a:gd name="connsiteY26" fmla="*/ 1396524 h 1535988"/>
                <a:gd name="connsiteX27" fmla="*/ 40307 w 1793073"/>
                <a:gd name="connsiteY27" fmla="*/ 1383242 h 1535988"/>
                <a:gd name="connsiteX28" fmla="*/ 13724 w 1793073"/>
                <a:gd name="connsiteY28" fmla="*/ 1355273 h 1535988"/>
                <a:gd name="connsiteX29" fmla="*/ 27108 w 1793073"/>
                <a:gd name="connsiteY29" fmla="*/ 1369355 h 1535988"/>
                <a:gd name="connsiteX30" fmla="*/ 18214 w 1793073"/>
                <a:gd name="connsiteY30" fmla="*/ 1362408 h 1535988"/>
                <a:gd name="connsiteX31" fmla="*/ 9203 w 1793073"/>
                <a:gd name="connsiteY31" fmla="*/ 1348091 h 1535988"/>
                <a:gd name="connsiteX32" fmla="*/ 13724 w 1793073"/>
                <a:gd name="connsiteY32" fmla="*/ 1355273 h 1535988"/>
                <a:gd name="connsiteX33" fmla="*/ 10330 w 1793073"/>
                <a:gd name="connsiteY33" fmla="*/ 1351703 h 1535988"/>
                <a:gd name="connsiteX34" fmla="*/ 0 w 1793073"/>
                <a:gd name="connsiteY34" fmla="*/ 1318596 h 1535988"/>
                <a:gd name="connsiteX35" fmla="*/ 9203 w 1793073"/>
                <a:gd name="connsiteY35" fmla="*/ 1348091 h 1535988"/>
                <a:gd name="connsiteX36" fmla="*/ 4629 w 1793073"/>
                <a:gd name="connsiteY36" fmla="*/ 1340823 h 1535988"/>
                <a:gd name="connsiteX37" fmla="*/ 0 w 1793073"/>
                <a:gd name="connsiteY37" fmla="*/ 1318596 h 1535988"/>
                <a:gd name="connsiteX38" fmla="*/ 1167 w 1793073"/>
                <a:gd name="connsiteY38" fmla="*/ 1312994 h 1535988"/>
                <a:gd name="connsiteX39" fmla="*/ 2328 w 1793073"/>
                <a:gd name="connsiteY39" fmla="*/ 1312994 h 1535988"/>
                <a:gd name="connsiteX40" fmla="*/ 0 w 1793073"/>
                <a:gd name="connsiteY40" fmla="*/ 1318596 h 1535988"/>
                <a:gd name="connsiteX41" fmla="*/ 0 w 1793073"/>
                <a:gd name="connsiteY41" fmla="*/ 0 h 1535988"/>
                <a:gd name="connsiteX42" fmla="*/ 1793073 w 1793073"/>
                <a:gd name="connsiteY42" fmla="*/ 0 h 1535988"/>
                <a:gd name="connsiteX43" fmla="*/ 1793073 w 1793073"/>
                <a:gd name="connsiteY43" fmla="*/ 267653 h 1535988"/>
                <a:gd name="connsiteX44" fmla="*/ 1793073 w 1793073"/>
                <a:gd name="connsiteY44" fmla="*/ 405747 h 1535988"/>
                <a:gd name="connsiteX45" fmla="*/ 1793073 w 1793073"/>
                <a:gd name="connsiteY45" fmla="*/ 535304 h 1535988"/>
                <a:gd name="connsiteX46" fmla="*/ 1793073 w 1793073"/>
                <a:gd name="connsiteY46" fmla="*/ 673400 h 1535988"/>
                <a:gd name="connsiteX47" fmla="*/ 1793073 w 1793073"/>
                <a:gd name="connsiteY47" fmla="*/ 907247 h 1535988"/>
                <a:gd name="connsiteX48" fmla="*/ 1793073 w 1793073"/>
                <a:gd name="connsiteY48" fmla="*/ 941051 h 1535988"/>
                <a:gd name="connsiteX49" fmla="*/ 1793073 w 1793073"/>
                <a:gd name="connsiteY49" fmla="*/ 1312994 h 1535988"/>
                <a:gd name="connsiteX50" fmla="*/ 1790747 w 1793073"/>
                <a:gd name="connsiteY50" fmla="*/ 1312994 h 1535988"/>
                <a:gd name="connsiteX51" fmla="*/ 1774862 w 1793073"/>
                <a:gd name="connsiteY51" fmla="*/ 1274784 h 1535988"/>
                <a:gd name="connsiteX52" fmla="*/ 896538 w 1793073"/>
                <a:gd name="connsiteY52" fmla="*/ 1101203 h 1535988"/>
                <a:gd name="connsiteX53" fmla="*/ 715854 w 1793073"/>
                <a:gd name="connsiteY53" fmla="*/ 1105620 h 1535988"/>
                <a:gd name="connsiteX54" fmla="*/ 588857 w 1793073"/>
                <a:gd name="connsiteY54" fmla="*/ 1115179 h 1535988"/>
                <a:gd name="connsiteX55" fmla="*/ 896538 w 1793073"/>
                <a:gd name="connsiteY55" fmla="*/ 1130241 h 1535988"/>
                <a:gd name="connsiteX56" fmla="*/ 896536 w 1793073"/>
                <a:gd name="connsiteY56" fmla="*/ 1130241 h 1535988"/>
                <a:gd name="connsiteX57" fmla="*/ 715852 w 1793073"/>
                <a:gd name="connsiteY57" fmla="*/ 1125825 h 1535988"/>
                <a:gd name="connsiteX58" fmla="*/ 581638 w 1793073"/>
                <a:gd name="connsiteY58" fmla="*/ 1115722 h 1535988"/>
                <a:gd name="connsiteX59" fmla="*/ 547565 w 1793073"/>
                <a:gd name="connsiteY59" fmla="*/ 1118287 h 1535988"/>
                <a:gd name="connsiteX60" fmla="*/ 4629 w 1793073"/>
                <a:gd name="connsiteY60" fmla="*/ 1296368 h 1535988"/>
                <a:gd name="connsiteX61" fmla="*/ 1167 w 1793073"/>
                <a:gd name="connsiteY61" fmla="*/ 1312994 h 1535988"/>
                <a:gd name="connsiteX62" fmla="*/ 0 w 1793073"/>
                <a:gd name="connsiteY62" fmla="*/ 1312994 h 1535988"/>
                <a:gd name="connsiteX63" fmla="*/ 0 w 1793073"/>
                <a:gd name="connsiteY63" fmla="*/ 941051 h 1535988"/>
                <a:gd name="connsiteX64" fmla="*/ 0 w 1793073"/>
                <a:gd name="connsiteY64" fmla="*/ 912849 h 1535988"/>
                <a:gd name="connsiteX65" fmla="*/ 0 w 1793073"/>
                <a:gd name="connsiteY65" fmla="*/ 907247 h 1535988"/>
                <a:gd name="connsiteX66" fmla="*/ 0 w 1793073"/>
                <a:gd name="connsiteY66" fmla="*/ 673400 h 1535988"/>
                <a:gd name="connsiteX67" fmla="*/ 0 w 1793073"/>
                <a:gd name="connsiteY67" fmla="*/ 535304 h 1535988"/>
                <a:gd name="connsiteX68" fmla="*/ 0 w 1793073"/>
                <a:gd name="connsiteY68" fmla="*/ 405747 h 1535988"/>
                <a:gd name="connsiteX69" fmla="*/ 0 w 1793073"/>
                <a:gd name="connsiteY69" fmla="*/ 267653 h 1535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793073" h="1535988">
                  <a:moveTo>
                    <a:pt x="547526" y="1518900"/>
                  </a:moveTo>
                  <a:lnTo>
                    <a:pt x="547565" y="1518904"/>
                  </a:lnTo>
                  <a:lnTo>
                    <a:pt x="896538" y="1535988"/>
                  </a:lnTo>
                  <a:lnTo>
                    <a:pt x="896536" y="1535988"/>
                  </a:lnTo>
                  <a:cubicBezTo>
                    <a:pt x="772750" y="1535988"/>
                    <a:pt x="654823" y="1529905"/>
                    <a:pt x="547563" y="1518904"/>
                  </a:cubicBezTo>
                  <a:close/>
                  <a:moveTo>
                    <a:pt x="410383" y="1500850"/>
                  </a:moveTo>
                  <a:lnTo>
                    <a:pt x="547526" y="1518900"/>
                  </a:lnTo>
                  <a:lnTo>
                    <a:pt x="431651" y="1504516"/>
                  </a:lnTo>
                  <a:close/>
                  <a:moveTo>
                    <a:pt x="373009" y="1494407"/>
                  </a:moveTo>
                  <a:lnTo>
                    <a:pt x="410383" y="1500850"/>
                  </a:lnTo>
                  <a:lnTo>
                    <a:pt x="395274" y="1498861"/>
                  </a:lnTo>
                  <a:close/>
                  <a:moveTo>
                    <a:pt x="284671" y="1476733"/>
                  </a:moveTo>
                  <a:lnTo>
                    <a:pt x="373009" y="1494407"/>
                  </a:lnTo>
                  <a:lnTo>
                    <a:pt x="326257" y="1486347"/>
                  </a:lnTo>
                  <a:close/>
                  <a:moveTo>
                    <a:pt x="251635" y="1469096"/>
                  </a:moveTo>
                  <a:lnTo>
                    <a:pt x="284671" y="1476733"/>
                  </a:lnTo>
                  <a:lnTo>
                    <a:pt x="262589" y="1472316"/>
                  </a:lnTo>
                  <a:close/>
                  <a:moveTo>
                    <a:pt x="78869" y="1406974"/>
                  </a:moveTo>
                  <a:lnTo>
                    <a:pt x="153114" y="1440142"/>
                  </a:lnTo>
                  <a:lnTo>
                    <a:pt x="251635" y="1469096"/>
                  </a:lnTo>
                  <a:lnTo>
                    <a:pt x="232904" y="1464766"/>
                  </a:lnTo>
                  <a:cubicBezTo>
                    <a:pt x="175021" y="1449324"/>
                    <a:pt x="126180" y="1431853"/>
                    <a:pt x="88408" y="1412845"/>
                  </a:cubicBezTo>
                  <a:close/>
                  <a:moveTo>
                    <a:pt x="61889" y="1396524"/>
                  </a:moveTo>
                  <a:lnTo>
                    <a:pt x="78869" y="1406974"/>
                  </a:lnTo>
                  <a:lnTo>
                    <a:pt x="70454" y="1403215"/>
                  </a:lnTo>
                  <a:close/>
                  <a:moveTo>
                    <a:pt x="27108" y="1369355"/>
                  </a:moveTo>
                  <a:lnTo>
                    <a:pt x="61889" y="1396524"/>
                  </a:lnTo>
                  <a:lnTo>
                    <a:pt x="40307" y="1383242"/>
                  </a:lnTo>
                  <a:close/>
                  <a:moveTo>
                    <a:pt x="13724" y="1355273"/>
                  </a:moveTo>
                  <a:lnTo>
                    <a:pt x="27108" y="1369355"/>
                  </a:lnTo>
                  <a:lnTo>
                    <a:pt x="18214" y="1362408"/>
                  </a:lnTo>
                  <a:close/>
                  <a:moveTo>
                    <a:pt x="9203" y="1348091"/>
                  </a:moveTo>
                  <a:lnTo>
                    <a:pt x="13724" y="1355273"/>
                  </a:lnTo>
                  <a:lnTo>
                    <a:pt x="10330" y="1351703"/>
                  </a:lnTo>
                  <a:close/>
                  <a:moveTo>
                    <a:pt x="0" y="1318596"/>
                  </a:moveTo>
                  <a:lnTo>
                    <a:pt x="9203" y="1348091"/>
                  </a:lnTo>
                  <a:lnTo>
                    <a:pt x="4629" y="1340823"/>
                  </a:lnTo>
                  <a:cubicBezTo>
                    <a:pt x="1568" y="1333515"/>
                    <a:pt x="0" y="1326100"/>
                    <a:pt x="0" y="1318596"/>
                  </a:cubicBezTo>
                  <a:close/>
                  <a:moveTo>
                    <a:pt x="1167" y="1312994"/>
                  </a:moveTo>
                  <a:lnTo>
                    <a:pt x="2328" y="1312994"/>
                  </a:lnTo>
                  <a:lnTo>
                    <a:pt x="0" y="1318596"/>
                  </a:lnTo>
                  <a:close/>
                  <a:moveTo>
                    <a:pt x="0" y="0"/>
                  </a:moveTo>
                  <a:lnTo>
                    <a:pt x="1793073" y="0"/>
                  </a:lnTo>
                  <a:lnTo>
                    <a:pt x="1793073" y="267653"/>
                  </a:lnTo>
                  <a:lnTo>
                    <a:pt x="1793073" y="405747"/>
                  </a:lnTo>
                  <a:lnTo>
                    <a:pt x="1793073" y="535304"/>
                  </a:lnTo>
                  <a:lnTo>
                    <a:pt x="1793073" y="673400"/>
                  </a:lnTo>
                  <a:lnTo>
                    <a:pt x="1793073" y="907247"/>
                  </a:lnTo>
                  <a:lnTo>
                    <a:pt x="1793073" y="941051"/>
                  </a:lnTo>
                  <a:lnTo>
                    <a:pt x="1793073" y="1312994"/>
                  </a:lnTo>
                  <a:lnTo>
                    <a:pt x="1790747" y="1312994"/>
                  </a:lnTo>
                  <a:lnTo>
                    <a:pt x="1774862" y="1274784"/>
                  </a:lnTo>
                  <a:cubicBezTo>
                    <a:pt x="1691262" y="1175721"/>
                    <a:pt x="1329787" y="1101203"/>
                    <a:pt x="896538" y="1101203"/>
                  </a:cubicBezTo>
                  <a:cubicBezTo>
                    <a:pt x="834645" y="1101203"/>
                    <a:pt x="774217" y="1102724"/>
                    <a:pt x="715854" y="1105620"/>
                  </a:cubicBezTo>
                  <a:lnTo>
                    <a:pt x="588857" y="1115179"/>
                  </a:lnTo>
                  <a:lnTo>
                    <a:pt x="896538" y="1130241"/>
                  </a:lnTo>
                  <a:lnTo>
                    <a:pt x="896536" y="1130241"/>
                  </a:lnTo>
                  <a:cubicBezTo>
                    <a:pt x="834643" y="1130241"/>
                    <a:pt x="774215" y="1128720"/>
                    <a:pt x="715852" y="1125825"/>
                  </a:cubicBezTo>
                  <a:lnTo>
                    <a:pt x="581638" y="1115722"/>
                  </a:lnTo>
                  <a:lnTo>
                    <a:pt x="547565" y="1118287"/>
                  </a:lnTo>
                  <a:cubicBezTo>
                    <a:pt x="252599" y="1148539"/>
                    <a:pt x="38297" y="1215979"/>
                    <a:pt x="4629" y="1296368"/>
                  </a:cubicBezTo>
                  <a:lnTo>
                    <a:pt x="1167" y="1312994"/>
                  </a:lnTo>
                  <a:lnTo>
                    <a:pt x="0" y="1312994"/>
                  </a:lnTo>
                  <a:lnTo>
                    <a:pt x="0" y="941051"/>
                  </a:lnTo>
                  <a:lnTo>
                    <a:pt x="0" y="912849"/>
                  </a:lnTo>
                  <a:lnTo>
                    <a:pt x="0" y="907247"/>
                  </a:lnTo>
                  <a:lnTo>
                    <a:pt x="0" y="673400"/>
                  </a:lnTo>
                  <a:lnTo>
                    <a:pt x="0" y="535304"/>
                  </a:lnTo>
                  <a:lnTo>
                    <a:pt x="0" y="405747"/>
                  </a:lnTo>
                  <a:lnTo>
                    <a:pt x="0" y="267653"/>
                  </a:lnTo>
                  <a:close/>
                </a:path>
              </a:pathLst>
            </a:custGeom>
            <a:gradFill flip="none" rotWithShape="1">
              <a:gsLst>
                <a:gs pos="100000">
                  <a:schemeClr val="accent5">
                    <a:lumMod val="60000"/>
                    <a:lumOff val="40000"/>
                    <a:alpha val="45000"/>
                  </a:schemeClr>
                </a:gs>
                <a:gs pos="22000">
                  <a:schemeClr val="accent5">
                    <a:lumMod val="60000"/>
                    <a:lumOff val="40000"/>
                    <a:alpha val="0"/>
                  </a:schemeClr>
                </a:gs>
              </a:gsLst>
              <a:lin ang="54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600">
                <a:cs typeface="微软雅黑" panose="020B0503020204020204" charset="-122"/>
              </a:endParaRPr>
            </a:p>
          </p:txBody>
        </p:sp>
      </p:grpSp>
      <p:sp>
        <p:nvSpPr>
          <p:cNvPr id="231" name="矩形: 圆角 501"/>
          <p:cNvSpPr/>
          <p:nvPr/>
        </p:nvSpPr>
        <p:spPr>
          <a:xfrm>
            <a:off x="502920" y="6245225"/>
            <a:ext cx="11520805" cy="439420"/>
          </a:xfrm>
          <a:prstGeom prst="roundRect">
            <a:avLst>
              <a:gd name="adj" fmla="val 5940"/>
            </a:avLst>
          </a:prstGeom>
          <a:gradFill flip="none" rotWithShape="1">
            <a:gsLst>
              <a:gs pos="0">
                <a:schemeClr val="accent1">
                  <a:lumMod val="60000"/>
                  <a:lumOff val="40000"/>
                </a:schemeClr>
              </a:gs>
              <a:gs pos="54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400" dirty="0">
              <a:solidFill>
                <a:srgbClr val="FFFFFF"/>
              </a:solidFill>
              <a:latin typeface="+mj-ea"/>
              <a:ea typeface="+mj-ea"/>
              <a:cs typeface="微软雅黑" panose="020B0503020204020204" charset="-122"/>
              <a:sym typeface="+mn-ea"/>
            </a:endParaRPr>
          </a:p>
        </p:txBody>
      </p:sp>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构建</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全链路新零售平台</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2" name="图片 1" descr="黑暗里有星球&#10;&#10;描述已自动生成"/>
          <p:cNvPicPr>
            <a:picLocks noChangeAspect="1"/>
          </p:cNvPicPr>
          <p:nvPr/>
        </p:nvPicPr>
        <p:blipFill rotWithShape="1">
          <a:blip r:embed="rId1">
            <a:extLst>
              <a:ext uri="{BEBA8EAE-BF5A-486C-A8C5-ECC9F3942E4B}">
                <a14:imgProps xmlns:a14="http://schemas.microsoft.com/office/drawing/2010/main">
                  <a14:imgLayer r:embed="rId2">
                    <a14:imgEffect>
                      <a14:brightnessContrast bright="20000" contrast="-20000"/>
                    </a14:imgEffect>
                    <a14:imgEffect>
                      <a14:colorTemperature colorTemp="11200"/>
                    </a14:imgEffect>
                    <a14:imgEffect>
                      <a14:saturation sat="400000"/>
                    </a14:imgEffect>
                  </a14:imgLayer>
                </a14:imgProps>
              </a:ext>
              <a:ext uri="{28A0092B-C50C-407E-A947-70E740481C1C}">
                <a14:useLocalDpi xmlns:a14="http://schemas.microsoft.com/office/drawing/2010/main" val="0"/>
              </a:ext>
            </a:extLst>
          </a:blip>
          <a:srcRect l="2555" t="51641" r="4381" b="25101"/>
          <a:stretch>
            <a:fillRect/>
          </a:stretch>
        </p:blipFill>
        <p:spPr>
          <a:xfrm>
            <a:off x="4505326" y="3700212"/>
            <a:ext cx="3038474" cy="215139"/>
          </a:xfrm>
          <a:prstGeom prst="rect">
            <a:avLst/>
          </a:prstGeom>
          <a:effectLst>
            <a:softEdge rad="114300"/>
          </a:effectLst>
        </p:spPr>
      </p:pic>
      <p:sp>
        <p:nvSpPr>
          <p:cNvPr id="94" name="等腰三角形 93"/>
          <p:cNvSpPr/>
          <p:nvPr/>
        </p:nvSpPr>
        <p:spPr>
          <a:xfrm>
            <a:off x="3903345" y="3950335"/>
            <a:ext cx="4504690" cy="1917700"/>
          </a:xfrm>
          <a:prstGeom prst="triangle">
            <a:avLst/>
          </a:prstGeom>
          <a:gradFill flip="none" rotWithShape="1">
            <a:gsLst>
              <a:gs pos="0">
                <a:schemeClr val="accent1">
                  <a:lumMod val="60000"/>
                  <a:lumOff val="40000"/>
                  <a:alpha val="7000"/>
                </a:schemeClr>
              </a:gs>
              <a:gs pos="97345">
                <a:schemeClr val="accent1">
                  <a:lumMod val="60000"/>
                  <a:lumOff val="40000"/>
                  <a:alpha val="0"/>
                </a:schemeClr>
              </a:gs>
              <a:gs pos="83000">
                <a:schemeClr val="accent1">
                  <a:lumMod val="60000"/>
                  <a:lumOff val="40000"/>
                  <a:alpha val="3000"/>
                </a:schemeClr>
              </a:gs>
              <a:gs pos="41000">
                <a:schemeClr val="accent1">
                  <a:lumMod val="60000"/>
                  <a:lumOff val="40000"/>
                  <a:alpha val="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sz="1600" noProof="0" dirty="0">
              <a:ln>
                <a:noFill/>
              </a:ln>
              <a:solidFill>
                <a:schemeClr val="accent1">
                  <a:lumMod val="50000"/>
                  <a:alpha val="77000"/>
                </a:schemeClr>
              </a:solidFill>
              <a:effectLst/>
              <a:uLnTx/>
              <a:uFillTx/>
              <a:latin typeface="微软雅黑" panose="020B0503020204020204" charset="-122"/>
              <a:ea typeface="微软雅黑" panose="020B0503020204020204" charset="-122"/>
              <a:cs typeface="+mn-ea"/>
              <a:sym typeface="+mn-lt"/>
            </a:endParaRPr>
          </a:p>
        </p:txBody>
      </p:sp>
      <p:sp>
        <p:nvSpPr>
          <p:cNvPr id="43" name="椭圆 42"/>
          <p:cNvSpPr/>
          <p:nvPr/>
        </p:nvSpPr>
        <p:spPr>
          <a:xfrm>
            <a:off x="4084320" y="5622925"/>
            <a:ext cx="4089400" cy="275590"/>
          </a:xfrm>
          <a:prstGeom prst="ellipse">
            <a:avLst/>
          </a:prstGeom>
          <a:gradFill flip="none" rotWithShape="1">
            <a:gsLst>
              <a:gs pos="0">
                <a:schemeClr val="accent1">
                  <a:lumMod val="60000"/>
                  <a:lumOff val="40000"/>
                  <a:alpha val="50000"/>
                </a:schemeClr>
              </a:gs>
              <a:gs pos="100000">
                <a:schemeClr val="accent1">
                  <a:lumMod val="60000"/>
                  <a:lumOff val="40000"/>
                  <a:alpha val="0"/>
                </a:schemeClr>
              </a:gs>
            </a:gsLst>
            <a:lin ang="16200000" scaled="1"/>
            <a:tileRect/>
          </a:gradFill>
          <a:ln w="6350">
            <a:gradFill flip="none" rotWithShape="1">
              <a:gsLst>
                <a:gs pos="100000">
                  <a:schemeClr val="accent1">
                    <a:lumMod val="60000"/>
                    <a:lumOff val="40000"/>
                    <a:alpha val="0"/>
                  </a:schemeClr>
                </a:gs>
                <a:gs pos="0">
                  <a:schemeClr val="accent1">
                    <a:lumMod val="60000"/>
                    <a:lumOff val="4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877570">
              <a:spcBef>
                <a:spcPts val="0"/>
              </a:spcBef>
              <a:spcAft>
                <a:spcPts val="0"/>
              </a:spcAft>
              <a:buClrTx/>
              <a:buSzTx/>
              <a:buFontTx/>
              <a:defRPr/>
            </a:pPr>
            <a:endParaRPr lang="zh-CN" altLang="en-US" sz="1600" noProof="0">
              <a:ln>
                <a:noFill/>
              </a:ln>
              <a:solidFill>
                <a:schemeClr val="accent1">
                  <a:lumMod val="50000"/>
                  <a:alpha val="77000"/>
                </a:schemeClr>
              </a:solidFill>
              <a:effectLst/>
              <a:uLnTx/>
              <a:uFillTx/>
              <a:latin typeface="微软雅黑" panose="020B0503020204020204" charset="-122"/>
              <a:ea typeface="微软雅黑" panose="020B0503020204020204" charset="-122"/>
              <a:cs typeface="+mn-ea"/>
              <a:sym typeface="+mn-lt"/>
            </a:endParaRPr>
          </a:p>
        </p:txBody>
      </p:sp>
      <p:sp>
        <p:nvSpPr>
          <p:cNvPr id="47" name="椭圆 46"/>
          <p:cNvSpPr/>
          <p:nvPr/>
        </p:nvSpPr>
        <p:spPr>
          <a:xfrm>
            <a:off x="4733925" y="5010785"/>
            <a:ext cx="2790190" cy="275590"/>
          </a:xfrm>
          <a:prstGeom prst="ellipse">
            <a:avLst/>
          </a:prstGeom>
          <a:gradFill flip="none" rotWithShape="1">
            <a:gsLst>
              <a:gs pos="0">
                <a:schemeClr val="accent1">
                  <a:lumMod val="60000"/>
                  <a:lumOff val="40000"/>
                  <a:alpha val="50000"/>
                </a:schemeClr>
              </a:gs>
              <a:gs pos="100000">
                <a:schemeClr val="accent1">
                  <a:lumMod val="60000"/>
                  <a:lumOff val="40000"/>
                  <a:alpha val="0"/>
                </a:schemeClr>
              </a:gs>
            </a:gsLst>
            <a:lin ang="16200000" scaled="1"/>
            <a:tileRect/>
          </a:gradFill>
          <a:ln w="6350">
            <a:gradFill flip="none" rotWithShape="1">
              <a:gsLst>
                <a:gs pos="100000">
                  <a:schemeClr val="accent1">
                    <a:lumMod val="60000"/>
                    <a:lumOff val="40000"/>
                    <a:alpha val="0"/>
                  </a:schemeClr>
                </a:gs>
                <a:gs pos="0">
                  <a:schemeClr val="accent1">
                    <a:lumMod val="60000"/>
                    <a:lumOff val="4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877570">
              <a:spcBef>
                <a:spcPts val="0"/>
              </a:spcBef>
              <a:spcAft>
                <a:spcPts val="0"/>
              </a:spcAft>
              <a:buClrTx/>
              <a:buSzTx/>
              <a:buFontTx/>
              <a:defRPr/>
            </a:pPr>
            <a:endParaRPr lang="zh-CN" altLang="en-US" sz="1600" noProof="0">
              <a:ln>
                <a:noFill/>
              </a:ln>
              <a:solidFill>
                <a:schemeClr val="accent1">
                  <a:lumMod val="50000"/>
                  <a:alpha val="77000"/>
                </a:schemeClr>
              </a:solidFill>
              <a:effectLst/>
              <a:uLnTx/>
              <a:uFillTx/>
              <a:latin typeface="微软雅黑" panose="020B0503020204020204" charset="-122"/>
              <a:ea typeface="微软雅黑" panose="020B0503020204020204" charset="-122"/>
              <a:cs typeface="+mn-ea"/>
              <a:sym typeface="+mn-lt"/>
            </a:endParaRPr>
          </a:p>
        </p:txBody>
      </p:sp>
      <p:sp>
        <p:nvSpPr>
          <p:cNvPr id="50" name="椭圆 49"/>
          <p:cNvSpPr/>
          <p:nvPr/>
        </p:nvSpPr>
        <p:spPr>
          <a:xfrm>
            <a:off x="5347335" y="4579620"/>
            <a:ext cx="1563370" cy="123190"/>
          </a:xfrm>
          <a:prstGeom prst="ellipse">
            <a:avLst/>
          </a:prstGeom>
          <a:gradFill flip="none" rotWithShape="1">
            <a:gsLst>
              <a:gs pos="0">
                <a:schemeClr val="accent1">
                  <a:lumMod val="60000"/>
                  <a:lumOff val="40000"/>
                  <a:alpha val="50000"/>
                </a:schemeClr>
              </a:gs>
              <a:gs pos="100000">
                <a:schemeClr val="accent1">
                  <a:lumMod val="60000"/>
                  <a:lumOff val="40000"/>
                  <a:alpha val="0"/>
                </a:schemeClr>
              </a:gs>
            </a:gsLst>
            <a:lin ang="16200000" scaled="1"/>
            <a:tileRect/>
          </a:gradFill>
          <a:ln w="6350">
            <a:gradFill flip="none" rotWithShape="1">
              <a:gsLst>
                <a:gs pos="100000">
                  <a:schemeClr val="accent1">
                    <a:lumMod val="60000"/>
                    <a:lumOff val="40000"/>
                    <a:alpha val="0"/>
                  </a:schemeClr>
                </a:gs>
                <a:gs pos="0">
                  <a:schemeClr val="accent1">
                    <a:lumMod val="60000"/>
                    <a:lumOff val="4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877570">
              <a:spcBef>
                <a:spcPts val="0"/>
              </a:spcBef>
              <a:spcAft>
                <a:spcPts val="0"/>
              </a:spcAft>
              <a:buClrTx/>
              <a:buSzTx/>
              <a:buFontTx/>
              <a:defRPr/>
            </a:pPr>
            <a:endParaRPr lang="zh-CN" altLang="en-US" sz="1600" noProof="0">
              <a:ln>
                <a:noFill/>
              </a:ln>
              <a:solidFill>
                <a:schemeClr val="accent1">
                  <a:lumMod val="50000"/>
                  <a:alpha val="77000"/>
                </a:schemeClr>
              </a:solidFill>
              <a:effectLst/>
              <a:uLnTx/>
              <a:uFillTx/>
              <a:latin typeface="微软雅黑" panose="020B0503020204020204" charset="-122"/>
              <a:ea typeface="微软雅黑" panose="020B0503020204020204" charset="-122"/>
              <a:cs typeface="+mn-ea"/>
              <a:sym typeface="+mn-lt"/>
            </a:endParaRPr>
          </a:p>
        </p:txBody>
      </p:sp>
      <p:sp>
        <p:nvSpPr>
          <p:cNvPr id="51" name="文本框 50"/>
          <p:cNvSpPr txBox="1"/>
          <p:nvPr/>
        </p:nvSpPr>
        <p:spPr>
          <a:xfrm>
            <a:off x="5110480" y="4380230"/>
            <a:ext cx="1981835" cy="275590"/>
          </a:xfrm>
          <a:prstGeom prst="rect">
            <a:avLst/>
          </a:prstGeom>
          <a:noFill/>
        </p:spPr>
        <p:txBody>
          <a:bodyPr wrap="square" rtlCol="0">
            <a:spAutoFit/>
          </a:bodyPr>
          <a:lstStyle/>
          <a:p>
            <a:pPr algn="ctr"/>
            <a:r>
              <a:rPr lang="zh-CN" altLang="en-US" sz="1200" dirty="0">
                <a:solidFill>
                  <a:schemeClr val="tx2"/>
                </a:solidFill>
                <a:effectLst>
                  <a:reflection blurRad="76200" stA="44000" endPos="45500" dist="25400" dir="5400000" sy="-100000" algn="bl" rotWithShape="0"/>
                </a:effectLst>
                <a:latin typeface="微软雅黑" panose="020B0503020204020204" charset="-122"/>
                <a:ea typeface="微软雅黑" panose="020B0503020204020204" charset="-122"/>
                <a:cs typeface="微软雅黑" panose="020B0503020204020204" charset="-122"/>
              </a:rPr>
              <a:t>会员中心</a:t>
            </a:r>
            <a:endParaRPr lang="zh-CN" altLang="en-US" sz="1200" dirty="0">
              <a:solidFill>
                <a:schemeClr val="tx2"/>
              </a:solidFill>
              <a:effectLst>
                <a:reflection blurRad="76200" stA="44000" endPos="45500" dist="25400" dir="5400000" sy="-100000" algn="bl" rotWithShape="0"/>
              </a:effectLst>
              <a:latin typeface="微软雅黑" panose="020B0503020204020204" charset="-122"/>
              <a:ea typeface="微软雅黑" panose="020B0503020204020204" charset="-122"/>
              <a:cs typeface="微软雅黑" panose="020B0503020204020204" charset="-122"/>
            </a:endParaRPr>
          </a:p>
        </p:txBody>
      </p:sp>
      <p:sp>
        <p:nvSpPr>
          <p:cNvPr id="52" name="文本框 51"/>
          <p:cNvSpPr txBox="1"/>
          <p:nvPr/>
        </p:nvSpPr>
        <p:spPr>
          <a:xfrm>
            <a:off x="5104765" y="4930140"/>
            <a:ext cx="1981835" cy="275590"/>
          </a:xfrm>
          <a:prstGeom prst="rect">
            <a:avLst/>
          </a:prstGeom>
          <a:noFill/>
        </p:spPr>
        <p:txBody>
          <a:bodyPr wrap="square" rtlCol="0">
            <a:spAutoFit/>
          </a:bodyPr>
          <a:lstStyle/>
          <a:p>
            <a:pPr algn="ctr"/>
            <a:r>
              <a:rPr lang="zh-CN" altLang="en-US" sz="1200" dirty="0">
                <a:solidFill>
                  <a:schemeClr val="tx2"/>
                </a:solidFill>
                <a:effectLst>
                  <a:reflection blurRad="76200" stA="44000" endPos="45500" dist="25400" dir="5400000" sy="-100000" algn="bl" rotWithShape="0"/>
                </a:effectLst>
                <a:latin typeface="微软雅黑" panose="020B0503020204020204" charset="-122"/>
                <a:ea typeface="微软雅黑" panose="020B0503020204020204" charset="-122"/>
                <a:cs typeface="微软雅黑" panose="020B0503020204020204" charset="-122"/>
              </a:rPr>
              <a:t>营销中心</a:t>
            </a:r>
            <a:endParaRPr lang="zh-CN" altLang="en-US" sz="1200" dirty="0">
              <a:solidFill>
                <a:schemeClr val="tx2"/>
              </a:solidFill>
              <a:effectLst>
                <a:reflection blurRad="76200" stA="44000" endPos="45500" dist="25400" dir="5400000" sy="-100000" algn="bl" rotWithShape="0"/>
              </a:effectLst>
              <a:latin typeface="微软雅黑" panose="020B0503020204020204" charset="-122"/>
              <a:ea typeface="微软雅黑" panose="020B0503020204020204" charset="-122"/>
              <a:cs typeface="微软雅黑" panose="020B0503020204020204" charset="-122"/>
            </a:endParaRPr>
          </a:p>
        </p:txBody>
      </p:sp>
      <p:sp>
        <p:nvSpPr>
          <p:cNvPr id="53" name="文本框 52"/>
          <p:cNvSpPr txBox="1"/>
          <p:nvPr/>
        </p:nvSpPr>
        <p:spPr>
          <a:xfrm>
            <a:off x="5099050" y="5479415"/>
            <a:ext cx="1981835" cy="275590"/>
          </a:xfrm>
          <a:prstGeom prst="rect">
            <a:avLst/>
          </a:prstGeom>
          <a:noFill/>
        </p:spPr>
        <p:txBody>
          <a:bodyPr wrap="square" rtlCol="0">
            <a:spAutoFit/>
          </a:bodyPr>
          <a:lstStyle/>
          <a:p>
            <a:pPr algn="ctr"/>
            <a:r>
              <a:rPr lang="zh-CN" altLang="en-US" sz="1200" dirty="0">
                <a:solidFill>
                  <a:schemeClr val="tx2"/>
                </a:solidFill>
                <a:effectLst>
                  <a:reflection blurRad="76200" stA="44000" endPos="45500" dist="25400" dir="5400000" sy="-100000" algn="bl" rotWithShape="0"/>
                </a:effectLst>
                <a:latin typeface="微软雅黑" panose="020B0503020204020204" charset="-122"/>
                <a:ea typeface="微软雅黑" panose="020B0503020204020204" charset="-122"/>
                <a:cs typeface="微软雅黑" panose="020B0503020204020204" charset="-122"/>
              </a:rPr>
              <a:t>结算中心</a:t>
            </a:r>
            <a:endParaRPr lang="zh-CN" altLang="en-US" sz="1200" dirty="0">
              <a:solidFill>
                <a:schemeClr val="tx2"/>
              </a:solidFill>
              <a:effectLst>
                <a:reflection blurRad="76200" stA="44000" endPos="45500" dist="25400" dir="5400000" sy="-100000" algn="bl" rotWithShape="0"/>
              </a:effectLst>
              <a:latin typeface="微软雅黑" panose="020B0503020204020204" charset="-122"/>
              <a:ea typeface="微软雅黑" panose="020B0503020204020204" charset="-122"/>
              <a:cs typeface="微软雅黑" panose="020B0503020204020204" charset="-122"/>
            </a:endParaRPr>
          </a:p>
        </p:txBody>
      </p:sp>
      <p:sp>
        <p:nvSpPr>
          <p:cNvPr id="55" name="椭圆 54"/>
          <p:cNvSpPr/>
          <p:nvPr/>
        </p:nvSpPr>
        <p:spPr>
          <a:xfrm flipV="1">
            <a:off x="4053840" y="1916430"/>
            <a:ext cx="4089400" cy="275590"/>
          </a:xfrm>
          <a:prstGeom prst="ellipse">
            <a:avLst/>
          </a:prstGeom>
          <a:gradFill flip="none" rotWithShape="1">
            <a:gsLst>
              <a:gs pos="99000">
                <a:schemeClr val="accent1">
                  <a:lumMod val="60000"/>
                  <a:lumOff val="40000"/>
                  <a:alpha val="50000"/>
                </a:schemeClr>
              </a:gs>
              <a:gs pos="0">
                <a:schemeClr val="accent1">
                  <a:lumMod val="60000"/>
                  <a:lumOff val="40000"/>
                  <a:alpha val="0"/>
                </a:schemeClr>
              </a:gs>
            </a:gsLst>
            <a:lin ang="16200000" scaled="1"/>
            <a:tileRect/>
          </a:gradFill>
          <a:ln w="6350">
            <a:gradFill flip="none" rotWithShape="1">
              <a:gsLst>
                <a:gs pos="0">
                  <a:schemeClr val="accent1">
                    <a:lumMod val="60000"/>
                    <a:lumOff val="40000"/>
                    <a:alpha val="0"/>
                  </a:schemeClr>
                </a:gs>
                <a:gs pos="100000">
                  <a:schemeClr val="accent1">
                    <a:lumMod val="60000"/>
                    <a:lumOff val="4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7757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accent1">
                  <a:lumMod val="50000"/>
                  <a:alpha val="77000"/>
                </a:schemeClr>
              </a:solidFill>
              <a:effectLst/>
              <a:uLnTx/>
              <a:uFillTx/>
              <a:latin typeface="微软雅黑" panose="020B0503020204020204" charset="-122"/>
              <a:ea typeface="微软雅黑" panose="020B0503020204020204" charset="-122"/>
              <a:cs typeface="+mn-ea"/>
              <a:sym typeface="+mn-lt"/>
            </a:endParaRPr>
          </a:p>
        </p:txBody>
      </p:sp>
      <p:sp>
        <p:nvSpPr>
          <p:cNvPr id="56" name="椭圆 55"/>
          <p:cNvSpPr/>
          <p:nvPr/>
        </p:nvSpPr>
        <p:spPr>
          <a:xfrm flipV="1">
            <a:off x="4703445" y="2527935"/>
            <a:ext cx="2790190" cy="275590"/>
          </a:xfrm>
          <a:prstGeom prst="ellipse">
            <a:avLst/>
          </a:prstGeom>
          <a:gradFill flip="none" rotWithShape="1">
            <a:gsLst>
              <a:gs pos="99000">
                <a:schemeClr val="accent1">
                  <a:lumMod val="60000"/>
                  <a:lumOff val="40000"/>
                  <a:alpha val="50000"/>
                </a:schemeClr>
              </a:gs>
              <a:gs pos="0">
                <a:schemeClr val="accent1">
                  <a:lumMod val="60000"/>
                  <a:lumOff val="40000"/>
                  <a:alpha val="0"/>
                </a:schemeClr>
              </a:gs>
            </a:gsLst>
            <a:lin ang="16200000" scaled="1"/>
            <a:tileRect/>
          </a:gradFill>
          <a:ln w="6350">
            <a:gradFill flip="none" rotWithShape="1">
              <a:gsLst>
                <a:gs pos="0">
                  <a:schemeClr val="accent1">
                    <a:lumMod val="60000"/>
                    <a:lumOff val="40000"/>
                    <a:alpha val="0"/>
                  </a:schemeClr>
                </a:gs>
                <a:gs pos="100000">
                  <a:schemeClr val="accent1">
                    <a:lumMod val="60000"/>
                    <a:lumOff val="4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877570">
              <a:spcBef>
                <a:spcPts val="0"/>
              </a:spcBef>
              <a:spcAft>
                <a:spcPts val="0"/>
              </a:spcAft>
              <a:buClrTx/>
              <a:buSzTx/>
              <a:buFontTx/>
              <a:defRPr/>
            </a:pPr>
            <a:endParaRPr lang="zh-CN" altLang="en-US" sz="1600" noProof="0">
              <a:ln>
                <a:noFill/>
              </a:ln>
              <a:solidFill>
                <a:schemeClr val="accent1">
                  <a:lumMod val="50000"/>
                  <a:alpha val="77000"/>
                </a:schemeClr>
              </a:solidFill>
              <a:effectLst/>
              <a:uLnTx/>
              <a:uFillTx/>
              <a:latin typeface="微软雅黑" panose="020B0503020204020204" charset="-122"/>
              <a:ea typeface="微软雅黑" panose="020B0503020204020204" charset="-122"/>
              <a:cs typeface="+mn-ea"/>
              <a:sym typeface="+mn-lt"/>
            </a:endParaRPr>
          </a:p>
        </p:txBody>
      </p:sp>
      <p:sp>
        <p:nvSpPr>
          <p:cNvPr id="57" name="椭圆 56"/>
          <p:cNvSpPr/>
          <p:nvPr/>
        </p:nvSpPr>
        <p:spPr>
          <a:xfrm flipV="1">
            <a:off x="5316855" y="3112135"/>
            <a:ext cx="1563370" cy="123190"/>
          </a:xfrm>
          <a:prstGeom prst="ellipse">
            <a:avLst/>
          </a:prstGeom>
          <a:gradFill flip="none" rotWithShape="1">
            <a:gsLst>
              <a:gs pos="99000">
                <a:schemeClr val="accent1">
                  <a:lumMod val="60000"/>
                  <a:lumOff val="40000"/>
                  <a:alpha val="50000"/>
                </a:schemeClr>
              </a:gs>
              <a:gs pos="0">
                <a:schemeClr val="accent1">
                  <a:lumMod val="60000"/>
                  <a:lumOff val="40000"/>
                  <a:alpha val="0"/>
                </a:schemeClr>
              </a:gs>
            </a:gsLst>
            <a:lin ang="16200000" scaled="1"/>
            <a:tileRect/>
          </a:gradFill>
          <a:ln w="6350">
            <a:gradFill flip="none" rotWithShape="1">
              <a:gsLst>
                <a:gs pos="0">
                  <a:schemeClr val="accent1">
                    <a:lumMod val="60000"/>
                    <a:lumOff val="40000"/>
                    <a:alpha val="0"/>
                  </a:schemeClr>
                </a:gs>
                <a:gs pos="100000">
                  <a:schemeClr val="accent1">
                    <a:lumMod val="60000"/>
                    <a:lumOff val="40000"/>
                  </a:schemeClr>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877570">
              <a:spcBef>
                <a:spcPts val="0"/>
              </a:spcBef>
              <a:spcAft>
                <a:spcPts val="0"/>
              </a:spcAft>
              <a:buClrTx/>
              <a:buSzTx/>
              <a:buFontTx/>
              <a:defRPr/>
            </a:pPr>
            <a:endParaRPr lang="zh-CN" altLang="en-US" sz="1600" noProof="0">
              <a:ln>
                <a:noFill/>
              </a:ln>
              <a:solidFill>
                <a:schemeClr val="accent1">
                  <a:lumMod val="50000"/>
                  <a:alpha val="77000"/>
                </a:schemeClr>
              </a:solidFill>
              <a:effectLst/>
              <a:uLnTx/>
              <a:uFillTx/>
              <a:latin typeface="微软雅黑" panose="020B0503020204020204" charset="-122"/>
              <a:ea typeface="微软雅黑" panose="020B0503020204020204" charset="-122"/>
              <a:cs typeface="+mn-ea"/>
              <a:sym typeface="+mn-lt"/>
            </a:endParaRPr>
          </a:p>
        </p:txBody>
      </p:sp>
      <p:sp>
        <p:nvSpPr>
          <p:cNvPr id="75" name="等腰三角形 74"/>
          <p:cNvSpPr/>
          <p:nvPr/>
        </p:nvSpPr>
        <p:spPr>
          <a:xfrm flipV="1">
            <a:off x="3862705" y="1936115"/>
            <a:ext cx="4504690" cy="1917700"/>
          </a:xfrm>
          <a:prstGeom prst="triangle">
            <a:avLst/>
          </a:prstGeom>
          <a:gradFill flip="none" rotWithShape="1">
            <a:gsLst>
              <a:gs pos="0">
                <a:schemeClr val="accent1">
                  <a:lumMod val="60000"/>
                  <a:lumOff val="40000"/>
                  <a:alpha val="7000"/>
                </a:schemeClr>
              </a:gs>
              <a:gs pos="97345">
                <a:schemeClr val="accent1">
                  <a:lumMod val="60000"/>
                  <a:lumOff val="40000"/>
                  <a:alpha val="0"/>
                </a:schemeClr>
              </a:gs>
              <a:gs pos="83000">
                <a:schemeClr val="accent1">
                  <a:lumMod val="60000"/>
                  <a:lumOff val="40000"/>
                  <a:alpha val="3000"/>
                </a:schemeClr>
              </a:gs>
              <a:gs pos="41000">
                <a:schemeClr val="accent1">
                  <a:lumMod val="60000"/>
                  <a:lumOff val="40000"/>
                  <a:alpha val="1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sz="1600" noProof="0" dirty="0">
              <a:ln>
                <a:noFill/>
              </a:ln>
              <a:solidFill>
                <a:schemeClr val="accent1">
                  <a:lumMod val="50000"/>
                  <a:alpha val="77000"/>
                </a:schemeClr>
              </a:solidFill>
              <a:effectLst/>
              <a:uLnTx/>
              <a:uFillTx/>
              <a:latin typeface="微软雅黑" panose="020B0503020204020204" charset="-122"/>
              <a:ea typeface="微软雅黑" panose="020B0503020204020204" charset="-122"/>
              <a:cs typeface="+mn-ea"/>
              <a:sym typeface="+mn-lt"/>
            </a:endParaRPr>
          </a:p>
        </p:txBody>
      </p:sp>
      <p:sp>
        <p:nvSpPr>
          <p:cNvPr id="73" name="文本框 72"/>
          <p:cNvSpPr txBox="1"/>
          <p:nvPr/>
        </p:nvSpPr>
        <p:spPr>
          <a:xfrm>
            <a:off x="5124133" y="1922145"/>
            <a:ext cx="1981835" cy="275590"/>
          </a:xfrm>
          <a:prstGeom prst="rect">
            <a:avLst/>
          </a:prstGeom>
          <a:noFill/>
        </p:spPr>
        <p:txBody>
          <a:bodyPr wrap="square" rtlCol="0">
            <a:spAutoFit/>
          </a:bodyPr>
          <a:lstStyle/>
          <a:p>
            <a:pPr algn="ctr"/>
            <a:r>
              <a:rPr lang="zh-CN" altLang="en-US" sz="1200" dirty="0">
                <a:solidFill>
                  <a:schemeClr val="tx2"/>
                </a:solidFill>
                <a:effectLst>
                  <a:reflection blurRad="76200" stA="44000" endPos="45500" dist="25400" dir="5400000" sy="-100000" algn="bl" rotWithShape="0"/>
                </a:effectLst>
                <a:latin typeface="微软雅黑" panose="020B0503020204020204" charset="-122"/>
                <a:ea typeface="微软雅黑" panose="020B0503020204020204" charset="-122"/>
                <a:cs typeface="微软雅黑" panose="020B0503020204020204" charset="-122"/>
              </a:rPr>
              <a:t>订单中心</a:t>
            </a:r>
            <a:endParaRPr lang="zh-CN" altLang="en-US" sz="1200" dirty="0">
              <a:solidFill>
                <a:schemeClr val="tx2"/>
              </a:solidFill>
              <a:effectLst>
                <a:reflection blurRad="76200" stA="44000" endPos="45500" dist="25400" dir="5400000" sy="-100000" algn="bl" rotWithShape="0"/>
              </a:effectLst>
              <a:latin typeface="微软雅黑" panose="020B0503020204020204" charset="-122"/>
              <a:ea typeface="微软雅黑" panose="020B0503020204020204" charset="-122"/>
              <a:cs typeface="微软雅黑" panose="020B0503020204020204" charset="-122"/>
            </a:endParaRPr>
          </a:p>
        </p:txBody>
      </p:sp>
      <p:sp>
        <p:nvSpPr>
          <p:cNvPr id="82" name="文本框 81"/>
          <p:cNvSpPr txBox="1"/>
          <p:nvPr/>
        </p:nvSpPr>
        <p:spPr>
          <a:xfrm>
            <a:off x="5165090" y="2510155"/>
            <a:ext cx="1981835" cy="275590"/>
          </a:xfrm>
          <a:prstGeom prst="rect">
            <a:avLst/>
          </a:prstGeom>
          <a:noFill/>
        </p:spPr>
        <p:txBody>
          <a:bodyPr wrap="square" rtlCol="0">
            <a:spAutoFit/>
          </a:bodyPr>
          <a:lstStyle/>
          <a:p>
            <a:pPr algn="ctr"/>
            <a:r>
              <a:rPr lang="zh-CN" altLang="en-US" sz="1200" dirty="0">
                <a:solidFill>
                  <a:schemeClr val="tx2"/>
                </a:solidFill>
                <a:effectLst>
                  <a:reflection blurRad="76200" stA="44000" endPos="45500" dist="25400" dir="5400000" sy="-100000" algn="bl" rotWithShape="0"/>
                </a:effectLst>
                <a:latin typeface="微软雅黑" panose="020B0503020204020204" charset="-122"/>
                <a:ea typeface="微软雅黑" panose="020B0503020204020204" charset="-122"/>
                <a:cs typeface="微软雅黑" panose="020B0503020204020204" charset="-122"/>
              </a:rPr>
              <a:t>商品中心</a:t>
            </a:r>
            <a:endParaRPr lang="zh-CN" altLang="en-US" sz="1200" dirty="0">
              <a:solidFill>
                <a:schemeClr val="tx2"/>
              </a:solidFill>
              <a:effectLst>
                <a:reflection blurRad="76200" stA="44000" endPos="45500" dist="25400" dir="5400000" sy="-100000" algn="bl" rotWithShape="0"/>
              </a:effectLst>
              <a:latin typeface="微软雅黑" panose="020B0503020204020204" charset="-122"/>
              <a:ea typeface="微软雅黑" panose="020B0503020204020204" charset="-122"/>
              <a:cs typeface="微软雅黑" panose="020B0503020204020204" charset="-122"/>
            </a:endParaRPr>
          </a:p>
        </p:txBody>
      </p:sp>
      <p:sp>
        <p:nvSpPr>
          <p:cNvPr id="86" name="文本框 85"/>
          <p:cNvSpPr txBox="1"/>
          <p:nvPr/>
        </p:nvSpPr>
        <p:spPr>
          <a:xfrm>
            <a:off x="5165090" y="2936875"/>
            <a:ext cx="1981835" cy="275590"/>
          </a:xfrm>
          <a:prstGeom prst="rect">
            <a:avLst/>
          </a:prstGeom>
          <a:noFill/>
        </p:spPr>
        <p:txBody>
          <a:bodyPr wrap="square" rtlCol="0">
            <a:spAutoFit/>
          </a:bodyPr>
          <a:lstStyle/>
          <a:p>
            <a:pPr algn="ctr"/>
            <a:r>
              <a:rPr lang="zh-CN" altLang="en-US" sz="1200" dirty="0">
                <a:solidFill>
                  <a:schemeClr val="tx2"/>
                </a:solidFill>
                <a:effectLst>
                  <a:reflection blurRad="76200" stA="44000" endPos="45500" dist="25400" dir="5400000" sy="-100000" algn="bl" rotWithShape="0"/>
                </a:effectLst>
                <a:latin typeface="微软雅黑" panose="020B0503020204020204" charset="-122"/>
                <a:ea typeface="微软雅黑" panose="020B0503020204020204" charset="-122"/>
                <a:cs typeface="微软雅黑" panose="020B0503020204020204" charset="-122"/>
              </a:rPr>
              <a:t>库存中心</a:t>
            </a:r>
            <a:endParaRPr lang="zh-CN" altLang="en-US" sz="1200" dirty="0">
              <a:solidFill>
                <a:schemeClr val="tx2"/>
              </a:solidFill>
              <a:effectLst>
                <a:reflection blurRad="76200" stA="44000" endPos="45500" dist="25400" dir="5400000" sy="-100000" algn="bl" rotWithShape="0"/>
              </a:effectLst>
              <a:latin typeface="微软雅黑" panose="020B0503020204020204" charset="-122"/>
              <a:ea typeface="微软雅黑" panose="020B0503020204020204" charset="-122"/>
              <a:cs typeface="微软雅黑" panose="020B0503020204020204" charset="-122"/>
            </a:endParaRPr>
          </a:p>
        </p:txBody>
      </p:sp>
      <p:sp>
        <p:nvSpPr>
          <p:cNvPr id="165" name="任意多边形: 形状 53"/>
          <p:cNvSpPr/>
          <p:nvPr/>
        </p:nvSpPr>
        <p:spPr>
          <a:xfrm rot="5154039" flipH="1" flipV="1">
            <a:off x="8049895" y="2818130"/>
            <a:ext cx="3360420" cy="1775460"/>
          </a:xfrm>
          <a:custGeom>
            <a:avLst/>
            <a:gdLst>
              <a:gd name="connsiteX0" fmla="*/ 3360558 w 3360558"/>
              <a:gd name="connsiteY0" fmla="*/ 519446 h 1775370"/>
              <a:gd name="connsiteX1" fmla="*/ 3192201 w 3360558"/>
              <a:gd name="connsiteY1" fmla="*/ 213714 h 1775370"/>
              <a:gd name="connsiteX2" fmla="*/ 2944385 w 3360558"/>
              <a:gd name="connsiteY2" fmla="*/ 459484 h 1775370"/>
              <a:gd name="connsiteX3" fmla="*/ 3009405 w 3360558"/>
              <a:gd name="connsiteY3" fmla="*/ 468852 h 1775370"/>
              <a:gd name="connsiteX4" fmla="*/ 2954684 w 3360558"/>
              <a:gd name="connsiteY4" fmla="*/ 662970 h 1775370"/>
              <a:gd name="connsiteX5" fmla="*/ 1600554 w 3360558"/>
              <a:gd name="connsiteY5" fmla="*/ 1527183 h 1775370"/>
              <a:gd name="connsiteX6" fmla="*/ 371156 w 3360558"/>
              <a:gd name="connsiteY6" fmla="*/ 493206 h 1775370"/>
              <a:gd name="connsiteX7" fmla="*/ 340139 w 3360558"/>
              <a:gd name="connsiteY7" fmla="*/ 278598 h 1775370"/>
              <a:gd name="connsiteX8" fmla="*/ 420471 w 3360558"/>
              <a:gd name="connsiteY8" fmla="*/ 278598 h 1775370"/>
              <a:gd name="connsiteX9" fmla="*/ 210236 w 3360558"/>
              <a:gd name="connsiteY9" fmla="*/ 0 h 1775370"/>
              <a:gd name="connsiteX10" fmla="*/ 0 w 3360558"/>
              <a:gd name="connsiteY10" fmla="*/ 278598 h 1775370"/>
              <a:gd name="connsiteX11" fmla="*/ 93432 w 3360558"/>
              <a:gd name="connsiteY11" fmla="*/ 278598 h 1775370"/>
              <a:gd name="connsiteX12" fmla="*/ 132795 w 3360558"/>
              <a:gd name="connsiteY12" fmla="*/ 550956 h 1775370"/>
              <a:gd name="connsiteX13" fmla="*/ 1584476 w 3360558"/>
              <a:gd name="connsiteY13" fmla="*/ 1771881 h 1775370"/>
              <a:gd name="connsiteX14" fmla="*/ 3183440 w 3360558"/>
              <a:gd name="connsiteY14" fmla="*/ 751414 h 1775370"/>
              <a:gd name="connsiteX15" fmla="*/ 3253191 w 3360558"/>
              <a:gd name="connsiteY15" fmla="*/ 503976 h 1775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60558" h="1775370">
                <a:moveTo>
                  <a:pt x="3360558" y="519446"/>
                </a:moveTo>
                <a:lnTo>
                  <a:pt x="3192201" y="213714"/>
                </a:lnTo>
                <a:lnTo>
                  <a:pt x="2944385" y="459484"/>
                </a:lnTo>
                <a:lnTo>
                  <a:pt x="3009405" y="468852"/>
                </a:lnTo>
                <a:lnTo>
                  <a:pt x="2954684" y="662970"/>
                </a:lnTo>
                <a:cubicBezTo>
                  <a:pt x="2744812" y="1206935"/>
                  <a:pt x="2201411" y="1566665"/>
                  <a:pt x="1600554" y="1527183"/>
                </a:cubicBezTo>
                <a:cubicBezTo>
                  <a:pt x="999698" y="1487701"/>
                  <a:pt x="508043" y="1059956"/>
                  <a:pt x="371156" y="493206"/>
                </a:cubicBezTo>
                <a:lnTo>
                  <a:pt x="340139" y="278598"/>
                </a:lnTo>
                <a:lnTo>
                  <a:pt x="420471" y="278598"/>
                </a:lnTo>
                <a:lnTo>
                  <a:pt x="210236" y="0"/>
                </a:lnTo>
                <a:lnTo>
                  <a:pt x="0" y="278598"/>
                </a:lnTo>
                <a:lnTo>
                  <a:pt x="93432" y="278598"/>
                </a:lnTo>
                <a:lnTo>
                  <a:pt x="132795" y="550956"/>
                </a:lnTo>
                <a:cubicBezTo>
                  <a:pt x="294432" y="1220177"/>
                  <a:pt x="874980" y="1725261"/>
                  <a:pt x="1584476" y="1771881"/>
                </a:cubicBezTo>
                <a:cubicBezTo>
                  <a:pt x="2293971" y="1818503"/>
                  <a:pt x="2935620" y="1393730"/>
                  <a:pt x="3183440" y="751414"/>
                </a:cubicBezTo>
                <a:lnTo>
                  <a:pt x="3253191" y="503976"/>
                </a:lnTo>
                <a:close/>
              </a:path>
            </a:pathLst>
          </a:custGeom>
          <a:gradFill flip="none" rotWithShape="1">
            <a:gsLst>
              <a:gs pos="7000">
                <a:schemeClr val="accent5">
                  <a:lumMod val="60000"/>
                  <a:lumOff val="40000"/>
                </a:schemeClr>
              </a:gs>
              <a:gs pos="56000">
                <a:schemeClr val="accent5">
                  <a:lumMod val="60000"/>
                  <a:lumOff val="40000"/>
                  <a:alpha val="0"/>
                </a:schemeClr>
              </a:gs>
              <a:gs pos="39000">
                <a:schemeClr val="accent5">
                  <a:lumMod val="60000"/>
                  <a:lumOff val="40000"/>
                  <a:alpha val="0"/>
                </a:schemeClr>
              </a:gs>
              <a:gs pos="93000">
                <a:schemeClr val="accent5">
                  <a:lumMod val="60000"/>
                  <a:lumOff val="4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66" name="椭圆 165"/>
          <p:cNvSpPr/>
          <p:nvPr/>
        </p:nvSpPr>
        <p:spPr>
          <a:xfrm flipH="1">
            <a:off x="10010140" y="3296920"/>
            <a:ext cx="855980" cy="855980"/>
          </a:xfrm>
          <a:prstGeom prst="ellipse">
            <a:avLst/>
          </a:prstGeom>
          <a:solidFill>
            <a:schemeClr val="bg1"/>
          </a:solidFill>
          <a:ln>
            <a:gradFill>
              <a:gsLst>
                <a:gs pos="100000">
                  <a:schemeClr val="accent5"/>
                </a:gs>
                <a:gs pos="0">
                  <a:schemeClr val="accent5">
                    <a:lumMod val="60000"/>
                    <a:lumOff val="40000"/>
                  </a:schemeClr>
                </a:gs>
              </a:gsLst>
              <a:lin ang="16200000" scaled="1"/>
            </a:gradFill>
          </a:ln>
          <a:effectLst>
            <a:outerShdw blurRad="50800" dist="38100" dir="2700000" algn="tl" rotWithShape="0">
              <a:srgbClr val="76A4F5">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b="1" noProof="0" dirty="0">
                <a:ln>
                  <a:noFill/>
                </a:ln>
                <a:gradFill>
                  <a:gsLst>
                    <a:gs pos="0">
                      <a:schemeClr val="accent5">
                        <a:lumMod val="60000"/>
                        <a:lumOff val="40000"/>
                      </a:schemeClr>
                    </a:gs>
                    <a:gs pos="100000">
                      <a:schemeClr val="accent5"/>
                    </a:gs>
                  </a:gsLst>
                  <a:lin ang="5400000" scaled="0"/>
                </a:gradFill>
                <a:effectLst/>
                <a:uLnTx/>
                <a:uFillTx/>
                <a:latin typeface="微软雅黑" panose="020B0503020204020204" charset="-122"/>
                <a:ea typeface="微软雅黑" panose="020B0503020204020204" charset="-122"/>
                <a:cs typeface="微软雅黑" panose="020B0503020204020204" charset="-122"/>
                <a:sym typeface="+mn-ea"/>
              </a:rPr>
              <a:t>分销</a:t>
            </a:r>
            <a:endParaRPr lang="zh-CN" altLang="en-US" b="1" noProof="0" dirty="0">
              <a:ln>
                <a:noFill/>
              </a:ln>
              <a:gradFill>
                <a:gsLst>
                  <a:gs pos="0">
                    <a:schemeClr val="accent5">
                      <a:lumMod val="60000"/>
                      <a:lumOff val="40000"/>
                    </a:schemeClr>
                  </a:gs>
                  <a:gs pos="100000">
                    <a:schemeClr val="accent5"/>
                  </a:gs>
                </a:gsLst>
                <a:lin ang="5400000" scaled="0"/>
              </a:gra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67" name="矩形: 圆角 55"/>
          <p:cNvSpPr/>
          <p:nvPr/>
        </p:nvSpPr>
        <p:spPr>
          <a:xfrm rot="17830045">
            <a:off x="10537825" y="4333875"/>
            <a:ext cx="525780" cy="458470"/>
          </a:xfrm>
          <a:prstGeom prst="roundRect">
            <a:avLst>
              <a:gd name="adj" fmla="val 12312"/>
            </a:avLst>
          </a:prstGeom>
          <a:solidFill>
            <a:schemeClr val="accent5">
              <a:lumMod val="20000"/>
              <a:lumOff val="80000"/>
              <a:alpha val="20000"/>
            </a:schemeClr>
          </a:solidFill>
          <a:ln>
            <a:solidFill>
              <a:schemeClr val="accent5">
                <a:lumMod val="60000"/>
                <a:lumOff val="4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rPr>
              <a:t>营销工具</a:t>
            </a:r>
            <a:endPar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68" name="矩形: 圆角 56"/>
          <p:cNvSpPr/>
          <p:nvPr/>
        </p:nvSpPr>
        <p:spPr>
          <a:xfrm rot="18787140">
            <a:off x="10144125" y="4871085"/>
            <a:ext cx="525780" cy="458470"/>
          </a:xfrm>
          <a:prstGeom prst="roundRect">
            <a:avLst>
              <a:gd name="adj" fmla="val 12312"/>
            </a:avLst>
          </a:prstGeom>
          <a:solidFill>
            <a:schemeClr val="accent5">
              <a:lumMod val="20000"/>
              <a:lumOff val="80000"/>
              <a:alpha val="20000"/>
            </a:schemeClr>
          </a:solidFill>
          <a:ln>
            <a:solidFill>
              <a:schemeClr val="accent5">
                <a:lumMod val="60000"/>
                <a:lumOff val="4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rPr>
              <a:t>增值服务</a:t>
            </a:r>
            <a:endPar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70" name="矩形: 圆角 60"/>
          <p:cNvSpPr/>
          <p:nvPr/>
        </p:nvSpPr>
        <p:spPr>
          <a:xfrm rot="1281494">
            <a:off x="9465945" y="1764665"/>
            <a:ext cx="525780" cy="458470"/>
          </a:xfrm>
          <a:prstGeom prst="roundRect">
            <a:avLst>
              <a:gd name="adj" fmla="val 12312"/>
            </a:avLst>
          </a:prstGeom>
          <a:solidFill>
            <a:schemeClr val="accent5">
              <a:lumMod val="20000"/>
              <a:lumOff val="80000"/>
              <a:alpha val="20000"/>
            </a:schemeClr>
          </a:solidFill>
          <a:ln>
            <a:solidFill>
              <a:schemeClr val="accent5">
                <a:lumMod val="60000"/>
                <a:lumOff val="4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rPr>
              <a:t>商家管理</a:t>
            </a:r>
            <a:endPar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71" name="矩形: 圆角 61"/>
          <p:cNvSpPr/>
          <p:nvPr/>
        </p:nvSpPr>
        <p:spPr>
          <a:xfrm rot="2464246">
            <a:off x="10094595" y="2105660"/>
            <a:ext cx="525780" cy="458470"/>
          </a:xfrm>
          <a:prstGeom prst="roundRect">
            <a:avLst>
              <a:gd name="adj" fmla="val 12312"/>
            </a:avLst>
          </a:prstGeom>
          <a:solidFill>
            <a:schemeClr val="accent5">
              <a:lumMod val="20000"/>
              <a:lumOff val="80000"/>
              <a:alpha val="20000"/>
            </a:schemeClr>
          </a:solidFill>
          <a:ln>
            <a:solidFill>
              <a:schemeClr val="accent5">
                <a:lumMod val="60000"/>
                <a:lumOff val="4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rPr>
              <a:t>授信管理</a:t>
            </a:r>
            <a:endPar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72" name="矩形: 圆角 62"/>
          <p:cNvSpPr/>
          <p:nvPr/>
        </p:nvSpPr>
        <p:spPr>
          <a:xfrm rot="4024972">
            <a:off x="10513695" y="2675890"/>
            <a:ext cx="525780" cy="458470"/>
          </a:xfrm>
          <a:prstGeom prst="roundRect">
            <a:avLst>
              <a:gd name="adj" fmla="val 12312"/>
            </a:avLst>
          </a:prstGeom>
          <a:solidFill>
            <a:schemeClr val="accent5">
              <a:lumMod val="20000"/>
              <a:lumOff val="80000"/>
              <a:alpha val="20000"/>
            </a:schemeClr>
          </a:solidFill>
          <a:ln>
            <a:solidFill>
              <a:schemeClr val="accent5">
                <a:lumMod val="60000"/>
                <a:lumOff val="4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rPr>
              <a:t>商品管理</a:t>
            </a:r>
            <a:endPar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74" name="箭头: 左右 64"/>
          <p:cNvSpPr/>
          <p:nvPr/>
        </p:nvSpPr>
        <p:spPr>
          <a:xfrm>
            <a:off x="8825230" y="3517265"/>
            <a:ext cx="727710" cy="414655"/>
          </a:xfrm>
          <a:prstGeom prst="leftRightArrow">
            <a:avLst>
              <a:gd name="adj1" fmla="val 62258"/>
              <a:gd name="adj2" fmla="val 41190"/>
            </a:avLst>
          </a:prstGeom>
          <a:gradFill flip="none" rotWithShape="1">
            <a:gsLst>
              <a:gs pos="0">
                <a:schemeClr val="accent5"/>
              </a:gs>
              <a:gs pos="100000">
                <a:schemeClr val="accent5">
                  <a:lumMod val="60000"/>
                  <a:lumOff val="4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94" name="任意多边形: 形状 39"/>
          <p:cNvSpPr/>
          <p:nvPr/>
        </p:nvSpPr>
        <p:spPr>
          <a:xfrm rot="16445961" flipV="1">
            <a:off x="338455" y="2700655"/>
            <a:ext cx="3778250" cy="1995805"/>
          </a:xfrm>
          <a:custGeom>
            <a:avLst/>
            <a:gdLst>
              <a:gd name="connsiteX0" fmla="*/ 3360558 w 3360558"/>
              <a:gd name="connsiteY0" fmla="*/ 519446 h 1775370"/>
              <a:gd name="connsiteX1" fmla="*/ 3192201 w 3360558"/>
              <a:gd name="connsiteY1" fmla="*/ 213714 h 1775370"/>
              <a:gd name="connsiteX2" fmla="*/ 2944385 w 3360558"/>
              <a:gd name="connsiteY2" fmla="*/ 459484 h 1775370"/>
              <a:gd name="connsiteX3" fmla="*/ 3009405 w 3360558"/>
              <a:gd name="connsiteY3" fmla="*/ 468852 h 1775370"/>
              <a:gd name="connsiteX4" fmla="*/ 2954684 w 3360558"/>
              <a:gd name="connsiteY4" fmla="*/ 662970 h 1775370"/>
              <a:gd name="connsiteX5" fmla="*/ 1600554 w 3360558"/>
              <a:gd name="connsiteY5" fmla="*/ 1527183 h 1775370"/>
              <a:gd name="connsiteX6" fmla="*/ 371156 w 3360558"/>
              <a:gd name="connsiteY6" fmla="*/ 493206 h 1775370"/>
              <a:gd name="connsiteX7" fmla="*/ 340139 w 3360558"/>
              <a:gd name="connsiteY7" fmla="*/ 278598 h 1775370"/>
              <a:gd name="connsiteX8" fmla="*/ 420471 w 3360558"/>
              <a:gd name="connsiteY8" fmla="*/ 278598 h 1775370"/>
              <a:gd name="connsiteX9" fmla="*/ 210236 w 3360558"/>
              <a:gd name="connsiteY9" fmla="*/ 0 h 1775370"/>
              <a:gd name="connsiteX10" fmla="*/ 0 w 3360558"/>
              <a:gd name="connsiteY10" fmla="*/ 278598 h 1775370"/>
              <a:gd name="connsiteX11" fmla="*/ 93432 w 3360558"/>
              <a:gd name="connsiteY11" fmla="*/ 278598 h 1775370"/>
              <a:gd name="connsiteX12" fmla="*/ 132795 w 3360558"/>
              <a:gd name="connsiteY12" fmla="*/ 550956 h 1775370"/>
              <a:gd name="connsiteX13" fmla="*/ 1584476 w 3360558"/>
              <a:gd name="connsiteY13" fmla="*/ 1771881 h 1775370"/>
              <a:gd name="connsiteX14" fmla="*/ 3183440 w 3360558"/>
              <a:gd name="connsiteY14" fmla="*/ 751414 h 1775370"/>
              <a:gd name="connsiteX15" fmla="*/ 3253191 w 3360558"/>
              <a:gd name="connsiteY15" fmla="*/ 503976 h 1775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360558" h="1775370">
                <a:moveTo>
                  <a:pt x="3360558" y="519446"/>
                </a:moveTo>
                <a:lnTo>
                  <a:pt x="3192201" y="213714"/>
                </a:lnTo>
                <a:lnTo>
                  <a:pt x="2944385" y="459484"/>
                </a:lnTo>
                <a:lnTo>
                  <a:pt x="3009405" y="468852"/>
                </a:lnTo>
                <a:lnTo>
                  <a:pt x="2954684" y="662970"/>
                </a:lnTo>
                <a:cubicBezTo>
                  <a:pt x="2744812" y="1206935"/>
                  <a:pt x="2201411" y="1566665"/>
                  <a:pt x="1600554" y="1527183"/>
                </a:cubicBezTo>
                <a:cubicBezTo>
                  <a:pt x="999698" y="1487701"/>
                  <a:pt x="508043" y="1059956"/>
                  <a:pt x="371156" y="493206"/>
                </a:cubicBezTo>
                <a:lnTo>
                  <a:pt x="340139" y="278598"/>
                </a:lnTo>
                <a:lnTo>
                  <a:pt x="420471" y="278598"/>
                </a:lnTo>
                <a:lnTo>
                  <a:pt x="210236" y="0"/>
                </a:lnTo>
                <a:lnTo>
                  <a:pt x="0" y="278598"/>
                </a:lnTo>
                <a:lnTo>
                  <a:pt x="93432" y="278598"/>
                </a:lnTo>
                <a:lnTo>
                  <a:pt x="132795" y="550956"/>
                </a:lnTo>
                <a:cubicBezTo>
                  <a:pt x="294432" y="1220177"/>
                  <a:pt x="874980" y="1725261"/>
                  <a:pt x="1584476" y="1771881"/>
                </a:cubicBezTo>
                <a:cubicBezTo>
                  <a:pt x="2293971" y="1818503"/>
                  <a:pt x="2935620" y="1393730"/>
                  <a:pt x="3183440" y="751414"/>
                </a:cubicBezTo>
                <a:lnTo>
                  <a:pt x="3253191" y="503976"/>
                </a:lnTo>
                <a:close/>
              </a:path>
            </a:pathLst>
          </a:custGeom>
          <a:gradFill flip="none" rotWithShape="1">
            <a:gsLst>
              <a:gs pos="7000">
                <a:schemeClr val="accent5">
                  <a:lumMod val="60000"/>
                  <a:lumOff val="40000"/>
                </a:schemeClr>
              </a:gs>
              <a:gs pos="56000">
                <a:schemeClr val="accent5">
                  <a:lumMod val="60000"/>
                  <a:lumOff val="40000"/>
                  <a:alpha val="0"/>
                </a:schemeClr>
              </a:gs>
              <a:gs pos="35000">
                <a:schemeClr val="accent5">
                  <a:lumMod val="60000"/>
                  <a:lumOff val="40000"/>
                  <a:alpha val="0"/>
                </a:schemeClr>
              </a:gs>
              <a:gs pos="86000">
                <a:schemeClr val="accent5">
                  <a:lumMod val="60000"/>
                  <a:lumOff val="4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95" name="椭圆 194"/>
          <p:cNvSpPr/>
          <p:nvPr/>
        </p:nvSpPr>
        <p:spPr>
          <a:xfrm>
            <a:off x="944245" y="3260090"/>
            <a:ext cx="962025" cy="962025"/>
          </a:xfrm>
          <a:prstGeom prst="ellipse">
            <a:avLst/>
          </a:prstGeom>
          <a:solidFill>
            <a:schemeClr val="bg1"/>
          </a:solidFill>
          <a:ln>
            <a:gradFill>
              <a:gsLst>
                <a:gs pos="100000">
                  <a:schemeClr val="accent5"/>
                </a:gs>
                <a:gs pos="0">
                  <a:schemeClr val="accent5">
                    <a:lumMod val="60000"/>
                    <a:lumOff val="40000"/>
                  </a:schemeClr>
                </a:gs>
              </a:gsLst>
              <a:lin ang="16200000" scaled="1"/>
            </a:gradFill>
          </a:ln>
          <a:effectLst>
            <a:outerShdw blurRad="50800" dist="38100" dir="2700000" algn="tl" rotWithShape="0">
              <a:srgbClr val="76A4F5">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gradFill>
                  <a:gsLst>
                    <a:gs pos="0">
                      <a:schemeClr val="accent5">
                        <a:lumMod val="60000"/>
                        <a:lumOff val="40000"/>
                      </a:schemeClr>
                    </a:gs>
                    <a:gs pos="100000">
                      <a:schemeClr val="accent5"/>
                    </a:gs>
                  </a:gsLst>
                  <a:lin ang="5400000" scaled="0"/>
                </a:gradFill>
                <a:effectLst/>
                <a:uLnTx/>
                <a:uFillTx/>
                <a:latin typeface="微软雅黑" panose="020B0503020204020204" charset="-122"/>
                <a:ea typeface="微软雅黑" panose="020B0503020204020204" charset="-122"/>
                <a:cs typeface="微软雅黑" panose="020B0503020204020204" charset="-122"/>
              </a:rPr>
              <a:t>直</a:t>
            </a:r>
            <a:endParaRPr kumimoji="0" lang="en-US" altLang="zh-CN" sz="1800" b="1" i="0" u="none" strike="noStrike" kern="1200" cap="none" spc="0" normalizeH="0" baseline="0" noProof="0" dirty="0">
              <a:ln>
                <a:noFill/>
              </a:ln>
              <a:gradFill>
                <a:gsLst>
                  <a:gs pos="0">
                    <a:schemeClr val="accent5">
                      <a:lumMod val="60000"/>
                      <a:lumOff val="40000"/>
                    </a:schemeClr>
                  </a:gs>
                  <a:gs pos="100000">
                    <a:schemeClr val="accent5"/>
                  </a:gs>
                </a:gsLst>
                <a:lin ang="5400000" scaled="0"/>
              </a:gra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gradFill>
                  <a:gsLst>
                    <a:gs pos="0">
                      <a:schemeClr val="accent5">
                        <a:lumMod val="60000"/>
                        <a:lumOff val="40000"/>
                      </a:schemeClr>
                    </a:gs>
                    <a:gs pos="100000">
                      <a:schemeClr val="accent5"/>
                    </a:gs>
                  </a:gsLst>
                  <a:lin ang="5400000" scaled="0"/>
                </a:gradFill>
                <a:effectLst/>
                <a:uLnTx/>
                <a:uFillTx/>
                <a:latin typeface="微软雅黑" panose="020B0503020204020204" charset="-122"/>
                <a:ea typeface="微软雅黑" panose="020B0503020204020204" charset="-122"/>
                <a:cs typeface="微软雅黑" panose="020B0503020204020204" charset="-122"/>
              </a:rPr>
              <a:t>销</a:t>
            </a:r>
            <a:endParaRPr kumimoji="0" lang="zh-CN" altLang="en-US" sz="1800" b="1" i="0" u="none" strike="noStrike" kern="1200" cap="none" spc="0" normalizeH="0" baseline="0" noProof="0" dirty="0">
              <a:ln>
                <a:noFill/>
              </a:ln>
              <a:gradFill>
                <a:gsLst>
                  <a:gs pos="0">
                    <a:schemeClr val="accent5">
                      <a:lumMod val="60000"/>
                      <a:lumOff val="40000"/>
                    </a:schemeClr>
                  </a:gs>
                  <a:gs pos="100000">
                    <a:schemeClr val="accent5"/>
                  </a:gs>
                </a:gsLst>
                <a:lin ang="5400000" scaled="0"/>
              </a:gradFill>
              <a:effectLst/>
              <a:uLnTx/>
              <a:uFillTx/>
              <a:latin typeface="微软雅黑" panose="020B0503020204020204" charset="-122"/>
              <a:ea typeface="微软雅黑" panose="020B0503020204020204" charset="-122"/>
              <a:cs typeface="微软雅黑" panose="020B0503020204020204" charset="-122"/>
            </a:endParaRPr>
          </a:p>
        </p:txBody>
      </p:sp>
      <p:sp>
        <p:nvSpPr>
          <p:cNvPr id="196" name="矩形: 圆角 41"/>
          <p:cNvSpPr/>
          <p:nvPr/>
        </p:nvSpPr>
        <p:spPr>
          <a:xfrm rot="17277118">
            <a:off x="768350" y="2708275"/>
            <a:ext cx="528955" cy="515620"/>
          </a:xfrm>
          <a:prstGeom prst="roundRect">
            <a:avLst>
              <a:gd name="adj" fmla="val 12312"/>
            </a:avLst>
          </a:prstGeom>
          <a:solidFill>
            <a:schemeClr val="accent5">
              <a:lumMod val="20000"/>
              <a:lumOff val="80000"/>
              <a:alpha val="20000"/>
            </a:schemeClr>
          </a:solidFill>
          <a:ln>
            <a:solidFill>
              <a:schemeClr val="accent5">
                <a:lumMod val="60000"/>
                <a:lumOff val="4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rPr>
              <a:t>品牌</a:t>
            </a:r>
            <a:endPar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endParaRPr>
          </a:p>
          <a:p>
            <a:pPr lvl="0" algn="ctr">
              <a:spcBef>
                <a:spcPts val="0"/>
              </a:spcBef>
              <a:spcAft>
                <a:spcPts val="0"/>
              </a:spcAft>
              <a:buClrTx/>
              <a:buSzTx/>
              <a:buFontTx/>
              <a:defRPr/>
            </a:pPr>
            <a:r>
              <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rPr>
              <a:t>建设</a:t>
            </a:r>
            <a:endPar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97" name="矩形: 圆角 42"/>
          <p:cNvSpPr/>
          <p:nvPr/>
        </p:nvSpPr>
        <p:spPr>
          <a:xfrm rot="18206740">
            <a:off x="1071880" y="2139315"/>
            <a:ext cx="532765" cy="515620"/>
          </a:xfrm>
          <a:prstGeom prst="roundRect">
            <a:avLst>
              <a:gd name="adj" fmla="val 12312"/>
            </a:avLst>
          </a:prstGeom>
          <a:solidFill>
            <a:schemeClr val="accent5">
              <a:lumMod val="20000"/>
              <a:lumOff val="80000"/>
              <a:alpha val="20000"/>
            </a:schemeClr>
          </a:solidFill>
          <a:ln>
            <a:solidFill>
              <a:schemeClr val="accent5">
                <a:lumMod val="60000"/>
                <a:lumOff val="4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rPr>
              <a:t>广告平台</a:t>
            </a:r>
            <a:endPar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98" name="矩形: 圆角 45"/>
          <p:cNvSpPr/>
          <p:nvPr/>
        </p:nvSpPr>
        <p:spPr>
          <a:xfrm rot="19612840">
            <a:off x="1546860" y="1679575"/>
            <a:ext cx="545465" cy="515620"/>
          </a:xfrm>
          <a:prstGeom prst="roundRect">
            <a:avLst>
              <a:gd name="adj" fmla="val 12312"/>
            </a:avLst>
          </a:prstGeom>
          <a:solidFill>
            <a:schemeClr val="accent5">
              <a:lumMod val="20000"/>
              <a:lumOff val="80000"/>
              <a:alpha val="20000"/>
            </a:schemeClr>
          </a:solidFill>
          <a:ln>
            <a:solidFill>
              <a:schemeClr val="accent5">
                <a:lumMod val="60000"/>
                <a:lumOff val="4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rPr>
              <a:t>智能调度</a:t>
            </a:r>
            <a:endPar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99" name="矩形: 圆角 46"/>
          <p:cNvSpPr/>
          <p:nvPr/>
        </p:nvSpPr>
        <p:spPr>
          <a:xfrm rot="21175069">
            <a:off x="2192655" y="1455420"/>
            <a:ext cx="551180" cy="515620"/>
          </a:xfrm>
          <a:prstGeom prst="roundRect">
            <a:avLst>
              <a:gd name="adj" fmla="val 12312"/>
            </a:avLst>
          </a:prstGeom>
          <a:solidFill>
            <a:schemeClr val="accent5">
              <a:lumMod val="20000"/>
              <a:lumOff val="80000"/>
              <a:alpha val="20000"/>
            </a:schemeClr>
          </a:solidFill>
          <a:ln>
            <a:solidFill>
              <a:schemeClr val="accent5">
                <a:lumMod val="60000"/>
                <a:lumOff val="4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rPr>
              <a:t>经销管理</a:t>
            </a:r>
            <a:endPar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00" name="矩形: 圆角 47"/>
          <p:cNvSpPr/>
          <p:nvPr/>
        </p:nvSpPr>
        <p:spPr>
          <a:xfrm rot="3890123">
            <a:off x="767080" y="4438650"/>
            <a:ext cx="591185" cy="515620"/>
          </a:xfrm>
          <a:prstGeom prst="roundRect">
            <a:avLst>
              <a:gd name="adj" fmla="val 12312"/>
            </a:avLst>
          </a:prstGeom>
          <a:solidFill>
            <a:schemeClr val="accent5">
              <a:lumMod val="20000"/>
              <a:lumOff val="80000"/>
              <a:alpha val="20000"/>
            </a:schemeClr>
          </a:solidFill>
          <a:ln>
            <a:solidFill>
              <a:schemeClr val="accent5">
                <a:lumMod val="60000"/>
                <a:lumOff val="4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rPr>
              <a:t>智能分析</a:t>
            </a:r>
            <a:endPar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01" name="矩形: 圆角 48"/>
          <p:cNvSpPr/>
          <p:nvPr/>
        </p:nvSpPr>
        <p:spPr>
          <a:xfrm rot="2560476">
            <a:off x="1205865" y="5028565"/>
            <a:ext cx="591185" cy="515620"/>
          </a:xfrm>
          <a:prstGeom prst="roundRect">
            <a:avLst>
              <a:gd name="adj" fmla="val 12312"/>
            </a:avLst>
          </a:prstGeom>
          <a:solidFill>
            <a:schemeClr val="accent5">
              <a:lumMod val="20000"/>
              <a:lumOff val="80000"/>
              <a:alpha val="20000"/>
            </a:schemeClr>
          </a:solidFill>
          <a:ln>
            <a:solidFill>
              <a:schemeClr val="accent5">
                <a:lumMod val="60000"/>
                <a:lumOff val="4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rPr>
              <a:t>直营门店</a:t>
            </a:r>
            <a:endPar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02" name="矩形: 圆角 49"/>
          <p:cNvSpPr/>
          <p:nvPr/>
        </p:nvSpPr>
        <p:spPr>
          <a:xfrm rot="1524337">
            <a:off x="1838325" y="5464175"/>
            <a:ext cx="591185" cy="515620"/>
          </a:xfrm>
          <a:prstGeom prst="roundRect">
            <a:avLst>
              <a:gd name="adj" fmla="val 12312"/>
            </a:avLst>
          </a:prstGeom>
          <a:solidFill>
            <a:schemeClr val="accent5">
              <a:lumMod val="20000"/>
              <a:lumOff val="80000"/>
              <a:alpha val="20000"/>
            </a:schemeClr>
          </a:solidFill>
          <a:ln>
            <a:solidFill>
              <a:schemeClr val="accent5">
                <a:lumMod val="60000"/>
                <a:lumOff val="40000"/>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rPr>
              <a:t>线上商城</a:t>
            </a:r>
            <a:endParaRPr lang="zh-CN" altLang="en-US" sz="105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03" name="文本框 202"/>
          <p:cNvSpPr txBox="1"/>
          <p:nvPr/>
        </p:nvSpPr>
        <p:spPr>
          <a:xfrm rot="19016668">
            <a:off x="1637030" y="2383155"/>
            <a:ext cx="558165" cy="2755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销售</a:t>
            </a:r>
            <a:endParaRPr kumimoji="0" lang="zh-CN" altLang="en-US" sz="12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4" name="文本框 203"/>
          <p:cNvSpPr txBox="1"/>
          <p:nvPr/>
        </p:nvSpPr>
        <p:spPr>
          <a:xfrm rot="2654078">
            <a:off x="1567180" y="4754338"/>
            <a:ext cx="558165" cy="2755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营销</a:t>
            </a:r>
            <a:endParaRPr kumimoji="0" lang="zh-CN" altLang="en-US" sz="12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5" name="箭头: 左右 63"/>
          <p:cNvSpPr/>
          <p:nvPr/>
        </p:nvSpPr>
        <p:spPr>
          <a:xfrm>
            <a:off x="2377440" y="3471545"/>
            <a:ext cx="817880" cy="466090"/>
          </a:xfrm>
          <a:prstGeom prst="leftRightArrow">
            <a:avLst>
              <a:gd name="adj1" fmla="val 62258"/>
              <a:gd name="adj2" fmla="val 41190"/>
            </a:avLst>
          </a:prstGeom>
          <a:gradFill flip="none" rotWithShape="1">
            <a:gsLst>
              <a:gs pos="0">
                <a:schemeClr val="accent5"/>
              </a:gs>
              <a:gs pos="100000">
                <a:schemeClr val="accent5">
                  <a:lumMod val="60000"/>
                  <a:lumOff val="4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2" name="梯形 231"/>
          <p:cNvSpPr/>
          <p:nvPr/>
        </p:nvSpPr>
        <p:spPr>
          <a:xfrm>
            <a:off x="503555" y="5737860"/>
            <a:ext cx="11520805" cy="507365"/>
          </a:xfrm>
          <a:prstGeom prst="trapezoid">
            <a:avLst>
              <a:gd name="adj" fmla="val 79397"/>
            </a:avLst>
          </a:prstGeom>
          <a:gradFill>
            <a:gsLst>
              <a:gs pos="0">
                <a:schemeClr val="accent1">
                  <a:lumMod val="60000"/>
                  <a:lumOff val="40000"/>
                  <a:alpha val="58000"/>
                </a:schemeClr>
              </a:gs>
              <a:gs pos="100000">
                <a:schemeClr val="accent1">
                  <a:lumMod val="40000"/>
                  <a:lumOff val="60000"/>
                  <a:alpha val="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235" name="文本框 234"/>
          <p:cNvSpPr txBox="1"/>
          <p:nvPr/>
        </p:nvSpPr>
        <p:spPr>
          <a:xfrm>
            <a:off x="4021455" y="6301105"/>
            <a:ext cx="1266825" cy="337185"/>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zh-CN" sz="1600" b="1" dirty="0">
                <a:solidFill>
                  <a:schemeClr val="bg1"/>
                </a:solidFill>
                <a:latin typeface="微软雅黑" panose="020B0503020204020204" charset="-122"/>
                <a:ea typeface="微软雅黑" panose="020B0503020204020204" charset="-122"/>
                <a:cs typeface="微软雅黑" panose="020B0503020204020204" charset="-122"/>
              </a:rPr>
              <a:t>营销数字化</a:t>
            </a:r>
            <a:endParaRPr lang="zh-CN"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36" name="文本框 235"/>
          <p:cNvSpPr txBox="1"/>
          <p:nvPr/>
        </p:nvSpPr>
        <p:spPr>
          <a:xfrm>
            <a:off x="1335405" y="6301105"/>
            <a:ext cx="1266825" cy="337185"/>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zh-CN" sz="1600" b="1" dirty="0">
                <a:solidFill>
                  <a:schemeClr val="bg1"/>
                </a:solidFill>
                <a:latin typeface="微软雅黑" panose="020B0503020204020204" charset="-122"/>
                <a:ea typeface="微软雅黑" panose="020B0503020204020204" charset="-122"/>
                <a:cs typeface="微软雅黑" panose="020B0503020204020204" charset="-122"/>
              </a:rPr>
              <a:t>业务数字化</a:t>
            </a:r>
            <a:endParaRPr lang="zh-CN"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37" name="文本框 236"/>
          <p:cNvSpPr txBox="1"/>
          <p:nvPr/>
        </p:nvSpPr>
        <p:spPr>
          <a:xfrm>
            <a:off x="6707505" y="6301105"/>
            <a:ext cx="1266825" cy="337185"/>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zh-CN" sz="1600" b="1" dirty="0">
                <a:solidFill>
                  <a:schemeClr val="bg1"/>
                </a:solidFill>
                <a:latin typeface="微软雅黑" panose="020B0503020204020204" charset="-122"/>
                <a:ea typeface="微软雅黑" panose="020B0503020204020204" charset="-122"/>
                <a:cs typeface="微软雅黑" panose="020B0503020204020204" charset="-122"/>
              </a:rPr>
              <a:t>流程数字化</a:t>
            </a:r>
            <a:endParaRPr lang="zh-CN" sz="16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38" name="文本框 237"/>
          <p:cNvSpPr txBox="1"/>
          <p:nvPr/>
        </p:nvSpPr>
        <p:spPr>
          <a:xfrm>
            <a:off x="9393555" y="6301105"/>
            <a:ext cx="1867535" cy="337185"/>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zh-CN" sz="1600" b="1" dirty="0">
                <a:solidFill>
                  <a:schemeClr val="bg1"/>
                </a:solidFill>
                <a:latin typeface="微软雅黑" panose="020B0503020204020204" charset="-122"/>
                <a:ea typeface="微软雅黑" panose="020B0503020204020204" charset="-122"/>
                <a:cs typeface="微软雅黑" panose="020B0503020204020204" charset="-122"/>
              </a:rPr>
              <a:t>供应链数字化</a:t>
            </a:r>
            <a:endParaRPr lang="zh-CN" sz="1600" b="1" dirty="0">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239" name="直接连接符 238"/>
          <p:cNvCxnSpPr/>
          <p:nvPr/>
        </p:nvCxnSpPr>
        <p:spPr>
          <a:xfrm>
            <a:off x="3259455" y="6263640"/>
            <a:ext cx="0" cy="419100"/>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cxnSp>
        <p:nvCxnSpPr>
          <p:cNvPr id="240" name="直接连接符 239"/>
          <p:cNvCxnSpPr/>
          <p:nvPr/>
        </p:nvCxnSpPr>
        <p:spPr>
          <a:xfrm>
            <a:off x="6042660" y="6265545"/>
            <a:ext cx="0" cy="419100"/>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cxnSp>
        <p:nvCxnSpPr>
          <p:cNvPr id="241" name="直接连接符 240"/>
          <p:cNvCxnSpPr/>
          <p:nvPr/>
        </p:nvCxnSpPr>
        <p:spPr>
          <a:xfrm>
            <a:off x="8825865" y="6245225"/>
            <a:ext cx="0" cy="419100"/>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sp>
        <p:nvSpPr>
          <p:cNvPr id="253" name="不完整圆 235"/>
          <p:cNvSpPr/>
          <p:nvPr/>
        </p:nvSpPr>
        <p:spPr>
          <a:xfrm>
            <a:off x="3477260" y="3508375"/>
            <a:ext cx="5076190" cy="520700"/>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22225" cap="flat" cmpd="sng" algn="ctr">
            <a:gradFill flip="none" rotWithShape="1">
              <a:gsLst>
                <a:gs pos="0">
                  <a:schemeClr val="accent5">
                    <a:alpha val="0"/>
                  </a:schemeClr>
                </a:gs>
                <a:gs pos="100000">
                  <a:schemeClr val="accent5"/>
                </a:gs>
              </a:gsLst>
              <a:lin ang="5400000" scaled="1"/>
              <a:tileRect/>
            </a:gra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271" name="组合 270"/>
          <p:cNvGrpSpPr/>
          <p:nvPr/>
        </p:nvGrpSpPr>
        <p:grpSpPr>
          <a:xfrm>
            <a:off x="3144520" y="1052195"/>
            <a:ext cx="1905000" cy="609600"/>
            <a:chOff x="5372" y="1497"/>
            <a:chExt cx="3000" cy="960"/>
          </a:xfrm>
          <a:solidFill>
            <a:schemeClr val="accent1">
              <a:lumMod val="60000"/>
              <a:lumOff val="40000"/>
            </a:schemeClr>
          </a:solidFill>
        </p:grpSpPr>
        <p:sp>
          <p:nvSpPr>
            <p:cNvPr id="269" name="矩形 268"/>
            <p:cNvSpPr/>
            <p:nvPr>
              <p:custDataLst>
                <p:tags r:id="rId3"/>
              </p:custDataLst>
            </p:nvPr>
          </p:nvSpPr>
          <p:spPr>
            <a:xfrm>
              <a:off x="5372" y="1497"/>
              <a:ext cx="3001" cy="961"/>
            </a:xfrm>
            <a:prstGeom prst="rect">
              <a:avLst/>
            </a:prstGeom>
            <a:grpFill/>
            <a:ln w="38100">
              <a:noFill/>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en-US" altLang="zh-CN" sz="1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70" name="文本框 269"/>
            <p:cNvSpPr txBox="1"/>
            <p:nvPr/>
          </p:nvSpPr>
          <p:spPr>
            <a:xfrm>
              <a:off x="5664" y="1613"/>
              <a:ext cx="2485" cy="715"/>
            </a:xfrm>
            <a:prstGeom prst="rect">
              <a:avLst/>
            </a:prstGeom>
            <a:noFill/>
            <a:extLst>
              <a:ext uri="{909E8E84-426E-40DD-AFC4-6F175D3DCCD1}">
                <a14:hiddenFill xmlns:a14="http://schemas.microsoft.com/office/drawing/2010/main">
                  <a:grpFill/>
                </a14:hiddenFill>
              </a:ext>
            </a:extLst>
          </p:spPr>
          <p:txBody>
            <a:bodyPr wrap="square" lIns="0" tIns="0" rIns="0" bIns="0" rtlCol="0">
              <a:noAutofit/>
            </a:bodyPr>
            <a:lstStyle/>
            <a:p>
              <a:pPr algn="ctr">
                <a:lnSpc>
                  <a:spcPct val="120000"/>
                </a:lnSpc>
              </a:pPr>
              <a:r>
                <a:rPr lang="zh-CN" altLang="en-US" sz="1200">
                  <a:solidFill>
                    <a:schemeClr val="bg1"/>
                  </a:solidFill>
                  <a:latin typeface="微软雅黑" panose="020B0503020204020204" charset="-122"/>
                  <a:ea typeface="微软雅黑" panose="020B0503020204020204" charset="-122"/>
                  <a:cs typeface="微软雅黑" panose="020B0503020204020204" charset="-122"/>
                </a:rPr>
                <a:t>构建直销互动体系</a:t>
              </a:r>
              <a:endParaRPr lang="zh-CN" altLang="en-US" sz="1200">
                <a:solidFill>
                  <a:schemeClr val="bg1"/>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altLang="en-US" sz="1200">
                  <a:solidFill>
                    <a:schemeClr val="bg1"/>
                  </a:solidFill>
                  <a:latin typeface="微软雅黑" panose="020B0503020204020204" charset="-122"/>
                  <a:ea typeface="微软雅黑" panose="020B0503020204020204" charset="-122"/>
                  <a:cs typeface="微软雅黑" panose="020B0503020204020204" charset="-122"/>
                </a:rPr>
                <a:t>服务车主会员精准营销</a:t>
              </a:r>
              <a:endParaRPr lang="zh-CN" altLang="en-US" sz="1200">
                <a:solidFill>
                  <a:schemeClr val="bg1"/>
                </a:solidFill>
                <a:latin typeface="微软雅黑" panose="020B0503020204020204" charset="-122"/>
                <a:ea typeface="微软雅黑" panose="020B0503020204020204" charset="-122"/>
                <a:cs typeface="微软雅黑" panose="020B0503020204020204" charset="-122"/>
              </a:endParaRPr>
            </a:p>
            <a:p>
              <a:pPr algn="ctr">
                <a:lnSpc>
                  <a:spcPct val="120000"/>
                </a:lnSpc>
              </a:pPr>
              <a:endParaRPr lang="zh-CN" altLang="en-US" sz="120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272" name="组合 271"/>
          <p:cNvGrpSpPr/>
          <p:nvPr/>
        </p:nvGrpSpPr>
        <p:grpSpPr>
          <a:xfrm>
            <a:off x="5238115" y="1052195"/>
            <a:ext cx="1905000" cy="609600"/>
            <a:chOff x="5372" y="1497"/>
            <a:chExt cx="3000" cy="960"/>
          </a:xfrm>
          <a:solidFill>
            <a:schemeClr val="accent2"/>
          </a:solidFill>
        </p:grpSpPr>
        <p:sp>
          <p:nvSpPr>
            <p:cNvPr id="273" name="矩形 272"/>
            <p:cNvSpPr/>
            <p:nvPr>
              <p:custDataLst>
                <p:tags r:id="rId4"/>
              </p:custDataLst>
            </p:nvPr>
          </p:nvSpPr>
          <p:spPr>
            <a:xfrm>
              <a:off x="5372" y="1497"/>
              <a:ext cx="3001" cy="961"/>
            </a:xfrm>
            <a:prstGeom prst="rect">
              <a:avLst/>
            </a:prstGeom>
            <a:solidFill>
              <a:schemeClr val="accent1">
                <a:lumMod val="60000"/>
                <a:lumOff val="40000"/>
              </a:schemeClr>
            </a:solidFill>
            <a:ln w="38100">
              <a:noFill/>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en-US" altLang="zh-CN" sz="1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75" name="文本框 274"/>
            <p:cNvSpPr txBox="1"/>
            <p:nvPr/>
          </p:nvSpPr>
          <p:spPr>
            <a:xfrm>
              <a:off x="5664" y="1613"/>
              <a:ext cx="2485" cy="715"/>
            </a:xfrm>
            <a:prstGeom prst="rect">
              <a:avLst/>
            </a:prstGeom>
            <a:noFill/>
            <a:extLst>
              <a:ext uri="{909E8E84-426E-40DD-AFC4-6F175D3DCCD1}">
                <a14:hiddenFill xmlns:a14="http://schemas.microsoft.com/office/drawing/2010/main">
                  <a:grpFill/>
                </a14:hiddenFill>
              </a:ext>
            </a:extLst>
          </p:spPr>
          <p:txBody>
            <a:bodyPr wrap="square" lIns="0" tIns="0" rIns="0" bIns="0" rtlCol="0">
              <a:noAutofit/>
            </a:bodyPr>
            <a:lstStyle/>
            <a:p>
              <a:pPr algn="ctr">
                <a:lnSpc>
                  <a:spcPct val="120000"/>
                </a:lnSpc>
              </a:pPr>
              <a:r>
                <a:rPr lang="zh-CN" altLang="en-US" sz="1200">
                  <a:solidFill>
                    <a:schemeClr val="bg1"/>
                  </a:solidFill>
                  <a:latin typeface="微软雅黑" panose="020B0503020204020204" charset="-122"/>
                  <a:ea typeface="微软雅黑" panose="020B0503020204020204" charset="-122"/>
                  <a:cs typeface="微软雅黑" panose="020B0503020204020204" charset="-122"/>
                </a:rPr>
                <a:t>实现数字化平台管理</a:t>
              </a:r>
              <a:endParaRPr lang="zh-CN" altLang="en-US" sz="1200">
                <a:solidFill>
                  <a:schemeClr val="bg1"/>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altLang="en-US" sz="1200">
                  <a:solidFill>
                    <a:schemeClr val="bg1"/>
                  </a:solidFill>
                  <a:latin typeface="微软雅黑" panose="020B0503020204020204" charset="-122"/>
                  <a:ea typeface="微软雅黑" panose="020B0503020204020204" charset="-122"/>
                  <a:cs typeface="微软雅黑" panose="020B0503020204020204" charset="-122"/>
                </a:rPr>
                <a:t>精细化运营提升效率</a:t>
              </a:r>
              <a:endParaRPr lang="zh-CN" altLang="en-US" sz="1200">
                <a:solidFill>
                  <a:schemeClr val="bg1"/>
                </a:solidFill>
                <a:latin typeface="微软雅黑" panose="020B0503020204020204" charset="-122"/>
                <a:ea typeface="微软雅黑" panose="020B0503020204020204" charset="-122"/>
                <a:cs typeface="微软雅黑" panose="020B0503020204020204" charset="-122"/>
              </a:endParaRPr>
            </a:p>
            <a:p>
              <a:pPr algn="ctr">
                <a:lnSpc>
                  <a:spcPct val="120000"/>
                </a:lnSpc>
              </a:pPr>
              <a:endParaRPr lang="zh-CN" altLang="en-US" sz="120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276" name="组合 275"/>
          <p:cNvGrpSpPr/>
          <p:nvPr/>
        </p:nvGrpSpPr>
        <p:grpSpPr>
          <a:xfrm>
            <a:off x="7331710" y="1052195"/>
            <a:ext cx="1905000" cy="609600"/>
            <a:chOff x="5372" y="1497"/>
            <a:chExt cx="3000" cy="960"/>
          </a:xfrm>
          <a:solidFill>
            <a:schemeClr val="accent2"/>
          </a:solidFill>
        </p:grpSpPr>
        <p:sp>
          <p:nvSpPr>
            <p:cNvPr id="277" name="矩形 276"/>
            <p:cNvSpPr/>
            <p:nvPr>
              <p:custDataLst>
                <p:tags r:id="rId5"/>
              </p:custDataLst>
            </p:nvPr>
          </p:nvSpPr>
          <p:spPr>
            <a:xfrm>
              <a:off x="5372" y="1497"/>
              <a:ext cx="3001" cy="961"/>
            </a:xfrm>
            <a:prstGeom prst="rect">
              <a:avLst/>
            </a:prstGeom>
            <a:solidFill>
              <a:schemeClr val="accent1">
                <a:lumMod val="60000"/>
                <a:lumOff val="40000"/>
              </a:schemeClr>
            </a:solidFill>
            <a:ln w="38100">
              <a:noFill/>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en-US" altLang="zh-CN" sz="100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78" name="文本框 277"/>
            <p:cNvSpPr txBox="1"/>
            <p:nvPr/>
          </p:nvSpPr>
          <p:spPr>
            <a:xfrm>
              <a:off x="5664" y="1613"/>
              <a:ext cx="2485" cy="715"/>
            </a:xfrm>
            <a:prstGeom prst="rect">
              <a:avLst/>
            </a:prstGeom>
            <a:noFill/>
            <a:extLst>
              <a:ext uri="{909E8E84-426E-40DD-AFC4-6F175D3DCCD1}">
                <a14:hiddenFill xmlns:a14="http://schemas.microsoft.com/office/drawing/2010/main">
                  <a:grpFill/>
                </a14:hiddenFill>
              </a:ext>
            </a:extLst>
          </p:spPr>
          <p:txBody>
            <a:bodyPr wrap="square" lIns="0" tIns="0" rIns="0" bIns="0" rtlCol="0">
              <a:noAutofit/>
            </a:bodyPr>
            <a:lstStyle/>
            <a:p>
              <a:pPr algn="ctr">
                <a:lnSpc>
                  <a:spcPct val="120000"/>
                </a:lnSpc>
              </a:pPr>
              <a:r>
                <a:rPr lang="zh-CN" altLang="en-US" sz="1200">
                  <a:solidFill>
                    <a:schemeClr val="bg1"/>
                  </a:solidFill>
                  <a:latin typeface="微软雅黑" panose="020B0503020204020204" charset="-122"/>
                  <a:ea typeface="微软雅黑" panose="020B0503020204020204" charset="-122"/>
                  <a:cs typeface="微软雅黑" panose="020B0503020204020204" charset="-122"/>
                </a:rPr>
                <a:t>链接渠道</a:t>
              </a:r>
              <a:r>
                <a:rPr lang="en-US" altLang="zh-CN" sz="1200">
                  <a:solidFill>
                    <a:schemeClr val="bg1"/>
                  </a:solidFill>
                  <a:latin typeface="微软雅黑" panose="020B0503020204020204" charset="-122"/>
                  <a:ea typeface="微软雅黑" panose="020B0503020204020204" charset="-122"/>
                  <a:cs typeface="微软雅黑" panose="020B0503020204020204" charset="-122"/>
                </a:rPr>
                <a:t>-</a:t>
              </a:r>
              <a:r>
                <a:rPr lang="zh-CN" altLang="en-US" sz="1200">
                  <a:solidFill>
                    <a:schemeClr val="bg1"/>
                  </a:solidFill>
                  <a:latin typeface="微软雅黑" panose="020B0503020204020204" charset="-122"/>
                  <a:ea typeface="微软雅黑" panose="020B0503020204020204" charset="-122"/>
                  <a:cs typeface="微软雅黑" panose="020B0503020204020204" charset="-122"/>
                </a:rPr>
                <a:t>门店赋能</a:t>
              </a:r>
              <a:endParaRPr lang="zh-CN" altLang="en-US" sz="1200">
                <a:solidFill>
                  <a:schemeClr val="bg1"/>
                </a:solidFill>
                <a:latin typeface="微软雅黑" panose="020B0503020204020204" charset="-122"/>
                <a:ea typeface="微软雅黑" panose="020B0503020204020204" charset="-122"/>
                <a:cs typeface="微软雅黑" panose="020B0503020204020204" charset="-122"/>
              </a:endParaRPr>
            </a:p>
            <a:p>
              <a:pPr algn="ctr">
                <a:lnSpc>
                  <a:spcPct val="120000"/>
                </a:lnSpc>
              </a:pPr>
              <a:r>
                <a:rPr lang="zh-CN" altLang="en-US" sz="1200">
                  <a:solidFill>
                    <a:schemeClr val="bg1"/>
                  </a:solidFill>
                  <a:latin typeface="微软雅黑" panose="020B0503020204020204" charset="-122"/>
                  <a:ea typeface="微软雅黑" panose="020B0503020204020204" charset="-122"/>
                  <a:cs typeface="微软雅黑" panose="020B0503020204020204" charset="-122"/>
                </a:rPr>
                <a:t>触达用户为门店引流</a:t>
              </a:r>
              <a:endParaRPr lang="zh-CN" altLang="en-US" sz="1200">
                <a:solidFill>
                  <a:schemeClr val="bg1"/>
                </a:solidFill>
                <a:latin typeface="微软雅黑" panose="020B0503020204020204" charset="-122"/>
                <a:ea typeface="微软雅黑" panose="020B0503020204020204" charset="-122"/>
                <a:cs typeface="微软雅黑" panose="020B0503020204020204" charset="-122"/>
              </a:endParaRPr>
            </a:p>
            <a:p>
              <a:pPr algn="ctr">
                <a:lnSpc>
                  <a:spcPct val="120000"/>
                </a:lnSpc>
              </a:pPr>
              <a:endParaRPr lang="zh-CN" altLang="en-US" sz="1200">
                <a:solidFill>
                  <a:schemeClr val="bg1"/>
                </a:solidFill>
                <a:latin typeface="微软雅黑" panose="020B0503020204020204" charset="-122"/>
                <a:ea typeface="微软雅黑" panose="020B0503020204020204" charset="-122"/>
                <a:cs typeface="微软雅黑" panose="020B0503020204020204" charset="-122"/>
              </a:endParaRPr>
            </a:p>
          </p:txBody>
        </p:sp>
      </p:grpSp>
      <p:pic>
        <p:nvPicPr>
          <p:cNvPr id="4" name="图片 3" descr="屋顶资源管理"/>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55600" y="186055"/>
            <a:ext cx="549910" cy="549910"/>
          </a:xfrm>
          <a:prstGeom prst="rect">
            <a:avLst/>
          </a:prstGeom>
        </p:spPr>
      </p:pic>
      <p:grpSp>
        <p:nvGrpSpPr>
          <p:cNvPr id="3" name="组合 2"/>
          <p:cNvGrpSpPr/>
          <p:nvPr/>
        </p:nvGrpSpPr>
        <p:grpSpPr>
          <a:xfrm>
            <a:off x="8738235" y="348615"/>
            <a:ext cx="3219450" cy="332740"/>
            <a:chOff x="13761" y="549"/>
            <a:chExt cx="5070" cy="524"/>
          </a:xfrm>
        </p:grpSpPr>
        <p:pic>
          <p:nvPicPr>
            <p:cNvPr id="6" name="图片 5"/>
            <p:cNvPicPr>
              <a:picLocks noChangeAspect="1"/>
            </p:cNvPicPr>
            <p:nvPr userDrawn="1"/>
          </p:nvPicPr>
          <p:blipFill>
            <a:blip r:embed="rId8"/>
            <a:srcRect l="17002" t="-1765" r="56499" b="-1176"/>
            <a:stretch>
              <a:fillRect/>
            </a:stretch>
          </p:blipFill>
          <p:spPr>
            <a:xfrm>
              <a:off x="13761" y="549"/>
              <a:ext cx="1582" cy="525"/>
            </a:xfrm>
            <a:prstGeom prst="rect">
              <a:avLst/>
            </a:prstGeom>
          </p:spPr>
        </p:pic>
        <p:sp>
          <p:nvSpPr>
            <p:cNvPr id="7" name="文本框 6"/>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grpSp>
        <p:nvGrpSpPr>
          <p:cNvPr id="28" name="组合 27"/>
          <p:cNvGrpSpPr/>
          <p:nvPr/>
        </p:nvGrpSpPr>
        <p:grpSpPr>
          <a:xfrm>
            <a:off x="4591685" y="3776980"/>
            <a:ext cx="502285" cy="443230"/>
            <a:chOff x="7231" y="5948"/>
            <a:chExt cx="791" cy="698"/>
          </a:xfrm>
        </p:grpSpPr>
        <p:sp>
          <p:nvSpPr>
            <p:cNvPr id="260" name="椭圆 259"/>
            <p:cNvSpPr/>
            <p:nvPr>
              <p:custDataLst>
                <p:tags r:id="rId9"/>
              </p:custDataLst>
            </p:nvPr>
          </p:nvSpPr>
          <p:spPr>
            <a:xfrm flipH="1">
              <a:off x="7231" y="5948"/>
              <a:ext cx="699" cy="699"/>
            </a:xfrm>
            <a:prstGeom prst="ellipse">
              <a:avLst/>
            </a:prstGeom>
            <a:gradFill>
              <a:gsLst>
                <a:gs pos="0">
                  <a:schemeClr val="accent5">
                    <a:lumMod val="60000"/>
                    <a:lumOff val="40000"/>
                  </a:schemeClr>
                </a:gs>
                <a:gs pos="100000">
                  <a:schemeClr val="accent5"/>
                </a:gs>
              </a:gsLst>
              <a:lin ang="5400000" scaled="0"/>
            </a:gradFill>
            <a:ln w="38100">
              <a:noFill/>
            </a:ln>
            <a:effectLst>
              <a:outerShdw blurRad="411480" dist="123444" dir="5400000" sx="108000" sy="108000" algn="ctr" rotWithShape="0">
                <a:schemeClr val="accent5">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8" name="文本框 7"/>
            <p:cNvSpPr txBox="1"/>
            <p:nvPr/>
          </p:nvSpPr>
          <p:spPr>
            <a:xfrm>
              <a:off x="7350" y="6111"/>
              <a:ext cx="672" cy="348"/>
            </a:xfrm>
            <a:prstGeom prst="rect">
              <a:avLst/>
            </a:prstGeom>
            <a:noFill/>
            <a:extLst>
              <a:ext uri="{909E8E84-426E-40DD-AFC4-6F175D3DCCD1}">
                <a14:hiddenFill xmlns:a14="http://schemas.microsoft.com/office/drawing/2010/main">
                  <a:grpFill/>
                </a14:hiddenFill>
              </a:ext>
            </a:extLst>
          </p:spPr>
          <p:txBody>
            <a:bodyPr wrap="square" lIns="0" tIns="0" rIns="0" bIns="0" rtlCol="0">
              <a:spAutoFit/>
            </a:bodyPr>
            <a:lstStyle/>
            <a:p>
              <a:pPr lvl="0" algn="l">
                <a:lnSpc>
                  <a:spcPct val="120000"/>
                </a:lnSpc>
                <a:buClrTx/>
                <a:buSzTx/>
                <a:buFontTx/>
              </a:pPr>
              <a:r>
                <a:rPr lang="zh-CN" altLang="en-US" sz="1200" b="1">
                  <a:solidFill>
                    <a:schemeClr val="bg1"/>
                  </a:solidFill>
                  <a:latin typeface="微软雅黑" panose="020B0503020204020204" charset="-122"/>
                  <a:ea typeface="微软雅黑" panose="020B0503020204020204" charset="-122"/>
                  <a:cs typeface="微软雅黑" panose="020B0503020204020204" charset="-122"/>
                  <a:sym typeface="+mn-ea"/>
                </a:rPr>
                <a:t>会员</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26" name="组合 25"/>
          <p:cNvGrpSpPr/>
          <p:nvPr/>
        </p:nvGrpSpPr>
        <p:grpSpPr>
          <a:xfrm>
            <a:off x="3780155" y="3319780"/>
            <a:ext cx="502285" cy="443230"/>
            <a:chOff x="5953" y="5304"/>
            <a:chExt cx="791" cy="698"/>
          </a:xfrm>
        </p:grpSpPr>
        <p:sp>
          <p:nvSpPr>
            <p:cNvPr id="256" name="椭圆 255"/>
            <p:cNvSpPr/>
            <p:nvPr>
              <p:custDataLst>
                <p:tags r:id="rId10"/>
              </p:custDataLst>
            </p:nvPr>
          </p:nvSpPr>
          <p:spPr>
            <a:xfrm flipH="1">
              <a:off x="5953" y="5304"/>
              <a:ext cx="699" cy="699"/>
            </a:xfrm>
            <a:prstGeom prst="ellipse">
              <a:avLst/>
            </a:prstGeom>
            <a:gradFill>
              <a:gsLst>
                <a:gs pos="0">
                  <a:schemeClr val="accent5">
                    <a:lumMod val="60000"/>
                    <a:lumOff val="40000"/>
                  </a:schemeClr>
                </a:gs>
                <a:gs pos="100000">
                  <a:schemeClr val="accent5"/>
                </a:gs>
              </a:gsLst>
              <a:lin ang="5400000" scaled="0"/>
            </a:gradFill>
            <a:ln w="38100">
              <a:noFill/>
            </a:ln>
            <a:effectLst>
              <a:outerShdw blurRad="411480" dist="123444" dir="5400000" sx="108000" sy="108000" algn="ctr" rotWithShape="0">
                <a:schemeClr val="accent5">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6072" y="5467"/>
              <a:ext cx="672" cy="348"/>
            </a:xfrm>
            <a:prstGeom prst="rect">
              <a:avLst/>
            </a:prstGeom>
            <a:noFill/>
            <a:extLst>
              <a:ext uri="{909E8E84-426E-40DD-AFC4-6F175D3DCCD1}">
                <a14:hiddenFill xmlns:a14="http://schemas.microsoft.com/office/drawing/2010/main">
                  <a:grpFill/>
                </a14:hiddenFill>
              </a:ext>
            </a:extLst>
          </p:spPr>
          <p:txBody>
            <a:bodyPr wrap="square" lIns="0" tIns="0" rIns="0" bIns="0" rtlCol="0">
              <a:spAutoFit/>
            </a:bodyPr>
            <a:lstStyle/>
            <a:p>
              <a:pPr algn="l">
                <a:lnSpc>
                  <a:spcPct val="120000"/>
                </a:lnSpc>
              </a:pPr>
              <a:r>
                <a:rPr lang="zh-CN" altLang="en-US" sz="1200" b="1">
                  <a:solidFill>
                    <a:schemeClr val="bg1"/>
                  </a:solidFill>
                  <a:latin typeface="微软雅黑" panose="020B0503020204020204" charset="-122"/>
                  <a:ea typeface="微软雅黑" panose="020B0503020204020204" charset="-122"/>
                  <a:cs typeface="微软雅黑" panose="020B0503020204020204" charset="-122"/>
                </a:rPr>
                <a:t>商品</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29" name="组合 28"/>
          <p:cNvGrpSpPr/>
          <p:nvPr/>
        </p:nvGrpSpPr>
        <p:grpSpPr>
          <a:xfrm>
            <a:off x="7183755" y="3776980"/>
            <a:ext cx="502285" cy="443230"/>
            <a:chOff x="10762" y="6003"/>
            <a:chExt cx="791" cy="698"/>
          </a:xfrm>
        </p:grpSpPr>
        <p:sp>
          <p:nvSpPr>
            <p:cNvPr id="263" name="椭圆 262"/>
            <p:cNvSpPr/>
            <p:nvPr>
              <p:custDataLst>
                <p:tags r:id="rId11"/>
              </p:custDataLst>
            </p:nvPr>
          </p:nvSpPr>
          <p:spPr>
            <a:xfrm flipH="1">
              <a:off x="10762" y="6003"/>
              <a:ext cx="699" cy="699"/>
            </a:xfrm>
            <a:prstGeom prst="ellipse">
              <a:avLst/>
            </a:prstGeom>
            <a:gradFill>
              <a:gsLst>
                <a:gs pos="0">
                  <a:schemeClr val="accent5">
                    <a:lumMod val="60000"/>
                    <a:lumOff val="40000"/>
                  </a:schemeClr>
                </a:gs>
                <a:gs pos="100000">
                  <a:schemeClr val="accent5"/>
                </a:gs>
              </a:gsLst>
              <a:lin ang="5400000" scaled="0"/>
            </a:gradFill>
            <a:ln w="38100">
              <a:noFill/>
            </a:ln>
            <a:effectLst>
              <a:outerShdw blurRad="411480" dist="123444" dir="5400000" sx="108000" sy="108000" algn="ctr" rotWithShape="0">
                <a:schemeClr val="accent5">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0" name="文本框 9"/>
            <p:cNvSpPr txBox="1"/>
            <p:nvPr/>
          </p:nvSpPr>
          <p:spPr>
            <a:xfrm>
              <a:off x="10881" y="6166"/>
              <a:ext cx="672" cy="348"/>
            </a:xfrm>
            <a:prstGeom prst="rect">
              <a:avLst/>
            </a:prstGeom>
            <a:noFill/>
            <a:extLst>
              <a:ext uri="{909E8E84-426E-40DD-AFC4-6F175D3DCCD1}">
                <a14:hiddenFill xmlns:a14="http://schemas.microsoft.com/office/drawing/2010/main">
                  <a:grpFill/>
                </a14:hiddenFill>
              </a:ext>
            </a:extLst>
          </p:spPr>
          <p:txBody>
            <a:bodyPr wrap="square" lIns="0" tIns="0" rIns="0" bIns="0" rtlCol="0">
              <a:spAutoFit/>
            </a:bodyPr>
            <a:lstStyle/>
            <a:p>
              <a:pPr lvl="0" algn="l">
                <a:lnSpc>
                  <a:spcPct val="120000"/>
                </a:lnSpc>
                <a:buClrTx/>
                <a:buSzTx/>
                <a:buFontTx/>
              </a:pPr>
              <a:r>
                <a:rPr lang="zh-CN" altLang="en-US" sz="1200" b="1">
                  <a:solidFill>
                    <a:schemeClr val="bg1"/>
                  </a:solidFill>
                  <a:latin typeface="微软雅黑" panose="020B0503020204020204" charset="-122"/>
                  <a:ea typeface="微软雅黑" panose="020B0503020204020204" charset="-122"/>
                  <a:cs typeface="微软雅黑" panose="020B0503020204020204" charset="-122"/>
                  <a:sym typeface="+mn-ea"/>
                </a:rPr>
                <a:t>营销</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27" name="组合 26"/>
          <p:cNvGrpSpPr/>
          <p:nvPr/>
        </p:nvGrpSpPr>
        <p:grpSpPr>
          <a:xfrm>
            <a:off x="7671435" y="3319780"/>
            <a:ext cx="502285" cy="443230"/>
            <a:chOff x="12081" y="5228"/>
            <a:chExt cx="791" cy="698"/>
          </a:xfrm>
        </p:grpSpPr>
        <p:sp>
          <p:nvSpPr>
            <p:cNvPr id="266" name="椭圆 265"/>
            <p:cNvSpPr/>
            <p:nvPr>
              <p:custDataLst>
                <p:tags r:id="rId12"/>
              </p:custDataLst>
            </p:nvPr>
          </p:nvSpPr>
          <p:spPr>
            <a:xfrm flipH="1">
              <a:off x="12081" y="5228"/>
              <a:ext cx="699" cy="699"/>
            </a:xfrm>
            <a:prstGeom prst="ellipse">
              <a:avLst/>
            </a:prstGeom>
            <a:gradFill>
              <a:gsLst>
                <a:gs pos="0">
                  <a:schemeClr val="accent5">
                    <a:lumMod val="60000"/>
                    <a:lumOff val="40000"/>
                  </a:schemeClr>
                </a:gs>
                <a:gs pos="100000">
                  <a:schemeClr val="accent5"/>
                </a:gs>
              </a:gsLst>
              <a:lin ang="5400000" scaled="0"/>
            </a:gradFill>
            <a:ln w="38100">
              <a:noFill/>
            </a:ln>
            <a:effectLst>
              <a:outerShdw blurRad="411480" dist="123444" dir="5400000" sx="108000" sy="108000" algn="ctr" rotWithShape="0">
                <a:schemeClr val="accent5">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nvSpPr>
          <p:spPr>
            <a:xfrm>
              <a:off x="12200" y="5391"/>
              <a:ext cx="672" cy="348"/>
            </a:xfrm>
            <a:prstGeom prst="rect">
              <a:avLst/>
            </a:prstGeom>
            <a:noFill/>
            <a:extLst>
              <a:ext uri="{909E8E84-426E-40DD-AFC4-6F175D3DCCD1}">
                <a14:hiddenFill xmlns:a14="http://schemas.microsoft.com/office/drawing/2010/main">
                  <a:grpFill/>
                </a14:hiddenFill>
              </a:ext>
            </a:extLst>
          </p:spPr>
          <p:txBody>
            <a:bodyPr wrap="square" lIns="0" tIns="0" rIns="0" bIns="0" rtlCol="0">
              <a:spAutoFit/>
            </a:bodyPr>
            <a:lstStyle/>
            <a:p>
              <a:pPr lvl="0" algn="l">
                <a:lnSpc>
                  <a:spcPct val="120000"/>
                </a:lnSpc>
                <a:buClrTx/>
                <a:buSzTx/>
                <a:buFontTx/>
              </a:pPr>
              <a:r>
                <a:rPr lang="zh-CN" altLang="en-US" sz="1200" b="1">
                  <a:solidFill>
                    <a:schemeClr val="bg1"/>
                  </a:solidFill>
                  <a:latin typeface="微软雅黑" panose="020B0503020204020204" charset="-122"/>
                  <a:ea typeface="微软雅黑" panose="020B0503020204020204" charset="-122"/>
                  <a:cs typeface="微软雅黑" panose="020B0503020204020204" charset="-122"/>
                  <a:sym typeface="+mn-ea"/>
                </a:rPr>
                <a:t>服务</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grpSp>
      <p:sp>
        <p:nvSpPr>
          <p:cNvPr id="22" name="文本框 21"/>
          <p:cNvSpPr txBox="1"/>
          <p:nvPr/>
        </p:nvSpPr>
        <p:spPr>
          <a:xfrm rot="2216667">
            <a:off x="9580245" y="2371076"/>
            <a:ext cx="558165" cy="2755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销售</a:t>
            </a:r>
            <a:endParaRPr kumimoji="0" lang="zh-CN" altLang="en-US" sz="12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p:nvSpPr>
        <p:spPr>
          <a:xfrm rot="19214077">
            <a:off x="9676130" y="4745355"/>
            <a:ext cx="558165" cy="2755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营销</a:t>
            </a:r>
            <a:endParaRPr kumimoji="0" lang="zh-CN" altLang="en-US" sz="12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nvSpPr>
        <p:spPr>
          <a:xfrm rot="19016668">
            <a:off x="1637665" y="2384425"/>
            <a:ext cx="558165" cy="27559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销售</a:t>
            </a:r>
            <a:endParaRPr kumimoji="0" lang="zh-CN" altLang="en-US" sz="12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0" name="文本框 29"/>
          <p:cNvSpPr txBox="1"/>
          <p:nvPr/>
        </p:nvSpPr>
        <p:spPr>
          <a:xfrm>
            <a:off x="4910270" y="3396405"/>
            <a:ext cx="2500735" cy="398780"/>
          </a:xfrm>
          <a:prstGeom prst="rect">
            <a:avLst/>
          </a:prstGeom>
          <a:noFill/>
        </p:spPr>
        <p:txBody>
          <a:bodyPr wrap="square" rtlCol="0">
            <a:spAutoFit/>
          </a:bodyPr>
          <a:lstStyle>
            <a:defPPr>
              <a:defRPr lang="zh-CN"/>
            </a:defPPr>
            <a:lvl1pPr algn="ctr">
              <a:defRPr sz="6000">
                <a:effectLst>
                  <a:reflection blurRad="76200" stA="48000" endPos="45500" dir="5400000" sy="-100000" algn="bl" rotWithShape="0"/>
                </a:effectLst>
                <a:latin typeface="+mj-lt"/>
              </a:defRPr>
            </a:lvl1pPr>
          </a:lstStyle>
          <a:p>
            <a:r>
              <a:rPr lang="zh-CN" altLang="en-US" sz="2000" b="1" dirty="0">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rPr>
              <a:t>全链路平台</a:t>
            </a:r>
            <a:endParaRPr lang="zh-CN" altLang="en-US" sz="2000" b="1" dirty="0">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任意多边形: 形状 4"/>
          <p:cNvSpPr/>
          <p:nvPr/>
        </p:nvSpPr>
        <p:spPr>
          <a:xfrm flipH="1" flipV="1">
            <a:off x="2651760" y="3067685"/>
            <a:ext cx="6729095" cy="1041400"/>
          </a:xfrm>
          <a:custGeom>
            <a:avLst/>
            <a:gdLst>
              <a:gd name="connsiteX0" fmla="*/ 5244132 w 5244132"/>
              <a:gd name="connsiteY0" fmla="*/ 2423246 h 2423246"/>
              <a:gd name="connsiteX1" fmla="*/ 2748385 w 5244132"/>
              <a:gd name="connsiteY1" fmla="*/ 2423246 h 2423246"/>
              <a:gd name="connsiteX2" fmla="*/ 2495747 w 5244132"/>
              <a:gd name="connsiteY2" fmla="*/ 2423246 h 2423246"/>
              <a:gd name="connsiteX3" fmla="*/ 0 w 5244132"/>
              <a:gd name="connsiteY3" fmla="*/ 2423246 h 2423246"/>
              <a:gd name="connsiteX4" fmla="*/ 599123 w 5244132"/>
              <a:gd name="connsiteY4" fmla="*/ 1264229 h 2423246"/>
              <a:gd name="connsiteX5" fmla="*/ 1013716 w 5244132"/>
              <a:gd name="connsiteY5" fmla="*/ 0 h 2423246"/>
              <a:gd name="connsiteX6" fmla="*/ 2490416 w 5244132"/>
              <a:gd name="connsiteY6" fmla="*/ 0 h 2423246"/>
              <a:gd name="connsiteX7" fmla="*/ 2753716 w 5244132"/>
              <a:gd name="connsiteY7" fmla="*/ 0 h 2423246"/>
              <a:gd name="connsiteX8" fmla="*/ 4230416 w 5244132"/>
              <a:gd name="connsiteY8" fmla="*/ 0 h 2423246"/>
              <a:gd name="connsiteX9" fmla="*/ 4645009 w 5244132"/>
              <a:gd name="connsiteY9" fmla="*/ 1264229 h 2423246"/>
              <a:gd name="connsiteX10" fmla="*/ 5244132 w 5244132"/>
              <a:gd name="connsiteY10" fmla="*/ 2423246 h 242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4132" h="2423246">
                <a:moveTo>
                  <a:pt x="5244132" y="2423246"/>
                </a:moveTo>
                <a:lnTo>
                  <a:pt x="2748385" y="2423246"/>
                </a:lnTo>
                <a:lnTo>
                  <a:pt x="2495747" y="2423246"/>
                </a:lnTo>
                <a:lnTo>
                  <a:pt x="0" y="2423246"/>
                </a:lnTo>
                <a:cubicBezTo>
                  <a:pt x="240348" y="2062307"/>
                  <a:pt x="282575" y="2031568"/>
                  <a:pt x="599123" y="1264229"/>
                </a:cubicBezTo>
                <a:cubicBezTo>
                  <a:pt x="854161" y="609139"/>
                  <a:pt x="875518" y="421410"/>
                  <a:pt x="1013716" y="0"/>
                </a:cubicBezTo>
                <a:lnTo>
                  <a:pt x="2490416" y="0"/>
                </a:lnTo>
                <a:lnTo>
                  <a:pt x="2753716" y="0"/>
                </a:lnTo>
                <a:lnTo>
                  <a:pt x="4230416" y="0"/>
                </a:lnTo>
                <a:cubicBezTo>
                  <a:pt x="4368614" y="421410"/>
                  <a:pt x="4389971" y="609139"/>
                  <a:pt x="4645009" y="1264229"/>
                </a:cubicBezTo>
                <a:cubicBezTo>
                  <a:pt x="4961557" y="2031568"/>
                  <a:pt x="5003784" y="2062307"/>
                  <a:pt x="5244132" y="2423246"/>
                </a:cubicBezTo>
                <a:close/>
              </a:path>
            </a:pathLst>
          </a:custGeom>
          <a:gradFill>
            <a:gsLst>
              <a:gs pos="0">
                <a:schemeClr val="accent1">
                  <a:lumMod val="60000"/>
                  <a:lumOff val="40000"/>
                  <a:alpha val="0"/>
                </a:schemeClr>
              </a:gs>
              <a:gs pos="32000">
                <a:schemeClr val="accent1">
                  <a:lumMod val="60000"/>
                  <a:lumOff val="40000"/>
                  <a:alpha val="9000"/>
                </a:schemeClr>
              </a:gs>
              <a:gs pos="73000">
                <a:schemeClr val="accent1">
                  <a:lumMod val="60000"/>
                  <a:lumOff val="40000"/>
                  <a:alpha val="9000"/>
                </a:schemeClr>
              </a:gs>
              <a:gs pos="100000">
                <a:schemeClr val="accent1">
                  <a:lumMod val="60000"/>
                  <a:lumOff val="40000"/>
                  <a:alpha val="0"/>
                </a:schemeClr>
              </a:gs>
            </a:gsLst>
            <a:lin ang="5400000" scaled="1"/>
          </a:gradFill>
          <a:ln>
            <a:gradFill>
              <a:gsLst>
                <a:gs pos="5000">
                  <a:schemeClr val="accent1">
                    <a:lumMod val="60000"/>
                    <a:lumOff val="40000"/>
                    <a:alpha val="0"/>
                  </a:schemeClr>
                </a:gs>
                <a:gs pos="39000">
                  <a:schemeClr val="accent1">
                    <a:lumMod val="60000"/>
                    <a:lumOff val="40000"/>
                    <a:alpha val="69000"/>
                  </a:schemeClr>
                </a:gs>
                <a:gs pos="69000">
                  <a:schemeClr val="accent1">
                    <a:lumMod val="60000"/>
                    <a:lumOff val="40000"/>
                    <a:alpha val="69000"/>
                  </a:schemeClr>
                </a:gs>
                <a:gs pos="97000">
                  <a:schemeClr val="accent1">
                    <a:lumMod val="60000"/>
                    <a:lumOff val="40000"/>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105" name="任意多边形: 形状 4"/>
          <p:cNvSpPr/>
          <p:nvPr/>
        </p:nvSpPr>
        <p:spPr>
          <a:xfrm flipH="1" flipV="1">
            <a:off x="4592320" y="4518025"/>
            <a:ext cx="3096260" cy="969645"/>
          </a:xfrm>
          <a:custGeom>
            <a:avLst/>
            <a:gdLst>
              <a:gd name="connsiteX0" fmla="*/ 5244132 w 5244132"/>
              <a:gd name="connsiteY0" fmla="*/ 2423246 h 2423246"/>
              <a:gd name="connsiteX1" fmla="*/ 2748385 w 5244132"/>
              <a:gd name="connsiteY1" fmla="*/ 2423246 h 2423246"/>
              <a:gd name="connsiteX2" fmla="*/ 2495747 w 5244132"/>
              <a:gd name="connsiteY2" fmla="*/ 2423246 h 2423246"/>
              <a:gd name="connsiteX3" fmla="*/ 0 w 5244132"/>
              <a:gd name="connsiteY3" fmla="*/ 2423246 h 2423246"/>
              <a:gd name="connsiteX4" fmla="*/ 599123 w 5244132"/>
              <a:gd name="connsiteY4" fmla="*/ 1264229 h 2423246"/>
              <a:gd name="connsiteX5" fmla="*/ 1013716 w 5244132"/>
              <a:gd name="connsiteY5" fmla="*/ 0 h 2423246"/>
              <a:gd name="connsiteX6" fmla="*/ 2490416 w 5244132"/>
              <a:gd name="connsiteY6" fmla="*/ 0 h 2423246"/>
              <a:gd name="connsiteX7" fmla="*/ 2753716 w 5244132"/>
              <a:gd name="connsiteY7" fmla="*/ 0 h 2423246"/>
              <a:gd name="connsiteX8" fmla="*/ 4230416 w 5244132"/>
              <a:gd name="connsiteY8" fmla="*/ 0 h 2423246"/>
              <a:gd name="connsiteX9" fmla="*/ 4645009 w 5244132"/>
              <a:gd name="connsiteY9" fmla="*/ 1264229 h 2423246"/>
              <a:gd name="connsiteX10" fmla="*/ 5244132 w 5244132"/>
              <a:gd name="connsiteY10" fmla="*/ 2423246 h 2423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4132" h="2423246">
                <a:moveTo>
                  <a:pt x="5244132" y="2423246"/>
                </a:moveTo>
                <a:lnTo>
                  <a:pt x="2748385" y="2423246"/>
                </a:lnTo>
                <a:lnTo>
                  <a:pt x="2495747" y="2423246"/>
                </a:lnTo>
                <a:lnTo>
                  <a:pt x="0" y="2423246"/>
                </a:lnTo>
                <a:cubicBezTo>
                  <a:pt x="240348" y="2062307"/>
                  <a:pt x="282575" y="2031568"/>
                  <a:pt x="599123" y="1264229"/>
                </a:cubicBezTo>
                <a:cubicBezTo>
                  <a:pt x="854161" y="609139"/>
                  <a:pt x="875518" y="421410"/>
                  <a:pt x="1013716" y="0"/>
                </a:cubicBezTo>
                <a:lnTo>
                  <a:pt x="2490416" y="0"/>
                </a:lnTo>
                <a:lnTo>
                  <a:pt x="2753716" y="0"/>
                </a:lnTo>
                <a:lnTo>
                  <a:pt x="4230416" y="0"/>
                </a:lnTo>
                <a:cubicBezTo>
                  <a:pt x="4368614" y="421410"/>
                  <a:pt x="4389971" y="609139"/>
                  <a:pt x="4645009" y="1264229"/>
                </a:cubicBezTo>
                <a:cubicBezTo>
                  <a:pt x="4961557" y="2031568"/>
                  <a:pt x="5003784" y="2062307"/>
                  <a:pt x="5244132" y="2423246"/>
                </a:cubicBezTo>
                <a:close/>
              </a:path>
            </a:pathLst>
          </a:custGeom>
          <a:gradFill>
            <a:gsLst>
              <a:gs pos="0">
                <a:schemeClr val="accent1">
                  <a:lumMod val="60000"/>
                  <a:lumOff val="40000"/>
                  <a:alpha val="0"/>
                </a:schemeClr>
              </a:gs>
              <a:gs pos="32000">
                <a:schemeClr val="accent1">
                  <a:lumMod val="60000"/>
                  <a:lumOff val="40000"/>
                  <a:alpha val="9000"/>
                </a:schemeClr>
              </a:gs>
              <a:gs pos="73000">
                <a:schemeClr val="accent1">
                  <a:lumMod val="60000"/>
                  <a:lumOff val="40000"/>
                  <a:alpha val="9000"/>
                </a:schemeClr>
              </a:gs>
              <a:gs pos="100000">
                <a:schemeClr val="accent1">
                  <a:lumMod val="60000"/>
                  <a:lumOff val="40000"/>
                  <a:alpha val="0"/>
                </a:schemeClr>
              </a:gs>
            </a:gsLst>
            <a:lin ang="5400000" scaled="1"/>
          </a:gradFill>
          <a:ln>
            <a:gradFill>
              <a:gsLst>
                <a:gs pos="5000">
                  <a:schemeClr val="accent1">
                    <a:lumMod val="60000"/>
                    <a:lumOff val="40000"/>
                    <a:alpha val="0"/>
                  </a:schemeClr>
                </a:gs>
                <a:gs pos="39000">
                  <a:schemeClr val="accent1">
                    <a:lumMod val="60000"/>
                    <a:lumOff val="40000"/>
                    <a:alpha val="69000"/>
                  </a:schemeClr>
                </a:gs>
                <a:gs pos="69000">
                  <a:schemeClr val="accent1">
                    <a:lumMod val="60000"/>
                    <a:lumOff val="40000"/>
                    <a:alpha val="69000"/>
                  </a:schemeClr>
                </a:gs>
                <a:gs pos="97000">
                  <a:schemeClr val="accent1">
                    <a:lumMod val="60000"/>
                    <a:lumOff val="40000"/>
                    <a:alpha val="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城市数字底座场景建设</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04" name="椭圆 103"/>
          <p:cNvSpPr/>
          <p:nvPr/>
        </p:nvSpPr>
        <p:spPr>
          <a:xfrm>
            <a:off x="1890395" y="1986280"/>
            <a:ext cx="8509635" cy="1498600"/>
          </a:xfrm>
          <a:prstGeom prst="ellipse">
            <a:avLst/>
          </a:prstGeom>
          <a:noFill/>
          <a:ln w="25400">
            <a:gradFill>
              <a:gsLst>
                <a:gs pos="8000">
                  <a:schemeClr val="accent1">
                    <a:alpha val="0"/>
                  </a:schemeClr>
                </a:gs>
                <a:gs pos="100000">
                  <a:schemeClr val="accent1"/>
                </a:gs>
              </a:gsLst>
              <a:lin ang="5400000" scaled="1"/>
            </a:gradFill>
          </a:ln>
          <a:scene3d>
            <a:camera prst="orthographicFront">
              <a:rot lat="3000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cs typeface="微软雅黑" panose="020B0503020204020204" charset="-122"/>
            </a:endParaRPr>
          </a:p>
        </p:txBody>
      </p:sp>
      <p:sp>
        <p:nvSpPr>
          <p:cNvPr id="2" name="椭圆 1"/>
          <p:cNvSpPr/>
          <p:nvPr/>
        </p:nvSpPr>
        <p:spPr>
          <a:xfrm>
            <a:off x="3021965" y="2034540"/>
            <a:ext cx="6118225" cy="823595"/>
          </a:xfrm>
          <a:prstGeom prst="ellipse">
            <a:avLst/>
          </a:prstGeom>
          <a:noFill/>
          <a:ln w="25400">
            <a:gradFill>
              <a:gsLst>
                <a:gs pos="13000">
                  <a:schemeClr val="accent5">
                    <a:alpha val="0"/>
                  </a:schemeClr>
                </a:gs>
                <a:gs pos="100000">
                  <a:schemeClr val="accent5"/>
                </a:gs>
              </a:gsLst>
              <a:lin ang="5400000" scaled="1"/>
            </a:gradFill>
          </a:ln>
          <a:scene3d>
            <a:camera prst="orthographicFront">
              <a:rot lat="3000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cs typeface="微软雅黑" panose="020B0503020204020204" charset="-122"/>
            </a:endParaRPr>
          </a:p>
        </p:txBody>
      </p:sp>
      <p:sp>
        <p:nvSpPr>
          <p:cNvPr id="109" name="椭圆 108"/>
          <p:cNvSpPr/>
          <p:nvPr/>
        </p:nvSpPr>
        <p:spPr>
          <a:xfrm>
            <a:off x="4041775" y="3185795"/>
            <a:ext cx="4077335" cy="1213485"/>
          </a:xfrm>
          <a:prstGeom prst="ellipse">
            <a:avLst/>
          </a:prstGeom>
          <a:gradFill>
            <a:gsLst>
              <a:gs pos="28000">
                <a:schemeClr val="accent1">
                  <a:lumMod val="60000"/>
                  <a:lumOff val="40000"/>
                  <a:alpha val="0"/>
                </a:schemeClr>
              </a:gs>
              <a:gs pos="100000">
                <a:schemeClr val="accent1">
                  <a:lumMod val="60000"/>
                  <a:lumOff val="40000"/>
                  <a:alpha val="23000"/>
                </a:schemeClr>
              </a:gs>
            </a:gsLst>
            <a:lin ang="5400000" scaled="1"/>
          </a:gradFill>
          <a:ln>
            <a:noFill/>
          </a:ln>
          <a:scene3d>
            <a:camera prst="orthographicFront">
              <a:rot lat="3000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cs typeface="微软雅黑" panose="020B0503020204020204" charset="-122"/>
            </a:endParaRPr>
          </a:p>
        </p:txBody>
      </p:sp>
      <p:sp>
        <p:nvSpPr>
          <p:cNvPr id="110" name="椭圆 109"/>
          <p:cNvSpPr/>
          <p:nvPr/>
        </p:nvSpPr>
        <p:spPr>
          <a:xfrm>
            <a:off x="4375150" y="3122295"/>
            <a:ext cx="3419475" cy="1012190"/>
          </a:xfrm>
          <a:prstGeom prst="ellipse">
            <a:avLst/>
          </a:prstGeom>
          <a:gradFill>
            <a:gsLst>
              <a:gs pos="28000">
                <a:schemeClr val="accent1">
                  <a:lumMod val="60000"/>
                  <a:lumOff val="40000"/>
                  <a:alpha val="0"/>
                </a:schemeClr>
              </a:gs>
              <a:gs pos="100000">
                <a:schemeClr val="accent1">
                  <a:lumMod val="60000"/>
                  <a:lumOff val="40000"/>
                  <a:alpha val="24000"/>
                </a:schemeClr>
              </a:gs>
            </a:gsLst>
            <a:lin ang="5400000" scaled="1"/>
          </a:gradFill>
          <a:ln>
            <a:noFill/>
          </a:ln>
          <a:scene3d>
            <a:camera prst="orthographicFront">
              <a:rot lat="3000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cs typeface="微软雅黑" panose="020B0503020204020204" charset="-122"/>
            </a:endParaRPr>
          </a:p>
        </p:txBody>
      </p:sp>
      <p:sp>
        <p:nvSpPr>
          <p:cNvPr id="4" name="椭圆 3"/>
          <p:cNvSpPr/>
          <p:nvPr/>
        </p:nvSpPr>
        <p:spPr>
          <a:xfrm>
            <a:off x="4759325" y="4262120"/>
            <a:ext cx="2792095" cy="511175"/>
          </a:xfrm>
          <a:prstGeom prst="ellipse">
            <a:avLst/>
          </a:prstGeom>
          <a:noFill/>
          <a:ln w="25400">
            <a:gradFill>
              <a:gsLst>
                <a:gs pos="41000">
                  <a:schemeClr val="accent1">
                    <a:lumMod val="60000"/>
                    <a:lumOff val="40000"/>
                  </a:schemeClr>
                </a:gs>
                <a:gs pos="92000">
                  <a:schemeClr val="accent1">
                    <a:lumMod val="60000"/>
                    <a:lumOff val="40000"/>
                    <a:alpha val="0"/>
                  </a:schemeClr>
                </a:gs>
                <a:gs pos="5000">
                  <a:schemeClr val="accent1">
                    <a:lumMod val="60000"/>
                    <a:lumOff val="40000"/>
                    <a:alpha val="0"/>
                  </a:schemeClr>
                </a:gs>
                <a:gs pos="70000">
                  <a:schemeClr val="accent1">
                    <a:lumMod val="60000"/>
                    <a:lumOff val="40000"/>
                  </a:schemeClr>
                </a:gs>
              </a:gsLst>
              <a:lin ang="5400000" scaled="1"/>
            </a:gradFill>
          </a:ln>
          <a:scene3d>
            <a:camera prst="orthographicFront">
              <a:rot lat="1200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cs typeface="微软雅黑" panose="020B0503020204020204" charset="-122"/>
            </a:endParaRPr>
          </a:p>
        </p:txBody>
      </p:sp>
      <p:sp>
        <p:nvSpPr>
          <p:cNvPr id="6" name="椭圆 5"/>
          <p:cNvSpPr/>
          <p:nvPr/>
        </p:nvSpPr>
        <p:spPr>
          <a:xfrm>
            <a:off x="4592320" y="4899660"/>
            <a:ext cx="3096260" cy="915670"/>
          </a:xfrm>
          <a:prstGeom prst="ellipse">
            <a:avLst/>
          </a:prstGeom>
          <a:gradFill>
            <a:gsLst>
              <a:gs pos="0">
                <a:schemeClr val="accent1">
                  <a:lumMod val="60000"/>
                  <a:lumOff val="40000"/>
                  <a:alpha val="0"/>
                </a:schemeClr>
              </a:gs>
              <a:gs pos="100000">
                <a:schemeClr val="accent1">
                  <a:lumMod val="60000"/>
                  <a:lumOff val="40000"/>
                  <a:alpha val="40000"/>
                </a:schemeClr>
              </a:gs>
            </a:gsLst>
            <a:lin ang="5400000" scaled="1"/>
          </a:gradFill>
          <a:ln>
            <a:noFill/>
          </a:ln>
          <a:scene3d>
            <a:camera prst="orthographicFront">
              <a:rot lat="3000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cs typeface="微软雅黑" panose="020B0503020204020204" charset="-122"/>
            </a:endParaRPr>
          </a:p>
        </p:txBody>
      </p:sp>
      <p:sp>
        <p:nvSpPr>
          <p:cNvPr id="34" name="任意多边形: 形状 33"/>
          <p:cNvSpPr/>
          <p:nvPr/>
        </p:nvSpPr>
        <p:spPr>
          <a:xfrm>
            <a:off x="4074160" y="5643880"/>
            <a:ext cx="4251325" cy="859790"/>
          </a:xfrm>
          <a:custGeom>
            <a:avLst/>
            <a:gdLst>
              <a:gd name="connsiteX0" fmla="*/ 1429941 w 2859880"/>
              <a:gd name="connsiteY0" fmla="*/ 0 h 578502"/>
              <a:gd name="connsiteX1" fmla="*/ 2852499 w 2859880"/>
              <a:gd name="connsiteY1" fmla="*/ 259677 h 578502"/>
              <a:gd name="connsiteX2" fmla="*/ 2859880 w 2859880"/>
              <a:gd name="connsiteY2" fmla="*/ 289243 h 578502"/>
              <a:gd name="connsiteX3" fmla="*/ 2859880 w 2859880"/>
              <a:gd name="connsiteY3" fmla="*/ 289259 h 578502"/>
              <a:gd name="connsiteX4" fmla="*/ 2852499 w 2859880"/>
              <a:gd name="connsiteY4" fmla="*/ 318825 h 578502"/>
              <a:gd name="connsiteX5" fmla="*/ 1429941 w 2859880"/>
              <a:gd name="connsiteY5" fmla="*/ 578502 h 578502"/>
              <a:gd name="connsiteX6" fmla="*/ 0 w 2859880"/>
              <a:gd name="connsiteY6" fmla="*/ 289251 h 578502"/>
              <a:gd name="connsiteX7" fmla="*/ 1429941 w 2859880"/>
              <a:gd name="connsiteY7" fmla="*/ 0 h 578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59880" h="578502">
                <a:moveTo>
                  <a:pt x="1429941" y="0"/>
                </a:moveTo>
                <a:cubicBezTo>
                  <a:pt x="2170318" y="0"/>
                  <a:pt x="2779272" y="113820"/>
                  <a:pt x="2852499" y="259677"/>
                </a:cubicBezTo>
                <a:lnTo>
                  <a:pt x="2859880" y="289243"/>
                </a:lnTo>
                <a:lnTo>
                  <a:pt x="2859880" y="289259"/>
                </a:lnTo>
                <a:lnTo>
                  <a:pt x="2852499" y="318825"/>
                </a:lnTo>
                <a:cubicBezTo>
                  <a:pt x="2779272" y="464682"/>
                  <a:pt x="2170318" y="578502"/>
                  <a:pt x="1429941" y="578502"/>
                </a:cubicBezTo>
                <a:cubicBezTo>
                  <a:pt x="640206" y="578502"/>
                  <a:pt x="0" y="449000"/>
                  <a:pt x="0" y="289251"/>
                </a:cubicBezTo>
                <a:cubicBezTo>
                  <a:pt x="0" y="129502"/>
                  <a:pt x="640206" y="0"/>
                  <a:pt x="1429941" y="0"/>
                </a:cubicBezTo>
                <a:close/>
              </a:path>
            </a:pathLst>
          </a:custGeom>
          <a:gradFill>
            <a:gsLst>
              <a:gs pos="0">
                <a:schemeClr val="accent1">
                  <a:alpha val="0"/>
                </a:schemeClr>
              </a:gs>
              <a:gs pos="100000">
                <a:schemeClr val="accent1">
                  <a:alpha val="20000"/>
                </a:schemeClr>
              </a:gs>
            </a:gsLst>
            <a:lin ang="5400000" scaled="1"/>
          </a:gradFill>
          <a:ln w="6350" cap="flat" cmpd="sng" algn="ctr">
            <a:solidFill>
              <a:schemeClr val="accent1">
                <a:alpha val="50000"/>
              </a:schemeClr>
            </a:solidFill>
            <a:prstDash val="solid"/>
            <a:miter lim="800000"/>
          </a:ln>
          <a:effectLst/>
        </p:spPr>
        <p:txBody>
          <a:bodyPr wrap="square" rtlCol="0" anchor="ctr">
            <a:noAutofit/>
          </a:bodyPr>
          <a:p>
            <a:pPr algn="ctr" defTabSz="1920240">
              <a:defRPr/>
            </a:pPr>
            <a:endParaRPr lang="zh-CN" altLang="en-US" sz="3780" kern="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35" name="任意多边形: 形状 34"/>
          <p:cNvSpPr/>
          <p:nvPr/>
        </p:nvSpPr>
        <p:spPr>
          <a:xfrm>
            <a:off x="4074160" y="6075045"/>
            <a:ext cx="4244975" cy="535940"/>
          </a:xfrm>
          <a:custGeom>
            <a:avLst/>
            <a:gdLst>
              <a:gd name="connsiteX0" fmla="*/ 1 w 2859882"/>
              <a:gd name="connsiteY0" fmla="*/ 0 h 361156"/>
              <a:gd name="connsiteX1" fmla="*/ 1429942 w 2859882"/>
              <a:gd name="connsiteY1" fmla="*/ 289251 h 361156"/>
              <a:gd name="connsiteX2" fmla="*/ 2852500 w 2859882"/>
              <a:gd name="connsiteY2" fmla="*/ 29574 h 361156"/>
              <a:gd name="connsiteX3" fmla="*/ 2859881 w 2859882"/>
              <a:gd name="connsiteY3" fmla="*/ 8 h 361156"/>
              <a:gd name="connsiteX4" fmla="*/ 2859881 w 2859882"/>
              <a:gd name="connsiteY4" fmla="*/ 69524 h 361156"/>
              <a:gd name="connsiteX5" fmla="*/ 2859288 w 2859882"/>
              <a:gd name="connsiteY5" fmla="*/ 69524 h 361156"/>
              <a:gd name="connsiteX6" fmla="*/ 2859882 w 2859882"/>
              <a:gd name="connsiteY6" fmla="*/ 71905 h 361156"/>
              <a:gd name="connsiteX7" fmla="*/ 1429941 w 2859882"/>
              <a:gd name="connsiteY7" fmla="*/ 361156 h 361156"/>
              <a:gd name="connsiteX8" fmla="*/ 0 w 2859882"/>
              <a:gd name="connsiteY8" fmla="*/ 71905 h 361156"/>
              <a:gd name="connsiteX9" fmla="*/ 595 w 2859882"/>
              <a:gd name="connsiteY9" fmla="*/ 69524 h 361156"/>
              <a:gd name="connsiteX10" fmla="*/ 1 w 2859882"/>
              <a:gd name="connsiteY10" fmla="*/ 69524 h 361156"/>
              <a:gd name="connsiteX11" fmla="*/ 1 w 2859882"/>
              <a:gd name="connsiteY11" fmla="*/ 0 h 3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59882" h="361156">
                <a:moveTo>
                  <a:pt x="1" y="0"/>
                </a:moveTo>
                <a:cubicBezTo>
                  <a:pt x="1" y="159749"/>
                  <a:pt x="640207" y="289251"/>
                  <a:pt x="1429942" y="289251"/>
                </a:cubicBezTo>
                <a:cubicBezTo>
                  <a:pt x="2170319" y="289251"/>
                  <a:pt x="2779273" y="175431"/>
                  <a:pt x="2852500" y="29574"/>
                </a:cubicBezTo>
                <a:lnTo>
                  <a:pt x="2859881" y="8"/>
                </a:lnTo>
                <a:lnTo>
                  <a:pt x="2859881" y="69524"/>
                </a:lnTo>
                <a:lnTo>
                  <a:pt x="2859288" y="69524"/>
                </a:lnTo>
                <a:lnTo>
                  <a:pt x="2859882" y="71905"/>
                </a:lnTo>
                <a:cubicBezTo>
                  <a:pt x="2859882" y="231654"/>
                  <a:pt x="2219676" y="361156"/>
                  <a:pt x="1429941" y="361156"/>
                </a:cubicBezTo>
                <a:cubicBezTo>
                  <a:pt x="640206" y="361156"/>
                  <a:pt x="0" y="231654"/>
                  <a:pt x="0" y="71905"/>
                </a:cubicBezTo>
                <a:lnTo>
                  <a:pt x="595" y="69524"/>
                </a:lnTo>
                <a:lnTo>
                  <a:pt x="1" y="69524"/>
                </a:lnTo>
                <a:lnTo>
                  <a:pt x="1" y="0"/>
                </a:lnTo>
                <a:close/>
              </a:path>
            </a:pathLst>
          </a:custGeom>
          <a:solidFill>
            <a:schemeClr val="accent1"/>
          </a:solidFill>
          <a:ln w="6350" cap="flat" cmpd="sng" algn="ctr">
            <a:gradFill flip="none" rotWithShape="1">
              <a:gsLst>
                <a:gs pos="0">
                  <a:schemeClr val="accent1">
                    <a:alpha val="0"/>
                  </a:schemeClr>
                </a:gs>
                <a:gs pos="100000">
                  <a:schemeClr val="accent1"/>
                </a:gs>
              </a:gsLst>
              <a:lin ang="5400000" scaled="1"/>
              <a:tileRect/>
            </a:gradFill>
            <a:prstDash val="solid"/>
            <a:miter lim="800000"/>
          </a:ln>
          <a:effectLst/>
        </p:spPr>
        <p:txBody>
          <a:bodyPr wrap="square" rtlCol="0" anchor="ctr">
            <a:noAutofit/>
          </a:bodyPr>
          <a:p>
            <a:pPr algn="ctr" defTabSz="1920240">
              <a:defRPr/>
            </a:pPr>
            <a:endParaRPr lang="zh-CN" altLang="en-US" sz="3780" kern="0"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2406650" y="2533650"/>
            <a:ext cx="649605" cy="306705"/>
          </a:xfrm>
          <a:prstGeom prst="rect">
            <a:avLst/>
          </a:prstGeom>
          <a:noFill/>
        </p:spPr>
        <p:txBody>
          <a:bodyPr wrap="square" rtlCol="0">
            <a:spAutoFit/>
          </a:bodyPr>
          <a:p>
            <a:r>
              <a:rPr lang="en-US" altLang="zh-CN" sz="1400">
                <a:solidFill>
                  <a:schemeClr val="accent1"/>
                </a:solidFill>
                <a:latin typeface="微软雅黑" panose="020B0503020204020204" charset="-122"/>
                <a:ea typeface="微软雅黑" panose="020B0503020204020204" charset="-122"/>
                <a:cs typeface="微软雅黑" panose="020B0503020204020204" charset="-122"/>
              </a:rPr>
              <a:t>……</a:t>
            </a:r>
            <a:endParaRPr lang="en-US" altLang="zh-CN" sz="14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9380855" y="2533650"/>
            <a:ext cx="649605" cy="306705"/>
          </a:xfrm>
          <a:prstGeom prst="rect">
            <a:avLst/>
          </a:prstGeom>
          <a:noFill/>
        </p:spPr>
        <p:txBody>
          <a:bodyPr wrap="square" rtlCol="0">
            <a:spAutoFit/>
          </a:bodyPr>
          <a:p>
            <a:r>
              <a:rPr lang="en-US" altLang="zh-CN" sz="1400">
                <a:solidFill>
                  <a:schemeClr val="accent1"/>
                </a:solidFill>
                <a:latin typeface="微软雅黑" panose="020B0503020204020204" charset="-122"/>
                <a:ea typeface="微软雅黑" panose="020B0503020204020204" charset="-122"/>
                <a:cs typeface="微软雅黑" panose="020B0503020204020204" charset="-122"/>
              </a:rPr>
              <a:t>……</a:t>
            </a:r>
            <a:endParaRPr lang="en-US" altLang="zh-CN" sz="14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3212465" y="2659380"/>
            <a:ext cx="982345" cy="275590"/>
          </a:xfrm>
          <a:prstGeom prst="rect">
            <a:avLst/>
          </a:prstGeom>
          <a:noFill/>
        </p:spPr>
        <p:txBody>
          <a:bodyPr wrap="square" rtlCol="0">
            <a:spAutoFit/>
          </a:bodyPr>
          <a:p>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经济调节</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4513580" y="2791460"/>
            <a:ext cx="982345" cy="275590"/>
          </a:xfrm>
          <a:prstGeom prst="rect">
            <a:avLst/>
          </a:prstGeom>
          <a:noFill/>
        </p:spPr>
        <p:txBody>
          <a:bodyPr wrap="square" rtlCol="0">
            <a:spAutoFit/>
          </a:bodyPr>
          <a:p>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市场监管</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3" name="文本框 12"/>
          <p:cNvSpPr txBox="1"/>
          <p:nvPr/>
        </p:nvSpPr>
        <p:spPr>
          <a:xfrm>
            <a:off x="5742305" y="2926080"/>
            <a:ext cx="982345" cy="275590"/>
          </a:xfrm>
          <a:prstGeom prst="rect">
            <a:avLst/>
          </a:prstGeom>
          <a:noFill/>
        </p:spPr>
        <p:txBody>
          <a:bodyPr wrap="square" rtlCol="0">
            <a:spAutoFit/>
          </a:bodyPr>
          <a:p>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公共服务</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a:off x="6981825" y="2795905"/>
            <a:ext cx="982345" cy="275590"/>
          </a:xfrm>
          <a:prstGeom prst="rect">
            <a:avLst/>
          </a:prstGeom>
          <a:noFill/>
        </p:spPr>
        <p:txBody>
          <a:bodyPr wrap="square" rtlCol="0">
            <a:spAutoFit/>
          </a:bodyPr>
          <a:p>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社会治理</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8296910" y="2651760"/>
            <a:ext cx="982345" cy="275590"/>
          </a:xfrm>
          <a:prstGeom prst="rect">
            <a:avLst/>
          </a:prstGeom>
          <a:noFill/>
        </p:spPr>
        <p:txBody>
          <a:bodyPr wrap="square" rtlCol="0">
            <a:spAutoFit/>
          </a:bodyPr>
          <a:p>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环境保护</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7" name="圆角矩形 16"/>
          <p:cNvSpPr/>
          <p:nvPr/>
        </p:nvSpPr>
        <p:spPr>
          <a:xfrm>
            <a:off x="4538345" y="2269490"/>
            <a:ext cx="747395" cy="261620"/>
          </a:xfrm>
          <a:prstGeom prst="roundRect">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8" name="圆角矩形 17"/>
          <p:cNvSpPr/>
          <p:nvPr/>
        </p:nvSpPr>
        <p:spPr>
          <a:xfrm>
            <a:off x="5370830" y="2269490"/>
            <a:ext cx="747395" cy="261620"/>
          </a:xfrm>
          <a:prstGeom prst="roundRect">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9" name="圆角矩形 18"/>
          <p:cNvSpPr/>
          <p:nvPr/>
        </p:nvSpPr>
        <p:spPr>
          <a:xfrm>
            <a:off x="6203315" y="2269490"/>
            <a:ext cx="747395" cy="261620"/>
          </a:xfrm>
          <a:prstGeom prst="roundRect">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0" name="圆角矩形 19"/>
          <p:cNvSpPr/>
          <p:nvPr/>
        </p:nvSpPr>
        <p:spPr>
          <a:xfrm>
            <a:off x="7035800" y="2269490"/>
            <a:ext cx="747395" cy="261620"/>
          </a:xfrm>
          <a:prstGeom prst="roundRect">
            <a:avLst/>
          </a:prstGeom>
          <a:solidFill>
            <a:schemeClr val="accent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1" name="文本框 20"/>
          <p:cNvSpPr txBox="1"/>
          <p:nvPr/>
        </p:nvSpPr>
        <p:spPr>
          <a:xfrm>
            <a:off x="4513580" y="2269490"/>
            <a:ext cx="793750" cy="275590"/>
          </a:xfrm>
          <a:prstGeom prst="rect">
            <a:avLst/>
          </a:prstGeom>
          <a:solidFill>
            <a:schemeClr val="bg1"/>
          </a:solidFill>
          <a:ln>
            <a:solidFill>
              <a:schemeClr val="accent5"/>
            </a:solidFill>
          </a:ln>
        </p:spPr>
        <p:txBody>
          <a:bodyPr wrap="square" rtlCol="0">
            <a:spAutoFit/>
          </a:bodyPr>
          <a:p>
            <a:pPr algn="ctr"/>
            <a:r>
              <a:rPr lang="zh-CN" altLang="en-US" sz="1200">
                <a:solidFill>
                  <a:schemeClr val="accent5"/>
                </a:solidFill>
                <a:latin typeface="微软雅黑" panose="020B0503020204020204" charset="-122"/>
                <a:ea typeface="微软雅黑" panose="020B0503020204020204" charset="-122"/>
                <a:cs typeface="微软雅黑" panose="020B0503020204020204" charset="-122"/>
              </a:rPr>
              <a:t>智能发现</a:t>
            </a:r>
            <a:endParaRPr lang="zh-CN" altLang="en-US" sz="120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nvSpPr>
        <p:spPr>
          <a:xfrm>
            <a:off x="5358130" y="2269490"/>
            <a:ext cx="793750" cy="275590"/>
          </a:xfrm>
          <a:prstGeom prst="rect">
            <a:avLst/>
          </a:prstGeom>
          <a:solidFill>
            <a:schemeClr val="bg1"/>
          </a:solidFill>
          <a:ln>
            <a:solidFill>
              <a:schemeClr val="accent5"/>
            </a:solidFill>
          </a:ln>
        </p:spPr>
        <p:txBody>
          <a:bodyPr wrap="square" rtlCol="0">
            <a:spAutoFit/>
          </a:bodyPr>
          <a:p>
            <a:pPr lvl="0" algn="ctr">
              <a:buClrTx/>
              <a:buSzTx/>
              <a:buFontTx/>
            </a:pPr>
            <a:r>
              <a:rPr lang="zh-CN" altLang="en-US" sz="1200">
                <a:solidFill>
                  <a:schemeClr val="accent5"/>
                </a:solidFill>
                <a:latin typeface="微软雅黑" panose="020B0503020204020204" charset="-122"/>
                <a:ea typeface="微软雅黑" panose="020B0503020204020204" charset="-122"/>
                <a:cs typeface="微软雅黑" panose="020B0503020204020204" charset="-122"/>
                <a:sym typeface="+mn-ea"/>
              </a:rPr>
              <a:t>融合调度</a:t>
            </a:r>
            <a:endParaRPr lang="zh-CN" altLang="en-US" sz="120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23" name="文本框 22"/>
          <p:cNvSpPr txBox="1"/>
          <p:nvPr/>
        </p:nvSpPr>
        <p:spPr>
          <a:xfrm>
            <a:off x="6181725" y="2269490"/>
            <a:ext cx="793750" cy="275590"/>
          </a:xfrm>
          <a:prstGeom prst="rect">
            <a:avLst/>
          </a:prstGeom>
          <a:solidFill>
            <a:schemeClr val="bg1"/>
          </a:solidFill>
          <a:ln>
            <a:solidFill>
              <a:schemeClr val="accent5"/>
            </a:solidFill>
          </a:ln>
        </p:spPr>
        <p:txBody>
          <a:bodyPr wrap="square" rtlCol="0">
            <a:spAutoFit/>
          </a:bodyPr>
          <a:p>
            <a:pPr lvl="0" algn="ctr">
              <a:buClrTx/>
              <a:buSzTx/>
              <a:buFontTx/>
            </a:pPr>
            <a:r>
              <a:rPr lang="zh-CN" altLang="en-US" sz="1200">
                <a:solidFill>
                  <a:schemeClr val="accent5"/>
                </a:solidFill>
                <a:latin typeface="微软雅黑" panose="020B0503020204020204" charset="-122"/>
                <a:ea typeface="微软雅黑" panose="020B0503020204020204" charset="-122"/>
                <a:cs typeface="微软雅黑" panose="020B0503020204020204" charset="-122"/>
                <a:sym typeface="+mn-ea"/>
              </a:rPr>
              <a:t>协同处置</a:t>
            </a:r>
            <a:endParaRPr lang="zh-CN" altLang="en-US" sz="120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24" name="文本框 23"/>
          <p:cNvSpPr txBox="1"/>
          <p:nvPr/>
        </p:nvSpPr>
        <p:spPr>
          <a:xfrm>
            <a:off x="7009130" y="2269490"/>
            <a:ext cx="793750" cy="275590"/>
          </a:xfrm>
          <a:prstGeom prst="rect">
            <a:avLst/>
          </a:prstGeom>
          <a:solidFill>
            <a:schemeClr val="bg1"/>
          </a:solidFill>
          <a:ln>
            <a:solidFill>
              <a:schemeClr val="accent5"/>
            </a:solidFill>
          </a:ln>
        </p:spPr>
        <p:txBody>
          <a:bodyPr wrap="square" rtlCol="0">
            <a:spAutoFit/>
          </a:bodyPr>
          <a:p>
            <a:pPr lvl="0" algn="ctr">
              <a:buClrTx/>
              <a:buSzTx/>
              <a:buFontTx/>
            </a:pPr>
            <a:r>
              <a:rPr lang="zh-CN" altLang="en-US" sz="1200">
                <a:solidFill>
                  <a:schemeClr val="accent5"/>
                </a:solidFill>
                <a:latin typeface="微软雅黑" panose="020B0503020204020204" charset="-122"/>
                <a:ea typeface="微软雅黑" panose="020B0503020204020204" charset="-122"/>
                <a:cs typeface="微软雅黑" panose="020B0503020204020204" charset="-122"/>
                <a:sym typeface="+mn-ea"/>
              </a:rPr>
              <a:t>智能分析</a:t>
            </a:r>
            <a:endParaRPr lang="zh-CN" altLang="en-US" sz="120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25" name="文本框 24"/>
          <p:cNvSpPr txBox="1"/>
          <p:nvPr/>
        </p:nvSpPr>
        <p:spPr>
          <a:xfrm>
            <a:off x="5710555" y="1873250"/>
            <a:ext cx="982345" cy="306705"/>
          </a:xfrm>
          <a:prstGeom prst="rect">
            <a:avLst/>
          </a:prstGeom>
          <a:noFill/>
        </p:spPr>
        <p:txBody>
          <a:bodyPr wrap="square" rtlCol="0">
            <a:spAutoFit/>
          </a:bodyPr>
          <a:p>
            <a:r>
              <a:rPr lang="zh-CN" altLang="en-US" sz="1400" b="1">
                <a:solidFill>
                  <a:schemeClr val="accent5"/>
                </a:solidFill>
                <a:latin typeface="微软雅黑" panose="020B0503020204020204" charset="-122"/>
                <a:ea typeface="微软雅黑" panose="020B0503020204020204" charset="-122"/>
                <a:cs typeface="微软雅黑" panose="020B0503020204020204" charset="-122"/>
              </a:rPr>
              <a:t>智能应用</a:t>
            </a:r>
            <a:endParaRPr lang="zh-CN" altLang="en-US" sz="14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253" name="椭圆 252"/>
          <p:cNvSpPr/>
          <p:nvPr/>
        </p:nvSpPr>
        <p:spPr>
          <a:xfrm>
            <a:off x="3223895" y="1731645"/>
            <a:ext cx="623570" cy="623570"/>
          </a:xfrm>
          <a:prstGeom prst="ellipse">
            <a:avLst/>
          </a:prstGeom>
          <a:gradFill>
            <a:gsLst>
              <a:gs pos="37000">
                <a:schemeClr val="accent5">
                  <a:alpha val="50000"/>
                </a:schemeClr>
              </a:gs>
              <a:gs pos="86000">
                <a:schemeClr val="accent5"/>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b="1" dirty="0">
              <a:cs typeface="微软雅黑" panose="020B0503020204020204" charset="-122"/>
              <a:sym typeface="+mn-ea"/>
            </a:endParaRPr>
          </a:p>
        </p:txBody>
      </p:sp>
      <p:sp>
        <p:nvSpPr>
          <p:cNvPr id="26" name="椭圆 25"/>
          <p:cNvSpPr/>
          <p:nvPr/>
        </p:nvSpPr>
        <p:spPr>
          <a:xfrm>
            <a:off x="3958590" y="1527175"/>
            <a:ext cx="623570" cy="623570"/>
          </a:xfrm>
          <a:prstGeom prst="ellipse">
            <a:avLst/>
          </a:prstGeom>
          <a:gradFill>
            <a:gsLst>
              <a:gs pos="37000">
                <a:schemeClr val="accent5">
                  <a:alpha val="50000"/>
                </a:schemeClr>
              </a:gs>
              <a:gs pos="86000">
                <a:schemeClr val="accent5"/>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b="1" dirty="0">
              <a:cs typeface="微软雅黑" panose="020B0503020204020204" charset="-122"/>
              <a:sym typeface="+mn-ea"/>
            </a:endParaRPr>
          </a:p>
        </p:txBody>
      </p:sp>
      <p:sp>
        <p:nvSpPr>
          <p:cNvPr id="27" name="椭圆 26"/>
          <p:cNvSpPr/>
          <p:nvPr/>
        </p:nvSpPr>
        <p:spPr>
          <a:xfrm>
            <a:off x="8175625" y="1731645"/>
            <a:ext cx="623570" cy="623570"/>
          </a:xfrm>
          <a:prstGeom prst="ellipse">
            <a:avLst/>
          </a:prstGeom>
          <a:gradFill>
            <a:gsLst>
              <a:gs pos="37000">
                <a:schemeClr val="accent5">
                  <a:alpha val="50000"/>
                </a:schemeClr>
              </a:gs>
              <a:gs pos="86000">
                <a:schemeClr val="accent5"/>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p>
            <a:pPr algn="ctr"/>
            <a:endParaRPr lang="zh-CN" altLang="en-US" b="1" dirty="0">
              <a:cs typeface="微软雅黑" panose="020B0503020204020204" charset="-122"/>
            </a:endParaRPr>
          </a:p>
        </p:txBody>
      </p:sp>
      <p:sp>
        <p:nvSpPr>
          <p:cNvPr id="28" name="椭圆 27"/>
          <p:cNvSpPr/>
          <p:nvPr/>
        </p:nvSpPr>
        <p:spPr>
          <a:xfrm>
            <a:off x="7464425" y="1527175"/>
            <a:ext cx="623570" cy="623570"/>
          </a:xfrm>
          <a:prstGeom prst="ellipse">
            <a:avLst/>
          </a:prstGeom>
          <a:gradFill>
            <a:gsLst>
              <a:gs pos="37000">
                <a:schemeClr val="accent5">
                  <a:alpha val="50000"/>
                </a:schemeClr>
              </a:gs>
              <a:gs pos="86000">
                <a:schemeClr val="accent5"/>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b="1" dirty="0">
              <a:cs typeface="微软雅黑" panose="020B0503020204020204" charset="-122"/>
              <a:sym typeface="+mn-ea"/>
            </a:endParaRPr>
          </a:p>
        </p:txBody>
      </p:sp>
      <p:sp>
        <p:nvSpPr>
          <p:cNvPr id="29" name="椭圆 28"/>
          <p:cNvSpPr/>
          <p:nvPr/>
        </p:nvSpPr>
        <p:spPr>
          <a:xfrm>
            <a:off x="6753225" y="1292225"/>
            <a:ext cx="623570" cy="623570"/>
          </a:xfrm>
          <a:prstGeom prst="ellipse">
            <a:avLst/>
          </a:prstGeom>
          <a:gradFill>
            <a:gsLst>
              <a:gs pos="37000">
                <a:schemeClr val="accent5">
                  <a:alpha val="50000"/>
                </a:schemeClr>
              </a:gs>
              <a:gs pos="86000">
                <a:schemeClr val="accent5"/>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b="1" dirty="0">
              <a:cs typeface="微软雅黑" panose="020B0503020204020204" charset="-122"/>
              <a:sym typeface="+mn-ea"/>
            </a:endParaRPr>
          </a:p>
        </p:txBody>
      </p:sp>
      <p:sp>
        <p:nvSpPr>
          <p:cNvPr id="30" name="椭圆 29"/>
          <p:cNvSpPr/>
          <p:nvPr/>
        </p:nvSpPr>
        <p:spPr>
          <a:xfrm>
            <a:off x="6042025" y="1146810"/>
            <a:ext cx="623570" cy="623570"/>
          </a:xfrm>
          <a:prstGeom prst="ellipse">
            <a:avLst/>
          </a:prstGeom>
          <a:gradFill>
            <a:gsLst>
              <a:gs pos="37000">
                <a:schemeClr val="accent5">
                  <a:alpha val="50000"/>
                </a:schemeClr>
              </a:gs>
              <a:gs pos="86000">
                <a:schemeClr val="accent5"/>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b="1" dirty="0">
              <a:cs typeface="微软雅黑" panose="020B0503020204020204" charset="-122"/>
              <a:sym typeface="+mn-ea"/>
            </a:endParaRPr>
          </a:p>
        </p:txBody>
      </p:sp>
      <p:sp>
        <p:nvSpPr>
          <p:cNvPr id="31" name="椭圆 30"/>
          <p:cNvSpPr/>
          <p:nvPr/>
        </p:nvSpPr>
        <p:spPr>
          <a:xfrm>
            <a:off x="5349240" y="1157605"/>
            <a:ext cx="623570" cy="623570"/>
          </a:xfrm>
          <a:prstGeom prst="ellipse">
            <a:avLst/>
          </a:prstGeom>
          <a:gradFill>
            <a:gsLst>
              <a:gs pos="37000">
                <a:schemeClr val="accent5">
                  <a:alpha val="50000"/>
                </a:schemeClr>
              </a:gs>
              <a:gs pos="86000">
                <a:schemeClr val="accent5"/>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b="1" dirty="0">
              <a:cs typeface="微软雅黑" panose="020B0503020204020204" charset="-122"/>
              <a:sym typeface="+mn-ea"/>
            </a:endParaRPr>
          </a:p>
        </p:txBody>
      </p:sp>
      <p:sp>
        <p:nvSpPr>
          <p:cNvPr id="32" name="椭圆 31"/>
          <p:cNvSpPr/>
          <p:nvPr/>
        </p:nvSpPr>
        <p:spPr>
          <a:xfrm>
            <a:off x="4666933" y="1296035"/>
            <a:ext cx="623570" cy="623570"/>
          </a:xfrm>
          <a:prstGeom prst="ellipse">
            <a:avLst/>
          </a:prstGeom>
          <a:gradFill>
            <a:gsLst>
              <a:gs pos="37000">
                <a:schemeClr val="accent5">
                  <a:alpha val="50000"/>
                </a:schemeClr>
              </a:gs>
              <a:gs pos="86000">
                <a:schemeClr val="accent5"/>
              </a:gs>
            </a:gsLst>
            <a:path path="circle">
              <a:fillToRect r="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buClrTx/>
              <a:buSzTx/>
              <a:buFontTx/>
            </a:pPr>
            <a:endParaRPr lang="zh-CN" altLang="en-US" b="1" dirty="0">
              <a:cs typeface="微软雅黑" panose="020B0503020204020204" charset="-122"/>
              <a:sym typeface="+mn-ea"/>
            </a:endParaRPr>
          </a:p>
        </p:txBody>
      </p:sp>
      <p:sp>
        <p:nvSpPr>
          <p:cNvPr id="33" name="文本框 32"/>
          <p:cNvSpPr txBox="1"/>
          <p:nvPr/>
        </p:nvSpPr>
        <p:spPr>
          <a:xfrm>
            <a:off x="3282633" y="1813243"/>
            <a:ext cx="506095" cy="460375"/>
          </a:xfrm>
          <a:prstGeom prst="rect">
            <a:avLst/>
          </a:prstGeom>
          <a:noFill/>
        </p:spPr>
        <p:txBody>
          <a:bodyPr wrap="square" rtlCol="0">
            <a:spAutoFit/>
          </a:bodyPr>
          <a:p>
            <a:r>
              <a:rPr lang="zh-CN" altLang="en-US" sz="1200">
                <a:solidFill>
                  <a:schemeClr val="bg1"/>
                </a:solidFill>
                <a:latin typeface="微软雅黑" panose="020B0503020204020204" charset="-122"/>
                <a:ea typeface="微软雅黑" panose="020B0503020204020204" charset="-122"/>
                <a:cs typeface="微软雅黑" panose="020B0503020204020204" charset="-122"/>
              </a:rPr>
              <a:t>噪音扰民</a:t>
            </a:r>
            <a:endParaRPr lang="zh-CN" altLang="en-US" sz="12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6" name="文本框 35"/>
          <p:cNvSpPr txBox="1"/>
          <p:nvPr/>
        </p:nvSpPr>
        <p:spPr>
          <a:xfrm>
            <a:off x="3932555" y="1639570"/>
            <a:ext cx="675640" cy="398780"/>
          </a:xfrm>
          <a:prstGeom prst="rect">
            <a:avLst/>
          </a:prstGeom>
          <a:noFill/>
        </p:spPr>
        <p:txBody>
          <a:bodyPr wrap="square" rtlCol="0">
            <a:spAutoFit/>
          </a:bodyPr>
          <a:p>
            <a:pPr algn="ctr"/>
            <a:r>
              <a:rPr lang="zh-CN" altLang="en-US" sz="1000">
                <a:solidFill>
                  <a:schemeClr val="bg1"/>
                </a:solidFill>
                <a:latin typeface="微软雅黑" panose="020B0503020204020204" charset="-122"/>
                <a:ea typeface="微软雅黑" panose="020B0503020204020204" charset="-122"/>
                <a:cs typeface="微软雅黑" panose="020B0503020204020204" charset="-122"/>
              </a:rPr>
              <a:t>渣土车治理</a:t>
            </a:r>
            <a:endParaRPr lang="zh-CN" altLang="en-US"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7" name="文本框 36"/>
          <p:cNvSpPr txBox="1"/>
          <p:nvPr/>
        </p:nvSpPr>
        <p:spPr>
          <a:xfrm>
            <a:off x="4640898" y="1408430"/>
            <a:ext cx="675640" cy="398780"/>
          </a:xfrm>
          <a:prstGeom prst="rect">
            <a:avLst/>
          </a:prstGeom>
          <a:noFill/>
        </p:spPr>
        <p:txBody>
          <a:bodyPr wrap="square" rtlCol="0">
            <a:spAutoFit/>
          </a:bodyPr>
          <a:p>
            <a:pPr algn="ctr"/>
            <a:r>
              <a:rPr lang="zh-CN" altLang="en-US" sz="1000">
                <a:solidFill>
                  <a:schemeClr val="bg1"/>
                </a:solidFill>
                <a:latin typeface="微软雅黑" panose="020B0503020204020204" charset="-122"/>
                <a:ea typeface="微软雅黑" panose="020B0503020204020204" charset="-122"/>
                <a:cs typeface="微软雅黑" panose="020B0503020204020204" charset="-122"/>
              </a:rPr>
              <a:t>群租房治理</a:t>
            </a:r>
            <a:endParaRPr lang="zh-CN" altLang="en-US"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8" name="文本框 37"/>
          <p:cNvSpPr txBox="1"/>
          <p:nvPr/>
        </p:nvSpPr>
        <p:spPr>
          <a:xfrm>
            <a:off x="5407978" y="1239203"/>
            <a:ext cx="506095" cy="460375"/>
          </a:xfrm>
          <a:prstGeom prst="rect">
            <a:avLst/>
          </a:prstGeom>
          <a:noFill/>
        </p:spPr>
        <p:txBody>
          <a:bodyPr wrap="square" rtlCol="0">
            <a:spAutoFit/>
          </a:bodyPr>
          <a:p>
            <a:r>
              <a:rPr lang="zh-CN" altLang="en-US" sz="1200">
                <a:solidFill>
                  <a:schemeClr val="bg1"/>
                </a:solidFill>
                <a:latin typeface="微软雅黑" panose="020B0503020204020204" charset="-122"/>
                <a:ea typeface="微软雅黑" panose="020B0503020204020204" charset="-122"/>
                <a:cs typeface="微软雅黑" panose="020B0503020204020204" charset="-122"/>
              </a:rPr>
              <a:t>违建治理</a:t>
            </a:r>
            <a:endParaRPr lang="zh-CN" altLang="en-US" sz="12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9" name="文本框 38"/>
          <p:cNvSpPr txBox="1"/>
          <p:nvPr/>
        </p:nvSpPr>
        <p:spPr>
          <a:xfrm>
            <a:off x="6100763" y="1228408"/>
            <a:ext cx="506095" cy="460375"/>
          </a:xfrm>
          <a:prstGeom prst="rect">
            <a:avLst/>
          </a:prstGeom>
          <a:noFill/>
        </p:spPr>
        <p:txBody>
          <a:bodyPr wrap="square" rtlCol="0">
            <a:spAutoFit/>
          </a:bodyPr>
          <a:p>
            <a:r>
              <a:rPr lang="zh-CN" altLang="en-US" sz="1200">
                <a:solidFill>
                  <a:schemeClr val="bg1"/>
                </a:solidFill>
                <a:latin typeface="微软雅黑" panose="020B0503020204020204" charset="-122"/>
                <a:ea typeface="微软雅黑" panose="020B0503020204020204" charset="-122"/>
                <a:cs typeface="微软雅黑" panose="020B0503020204020204" charset="-122"/>
              </a:rPr>
              <a:t>疫情防控</a:t>
            </a:r>
            <a:endParaRPr lang="zh-CN" altLang="en-US" sz="12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0" name="文本框 39"/>
          <p:cNvSpPr txBox="1"/>
          <p:nvPr/>
        </p:nvSpPr>
        <p:spPr>
          <a:xfrm>
            <a:off x="6811963" y="1327468"/>
            <a:ext cx="506095" cy="553085"/>
          </a:xfrm>
          <a:prstGeom prst="rect">
            <a:avLst/>
          </a:prstGeom>
          <a:noFill/>
        </p:spPr>
        <p:txBody>
          <a:bodyPr wrap="square" rtlCol="0">
            <a:spAutoFit/>
          </a:bodyPr>
          <a:p>
            <a:pPr algn="ctr"/>
            <a:r>
              <a:rPr lang="zh-CN" altLang="en-US" sz="1000">
                <a:solidFill>
                  <a:schemeClr val="bg1"/>
                </a:solidFill>
                <a:latin typeface="微软雅黑" panose="020B0503020204020204" charset="-122"/>
                <a:ea typeface="微软雅黑" panose="020B0503020204020204" charset="-122"/>
                <a:cs typeface="微软雅黑" panose="020B0503020204020204" charset="-122"/>
              </a:rPr>
              <a:t>重大活动保障</a:t>
            </a:r>
            <a:endParaRPr lang="zh-CN" altLang="en-US"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1" name="文本框 40"/>
          <p:cNvSpPr txBox="1"/>
          <p:nvPr/>
        </p:nvSpPr>
        <p:spPr>
          <a:xfrm>
            <a:off x="7523163" y="1608773"/>
            <a:ext cx="506095" cy="460375"/>
          </a:xfrm>
          <a:prstGeom prst="rect">
            <a:avLst/>
          </a:prstGeom>
          <a:noFill/>
        </p:spPr>
        <p:txBody>
          <a:bodyPr wrap="square" rtlCol="0">
            <a:spAutoFit/>
          </a:bodyPr>
          <a:p>
            <a:r>
              <a:rPr lang="zh-CN" altLang="en-US" sz="1200">
                <a:solidFill>
                  <a:schemeClr val="bg1"/>
                </a:solidFill>
                <a:latin typeface="微软雅黑" panose="020B0503020204020204" charset="-122"/>
                <a:ea typeface="微软雅黑" panose="020B0503020204020204" charset="-122"/>
                <a:cs typeface="微软雅黑" panose="020B0503020204020204" charset="-122"/>
              </a:rPr>
              <a:t>防汛防台</a:t>
            </a:r>
            <a:endParaRPr lang="zh-CN" altLang="en-US" sz="12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2" name="文本框 41"/>
          <p:cNvSpPr txBox="1"/>
          <p:nvPr/>
        </p:nvSpPr>
        <p:spPr>
          <a:xfrm>
            <a:off x="8242935" y="1873250"/>
            <a:ext cx="506095" cy="275590"/>
          </a:xfrm>
          <a:prstGeom prst="rect">
            <a:avLst/>
          </a:prstGeom>
          <a:noFill/>
        </p:spPr>
        <p:txBody>
          <a:bodyPr wrap="square" rtlCol="0">
            <a:spAutoFit/>
          </a:bodyPr>
          <a:p>
            <a:r>
              <a:rPr lang="en-US" altLang="zh-CN" sz="1200">
                <a:solidFill>
                  <a:schemeClr val="bg1"/>
                </a:solidFill>
                <a:latin typeface="微软雅黑" panose="020B0503020204020204" charset="-122"/>
                <a:ea typeface="微软雅黑" panose="020B0503020204020204" charset="-122"/>
                <a:cs typeface="微软雅黑" panose="020B0503020204020204" charset="-122"/>
              </a:rPr>
              <a:t>……</a:t>
            </a:r>
            <a:endParaRPr lang="en-US" altLang="zh-CN" sz="12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3" name="文本框 42"/>
          <p:cNvSpPr txBox="1"/>
          <p:nvPr/>
        </p:nvSpPr>
        <p:spPr>
          <a:xfrm>
            <a:off x="5312410" y="3260725"/>
            <a:ext cx="1638300" cy="337185"/>
          </a:xfrm>
          <a:prstGeom prst="rect">
            <a:avLst/>
          </a:prstGeom>
          <a:noFill/>
        </p:spPr>
        <p:txBody>
          <a:bodyPr wrap="square" rtlCol="0">
            <a:spAutoFit/>
          </a:bodyPr>
          <a:p>
            <a:pPr algn="ctr"/>
            <a:r>
              <a:rPr lang="zh-CN" altLang="en-US"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城市数字底座</a:t>
            </a:r>
            <a:endParaRPr lang="zh-CN" altLang="en-US"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6" name="文本框 55"/>
          <p:cNvSpPr txBox="1"/>
          <p:nvPr/>
        </p:nvSpPr>
        <p:spPr>
          <a:xfrm>
            <a:off x="5681663" y="4302760"/>
            <a:ext cx="928370" cy="306705"/>
          </a:xfrm>
          <a:prstGeom prst="rect">
            <a:avLst/>
          </a:prstGeom>
          <a:noFill/>
        </p:spPr>
        <p:txBody>
          <a:bodyPr wrap="square" rtlCol="0">
            <a:spAutoFit/>
          </a:bodyPr>
          <a:p>
            <a:pPr algn="ctr"/>
            <a:r>
              <a:rPr 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智能中枢</a:t>
            </a:r>
            <a:endParaRPr 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7" name="文本框 56"/>
          <p:cNvSpPr txBox="1"/>
          <p:nvPr/>
        </p:nvSpPr>
        <p:spPr>
          <a:xfrm>
            <a:off x="5681663" y="5165725"/>
            <a:ext cx="928370" cy="306705"/>
          </a:xfrm>
          <a:prstGeom prst="rect">
            <a:avLst/>
          </a:prstGeom>
          <a:noFill/>
        </p:spPr>
        <p:txBody>
          <a:bodyPr wrap="square" rtlCol="0">
            <a:spAutoFit/>
          </a:bodyPr>
          <a:p>
            <a:pPr algn="ctr"/>
            <a:r>
              <a:rPr 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智能联接</a:t>
            </a:r>
            <a:endParaRPr 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nvGrpSpPr>
          <p:cNvPr id="1076" name="组合 1075"/>
          <p:cNvGrpSpPr/>
          <p:nvPr/>
        </p:nvGrpSpPr>
        <p:grpSpPr>
          <a:xfrm rot="0">
            <a:off x="5498465" y="6244590"/>
            <a:ext cx="125095" cy="125095"/>
            <a:chOff x="5192730" y="1299604"/>
            <a:chExt cx="176010" cy="176010"/>
          </a:xfrm>
          <a:solidFill>
            <a:schemeClr val="accent1"/>
          </a:solidFill>
        </p:grpSpPr>
        <p:sp>
          <p:nvSpPr>
            <p:cNvPr id="1074" name="任意多边形: 形状 1073"/>
            <p:cNvSpPr/>
            <p:nvPr/>
          </p:nvSpPr>
          <p:spPr>
            <a:xfrm>
              <a:off x="5192730" y="1299604"/>
              <a:ext cx="176010" cy="176010"/>
            </a:xfrm>
            <a:custGeom>
              <a:avLst/>
              <a:gdLst>
                <a:gd name="connsiteX0" fmla="*/ 14427 w 176010"/>
                <a:gd name="connsiteY0" fmla="*/ 161583 h 176010"/>
                <a:gd name="connsiteX1" fmla="*/ 161583 w 176010"/>
                <a:gd name="connsiteY1" fmla="*/ 161583 h 176010"/>
                <a:gd name="connsiteX2" fmla="*/ 161583 w 176010"/>
                <a:gd name="connsiteY2" fmla="*/ 18755 h 176010"/>
                <a:gd name="connsiteX3" fmla="*/ 157255 w 176010"/>
                <a:gd name="connsiteY3" fmla="*/ 14427 h 176010"/>
                <a:gd name="connsiteX4" fmla="*/ 88005 w 176010"/>
                <a:gd name="connsiteY4" fmla="*/ 14427 h 176010"/>
                <a:gd name="connsiteX5" fmla="*/ 83677 w 176010"/>
                <a:gd name="connsiteY5" fmla="*/ 18755 h 176010"/>
                <a:gd name="connsiteX6" fmla="*/ 83677 w 176010"/>
                <a:gd name="connsiteY6" fmla="*/ 83677 h 176010"/>
                <a:gd name="connsiteX7" fmla="*/ 18755 w 176010"/>
                <a:gd name="connsiteY7" fmla="*/ 83677 h 176010"/>
                <a:gd name="connsiteX8" fmla="*/ 14427 w 176010"/>
                <a:gd name="connsiteY8" fmla="*/ 88005 h 176010"/>
                <a:gd name="connsiteX9" fmla="*/ 14427 w 176010"/>
                <a:gd name="connsiteY9" fmla="*/ 161583 h 176010"/>
                <a:gd name="connsiteX10" fmla="*/ 69250 w 176010"/>
                <a:gd name="connsiteY10" fmla="*/ 69250 h 176010"/>
                <a:gd name="connsiteX11" fmla="*/ 69250 w 176010"/>
                <a:gd name="connsiteY11" fmla="*/ 18755 h 176010"/>
                <a:gd name="connsiteX12" fmla="*/ 88005 w 176010"/>
                <a:gd name="connsiteY12" fmla="*/ 0 h 176010"/>
                <a:gd name="connsiteX13" fmla="*/ 157255 w 176010"/>
                <a:gd name="connsiteY13" fmla="*/ 0 h 176010"/>
                <a:gd name="connsiteX14" fmla="*/ 176010 w 176010"/>
                <a:gd name="connsiteY14" fmla="*/ 18755 h 176010"/>
                <a:gd name="connsiteX15" fmla="*/ 176010 w 176010"/>
                <a:gd name="connsiteY15" fmla="*/ 163026 h 176010"/>
                <a:gd name="connsiteX16" fmla="*/ 163026 w 176010"/>
                <a:gd name="connsiteY16" fmla="*/ 176010 h 176010"/>
                <a:gd name="connsiteX17" fmla="*/ 12984 w 176010"/>
                <a:gd name="connsiteY17" fmla="*/ 176010 h 176010"/>
                <a:gd name="connsiteX18" fmla="*/ 0 w 176010"/>
                <a:gd name="connsiteY18" fmla="*/ 163026 h 176010"/>
                <a:gd name="connsiteX19" fmla="*/ 0 w 176010"/>
                <a:gd name="connsiteY19" fmla="*/ 88005 h 176010"/>
                <a:gd name="connsiteX20" fmla="*/ 18755 w 176010"/>
                <a:gd name="connsiteY20" fmla="*/ 69250 h 176010"/>
                <a:gd name="connsiteX21" fmla="*/ 69250 w 176010"/>
                <a:gd name="connsiteY21" fmla="*/ 69250 h 176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6010" h="176010">
                  <a:moveTo>
                    <a:pt x="14427" y="161583"/>
                  </a:moveTo>
                  <a:lnTo>
                    <a:pt x="161583" y="161583"/>
                  </a:lnTo>
                  <a:lnTo>
                    <a:pt x="161583" y="18755"/>
                  </a:lnTo>
                  <a:cubicBezTo>
                    <a:pt x="161583" y="16365"/>
                    <a:pt x="159645" y="14427"/>
                    <a:pt x="157255" y="14427"/>
                  </a:cubicBezTo>
                  <a:lnTo>
                    <a:pt x="88005" y="14427"/>
                  </a:lnTo>
                  <a:cubicBezTo>
                    <a:pt x="85615" y="14427"/>
                    <a:pt x="83677" y="16365"/>
                    <a:pt x="83677" y="18755"/>
                  </a:cubicBezTo>
                  <a:lnTo>
                    <a:pt x="83677" y="83677"/>
                  </a:lnTo>
                  <a:lnTo>
                    <a:pt x="18755" y="83677"/>
                  </a:lnTo>
                  <a:cubicBezTo>
                    <a:pt x="16365" y="83677"/>
                    <a:pt x="14427" y="85615"/>
                    <a:pt x="14427" y="88005"/>
                  </a:cubicBezTo>
                  <a:lnTo>
                    <a:pt x="14427" y="161583"/>
                  </a:lnTo>
                  <a:close/>
                  <a:moveTo>
                    <a:pt x="69250" y="69250"/>
                  </a:moveTo>
                  <a:lnTo>
                    <a:pt x="69250" y="18755"/>
                  </a:lnTo>
                  <a:cubicBezTo>
                    <a:pt x="69250" y="8402"/>
                    <a:pt x="77652" y="0"/>
                    <a:pt x="88005" y="0"/>
                  </a:cubicBezTo>
                  <a:lnTo>
                    <a:pt x="157255" y="0"/>
                  </a:lnTo>
                  <a:cubicBezTo>
                    <a:pt x="167608" y="0"/>
                    <a:pt x="176010" y="8402"/>
                    <a:pt x="176010" y="18755"/>
                  </a:cubicBezTo>
                  <a:lnTo>
                    <a:pt x="176010" y="163026"/>
                  </a:lnTo>
                  <a:cubicBezTo>
                    <a:pt x="176010" y="170193"/>
                    <a:pt x="170193" y="176010"/>
                    <a:pt x="163026" y="176010"/>
                  </a:cubicBezTo>
                  <a:lnTo>
                    <a:pt x="12984" y="176010"/>
                  </a:lnTo>
                  <a:cubicBezTo>
                    <a:pt x="5813" y="176010"/>
                    <a:pt x="0" y="170197"/>
                    <a:pt x="0" y="163026"/>
                  </a:cubicBezTo>
                  <a:lnTo>
                    <a:pt x="0" y="88005"/>
                  </a:lnTo>
                  <a:cubicBezTo>
                    <a:pt x="0" y="77652"/>
                    <a:pt x="8402" y="69250"/>
                    <a:pt x="18755" y="69250"/>
                  </a:cubicBezTo>
                  <a:lnTo>
                    <a:pt x="69250" y="69250"/>
                  </a:lnTo>
                  <a:close/>
                </a:path>
              </a:pathLst>
            </a:custGeom>
            <a:grpFill/>
            <a:ln w="223" cap="flat">
              <a:noFill/>
              <a:prstDash val="solid"/>
              <a:miter/>
            </a:ln>
          </p:spPr>
          <p:txBody>
            <a:bodyPr rtlCol="0" anchor="ctr"/>
            <a:p>
              <a:endParaRPr lang="zh-CN" altLang="en-US">
                <a:cs typeface="微软雅黑" panose="020B0503020204020204" charset="-122"/>
              </a:endParaRPr>
            </a:p>
          </p:txBody>
        </p:sp>
        <p:sp>
          <p:nvSpPr>
            <p:cNvPr id="1075" name="任意多边形: 形状 1074"/>
            <p:cNvSpPr/>
            <p:nvPr/>
          </p:nvSpPr>
          <p:spPr>
            <a:xfrm>
              <a:off x="5261980" y="1345771"/>
              <a:ext cx="72135" cy="122630"/>
            </a:xfrm>
            <a:custGeom>
              <a:avLst/>
              <a:gdLst>
                <a:gd name="connsiteX0" fmla="*/ 0 w 72135"/>
                <a:gd name="connsiteY0" fmla="*/ 18755 h 122630"/>
                <a:gd name="connsiteX1" fmla="*/ 14427 w 72135"/>
                <a:gd name="connsiteY1" fmla="*/ 18755 h 122630"/>
                <a:gd name="connsiteX2" fmla="*/ 14427 w 72135"/>
                <a:gd name="connsiteY2" fmla="*/ 122630 h 122630"/>
                <a:gd name="connsiteX3" fmla="*/ 0 w 72135"/>
                <a:gd name="connsiteY3" fmla="*/ 122630 h 122630"/>
                <a:gd name="connsiteX4" fmla="*/ 64922 w 72135"/>
                <a:gd name="connsiteY4" fmla="*/ 0 h 122630"/>
                <a:gd name="connsiteX5" fmla="*/ 72135 w 72135"/>
                <a:gd name="connsiteY5" fmla="*/ 7214 h 122630"/>
                <a:gd name="connsiteX6" fmla="*/ 64922 w 72135"/>
                <a:gd name="connsiteY6" fmla="*/ 14427 h 122630"/>
                <a:gd name="connsiteX7" fmla="*/ 41838 w 72135"/>
                <a:gd name="connsiteY7" fmla="*/ 14427 h 122630"/>
                <a:gd name="connsiteX8" fmla="*/ 34625 w 72135"/>
                <a:gd name="connsiteY8" fmla="*/ 7214 h 122630"/>
                <a:gd name="connsiteX9" fmla="*/ 41838 w 72135"/>
                <a:gd name="connsiteY9" fmla="*/ 0 h 122630"/>
                <a:gd name="connsiteX10" fmla="*/ 64922 w 72135"/>
                <a:gd name="connsiteY10" fmla="*/ 0 h 122630"/>
                <a:gd name="connsiteX11" fmla="*/ 64922 w 72135"/>
                <a:gd name="connsiteY11" fmla="*/ 34625 h 122630"/>
                <a:gd name="connsiteX12" fmla="*/ 72135 w 72135"/>
                <a:gd name="connsiteY12" fmla="*/ 41838 h 122630"/>
                <a:gd name="connsiteX13" fmla="*/ 64922 w 72135"/>
                <a:gd name="connsiteY13" fmla="*/ 49052 h 122630"/>
                <a:gd name="connsiteX14" fmla="*/ 41838 w 72135"/>
                <a:gd name="connsiteY14" fmla="*/ 49052 h 122630"/>
                <a:gd name="connsiteX15" fmla="*/ 34625 w 72135"/>
                <a:gd name="connsiteY15" fmla="*/ 41838 h 122630"/>
                <a:gd name="connsiteX16" fmla="*/ 41838 w 72135"/>
                <a:gd name="connsiteY16" fmla="*/ 34625 h 122630"/>
                <a:gd name="connsiteX17" fmla="*/ 64922 w 72135"/>
                <a:gd name="connsiteY17" fmla="*/ 34625 h 122630"/>
                <a:gd name="connsiteX18" fmla="*/ 64922 w 72135"/>
                <a:gd name="connsiteY18" fmla="*/ 69250 h 122630"/>
                <a:gd name="connsiteX19" fmla="*/ 72135 w 72135"/>
                <a:gd name="connsiteY19" fmla="*/ 76463 h 122630"/>
                <a:gd name="connsiteX20" fmla="*/ 64922 w 72135"/>
                <a:gd name="connsiteY20" fmla="*/ 83677 h 122630"/>
                <a:gd name="connsiteX21" fmla="*/ 41838 w 72135"/>
                <a:gd name="connsiteY21" fmla="*/ 83677 h 122630"/>
                <a:gd name="connsiteX22" fmla="*/ 34625 w 72135"/>
                <a:gd name="connsiteY22" fmla="*/ 76463 h 122630"/>
                <a:gd name="connsiteX23" fmla="*/ 41838 w 72135"/>
                <a:gd name="connsiteY23" fmla="*/ 69250 h 122630"/>
                <a:gd name="connsiteX24" fmla="*/ 64922 w 72135"/>
                <a:gd name="connsiteY24" fmla="*/ 69250 h 122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135" h="122630">
                  <a:moveTo>
                    <a:pt x="0" y="18755"/>
                  </a:moveTo>
                  <a:lnTo>
                    <a:pt x="14427" y="18755"/>
                  </a:lnTo>
                  <a:lnTo>
                    <a:pt x="14427" y="122630"/>
                  </a:lnTo>
                  <a:lnTo>
                    <a:pt x="0" y="122630"/>
                  </a:lnTo>
                  <a:close/>
                  <a:moveTo>
                    <a:pt x="64922" y="0"/>
                  </a:moveTo>
                  <a:cubicBezTo>
                    <a:pt x="68906" y="0"/>
                    <a:pt x="72135" y="3230"/>
                    <a:pt x="72135" y="7214"/>
                  </a:cubicBezTo>
                  <a:cubicBezTo>
                    <a:pt x="72135" y="11197"/>
                    <a:pt x="68906" y="14427"/>
                    <a:pt x="64922" y="14427"/>
                  </a:cubicBezTo>
                  <a:lnTo>
                    <a:pt x="41838" y="14427"/>
                  </a:lnTo>
                  <a:cubicBezTo>
                    <a:pt x="37855" y="14427"/>
                    <a:pt x="34625" y="11197"/>
                    <a:pt x="34625" y="7214"/>
                  </a:cubicBezTo>
                  <a:cubicBezTo>
                    <a:pt x="34625" y="3230"/>
                    <a:pt x="37855" y="0"/>
                    <a:pt x="41838" y="0"/>
                  </a:cubicBezTo>
                  <a:lnTo>
                    <a:pt x="64922" y="0"/>
                  </a:lnTo>
                  <a:close/>
                  <a:moveTo>
                    <a:pt x="64922" y="34625"/>
                  </a:moveTo>
                  <a:cubicBezTo>
                    <a:pt x="68906" y="34625"/>
                    <a:pt x="72135" y="37855"/>
                    <a:pt x="72135" y="41838"/>
                  </a:cubicBezTo>
                  <a:cubicBezTo>
                    <a:pt x="72135" y="45822"/>
                    <a:pt x="68906" y="49052"/>
                    <a:pt x="64922" y="49052"/>
                  </a:cubicBezTo>
                  <a:lnTo>
                    <a:pt x="41838" y="49052"/>
                  </a:lnTo>
                  <a:cubicBezTo>
                    <a:pt x="37855" y="49052"/>
                    <a:pt x="34625" y="45822"/>
                    <a:pt x="34625" y="41838"/>
                  </a:cubicBezTo>
                  <a:cubicBezTo>
                    <a:pt x="34625" y="37855"/>
                    <a:pt x="37855" y="34625"/>
                    <a:pt x="41838" y="34625"/>
                  </a:cubicBezTo>
                  <a:lnTo>
                    <a:pt x="64922" y="34625"/>
                  </a:lnTo>
                  <a:close/>
                  <a:moveTo>
                    <a:pt x="64922" y="69250"/>
                  </a:moveTo>
                  <a:cubicBezTo>
                    <a:pt x="68906" y="69250"/>
                    <a:pt x="72135" y="72480"/>
                    <a:pt x="72135" y="76463"/>
                  </a:cubicBezTo>
                  <a:cubicBezTo>
                    <a:pt x="72135" y="80447"/>
                    <a:pt x="68906" y="83677"/>
                    <a:pt x="64922" y="83677"/>
                  </a:cubicBezTo>
                  <a:lnTo>
                    <a:pt x="41838" y="83677"/>
                  </a:lnTo>
                  <a:cubicBezTo>
                    <a:pt x="37855" y="83677"/>
                    <a:pt x="34625" y="80447"/>
                    <a:pt x="34625" y="76463"/>
                  </a:cubicBezTo>
                  <a:cubicBezTo>
                    <a:pt x="34625" y="72480"/>
                    <a:pt x="37855" y="69250"/>
                    <a:pt x="41838" y="69250"/>
                  </a:cubicBezTo>
                  <a:lnTo>
                    <a:pt x="64922" y="69250"/>
                  </a:lnTo>
                  <a:close/>
                </a:path>
              </a:pathLst>
            </a:custGeom>
            <a:grpFill/>
            <a:ln w="223" cap="flat">
              <a:noFill/>
              <a:prstDash val="solid"/>
              <a:miter/>
            </a:ln>
          </p:spPr>
          <p:txBody>
            <a:bodyPr rtlCol="0" anchor="ctr"/>
            <a:p>
              <a:endParaRPr lang="zh-CN" altLang="en-US">
                <a:cs typeface="微软雅黑" panose="020B0503020204020204" charset="-122"/>
              </a:endParaRPr>
            </a:p>
          </p:txBody>
        </p:sp>
      </p:grpSp>
      <p:grpSp>
        <p:nvGrpSpPr>
          <p:cNvPr id="1085" name="组合 1084"/>
          <p:cNvGrpSpPr/>
          <p:nvPr/>
        </p:nvGrpSpPr>
        <p:grpSpPr>
          <a:xfrm rot="0">
            <a:off x="6725920" y="6247130"/>
            <a:ext cx="137160" cy="133985"/>
            <a:chOff x="5201266" y="1099833"/>
            <a:chExt cx="160257" cy="161181"/>
          </a:xfrm>
          <a:solidFill>
            <a:schemeClr val="accent1"/>
          </a:solidFill>
        </p:grpSpPr>
        <p:sp>
          <p:nvSpPr>
            <p:cNvPr id="1080" name="任意多边形: 形状 1079"/>
            <p:cNvSpPr/>
            <p:nvPr/>
          </p:nvSpPr>
          <p:spPr>
            <a:xfrm>
              <a:off x="5201266" y="1099833"/>
              <a:ext cx="107366" cy="152380"/>
            </a:xfrm>
            <a:custGeom>
              <a:avLst/>
              <a:gdLst>
                <a:gd name="connsiteX0" fmla="*/ 53683 w 107366"/>
                <a:gd name="connsiteY0" fmla="*/ 51571 h 152380"/>
                <a:gd name="connsiteX1" fmla="*/ 17381 w 107366"/>
                <a:gd name="connsiteY1" fmla="*/ 45147 h 152380"/>
                <a:gd name="connsiteX2" fmla="*/ 0 w 107366"/>
                <a:gd name="connsiteY2" fmla="*/ 25785 h 152380"/>
                <a:gd name="connsiteX3" fmla="*/ 17381 w 107366"/>
                <a:gd name="connsiteY3" fmla="*/ 6424 h 152380"/>
                <a:gd name="connsiteX4" fmla="*/ 53683 w 107366"/>
                <a:gd name="connsiteY4" fmla="*/ 0 h 152380"/>
                <a:gd name="connsiteX5" fmla="*/ 89985 w 107366"/>
                <a:gd name="connsiteY5" fmla="*/ 6424 h 152380"/>
                <a:gd name="connsiteX6" fmla="*/ 107366 w 107366"/>
                <a:gd name="connsiteY6" fmla="*/ 25785 h 152380"/>
                <a:gd name="connsiteX7" fmla="*/ 89985 w 107366"/>
                <a:gd name="connsiteY7" fmla="*/ 45147 h 152380"/>
                <a:gd name="connsiteX8" fmla="*/ 53683 w 107366"/>
                <a:gd name="connsiteY8" fmla="*/ 51571 h 152380"/>
                <a:gd name="connsiteX9" fmla="*/ 53683 w 107366"/>
                <a:gd name="connsiteY9" fmla="*/ 10561 h 152380"/>
                <a:gd name="connsiteX10" fmla="*/ 10561 w 107366"/>
                <a:gd name="connsiteY10" fmla="*/ 25785 h 152380"/>
                <a:gd name="connsiteX11" fmla="*/ 53683 w 107366"/>
                <a:gd name="connsiteY11" fmla="*/ 41010 h 152380"/>
                <a:gd name="connsiteX12" fmla="*/ 96806 w 107366"/>
                <a:gd name="connsiteY12" fmla="*/ 25785 h 152380"/>
                <a:gd name="connsiteX13" fmla="*/ 53683 w 107366"/>
                <a:gd name="connsiteY13" fmla="*/ 10561 h 152380"/>
                <a:gd name="connsiteX14" fmla="*/ 53683 w 107366"/>
                <a:gd name="connsiteY14" fmla="*/ 86597 h 152380"/>
                <a:gd name="connsiteX15" fmla="*/ 17381 w 107366"/>
                <a:gd name="connsiteY15" fmla="*/ 80173 h 152380"/>
                <a:gd name="connsiteX16" fmla="*/ 0 w 107366"/>
                <a:gd name="connsiteY16" fmla="*/ 60811 h 152380"/>
                <a:gd name="connsiteX17" fmla="*/ 5280 w 107366"/>
                <a:gd name="connsiteY17" fmla="*/ 55531 h 152380"/>
                <a:gd name="connsiteX18" fmla="*/ 10561 w 107366"/>
                <a:gd name="connsiteY18" fmla="*/ 60811 h 152380"/>
                <a:gd name="connsiteX19" fmla="*/ 53683 w 107366"/>
                <a:gd name="connsiteY19" fmla="*/ 76036 h 152380"/>
                <a:gd name="connsiteX20" fmla="*/ 60591 w 107366"/>
                <a:gd name="connsiteY20" fmla="*/ 75816 h 152380"/>
                <a:gd name="connsiteX21" fmla="*/ 66180 w 107366"/>
                <a:gd name="connsiteY21" fmla="*/ 80745 h 152380"/>
                <a:gd name="connsiteX22" fmla="*/ 61251 w 107366"/>
                <a:gd name="connsiteY22" fmla="*/ 86333 h 152380"/>
                <a:gd name="connsiteX23" fmla="*/ 53683 w 107366"/>
                <a:gd name="connsiteY23" fmla="*/ 86597 h 152380"/>
                <a:gd name="connsiteX24" fmla="*/ 53683 w 107366"/>
                <a:gd name="connsiteY24" fmla="*/ 119599 h 152380"/>
                <a:gd name="connsiteX25" fmla="*/ 17381 w 107366"/>
                <a:gd name="connsiteY25" fmla="*/ 113174 h 152380"/>
                <a:gd name="connsiteX26" fmla="*/ 0 w 107366"/>
                <a:gd name="connsiteY26" fmla="*/ 93813 h 152380"/>
                <a:gd name="connsiteX27" fmla="*/ 5280 w 107366"/>
                <a:gd name="connsiteY27" fmla="*/ 88533 h 152380"/>
                <a:gd name="connsiteX28" fmla="*/ 10561 w 107366"/>
                <a:gd name="connsiteY28" fmla="*/ 93813 h 152380"/>
                <a:gd name="connsiteX29" fmla="*/ 53683 w 107366"/>
                <a:gd name="connsiteY29" fmla="*/ 109038 h 152380"/>
                <a:gd name="connsiteX30" fmla="*/ 60283 w 107366"/>
                <a:gd name="connsiteY30" fmla="*/ 108862 h 152380"/>
                <a:gd name="connsiteX31" fmla="*/ 65872 w 107366"/>
                <a:gd name="connsiteY31" fmla="*/ 113834 h 152380"/>
                <a:gd name="connsiteX32" fmla="*/ 60899 w 107366"/>
                <a:gd name="connsiteY32" fmla="*/ 119423 h 152380"/>
                <a:gd name="connsiteX33" fmla="*/ 53683 w 107366"/>
                <a:gd name="connsiteY33" fmla="*/ 119599 h 152380"/>
                <a:gd name="connsiteX34" fmla="*/ 53683 w 107366"/>
                <a:gd name="connsiteY34" fmla="*/ 152381 h 152380"/>
                <a:gd name="connsiteX35" fmla="*/ 17381 w 107366"/>
                <a:gd name="connsiteY35" fmla="*/ 145956 h 152380"/>
                <a:gd name="connsiteX36" fmla="*/ 0 w 107366"/>
                <a:gd name="connsiteY36" fmla="*/ 126595 h 152380"/>
                <a:gd name="connsiteX37" fmla="*/ 5280 w 107366"/>
                <a:gd name="connsiteY37" fmla="*/ 121315 h 152380"/>
                <a:gd name="connsiteX38" fmla="*/ 10561 w 107366"/>
                <a:gd name="connsiteY38" fmla="*/ 126595 h 152380"/>
                <a:gd name="connsiteX39" fmla="*/ 53683 w 107366"/>
                <a:gd name="connsiteY39" fmla="*/ 141820 h 152380"/>
                <a:gd name="connsiteX40" fmla="*/ 59139 w 107366"/>
                <a:gd name="connsiteY40" fmla="*/ 141688 h 152380"/>
                <a:gd name="connsiteX41" fmla="*/ 64684 w 107366"/>
                <a:gd name="connsiteY41" fmla="*/ 146704 h 152380"/>
                <a:gd name="connsiteX42" fmla="*/ 59667 w 107366"/>
                <a:gd name="connsiteY42" fmla="*/ 152249 h 152380"/>
                <a:gd name="connsiteX43" fmla="*/ 53683 w 107366"/>
                <a:gd name="connsiteY43" fmla="*/ 152381 h 152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7366" h="152380">
                  <a:moveTo>
                    <a:pt x="53683" y="51571"/>
                  </a:moveTo>
                  <a:cubicBezTo>
                    <a:pt x="40042" y="51571"/>
                    <a:pt x="27150" y="49283"/>
                    <a:pt x="17381" y="45147"/>
                  </a:cubicBezTo>
                  <a:cubicBezTo>
                    <a:pt x="6160" y="40394"/>
                    <a:pt x="0" y="33530"/>
                    <a:pt x="0" y="25785"/>
                  </a:cubicBezTo>
                  <a:cubicBezTo>
                    <a:pt x="0" y="18041"/>
                    <a:pt x="6160" y="11177"/>
                    <a:pt x="17381" y="6424"/>
                  </a:cubicBezTo>
                  <a:cubicBezTo>
                    <a:pt x="27150" y="2288"/>
                    <a:pt x="40042" y="0"/>
                    <a:pt x="53683" y="0"/>
                  </a:cubicBezTo>
                  <a:cubicBezTo>
                    <a:pt x="67324" y="0"/>
                    <a:pt x="80217" y="2288"/>
                    <a:pt x="89985" y="6424"/>
                  </a:cubicBezTo>
                  <a:cubicBezTo>
                    <a:pt x="101206" y="11177"/>
                    <a:pt x="107366" y="18041"/>
                    <a:pt x="107366" y="25785"/>
                  </a:cubicBezTo>
                  <a:cubicBezTo>
                    <a:pt x="107366" y="33530"/>
                    <a:pt x="101206" y="40394"/>
                    <a:pt x="89985" y="45147"/>
                  </a:cubicBezTo>
                  <a:cubicBezTo>
                    <a:pt x="80217" y="49327"/>
                    <a:pt x="67324" y="51571"/>
                    <a:pt x="53683" y="51571"/>
                  </a:cubicBezTo>
                  <a:close/>
                  <a:moveTo>
                    <a:pt x="53683" y="10561"/>
                  </a:moveTo>
                  <a:cubicBezTo>
                    <a:pt x="27370" y="10561"/>
                    <a:pt x="10561" y="19581"/>
                    <a:pt x="10561" y="25785"/>
                  </a:cubicBezTo>
                  <a:cubicBezTo>
                    <a:pt x="10561" y="31990"/>
                    <a:pt x="27370" y="41010"/>
                    <a:pt x="53683" y="41010"/>
                  </a:cubicBezTo>
                  <a:cubicBezTo>
                    <a:pt x="79997" y="41010"/>
                    <a:pt x="96806" y="31990"/>
                    <a:pt x="96806" y="25785"/>
                  </a:cubicBezTo>
                  <a:cubicBezTo>
                    <a:pt x="96806" y="19581"/>
                    <a:pt x="79997" y="10561"/>
                    <a:pt x="53683" y="10561"/>
                  </a:cubicBezTo>
                  <a:close/>
                  <a:moveTo>
                    <a:pt x="53683" y="86597"/>
                  </a:moveTo>
                  <a:cubicBezTo>
                    <a:pt x="40042" y="86597"/>
                    <a:pt x="27150" y="84309"/>
                    <a:pt x="17381" y="80173"/>
                  </a:cubicBezTo>
                  <a:cubicBezTo>
                    <a:pt x="6160" y="75420"/>
                    <a:pt x="0" y="68556"/>
                    <a:pt x="0" y="60811"/>
                  </a:cubicBezTo>
                  <a:cubicBezTo>
                    <a:pt x="0" y="57907"/>
                    <a:pt x="2376" y="55531"/>
                    <a:pt x="5280" y="55531"/>
                  </a:cubicBezTo>
                  <a:cubicBezTo>
                    <a:pt x="8184" y="55531"/>
                    <a:pt x="10561" y="57907"/>
                    <a:pt x="10561" y="60811"/>
                  </a:cubicBezTo>
                  <a:cubicBezTo>
                    <a:pt x="10561" y="67016"/>
                    <a:pt x="27370" y="76036"/>
                    <a:pt x="53683" y="76036"/>
                  </a:cubicBezTo>
                  <a:cubicBezTo>
                    <a:pt x="56015" y="76036"/>
                    <a:pt x="58347" y="75948"/>
                    <a:pt x="60591" y="75816"/>
                  </a:cubicBezTo>
                  <a:cubicBezTo>
                    <a:pt x="63496" y="75640"/>
                    <a:pt x="66004" y="77840"/>
                    <a:pt x="66180" y="80745"/>
                  </a:cubicBezTo>
                  <a:cubicBezTo>
                    <a:pt x="66356" y="83649"/>
                    <a:pt x="64156" y="86157"/>
                    <a:pt x="61251" y="86333"/>
                  </a:cubicBezTo>
                  <a:cubicBezTo>
                    <a:pt x="58787" y="86509"/>
                    <a:pt x="56235" y="86597"/>
                    <a:pt x="53683" y="86597"/>
                  </a:cubicBezTo>
                  <a:close/>
                  <a:moveTo>
                    <a:pt x="53683" y="119599"/>
                  </a:moveTo>
                  <a:cubicBezTo>
                    <a:pt x="40042" y="119599"/>
                    <a:pt x="27150" y="117311"/>
                    <a:pt x="17381" y="113174"/>
                  </a:cubicBezTo>
                  <a:cubicBezTo>
                    <a:pt x="6160" y="108422"/>
                    <a:pt x="0" y="101558"/>
                    <a:pt x="0" y="93813"/>
                  </a:cubicBezTo>
                  <a:cubicBezTo>
                    <a:pt x="0" y="90909"/>
                    <a:pt x="2376" y="88533"/>
                    <a:pt x="5280" y="88533"/>
                  </a:cubicBezTo>
                  <a:cubicBezTo>
                    <a:pt x="8184" y="88533"/>
                    <a:pt x="10561" y="90909"/>
                    <a:pt x="10561" y="93813"/>
                  </a:cubicBezTo>
                  <a:cubicBezTo>
                    <a:pt x="10561" y="100018"/>
                    <a:pt x="27370" y="109038"/>
                    <a:pt x="53683" y="109038"/>
                  </a:cubicBezTo>
                  <a:cubicBezTo>
                    <a:pt x="55883" y="109038"/>
                    <a:pt x="58127" y="108950"/>
                    <a:pt x="60283" y="108862"/>
                  </a:cubicBezTo>
                  <a:cubicBezTo>
                    <a:pt x="63188" y="108686"/>
                    <a:pt x="65696" y="110886"/>
                    <a:pt x="65872" y="113834"/>
                  </a:cubicBezTo>
                  <a:cubicBezTo>
                    <a:pt x="66048" y="116739"/>
                    <a:pt x="63848" y="119247"/>
                    <a:pt x="60899" y="119423"/>
                  </a:cubicBezTo>
                  <a:cubicBezTo>
                    <a:pt x="58567" y="119511"/>
                    <a:pt x="56103" y="119599"/>
                    <a:pt x="53683" y="119599"/>
                  </a:cubicBezTo>
                  <a:close/>
                  <a:moveTo>
                    <a:pt x="53683" y="152381"/>
                  </a:moveTo>
                  <a:cubicBezTo>
                    <a:pt x="40042" y="152381"/>
                    <a:pt x="27150" y="150093"/>
                    <a:pt x="17381" y="145956"/>
                  </a:cubicBezTo>
                  <a:cubicBezTo>
                    <a:pt x="6160" y="141204"/>
                    <a:pt x="0" y="134340"/>
                    <a:pt x="0" y="126595"/>
                  </a:cubicBezTo>
                  <a:cubicBezTo>
                    <a:pt x="0" y="123691"/>
                    <a:pt x="2376" y="121315"/>
                    <a:pt x="5280" y="121315"/>
                  </a:cubicBezTo>
                  <a:cubicBezTo>
                    <a:pt x="8184" y="121315"/>
                    <a:pt x="10561" y="123691"/>
                    <a:pt x="10561" y="126595"/>
                  </a:cubicBezTo>
                  <a:cubicBezTo>
                    <a:pt x="10561" y="132800"/>
                    <a:pt x="27370" y="141820"/>
                    <a:pt x="53683" y="141820"/>
                  </a:cubicBezTo>
                  <a:cubicBezTo>
                    <a:pt x="55531" y="141820"/>
                    <a:pt x="57379" y="141776"/>
                    <a:pt x="59139" y="141688"/>
                  </a:cubicBezTo>
                  <a:cubicBezTo>
                    <a:pt x="62044" y="141556"/>
                    <a:pt x="64552" y="143800"/>
                    <a:pt x="64684" y="146704"/>
                  </a:cubicBezTo>
                  <a:cubicBezTo>
                    <a:pt x="64816" y="149609"/>
                    <a:pt x="62572" y="152117"/>
                    <a:pt x="59667" y="152249"/>
                  </a:cubicBezTo>
                  <a:cubicBezTo>
                    <a:pt x="57731" y="152293"/>
                    <a:pt x="55707" y="152381"/>
                    <a:pt x="53683" y="152381"/>
                  </a:cubicBezTo>
                  <a:close/>
                </a:path>
              </a:pathLst>
            </a:custGeom>
            <a:grpFill/>
            <a:ln w="167" cap="flat">
              <a:noFill/>
              <a:prstDash val="solid"/>
              <a:miter/>
            </a:ln>
          </p:spPr>
          <p:txBody>
            <a:bodyPr rtlCol="0" anchor="ctr"/>
            <a:p>
              <a:endParaRPr lang="zh-CN" altLang="en-US">
                <a:cs typeface="微软雅黑" panose="020B0503020204020204" charset="-122"/>
              </a:endParaRPr>
            </a:p>
          </p:txBody>
        </p:sp>
        <p:sp>
          <p:nvSpPr>
            <p:cNvPr id="1081" name="任意多边形: 形状 1080"/>
            <p:cNvSpPr/>
            <p:nvPr/>
          </p:nvSpPr>
          <p:spPr>
            <a:xfrm>
              <a:off x="5201266" y="1119942"/>
              <a:ext cx="160257" cy="111326"/>
            </a:xfrm>
            <a:custGeom>
              <a:avLst/>
              <a:gdLst>
                <a:gd name="connsiteX0" fmla="*/ 5280 w 160257"/>
                <a:gd name="connsiteY0" fmla="*/ 111326 h 111326"/>
                <a:gd name="connsiteX1" fmla="*/ 0 w 160257"/>
                <a:gd name="connsiteY1" fmla="*/ 106046 h 111326"/>
                <a:gd name="connsiteX2" fmla="*/ 0 w 160257"/>
                <a:gd name="connsiteY2" fmla="*/ 5280 h 111326"/>
                <a:gd name="connsiteX3" fmla="*/ 5280 w 160257"/>
                <a:gd name="connsiteY3" fmla="*/ 0 h 111326"/>
                <a:gd name="connsiteX4" fmla="*/ 10561 w 160257"/>
                <a:gd name="connsiteY4" fmla="*/ 5280 h 111326"/>
                <a:gd name="connsiteX5" fmla="*/ 10561 w 160257"/>
                <a:gd name="connsiteY5" fmla="*/ 106046 h 111326"/>
                <a:gd name="connsiteX6" fmla="*/ 5280 w 160257"/>
                <a:gd name="connsiteY6" fmla="*/ 111326 h 111326"/>
                <a:gd name="connsiteX7" fmla="*/ 102086 w 160257"/>
                <a:gd name="connsiteY7" fmla="*/ 38590 h 111326"/>
                <a:gd name="connsiteX8" fmla="*/ 96806 w 160257"/>
                <a:gd name="connsiteY8" fmla="*/ 33310 h 111326"/>
                <a:gd name="connsiteX9" fmla="*/ 96806 w 160257"/>
                <a:gd name="connsiteY9" fmla="*/ 5280 h 111326"/>
                <a:gd name="connsiteX10" fmla="*/ 102086 w 160257"/>
                <a:gd name="connsiteY10" fmla="*/ 0 h 111326"/>
                <a:gd name="connsiteX11" fmla="*/ 107366 w 160257"/>
                <a:gd name="connsiteY11" fmla="*/ 5280 h 111326"/>
                <a:gd name="connsiteX12" fmla="*/ 107366 w 160257"/>
                <a:gd name="connsiteY12" fmla="*/ 33310 h 111326"/>
                <a:gd name="connsiteX13" fmla="*/ 102086 w 160257"/>
                <a:gd name="connsiteY13" fmla="*/ 38590 h 111326"/>
                <a:gd name="connsiteX14" fmla="*/ 114627 w 160257"/>
                <a:gd name="connsiteY14" fmla="*/ 86641 h 111326"/>
                <a:gd name="connsiteX15" fmla="*/ 84045 w 160257"/>
                <a:gd name="connsiteY15" fmla="*/ 81229 h 111326"/>
                <a:gd name="connsiteX16" fmla="*/ 68996 w 160257"/>
                <a:gd name="connsiteY16" fmla="*/ 64288 h 111326"/>
                <a:gd name="connsiteX17" fmla="*/ 84045 w 160257"/>
                <a:gd name="connsiteY17" fmla="*/ 47347 h 111326"/>
                <a:gd name="connsiteX18" fmla="*/ 114627 w 160257"/>
                <a:gd name="connsiteY18" fmla="*/ 41934 h 111326"/>
                <a:gd name="connsiteX19" fmla="*/ 145208 w 160257"/>
                <a:gd name="connsiteY19" fmla="*/ 47347 h 111326"/>
                <a:gd name="connsiteX20" fmla="*/ 160257 w 160257"/>
                <a:gd name="connsiteY20" fmla="*/ 64288 h 111326"/>
                <a:gd name="connsiteX21" fmla="*/ 145208 w 160257"/>
                <a:gd name="connsiteY21" fmla="*/ 81229 h 111326"/>
                <a:gd name="connsiteX22" fmla="*/ 114627 w 160257"/>
                <a:gd name="connsiteY22" fmla="*/ 86641 h 111326"/>
                <a:gd name="connsiteX23" fmla="*/ 114627 w 160257"/>
                <a:gd name="connsiteY23" fmla="*/ 52495 h 111326"/>
                <a:gd name="connsiteX24" fmla="*/ 79601 w 160257"/>
                <a:gd name="connsiteY24" fmla="*/ 64288 h 111326"/>
                <a:gd name="connsiteX25" fmla="*/ 114627 w 160257"/>
                <a:gd name="connsiteY25" fmla="*/ 76080 h 111326"/>
                <a:gd name="connsiteX26" fmla="*/ 149653 w 160257"/>
                <a:gd name="connsiteY26" fmla="*/ 64288 h 111326"/>
                <a:gd name="connsiteX27" fmla="*/ 114627 w 160257"/>
                <a:gd name="connsiteY27" fmla="*/ 52495 h 11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60257" h="111326">
                  <a:moveTo>
                    <a:pt x="5280" y="111326"/>
                  </a:moveTo>
                  <a:cubicBezTo>
                    <a:pt x="2376" y="111326"/>
                    <a:pt x="0" y="108950"/>
                    <a:pt x="0" y="106046"/>
                  </a:cubicBezTo>
                  <a:lnTo>
                    <a:pt x="0" y="5280"/>
                  </a:lnTo>
                  <a:cubicBezTo>
                    <a:pt x="0" y="2376"/>
                    <a:pt x="2376" y="0"/>
                    <a:pt x="5280" y="0"/>
                  </a:cubicBezTo>
                  <a:cubicBezTo>
                    <a:pt x="8184" y="0"/>
                    <a:pt x="10561" y="2376"/>
                    <a:pt x="10561" y="5280"/>
                  </a:cubicBezTo>
                  <a:lnTo>
                    <a:pt x="10561" y="106046"/>
                  </a:lnTo>
                  <a:cubicBezTo>
                    <a:pt x="10561" y="108950"/>
                    <a:pt x="8184" y="111326"/>
                    <a:pt x="5280" y="111326"/>
                  </a:cubicBezTo>
                  <a:close/>
                  <a:moveTo>
                    <a:pt x="102086" y="38590"/>
                  </a:moveTo>
                  <a:cubicBezTo>
                    <a:pt x="99182" y="38590"/>
                    <a:pt x="96806" y="36214"/>
                    <a:pt x="96806" y="33310"/>
                  </a:cubicBezTo>
                  <a:lnTo>
                    <a:pt x="96806" y="5280"/>
                  </a:lnTo>
                  <a:cubicBezTo>
                    <a:pt x="96806" y="2376"/>
                    <a:pt x="99182" y="0"/>
                    <a:pt x="102086" y="0"/>
                  </a:cubicBezTo>
                  <a:cubicBezTo>
                    <a:pt x="104990" y="0"/>
                    <a:pt x="107366" y="2376"/>
                    <a:pt x="107366" y="5280"/>
                  </a:cubicBezTo>
                  <a:lnTo>
                    <a:pt x="107366" y="33310"/>
                  </a:lnTo>
                  <a:cubicBezTo>
                    <a:pt x="107366" y="36214"/>
                    <a:pt x="104990" y="38590"/>
                    <a:pt x="102086" y="38590"/>
                  </a:cubicBezTo>
                  <a:close/>
                  <a:moveTo>
                    <a:pt x="114627" y="86641"/>
                  </a:moveTo>
                  <a:cubicBezTo>
                    <a:pt x="103186" y="86641"/>
                    <a:pt x="92317" y="84705"/>
                    <a:pt x="84045" y="81229"/>
                  </a:cubicBezTo>
                  <a:cubicBezTo>
                    <a:pt x="74364" y="77136"/>
                    <a:pt x="68996" y="71108"/>
                    <a:pt x="68996" y="64288"/>
                  </a:cubicBezTo>
                  <a:cubicBezTo>
                    <a:pt x="68996" y="57467"/>
                    <a:pt x="74320" y="51439"/>
                    <a:pt x="84045" y="47347"/>
                  </a:cubicBezTo>
                  <a:cubicBezTo>
                    <a:pt x="92317" y="43870"/>
                    <a:pt x="103142" y="41934"/>
                    <a:pt x="114627" y="41934"/>
                  </a:cubicBezTo>
                  <a:cubicBezTo>
                    <a:pt x="126111" y="41934"/>
                    <a:pt x="136936" y="43870"/>
                    <a:pt x="145208" y="47347"/>
                  </a:cubicBezTo>
                  <a:cubicBezTo>
                    <a:pt x="154889" y="51439"/>
                    <a:pt x="160257" y="57467"/>
                    <a:pt x="160257" y="64288"/>
                  </a:cubicBezTo>
                  <a:cubicBezTo>
                    <a:pt x="160257" y="71108"/>
                    <a:pt x="154933" y="77136"/>
                    <a:pt x="145208" y="81229"/>
                  </a:cubicBezTo>
                  <a:cubicBezTo>
                    <a:pt x="136936" y="84705"/>
                    <a:pt x="126111" y="86641"/>
                    <a:pt x="114627" y="86641"/>
                  </a:cubicBezTo>
                  <a:close/>
                  <a:moveTo>
                    <a:pt x="114627" y="52495"/>
                  </a:moveTo>
                  <a:cubicBezTo>
                    <a:pt x="91965" y="52495"/>
                    <a:pt x="79601" y="60283"/>
                    <a:pt x="79601" y="64288"/>
                  </a:cubicBezTo>
                  <a:cubicBezTo>
                    <a:pt x="79601" y="68292"/>
                    <a:pt x="91965" y="76080"/>
                    <a:pt x="114627" y="76080"/>
                  </a:cubicBezTo>
                  <a:cubicBezTo>
                    <a:pt x="137288" y="76080"/>
                    <a:pt x="149653" y="68292"/>
                    <a:pt x="149653" y="64288"/>
                  </a:cubicBezTo>
                  <a:cubicBezTo>
                    <a:pt x="149653" y="60283"/>
                    <a:pt x="137288" y="52495"/>
                    <a:pt x="114627" y="52495"/>
                  </a:cubicBezTo>
                  <a:close/>
                </a:path>
              </a:pathLst>
            </a:custGeom>
            <a:grpFill/>
            <a:ln w="167" cap="flat">
              <a:noFill/>
              <a:prstDash val="solid"/>
              <a:miter/>
            </a:ln>
          </p:spPr>
          <p:txBody>
            <a:bodyPr rtlCol="0" anchor="ctr"/>
            <a:p>
              <a:endParaRPr lang="zh-CN" altLang="en-US">
                <a:cs typeface="微软雅黑" panose="020B0503020204020204" charset="-122"/>
              </a:endParaRPr>
            </a:p>
          </p:txBody>
        </p:sp>
        <p:sp>
          <p:nvSpPr>
            <p:cNvPr id="1082" name="任意多边形: 形状 1081"/>
            <p:cNvSpPr/>
            <p:nvPr/>
          </p:nvSpPr>
          <p:spPr>
            <a:xfrm>
              <a:off x="5270262" y="1205879"/>
              <a:ext cx="91173" cy="27633"/>
            </a:xfrm>
            <a:custGeom>
              <a:avLst/>
              <a:gdLst>
                <a:gd name="connsiteX0" fmla="*/ 45631 w 91173"/>
                <a:gd name="connsiteY0" fmla="*/ 27634 h 27633"/>
                <a:gd name="connsiteX1" fmla="*/ 15049 w 91173"/>
                <a:gd name="connsiteY1" fmla="*/ 22221 h 27633"/>
                <a:gd name="connsiteX2" fmla="*/ 0 w 91173"/>
                <a:gd name="connsiteY2" fmla="*/ 5280 h 27633"/>
                <a:gd name="connsiteX3" fmla="*/ 5280 w 91173"/>
                <a:gd name="connsiteY3" fmla="*/ 0 h 27633"/>
                <a:gd name="connsiteX4" fmla="*/ 10561 w 91173"/>
                <a:gd name="connsiteY4" fmla="*/ 5280 h 27633"/>
                <a:gd name="connsiteX5" fmla="*/ 45587 w 91173"/>
                <a:gd name="connsiteY5" fmla="*/ 17073 h 27633"/>
                <a:gd name="connsiteX6" fmla="*/ 80613 w 91173"/>
                <a:gd name="connsiteY6" fmla="*/ 5280 h 27633"/>
                <a:gd name="connsiteX7" fmla="*/ 85893 w 91173"/>
                <a:gd name="connsiteY7" fmla="*/ 0 h 27633"/>
                <a:gd name="connsiteX8" fmla="*/ 91173 w 91173"/>
                <a:gd name="connsiteY8" fmla="*/ 5280 h 27633"/>
                <a:gd name="connsiteX9" fmla="*/ 76124 w 91173"/>
                <a:gd name="connsiteY9" fmla="*/ 22221 h 27633"/>
                <a:gd name="connsiteX10" fmla="*/ 45631 w 91173"/>
                <a:gd name="connsiteY10" fmla="*/ 27634 h 2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173" h="27633">
                  <a:moveTo>
                    <a:pt x="45631" y="27634"/>
                  </a:moveTo>
                  <a:cubicBezTo>
                    <a:pt x="34190" y="27634"/>
                    <a:pt x="23321" y="25697"/>
                    <a:pt x="15049" y="22221"/>
                  </a:cubicBezTo>
                  <a:cubicBezTo>
                    <a:pt x="5368" y="18129"/>
                    <a:pt x="0" y="12101"/>
                    <a:pt x="0" y="5280"/>
                  </a:cubicBezTo>
                  <a:cubicBezTo>
                    <a:pt x="0" y="2376"/>
                    <a:pt x="2376" y="0"/>
                    <a:pt x="5280" y="0"/>
                  </a:cubicBezTo>
                  <a:cubicBezTo>
                    <a:pt x="8184" y="0"/>
                    <a:pt x="10561" y="2376"/>
                    <a:pt x="10561" y="5280"/>
                  </a:cubicBezTo>
                  <a:cubicBezTo>
                    <a:pt x="10561" y="9285"/>
                    <a:pt x="22925" y="17073"/>
                    <a:pt x="45587" y="17073"/>
                  </a:cubicBezTo>
                  <a:cubicBezTo>
                    <a:pt x="68248" y="17073"/>
                    <a:pt x="80613" y="9285"/>
                    <a:pt x="80613" y="5280"/>
                  </a:cubicBezTo>
                  <a:cubicBezTo>
                    <a:pt x="80613" y="2376"/>
                    <a:pt x="82989" y="0"/>
                    <a:pt x="85893" y="0"/>
                  </a:cubicBezTo>
                  <a:cubicBezTo>
                    <a:pt x="88797" y="0"/>
                    <a:pt x="91173" y="2376"/>
                    <a:pt x="91173" y="5280"/>
                  </a:cubicBezTo>
                  <a:cubicBezTo>
                    <a:pt x="91173" y="12101"/>
                    <a:pt x="85849" y="18129"/>
                    <a:pt x="76124" y="22221"/>
                  </a:cubicBezTo>
                  <a:cubicBezTo>
                    <a:pt x="67940" y="25697"/>
                    <a:pt x="57115" y="27634"/>
                    <a:pt x="45631" y="27634"/>
                  </a:cubicBezTo>
                  <a:close/>
                </a:path>
              </a:pathLst>
            </a:custGeom>
            <a:grpFill/>
            <a:ln w="167" cap="flat">
              <a:noFill/>
              <a:prstDash val="solid"/>
              <a:miter/>
            </a:ln>
          </p:spPr>
          <p:txBody>
            <a:bodyPr rtlCol="0" anchor="ctr"/>
            <a:p>
              <a:endParaRPr lang="zh-CN" altLang="en-US">
                <a:cs typeface="微软雅黑" panose="020B0503020204020204" charset="-122"/>
              </a:endParaRPr>
            </a:p>
          </p:txBody>
        </p:sp>
        <p:sp>
          <p:nvSpPr>
            <p:cNvPr id="1083" name="任意多边形: 形状 1082"/>
            <p:cNvSpPr/>
            <p:nvPr/>
          </p:nvSpPr>
          <p:spPr>
            <a:xfrm>
              <a:off x="5270262" y="1233381"/>
              <a:ext cx="91173" cy="27633"/>
            </a:xfrm>
            <a:custGeom>
              <a:avLst/>
              <a:gdLst>
                <a:gd name="connsiteX0" fmla="*/ 45631 w 91173"/>
                <a:gd name="connsiteY0" fmla="*/ 27634 h 27633"/>
                <a:gd name="connsiteX1" fmla="*/ 15049 w 91173"/>
                <a:gd name="connsiteY1" fmla="*/ 22221 h 27633"/>
                <a:gd name="connsiteX2" fmla="*/ 0 w 91173"/>
                <a:gd name="connsiteY2" fmla="*/ 5280 h 27633"/>
                <a:gd name="connsiteX3" fmla="*/ 5280 w 91173"/>
                <a:gd name="connsiteY3" fmla="*/ 0 h 27633"/>
                <a:gd name="connsiteX4" fmla="*/ 10561 w 91173"/>
                <a:gd name="connsiteY4" fmla="*/ 5280 h 27633"/>
                <a:gd name="connsiteX5" fmla="*/ 45587 w 91173"/>
                <a:gd name="connsiteY5" fmla="*/ 17073 h 27633"/>
                <a:gd name="connsiteX6" fmla="*/ 80613 w 91173"/>
                <a:gd name="connsiteY6" fmla="*/ 5280 h 27633"/>
                <a:gd name="connsiteX7" fmla="*/ 85893 w 91173"/>
                <a:gd name="connsiteY7" fmla="*/ 0 h 27633"/>
                <a:gd name="connsiteX8" fmla="*/ 91173 w 91173"/>
                <a:gd name="connsiteY8" fmla="*/ 5280 h 27633"/>
                <a:gd name="connsiteX9" fmla="*/ 76124 w 91173"/>
                <a:gd name="connsiteY9" fmla="*/ 22221 h 27633"/>
                <a:gd name="connsiteX10" fmla="*/ 45631 w 91173"/>
                <a:gd name="connsiteY10" fmla="*/ 27634 h 2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173" h="27633">
                  <a:moveTo>
                    <a:pt x="45631" y="27634"/>
                  </a:moveTo>
                  <a:cubicBezTo>
                    <a:pt x="34190" y="27634"/>
                    <a:pt x="23321" y="25697"/>
                    <a:pt x="15049" y="22221"/>
                  </a:cubicBezTo>
                  <a:cubicBezTo>
                    <a:pt x="5368" y="18129"/>
                    <a:pt x="0" y="12101"/>
                    <a:pt x="0" y="5280"/>
                  </a:cubicBezTo>
                  <a:cubicBezTo>
                    <a:pt x="0" y="2376"/>
                    <a:pt x="2376" y="0"/>
                    <a:pt x="5280" y="0"/>
                  </a:cubicBezTo>
                  <a:cubicBezTo>
                    <a:pt x="8184" y="0"/>
                    <a:pt x="10561" y="2376"/>
                    <a:pt x="10561" y="5280"/>
                  </a:cubicBezTo>
                  <a:cubicBezTo>
                    <a:pt x="10561" y="9285"/>
                    <a:pt x="22925" y="17073"/>
                    <a:pt x="45587" y="17073"/>
                  </a:cubicBezTo>
                  <a:cubicBezTo>
                    <a:pt x="68248" y="17073"/>
                    <a:pt x="80613" y="9285"/>
                    <a:pt x="80613" y="5280"/>
                  </a:cubicBezTo>
                  <a:cubicBezTo>
                    <a:pt x="80613" y="2376"/>
                    <a:pt x="82989" y="0"/>
                    <a:pt x="85893" y="0"/>
                  </a:cubicBezTo>
                  <a:cubicBezTo>
                    <a:pt x="88797" y="0"/>
                    <a:pt x="91173" y="2376"/>
                    <a:pt x="91173" y="5280"/>
                  </a:cubicBezTo>
                  <a:cubicBezTo>
                    <a:pt x="91173" y="12101"/>
                    <a:pt x="85849" y="18129"/>
                    <a:pt x="76124" y="22221"/>
                  </a:cubicBezTo>
                  <a:cubicBezTo>
                    <a:pt x="67940" y="25697"/>
                    <a:pt x="57115" y="27634"/>
                    <a:pt x="45631" y="27634"/>
                  </a:cubicBezTo>
                  <a:close/>
                </a:path>
              </a:pathLst>
            </a:custGeom>
            <a:grpFill/>
            <a:ln w="167" cap="flat">
              <a:noFill/>
              <a:prstDash val="solid"/>
              <a:miter/>
            </a:ln>
          </p:spPr>
          <p:txBody>
            <a:bodyPr rtlCol="0" anchor="ctr"/>
            <a:p>
              <a:endParaRPr lang="zh-CN" altLang="en-US">
                <a:cs typeface="微软雅黑" panose="020B0503020204020204" charset="-122"/>
              </a:endParaRPr>
            </a:p>
          </p:txBody>
        </p:sp>
        <p:sp>
          <p:nvSpPr>
            <p:cNvPr id="1084" name="任意多边形: 形状 1083"/>
            <p:cNvSpPr/>
            <p:nvPr/>
          </p:nvSpPr>
          <p:spPr>
            <a:xfrm>
              <a:off x="5270306" y="1176837"/>
              <a:ext cx="91173" cy="67631"/>
            </a:xfrm>
            <a:custGeom>
              <a:avLst/>
              <a:gdLst>
                <a:gd name="connsiteX0" fmla="*/ 5280 w 91173"/>
                <a:gd name="connsiteY0" fmla="*/ 65872 h 67631"/>
                <a:gd name="connsiteX1" fmla="*/ 0 w 91173"/>
                <a:gd name="connsiteY1" fmla="*/ 60591 h 67631"/>
                <a:gd name="connsiteX2" fmla="*/ 0 w 91173"/>
                <a:gd name="connsiteY2" fmla="*/ 5280 h 67631"/>
                <a:gd name="connsiteX3" fmla="*/ 5280 w 91173"/>
                <a:gd name="connsiteY3" fmla="*/ 0 h 67631"/>
                <a:gd name="connsiteX4" fmla="*/ 10561 w 91173"/>
                <a:gd name="connsiteY4" fmla="*/ 5280 h 67631"/>
                <a:gd name="connsiteX5" fmla="*/ 10561 w 91173"/>
                <a:gd name="connsiteY5" fmla="*/ 60591 h 67631"/>
                <a:gd name="connsiteX6" fmla="*/ 5280 w 91173"/>
                <a:gd name="connsiteY6" fmla="*/ 65872 h 67631"/>
                <a:gd name="connsiteX7" fmla="*/ 85893 w 91173"/>
                <a:gd name="connsiteY7" fmla="*/ 67632 h 67631"/>
                <a:gd name="connsiteX8" fmla="*/ 80613 w 91173"/>
                <a:gd name="connsiteY8" fmla="*/ 62352 h 67631"/>
                <a:gd name="connsiteX9" fmla="*/ 80613 w 91173"/>
                <a:gd name="connsiteY9" fmla="*/ 7040 h 67631"/>
                <a:gd name="connsiteX10" fmla="*/ 85893 w 91173"/>
                <a:gd name="connsiteY10" fmla="*/ 1760 h 67631"/>
                <a:gd name="connsiteX11" fmla="*/ 91173 w 91173"/>
                <a:gd name="connsiteY11" fmla="*/ 7040 h 67631"/>
                <a:gd name="connsiteX12" fmla="*/ 91173 w 91173"/>
                <a:gd name="connsiteY12" fmla="*/ 62352 h 67631"/>
                <a:gd name="connsiteX13" fmla="*/ 85893 w 91173"/>
                <a:gd name="connsiteY13" fmla="*/ 67632 h 67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1173" h="67631">
                  <a:moveTo>
                    <a:pt x="5280" y="65872"/>
                  </a:moveTo>
                  <a:cubicBezTo>
                    <a:pt x="2376" y="65872"/>
                    <a:pt x="0" y="63496"/>
                    <a:pt x="0" y="60591"/>
                  </a:cubicBezTo>
                  <a:lnTo>
                    <a:pt x="0" y="5280"/>
                  </a:lnTo>
                  <a:cubicBezTo>
                    <a:pt x="0" y="2376"/>
                    <a:pt x="2376" y="0"/>
                    <a:pt x="5280" y="0"/>
                  </a:cubicBezTo>
                  <a:cubicBezTo>
                    <a:pt x="8184" y="0"/>
                    <a:pt x="10561" y="2376"/>
                    <a:pt x="10561" y="5280"/>
                  </a:cubicBezTo>
                  <a:lnTo>
                    <a:pt x="10561" y="60591"/>
                  </a:lnTo>
                  <a:cubicBezTo>
                    <a:pt x="10561" y="63496"/>
                    <a:pt x="8184" y="65872"/>
                    <a:pt x="5280" y="65872"/>
                  </a:cubicBezTo>
                  <a:close/>
                  <a:moveTo>
                    <a:pt x="85893" y="67632"/>
                  </a:moveTo>
                  <a:cubicBezTo>
                    <a:pt x="82989" y="67632"/>
                    <a:pt x="80613" y="65256"/>
                    <a:pt x="80613" y="62352"/>
                  </a:cubicBezTo>
                  <a:lnTo>
                    <a:pt x="80613" y="7040"/>
                  </a:lnTo>
                  <a:cubicBezTo>
                    <a:pt x="80613" y="4136"/>
                    <a:pt x="82989" y="1760"/>
                    <a:pt x="85893" y="1760"/>
                  </a:cubicBezTo>
                  <a:cubicBezTo>
                    <a:pt x="88797" y="1760"/>
                    <a:pt x="91173" y="4136"/>
                    <a:pt x="91173" y="7040"/>
                  </a:cubicBezTo>
                  <a:lnTo>
                    <a:pt x="91173" y="62352"/>
                  </a:lnTo>
                  <a:cubicBezTo>
                    <a:pt x="91173" y="65256"/>
                    <a:pt x="88797" y="67632"/>
                    <a:pt x="85893" y="67632"/>
                  </a:cubicBezTo>
                  <a:close/>
                </a:path>
              </a:pathLst>
            </a:custGeom>
            <a:grpFill/>
            <a:ln w="167" cap="flat">
              <a:noFill/>
              <a:prstDash val="solid"/>
              <a:miter/>
            </a:ln>
          </p:spPr>
          <p:txBody>
            <a:bodyPr rtlCol="0" anchor="ctr"/>
            <a:p>
              <a:endParaRPr lang="zh-CN" altLang="en-US">
                <a:cs typeface="微软雅黑" panose="020B0503020204020204" charset="-122"/>
              </a:endParaRPr>
            </a:p>
          </p:txBody>
        </p:sp>
      </p:grpSp>
      <p:sp>
        <p:nvSpPr>
          <p:cNvPr id="153" name="图形 151"/>
          <p:cNvSpPr/>
          <p:nvPr/>
        </p:nvSpPr>
        <p:spPr>
          <a:xfrm>
            <a:off x="4359910" y="6038850"/>
            <a:ext cx="102870" cy="128270"/>
          </a:xfrm>
          <a:custGeom>
            <a:avLst/>
            <a:gdLst>
              <a:gd name="connsiteX0" fmla="*/ 48470 w 140406"/>
              <a:gd name="connsiteY0" fmla="*/ 173749 h 175592"/>
              <a:gd name="connsiteX1" fmla="*/ 45310 w 140406"/>
              <a:gd name="connsiteY1" fmla="*/ 172783 h 175592"/>
              <a:gd name="connsiteX2" fmla="*/ 43027 w 140406"/>
              <a:gd name="connsiteY2" fmla="*/ 168306 h 175592"/>
              <a:gd name="connsiteX3" fmla="*/ 43027 w 140406"/>
              <a:gd name="connsiteY3" fmla="*/ 147933 h 175592"/>
              <a:gd name="connsiteX4" fmla="*/ 32754 w 140406"/>
              <a:gd name="connsiteY4" fmla="*/ 147933 h 175592"/>
              <a:gd name="connsiteX5" fmla="*/ 32754 w 140406"/>
              <a:gd name="connsiteY5" fmla="*/ 167864 h 175592"/>
              <a:gd name="connsiteX6" fmla="*/ 30470 w 140406"/>
              <a:gd name="connsiteY6" fmla="*/ 172344 h 175592"/>
              <a:gd name="connsiteX7" fmla="*/ 25465 w 140406"/>
              <a:gd name="connsiteY7" fmla="*/ 173046 h 175592"/>
              <a:gd name="connsiteX8" fmla="*/ 0 w 140406"/>
              <a:gd name="connsiteY8" fmla="*/ 137308 h 175592"/>
              <a:gd name="connsiteX9" fmla="*/ 18527 w 140406"/>
              <a:gd name="connsiteY9" fmla="*/ 104818 h 175592"/>
              <a:gd name="connsiteX10" fmla="*/ 18527 w 140406"/>
              <a:gd name="connsiteY10" fmla="*/ 68467 h 175592"/>
              <a:gd name="connsiteX11" fmla="*/ 0 w 140406"/>
              <a:gd name="connsiteY11" fmla="*/ 35977 h 175592"/>
              <a:gd name="connsiteX12" fmla="*/ 25376 w 140406"/>
              <a:gd name="connsiteY12" fmla="*/ 328 h 175592"/>
              <a:gd name="connsiteX13" fmla="*/ 30381 w 140406"/>
              <a:gd name="connsiteY13" fmla="*/ 1031 h 175592"/>
              <a:gd name="connsiteX14" fmla="*/ 32665 w 140406"/>
              <a:gd name="connsiteY14" fmla="*/ 5510 h 175592"/>
              <a:gd name="connsiteX15" fmla="*/ 32665 w 140406"/>
              <a:gd name="connsiteY15" fmla="*/ 25881 h 175592"/>
              <a:gd name="connsiteX16" fmla="*/ 43025 w 140406"/>
              <a:gd name="connsiteY16" fmla="*/ 25881 h 175592"/>
              <a:gd name="connsiteX17" fmla="*/ 43025 w 140406"/>
              <a:gd name="connsiteY17" fmla="*/ 5509 h 175592"/>
              <a:gd name="connsiteX18" fmla="*/ 45309 w 140406"/>
              <a:gd name="connsiteY18" fmla="*/ 1029 h 175592"/>
              <a:gd name="connsiteX19" fmla="*/ 50314 w 140406"/>
              <a:gd name="connsiteY19" fmla="*/ 327 h 175592"/>
              <a:gd name="connsiteX20" fmla="*/ 75690 w 140406"/>
              <a:gd name="connsiteY20" fmla="*/ 35976 h 175592"/>
              <a:gd name="connsiteX21" fmla="*/ 57163 w 140406"/>
              <a:gd name="connsiteY21" fmla="*/ 68817 h 175592"/>
              <a:gd name="connsiteX22" fmla="*/ 57163 w 140406"/>
              <a:gd name="connsiteY22" fmla="*/ 105258 h 175592"/>
              <a:gd name="connsiteX23" fmla="*/ 75690 w 140406"/>
              <a:gd name="connsiteY23" fmla="*/ 137748 h 175592"/>
              <a:gd name="connsiteX24" fmla="*/ 50314 w 140406"/>
              <a:gd name="connsiteY24" fmla="*/ 173398 h 175592"/>
              <a:gd name="connsiteX25" fmla="*/ 48470 w 140406"/>
              <a:gd name="connsiteY25" fmla="*/ 173749 h 175592"/>
              <a:gd name="connsiteX26" fmla="*/ 27220 w 140406"/>
              <a:gd name="connsiteY26" fmla="*/ 136870 h 175592"/>
              <a:gd name="connsiteX27" fmla="*/ 48469 w 140406"/>
              <a:gd name="connsiteY27" fmla="*/ 136870 h 175592"/>
              <a:gd name="connsiteX28" fmla="*/ 54001 w 140406"/>
              <a:gd name="connsiteY28" fmla="*/ 142402 h 175592"/>
              <a:gd name="connsiteX29" fmla="*/ 54001 w 140406"/>
              <a:gd name="connsiteY29" fmla="*/ 159261 h 175592"/>
              <a:gd name="connsiteX30" fmla="*/ 64802 w 140406"/>
              <a:gd name="connsiteY30" fmla="*/ 137835 h 175592"/>
              <a:gd name="connsiteX31" fmla="*/ 49523 w 140406"/>
              <a:gd name="connsiteY31" fmla="*/ 113688 h 175592"/>
              <a:gd name="connsiteX32" fmla="*/ 46362 w 140406"/>
              <a:gd name="connsiteY32" fmla="*/ 108683 h 175592"/>
              <a:gd name="connsiteX33" fmla="*/ 46362 w 140406"/>
              <a:gd name="connsiteY33" fmla="*/ 65657 h 175592"/>
              <a:gd name="connsiteX34" fmla="*/ 49436 w 140406"/>
              <a:gd name="connsiteY34" fmla="*/ 60740 h 175592"/>
              <a:gd name="connsiteX35" fmla="*/ 64714 w 140406"/>
              <a:gd name="connsiteY35" fmla="*/ 35977 h 175592"/>
              <a:gd name="connsiteX36" fmla="*/ 53913 w 140406"/>
              <a:gd name="connsiteY36" fmla="*/ 14553 h 175592"/>
              <a:gd name="connsiteX37" fmla="*/ 53913 w 140406"/>
              <a:gd name="connsiteY37" fmla="*/ 31412 h 175592"/>
              <a:gd name="connsiteX38" fmla="*/ 48381 w 140406"/>
              <a:gd name="connsiteY38" fmla="*/ 36945 h 175592"/>
              <a:gd name="connsiteX39" fmla="*/ 27220 w 140406"/>
              <a:gd name="connsiteY39" fmla="*/ 36945 h 175592"/>
              <a:gd name="connsiteX40" fmla="*/ 21687 w 140406"/>
              <a:gd name="connsiteY40" fmla="*/ 31412 h 175592"/>
              <a:gd name="connsiteX41" fmla="*/ 21687 w 140406"/>
              <a:gd name="connsiteY41" fmla="*/ 14728 h 175592"/>
              <a:gd name="connsiteX42" fmla="*/ 10974 w 140406"/>
              <a:gd name="connsiteY42" fmla="*/ 35977 h 175592"/>
              <a:gd name="connsiteX43" fmla="*/ 26252 w 140406"/>
              <a:gd name="connsiteY43" fmla="*/ 60125 h 175592"/>
              <a:gd name="connsiteX44" fmla="*/ 29414 w 140406"/>
              <a:gd name="connsiteY44" fmla="*/ 65130 h 175592"/>
              <a:gd name="connsiteX45" fmla="*/ 29414 w 140406"/>
              <a:gd name="connsiteY45" fmla="*/ 108155 h 175592"/>
              <a:gd name="connsiteX46" fmla="*/ 26252 w 140406"/>
              <a:gd name="connsiteY46" fmla="*/ 113160 h 175592"/>
              <a:gd name="connsiteX47" fmla="*/ 10974 w 140406"/>
              <a:gd name="connsiteY47" fmla="*/ 137308 h 175592"/>
              <a:gd name="connsiteX48" fmla="*/ 21775 w 140406"/>
              <a:gd name="connsiteY48" fmla="*/ 158734 h 175592"/>
              <a:gd name="connsiteX49" fmla="*/ 21775 w 140406"/>
              <a:gd name="connsiteY49" fmla="*/ 142402 h 175592"/>
              <a:gd name="connsiteX50" fmla="*/ 27220 w 140406"/>
              <a:gd name="connsiteY50" fmla="*/ 136870 h 175592"/>
              <a:gd name="connsiteX51" fmla="*/ 125741 w 140406"/>
              <a:gd name="connsiteY51" fmla="*/ 175593 h 175592"/>
              <a:gd name="connsiteX52" fmla="*/ 97994 w 140406"/>
              <a:gd name="connsiteY52" fmla="*/ 175593 h 175592"/>
              <a:gd name="connsiteX53" fmla="*/ 83241 w 140406"/>
              <a:gd name="connsiteY53" fmla="*/ 160840 h 175592"/>
              <a:gd name="connsiteX54" fmla="*/ 83241 w 140406"/>
              <a:gd name="connsiteY54" fmla="*/ 100691 h 175592"/>
              <a:gd name="connsiteX55" fmla="*/ 97116 w 140406"/>
              <a:gd name="connsiteY55" fmla="*/ 85939 h 175592"/>
              <a:gd name="connsiteX56" fmla="*/ 97116 w 140406"/>
              <a:gd name="connsiteY56" fmla="*/ 51170 h 175592"/>
              <a:gd name="connsiteX57" fmla="*/ 88423 w 140406"/>
              <a:gd name="connsiteY57" fmla="*/ 33871 h 175592"/>
              <a:gd name="connsiteX58" fmla="*/ 88248 w 140406"/>
              <a:gd name="connsiteY58" fmla="*/ 29393 h 175592"/>
              <a:gd name="connsiteX59" fmla="*/ 97468 w 140406"/>
              <a:gd name="connsiteY59" fmla="*/ 6299 h 175592"/>
              <a:gd name="connsiteX60" fmla="*/ 102561 w 140406"/>
              <a:gd name="connsiteY60" fmla="*/ 2875 h 175592"/>
              <a:gd name="connsiteX61" fmla="*/ 121088 w 140406"/>
              <a:gd name="connsiteY61" fmla="*/ 2875 h 175592"/>
              <a:gd name="connsiteX62" fmla="*/ 126181 w 140406"/>
              <a:gd name="connsiteY62" fmla="*/ 6299 h 175592"/>
              <a:gd name="connsiteX63" fmla="*/ 135401 w 140406"/>
              <a:gd name="connsiteY63" fmla="*/ 29393 h 175592"/>
              <a:gd name="connsiteX64" fmla="*/ 135225 w 140406"/>
              <a:gd name="connsiteY64" fmla="*/ 33871 h 175592"/>
              <a:gd name="connsiteX65" fmla="*/ 126533 w 140406"/>
              <a:gd name="connsiteY65" fmla="*/ 51170 h 175592"/>
              <a:gd name="connsiteX66" fmla="*/ 126533 w 140406"/>
              <a:gd name="connsiteY66" fmla="*/ 86028 h 175592"/>
              <a:gd name="connsiteX67" fmla="*/ 140406 w 140406"/>
              <a:gd name="connsiteY67" fmla="*/ 100781 h 175592"/>
              <a:gd name="connsiteX68" fmla="*/ 140406 w 140406"/>
              <a:gd name="connsiteY68" fmla="*/ 160930 h 175592"/>
              <a:gd name="connsiteX69" fmla="*/ 125741 w 140406"/>
              <a:gd name="connsiteY69" fmla="*/ 175593 h 175592"/>
              <a:gd name="connsiteX70" fmla="*/ 97994 w 140406"/>
              <a:gd name="connsiteY70" fmla="*/ 97004 h 175592"/>
              <a:gd name="connsiteX71" fmla="*/ 94217 w 140406"/>
              <a:gd name="connsiteY71" fmla="*/ 100781 h 175592"/>
              <a:gd name="connsiteX72" fmla="*/ 94217 w 140406"/>
              <a:gd name="connsiteY72" fmla="*/ 160930 h 175592"/>
              <a:gd name="connsiteX73" fmla="*/ 97994 w 140406"/>
              <a:gd name="connsiteY73" fmla="*/ 164704 h 175592"/>
              <a:gd name="connsiteX74" fmla="*/ 125741 w 140406"/>
              <a:gd name="connsiteY74" fmla="*/ 164704 h 175592"/>
              <a:gd name="connsiteX75" fmla="*/ 129517 w 140406"/>
              <a:gd name="connsiteY75" fmla="*/ 160930 h 175592"/>
              <a:gd name="connsiteX76" fmla="*/ 129517 w 140406"/>
              <a:gd name="connsiteY76" fmla="*/ 100781 h 175592"/>
              <a:gd name="connsiteX77" fmla="*/ 125741 w 140406"/>
              <a:gd name="connsiteY77" fmla="*/ 97004 h 175592"/>
              <a:gd name="connsiteX78" fmla="*/ 121088 w 140406"/>
              <a:gd name="connsiteY78" fmla="*/ 97004 h 175592"/>
              <a:gd name="connsiteX79" fmla="*/ 115555 w 140406"/>
              <a:gd name="connsiteY79" fmla="*/ 91561 h 175592"/>
              <a:gd name="connsiteX80" fmla="*/ 115555 w 140406"/>
              <a:gd name="connsiteY80" fmla="*/ 49852 h 175592"/>
              <a:gd name="connsiteX81" fmla="*/ 116170 w 140406"/>
              <a:gd name="connsiteY81" fmla="*/ 47393 h 175592"/>
              <a:gd name="connsiteX82" fmla="*/ 124335 w 140406"/>
              <a:gd name="connsiteY82" fmla="*/ 31060 h 175592"/>
              <a:gd name="connsiteX83" fmla="*/ 117399 w 140406"/>
              <a:gd name="connsiteY83" fmla="*/ 13674 h 175592"/>
              <a:gd name="connsiteX84" fmla="*/ 106336 w 140406"/>
              <a:gd name="connsiteY84" fmla="*/ 13674 h 175592"/>
              <a:gd name="connsiteX85" fmla="*/ 99399 w 140406"/>
              <a:gd name="connsiteY85" fmla="*/ 31060 h 175592"/>
              <a:gd name="connsiteX86" fmla="*/ 107566 w 140406"/>
              <a:gd name="connsiteY86" fmla="*/ 47393 h 175592"/>
              <a:gd name="connsiteX87" fmla="*/ 108181 w 140406"/>
              <a:gd name="connsiteY87" fmla="*/ 49852 h 175592"/>
              <a:gd name="connsiteX88" fmla="*/ 108181 w 140406"/>
              <a:gd name="connsiteY88" fmla="*/ 91473 h 175592"/>
              <a:gd name="connsiteX89" fmla="*/ 102648 w 140406"/>
              <a:gd name="connsiteY89" fmla="*/ 96917 h 175592"/>
              <a:gd name="connsiteX90" fmla="*/ 97994 w 140406"/>
              <a:gd name="connsiteY90" fmla="*/ 96917 h 175592"/>
              <a:gd name="connsiteX91" fmla="*/ 97994 w 140406"/>
              <a:gd name="connsiteY91" fmla="*/ 97004 h 17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40406" h="175592">
                <a:moveTo>
                  <a:pt x="48470" y="173749"/>
                </a:moveTo>
                <a:cubicBezTo>
                  <a:pt x="47329" y="173749"/>
                  <a:pt x="46274" y="173397"/>
                  <a:pt x="45310" y="172783"/>
                </a:cubicBezTo>
                <a:cubicBezTo>
                  <a:pt x="43817" y="171730"/>
                  <a:pt x="43027" y="170062"/>
                  <a:pt x="43027" y="168306"/>
                </a:cubicBezTo>
                <a:lnTo>
                  <a:pt x="43027" y="147933"/>
                </a:lnTo>
                <a:lnTo>
                  <a:pt x="32754" y="147933"/>
                </a:lnTo>
                <a:lnTo>
                  <a:pt x="32754" y="167864"/>
                </a:lnTo>
                <a:cubicBezTo>
                  <a:pt x="32754" y="169620"/>
                  <a:pt x="31876" y="171289"/>
                  <a:pt x="30470" y="172344"/>
                </a:cubicBezTo>
                <a:cubicBezTo>
                  <a:pt x="28977" y="173397"/>
                  <a:pt x="27134" y="173661"/>
                  <a:pt x="25465" y="173046"/>
                </a:cubicBezTo>
                <a:cubicBezTo>
                  <a:pt x="10185" y="167514"/>
                  <a:pt x="0" y="153201"/>
                  <a:pt x="0" y="137308"/>
                </a:cubicBezTo>
                <a:cubicBezTo>
                  <a:pt x="0" y="123873"/>
                  <a:pt x="7112" y="111492"/>
                  <a:pt x="18527" y="104818"/>
                </a:cubicBezTo>
                <a:lnTo>
                  <a:pt x="18527" y="68467"/>
                </a:lnTo>
                <a:cubicBezTo>
                  <a:pt x="7199" y="61793"/>
                  <a:pt x="0" y="49412"/>
                  <a:pt x="0" y="35977"/>
                </a:cubicBezTo>
                <a:cubicBezTo>
                  <a:pt x="0" y="20349"/>
                  <a:pt x="10448" y="5596"/>
                  <a:pt x="25376" y="328"/>
                </a:cubicBezTo>
                <a:cubicBezTo>
                  <a:pt x="27044" y="-287"/>
                  <a:pt x="28888" y="-22"/>
                  <a:pt x="30381" y="1031"/>
                </a:cubicBezTo>
                <a:cubicBezTo>
                  <a:pt x="31874" y="2084"/>
                  <a:pt x="32665" y="3753"/>
                  <a:pt x="32665" y="5510"/>
                </a:cubicBezTo>
                <a:lnTo>
                  <a:pt x="32665" y="25881"/>
                </a:lnTo>
                <a:lnTo>
                  <a:pt x="43025" y="25881"/>
                </a:lnTo>
                <a:lnTo>
                  <a:pt x="43025" y="5509"/>
                </a:lnTo>
                <a:cubicBezTo>
                  <a:pt x="43025" y="3751"/>
                  <a:pt x="43903" y="2084"/>
                  <a:pt x="45309" y="1029"/>
                </a:cubicBezTo>
                <a:cubicBezTo>
                  <a:pt x="46802" y="-24"/>
                  <a:pt x="48645" y="-289"/>
                  <a:pt x="50314" y="327"/>
                </a:cubicBezTo>
                <a:cubicBezTo>
                  <a:pt x="65504" y="5770"/>
                  <a:pt x="75690" y="20084"/>
                  <a:pt x="75690" y="35976"/>
                </a:cubicBezTo>
                <a:cubicBezTo>
                  <a:pt x="75690" y="49235"/>
                  <a:pt x="68491" y="61792"/>
                  <a:pt x="57163" y="68817"/>
                </a:cubicBezTo>
                <a:lnTo>
                  <a:pt x="57163" y="105258"/>
                </a:lnTo>
                <a:cubicBezTo>
                  <a:pt x="68491" y="111844"/>
                  <a:pt x="75690" y="124225"/>
                  <a:pt x="75690" y="137748"/>
                </a:cubicBezTo>
                <a:cubicBezTo>
                  <a:pt x="75690" y="153641"/>
                  <a:pt x="65504" y="168041"/>
                  <a:pt x="50314" y="173398"/>
                </a:cubicBezTo>
                <a:cubicBezTo>
                  <a:pt x="49786" y="173661"/>
                  <a:pt x="49171" y="173749"/>
                  <a:pt x="48470" y="173749"/>
                </a:cubicBezTo>
                <a:close/>
                <a:moveTo>
                  <a:pt x="27220" y="136870"/>
                </a:moveTo>
                <a:lnTo>
                  <a:pt x="48469" y="136870"/>
                </a:lnTo>
                <a:cubicBezTo>
                  <a:pt x="51542" y="136870"/>
                  <a:pt x="54001" y="139328"/>
                  <a:pt x="54001" y="142402"/>
                </a:cubicBezTo>
                <a:lnTo>
                  <a:pt x="54001" y="159261"/>
                </a:lnTo>
                <a:cubicBezTo>
                  <a:pt x="60675" y="154256"/>
                  <a:pt x="64802" y="146442"/>
                  <a:pt x="64802" y="137835"/>
                </a:cubicBezTo>
                <a:cubicBezTo>
                  <a:pt x="64802" y="127562"/>
                  <a:pt x="58656" y="117903"/>
                  <a:pt x="49523" y="113688"/>
                </a:cubicBezTo>
                <a:cubicBezTo>
                  <a:pt x="47592" y="112810"/>
                  <a:pt x="46362" y="110879"/>
                  <a:pt x="46362" y="108683"/>
                </a:cubicBezTo>
                <a:lnTo>
                  <a:pt x="46362" y="65657"/>
                </a:lnTo>
                <a:cubicBezTo>
                  <a:pt x="46362" y="63549"/>
                  <a:pt x="47503" y="61706"/>
                  <a:pt x="49436" y="60740"/>
                </a:cubicBezTo>
                <a:cubicBezTo>
                  <a:pt x="58656" y="55998"/>
                  <a:pt x="64714" y="46250"/>
                  <a:pt x="64714" y="35977"/>
                </a:cubicBezTo>
                <a:cubicBezTo>
                  <a:pt x="64714" y="27285"/>
                  <a:pt x="60675" y="19558"/>
                  <a:pt x="53913" y="14553"/>
                </a:cubicBezTo>
                <a:lnTo>
                  <a:pt x="53913" y="31412"/>
                </a:lnTo>
                <a:cubicBezTo>
                  <a:pt x="53913" y="34486"/>
                  <a:pt x="51455" y="36945"/>
                  <a:pt x="48381" y="36945"/>
                </a:cubicBezTo>
                <a:lnTo>
                  <a:pt x="27220" y="36945"/>
                </a:lnTo>
                <a:cubicBezTo>
                  <a:pt x="24146" y="36945"/>
                  <a:pt x="21687" y="34486"/>
                  <a:pt x="21687" y="31412"/>
                </a:cubicBezTo>
                <a:lnTo>
                  <a:pt x="21687" y="14728"/>
                </a:lnTo>
                <a:cubicBezTo>
                  <a:pt x="15189" y="19734"/>
                  <a:pt x="10974" y="27636"/>
                  <a:pt x="10974" y="35977"/>
                </a:cubicBezTo>
                <a:cubicBezTo>
                  <a:pt x="10974" y="46250"/>
                  <a:pt x="17120" y="55910"/>
                  <a:pt x="26252" y="60125"/>
                </a:cubicBezTo>
                <a:cubicBezTo>
                  <a:pt x="28184" y="61003"/>
                  <a:pt x="29414" y="62934"/>
                  <a:pt x="29414" y="65130"/>
                </a:cubicBezTo>
                <a:lnTo>
                  <a:pt x="29414" y="108155"/>
                </a:lnTo>
                <a:cubicBezTo>
                  <a:pt x="29414" y="110263"/>
                  <a:pt x="28184" y="112282"/>
                  <a:pt x="26252" y="113160"/>
                </a:cubicBezTo>
                <a:cubicBezTo>
                  <a:pt x="17120" y="117375"/>
                  <a:pt x="10974" y="127033"/>
                  <a:pt x="10974" y="137308"/>
                </a:cubicBezTo>
                <a:cubicBezTo>
                  <a:pt x="10974" y="146000"/>
                  <a:pt x="15014" y="153729"/>
                  <a:pt x="21775" y="158734"/>
                </a:cubicBezTo>
                <a:lnTo>
                  <a:pt x="21775" y="142402"/>
                </a:lnTo>
                <a:cubicBezTo>
                  <a:pt x="21776" y="139328"/>
                  <a:pt x="24235" y="136870"/>
                  <a:pt x="27220" y="136870"/>
                </a:cubicBezTo>
                <a:close/>
                <a:moveTo>
                  <a:pt x="125741" y="175593"/>
                </a:moveTo>
                <a:lnTo>
                  <a:pt x="97994" y="175593"/>
                </a:lnTo>
                <a:cubicBezTo>
                  <a:pt x="89827" y="175593"/>
                  <a:pt x="83241" y="169007"/>
                  <a:pt x="83241" y="160840"/>
                </a:cubicBezTo>
                <a:lnTo>
                  <a:pt x="83241" y="100691"/>
                </a:lnTo>
                <a:cubicBezTo>
                  <a:pt x="83241" y="92877"/>
                  <a:pt x="89387" y="86466"/>
                  <a:pt x="97116" y="85939"/>
                </a:cubicBezTo>
                <a:lnTo>
                  <a:pt x="97116" y="51170"/>
                </a:lnTo>
                <a:lnTo>
                  <a:pt x="88423" y="33871"/>
                </a:lnTo>
                <a:cubicBezTo>
                  <a:pt x="87721" y="32465"/>
                  <a:pt x="87633" y="30797"/>
                  <a:pt x="88248" y="29393"/>
                </a:cubicBezTo>
                <a:lnTo>
                  <a:pt x="97468" y="6299"/>
                </a:lnTo>
                <a:cubicBezTo>
                  <a:pt x="98258" y="4193"/>
                  <a:pt x="100277" y="2875"/>
                  <a:pt x="102561" y="2875"/>
                </a:cubicBezTo>
                <a:lnTo>
                  <a:pt x="121088" y="2875"/>
                </a:lnTo>
                <a:cubicBezTo>
                  <a:pt x="123371" y="2875"/>
                  <a:pt x="125390" y="4280"/>
                  <a:pt x="126181" y="6299"/>
                </a:cubicBezTo>
                <a:lnTo>
                  <a:pt x="135401" y="29393"/>
                </a:lnTo>
                <a:cubicBezTo>
                  <a:pt x="136016" y="30886"/>
                  <a:pt x="135928" y="32467"/>
                  <a:pt x="135225" y="33871"/>
                </a:cubicBezTo>
                <a:lnTo>
                  <a:pt x="126533" y="51170"/>
                </a:lnTo>
                <a:lnTo>
                  <a:pt x="126533" y="86028"/>
                </a:lnTo>
                <a:cubicBezTo>
                  <a:pt x="134260" y="86466"/>
                  <a:pt x="140406" y="92877"/>
                  <a:pt x="140406" y="100781"/>
                </a:cubicBezTo>
                <a:lnTo>
                  <a:pt x="140406" y="160930"/>
                </a:lnTo>
                <a:cubicBezTo>
                  <a:pt x="140493" y="169007"/>
                  <a:pt x="133907" y="175593"/>
                  <a:pt x="125741" y="175593"/>
                </a:cubicBezTo>
                <a:close/>
                <a:moveTo>
                  <a:pt x="97994" y="97004"/>
                </a:moveTo>
                <a:cubicBezTo>
                  <a:pt x="95973" y="97004"/>
                  <a:pt x="94217" y="98760"/>
                  <a:pt x="94217" y="100781"/>
                </a:cubicBezTo>
                <a:lnTo>
                  <a:pt x="94217" y="160930"/>
                </a:lnTo>
                <a:cubicBezTo>
                  <a:pt x="94217" y="163036"/>
                  <a:pt x="95885" y="164704"/>
                  <a:pt x="97994" y="164704"/>
                </a:cubicBezTo>
                <a:lnTo>
                  <a:pt x="125741" y="164704"/>
                </a:lnTo>
                <a:cubicBezTo>
                  <a:pt x="127761" y="164704"/>
                  <a:pt x="129517" y="162948"/>
                  <a:pt x="129517" y="160930"/>
                </a:cubicBezTo>
                <a:lnTo>
                  <a:pt x="129517" y="100781"/>
                </a:lnTo>
                <a:cubicBezTo>
                  <a:pt x="129517" y="98760"/>
                  <a:pt x="127761" y="97004"/>
                  <a:pt x="125741" y="97004"/>
                </a:cubicBezTo>
                <a:lnTo>
                  <a:pt x="121088" y="97004"/>
                </a:lnTo>
                <a:cubicBezTo>
                  <a:pt x="118014" y="97004"/>
                  <a:pt x="115555" y="94545"/>
                  <a:pt x="115555" y="91561"/>
                </a:cubicBezTo>
                <a:lnTo>
                  <a:pt x="115555" y="49852"/>
                </a:lnTo>
                <a:cubicBezTo>
                  <a:pt x="115555" y="48974"/>
                  <a:pt x="115731" y="48183"/>
                  <a:pt x="116170" y="47393"/>
                </a:cubicBezTo>
                <a:lnTo>
                  <a:pt x="124335" y="31060"/>
                </a:lnTo>
                <a:lnTo>
                  <a:pt x="117399" y="13674"/>
                </a:lnTo>
                <a:lnTo>
                  <a:pt x="106336" y="13674"/>
                </a:lnTo>
                <a:lnTo>
                  <a:pt x="99399" y="31060"/>
                </a:lnTo>
                <a:lnTo>
                  <a:pt x="107566" y="47393"/>
                </a:lnTo>
                <a:cubicBezTo>
                  <a:pt x="107916" y="48183"/>
                  <a:pt x="108181" y="48974"/>
                  <a:pt x="108181" y="49852"/>
                </a:cubicBezTo>
                <a:lnTo>
                  <a:pt x="108181" y="91473"/>
                </a:lnTo>
                <a:cubicBezTo>
                  <a:pt x="108181" y="94547"/>
                  <a:pt x="105722" y="96917"/>
                  <a:pt x="102648" y="96917"/>
                </a:cubicBezTo>
                <a:lnTo>
                  <a:pt x="97994" y="96917"/>
                </a:lnTo>
                <a:lnTo>
                  <a:pt x="97994" y="97004"/>
                </a:lnTo>
                <a:close/>
              </a:path>
            </a:pathLst>
          </a:custGeom>
          <a:solidFill>
            <a:schemeClr val="accent1"/>
          </a:solidFill>
          <a:ln w="167" cap="flat">
            <a:noFill/>
            <a:prstDash val="solid"/>
            <a:miter/>
          </a:ln>
        </p:spPr>
        <p:txBody>
          <a:bodyPr rtlCol="0" anchor="ctr"/>
          <a:p>
            <a:endParaRPr lang="zh-CN" altLang="en-US">
              <a:cs typeface="微软雅黑" panose="020B0503020204020204" charset="-122"/>
            </a:endParaRPr>
          </a:p>
        </p:txBody>
      </p:sp>
      <p:sp>
        <p:nvSpPr>
          <p:cNvPr id="162" name="图形 160"/>
          <p:cNvSpPr/>
          <p:nvPr/>
        </p:nvSpPr>
        <p:spPr>
          <a:xfrm>
            <a:off x="4759325" y="6162040"/>
            <a:ext cx="146050" cy="112395"/>
          </a:xfrm>
          <a:custGeom>
            <a:avLst/>
            <a:gdLst>
              <a:gd name="connsiteX0" fmla="*/ 155084 w 158389"/>
              <a:gd name="connsiteY0" fmla="*/ 36872 h 121584"/>
              <a:gd name="connsiteX1" fmla="*/ 81878 w 158389"/>
              <a:gd name="connsiteY1" fmla="*/ 618 h 121584"/>
              <a:gd name="connsiteX2" fmla="*/ 76603 w 158389"/>
              <a:gd name="connsiteY2" fmla="*/ 618 h 121584"/>
              <a:gd name="connsiteX3" fmla="*/ 3405 w 158389"/>
              <a:gd name="connsiteY3" fmla="*/ 36872 h 121584"/>
              <a:gd name="connsiteX4" fmla="*/ 718 w 158389"/>
              <a:gd name="connsiteY4" fmla="*/ 44830 h 121584"/>
              <a:gd name="connsiteX5" fmla="*/ 3516 w 158389"/>
              <a:gd name="connsiteY5" fmla="*/ 47571 h 121584"/>
              <a:gd name="connsiteX6" fmla="*/ 32041 w 158389"/>
              <a:gd name="connsiteY6" fmla="*/ 60955 h 121584"/>
              <a:gd name="connsiteX7" fmla="*/ 32041 w 158389"/>
              <a:gd name="connsiteY7" fmla="*/ 103521 h 121584"/>
              <a:gd name="connsiteX8" fmla="*/ 34512 w 158389"/>
              <a:gd name="connsiteY8" fmla="*/ 108336 h 121584"/>
              <a:gd name="connsiteX9" fmla="*/ 79241 w 158389"/>
              <a:gd name="connsiteY9" fmla="*/ 121585 h 121584"/>
              <a:gd name="connsiteX10" fmla="*/ 123969 w 158389"/>
              <a:gd name="connsiteY10" fmla="*/ 108336 h 121584"/>
              <a:gd name="connsiteX11" fmla="*/ 126440 w 158389"/>
              <a:gd name="connsiteY11" fmla="*/ 103521 h 121584"/>
              <a:gd name="connsiteX12" fmla="*/ 126440 w 158389"/>
              <a:gd name="connsiteY12" fmla="*/ 60955 h 121584"/>
              <a:gd name="connsiteX13" fmla="*/ 154973 w 158389"/>
              <a:gd name="connsiteY13" fmla="*/ 47571 h 121584"/>
              <a:gd name="connsiteX14" fmla="*/ 157824 w 158389"/>
              <a:gd name="connsiteY14" fmla="*/ 39670 h 121584"/>
              <a:gd name="connsiteX15" fmla="*/ 155084 w 158389"/>
              <a:gd name="connsiteY15" fmla="*/ 36872 h 121584"/>
              <a:gd name="connsiteX16" fmla="*/ 114561 w 158389"/>
              <a:gd name="connsiteY16" fmla="*/ 100361 h 121584"/>
              <a:gd name="connsiteX17" fmla="*/ 79241 w 158389"/>
              <a:gd name="connsiteY17" fmla="*/ 109714 h 121584"/>
              <a:gd name="connsiteX18" fmla="*/ 43920 w 158389"/>
              <a:gd name="connsiteY18" fmla="*/ 100361 h 121584"/>
              <a:gd name="connsiteX19" fmla="*/ 43920 w 158389"/>
              <a:gd name="connsiteY19" fmla="*/ 66538 h 121584"/>
              <a:gd name="connsiteX20" fmla="*/ 76714 w 158389"/>
              <a:gd name="connsiteY20" fmla="*/ 81925 h 121584"/>
              <a:gd name="connsiteX21" fmla="*/ 81767 w 158389"/>
              <a:gd name="connsiteY21" fmla="*/ 81925 h 121584"/>
              <a:gd name="connsiteX22" fmla="*/ 114561 w 158389"/>
              <a:gd name="connsiteY22" fmla="*/ 66538 h 121584"/>
              <a:gd name="connsiteX23" fmla="*/ 114561 w 158389"/>
              <a:gd name="connsiteY23" fmla="*/ 100361 h 121584"/>
              <a:gd name="connsiteX24" fmla="*/ 79241 w 158389"/>
              <a:gd name="connsiteY24" fmla="*/ 69991 h 121584"/>
              <a:gd name="connsiteX25" fmla="*/ 19711 w 158389"/>
              <a:gd name="connsiteY25" fmla="*/ 42051 h 121584"/>
              <a:gd name="connsiteX26" fmla="*/ 79241 w 158389"/>
              <a:gd name="connsiteY26" fmla="*/ 12568 h 121584"/>
              <a:gd name="connsiteX27" fmla="*/ 138778 w 158389"/>
              <a:gd name="connsiteY27" fmla="*/ 42051 h 121584"/>
              <a:gd name="connsiteX28" fmla="*/ 79241 w 158389"/>
              <a:gd name="connsiteY28" fmla="*/ 69991 h 121584"/>
              <a:gd name="connsiteX29" fmla="*/ 11879 w 158389"/>
              <a:gd name="connsiteY29" fmla="*/ 61897 h 121584"/>
              <a:gd name="connsiteX30" fmla="*/ 11879 w 158389"/>
              <a:gd name="connsiteY30" fmla="*/ 95301 h 121584"/>
              <a:gd name="connsiteX31" fmla="*/ 5936 w 158389"/>
              <a:gd name="connsiteY31" fmla="*/ 101236 h 121584"/>
              <a:gd name="connsiteX32" fmla="*/ 0 w 158389"/>
              <a:gd name="connsiteY32" fmla="*/ 95293 h 121584"/>
              <a:gd name="connsiteX33" fmla="*/ 0 w 158389"/>
              <a:gd name="connsiteY33" fmla="*/ 61889 h 121584"/>
              <a:gd name="connsiteX34" fmla="*/ 5943 w 158389"/>
              <a:gd name="connsiteY34" fmla="*/ 55954 h 121584"/>
              <a:gd name="connsiteX35" fmla="*/ 11879 w 158389"/>
              <a:gd name="connsiteY35" fmla="*/ 61897 h 121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8389" h="121584">
                <a:moveTo>
                  <a:pt x="155084" y="36872"/>
                </a:moveTo>
                <a:lnTo>
                  <a:pt x="81878" y="618"/>
                </a:lnTo>
                <a:cubicBezTo>
                  <a:pt x="80216" y="-206"/>
                  <a:pt x="78265" y="-206"/>
                  <a:pt x="76603" y="618"/>
                </a:cubicBezTo>
                <a:lnTo>
                  <a:pt x="3405" y="36872"/>
                </a:lnTo>
                <a:cubicBezTo>
                  <a:pt x="466" y="38328"/>
                  <a:pt x="-738" y="41891"/>
                  <a:pt x="718" y="44830"/>
                </a:cubicBezTo>
                <a:cubicBezTo>
                  <a:pt x="1314" y="46034"/>
                  <a:pt x="2300" y="47000"/>
                  <a:pt x="3516" y="47571"/>
                </a:cubicBezTo>
                <a:lnTo>
                  <a:pt x="32041" y="60955"/>
                </a:lnTo>
                <a:lnTo>
                  <a:pt x="32041" y="103521"/>
                </a:lnTo>
                <a:cubicBezTo>
                  <a:pt x="32041" y="105429"/>
                  <a:pt x="32960" y="107227"/>
                  <a:pt x="34512" y="108336"/>
                </a:cubicBezTo>
                <a:cubicBezTo>
                  <a:pt x="46391" y="116881"/>
                  <a:pt x="62269" y="121585"/>
                  <a:pt x="79241" y="121585"/>
                </a:cubicBezTo>
                <a:cubicBezTo>
                  <a:pt x="96220" y="121585"/>
                  <a:pt x="112098" y="116881"/>
                  <a:pt x="123969" y="108336"/>
                </a:cubicBezTo>
                <a:cubicBezTo>
                  <a:pt x="125517" y="107220"/>
                  <a:pt x="126436" y="105429"/>
                  <a:pt x="126440" y="103521"/>
                </a:cubicBezTo>
                <a:lnTo>
                  <a:pt x="126440" y="60955"/>
                </a:lnTo>
                <a:lnTo>
                  <a:pt x="154973" y="47571"/>
                </a:lnTo>
                <a:cubicBezTo>
                  <a:pt x="157942" y="46177"/>
                  <a:pt x="159219" y="42639"/>
                  <a:pt x="157824" y="39670"/>
                </a:cubicBezTo>
                <a:cubicBezTo>
                  <a:pt x="157254" y="38454"/>
                  <a:pt x="156287" y="37468"/>
                  <a:pt x="155084" y="36872"/>
                </a:cubicBezTo>
                <a:close/>
                <a:moveTo>
                  <a:pt x="114561" y="100361"/>
                </a:moveTo>
                <a:cubicBezTo>
                  <a:pt x="105050" y="106332"/>
                  <a:pt x="92363" y="109714"/>
                  <a:pt x="79241" y="109714"/>
                </a:cubicBezTo>
                <a:cubicBezTo>
                  <a:pt x="66118" y="109714"/>
                  <a:pt x="53439" y="106332"/>
                  <a:pt x="43920" y="100361"/>
                </a:cubicBezTo>
                <a:lnTo>
                  <a:pt x="43920" y="66538"/>
                </a:lnTo>
                <a:lnTo>
                  <a:pt x="76714" y="81925"/>
                </a:lnTo>
                <a:cubicBezTo>
                  <a:pt x="78312" y="82686"/>
                  <a:pt x="80169" y="82686"/>
                  <a:pt x="81767" y="81925"/>
                </a:cubicBezTo>
                <a:lnTo>
                  <a:pt x="114561" y="66538"/>
                </a:lnTo>
                <a:lnTo>
                  <a:pt x="114561" y="100361"/>
                </a:lnTo>
                <a:close/>
                <a:moveTo>
                  <a:pt x="79241" y="69991"/>
                </a:moveTo>
                <a:lnTo>
                  <a:pt x="19711" y="42051"/>
                </a:lnTo>
                <a:lnTo>
                  <a:pt x="79241" y="12568"/>
                </a:lnTo>
                <a:lnTo>
                  <a:pt x="138778" y="42051"/>
                </a:lnTo>
                <a:lnTo>
                  <a:pt x="79241" y="69991"/>
                </a:lnTo>
                <a:close/>
                <a:moveTo>
                  <a:pt x="11879" y="61897"/>
                </a:moveTo>
                <a:lnTo>
                  <a:pt x="11879" y="95301"/>
                </a:lnTo>
                <a:cubicBezTo>
                  <a:pt x="11877" y="98581"/>
                  <a:pt x="9216" y="101238"/>
                  <a:pt x="5936" y="101236"/>
                </a:cubicBezTo>
                <a:cubicBezTo>
                  <a:pt x="2655" y="101234"/>
                  <a:pt x="-2" y="98573"/>
                  <a:pt x="0" y="95293"/>
                </a:cubicBezTo>
                <a:lnTo>
                  <a:pt x="0" y="61889"/>
                </a:lnTo>
                <a:cubicBezTo>
                  <a:pt x="2" y="58609"/>
                  <a:pt x="2663" y="55951"/>
                  <a:pt x="5943" y="55954"/>
                </a:cubicBezTo>
                <a:cubicBezTo>
                  <a:pt x="9224" y="55956"/>
                  <a:pt x="11881" y="58617"/>
                  <a:pt x="11879" y="61897"/>
                </a:cubicBezTo>
                <a:close/>
              </a:path>
            </a:pathLst>
          </a:custGeom>
          <a:solidFill>
            <a:schemeClr val="accent1"/>
          </a:solidFill>
          <a:ln w="149" cap="flat">
            <a:noFill/>
            <a:prstDash val="solid"/>
            <a:miter/>
          </a:ln>
        </p:spPr>
        <p:txBody>
          <a:bodyPr rtlCol="0" anchor="ctr"/>
          <a:p>
            <a:endParaRPr lang="zh-CN" altLang="en-US">
              <a:cs typeface="微软雅黑" panose="020B0503020204020204" charset="-122"/>
            </a:endParaRPr>
          </a:p>
        </p:txBody>
      </p:sp>
      <p:sp>
        <p:nvSpPr>
          <p:cNvPr id="62" name="图形 163"/>
          <p:cNvSpPr/>
          <p:nvPr/>
        </p:nvSpPr>
        <p:spPr>
          <a:xfrm>
            <a:off x="7713980" y="6125210"/>
            <a:ext cx="110490" cy="110490"/>
          </a:xfrm>
          <a:custGeom>
            <a:avLst/>
            <a:gdLst>
              <a:gd name="connsiteX0" fmla="*/ 85794 w 115491"/>
              <a:gd name="connsiteY0" fmla="*/ 0 h 115491"/>
              <a:gd name="connsiteX1" fmla="*/ 85794 w 115491"/>
              <a:gd name="connsiteY1" fmla="*/ 23098 h 115491"/>
              <a:gd name="connsiteX2" fmla="*/ 115492 w 115491"/>
              <a:gd name="connsiteY2" fmla="*/ 23098 h 115491"/>
              <a:gd name="connsiteX3" fmla="*/ 115492 w 115491"/>
              <a:gd name="connsiteY3" fmla="*/ 115492 h 115491"/>
              <a:gd name="connsiteX4" fmla="*/ 0 w 115491"/>
              <a:gd name="connsiteY4" fmla="*/ 115492 h 115491"/>
              <a:gd name="connsiteX5" fmla="*/ 0 w 115491"/>
              <a:gd name="connsiteY5" fmla="*/ 23098 h 115491"/>
              <a:gd name="connsiteX6" fmla="*/ 29698 w 115491"/>
              <a:gd name="connsiteY6" fmla="*/ 23098 h 115491"/>
              <a:gd name="connsiteX7" fmla="*/ 29698 w 115491"/>
              <a:gd name="connsiteY7" fmla="*/ 0 h 115491"/>
              <a:gd name="connsiteX8" fmla="*/ 85794 w 115491"/>
              <a:gd name="connsiteY8" fmla="*/ 0 h 115491"/>
              <a:gd name="connsiteX9" fmla="*/ 105593 w 115491"/>
              <a:gd name="connsiteY9" fmla="*/ 32998 h 115491"/>
              <a:gd name="connsiteX10" fmla="*/ 9899 w 115491"/>
              <a:gd name="connsiteY10" fmla="*/ 32998 h 115491"/>
              <a:gd name="connsiteX11" fmla="*/ 9899 w 115491"/>
              <a:gd name="connsiteY11" fmla="*/ 105593 h 115491"/>
              <a:gd name="connsiteX12" fmla="*/ 105593 w 115491"/>
              <a:gd name="connsiteY12" fmla="*/ 105593 h 115491"/>
              <a:gd name="connsiteX13" fmla="*/ 105593 w 115491"/>
              <a:gd name="connsiteY13" fmla="*/ 32998 h 115491"/>
              <a:gd name="connsiteX14" fmla="*/ 62673 w 115491"/>
              <a:gd name="connsiteY14" fmla="*/ 46174 h 115491"/>
              <a:gd name="connsiteX15" fmla="*/ 62673 w 115491"/>
              <a:gd name="connsiteY15" fmla="*/ 64346 h 115491"/>
              <a:gd name="connsiteX16" fmla="*/ 80844 w 115491"/>
              <a:gd name="connsiteY16" fmla="*/ 64346 h 115491"/>
              <a:gd name="connsiteX17" fmla="*/ 80844 w 115491"/>
              <a:gd name="connsiteY17" fmla="*/ 74245 h 115491"/>
              <a:gd name="connsiteX18" fmla="*/ 62673 w 115491"/>
              <a:gd name="connsiteY18" fmla="*/ 74245 h 115491"/>
              <a:gd name="connsiteX19" fmla="*/ 62673 w 115491"/>
              <a:gd name="connsiteY19" fmla="*/ 92417 h 115491"/>
              <a:gd name="connsiteX20" fmla="*/ 52773 w 115491"/>
              <a:gd name="connsiteY20" fmla="*/ 92417 h 115491"/>
              <a:gd name="connsiteX21" fmla="*/ 52773 w 115491"/>
              <a:gd name="connsiteY21" fmla="*/ 74245 h 115491"/>
              <a:gd name="connsiteX22" fmla="*/ 34601 w 115491"/>
              <a:gd name="connsiteY22" fmla="*/ 74245 h 115491"/>
              <a:gd name="connsiteX23" fmla="*/ 34601 w 115491"/>
              <a:gd name="connsiteY23" fmla="*/ 64346 h 115491"/>
              <a:gd name="connsiteX24" fmla="*/ 52773 w 115491"/>
              <a:gd name="connsiteY24" fmla="*/ 64346 h 115491"/>
              <a:gd name="connsiteX25" fmla="*/ 52773 w 115491"/>
              <a:gd name="connsiteY25" fmla="*/ 46174 h 115491"/>
              <a:gd name="connsiteX26" fmla="*/ 62673 w 115491"/>
              <a:gd name="connsiteY26" fmla="*/ 46174 h 115491"/>
              <a:gd name="connsiteX27" fmla="*/ 75895 w 115491"/>
              <a:gd name="connsiteY27" fmla="*/ 9899 h 115491"/>
              <a:gd name="connsiteX28" fmla="*/ 39597 w 115491"/>
              <a:gd name="connsiteY28" fmla="*/ 9899 h 115491"/>
              <a:gd name="connsiteX29" fmla="*/ 39597 w 115491"/>
              <a:gd name="connsiteY29" fmla="*/ 23098 h 115491"/>
              <a:gd name="connsiteX30" fmla="*/ 75895 w 115491"/>
              <a:gd name="connsiteY30" fmla="*/ 23098 h 115491"/>
              <a:gd name="connsiteX31" fmla="*/ 75895 w 115491"/>
              <a:gd name="connsiteY31" fmla="*/ 9899 h 11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491" h="115491">
                <a:moveTo>
                  <a:pt x="85794" y="0"/>
                </a:moveTo>
                <a:lnTo>
                  <a:pt x="85794" y="23098"/>
                </a:lnTo>
                <a:lnTo>
                  <a:pt x="115492" y="23098"/>
                </a:lnTo>
                <a:lnTo>
                  <a:pt x="115492" y="115492"/>
                </a:lnTo>
                <a:lnTo>
                  <a:pt x="0" y="115492"/>
                </a:lnTo>
                <a:lnTo>
                  <a:pt x="0" y="23098"/>
                </a:lnTo>
                <a:lnTo>
                  <a:pt x="29698" y="23098"/>
                </a:lnTo>
                <a:lnTo>
                  <a:pt x="29698" y="0"/>
                </a:lnTo>
                <a:lnTo>
                  <a:pt x="85794" y="0"/>
                </a:lnTo>
                <a:close/>
                <a:moveTo>
                  <a:pt x="105593" y="32998"/>
                </a:moveTo>
                <a:lnTo>
                  <a:pt x="9899" y="32998"/>
                </a:lnTo>
                <a:lnTo>
                  <a:pt x="9899" y="105593"/>
                </a:lnTo>
                <a:lnTo>
                  <a:pt x="105593" y="105593"/>
                </a:lnTo>
                <a:lnTo>
                  <a:pt x="105593" y="32998"/>
                </a:lnTo>
                <a:close/>
                <a:moveTo>
                  <a:pt x="62673" y="46174"/>
                </a:moveTo>
                <a:lnTo>
                  <a:pt x="62673" y="64346"/>
                </a:lnTo>
                <a:lnTo>
                  <a:pt x="80844" y="64346"/>
                </a:lnTo>
                <a:lnTo>
                  <a:pt x="80844" y="74245"/>
                </a:lnTo>
                <a:lnTo>
                  <a:pt x="62673" y="74245"/>
                </a:lnTo>
                <a:lnTo>
                  <a:pt x="62673" y="92417"/>
                </a:lnTo>
                <a:lnTo>
                  <a:pt x="52773" y="92417"/>
                </a:lnTo>
                <a:lnTo>
                  <a:pt x="52773" y="74245"/>
                </a:lnTo>
                <a:lnTo>
                  <a:pt x="34601" y="74245"/>
                </a:lnTo>
                <a:lnTo>
                  <a:pt x="34601" y="64346"/>
                </a:lnTo>
                <a:lnTo>
                  <a:pt x="52773" y="64346"/>
                </a:lnTo>
                <a:lnTo>
                  <a:pt x="52773" y="46174"/>
                </a:lnTo>
                <a:lnTo>
                  <a:pt x="62673" y="46174"/>
                </a:lnTo>
                <a:close/>
                <a:moveTo>
                  <a:pt x="75895" y="9899"/>
                </a:moveTo>
                <a:lnTo>
                  <a:pt x="39597" y="9899"/>
                </a:lnTo>
                <a:lnTo>
                  <a:pt x="39597" y="23098"/>
                </a:lnTo>
                <a:lnTo>
                  <a:pt x="75895" y="23098"/>
                </a:lnTo>
                <a:lnTo>
                  <a:pt x="75895" y="9899"/>
                </a:lnTo>
                <a:close/>
              </a:path>
            </a:pathLst>
          </a:custGeom>
          <a:solidFill>
            <a:schemeClr val="accent1"/>
          </a:solidFill>
          <a:ln w="0" cap="flat">
            <a:solidFill>
              <a:schemeClr val="accent1"/>
            </a:solidFill>
            <a:prstDash val="solid"/>
            <a:miter/>
          </a:ln>
        </p:spPr>
        <p:txBody>
          <a:bodyPr rtlCol="0" anchor="ctr"/>
          <a:p>
            <a:endParaRPr lang="zh-CN" altLang="en-US">
              <a:cs typeface="微软雅黑" panose="020B0503020204020204" charset="-122"/>
            </a:endParaRPr>
          </a:p>
        </p:txBody>
      </p:sp>
      <p:grpSp>
        <p:nvGrpSpPr>
          <p:cNvPr id="63" name="组合 62"/>
          <p:cNvGrpSpPr/>
          <p:nvPr/>
        </p:nvGrpSpPr>
        <p:grpSpPr>
          <a:xfrm rot="0">
            <a:off x="7098665" y="6219190"/>
            <a:ext cx="100965" cy="131445"/>
            <a:chOff x="5522351" y="1661911"/>
            <a:chExt cx="77224" cy="101251"/>
          </a:xfrm>
          <a:solidFill>
            <a:schemeClr val="accent1"/>
          </a:solidFill>
        </p:grpSpPr>
        <p:sp>
          <p:nvSpPr>
            <p:cNvPr id="64" name="任意多边形: 形状 168"/>
            <p:cNvSpPr/>
            <p:nvPr/>
          </p:nvSpPr>
          <p:spPr>
            <a:xfrm>
              <a:off x="5522351" y="1661911"/>
              <a:ext cx="77224" cy="101251"/>
            </a:xfrm>
            <a:custGeom>
              <a:avLst/>
              <a:gdLst>
                <a:gd name="connsiteX0" fmla="*/ 41096 w 77224"/>
                <a:gd name="connsiteY0" fmla="*/ 909 h 101251"/>
                <a:gd name="connsiteX1" fmla="*/ 36129 w 77224"/>
                <a:gd name="connsiteY1" fmla="*/ 909 h 101251"/>
                <a:gd name="connsiteX2" fmla="*/ 0 w 77224"/>
                <a:gd name="connsiteY2" fmla="*/ 62620 h 101251"/>
                <a:gd name="connsiteX3" fmla="*/ 38613 w 77224"/>
                <a:gd name="connsiteY3" fmla="*/ 101252 h 101251"/>
                <a:gd name="connsiteX4" fmla="*/ 77225 w 77224"/>
                <a:gd name="connsiteY4" fmla="*/ 62639 h 101251"/>
                <a:gd name="connsiteX5" fmla="*/ 41096 w 77224"/>
                <a:gd name="connsiteY5" fmla="*/ 909 h 101251"/>
                <a:gd name="connsiteX6" fmla="*/ 38613 w 77224"/>
                <a:gd name="connsiteY6" fmla="*/ 93553 h 101251"/>
                <a:gd name="connsiteX7" fmla="*/ 7699 w 77224"/>
                <a:gd name="connsiteY7" fmla="*/ 62639 h 101251"/>
                <a:gd name="connsiteX8" fmla="*/ 38613 w 77224"/>
                <a:gd name="connsiteY8" fmla="*/ 9052 h 101251"/>
                <a:gd name="connsiteX9" fmla="*/ 69526 w 77224"/>
                <a:gd name="connsiteY9" fmla="*/ 62639 h 101251"/>
                <a:gd name="connsiteX10" fmla="*/ 38613 w 77224"/>
                <a:gd name="connsiteY10" fmla="*/ 93553 h 101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224" h="101251">
                  <a:moveTo>
                    <a:pt x="41096" y="909"/>
                  </a:moveTo>
                  <a:cubicBezTo>
                    <a:pt x="39652" y="-303"/>
                    <a:pt x="37573" y="-303"/>
                    <a:pt x="36129" y="909"/>
                  </a:cubicBezTo>
                  <a:cubicBezTo>
                    <a:pt x="34647" y="2161"/>
                    <a:pt x="0" y="31707"/>
                    <a:pt x="0" y="62620"/>
                  </a:cubicBezTo>
                  <a:cubicBezTo>
                    <a:pt x="-19" y="83928"/>
                    <a:pt x="17304" y="101252"/>
                    <a:pt x="38613" y="101252"/>
                  </a:cubicBezTo>
                  <a:cubicBezTo>
                    <a:pt x="59901" y="101252"/>
                    <a:pt x="77225" y="83928"/>
                    <a:pt x="77225" y="62639"/>
                  </a:cubicBezTo>
                  <a:cubicBezTo>
                    <a:pt x="77225" y="31726"/>
                    <a:pt x="42558" y="2161"/>
                    <a:pt x="41096" y="909"/>
                  </a:cubicBezTo>
                  <a:close/>
                  <a:moveTo>
                    <a:pt x="38613" y="93553"/>
                  </a:moveTo>
                  <a:cubicBezTo>
                    <a:pt x="21558" y="93553"/>
                    <a:pt x="7699" y="79674"/>
                    <a:pt x="7699" y="62639"/>
                  </a:cubicBezTo>
                  <a:cubicBezTo>
                    <a:pt x="7699" y="39753"/>
                    <a:pt x="30875" y="16251"/>
                    <a:pt x="38613" y="9052"/>
                  </a:cubicBezTo>
                  <a:cubicBezTo>
                    <a:pt x="46350" y="16270"/>
                    <a:pt x="69526" y="39772"/>
                    <a:pt x="69526" y="62639"/>
                  </a:cubicBezTo>
                  <a:cubicBezTo>
                    <a:pt x="69526" y="79674"/>
                    <a:pt x="55647" y="93553"/>
                    <a:pt x="38613" y="93553"/>
                  </a:cubicBezTo>
                  <a:close/>
                </a:path>
              </a:pathLst>
            </a:custGeom>
            <a:grpFill/>
            <a:ln w="112" cap="flat">
              <a:solidFill>
                <a:schemeClr val="accent1"/>
              </a:solidFill>
              <a:prstDash val="solid"/>
              <a:miter/>
            </a:ln>
          </p:spPr>
          <p:txBody>
            <a:bodyPr rtlCol="0" anchor="ctr"/>
            <a:p>
              <a:endParaRPr lang="zh-CN" altLang="en-US">
                <a:cs typeface="微软雅黑" panose="020B0503020204020204" charset="-122"/>
              </a:endParaRPr>
            </a:p>
          </p:txBody>
        </p:sp>
        <p:sp>
          <p:nvSpPr>
            <p:cNvPr id="65" name="任意多边形: 形状 169"/>
            <p:cNvSpPr/>
            <p:nvPr/>
          </p:nvSpPr>
          <p:spPr>
            <a:xfrm>
              <a:off x="5546598" y="1704291"/>
              <a:ext cx="28402" cy="35484"/>
            </a:xfrm>
            <a:custGeom>
              <a:avLst/>
              <a:gdLst>
                <a:gd name="connsiteX0" fmla="*/ 24605 w 28402"/>
                <a:gd name="connsiteY0" fmla="*/ 13907 h 35484"/>
                <a:gd name="connsiteX1" fmla="*/ 13133 w 28402"/>
                <a:gd name="connsiteY1" fmla="*/ 13888 h 35484"/>
                <a:gd name="connsiteX2" fmla="*/ 20448 w 28402"/>
                <a:gd name="connsiteY2" fmla="*/ 6573 h 35484"/>
                <a:gd name="connsiteX3" fmla="*/ 20448 w 28402"/>
                <a:gd name="connsiteY3" fmla="*/ 1126 h 35484"/>
                <a:gd name="connsiteX4" fmla="*/ 15000 w 28402"/>
                <a:gd name="connsiteY4" fmla="*/ 1126 h 35484"/>
                <a:gd name="connsiteX5" fmla="*/ 1122 w 28402"/>
                <a:gd name="connsiteY5" fmla="*/ 14985 h 35484"/>
                <a:gd name="connsiteX6" fmla="*/ 294 w 28402"/>
                <a:gd name="connsiteY6" fmla="*/ 19181 h 35484"/>
                <a:gd name="connsiteX7" fmla="*/ 3836 w 28402"/>
                <a:gd name="connsiteY7" fmla="*/ 21568 h 35484"/>
                <a:gd name="connsiteX8" fmla="*/ 15308 w 28402"/>
                <a:gd name="connsiteY8" fmla="*/ 21587 h 35484"/>
                <a:gd name="connsiteX9" fmla="*/ 7994 w 28402"/>
                <a:gd name="connsiteY9" fmla="*/ 28902 h 35484"/>
                <a:gd name="connsiteX10" fmla="*/ 7998 w 28402"/>
                <a:gd name="connsiteY10" fmla="*/ 34357 h 35484"/>
                <a:gd name="connsiteX11" fmla="*/ 10708 w 28402"/>
                <a:gd name="connsiteY11" fmla="*/ 35485 h 35484"/>
                <a:gd name="connsiteX12" fmla="*/ 13422 w 28402"/>
                <a:gd name="connsiteY12" fmla="*/ 34349 h 35484"/>
                <a:gd name="connsiteX13" fmla="*/ 27281 w 28402"/>
                <a:gd name="connsiteY13" fmla="*/ 20490 h 35484"/>
                <a:gd name="connsiteX14" fmla="*/ 28109 w 28402"/>
                <a:gd name="connsiteY14" fmla="*/ 16294 h 35484"/>
                <a:gd name="connsiteX15" fmla="*/ 24605 w 28402"/>
                <a:gd name="connsiteY15" fmla="*/ 13907 h 35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402" h="35484">
                  <a:moveTo>
                    <a:pt x="24605" y="13907"/>
                  </a:moveTo>
                  <a:lnTo>
                    <a:pt x="13133" y="13888"/>
                  </a:lnTo>
                  <a:lnTo>
                    <a:pt x="20448" y="6573"/>
                  </a:lnTo>
                  <a:cubicBezTo>
                    <a:pt x="21949" y="5072"/>
                    <a:pt x="21949" y="2627"/>
                    <a:pt x="20448" y="1126"/>
                  </a:cubicBezTo>
                  <a:cubicBezTo>
                    <a:pt x="18946" y="-375"/>
                    <a:pt x="16502" y="-375"/>
                    <a:pt x="15000" y="1126"/>
                  </a:cubicBezTo>
                  <a:lnTo>
                    <a:pt x="1122" y="14985"/>
                  </a:lnTo>
                  <a:cubicBezTo>
                    <a:pt x="25" y="16082"/>
                    <a:pt x="-302" y="17737"/>
                    <a:pt x="294" y="19181"/>
                  </a:cubicBezTo>
                  <a:cubicBezTo>
                    <a:pt x="891" y="20625"/>
                    <a:pt x="2296" y="21549"/>
                    <a:pt x="3836" y="21568"/>
                  </a:cubicBezTo>
                  <a:lnTo>
                    <a:pt x="15308" y="21587"/>
                  </a:lnTo>
                  <a:lnTo>
                    <a:pt x="7994" y="28902"/>
                  </a:lnTo>
                  <a:cubicBezTo>
                    <a:pt x="6489" y="30409"/>
                    <a:pt x="6490" y="32851"/>
                    <a:pt x="7998" y="34357"/>
                  </a:cubicBezTo>
                  <a:cubicBezTo>
                    <a:pt x="8717" y="35075"/>
                    <a:pt x="9691" y="35481"/>
                    <a:pt x="10708" y="35485"/>
                  </a:cubicBezTo>
                  <a:cubicBezTo>
                    <a:pt x="11690" y="35485"/>
                    <a:pt x="12671" y="35100"/>
                    <a:pt x="13422" y="34349"/>
                  </a:cubicBezTo>
                  <a:lnTo>
                    <a:pt x="27281" y="20490"/>
                  </a:lnTo>
                  <a:cubicBezTo>
                    <a:pt x="28378" y="19393"/>
                    <a:pt x="28705" y="17737"/>
                    <a:pt x="28109" y="16294"/>
                  </a:cubicBezTo>
                  <a:cubicBezTo>
                    <a:pt x="27512" y="14850"/>
                    <a:pt x="26164" y="13907"/>
                    <a:pt x="24605" y="13907"/>
                  </a:cubicBezTo>
                  <a:close/>
                </a:path>
              </a:pathLst>
            </a:custGeom>
            <a:grpFill/>
            <a:ln w="112" cap="flat">
              <a:solidFill>
                <a:schemeClr val="accent1"/>
              </a:solidFill>
              <a:prstDash val="solid"/>
              <a:miter/>
            </a:ln>
          </p:spPr>
          <p:txBody>
            <a:bodyPr rtlCol="0" anchor="ctr"/>
            <a:p>
              <a:endParaRPr lang="zh-CN" altLang="en-US">
                <a:cs typeface="微软雅黑" panose="020B0503020204020204" charset="-122"/>
              </a:endParaRPr>
            </a:p>
          </p:txBody>
        </p:sp>
      </p:grpSp>
      <p:grpSp>
        <p:nvGrpSpPr>
          <p:cNvPr id="66" name="组合 65"/>
          <p:cNvGrpSpPr/>
          <p:nvPr/>
        </p:nvGrpSpPr>
        <p:grpSpPr>
          <a:xfrm rot="0">
            <a:off x="6280785" y="6284595"/>
            <a:ext cx="145415" cy="105410"/>
            <a:chOff x="5510166" y="1672770"/>
            <a:chExt cx="106059" cy="76844"/>
          </a:xfrm>
          <a:solidFill>
            <a:schemeClr val="accent1"/>
          </a:solidFill>
        </p:grpSpPr>
        <p:sp>
          <p:nvSpPr>
            <p:cNvPr id="67" name="任意多边形: 形状 174"/>
            <p:cNvSpPr/>
            <p:nvPr/>
          </p:nvSpPr>
          <p:spPr>
            <a:xfrm>
              <a:off x="5551215" y="1730706"/>
              <a:ext cx="28188" cy="8240"/>
            </a:xfrm>
            <a:custGeom>
              <a:avLst/>
              <a:gdLst>
                <a:gd name="connsiteX0" fmla="*/ 28188 w 28188"/>
                <a:gd name="connsiteY0" fmla="*/ 8240 h 8240"/>
                <a:gd name="connsiteX1" fmla="*/ 0 w 28188"/>
                <a:gd name="connsiteY1" fmla="*/ 8240 h 8240"/>
                <a:gd name="connsiteX2" fmla="*/ 0 w 28188"/>
                <a:gd name="connsiteY2" fmla="*/ 0 h 8240"/>
                <a:gd name="connsiteX3" fmla="*/ 27819 w 28188"/>
                <a:gd name="connsiteY3" fmla="*/ 0 h 8240"/>
              </a:gdLst>
              <a:ahLst/>
              <a:cxnLst>
                <a:cxn ang="0">
                  <a:pos x="connsiteX0" y="connsiteY0"/>
                </a:cxn>
                <a:cxn ang="0">
                  <a:pos x="connsiteX1" y="connsiteY1"/>
                </a:cxn>
                <a:cxn ang="0">
                  <a:pos x="connsiteX2" y="connsiteY2"/>
                </a:cxn>
                <a:cxn ang="0">
                  <a:pos x="connsiteX3" y="connsiteY3"/>
                </a:cxn>
              </a:cxnLst>
              <a:rect l="l" t="t" r="r" b="b"/>
              <a:pathLst>
                <a:path w="28188" h="8240">
                  <a:moveTo>
                    <a:pt x="28188" y="8240"/>
                  </a:moveTo>
                  <a:lnTo>
                    <a:pt x="0" y="8240"/>
                  </a:lnTo>
                  <a:lnTo>
                    <a:pt x="0" y="0"/>
                  </a:lnTo>
                  <a:lnTo>
                    <a:pt x="27819" y="0"/>
                  </a:lnTo>
                </a:path>
              </a:pathLst>
            </a:custGeom>
            <a:grpFill/>
            <a:ln w="112" cap="flat">
              <a:noFill/>
              <a:prstDash val="solid"/>
              <a:miter/>
            </a:ln>
          </p:spPr>
          <p:txBody>
            <a:bodyPr rtlCol="0" anchor="ctr"/>
            <a:p>
              <a:endParaRPr lang="zh-CN" altLang="en-US">
                <a:cs typeface="微软雅黑" panose="020B0503020204020204" charset="-122"/>
              </a:endParaRPr>
            </a:p>
          </p:txBody>
        </p:sp>
        <p:sp>
          <p:nvSpPr>
            <p:cNvPr id="68" name="任意多边形: 形状 175"/>
            <p:cNvSpPr/>
            <p:nvPr/>
          </p:nvSpPr>
          <p:spPr>
            <a:xfrm>
              <a:off x="5510166" y="1672770"/>
              <a:ext cx="106059" cy="66177"/>
            </a:xfrm>
            <a:custGeom>
              <a:avLst/>
              <a:gdLst>
                <a:gd name="connsiteX0" fmla="*/ 89301 w 106059"/>
                <a:gd name="connsiteY0" fmla="*/ 57936 h 66177"/>
                <a:gd name="connsiteX1" fmla="*/ 96308 w 106059"/>
                <a:gd name="connsiteY1" fmla="*/ 57936 h 66177"/>
                <a:gd name="connsiteX2" fmla="*/ 97819 w 106059"/>
                <a:gd name="connsiteY2" fmla="*/ 56425 h 66177"/>
                <a:gd name="connsiteX3" fmla="*/ 97819 w 106059"/>
                <a:gd name="connsiteY3" fmla="*/ 32045 h 66177"/>
                <a:gd name="connsiteX4" fmla="*/ 97633 w 106059"/>
                <a:gd name="connsiteY4" fmla="*/ 31549 h 66177"/>
                <a:gd name="connsiteX5" fmla="*/ 77480 w 106059"/>
                <a:gd name="connsiteY5" fmla="*/ 8498 h 66177"/>
                <a:gd name="connsiteX6" fmla="*/ 76913 w 106059"/>
                <a:gd name="connsiteY6" fmla="*/ 8241 h 66177"/>
                <a:gd name="connsiteX7" fmla="*/ 10143 w 106059"/>
                <a:gd name="connsiteY7" fmla="*/ 8241 h 66177"/>
                <a:gd name="connsiteX8" fmla="*/ 8241 w 106059"/>
                <a:gd name="connsiteY8" fmla="*/ 10143 h 66177"/>
                <a:gd name="connsiteX9" fmla="*/ 8241 w 106059"/>
                <a:gd name="connsiteY9" fmla="*/ 55544 h 66177"/>
                <a:gd name="connsiteX10" fmla="*/ 10634 w 106059"/>
                <a:gd name="connsiteY10" fmla="*/ 57937 h 66177"/>
                <a:gd name="connsiteX11" fmla="*/ 19753 w 106059"/>
                <a:gd name="connsiteY11" fmla="*/ 57937 h 66177"/>
                <a:gd name="connsiteX12" fmla="*/ 19753 w 106059"/>
                <a:gd name="connsiteY12" fmla="*/ 66177 h 66177"/>
                <a:gd name="connsiteX13" fmla="*/ 10634 w 106059"/>
                <a:gd name="connsiteY13" fmla="*/ 66177 h 66177"/>
                <a:gd name="connsiteX14" fmla="*/ 0 w 106059"/>
                <a:gd name="connsiteY14" fmla="*/ 55543 h 66177"/>
                <a:gd name="connsiteX15" fmla="*/ 0 w 106059"/>
                <a:gd name="connsiteY15" fmla="*/ 10142 h 66177"/>
                <a:gd name="connsiteX16" fmla="*/ 10142 w 106059"/>
                <a:gd name="connsiteY16" fmla="*/ 0 h 66177"/>
                <a:gd name="connsiteX17" fmla="*/ 76913 w 106059"/>
                <a:gd name="connsiteY17" fmla="*/ 0 h 66177"/>
                <a:gd name="connsiteX18" fmla="*/ 83685 w 106059"/>
                <a:gd name="connsiteY18" fmla="*/ 3074 h 66177"/>
                <a:gd name="connsiteX19" fmla="*/ 103837 w 106059"/>
                <a:gd name="connsiteY19" fmla="*/ 26125 h 66177"/>
                <a:gd name="connsiteX20" fmla="*/ 106060 w 106059"/>
                <a:gd name="connsiteY20" fmla="*/ 32045 h 66177"/>
                <a:gd name="connsiteX21" fmla="*/ 106060 w 106059"/>
                <a:gd name="connsiteY21" fmla="*/ 56425 h 66177"/>
                <a:gd name="connsiteX22" fmla="*/ 96309 w 106059"/>
                <a:gd name="connsiteY22" fmla="*/ 66176 h 66177"/>
                <a:gd name="connsiteX23" fmla="*/ 89672 w 106059"/>
                <a:gd name="connsiteY23" fmla="*/ 66176 h 66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6059" h="66177">
                  <a:moveTo>
                    <a:pt x="89301" y="57936"/>
                  </a:moveTo>
                  <a:lnTo>
                    <a:pt x="96308" y="57936"/>
                  </a:lnTo>
                  <a:cubicBezTo>
                    <a:pt x="97141" y="57936"/>
                    <a:pt x="97819" y="57258"/>
                    <a:pt x="97819" y="56425"/>
                  </a:cubicBezTo>
                  <a:lnTo>
                    <a:pt x="97819" y="32045"/>
                  </a:lnTo>
                  <a:cubicBezTo>
                    <a:pt x="97819" y="31863"/>
                    <a:pt x="97752" y="31687"/>
                    <a:pt x="97633" y="31549"/>
                  </a:cubicBezTo>
                  <a:lnTo>
                    <a:pt x="77480" y="8498"/>
                  </a:lnTo>
                  <a:cubicBezTo>
                    <a:pt x="77337" y="8335"/>
                    <a:pt x="77131" y="8241"/>
                    <a:pt x="76913" y="8241"/>
                  </a:cubicBezTo>
                  <a:lnTo>
                    <a:pt x="10143" y="8241"/>
                  </a:lnTo>
                  <a:cubicBezTo>
                    <a:pt x="9095" y="8241"/>
                    <a:pt x="8241" y="9094"/>
                    <a:pt x="8241" y="10143"/>
                  </a:cubicBezTo>
                  <a:lnTo>
                    <a:pt x="8241" y="55544"/>
                  </a:lnTo>
                  <a:cubicBezTo>
                    <a:pt x="8241" y="56864"/>
                    <a:pt x="9315" y="57937"/>
                    <a:pt x="10634" y="57937"/>
                  </a:cubicBezTo>
                  <a:lnTo>
                    <a:pt x="19753" y="57937"/>
                  </a:lnTo>
                  <a:lnTo>
                    <a:pt x="19753" y="66177"/>
                  </a:lnTo>
                  <a:lnTo>
                    <a:pt x="10634" y="66177"/>
                  </a:lnTo>
                  <a:cubicBezTo>
                    <a:pt x="4771" y="66177"/>
                    <a:pt x="0" y="61406"/>
                    <a:pt x="0" y="55543"/>
                  </a:cubicBezTo>
                  <a:lnTo>
                    <a:pt x="0" y="10142"/>
                  </a:lnTo>
                  <a:cubicBezTo>
                    <a:pt x="0" y="4550"/>
                    <a:pt x="4550" y="0"/>
                    <a:pt x="10142" y="0"/>
                  </a:cubicBezTo>
                  <a:lnTo>
                    <a:pt x="76913" y="0"/>
                  </a:lnTo>
                  <a:cubicBezTo>
                    <a:pt x="79508" y="0"/>
                    <a:pt x="81976" y="1121"/>
                    <a:pt x="83685" y="3074"/>
                  </a:cubicBezTo>
                  <a:lnTo>
                    <a:pt x="103837" y="26125"/>
                  </a:lnTo>
                  <a:cubicBezTo>
                    <a:pt x="105270" y="27764"/>
                    <a:pt x="106060" y="29868"/>
                    <a:pt x="106060" y="32045"/>
                  </a:cubicBezTo>
                  <a:lnTo>
                    <a:pt x="106060" y="56425"/>
                  </a:lnTo>
                  <a:cubicBezTo>
                    <a:pt x="106060" y="61802"/>
                    <a:pt x="101685" y="66176"/>
                    <a:pt x="96309" y="66176"/>
                  </a:cubicBezTo>
                  <a:lnTo>
                    <a:pt x="89672" y="66176"/>
                  </a:lnTo>
                </a:path>
              </a:pathLst>
            </a:custGeom>
            <a:grpFill/>
            <a:ln w="112" cap="flat">
              <a:noFill/>
              <a:prstDash val="solid"/>
              <a:miter/>
            </a:ln>
          </p:spPr>
          <p:txBody>
            <a:bodyPr rtlCol="0" anchor="ctr"/>
            <a:p>
              <a:endParaRPr lang="zh-CN" altLang="en-US">
                <a:cs typeface="微软雅黑" panose="020B0503020204020204" charset="-122"/>
              </a:endParaRPr>
            </a:p>
          </p:txBody>
        </p:sp>
        <p:sp>
          <p:nvSpPr>
            <p:cNvPr id="69" name="任意多边形: 形状 176"/>
            <p:cNvSpPr/>
            <p:nvPr/>
          </p:nvSpPr>
          <p:spPr>
            <a:xfrm>
              <a:off x="5515108" y="1699465"/>
              <a:ext cx="95027" cy="8240"/>
            </a:xfrm>
            <a:custGeom>
              <a:avLst/>
              <a:gdLst>
                <a:gd name="connsiteX0" fmla="*/ 0 w 95027"/>
                <a:gd name="connsiteY0" fmla="*/ 0 h 8240"/>
                <a:gd name="connsiteX1" fmla="*/ 95027 w 95027"/>
                <a:gd name="connsiteY1" fmla="*/ 0 h 8240"/>
                <a:gd name="connsiteX2" fmla="*/ 95027 w 95027"/>
                <a:gd name="connsiteY2" fmla="*/ 8240 h 8240"/>
                <a:gd name="connsiteX3" fmla="*/ 0 w 95027"/>
                <a:gd name="connsiteY3" fmla="*/ 8240 h 8240"/>
              </a:gdLst>
              <a:ahLst/>
              <a:cxnLst>
                <a:cxn ang="0">
                  <a:pos x="connsiteX0" y="connsiteY0"/>
                </a:cxn>
                <a:cxn ang="0">
                  <a:pos x="connsiteX1" y="connsiteY1"/>
                </a:cxn>
                <a:cxn ang="0">
                  <a:pos x="connsiteX2" y="connsiteY2"/>
                </a:cxn>
                <a:cxn ang="0">
                  <a:pos x="connsiteX3" y="connsiteY3"/>
                </a:cxn>
              </a:cxnLst>
              <a:rect l="l" t="t" r="r" b="b"/>
              <a:pathLst>
                <a:path w="95027" h="8240">
                  <a:moveTo>
                    <a:pt x="0" y="0"/>
                  </a:moveTo>
                  <a:lnTo>
                    <a:pt x="95027" y="0"/>
                  </a:lnTo>
                  <a:lnTo>
                    <a:pt x="95027" y="8240"/>
                  </a:lnTo>
                  <a:lnTo>
                    <a:pt x="0" y="8240"/>
                  </a:lnTo>
                  <a:close/>
                </a:path>
              </a:pathLst>
            </a:custGeom>
            <a:grpFill/>
            <a:ln w="112" cap="flat">
              <a:noFill/>
              <a:prstDash val="solid"/>
              <a:miter/>
            </a:ln>
          </p:spPr>
          <p:txBody>
            <a:bodyPr rtlCol="0" anchor="ctr"/>
            <a:p>
              <a:endParaRPr lang="zh-CN" altLang="en-US">
                <a:cs typeface="微软雅黑" panose="020B0503020204020204" charset="-122"/>
              </a:endParaRPr>
            </a:p>
          </p:txBody>
        </p:sp>
        <p:sp>
          <p:nvSpPr>
            <p:cNvPr id="70" name="任意多边形: 形状 177"/>
            <p:cNvSpPr/>
            <p:nvPr/>
          </p:nvSpPr>
          <p:spPr>
            <a:xfrm>
              <a:off x="5541760" y="1676505"/>
              <a:ext cx="40244" cy="27712"/>
            </a:xfrm>
            <a:custGeom>
              <a:avLst/>
              <a:gdLst>
                <a:gd name="connsiteX0" fmla="*/ 0 w 40244"/>
                <a:gd name="connsiteY0" fmla="*/ 0 h 27712"/>
                <a:gd name="connsiteX1" fmla="*/ 8240 w 40244"/>
                <a:gd name="connsiteY1" fmla="*/ 0 h 27712"/>
                <a:gd name="connsiteX2" fmla="*/ 8240 w 40244"/>
                <a:gd name="connsiteY2" fmla="*/ 27712 h 27712"/>
                <a:gd name="connsiteX3" fmla="*/ 0 w 40244"/>
                <a:gd name="connsiteY3" fmla="*/ 27712 h 27712"/>
                <a:gd name="connsiteX4" fmla="*/ 32005 w 40244"/>
                <a:gd name="connsiteY4" fmla="*/ 0 h 27712"/>
                <a:gd name="connsiteX5" fmla="*/ 40245 w 40244"/>
                <a:gd name="connsiteY5" fmla="*/ 0 h 27712"/>
                <a:gd name="connsiteX6" fmla="*/ 40245 w 40244"/>
                <a:gd name="connsiteY6" fmla="*/ 27712 h 27712"/>
                <a:gd name="connsiteX7" fmla="*/ 32005 w 40244"/>
                <a:gd name="connsiteY7" fmla="*/ 27712 h 2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244" h="27712">
                  <a:moveTo>
                    <a:pt x="0" y="0"/>
                  </a:moveTo>
                  <a:lnTo>
                    <a:pt x="8240" y="0"/>
                  </a:lnTo>
                  <a:lnTo>
                    <a:pt x="8240" y="27712"/>
                  </a:lnTo>
                  <a:lnTo>
                    <a:pt x="0" y="27712"/>
                  </a:lnTo>
                  <a:close/>
                  <a:moveTo>
                    <a:pt x="32005" y="0"/>
                  </a:moveTo>
                  <a:lnTo>
                    <a:pt x="40245" y="0"/>
                  </a:lnTo>
                  <a:lnTo>
                    <a:pt x="40245" y="27712"/>
                  </a:lnTo>
                  <a:lnTo>
                    <a:pt x="32005" y="27712"/>
                  </a:lnTo>
                  <a:close/>
                </a:path>
              </a:pathLst>
            </a:custGeom>
            <a:grpFill/>
            <a:ln w="112" cap="flat">
              <a:noFill/>
              <a:prstDash val="solid"/>
              <a:miter/>
            </a:ln>
          </p:spPr>
          <p:txBody>
            <a:bodyPr rtlCol="0" anchor="ctr"/>
            <a:p>
              <a:endParaRPr lang="zh-CN" altLang="en-US">
                <a:cs typeface="微软雅黑" panose="020B0503020204020204" charset="-122"/>
              </a:endParaRPr>
            </a:p>
          </p:txBody>
        </p:sp>
        <p:sp>
          <p:nvSpPr>
            <p:cNvPr id="71" name="任意多边形: 形状 178"/>
            <p:cNvSpPr/>
            <p:nvPr/>
          </p:nvSpPr>
          <p:spPr>
            <a:xfrm>
              <a:off x="5524610" y="1720694"/>
              <a:ext cx="78484" cy="28920"/>
            </a:xfrm>
            <a:custGeom>
              <a:avLst/>
              <a:gdLst>
                <a:gd name="connsiteX0" fmla="*/ 14460 w 78484"/>
                <a:gd name="connsiteY0" fmla="*/ 28920 h 28920"/>
                <a:gd name="connsiteX1" fmla="*/ 0 w 78484"/>
                <a:gd name="connsiteY1" fmla="*/ 14460 h 28920"/>
                <a:gd name="connsiteX2" fmla="*/ 14460 w 78484"/>
                <a:gd name="connsiteY2" fmla="*/ 0 h 28920"/>
                <a:gd name="connsiteX3" fmla="*/ 28920 w 78484"/>
                <a:gd name="connsiteY3" fmla="*/ 14460 h 28920"/>
                <a:gd name="connsiteX4" fmla="*/ 14460 w 78484"/>
                <a:gd name="connsiteY4" fmla="*/ 28920 h 28920"/>
                <a:gd name="connsiteX5" fmla="*/ 14460 w 78484"/>
                <a:gd name="connsiteY5" fmla="*/ 8241 h 28920"/>
                <a:gd name="connsiteX6" fmla="*/ 8240 w 78484"/>
                <a:gd name="connsiteY6" fmla="*/ 14461 h 28920"/>
                <a:gd name="connsiteX7" fmla="*/ 14460 w 78484"/>
                <a:gd name="connsiteY7" fmla="*/ 20681 h 28920"/>
                <a:gd name="connsiteX8" fmla="*/ 20680 w 78484"/>
                <a:gd name="connsiteY8" fmla="*/ 14461 h 28920"/>
                <a:gd name="connsiteX9" fmla="*/ 14460 w 78484"/>
                <a:gd name="connsiteY9" fmla="*/ 8241 h 28920"/>
                <a:gd name="connsiteX10" fmla="*/ 64024 w 78484"/>
                <a:gd name="connsiteY10" fmla="*/ 28920 h 28920"/>
                <a:gd name="connsiteX11" fmla="*/ 49564 w 78484"/>
                <a:gd name="connsiteY11" fmla="*/ 14460 h 28920"/>
                <a:gd name="connsiteX12" fmla="*/ 64024 w 78484"/>
                <a:gd name="connsiteY12" fmla="*/ 0 h 28920"/>
                <a:gd name="connsiteX13" fmla="*/ 78484 w 78484"/>
                <a:gd name="connsiteY13" fmla="*/ 14460 h 28920"/>
                <a:gd name="connsiteX14" fmla="*/ 64024 w 78484"/>
                <a:gd name="connsiteY14" fmla="*/ 28920 h 28920"/>
                <a:gd name="connsiteX15" fmla="*/ 64024 w 78484"/>
                <a:gd name="connsiteY15" fmla="*/ 8241 h 28920"/>
                <a:gd name="connsiteX16" fmla="*/ 57804 w 78484"/>
                <a:gd name="connsiteY16" fmla="*/ 14461 h 28920"/>
                <a:gd name="connsiteX17" fmla="*/ 64024 w 78484"/>
                <a:gd name="connsiteY17" fmla="*/ 20681 h 28920"/>
                <a:gd name="connsiteX18" fmla="*/ 70244 w 78484"/>
                <a:gd name="connsiteY18" fmla="*/ 14461 h 28920"/>
                <a:gd name="connsiteX19" fmla="*/ 64024 w 78484"/>
                <a:gd name="connsiteY19" fmla="*/ 8241 h 28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484" h="28920">
                  <a:moveTo>
                    <a:pt x="14460" y="28920"/>
                  </a:moveTo>
                  <a:cubicBezTo>
                    <a:pt x="6487" y="28920"/>
                    <a:pt x="0" y="22433"/>
                    <a:pt x="0" y="14460"/>
                  </a:cubicBezTo>
                  <a:cubicBezTo>
                    <a:pt x="0" y="6487"/>
                    <a:pt x="6486" y="0"/>
                    <a:pt x="14460" y="0"/>
                  </a:cubicBezTo>
                  <a:cubicBezTo>
                    <a:pt x="22434" y="0"/>
                    <a:pt x="28920" y="6487"/>
                    <a:pt x="28920" y="14460"/>
                  </a:cubicBezTo>
                  <a:cubicBezTo>
                    <a:pt x="28920" y="22433"/>
                    <a:pt x="22434" y="28920"/>
                    <a:pt x="14460" y="28920"/>
                  </a:cubicBezTo>
                  <a:close/>
                  <a:moveTo>
                    <a:pt x="14460" y="8241"/>
                  </a:moveTo>
                  <a:cubicBezTo>
                    <a:pt x="11030" y="8241"/>
                    <a:pt x="8240" y="11031"/>
                    <a:pt x="8240" y="14461"/>
                  </a:cubicBezTo>
                  <a:cubicBezTo>
                    <a:pt x="8240" y="17891"/>
                    <a:pt x="11030" y="20681"/>
                    <a:pt x="14460" y="20681"/>
                  </a:cubicBezTo>
                  <a:cubicBezTo>
                    <a:pt x="17890" y="20681"/>
                    <a:pt x="20680" y="17891"/>
                    <a:pt x="20680" y="14461"/>
                  </a:cubicBezTo>
                  <a:cubicBezTo>
                    <a:pt x="20680" y="11031"/>
                    <a:pt x="17890" y="8241"/>
                    <a:pt x="14460" y="8241"/>
                  </a:cubicBezTo>
                  <a:close/>
                  <a:moveTo>
                    <a:pt x="64024" y="28920"/>
                  </a:moveTo>
                  <a:cubicBezTo>
                    <a:pt x="56051" y="28920"/>
                    <a:pt x="49564" y="22433"/>
                    <a:pt x="49564" y="14460"/>
                  </a:cubicBezTo>
                  <a:cubicBezTo>
                    <a:pt x="49564" y="6487"/>
                    <a:pt x="56051" y="0"/>
                    <a:pt x="64024" y="0"/>
                  </a:cubicBezTo>
                  <a:cubicBezTo>
                    <a:pt x="71997" y="0"/>
                    <a:pt x="78484" y="6487"/>
                    <a:pt x="78484" y="14460"/>
                  </a:cubicBezTo>
                  <a:cubicBezTo>
                    <a:pt x="78484" y="22433"/>
                    <a:pt x="71998" y="28920"/>
                    <a:pt x="64024" y="28920"/>
                  </a:cubicBezTo>
                  <a:close/>
                  <a:moveTo>
                    <a:pt x="64024" y="8241"/>
                  </a:moveTo>
                  <a:cubicBezTo>
                    <a:pt x="60594" y="8241"/>
                    <a:pt x="57804" y="11031"/>
                    <a:pt x="57804" y="14461"/>
                  </a:cubicBezTo>
                  <a:cubicBezTo>
                    <a:pt x="57804" y="17891"/>
                    <a:pt x="60594" y="20681"/>
                    <a:pt x="64024" y="20681"/>
                  </a:cubicBezTo>
                  <a:cubicBezTo>
                    <a:pt x="67454" y="20681"/>
                    <a:pt x="70244" y="17891"/>
                    <a:pt x="70244" y="14461"/>
                  </a:cubicBezTo>
                  <a:cubicBezTo>
                    <a:pt x="70244" y="11031"/>
                    <a:pt x="67454" y="8241"/>
                    <a:pt x="64024" y="8241"/>
                  </a:cubicBezTo>
                  <a:close/>
                </a:path>
              </a:pathLst>
            </a:custGeom>
            <a:grpFill/>
            <a:ln w="112" cap="flat">
              <a:noFill/>
              <a:prstDash val="solid"/>
              <a:miter/>
            </a:ln>
          </p:spPr>
          <p:txBody>
            <a:bodyPr rtlCol="0" anchor="ctr"/>
            <a:p>
              <a:endParaRPr lang="zh-CN" altLang="en-US">
                <a:cs typeface="微软雅黑" panose="020B0503020204020204" charset="-122"/>
              </a:endParaRPr>
            </a:p>
          </p:txBody>
        </p:sp>
      </p:grpSp>
      <p:grpSp>
        <p:nvGrpSpPr>
          <p:cNvPr id="72" name="组合 71"/>
          <p:cNvGrpSpPr/>
          <p:nvPr/>
        </p:nvGrpSpPr>
        <p:grpSpPr>
          <a:xfrm rot="0">
            <a:off x="5889625" y="6269355"/>
            <a:ext cx="139700" cy="130810"/>
            <a:chOff x="6552719" y="1613567"/>
            <a:chExt cx="155926" cy="155584"/>
          </a:xfrm>
          <a:solidFill>
            <a:schemeClr val="accent1"/>
          </a:solidFill>
        </p:grpSpPr>
        <p:sp>
          <p:nvSpPr>
            <p:cNvPr id="73" name="任意多边形: 形状 183"/>
            <p:cNvSpPr/>
            <p:nvPr/>
          </p:nvSpPr>
          <p:spPr>
            <a:xfrm>
              <a:off x="6552719" y="1613567"/>
              <a:ext cx="155926" cy="155584"/>
            </a:xfrm>
            <a:custGeom>
              <a:avLst/>
              <a:gdLst>
                <a:gd name="connsiteX0" fmla="*/ 77988 w 155926"/>
                <a:gd name="connsiteY0" fmla="*/ 155584 h 155584"/>
                <a:gd name="connsiteX1" fmla="*/ 9249 w 155926"/>
                <a:gd name="connsiteY1" fmla="*/ 123949 h 155584"/>
                <a:gd name="connsiteX2" fmla="*/ 77988 w 155926"/>
                <a:gd name="connsiteY2" fmla="*/ 92355 h 155584"/>
                <a:gd name="connsiteX3" fmla="*/ 146728 w 155926"/>
                <a:gd name="connsiteY3" fmla="*/ 123949 h 155584"/>
                <a:gd name="connsiteX4" fmla="*/ 77988 w 155926"/>
                <a:gd name="connsiteY4" fmla="*/ 155584 h 155584"/>
                <a:gd name="connsiteX5" fmla="*/ 77988 w 155926"/>
                <a:gd name="connsiteY5" fmla="*/ 102900 h 155584"/>
                <a:gd name="connsiteX6" fmla="*/ 20478 w 155926"/>
                <a:gd name="connsiteY6" fmla="*/ 123195 h 155584"/>
                <a:gd name="connsiteX7" fmla="*/ 77988 w 155926"/>
                <a:gd name="connsiteY7" fmla="*/ 144118 h 155584"/>
                <a:gd name="connsiteX8" fmla="*/ 135499 w 155926"/>
                <a:gd name="connsiteY8" fmla="*/ 123195 h 155584"/>
                <a:gd name="connsiteX9" fmla="*/ 77988 w 155926"/>
                <a:gd name="connsiteY9" fmla="*/ 102900 h 155584"/>
                <a:gd name="connsiteX10" fmla="*/ 113625 w 155926"/>
                <a:gd name="connsiteY10" fmla="*/ 50927 h 155584"/>
                <a:gd name="connsiteX11" fmla="*/ 111520 w 155926"/>
                <a:gd name="connsiteY11" fmla="*/ 50927 h 155584"/>
                <a:gd name="connsiteX12" fmla="*/ 92025 w 155926"/>
                <a:gd name="connsiteY12" fmla="*/ 32139 h 155584"/>
                <a:gd name="connsiteX13" fmla="*/ 93389 w 155926"/>
                <a:gd name="connsiteY13" fmla="*/ 14061 h 155584"/>
                <a:gd name="connsiteX14" fmla="*/ 110116 w 155926"/>
                <a:gd name="connsiteY14" fmla="*/ 1256 h 155584"/>
                <a:gd name="connsiteX15" fmla="*/ 153005 w 155926"/>
                <a:gd name="connsiteY15" fmla="*/ 9626 h 155584"/>
                <a:gd name="connsiteX16" fmla="*/ 155774 w 155926"/>
                <a:gd name="connsiteY16" fmla="*/ 15651 h 155584"/>
                <a:gd name="connsiteX17" fmla="*/ 150900 w 155926"/>
                <a:gd name="connsiteY17" fmla="*/ 20171 h 155584"/>
                <a:gd name="connsiteX18" fmla="*/ 129845 w 155926"/>
                <a:gd name="connsiteY18" fmla="*/ 38248 h 155584"/>
                <a:gd name="connsiteX19" fmla="*/ 113703 w 155926"/>
                <a:gd name="connsiteY19" fmla="*/ 50802 h 155584"/>
                <a:gd name="connsiteX20" fmla="*/ 119240 w 155926"/>
                <a:gd name="connsiteY20" fmla="*/ 11048 h 155584"/>
                <a:gd name="connsiteX21" fmla="*/ 112222 w 155926"/>
                <a:gd name="connsiteY21" fmla="*/ 11802 h 155584"/>
                <a:gd name="connsiteX22" fmla="*/ 101694 w 155926"/>
                <a:gd name="connsiteY22" fmla="*/ 19334 h 155584"/>
                <a:gd name="connsiteX23" fmla="*/ 100992 w 155926"/>
                <a:gd name="connsiteY23" fmla="*/ 29209 h 155584"/>
                <a:gd name="connsiteX24" fmla="*/ 112222 w 155926"/>
                <a:gd name="connsiteY24" fmla="*/ 39671 h 155584"/>
                <a:gd name="connsiteX25" fmla="*/ 120643 w 155926"/>
                <a:gd name="connsiteY25" fmla="*/ 32892 h 155584"/>
                <a:gd name="connsiteX26" fmla="*/ 135382 w 155926"/>
                <a:gd name="connsiteY26" fmla="*/ 14814 h 155584"/>
                <a:gd name="connsiteX27" fmla="*/ 119240 w 155926"/>
                <a:gd name="connsiteY27" fmla="*/ 11048 h 155584"/>
                <a:gd name="connsiteX28" fmla="*/ 42897 w 155926"/>
                <a:gd name="connsiteY28" fmla="*/ 65992 h 155584"/>
                <a:gd name="connsiteX29" fmla="*/ 26092 w 155926"/>
                <a:gd name="connsiteY29" fmla="*/ 53940 h 155584"/>
                <a:gd name="connsiteX30" fmla="*/ 4921 w 155926"/>
                <a:gd name="connsiteY30" fmla="*/ 35905 h 155584"/>
                <a:gd name="connsiteX31" fmla="*/ 8 w 155926"/>
                <a:gd name="connsiteY31" fmla="*/ 30632 h 155584"/>
                <a:gd name="connsiteX32" fmla="*/ 2815 w 155926"/>
                <a:gd name="connsiteY32" fmla="*/ 24606 h 155584"/>
                <a:gd name="connsiteX33" fmla="*/ 45704 w 155926"/>
                <a:gd name="connsiteY33" fmla="*/ 16237 h 155584"/>
                <a:gd name="connsiteX34" fmla="*/ 63952 w 155926"/>
                <a:gd name="connsiteY34" fmla="*/ 47078 h 155584"/>
                <a:gd name="connsiteX35" fmla="*/ 44457 w 155926"/>
                <a:gd name="connsiteY35" fmla="*/ 65908 h 155584"/>
                <a:gd name="connsiteX36" fmla="*/ 19503 w 155926"/>
                <a:gd name="connsiteY36" fmla="*/ 29879 h 155584"/>
                <a:gd name="connsiteX37" fmla="*/ 34202 w 155926"/>
                <a:gd name="connsiteY37" fmla="*/ 47915 h 155584"/>
                <a:gd name="connsiteX38" fmla="*/ 42624 w 155926"/>
                <a:gd name="connsiteY38" fmla="*/ 54694 h 155584"/>
                <a:gd name="connsiteX39" fmla="*/ 54594 w 155926"/>
                <a:gd name="connsiteY39" fmla="*/ 44190 h 155584"/>
                <a:gd name="connsiteX40" fmla="*/ 43365 w 155926"/>
                <a:gd name="connsiteY40" fmla="*/ 26866 h 155584"/>
                <a:gd name="connsiteX41" fmla="*/ 19503 w 155926"/>
                <a:gd name="connsiteY41" fmla="*/ 29879 h 155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55926" h="155584">
                  <a:moveTo>
                    <a:pt x="77988" y="155584"/>
                  </a:moveTo>
                  <a:cubicBezTo>
                    <a:pt x="45002" y="155584"/>
                    <a:pt x="9249" y="144286"/>
                    <a:pt x="9249" y="123949"/>
                  </a:cubicBezTo>
                  <a:cubicBezTo>
                    <a:pt x="9249" y="103611"/>
                    <a:pt x="44340" y="92355"/>
                    <a:pt x="77988" y="92355"/>
                  </a:cubicBezTo>
                  <a:cubicBezTo>
                    <a:pt x="111637" y="92355"/>
                    <a:pt x="146728" y="103653"/>
                    <a:pt x="146728" y="123949"/>
                  </a:cubicBezTo>
                  <a:cubicBezTo>
                    <a:pt x="146728" y="144244"/>
                    <a:pt x="110818" y="155584"/>
                    <a:pt x="77988" y="155584"/>
                  </a:cubicBezTo>
                  <a:close/>
                  <a:moveTo>
                    <a:pt x="77988" y="102900"/>
                  </a:moveTo>
                  <a:cubicBezTo>
                    <a:pt x="42897" y="102900"/>
                    <a:pt x="20478" y="114910"/>
                    <a:pt x="20478" y="123195"/>
                  </a:cubicBezTo>
                  <a:cubicBezTo>
                    <a:pt x="20478" y="131481"/>
                    <a:pt x="42897" y="144118"/>
                    <a:pt x="77988" y="144118"/>
                  </a:cubicBezTo>
                  <a:cubicBezTo>
                    <a:pt x="113079" y="144118"/>
                    <a:pt x="135499" y="132067"/>
                    <a:pt x="135499" y="123195"/>
                  </a:cubicBezTo>
                  <a:cubicBezTo>
                    <a:pt x="135499" y="114324"/>
                    <a:pt x="113079" y="102900"/>
                    <a:pt x="77988" y="102900"/>
                  </a:cubicBezTo>
                  <a:close/>
                  <a:moveTo>
                    <a:pt x="113625" y="50927"/>
                  </a:moveTo>
                  <a:lnTo>
                    <a:pt x="111520" y="50927"/>
                  </a:lnTo>
                  <a:cubicBezTo>
                    <a:pt x="102364" y="48844"/>
                    <a:pt x="94936" y="41685"/>
                    <a:pt x="92025" y="32139"/>
                  </a:cubicBezTo>
                  <a:cubicBezTo>
                    <a:pt x="90330" y="26145"/>
                    <a:pt x="90818" y="19684"/>
                    <a:pt x="93389" y="14061"/>
                  </a:cubicBezTo>
                  <a:cubicBezTo>
                    <a:pt x="97077" y="7496"/>
                    <a:pt x="103132" y="2861"/>
                    <a:pt x="110116" y="1256"/>
                  </a:cubicBezTo>
                  <a:cubicBezTo>
                    <a:pt x="121345" y="-1757"/>
                    <a:pt x="135382" y="503"/>
                    <a:pt x="153005" y="9626"/>
                  </a:cubicBezTo>
                  <a:cubicBezTo>
                    <a:pt x="155191" y="10622"/>
                    <a:pt x="156368" y="13184"/>
                    <a:pt x="155774" y="15651"/>
                  </a:cubicBezTo>
                  <a:cubicBezTo>
                    <a:pt x="155298" y="18173"/>
                    <a:pt x="153294" y="20031"/>
                    <a:pt x="150900" y="20171"/>
                  </a:cubicBezTo>
                  <a:cubicBezTo>
                    <a:pt x="143102" y="20924"/>
                    <a:pt x="136084" y="26950"/>
                    <a:pt x="129845" y="38248"/>
                  </a:cubicBezTo>
                  <a:cubicBezTo>
                    <a:pt x="124932" y="48751"/>
                    <a:pt x="117914" y="50802"/>
                    <a:pt x="113703" y="50802"/>
                  </a:cubicBezTo>
                  <a:close/>
                  <a:moveTo>
                    <a:pt x="119240" y="11048"/>
                  </a:moveTo>
                  <a:cubicBezTo>
                    <a:pt x="116878" y="10886"/>
                    <a:pt x="114507" y="11140"/>
                    <a:pt x="112222" y="11802"/>
                  </a:cubicBezTo>
                  <a:cubicBezTo>
                    <a:pt x="106607" y="13308"/>
                    <a:pt x="103098" y="15568"/>
                    <a:pt x="101694" y="19334"/>
                  </a:cubicBezTo>
                  <a:cubicBezTo>
                    <a:pt x="100338" y="22421"/>
                    <a:pt x="100088" y="25937"/>
                    <a:pt x="100992" y="29209"/>
                  </a:cubicBezTo>
                  <a:cubicBezTo>
                    <a:pt x="102916" y="34458"/>
                    <a:pt x="107109" y="38365"/>
                    <a:pt x="112222" y="39671"/>
                  </a:cubicBezTo>
                  <a:cubicBezTo>
                    <a:pt x="113625" y="39671"/>
                    <a:pt x="117134" y="40424"/>
                    <a:pt x="120643" y="32892"/>
                  </a:cubicBezTo>
                  <a:cubicBezTo>
                    <a:pt x="124026" y="25606"/>
                    <a:pt x="129102" y="19380"/>
                    <a:pt x="135382" y="14814"/>
                  </a:cubicBezTo>
                  <a:cubicBezTo>
                    <a:pt x="130245" y="12565"/>
                    <a:pt x="124783" y="11291"/>
                    <a:pt x="119240" y="11048"/>
                  </a:cubicBezTo>
                  <a:close/>
                  <a:moveTo>
                    <a:pt x="42897" y="65992"/>
                  </a:moveTo>
                  <a:cubicBezTo>
                    <a:pt x="37984" y="65992"/>
                    <a:pt x="31668" y="63732"/>
                    <a:pt x="26092" y="53940"/>
                  </a:cubicBezTo>
                  <a:cubicBezTo>
                    <a:pt x="19503" y="42684"/>
                    <a:pt x="13342" y="36658"/>
                    <a:pt x="4921" y="35905"/>
                  </a:cubicBezTo>
                  <a:cubicBezTo>
                    <a:pt x="2522" y="35217"/>
                    <a:pt x="649" y="33206"/>
                    <a:pt x="8" y="30632"/>
                  </a:cubicBezTo>
                  <a:cubicBezTo>
                    <a:pt x="-103" y="28235"/>
                    <a:pt x="962" y="25950"/>
                    <a:pt x="2815" y="24606"/>
                  </a:cubicBezTo>
                  <a:cubicBezTo>
                    <a:pt x="20361" y="15568"/>
                    <a:pt x="34358" y="12555"/>
                    <a:pt x="45704" y="16237"/>
                  </a:cubicBezTo>
                  <a:cubicBezTo>
                    <a:pt x="61300" y="20757"/>
                    <a:pt x="68163" y="32055"/>
                    <a:pt x="63952" y="47078"/>
                  </a:cubicBezTo>
                  <a:cubicBezTo>
                    <a:pt x="61024" y="56621"/>
                    <a:pt x="53606" y="63785"/>
                    <a:pt x="44457" y="65908"/>
                  </a:cubicBezTo>
                  <a:close/>
                  <a:moveTo>
                    <a:pt x="19503" y="29879"/>
                  </a:moveTo>
                  <a:cubicBezTo>
                    <a:pt x="25770" y="34429"/>
                    <a:pt x="30834" y="40643"/>
                    <a:pt x="34202" y="47915"/>
                  </a:cubicBezTo>
                  <a:cubicBezTo>
                    <a:pt x="37711" y="54694"/>
                    <a:pt x="42000" y="54694"/>
                    <a:pt x="42624" y="54694"/>
                  </a:cubicBezTo>
                  <a:cubicBezTo>
                    <a:pt x="47930" y="53405"/>
                    <a:pt x="52363" y="49515"/>
                    <a:pt x="54594" y="44190"/>
                  </a:cubicBezTo>
                  <a:cubicBezTo>
                    <a:pt x="56700" y="35152"/>
                    <a:pt x="53190" y="29879"/>
                    <a:pt x="43365" y="26866"/>
                  </a:cubicBezTo>
                  <a:cubicBezTo>
                    <a:pt x="35306" y="25422"/>
                    <a:pt x="27030" y="26467"/>
                    <a:pt x="19503" y="29879"/>
                  </a:cubicBezTo>
                  <a:close/>
                </a:path>
              </a:pathLst>
            </a:custGeom>
            <a:grpFill/>
            <a:ln w="139" cap="flat">
              <a:noFill/>
              <a:prstDash val="solid"/>
              <a:miter/>
            </a:ln>
          </p:spPr>
          <p:txBody>
            <a:bodyPr rtlCol="0" anchor="ctr"/>
            <a:p>
              <a:endParaRPr lang="zh-CN" altLang="en-US">
                <a:cs typeface="微软雅黑" panose="020B0503020204020204" charset="-122"/>
              </a:endParaRPr>
            </a:p>
          </p:txBody>
        </p:sp>
        <p:sp>
          <p:nvSpPr>
            <p:cNvPr id="74" name="任意多边形: 形状 184"/>
            <p:cNvSpPr/>
            <p:nvPr/>
          </p:nvSpPr>
          <p:spPr>
            <a:xfrm>
              <a:off x="6624775" y="1644383"/>
              <a:ext cx="28063" cy="84721"/>
            </a:xfrm>
            <a:custGeom>
              <a:avLst/>
              <a:gdLst>
                <a:gd name="connsiteX0" fmla="*/ 4723 w 28063"/>
                <a:gd name="connsiteY0" fmla="*/ 84722 h 84721"/>
                <a:gd name="connsiteX1" fmla="*/ 200 w 28063"/>
                <a:gd name="connsiteY1" fmla="*/ 81123 h 84721"/>
                <a:gd name="connsiteX2" fmla="*/ 200 w 28063"/>
                <a:gd name="connsiteY2" fmla="*/ 66812 h 84721"/>
                <a:gd name="connsiteX3" fmla="*/ 20514 w 28063"/>
                <a:gd name="connsiteY3" fmla="*/ 570 h 84721"/>
                <a:gd name="connsiteX4" fmla="*/ 27532 w 28063"/>
                <a:gd name="connsiteY4" fmla="*/ 2829 h 84721"/>
                <a:gd name="connsiteX5" fmla="*/ 25427 w 28063"/>
                <a:gd name="connsiteY5" fmla="*/ 10362 h 84721"/>
                <a:gd name="connsiteX6" fmla="*/ 10727 w 28063"/>
                <a:gd name="connsiteY6" fmla="*/ 66059 h 84721"/>
                <a:gd name="connsiteX7" fmla="*/ 10727 w 28063"/>
                <a:gd name="connsiteY7" fmla="*/ 80370 h 84721"/>
                <a:gd name="connsiteX8" fmla="*/ 4723 w 28063"/>
                <a:gd name="connsiteY8" fmla="*/ 84554 h 84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063" h="84721">
                  <a:moveTo>
                    <a:pt x="4723" y="84722"/>
                  </a:moveTo>
                  <a:cubicBezTo>
                    <a:pt x="1916" y="84722"/>
                    <a:pt x="200" y="84722"/>
                    <a:pt x="200" y="81123"/>
                  </a:cubicBezTo>
                  <a:lnTo>
                    <a:pt x="200" y="66812"/>
                  </a:lnTo>
                  <a:cubicBezTo>
                    <a:pt x="-502" y="35929"/>
                    <a:pt x="-502" y="11868"/>
                    <a:pt x="20514" y="570"/>
                  </a:cubicBezTo>
                  <a:cubicBezTo>
                    <a:pt x="23047" y="-724"/>
                    <a:pt x="26081" y="253"/>
                    <a:pt x="27532" y="2829"/>
                  </a:cubicBezTo>
                  <a:cubicBezTo>
                    <a:pt x="28738" y="5548"/>
                    <a:pt x="27828" y="8804"/>
                    <a:pt x="25427" y="10362"/>
                  </a:cubicBezTo>
                  <a:cubicBezTo>
                    <a:pt x="10727" y="17852"/>
                    <a:pt x="10026" y="35176"/>
                    <a:pt x="10727" y="66059"/>
                  </a:cubicBezTo>
                  <a:lnTo>
                    <a:pt x="10727" y="80370"/>
                  </a:lnTo>
                  <a:cubicBezTo>
                    <a:pt x="11429" y="84094"/>
                    <a:pt x="7530" y="84554"/>
                    <a:pt x="4723" y="84554"/>
                  </a:cubicBezTo>
                  <a:close/>
                </a:path>
              </a:pathLst>
            </a:custGeom>
            <a:grpFill/>
            <a:ln w="139" cap="flat">
              <a:noFill/>
              <a:prstDash val="solid"/>
              <a:miter/>
            </a:ln>
          </p:spPr>
          <p:txBody>
            <a:bodyPr rtlCol="0" anchor="ctr"/>
            <a:p>
              <a:endParaRPr lang="zh-CN" altLang="en-US">
                <a:cs typeface="微软雅黑" panose="020B0503020204020204" charset="-122"/>
              </a:endParaRPr>
            </a:p>
          </p:txBody>
        </p:sp>
        <p:sp>
          <p:nvSpPr>
            <p:cNvPr id="75" name="任意多边形: 形状 185"/>
            <p:cNvSpPr/>
            <p:nvPr/>
          </p:nvSpPr>
          <p:spPr>
            <a:xfrm>
              <a:off x="6611173" y="1659931"/>
              <a:ext cx="24412" cy="69174"/>
            </a:xfrm>
            <a:custGeom>
              <a:avLst/>
              <a:gdLst>
                <a:gd name="connsiteX0" fmla="*/ 18325 w 24412"/>
                <a:gd name="connsiteY0" fmla="*/ 69174 h 69174"/>
                <a:gd name="connsiteX1" fmla="*/ 13802 w 24412"/>
                <a:gd name="connsiteY1" fmla="*/ 65575 h 69174"/>
                <a:gd name="connsiteX2" fmla="*/ 2573 w 24412"/>
                <a:gd name="connsiteY2" fmla="*/ 10590 h 69174"/>
                <a:gd name="connsiteX3" fmla="*/ 467 w 24412"/>
                <a:gd name="connsiteY3" fmla="*/ 3058 h 69174"/>
                <a:gd name="connsiteX4" fmla="*/ 6926 w 24412"/>
                <a:gd name="connsiteY4" fmla="*/ 475 h 69174"/>
                <a:gd name="connsiteX5" fmla="*/ 7485 w 24412"/>
                <a:gd name="connsiteY5" fmla="*/ 798 h 69174"/>
                <a:gd name="connsiteX6" fmla="*/ 24329 w 24412"/>
                <a:gd name="connsiteY6" fmla="*/ 66287 h 69174"/>
                <a:gd name="connsiteX7" fmla="*/ 18325 w 24412"/>
                <a:gd name="connsiteY7" fmla="*/ 69174 h 69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12" h="69174">
                  <a:moveTo>
                    <a:pt x="18325" y="69174"/>
                  </a:moveTo>
                  <a:cubicBezTo>
                    <a:pt x="15517" y="69174"/>
                    <a:pt x="13802" y="69174"/>
                    <a:pt x="13802" y="65575"/>
                  </a:cubicBezTo>
                  <a:cubicBezTo>
                    <a:pt x="13802" y="37706"/>
                    <a:pt x="13802" y="16616"/>
                    <a:pt x="2573" y="10590"/>
                  </a:cubicBezTo>
                  <a:cubicBezTo>
                    <a:pt x="258" y="8962"/>
                    <a:pt x="-630" y="5784"/>
                    <a:pt x="467" y="3058"/>
                  </a:cubicBezTo>
                  <a:cubicBezTo>
                    <a:pt x="1586" y="430"/>
                    <a:pt x="4478" y="-726"/>
                    <a:pt x="6926" y="475"/>
                  </a:cubicBezTo>
                  <a:cubicBezTo>
                    <a:pt x="7119" y="569"/>
                    <a:pt x="7306" y="677"/>
                    <a:pt x="7485" y="798"/>
                  </a:cubicBezTo>
                  <a:cubicBezTo>
                    <a:pt x="24329" y="9837"/>
                    <a:pt x="24329" y="34693"/>
                    <a:pt x="24329" y="66287"/>
                  </a:cubicBezTo>
                  <a:cubicBezTo>
                    <a:pt x="25031" y="68546"/>
                    <a:pt x="21132" y="69174"/>
                    <a:pt x="18325" y="69174"/>
                  </a:cubicBezTo>
                  <a:close/>
                </a:path>
              </a:pathLst>
            </a:custGeom>
            <a:grpFill/>
            <a:ln w="139" cap="flat">
              <a:noFill/>
              <a:prstDash val="solid"/>
              <a:miter/>
            </a:ln>
          </p:spPr>
          <p:txBody>
            <a:bodyPr rtlCol="0" anchor="ctr"/>
            <a:p>
              <a:endParaRPr lang="zh-CN" altLang="en-US">
                <a:cs typeface="微软雅黑" panose="020B0503020204020204" charset="-122"/>
              </a:endParaRPr>
            </a:p>
          </p:txBody>
        </p:sp>
        <p:sp>
          <p:nvSpPr>
            <p:cNvPr id="76" name="任意多边形: 形状 186"/>
            <p:cNvSpPr/>
            <p:nvPr/>
          </p:nvSpPr>
          <p:spPr>
            <a:xfrm>
              <a:off x="6605285" y="1726510"/>
              <a:ext cx="50843" cy="12972"/>
            </a:xfrm>
            <a:custGeom>
              <a:avLst/>
              <a:gdLst>
                <a:gd name="connsiteX0" fmla="*/ 0 w 50843"/>
                <a:gd name="connsiteY0" fmla="*/ 6486 h 12972"/>
                <a:gd name="connsiteX1" fmla="*/ 25422 w 50843"/>
                <a:gd name="connsiteY1" fmla="*/ 12972 h 12972"/>
                <a:gd name="connsiteX2" fmla="*/ 50843 w 50843"/>
                <a:gd name="connsiteY2" fmla="*/ 6486 h 12972"/>
                <a:gd name="connsiteX3" fmla="*/ 25422 w 50843"/>
                <a:gd name="connsiteY3" fmla="*/ 0 h 12972"/>
                <a:gd name="connsiteX4" fmla="*/ 0 w 50843"/>
                <a:gd name="connsiteY4" fmla="*/ 6486 h 12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843" h="12972">
                  <a:moveTo>
                    <a:pt x="0" y="6486"/>
                  </a:moveTo>
                  <a:cubicBezTo>
                    <a:pt x="0" y="10068"/>
                    <a:pt x="11382" y="12972"/>
                    <a:pt x="25422" y="12972"/>
                  </a:cubicBezTo>
                  <a:cubicBezTo>
                    <a:pt x="39462" y="12972"/>
                    <a:pt x="50843" y="10068"/>
                    <a:pt x="50843" y="6486"/>
                  </a:cubicBezTo>
                  <a:cubicBezTo>
                    <a:pt x="50843" y="2904"/>
                    <a:pt x="39462" y="0"/>
                    <a:pt x="25422" y="0"/>
                  </a:cubicBezTo>
                  <a:cubicBezTo>
                    <a:pt x="11382" y="0"/>
                    <a:pt x="0" y="2904"/>
                    <a:pt x="0" y="6486"/>
                  </a:cubicBezTo>
                  <a:close/>
                </a:path>
              </a:pathLst>
            </a:custGeom>
            <a:grpFill/>
            <a:ln w="139" cap="flat">
              <a:noFill/>
              <a:prstDash val="solid"/>
              <a:miter/>
            </a:ln>
          </p:spPr>
          <p:txBody>
            <a:bodyPr rtlCol="0" anchor="ctr"/>
            <a:p>
              <a:endParaRPr lang="zh-CN" altLang="en-US">
                <a:cs typeface="微软雅黑" panose="020B0503020204020204" charset="-122"/>
              </a:endParaRPr>
            </a:p>
          </p:txBody>
        </p:sp>
      </p:grpSp>
      <p:grpSp>
        <p:nvGrpSpPr>
          <p:cNvPr id="1098" name="组合 1097"/>
          <p:cNvGrpSpPr/>
          <p:nvPr/>
        </p:nvGrpSpPr>
        <p:grpSpPr>
          <a:xfrm rot="0">
            <a:off x="8059420" y="6030595"/>
            <a:ext cx="137795" cy="120015"/>
            <a:chOff x="7644010" y="1545862"/>
            <a:chExt cx="127218" cy="119855"/>
          </a:xfrm>
          <a:solidFill>
            <a:schemeClr val="accent1"/>
          </a:solidFill>
        </p:grpSpPr>
        <p:sp>
          <p:nvSpPr>
            <p:cNvPr id="1094" name="任意多边形: 形状 1093"/>
            <p:cNvSpPr/>
            <p:nvPr/>
          </p:nvSpPr>
          <p:spPr>
            <a:xfrm>
              <a:off x="7644010" y="1657290"/>
              <a:ext cx="127218" cy="8427"/>
            </a:xfrm>
            <a:custGeom>
              <a:avLst/>
              <a:gdLst>
                <a:gd name="connsiteX0" fmla="*/ 123005 w 127218"/>
                <a:gd name="connsiteY0" fmla="*/ 8427 h 8427"/>
                <a:gd name="connsiteX1" fmla="*/ 4214 w 127218"/>
                <a:gd name="connsiteY1" fmla="*/ 8427 h 8427"/>
                <a:gd name="connsiteX2" fmla="*/ 0 w 127218"/>
                <a:gd name="connsiteY2" fmla="*/ 4214 h 8427"/>
                <a:gd name="connsiteX3" fmla="*/ 4214 w 127218"/>
                <a:gd name="connsiteY3" fmla="*/ 0 h 8427"/>
                <a:gd name="connsiteX4" fmla="*/ 123005 w 127218"/>
                <a:gd name="connsiteY4" fmla="*/ 0 h 8427"/>
                <a:gd name="connsiteX5" fmla="*/ 127219 w 127218"/>
                <a:gd name="connsiteY5" fmla="*/ 4214 h 8427"/>
                <a:gd name="connsiteX6" fmla="*/ 123005 w 127218"/>
                <a:gd name="connsiteY6" fmla="*/ 8427 h 8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218" h="8427">
                  <a:moveTo>
                    <a:pt x="123005" y="8427"/>
                  </a:moveTo>
                  <a:lnTo>
                    <a:pt x="4214" y="8427"/>
                  </a:lnTo>
                  <a:cubicBezTo>
                    <a:pt x="1896" y="8427"/>
                    <a:pt x="0" y="6531"/>
                    <a:pt x="0" y="4214"/>
                  </a:cubicBezTo>
                  <a:cubicBezTo>
                    <a:pt x="0" y="1896"/>
                    <a:pt x="1896" y="0"/>
                    <a:pt x="4214" y="0"/>
                  </a:cubicBezTo>
                  <a:lnTo>
                    <a:pt x="123005" y="0"/>
                  </a:lnTo>
                  <a:cubicBezTo>
                    <a:pt x="125323" y="0"/>
                    <a:pt x="127219" y="1896"/>
                    <a:pt x="127219" y="4214"/>
                  </a:cubicBezTo>
                  <a:cubicBezTo>
                    <a:pt x="127219" y="6531"/>
                    <a:pt x="125358" y="8427"/>
                    <a:pt x="123005" y="8427"/>
                  </a:cubicBezTo>
                  <a:close/>
                </a:path>
              </a:pathLst>
            </a:custGeom>
            <a:grpFill/>
            <a:ln w="3175" cap="flat">
              <a:solidFill>
                <a:schemeClr val="accent1"/>
              </a:solidFill>
              <a:prstDash val="solid"/>
              <a:miter/>
            </a:ln>
          </p:spPr>
          <p:txBody>
            <a:bodyPr rtlCol="0" anchor="ctr"/>
            <a:p>
              <a:endParaRPr lang="zh-CN" altLang="en-US">
                <a:cs typeface="微软雅黑" panose="020B0503020204020204" charset="-122"/>
              </a:endParaRPr>
            </a:p>
          </p:txBody>
        </p:sp>
        <p:sp>
          <p:nvSpPr>
            <p:cNvPr id="1095" name="任意多边形: 形状 1094"/>
            <p:cNvSpPr/>
            <p:nvPr/>
          </p:nvSpPr>
          <p:spPr>
            <a:xfrm>
              <a:off x="7656827" y="1545862"/>
              <a:ext cx="55269" cy="119328"/>
            </a:xfrm>
            <a:custGeom>
              <a:avLst/>
              <a:gdLst>
                <a:gd name="connsiteX0" fmla="*/ 51056 w 55269"/>
                <a:gd name="connsiteY0" fmla="*/ 119329 h 119328"/>
                <a:gd name="connsiteX1" fmla="*/ 46842 w 55269"/>
                <a:gd name="connsiteY1" fmla="*/ 115115 h 119328"/>
                <a:gd name="connsiteX2" fmla="*/ 46842 w 55269"/>
                <a:gd name="connsiteY2" fmla="*/ 9842 h 119328"/>
                <a:gd name="connsiteX3" fmla="*/ 10885 w 55269"/>
                <a:gd name="connsiteY3" fmla="*/ 32140 h 119328"/>
                <a:gd name="connsiteX4" fmla="*/ 8427 w 55269"/>
                <a:gd name="connsiteY4" fmla="*/ 36529 h 119328"/>
                <a:gd name="connsiteX5" fmla="*/ 8427 w 55269"/>
                <a:gd name="connsiteY5" fmla="*/ 114869 h 119328"/>
                <a:gd name="connsiteX6" fmla="*/ 4214 w 55269"/>
                <a:gd name="connsiteY6" fmla="*/ 119083 h 119328"/>
                <a:gd name="connsiteX7" fmla="*/ 0 w 55269"/>
                <a:gd name="connsiteY7" fmla="*/ 114869 h 119328"/>
                <a:gd name="connsiteX8" fmla="*/ 0 w 55269"/>
                <a:gd name="connsiteY8" fmla="*/ 36494 h 119328"/>
                <a:gd name="connsiteX9" fmla="*/ 6426 w 55269"/>
                <a:gd name="connsiteY9" fmla="*/ 24942 h 119328"/>
                <a:gd name="connsiteX10" fmla="*/ 45122 w 55269"/>
                <a:gd name="connsiteY10" fmla="*/ 994 h 119328"/>
                <a:gd name="connsiteX11" fmla="*/ 51864 w 55269"/>
                <a:gd name="connsiteY11" fmla="*/ 853 h 119328"/>
                <a:gd name="connsiteX12" fmla="*/ 55270 w 55269"/>
                <a:gd name="connsiteY12" fmla="*/ 6647 h 119328"/>
                <a:gd name="connsiteX13" fmla="*/ 55270 w 55269"/>
                <a:gd name="connsiteY13" fmla="*/ 115115 h 119328"/>
                <a:gd name="connsiteX14" fmla="*/ 51056 w 55269"/>
                <a:gd name="connsiteY14" fmla="*/ 119329 h 119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269" h="119328">
                  <a:moveTo>
                    <a:pt x="51056" y="119329"/>
                  </a:moveTo>
                  <a:cubicBezTo>
                    <a:pt x="48739" y="119329"/>
                    <a:pt x="46842" y="117433"/>
                    <a:pt x="46842" y="115115"/>
                  </a:cubicBezTo>
                  <a:lnTo>
                    <a:pt x="46842" y="9842"/>
                  </a:lnTo>
                  <a:lnTo>
                    <a:pt x="10885" y="32140"/>
                  </a:lnTo>
                  <a:cubicBezTo>
                    <a:pt x="9340" y="33088"/>
                    <a:pt x="8427" y="34738"/>
                    <a:pt x="8427" y="36529"/>
                  </a:cubicBezTo>
                  <a:lnTo>
                    <a:pt x="8427" y="114869"/>
                  </a:lnTo>
                  <a:cubicBezTo>
                    <a:pt x="8427" y="117187"/>
                    <a:pt x="6531" y="119083"/>
                    <a:pt x="4214" y="119083"/>
                  </a:cubicBezTo>
                  <a:cubicBezTo>
                    <a:pt x="1896" y="119083"/>
                    <a:pt x="0" y="117187"/>
                    <a:pt x="0" y="114869"/>
                  </a:cubicBezTo>
                  <a:lnTo>
                    <a:pt x="0" y="36494"/>
                  </a:lnTo>
                  <a:cubicBezTo>
                    <a:pt x="0" y="31754"/>
                    <a:pt x="2388" y="27435"/>
                    <a:pt x="6426" y="24942"/>
                  </a:cubicBezTo>
                  <a:lnTo>
                    <a:pt x="45122" y="994"/>
                  </a:lnTo>
                  <a:cubicBezTo>
                    <a:pt x="47158" y="-270"/>
                    <a:pt x="49757" y="-341"/>
                    <a:pt x="51864" y="853"/>
                  </a:cubicBezTo>
                  <a:cubicBezTo>
                    <a:pt x="53971" y="2012"/>
                    <a:pt x="55270" y="4259"/>
                    <a:pt x="55270" y="6647"/>
                  </a:cubicBezTo>
                  <a:lnTo>
                    <a:pt x="55270" y="115115"/>
                  </a:lnTo>
                  <a:cubicBezTo>
                    <a:pt x="55270" y="117433"/>
                    <a:pt x="53409" y="119329"/>
                    <a:pt x="51056" y="119329"/>
                  </a:cubicBezTo>
                  <a:close/>
                </a:path>
              </a:pathLst>
            </a:custGeom>
            <a:grpFill/>
            <a:ln w="3175" cap="flat">
              <a:solidFill>
                <a:schemeClr val="accent1"/>
              </a:solidFill>
              <a:prstDash val="solid"/>
              <a:miter/>
            </a:ln>
          </p:spPr>
          <p:txBody>
            <a:bodyPr rtlCol="0" anchor="ctr"/>
            <a:p>
              <a:endParaRPr lang="zh-CN" altLang="en-US">
                <a:cs typeface="微软雅黑" panose="020B0503020204020204" charset="-122"/>
              </a:endParaRPr>
            </a:p>
          </p:txBody>
        </p:sp>
        <p:sp>
          <p:nvSpPr>
            <p:cNvPr id="1096" name="任意多边形: 形状 1095"/>
            <p:cNvSpPr/>
            <p:nvPr/>
          </p:nvSpPr>
          <p:spPr>
            <a:xfrm>
              <a:off x="7671400" y="1559115"/>
              <a:ext cx="89155" cy="105022"/>
            </a:xfrm>
            <a:custGeom>
              <a:avLst/>
              <a:gdLst>
                <a:gd name="connsiteX0" fmla="*/ 84941 w 89155"/>
                <a:gd name="connsiteY0" fmla="*/ 105023 h 105022"/>
                <a:gd name="connsiteX1" fmla="*/ 80728 w 89155"/>
                <a:gd name="connsiteY1" fmla="*/ 100809 h 105022"/>
                <a:gd name="connsiteX2" fmla="*/ 80728 w 89155"/>
                <a:gd name="connsiteY2" fmla="*/ 37674 h 105022"/>
                <a:gd name="connsiteX3" fmla="*/ 78270 w 89155"/>
                <a:gd name="connsiteY3" fmla="*/ 33355 h 105022"/>
                <a:gd name="connsiteX4" fmla="*/ 35395 w 89155"/>
                <a:gd name="connsiteY4" fmla="*/ 7827 h 105022"/>
                <a:gd name="connsiteX5" fmla="*/ 33920 w 89155"/>
                <a:gd name="connsiteY5" fmla="*/ 2068 h 105022"/>
                <a:gd name="connsiteX6" fmla="*/ 39714 w 89155"/>
                <a:gd name="connsiteY6" fmla="*/ 593 h 105022"/>
                <a:gd name="connsiteX7" fmla="*/ 82589 w 89155"/>
                <a:gd name="connsiteY7" fmla="*/ 26086 h 105022"/>
                <a:gd name="connsiteX8" fmla="*/ 89155 w 89155"/>
                <a:gd name="connsiteY8" fmla="*/ 37639 h 105022"/>
                <a:gd name="connsiteX9" fmla="*/ 89155 w 89155"/>
                <a:gd name="connsiteY9" fmla="*/ 100774 h 105022"/>
                <a:gd name="connsiteX10" fmla="*/ 84941 w 89155"/>
                <a:gd name="connsiteY10" fmla="*/ 105023 h 105022"/>
                <a:gd name="connsiteX11" fmla="*/ 22298 w 89155"/>
                <a:gd name="connsiteY11" fmla="*/ 41677 h 105022"/>
                <a:gd name="connsiteX12" fmla="*/ 4214 w 89155"/>
                <a:gd name="connsiteY12" fmla="*/ 41677 h 105022"/>
                <a:gd name="connsiteX13" fmla="*/ 0 w 89155"/>
                <a:gd name="connsiteY13" fmla="*/ 37463 h 105022"/>
                <a:gd name="connsiteX14" fmla="*/ 4214 w 89155"/>
                <a:gd name="connsiteY14" fmla="*/ 33249 h 105022"/>
                <a:gd name="connsiteX15" fmla="*/ 22298 w 89155"/>
                <a:gd name="connsiteY15" fmla="*/ 33249 h 105022"/>
                <a:gd name="connsiteX16" fmla="*/ 26511 w 89155"/>
                <a:gd name="connsiteY16" fmla="*/ 37463 h 105022"/>
                <a:gd name="connsiteX17" fmla="*/ 22298 w 89155"/>
                <a:gd name="connsiteY17" fmla="*/ 41677 h 105022"/>
                <a:gd name="connsiteX18" fmla="*/ 22298 w 89155"/>
                <a:gd name="connsiteY18" fmla="*/ 62605 h 105022"/>
                <a:gd name="connsiteX19" fmla="*/ 4214 w 89155"/>
                <a:gd name="connsiteY19" fmla="*/ 62605 h 105022"/>
                <a:gd name="connsiteX20" fmla="*/ 0 w 89155"/>
                <a:gd name="connsiteY20" fmla="*/ 58391 h 105022"/>
                <a:gd name="connsiteX21" fmla="*/ 4214 w 89155"/>
                <a:gd name="connsiteY21" fmla="*/ 54177 h 105022"/>
                <a:gd name="connsiteX22" fmla="*/ 22298 w 89155"/>
                <a:gd name="connsiteY22" fmla="*/ 54177 h 105022"/>
                <a:gd name="connsiteX23" fmla="*/ 26511 w 89155"/>
                <a:gd name="connsiteY23" fmla="*/ 58391 h 105022"/>
                <a:gd name="connsiteX24" fmla="*/ 22298 w 89155"/>
                <a:gd name="connsiteY24" fmla="*/ 62605 h 105022"/>
                <a:gd name="connsiteX25" fmla="*/ 22298 w 89155"/>
                <a:gd name="connsiteY25" fmla="*/ 83533 h 105022"/>
                <a:gd name="connsiteX26" fmla="*/ 4214 w 89155"/>
                <a:gd name="connsiteY26" fmla="*/ 83533 h 105022"/>
                <a:gd name="connsiteX27" fmla="*/ 0 w 89155"/>
                <a:gd name="connsiteY27" fmla="*/ 79319 h 105022"/>
                <a:gd name="connsiteX28" fmla="*/ 4214 w 89155"/>
                <a:gd name="connsiteY28" fmla="*/ 75106 h 105022"/>
                <a:gd name="connsiteX29" fmla="*/ 22298 w 89155"/>
                <a:gd name="connsiteY29" fmla="*/ 75106 h 105022"/>
                <a:gd name="connsiteX30" fmla="*/ 26511 w 89155"/>
                <a:gd name="connsiteY30" fmla="*/ 79319 h 105022"/>
                <a:gd name="connsiteX31" fmla="*/ 22298 w 89155"/>
                <a:gd name="connsiteY31" fmla="*/ 83533 h 105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9155" h="105022">
                  <a:moveTo>
                    <a:pt x="84941" y="105023"/>
                  </a:moveTo>
                  <a:cubicBezTo>
                    <a:pt x="82624" y="105023"/>
                    <a:pt x="80728" y="103127"/>
                    <a:pt x="80728" y="100809"/>
                  </a:cubicBezTo>
                  <a:lnTo>
                    <a:pt x="80728" y="37674"/>
                  </a:lnTo>
                  <a:cubicBezTo>
                    <a:pt x="80728" y="35918"/>
                    <a:pt x="79780" y="34268"/>
                    <a:pt x="78270" y="33355"/>
                  </a:cubicBezTo>
                  <a:lnTo>
                    <a:pt x="35395" y="7827"/>
                  </a:lnTo>
                  <a:cubicBezTo>
                    <a:pt x="33394" y="6633"/>
                    <a:pt x="32726" y="4034"/>
                    <a:pt x="33920" y="2068"/>
                  </a:cubicBezTo>
                  <a:cubicBezTo>
                    <a:pt x="35114" y="66"/>
                    <a:pt x="37713" y="-601"/>
                    <a:pt x="39714" y="593"/>
                  </a:cubicBezTo>
                  <a:lnTo>
                    <a:pt x="82589" y="26086"/>
                  </a:lnTo>
                  <a:cubicBezTo>
                    <a:pt x="86627" y="28509"/>
                    <a:pt x="89155" y="32933"/>
                    <a:pt x="89155" y="37639"/>
                  </a:cubicBezTo>
                  <a:lnTo>
                    <a:pt x="89155" y="100774"/>
                  </a:lnTo>
                  <a:cubicBezTo>
                    <a:pt x="89155" y="103127"/>
                    <a:pt x="87259" y="105023"/>
                    <a:pt x="84941" y="105023"/>
                  </a:cubicBezTo>
                  <a:close/>
                  <a:moveTo>
                    <a:pt x="22298" y="41677"/>
                  </a:moveTo>
                  <a:lnTo>
                    <a:pt x="4214" y="41677"/>
                  </a:lnTo>
                  <a:cubicBezTo>
                    <a:pt x="1896" y="41677"/>
                    <a:pt x="0" y="39781"/>
                    <a:pt x="0" y="37463"/>
                  </a:cubicBezTo>
                  <a:cubicBezTo>
                    <a:pt x="0" y="35146"/>
                    <a:pt x="1896" y="33249"/>
                    <a:pt x="4214" y="33249"/>
                  </a:cubicBezTo>
                  <a:lnTo>
                    <a:pt x="22298" y="33249"/>
                  </a:lnTo>
                  <a:cubicBezTo>
                    <a:pt x="24615" y="33249"/>
                    <a:pt x="26511" y="35146"/>
                    <a:pt x="26511" y="37463"/>
                  </a:cubicBezTo>
                  <a:cubicBezTo>
                    <a:pt x="26511" y="39781"/>
                    <a:pt x="24615" y="41677"/>
                    <a:pt x="22298" y="41677"/>
                  </a:cubicBezTo>
                  <a:close/>
                  <a:moveTo>
                    <a:pt x="22298" y="62605"/>
                  </a:moveTo>
                  <a:lnTo>
                    <a:pt x="4214" y="62605"/>
                  </a:lnTo>
                  <a:cubicBezTo>
                    <a:pt x="1896" y="62605"/>
                    <a:pt x="0" y="60709"/>
                    <a:pt x="0" y="58391"/>
                  </a:cubicBezTo>
                  <a:cubicBezTo>
                    <a:pt x="0" y="56074"/>
                    <a:pt x="1896" y="54177"/>
                    <a:pt x="4214" y="54177"/>
                  </a:cubicBezTo>
                  <a:lnTo>
                    <a:pt x="22298" y="54177"/>
                  </a:lnTo>
                  <a:cubicBezTo>
                    <a:pt x="24615" y="54177"/>
                    <a:pt x="26511" y="56074"/>
                    <a:pt x="26511" y="58391"/>
                  </a:cubicBezTo>
                  <a:cubicBezTo>
                    <a:pt x="26511" y="60709"/>
                    <a:pt x="24615" y="62605"/>
                    <a:pt x="22298" y="62605"/>
                  </a:cubicBezTo>
                  <a:close/>
                  <a:moveTo>
                    <a:pt x="22298" y="83533"/>
                  </a:moveTo>
                  <a:lnTo>
                    <a:pt x="4214" y="83533"/>
                  </a:lnTo>
                  <a:cubicBezTo>
                    <a:pt x="1896" y="83533"/>
                    <a:pt x="0" y="81637"/>
                    <a:pt x="0" y="79319"/>
                  </a:cubicBezTo>
                  <a:cubicBezTo>
                    <a:pt x="0" y="77002"/>
                    <a:pt x="1896" y="75106"/>
                    <a:pt x="4214" y="75106"/>
                  </a:cubicBezTo>
                  <a:lnTo>
                    <a:pt x="22298" y="75106"/>
                  </a:lnTo>
                  <a:cubicBezTo>
                    <a:pt x="24615" y="75106"/>
                    <a:pt x="26511" y="77002"/>
                    <a:pt x="26511" y="79319"/>
                  </a:cubicBezTo>
                  <a:cubicBezTo>
                    <a:pt x="26511" y="81637"/>
                    <a:pt x="24615" y="83533"/>
                    <a:pt x="22298" y="83533"/>
                  </a:cubicBezTo>
                  <a:close/>
                </a:path>
              </a:pathLst>
            </a:custGeom>
            <a:grpFill/>
            <a:ln w="3175" cap="flat">
              <a:solidFill>
                <a:schemeClr val="accent1"/>
              </a:solidFill>
              <a:prstDash val="solid"/>
              <a:miter/>
            </a:ln>
          </p:spPr>
          <p:txBody>
            <a:bodyPr rtlCol="0" anchor="ctr"/>
            <a:p>
              <a:endParaRPr lang="zh-CN" altLang="en-US">
                <a:cs typeface="微软雅黑" panose="020B0503020204020204" charset="-122"/>
              </a:endParaRPr>
            </a:p>
          </p:txBody>
        </p:sp>
        <p:sp>
          <p:nvSpPr>
            <p:cNvPr id="1097" name="任意多边形: 形状 1096"/>
            <p:cNvSpPr/>
            <p:nvPr/>
          </p:nvSpPr>
          <p:spPr>
            <a:xfrm>
              <a:off x="7717153" y="1605813"/>
              <a:ext cx="26511" cy="31111"/>
            </a:xfrm>
            <a:custGeom>
              <a:avLst/>
              <a:gdLst>
                <a:gd name="connsiteX0" fmla="*/ 22298 w 26511"/>
                <a:gd name="connsiteY0" fmla="*/ 8427 h 31111"/>
                <a:gd name="connsiteX1" fmla="*/ 4214 w 26511"/>
                <a:gd name="connsiteY1" fmla="*/ 8427 h 31111"/>
                <a:gd name="connsiteX2" fmla="*/ 0 w 26511"/>
                <a:gd name="connsiteY2" fmla="*/ 4214 h 31111"/>
                <a:gd name="connsiteX3" fmla="*/ 4214 w 26511"/>
                <a:gd name="connsiteY3" fmla="*/ 0 h 31111"/>
                <a:gd name="connsiteX4" fmla="*/ 22298 w 26511"/>
                <a:gd name="connsiteY4" fmla="*/ 0 h 31111"/>
                <a:gd name="connsiteX5" fmla="*/ 26511 w 26511"/>
                <a:gd name="connsiteY5" fmla="*/ 4214 h 31111"/>
                <a:gd name="connsiteX6" fmla="*/ 22298 w 26511"/>
                <a:gd name="connsiteY6" fmla="*/ 8427 h 31111"/>
                <a:gd name="connsiteX7" fmla="*/ 22298 w 26511"/>
                <a:gd name="connsiteY7" fmla="*/ 31111 h 31111"/>
                <a:gd name="connsiteX8" fmla="*/ 4214 w 26511"/>
                <a:gd name="connsiteY8" fmla="*/ 31111 h 31111"/>
                <a:gd name="connsiteX9" fmla="*/ 0 w 26511"/>
                <a:gd name="connsiteY9" fmla="*/ 26898 h 31111"/>
                <a:gd name="connsiteX10" fmla="*/ 4214 w 26511"/>
                <a:gd name="connsiteY10" fmla="*/ 22684 h 31111"/>
                <a:gd name="connsiteX11" fmla="*/ 22298 w 26511"/>
                <a:gd name="connsiteY11" fmla="*/ 22684 h 31111"/>
                <a:gd name="connsiteX12" fmla="*/ 26511 w 26511"/>
                <a:gd name="connsiteY12" fmla="*/ 26898 h 31111"/>
                <a:gd name="connsiteX13" fmla="*/ 22298 w 26511"/>
                <a:gd name="connsiteY13" fmla="*/ 31111 h 31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511" h="31111">
                  <a:moveTo>
                    <a:pt x="22298" y="8427"/>
                  </a:moveTo>
                  <a:lnTo>
                    <a:pt x="4214" y="8427"/>
                  </a:lnTo>
                  <a:cubicBezTo>
                    <a:pt x="1896" y="8427"/>
                    <a:pt x="0" y="6531"/>
                    <a:pt x="0" y="4214"/>
                  </a:cubicBezTo>
                  <a:cubicBezTo>
                    <a:pt x="0" y="1896"/>
                    <a:pt x="1896" y="0"/>
                    <a:pt x="4214" y="0"/>
                  </a:cubicBezTo>
                  <a:lnTo>
                    <a:pt x="22298" y="0"/>
                  </a:lnTo>
                  <a:cubicBezTo>
                    <a:pt x="24615" y="0"/>
                    <a:pt x="26511" y="1896"/>
                    <a:pt x="26511" y="4214"/>
                  </a:cubicBezTo>
                  <a:cubicBezTo>
                    <a:pt x="26511" y="6531"/>
                    <a:pt x="24650" y="8427"/>
                    <a:pt x="22298" y="8427"/>
                  </a:cubicBezTo>
                  <a:close/>
                  <a:moveTo>
                    <a:pt x="22298" y="31111"/>
                  </a:moveTo>
                  <a:lnTo>
                    <a:pt x="4214" y="31111"/>
                  </a:lnTo>
                  <a:cubicBezTo>
                    <a:pt x="1896" y="31111"/>
                    <a:pt x="0" y="29215"/>
                    <a:pt x="0" y="26898"/>
                  </a:cubicBezTo>
                  <a:cubicBezTo>
                    <a:pt x="0" y="24580"/>
                    <a:pt x="1896" y="22684"/>
                    <a:pt x="4214" y="22684"/>
                  </a:cubicBezTo>
                  <a:lnTo>
                    <a:pt x="22298" y="22684"/>
                  </a:lnTo>
                  <a:cubicBezTo>
                    <a:pt x="24615" y="22684"/>
                    <a:pt x="26511" y="24580"/>
                    <a:pt x="26511" y="26898"/>
                  </a:cubicBezTo>
                  <a:cubicBezTo>
                    <a:pt x="26511" y="29215"/>
                    <a:pt x="24650" y="31111"/>
                    <a:pt x="22298" y="31111"/>
                  </a:cubicBezTo>
                  <a:close/>
                </a:path>
              </a:pathLst>
            </a:custGeom>
            <a:grpFill/>
            <a:ln w="3175" cap="flat">
              <a:solidFill>
                <a:schemeClr val="accent1"/>
              </a:solidFill>
              <a:prstDash val="solid"/>
              <a:miter/>
            </a:ln>
          </p:spPr>
          <p:txBody>
            <a:bodyPr rtlCol="0" anchor="ctr"/>
            <a:p>
              <a:endParaRPr lang="zh-CN" altLang="en-US">
                <a:cs typeface="微软雅黑" panose="020B0503020204020204" charset="-122"/>
              </a:endParaRPr>
            </a:p>
          </p:txBody>
        </p:sp>
      </p:grpSp>
      <p:sp>
        <p:nvSpPr>
          <p:cNvPr id="83" name="椭圆 82"/>
          <p:cNvSpPr/>
          <p:nvPr/>
        </p:nvSpPr>
        <p:spPr>
          <a:xfrm>
            <a:off x="5161915" y="5760720"/>
            <a:ext cx="1873885" cy="554355"/>
          </a:xfrm>
          <a:prstGeom prst="ellipse">
            <a:avLst/>
          </a:prstGeom>
          <a:gradFill>
            <a:gsLst>
              <a:gs pos="0">
                <a:schemeClr val="accent1">
                  <a:alpha val="0"/>
                </a:schemeClr>
              </a:gs>
              <a:gs pos="100000">
                <a:schemeClr val="accent1">
                  <a:alpha val="50000"/>
                </a:schemeClr>
              </a:gs>
            </a:gsLst>
            <a:lin ang="5400000" scaled="1"/>
          </a:gradFill>
          <a:ln>
            <a:noFill/>
          </a:ln>
          <a:scene3d>
            <a:camera prst="orthographicFront">
              <a:rot lat="3000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cs typeface="微软雅黑" panose="020B0503020204020204" charset="-122"/>
            </a:endParaRPr>
          </a:p>
        </p:txBody>
      </p:sp>
      <p:sp>
        <p:nvSpPr>
          <p:cNvPr id="84" name="文本框 83"/>
          <p:cNvSpPr txBox="1"/>
          <p:nvPr/>
        </p:nvSpPr>
        <p:spPr>
          <a:xfrm>
            <a:off x="5681663" y="5920740"/>
            <a:ext cx="928370" cy="306705"/>
          </a:xfrm>
          <a:prstGeom prst="rect">
            <a:avLst/>
          </a:prstGeom>
          <a:noFill/>
        </p:spPr>
        <p:txBody>
          <a:bodyPr wrap="square" rtlCol="0">
            <a:spAutoFit/>
          </a:bodyPr>
          <a:p>
            <a:pPr algn="ctr"/>
            <a:r>
              <a:rPr lang="zh-CN" sz="1400" b="1">
                <a:solidFill>
                  <a:schemeClr val="accent1"/>
                </a:solidFill>
                <a:latin typeface="微软雅黑" panose="020B0503020204020204" charset="-122"/>
                <a:ea typeface="微软雅黑" panose="020B0503020204020204" charset="-122"/>
                <a:cs typeface="微软雅黑" panose="020B0503020204020204" charset="-122"/>
              </a:rPr>
              <a:t>智能交互</a:t>
            </a:r>
            <a:endParaRPr lang="zh-CN" sz="14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86" name="椭圆 85"/>
          <p:cNvSpPr/>
          <p:nvPr/>
        </p:nvSpPr>
        <p:spPr>
          <a:xfrm>
            <a:off x="7167176" y="5376958"/>
            <a:ext cx="408728" cy="408728"/>
          </a:xfrm>
          <a:prstGeom prst="ellipse">
            <a:avLst/>
          </a:prstGeom>
          <a:solidFill>
            <a:schemeClr val="bg1"/>
          </a:solidFill>
          <a:ln w="6350">
            <a:solidFill>
              <a:schemeClr val="accent1">
                <a:lumMod val="60000"/>
                <a:lumOff val="40000"/>
                <a:alpha val="7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buClrTx/>
              <a:buSzTx/>
              <a:buFontTx/>
            </a:pPr>
            <a:endParaRPr lang="en-US" altLang="zh-CN" sz="800" dirty="0">
              <a:solidFill>
                <a:schemeClr val="accent1">
                  <a:lumMod val="60000"/>
                  <a:lumOff val="40000"/>
                  <a:alpha val="70000"/>
                </a:schemeClr>
              </a:solidFill>
              <a:cs typeface="微软雅黑" panose="020B0503020204020204" charset="-122"/>
              <a:sym typeface="+mn-ea"/>
            </a:endParaRPr>
          </a:p>
        </p:txBody>
      </p:sp>
      <p:sp>
        <p:nvSpPr>
          <p:cNvPr id="87" name="椭圆 86"/>
          <p:cNvSpPr/>
          <p:nvPr/>
        </p:nvSpPr>
        <p:spPr>
          <a:xfrm>
            <a:off x="6671876" y="5472208"/>
            <a:ext cx="408728" cy="408728"/>
          </a:xfrm>
          <a:prstGeom prst="ellipse">
            <a:avLst/>
          </a:prstGeom>
          <a:solidFill>
            <a:schemeClr val="bg1"/>
          </a:solidFill>
          <a:ln w="6350">
            <a:solidFill>
              <a:schemeClr val="accent1">
                <a:lumMod val="60000"/>
                <a:lumOff val="40000"/>
                <a:alpha val="7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buClrTx/>
              <a:buSzTx/>
              <a:buFontTx/>
            </a:pPr>
            <a:r>
              <a:rPr lang="en-US" altLang="zh-CN" sz="800" dirty="0">
                <a:solidFill>
                  <a:schemeClr val="accent1">
                    <a:lumMod val="60000"/>
                    <a:lumOff val="40000"/>
                  </a:schemeClr>
                </a:solidFill>
                <a:cs typeface="微软雅黑" panose="020B0503020204020204" charset="-122"/>
                <a:sym typeface="+mn-ea"/>
              </a:rPr>
              <a:t>F5G</a:t>
            </a:r>
            <a:endParaRPr lang="en-US" altLang="zh-CN" sz="800" dirty="0">
              <a:solidFill>
                <a:schemeClr val="accent1">
                  <a:lumMod val="60000"/>
                  <a:lumOff val="40000"/>
                </a:schemeClr>
              </a:solidFill>
              <a:cs typeface="微软雅黑" panose="020B0503020204020204" charset="-122"/>
              <a:sym typeface="+mn-ea"/>
            </a:endParaRPr>
          </a:p>
        </p:txBody>
      </p:sp>
      <p:sp>
        <p:nvSpPr>
          <p:cNvPr id="88" name="椭圆 87"/>
          <p:cNvSpPr/>
          <p:nvPr/>
        </p:nvSpPr>
        <p:spPr>
          <a:xfrm>
            <a:off x="6181656" y="5497608"/>
            <a:ext cx="408728" cy="408728"/>
          </a:xfrm>
          <a:prstGeom prst="ellipse">
            <a:avLst/>
          </a:prstGeom>
          <a:solidFill>
            <a:schemeClr val="bg1"/>
          </a:solidFill>
          <a:ln w="6350">
            <a:solidFill>
              <a:schemeClr val="accent1">
                <a:lumMod val="60000"/>
                <a:lumOff val="40000"/>
                <a:alpha val="7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buClrTx/>
              <a:buSzTx/>
              <a:buFontTx/>
            </a:pPr>
            <a:r>
              <a:rPr lang="en-US" altLang="zh-CN" sz="800" dirty="0">
                <a:solidFill>
                  <a:schemeClr val="accent1">
                    <a:lumMod val="60000"/>
                    <a:lumOff val="40000"/>
                  </a:schemeClr>
                </a:solidFill>
                <a:cs typeface="微软雅黑" panose="020B0503020204020204" charset="-122"/>
                <a:sym typeface="+mn-ea"/>
              </a:rPr>
              <a:t>5G</a:t>
            </a:r>
            <a:endParaRPr lang="en-US" altLang="zh-CN" sz="800" dirty="0">
              <a:solidFill>
                <a:schemeClr val="accent1">
                  <a:lumMod val="60000"/>
                  <a:lumOff val="40000"/>
                </a:schemeClr>
              </a:solidFill>
              <a:cs typeface="微软雅黑" panose="020B0503020204020204" charset="-122"/>
              <a:sym typeface="+mn-ea"/>
            </a:endParaRPr>
          </a:p>
        </p:txBody>
      </p:sp>
      <p:sp>
        <p:nvSpPr>
          <p:cNvPr id="89" name="椭圆 88"/>
          <p:cNvSpPr/>
          <p:nvPr/>
        </p:nvSpPr>
        <p:spPr>
          <a:xfrm>
            <a:off x="5190421" y="5472208"/>
            <a:ext cx="408728" cy="408728"/>
          </a:xfrm>
          <a:prstGeom prst="ellipse">
            <a:avLst/>
          </a:prstGeom>
          <a:solidFill>
            <a:schemeClr val="bg1"/>
          </a:solidFill>
          <a:ln w="6350">
            <a:solidFill>
              <a:schemeClr val="accent1">
                <a:lumMod val="60000"/>
                <a:lumOff val="40000"/>
                <a:alpha val="7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buClrTx/>
              <a:buSzTx/>
              <a:buFontTx/>
            </a:pPr>
            <a:r>
              <a:rPr lang="en-US" altLang="zh-CN" sz="800" dirty="0">
                <a:solidFill>
                  <a:schemeClr val="accent1">
                    <a:lumMod val="60000"/>
                    <a:lumOff val="40000"/>
                  </a:schemeClr>
                </a:solidFill>
                <a:cs typeface="微软雅黑" panose="020B0503020204020204" charset="-122"/>
                <a:sym typeface="+mn-ea"/>
              </a:rPr>
              <a:t>WIFI6</a:t>
            </a:r>
            <a:endParaRPr lang="en-US" altLang="zh-CN" sz="800" dirty="0">
              <a:solidFill>
                <a:schemeClr val="accent1">
                  <a:lumMod val="60000"/>
                  <a:lumOff val="40000"/>
                </a:schemeClr>
              </a:solidFill>
              <a:cs typeface="微软雅黑" panose="020B0503020204020204" charset="-122"/>
              <a:sym typeface="+mn-ea"/>
            </a:endParaRPr>
          </a:p>
        </p:txBody>
      </p:sp>
      <p:sp>
        <p:nvSpPr>
          <p:cNvPr id="90" name="椭圆 89"/>
          <p:cNvSpPr/>
          <p:nvPr/>
        </p:nvSpPr>
        <p:spPr>
          <a:xfrm>
            <a:off x="5685086" y="5487448"/>
            <a:ext cx="408728" cy="408728"/>
          </a:xfrm>
          <a:prstGeom prst="ellipse">
            <a:avLst/>
          </a:prstGeom>
          <a:solidFill>
            <a:schemeClr val="bg1"/>
          </a:solidFill>
          <a:ln w="6350">
            <a:solidFill>
              <a:schemeClr val="accent1">
                <a:lumMod val="60000"/>
                <a:lumOff val="40000"/>
                <a:alpha val="7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buClrTx/>
              <a:buSzTx/>
              <a:buFontTx/>
            </a:pPr>
            <a:r>
              <a:rPr lang="en-US" altLang="zh-CN" sz="800" dirty="0">
                <a:solidFill>
                  <a:schemeClr val="accent1">
                    <a:lumMod val="60000"/>
                    <a:lumOff val="40000"/>
                  </a:schemeClr>
                </a:solidFill>
                <a:cs typeface="微软雅黑" panose="020B0503020204020204" charset="-122"/>
                <a:sym typeface="+mn-ea"/>
              </a:rPr>
              <a:t>Ipv6</a:t>
            </a:r>
            <a:endParaRPr lang="en-US" altLang="zh-CN" sz="800" dirty="0">
              <a:solidFill>
                <a:schemeClr val="accent1">
                  <a:lumMod val="60000"/>
                  <a:lumOff val="40000"/>
                </a:schemeClr>
              </a:solidFill>
              <a:cs typeface="微软雅黑" panose="020B0503020204020204" charset="-122"/>
              <a:sym typeface="+mn-ea"/>
            </a:endParaRPr>
          </a:p>
        </p:txBody>
      </p:sp>
      <p:sp>
        <p:nvSpPr>
          <p:cNvPr id="94" name="图形 145"/>
          <p:cNvSpPr/>
          <p:nvPr/>
        </p:nvSpPr>
        <p:spPr>
          <a:xfrm>
            <a:off x="5136515" y="6219190"/>
            <a:ext cx="133985" cy="116205"/>
          </a:xfrm>
          <a:custGeom>
            <a:avLst/>
            <a:gdLst>
              <a:gd name="connsiteX0" fmla="*/ 30750 w 168653"/>
              <a:gd name="connsiteY0" fmla="*/ 61329 h 145655"/>
              <a:gd name="connsiteX1" fmla="*/ 40627 w 168653"/>
              <a:gd name="connsiteY1" fmla="*/ 127272 h 145655"/>
              <a:gd name="connsiteX2" fmla="*/ 40711 w 168653"/>
              <a:gd name="connsiteY2" fmla="*/ 128407 h 145655"/>
              <a:gd name="connsiteX3" fmla="*/ 43092 w 168653"/>
              <a:gd name="connsiteY3" fmla="*/ 130323 h 145655"/>
              <a:gd name="connsiteX4" fmla="*/ 128492 w 168653"/>
              <a:gd name="connsiteY4" fmla="*/ 130323 h 145655"/>
              <a:gd name="connsiteX5" fmla="*/ 130873 w 168653"/>
              <a:gd name="connsiteY5" fmla="*/ 128407 h 145655"/>
              <a:gd name="connsiteX6" fmla="*/ 130957 w 168653"/>
              <a:gd name="connsiteY6" fmla="*/ 127272 h 145655"/>
              <a:gd name="connsiteX7" fmla="*/ 138074 w 168653"/>
              <a:gd name="connsiteY7" fmla="*/ 79756 h 145655"/>
              <a:gd name="connsiteX8" fmla="*/ 146791 w 168653"/>
              <a:gd name="connsiteY8" fmla="*/ 73310 h 145655"/>
              <a:gd name="connsiteX9" fmla="*/ 153237 w 168653"/>
              <a:gd name="connsiteY9" fmla="*/ 82027 h 145655"/>
              <a:gd name="connsiteX10" fmla="*/ 146192 w 168653"/>
              <a:gd name="connsiteY10" fmla="*/ 129061 h 145655"/>
              <a:gd name="connsiteX11" fmla="*/ 128492 w 168653"/>
              <a:gd name="connsiteY11" fmla="*/ 145656 h 145655"/>
              <a:gd name="connsiteX12" fmla="*/ 43092 w 168653"/>
              <a:gd name="connsiteY12" fmla="*/ 145656 h 145655"/>
              <a:gd name="connsiteX13" fmla="*/ 25392 w 168653"/>
              <a:gd name="connsiteY13" fmla="*/ 129061 h 145655"/>
              <a:gd name="connsiteX14" fmla="*/ 15417 w 168653"/>
              <a:gd name="connsiteY14" fmla="*/ 62464 h 145655"/>
              <a:gd name="connsiteX15" fmla="*/ 15331 w 168653"/>
              <a:gd name="connsiteY15" fmla="*/ 61329 h 145655"/>
              <a:gd name="connsiteX16" fmla="*/ 7666 w 168653"/>
              <a:gd name="connsiteY16" fmla="*/ 61329 h 145655"/>
              <a:gd name="connsiteX17" fmla="*/ 0 w 168653"/>
              <a:gd name="connsiteY17" fmla="*/ 53663 h 145655"/>
              <a:gd name="connsiteX18" fmla="*/ 7666 w 168653"/>
              <a:gd name="connsiteY18" fmla="*/ 45997 h 145655"/>
              <a:gd name="connsiteX19" fmla="*/ 160988 w 168653"/>
              <a:gd name="connsiteY19" fmla="*/ 45997 h 145655"/>
              <a:gd name="connsiteX20" fmla="*/ 168654 w 168653"/>
              <a:gd name="connsiteY20" fmla="*/ 53663 h 145655"/>
              <a:gd name="connsiteX21" fmla="*/ 160988 w 168653"/>
              <a:gd name="connsiteY21" fmla="*/ 61329 h 145655"/>
              <a:gd name="connsiteX22" fmla="*/ 30750 w 168653"/>
              <a:gd name="connsiteY22" fmla="*/ 61329 h 145655"/>
              <a:gd name="connsiteX23" fmla="*/ 111431 w 168653"/>
              <a:gd name="connsiteY23" fmla="*/ 36085 h 145655"/>
              <a:gd name="connsiteX24" fmla="*/ 95168 w 168653"/>
              <a:gd name="connsiteY24" fmla="*/ 19823 h 145655"/>
              <a:gd name="connsiteX25" fmla="*/ 73485 w 168653"/>
              <a:gd name="connsiteY25" fmla="*/ 19823 h 145655"/>
              <a:gd name="connsiteX26" fmla="*/ 57223 w 168653"/>
              <a:gd name="connsiteY26" fmla="*/ 36085 h 145655"/>
              <a:gd name="connsiteX27" fmla="*/ 46382 w 168653"/>
              <a:gd name="connsiteY27" fmla="*/ 36085 h 145655"/>
              <a:gd name="connsiteX28" fmla="*/ 46382 w 168653"/>
              <a:gd name="connsiteY28" fmla="*/ 25244 h 145655"/>
              <a:gd name="connsiteX29" fmla="*/ 62644 w 168653"/>
              <a:gd name="connsiteY29" fmla="*/ 8981 h 145655"/>
              <a:gd name="connsiteX30" fmla="*/ 106010 w 168653"/>
              <a:gd name="connsiteY30" fmla="*/ 8981 h 145655"/>
              <a:gd name="connsiteX31" fmla="*/ 122272 w 168653"/>
              <a:gd name="connsiteY31" fmla="*/ 25244 h 145655"/>
              <a:gd name="connsiteX32" fmla="*/ 122272 w 168653"/>
              <a:gd name="connsiteY32" fmla="*/ 36085 h 145655"/>
              <a:gd name="connsiteX33" fmla="*/ 111431 w 168653"/>
              <a:gd name="connsiteY33" fmla="*/ 36085 h 145655"/>
              <a:gd name="connsiteX34" fmla="*/ 53375 w 168653"/>
              <a:gd name="connsiteY34" fmla="*/ 86580 h 145655"/>
              <a:gd name="connsiteX35" fmla="*/ 61041 w 168653"/>
              <a:gd name="connsiteY35" fmla="*/ 78914 h 145655"/>
              <a:gd name="connsiteX36" fmla="*/ 68707 w 168653"/>
              <a:gd name="connsiteY36" fmla="*/ 86580 h 145655"/>
              <a:gd name="connsiteX37" fmla="*/ 68707 w 168653"/>
              <a:gd name="connsiteY37" fmla="*/ 110917 h 145655"/>
              <a:gd name="connsiteX38" fmla="*/ 61041 w 168653"/>
              <a:gd name="connsiteY38" fmla="*/ 118583 h 145655"/>
              <a:gd name="connsiteX39" fmla="*/ 53375 w 168653"/>
              <a:gd name="connsiteY39" fmla="*/ 110917 h 145655"/>
              <a:gd name="connsiteX40" fmla="*/ 53375 w 168653"/>
              <a:gd name="connsiteY40" fmla="*/ 86580 h 145655"/>
              <a:gd name="connsiteX41" fmla="*/ 80430 w 168653"/>
              <a:gd name="connsiteY41" fmla="*/ 86580 h 145655"/>
              <a:gd name="connsiteX42" fmla="*/ 88096 w 168653"/>
              <a:gd name="connsiteY42" fmla="*/ 78914 h 145655"/>
              <a:gd name="connsiteX43" fmla="*/ 95762 w 168653"/>
              <a:gd name="connsiteY43" fmla="*/ 86580 h 145655"/>
              <a:gd name="connsiteX44" fmla="*/ 95762 w 168653"/>
              <a:gd name="connsiteY44" fmla="*/ 110917 h 145655"/>
              <a:gd name="connsiteX45" fmla="*/ 88096 w 168653"/>
              <a:gd name="connsiteY45" fmla="*/ 118583 h 145655"/>
              <a:gd name="connsiteX46" fmla="*/ 80430 w 168653"/>
              <a:gd name="connsiteY46" fmla="*/ 110917 h 145655"/>
              <a:gd name="connsiteX47" fmla="*/ 80430 w 168653"/>
              <a:gd name="connsiteY47" fmla="*/ 86580 h 145655"/>
              <a:gd name="connsiteX48" fmla="*/ 107485 w 168653"/>
              <a:gd name="connsiteY48" fmla="*/ 86580 h 145655"/>
              <a:gd name="connsiteX49" fmla="*/ 115151 w 168653"/>
              <a:gd name="connsiteY49" fmla="*/ 78914 h 145655"/>
              <a:gd name="connsiteX50" fmla="*/ 122817 w 168653"/>
              <a:gd name="connsiteY50" fmla="*/ 86580 h 145655"/>
              <a:gd name="connsiteX51" fmla="*/ 122817 w 168653"/>
              <a:gd name="connsiteY51" fmla="*/ 110917 h 145655"/>
              <a:gd name="connsiteX52" fmla="*/ 115151 w 168653"/>
              <a:gd name="connsiteY52" fmla="*/ 118583 h 145655"/>
              <a:gd name="connsiteX53" fmla="*/ 107485 w 168653"/>
              <a:gd name="connsiteY53" fmla="*/ 110917 h 145655"/>
              <a:gd name="connsiteX54" fmla="*/ 107485 w 168653"/>
              <a:gd name="connsiteY54" fmla="*/ 86580 h 145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68653" h="145655">
                <a:moveTo>
                  <a:pt x="30750" y="61329"/>
                </a:moveTo>
                <a:lnTo>
                  <a:pt x="40627" y="127272"/>
                </a:lnTo>
                <a:lnTo>
                  <a:pt x="40711" y="128407"/>
                </a:lnTo>
                <a:cubicBezTo>
                  <a:pt x="40711" y="129382"/>
                  <a:pt x="41698" y="130323"/>
                  <a:pt x="43092" y="130323"/>
                </a:cubicBezTo>
                <a:lnTo>
                  <a:pt x="128492" y="130323"/>
                </a:lnTo>
                <a:cubicBezTo>
                  <a:pt x="129886" y="130323"/>
                  <a:pt x="130873" y="129382"/>
                  <a:pt x="130873" y="128407"/>
                </a:cubicBezTo>
                <a:lnTo>
                  <a:pt x="130957" y="127272"/>
                </a:lnTo>
                <a:lnTo>
                  <a:pt x="138074" y="79756"/>
                </a:lnTo>
                <a:cubicBezTo>
                  <a:pt x="138701" y="75569"/>
                  <a:pt x="142604" y="72683"/>
                  <a:pt x="146791" y="73310"/>
                </a:cubicBezTo>
                <a:cubicBezTo>
                  <a:pt x="150978" y="73937"/>
                  <a:pt x="153864" y="77840"/>
                  <a:pt x="153237" y="82027"/>
                </a:cubicBezTo>
                <a:lnTo>
                  <a:pt x="146192" y="129061"/>
                </a:lnTo>
                <a:cubicBezTo>
                  <a:pt x="145839" y="138361"/>
                  <a:pt x="137974" y="145656"/>
                  <a:pt x="128492" y="145656"/>
                </a:cubicBezTo>
                <a:lnTo>
                  <a:pt x="43092" y="145656"/>
                </a:lnTo>
                <a:cubicBezTo>
                  <a:pt x="33610" y="145656"/>
                  <a:pt x="25745" y="138361"/>
                  <a:pt x="25392" y="129061"/>
                </a:cubicBezTo>
                <a:lnTo>
                  <a:pt x="15417" y="62464"/>
                </a:lnTo>
                <a:cubicBezTo>
                  <a:pt x="15360" y="62088"/>
                  <a:pt x="15332" y="61709"/>
                  <a:pt x="15331" y="61329"/>
                </a:cubicBezTo>
                <a:lnTo>
                  <a:pt x="7666" y="61329"/>
                </a:lnTo>
                <a:cubicBezTo>
                  <a:pt x="3432" y="61329"/>
                  <a:pt x="0" y="57897"/>
                  <a:pt x="0" y="53663"/>
                </a:cubicBezTo>
                <a:cubicBezTo>
                  <a:pt x="0" y="49429"/>
                  <a:pt x="3432" y="45997"/>
                  <a:pt x="7666" y="45997"/>
                </a:cubicBezTo>
                <a:lnTo>
                  <a:pt x="160988" y="45997"/>
                </a:lnTo>
                <a:cubicBezTo>
                  <a:pt x="165222" y="45997"/>
                  <a:pt x="168654" y="49429"/>
                  <a:pt x="168654" y="53663"/>
                </a:cubicBezTo>
                <a:cubicBezTo>
                  <a:pt x="168654" y="57897"/>
                  <a:pt x="165222" y="61329"/>
                  <a:pt x="160988" y="61329"/>
                </a:cubicBezTo>
                <a:lnTo>
                  <a:pt x="30750" y="61329"/>
                </a:lnTo>
                <a:close/>
                <a:moveTo>
                  <a:pt x="111431" y="36085"/>
                </a:moveTo>
                <a:lnTo>
                  <a:pt x="95168" y="19823"/>
                </a:lnTo>
                <a:cubicBezTo>
                  <a:pt x="89181" y="13835"/>
                  <a:pt x="79473" y="13835"/>
                  <a:pt x="73485" y="19823"/>
                </a:cubicBezTo>
                <a:lnTo>
                  <a:pt x="57223" y="36085"/>
                </a:lnTo>
                <a:cubicBezTo>
                  <a:pt x="54229" y="39079"/>
                  <a:pt x="49375" y="39079"/>
                  <a:pt x="46382" y="36085"/>
                </a:cubicBezTo>
                <a:cubicBezTo>
                  <a:pt x="43388" y="33091"/>
                  <a:pt x="43388" y="28237"/>
                  <a:pt x="46382" y="25244"/>
                </a:cubicBezTo>
                <a:lnTo>
                  <a:pt x="62644" y="8981"/>
                </a:lnTo>
                <a:cubicBezTo>
                  <a:pt x="74619" y="-2994"/>
                  <a:pt x="94035" y="-2994"/>
                  <a:pt x="106010" y="8981"/>
                </a:cubicBezTo>
                <a:lnTo>
                  <a:pt x="122272" y="25244"/>
                </a:lnTo>
                <a:cubicBezTo>
                  <a:pt x="125266" y="28237"/>
                  <a:pt x="125266" y="33091"/>
                  <a:pt x="122272" y="36085"/>
                </a:cubicBezTo>
                <a:cubicBezTo>
                  <a:pt x="119278" y="39079"/>
                  <a:pt x="114424" y="39079"/>
                  <a:pt x="111431" y="36085"/>
                </a:cubicBezTo>
                <a:close/>
                <a:moveTo>
                  <a:pt x="53375" y="86580"/>
                </a:moveTo>
                <a:cubicBezTo>
                  <a:pt x="53375" y="82347"/>
                  <a:pt x="56807" y="78914"/>
                  <a:pt x="61041" y="78914"/>
                </a:cubicBezTo>
                <a:cubicBezTo>
                  <a:pt x="65275" y="78914"/>
                  <a:pt x="68707" y="82347"/>
                  <a:pt x="68707" y="86580"/>
                </a:cubicBezTo>
                <a:lnTo>
                  <a:pt x="68707" y="110917"/>
                </a:lnTo>
                <a:cubicBezTo>
                  <a:pt x="68707" y="115151"/>
                  <a:pt x="65275" y="118583"/>
                  <a:pt x="61041" y="118583"/>
                </a:cubicBezTo>
                <a:cubicBezTo>
                  <a:pt x="56807" y="118583"/>
                  <a:pt x="53375" y="115151"/>
                  <a:pt x="53375" y="110917"/>
                </a:cubicBezTo>
                <a:lnTo>
                  <a:pt x="53375" y="86580"/>
                </a:lnTo>
                <a:close/>
                <a:moveTo>
                  <a:pt x="80430" y="86580"/>
                </a:moveTo>
                <a:cubicBezTo>
                  <a:pt x="80430" y="82347"/>
                  <a:pt x="83862" y="78914"/>
                  <a:pt x="88096" y="78914"/>
                </a:cubicBezTo>
                <a:cubicBezTo>
                  <a:pt x="92330" y="78914"/>
                  <a:pt x="95762" y="82347"/>
                  <a:pt x="95762" y="86580"/>
                </a:cubicBezTo>
                <a:lnTo>
                  <a:pt x="95762" y="110917"/>
                </a:lnTo>
                <a:cubicBezTo>
                  <a:pt x="95762" y="115151"/>
                  <a:pt x="92330" y="118583"/>
                  <a:pt x="88096" y="118583"/>
                </a:cubicBezTo>
                <a:cubicBezTo>
                  <a:pt x="83862" y="118583"/>
                  <a:pt x="80430" y="115151"/>
                  <a:pt x="80430" y="110917"/>
                </a:cubicBezTo>
                <a:lnTo>
                  <a:pt x="80430" y="86580"/>
                </a:lnTo>
                <a:close/>
                <a:moveTo>
                  <a:pt x="107485" y="86580"/>
                </a:moveTo>
                <a:cubicBezTo>
                  <a:pt x="107485" y="82347"/>
                  <a:pt x="110917" y="78914"/>
                  <a:pt x="115151" y="78914"/>
                </a:cubicBezTo>
                <a:cubicBezTo>
                  <a:pt x="119385" y="78914"/>
                  <a:pt x="122817" y="82347"/>
                  <a:pt x="122817" y="86580"/>
                </a:cubicBezTo>
                <a:lnTo>
                  <a:pt x="122817" y="110917"/>
                </a:lnTo>
                <a:cubicBezTo>
                  <a:pt x="122817" y="115151"/>
                  <a:pt x="119385" y="118583"/>
                  <a:pt x="115151" y="118583"/>
                </a:cubicBezTo>
                <a:cubicBezTo>
                  <a:pt x="110917" y="118583"/>
                  <a:pt x="107485" y="115151"/>
                  <a:pt x="107485" y="110917"/>
                </a:cubicBezTo>
                <a:lnTo>
                  <a:pt x="107485" y="86580"/>
                </a:lnTo>
                <a:close/>
              </a:path>
            </a:pathLst>
          </a:custGeom>
          <a:solidFill>
            <a:schemeClr val="accent1"/>
          </a:solidFill>
          <a:ln w="177" cap="flat">
            <a:noFill/>
            <a:prstDash val="solid"/>
            <a:miter/>
          </a:ln>
        </p:spPr>
        <p:txBody>
          <a:bodyPr rtlCol="0" anchor="ctr"/>
          <a:p>
            <a:endParaRPr lang="zh-CN" altLang="en-US">
              <a:cs typeface="微软雅黑" panose="020B0503020204020204" charset="-122"/>
            </a:endParaRPr>
          </a:p>
        </p:txBody>
      </p:sp>
      <p:sp>
        <p:nvSpPr>
          <p:cNvPr id="304" name="图形 302"/>
          <p:cNvSpPr/>
          <p:nvPr/>
        </p:nvSpPr>
        <p:spPr>
          <a:xfrm>
            <a:off x="7370445" y="6185535"/>
            <a:ext cx="142875" cy="142875"/>
          </a:xfrm>
          <a:custGeom>
            <a:avLst/>
            <a:gdLst>
              <a:gd name="connsiteX0" fmla="*/ 31634 w 129745"/>
              <a:gd name="connsiteY0" fmla="*/ 77968 h 129740"/>
              <a:gd name="connsiteX1" fmla="*/ 5421 w 129745"/>
              <a:gd name="connsiteY1" fmla="*/ 77951 h 129740"/>
              <a:gd name="connsiteX2" fmla="*/ 5437 w 129745"/>
              <a:gd name="connsiteY2" fmla="*/ 51738 h 129740"/>
              <a:gd name="connsiteX3" fmla="*/ 31651 w 129745"/>
              <a:gd name="connsiteY3" fmla="*/ 51754 h 129740"/>
              <a:gd name="connsiteX4" fmla="*/ 35425 w 129745"/>
              <a:gd name="connsiteY4" fmla="*/ 72491 h 129740"/>
              <a:gd name="connsiteX5" fmla="*/ 57242 w 129745"/>
              <a:gd name="connsiteY5" fmla="*/ 94307 h 129740"/>
              <a:gd name="connsiteX6" fmla="*/ 61579 w 129745"/>
              <a:gd name="connsiteY6" fmla="*/ 92954 h 129740"/>
              <a:gd name="connsiteX7" fmla="*/ 61579 w 129745"/>
              <a:gd name="connsiteY7" fmla="*/ 36781 h 129740"/>
              <a:gd name="connsiteX8" fmla="*/ 46624 w 129745"/>
              <a:gd name="connsiteY8" fmla="*/ 15252 h 129740"/>
              <a:gd name="connsiteX9" fmla="*/ 68152 w 129745"/>
              <a:gd name="connsiteY9" fmla="*/ 297 h 129740"/>
              <a:gd name="connsiteX10" fmla="*/ 83108 w 129745"/>
              <a:gd name="connsiteY10" fmla="*/ 21826 h 129740"/>
              <a:gd name="connsiteX11" fmla="*/ 80087 w 129745"/>
              <a:gd name="connsiteY11" fmla="*/ 29117 h 129740"/>
              <a:gd name="connsiteX12" fmla="*/ 100625 w 129745"/>
              <a:gd name="connsiteY12" fmla="*/ 49654 h 129740"/>
              <a:gd name="connsiteX13" fmla="*/ 126426 w 129745"/>
              <a:gd name="connsiteY13" fmla="*/ 54288 h 129740"/>
              <a:gd name="connsiteX14" fmla="*/ 121792 w 129745"/>
              <a:gd name="connsiteY14" fmla="*/ 80089 h 129740"/>
              <a:gd name="connsiteX15" fmla="*/ 95991 w 129745"/>
              <a:gd name="connsiteY15" fmla="*/ 75455 h 129740"/>
              <a:gd name="connsiteX16" fmla="*/ 95991 w 129745"/>
              <a:gd name="connsiteY16" fmla="*/ 54288 h 129740"/>
              <a:gd name="connsiteX17" fmla="*/ 75453 w 129745"/>
              <a:gd name="connsiteY17" fmla="*/ 33741 h 129740"/>
              <a:gd name="connsiteX18" fmla="*/ 68132 w 129745"/>
              <a:gd name="connsiteY18" fmla="*/ 36772 h 129740"/>
              <a:gd name="connsiteX19" fmla="*/ 68132 w 129745"/>
              <a:gd name="connsiteY19" fmla="*/ 92954 h 129740"/>
              <a:gd name="connsiteX20" fmla="*/ 83122 w 129745"/>
              <a:gd name="connsiteY20" fmla="*/ 114459 h 129740"/>
              <a:gd name="connsiteX21" fmla="*/ 61617 w 129745"/>
              <a:gd name="connsiteY21" fmla="*/ 129449 h 129740"/>
              <a:gd name="connsiteX22" fmla="*/ 46627 w 129745"/>
              <a:gd name="connsiteY22" fmla="*/ 107944 h 129740"/>
              <a:gd name="connsiteX23" fmla="*/ 51764 w 129745"/>
              <a:gd name="connsiteY23" fmla="*/ 98098 h 129740"/>
              <a:gd name="connsiteX24" fmla="*/ 31634 w 129745"/>
              <a:gd name="connsiteY24" fmla="*/ 77968 h 129740"/>
              <a:gd name="connsiteX25" fmla="*/ 64869 w 129745"/>
              <a:gd name="connsiteY25" fmla="*/ 27791 h 129740"/>
              <a:gd name="connsiteX26" fmla="*/ 74137 w 129745"/>
              <a:gd name="connsiteY26" fmla="*/ 18523 h 129740"/>
              <a:gd name="connsiteX27" fmla="*/ 64869 w 129745"/>
              <a:gd name="connsiteY27" fmla="*/ 9255 h 129740"/>
              <a:gd name="connsiteX28" fmla="*/ 55601 w 129745"/>
              <a:gd name="connsiteY28" fmla="*/ 18523 h 129740"/>
              <a:gd name="connsiteX29" fmla="*/ 64869 w 129745"/>
              <a:gd name="connsiteY29" fmla="*/ 27791 h 129740"/>
              <a:gd name="connsiteX30" fmla="*/ 111209 w 129745"/>
              <a:gd name="connsiteY30" fmla="*/ 74131 h 129740"/>
              <a:gd name="connsiteX31" fmla="*/ 120477 w 129745"/>
              <a:gd name="connsiteY31" fmla="*/ 64863 h 129740"/>
              <a:gd name="connsiteX32" fmla="*/ 111209 w 129745"/>
              <a:gd name="connsiteY32" fmla="*/ 55595 h 129740"/>
              <a:gd name="connsiteX33" fmla="*/ 101941 w 129745"/>
              <a:gd name="connsiteY33" fmla="*/ 64863 h 129740"/>
              <a:gd name="connsiteX34" fmla="*/ 111209 w 129745"/>
              <a:gd name="connsiteY34" fmla="*/ 74131 h 129740"/>
              <a:gd name="connsiteX35" fmla="*/ 64869 w 129745"/>
              <a:gd name="connsiteY35" fmla="*/ 120471 h 129740"/>
              <a:gd name="connsiteX36" fmla="*/ 74137 w 129745"/>
              <a:gd name="connsiteY36" fmla="*/ 111203 h 129740"/>
              <a:gd name="connsiteX37" fmla="*/ 64869 w 129745"/>
              <a:gd name="connsiteY37" fmla="*/ 101935 h 129740"/>
              <a:gd name="connsiteX38" fmla="*/ 55601 w 129745"/>
              <a:gd name="connsiteY38" fmla="*/ 111203 h 129740"/>
              <a:gd name="connsiteX39" fmla="*/ 64869 w 129745"/>
              <a:gd name="connsiteY39" fmla="*/ 120471 h 129740"/>
              <a:gd name="connsiteX40" fmla="*/ 18530 w 129745"/>
              <a:gd name="connsiteY40" fmla="*/ 74131 h 129740"/>
              <a:gd name="connsiteX41" fmla="*/ 27797 w 129745"/>
              <a:gd name="connsiteY41" fmla="*/ 64863 h 129740"/>
              <a:gd name="connsiteX42" fmla="*/ 18530 w 129745"/>
              <a:gd name="connsiteY42" fmla="*/ 55595 h 129740"/>
              <a:gd name="connsiteX43" fmla="*/ 9262 w 129745"/>
              <a:gd name="connsiteY43" fmla="*/ 64863 h 129740"/>
              <a:gd name="connsiteX44" fmla="*/ 18530 w 129745"/>
              <a:gd name="connsiteY44" fmla="*/ 74131 h 129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29745" h="129740">
                <a:moveTo>
                  <a:pt x="31634" y="77968"/>
                </a:moveTo>
                <a:cubicBezTo>
                  <a:pt x="24391" y="85202"/>
                  <a:pt x="12655" y="85195"/>
                  <a:pt x="5421" y="77951"/>
                </a:cubicBezTo>
                <a:cubicBezTo>
                  <a:pt x="-1813" y="70708"/>
                  <a:pt x="-1806" y="58972"/>
                  <a:pt x="5437" y="51738"/>
                </a:cubicBezTo>
                <a:cubicBezTo>
                  <a:pt x="12681" y="44504"/>
                  <a:pt x="24417" y="44511"/>
                  <a:pt x="31651" y="51754"/>
                </a:cubicBezTo>
                <a:cubicBezTo>
                  <a:pt x="37099" y="57209"/>
                  <a:pt x="38602" y="65466"/>
                  <a:pt x="35425" y="72491"/>
                </a:cubicBezTo>
                <a:lnTo>
                  <a:pt x="57242" y="94307"/>
                </a:lnTo>
                <a:cubicBezTo>
                  <a:pt x="58604" y="93686"/>
                  <a:pt x="60059" y="93232"/>
                  <a:pt x="61579" y="92954"/>
                </a:cubicBezTo>
                <a:lnTo>
                  <a:pt x="61579" y="36781"/>
                </a:lnTo>
                <a:cubicBezTo>
                  <a:pt x="51504" y="34966"/>
                  <a:pt x="44808" y="25327"/>
                  <a:pt x="46624" y="15252"/>
                </a:cubicBezTo>
                <a:cubicBezTo>
                  <a:pt x="48439" y="5178"/>
                  <a:pt x="58077" y="-1518"/>
                  <a:pt x="68152" y="297"/>
                </a:cubicBezTo>
                <a:cubicBezTo>
                  <a:pt x="78227" y="2112"/>
                  <a:pt x="84923" y="11751"/>
                  <a:pt x="83108" y="21826"/>
                </a:cubicBezTo>
                <a:cubicBezTo>
                  <a:pt x="82636" y="24445"/>
                  <a:pt x="81606" y="26931"/>
                  <a:pt x="80087" y="29117"/>
                </a:cubicBezTo>
                <a:lnTo>
                  <a:pt x="100625" y="49654"/>
                </a:lnTo>
                <a:cubicBezTo>
                  <a:pt x="109029" y="43809"/>
                  <a:pt x="120581" y="45884"/>
                  <a:pt x="126426" y="54288"/>
                </a:cubicBezTo>
                <a:cubicBezTo>
                  <a:pt x="132271" y="62693"/>
                  <a:pt x="130196" y="74244"/>
                  <a:pt x="121792" y="80089"/>
                </a:cubicBezTo>
                <a:cubicBezTo>
                  <a:pt x="113387" y="85934"/>
                  <a:pt x="101836" y="83860"/>
                  <a:pt x="95991" y="75455"/>
                </a:cubicBezTo>
                <a:cubicBezTo>
                  <a:pt x="91566" y="69093"/>
                  <a:pt x="91566" y="60650"/>
                  <a:pt x="95991" y="54288"/>
                </a:cubicBezTo>
                <a:lnTo>
                  <a:pt x="75453" y="33741"/>
                </a:lnTo>
                <a:cubicBezTo>
                  <a:pt x="73261" y="35270"/>
                  <a:pt x="70763" y="36304"/>
                  <a:pt x="68132" y="36772"/>
                </a:cubicBezTo>
                <a:lnTo>
                  <a:pt x="68132" y="92954"/>
                </a:lnTo>
                <a:cubicBezTo>
                  <a:pt x="78209" y="94753"/>
                  <a:pt x="84921" y="104381"/>
                  <a:pt x="83122" y="114459"/>
                </a:cubicBezTo>
                <a:cubicBezTo>
                  <a:pt x="81323" y="124537"/>
                  <a:pt x="71695" y="131248"/>
                  <a:pt x="61617" y="129449"/>
                </a:cubicBezTo>
                <a:cubicBezTo>
                  <a:pt x="51539" y="127650"/>
                  <a:pt x="44828" y="118022"/>
                  <a:pt x="46627" y="107944"/>
                </a:cubicBezTo>
                <a:cubicBezTo>
                  <a:pt x="47293" y="104214"/>
                  <a:pt x="49086" y="100778"/>
                  <a:pt x="51764" y="98098"/>
                </a:cubicBezTo>
                <a:lnTo>
                  <a:pt x="31634" y="77968"/>
                </a:lnTo>
                <a:close/>
                <a:moveTo>
                  <a:pt x="64869" y="27791"/>
                </a:moveTo>
                <a:cubicBezTo>
                  <a:pt x="69988" y="27791"/>
                  <a:pt x="74137" y="23642"/>
                  <a:pt x="74137" y="18523"/>
                </a:cubicBezTo>
                <a:cubicBezTo>
                  <a:pt x="74137" y="13405"/>
                  <a:pt x="69988" y="9255"/>
                  <a:pt x="64869" y="9255"/>
                </a:cubicBezTo>
                <a:cubicBezTo>
                  <a:pt x="59751" y="9255"/>
                  <a:pt x="55601" y="13405"/>
                  <a:pt x="55601" y="18523"/>
                </a:cubicBezTo>
                <a:cubicBezTo>
                  <a:pt x="55601" y="23642"/>
                  <a:pt x="59751" y="27791"/>
                  <a:pt x="64869" y="27791"/>
                </a:cubicBezTo>
                <a:close/>
                <a:moveTo>
                  <a:pt x="111209" y="74131"/>
                </a:moveTo>
                <a:cubicBezTo>
                  <a:pt x="116327" y="74131"/>
                  <a:pt x="120477" y="69982"/>
                  <a:pt x="120477" y="64863"/>
                </a:cubicBezTo>
                <a:cubicBezTo>
                  <a:pt x="120477" y="59744"/>
                  <a:pt x="116327" y="55595"/>
                  <a:pt x="111209" y="55595"/>
                </a:cubicBezTo>
                <a:cubicBezTo>
                  <a:pt x="106090" y="55595"/>
                  <a:pt x="101941" y="59744"/>
                  <a:pt x="101941" y="64863"/>
                </a:cubicBezTo>
                <a:cubicBezTo>
                  <a:pt x="101941" y="69982"/>
                  <a:pt x="106090" y="74131"/>
                  <a:pt x="111209" y="74131"/>
                </a:cubicBezTo>
                <a:close/>
                <a:moveTo>
                  <a:pt x="64869" y="120471"/>
                </a:moveTo>
                <a:cubicBezTo>
                  <a:pt x="69988" y="120471"/>
                  <a:pt x="74137" y="116321"/>
                  <a:pt x="74137" y="111203"/>
                </a:cubicBezTo>
                <a:cubicBezTo>
                  <a:pt x="74137" y="106084"/>
                  <a:pt x="69988" y="101935"/>
                  <a:pt x="64869" y="101935"/>
                </a:cubicBezTo>
                <a:cubicBezTo>
                  <a:pt x="59751" y="101935"/>
                  <a:pt x="55601" y="106084"/>
                  <a:pt x="55601" y="111203"/>
                </a:cubicBezTo>
                <a:cubicBezTo>
                  <a:pt x="55601" y="116321"/>
                  <a:pt x="59751" y="120471"/>
                  <a:pt x="64869" y="120471"/>
                </a:cubicBezTo>
                <a:close/>
                <a:moveTo>
                  <a:pt x="18530" y="74131"/>
                </a:moveTo>
                <a:cubicBezTo>
                  <a:pt x="23648" y="74131"/>
                  <a:pt x="27797" y="69982"/>
                  <a:pt x="27797" y="64863"/>
                </a:cubicBezTo>
                <a:cubicBezTo>
                  <a:pt x="27797" y="59744"/>
                  <a:pt x="23648" y="55595"/>
                  <a:pt x="18530" y="55595"/>
                </a:cubicBezTo>
                <a:cubicBezTo>
                  <a:pt x="13411" y="55595"/>
                  <a:pt x="9262" y="59744"/>
                  <a:pt x="9262" y="64863"/>
                </a:cubicBezTo>
                <a:cubicBezTo>
                  <a:pt x="9262" y="69982"/>
                  <a:pt x="13411" y="74131"/>
                  <a:pt x="18530" y="74131"/>
                </a:cubicBezTo>
                <a:close/>
              </a:path>
            </a:pathLst>
          </a:custGeom>
          <a:solidFill>
            <a:schemeClr val="accent1"/>
          </a:solidFill>
          <a:ln w="121" cap="flat">
            <a:noFill/>
            <a:prstDash val="solid"/>
            <a:miter/>
          </a:ln>
        </p:spPr>
        <p:txBody>
          <a:bodyPr rtlCol="0" anchor="ctr"/>
          <a:p>
            <a:endParaRPr lang="zh-CN" altLang="en-US">
              <a:cs typeface="微软雅黑" panose="020B0503020204020204" charset="-122"/>
            </a:endParaRPr>
          </a:p>
        </p:txBody>
      </p:sp>
      <p:sp>
        <p:nvSpPr>
          <p:cNvPr id="97" name="椭圆 96"/>
          <p:cNvSpPr/>
          <p:nvPr/>
        </p:nvSpPr>
        <p:spPr>
          <a:xfrm>
            <a:off x="4695121" y="5377593"/>
            <a:ext cx="408728" cy="408728"/>
          </a:xfrm>
          <a:prstGeom prst="ellipse">
            <a:avLst/>
          </a:prstGeom>
          <a:solidFill>
            <a:schemeClr val="bg1"/>
          </a:solidFill>
          <a:ln w="6350">
            <a:solidFill>
              <a:schemeClr val="accent1">
                <a:lumMod val="60000"/>
                <a:lumOff val="40000"/>
                <a:alpha val="7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p>
            <a:pPr lvl="0" algn="ctr">
              <a:buClrTx/>
              <a:buSzTx/>
              <a:buFontTx/>
            </a:pPr>
            <a:r>
              <a:rPr lang="en-US" altLang="zh-CN" sz="800" dirty="0">
                <a:solidFill>
                  <a:schemeClr val="accent1">
                    <a:lumMod val="60000"/>
                    <a:lumOff val="40000"/>
                  </a:schemeClr>
                </a:solidFill>
                <a:cs typeface="微软雅黑" panose="020B0503020204020204" charset="-122"/>
                <a:sym typeface="+mn-ea"/>
              </a:rPr>
              <a:t>PLC</a:t>
            </a:r>
            <a:endParaRPr lang="en-US" altLang="zh-CN" sz="800" dirty="0">
              <a:solidFill>
                <a:schemeClr val="accent1">
                  <a:lumMod val="60000"/>
                  <a:lumOff val="40000"/>
                </a:schemeClr>
              </a:solidFill>
              <a:cs typeface="微软雅黑" panose="020B0503020204020204" charset="-122"/>
              <a:sym typeface="+mn-ea"/>
            </a:endParaRPr>
          </a:p>
        </p:txBody>
      </p:sp>
      <p:sp>
        <p:nvSpPr>
          <p:cNvPr id="98" name="文本框 97"/>
          <p:cNvSpPr txBox="1"/>
          <p:nvPr/>
        </p:nvSpPr>
        <p:spPr>
          <a:xfrm>
            <a:off x="7098030" y="5472430"/>
            <a:ext cx="526415" cy="213995"/>
          </a:xfrm>
          <a:prstGeom prst="rect">
            <a:avLst/>
          </a:prstGeom>
          <a:noFill/>
        </p:spPr>
        <p:txBody>
          <a:bodyPr wrap="square" rtlCol="0">
            <a:spAutoFit/>
          </a:bodyPr>
          <a:p>
            <a:pPr algn="ctr"/>
            <a:r>
              <a:rPr lang="en-US" altLang="zh-CN"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NBIOT</a:t>
            </a:r>
            <a:endParaRPr lang="en-US" altLang="zh-CN"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07" name="椭圆 106"/>
          <p:cNvSpPr/>
          <p:nvPr/>
        </p:nvSpPr>
        <p:spPr>
          <a:xfrm>
            <a:off x="5408295" y="4518025"/>
            <a:ext cx="1567815" cy="554355"/>
          </a:xfrm>
          <a:prstGeom prst="ellipse">
            <a:avLst/>
          </a:prstGeom>
          <a:gradFill>
            <a:gsLst>
              <a:gs pos="0">
                <a:schemeClr val="accent1">
                  <a:lumMod val="60000"/>
                  <a:lumOff val="40000"/>
                  <a:alpha val="0"/>
                </a:schemeClr>
              </a:gs>
              <a:gs pos="100000">
                <a:schemeClr val="accent1">
                  <a:lumMod val="60000"/>
                  <a:lumOff val="40000"/>
                  <a:alpha val="40000"/>
                </a:schemeClr>
              </a:gs>
            </a:gsLst>
            <a:lin ang="5400000" scaled="1"/>
          </a:gradFill>
          <a:ln>
            <a:noFill/>
          </a:ln>
          <a:scene3d>
            <a:camera prst="orthographicFront">
              <a:rot lat="3000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cs typeface="微软雅黑" panose="020B0503020204020204" charset="-122"/>
            </a:endParaRPr>
          </a:p>
        </p:txBody>
      </p:sp>
      <p:sp>
        <p:nvSpPr>
          <p:cNvPr id="108" name="文本框 107"/>
          <p:cNvSpPr txBox="1"/>
          <p:nvPr/>
        </p:nvSpPr>
        <p:spPr>
          <a:xfrm>
            <a:off x="5654675" y="4573905"/>
            <a:ext cx="982345" cy="245110"/>
          </a:xfrm>
          <a:prstGeom prst="rect">
            <a:avLst/>
          </a:prstGeom>
          <a:noFill/>
        </p:spPr>
        <p:txBody>
          <a:bodyPr wrap="square" rtlCol="0">
            <a:spAutoFit/>
          </a:bodyPr>
          <a:p>
            <a:pPr algn="ctr"/>
            <a:r>
              <a:rPr lang="zh-CN" sz="1000" b="1">
                <a:solidFill>
                  <a:schemeClr val="tx2"/>
                </a:solidFill>
                <a:latin typeface="微软雅黑" panose="020B0503020204020204" charset="-122"/>
                <a:ea typeface="微软雅黑" panose="020B0503020204020204" charset="-122"/>
                <a:cs typeface="微软雅黑" panose="020B0503020204020204" charset="-122"/>
              </a:rPr>
              <a:t>云基础设施</a:t>
            </a:r>
            <a:endParaRPr lang="zh-CN" sz="10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1" name="文本框 110"/>
          <p:cNvSpPr txBox="1"/>
          <p:nvPr/>
        </p:nvSpPr>
        <p:spPr>
          <a:xfrm>
            <a:off x="5436235" y="4758690"/>
            <a:ext cx="1499235" cy="213995"/>
          </a:xfrm>
          <a:prstGeom prst="rect">
            <a:avLst/>
          </a:prstGeom>
          <a:noFill/>
        </p:spPr>
        <p:txBody>
          <a:bodyPr wrap="square" rtlCol="0">
            <a:spAutoFit/>
          </a:bodyPr>
          <a:p>
            <a:pPr algn="ctr"/>
            <a:r>
              <a:rPr lang="zh-CN" altLang="en-US" sz="800">
                <a:solidFill>
                  <a:schemeClr val="tx2"/>
                </a:solidFill>
                <a:latin typeface="微软雅黑" panose="020B0503020204020204" charset="-122"/>
                <a:ea typeface="微软雅黑" panose="020B0503020204020204" charset="-122"/>
                <a:cs typeface="微软雅黑" panose="020B0503020204020204" charset="-122"/>
              </a:rPr>
              <a:t>计算</a:t>
            </a:r>
            <a:r>
              <a:rPr lang="en-US" altLang="zh-CN" sz="800">
                <a:solidFill>
                  <a:schemeClr val="tx2"/>
                </a:solidFill>
                <a:latin typeface="微软雅黑" panose="020B0503020204020204" charset="-122"/>
                <a:ea typeface="微软雅黑" panose="020B0503020204020204" charset="-122"/>
                <a:cs typeface="微软雅黑" panose="020B0503020204020204" charset="-122"/>
              </a:rPr>
              <a:t> | </a:t>
            </a:r>
            <a:r>
              <a:rPr lang="zh-CN" altLang="en-US" sz="800">
                <a:solidFill>
                  <a:schemeClr val="tx2"/>
                </a:solidFill>
                <a:latin typeface="微软雅黑" panose="020B0503020204020204" charset="-122"/>
                <a:ea typeface="微软雅黑" panose="020B0503020204020204" charset="-122"/>
                <a:cs typeface="微软雅黑" panose="020B0503020204020204" charset="-122"/>
              </a:rPr>
              <a:t>存储</a:t>
            </a:r>
            <a:r>
              <a:rPr lang="en-US" altLang="zh-CN" sz="800">
                <a:solidFill>
                  <a:schemeClr val="tx2"/>
                </a:solidFill>
                <a:latin typeface="微软雅黑" panose="020B0503020204020204" charset="-122"/>
                <a:ea typeface="微软雅黑" panose="020B0503020204020204" charset="-122"/>
                <a:cs typeface="微软雅黑" panose="020B0503020204020204" charset="-122"/>
              </a:rPr>
              <a:t> | </a:t>
            </a:r>
            <a:r>
              <a:rPr lang="zh-CN" altLang="en-US" sz="800">
                <a:solidFill>
                  <a:schemeClr val="tx2"/>
                </a:solidFill>
                <a:latin typeface="微软雅黑" panose="020B0503020204020204" charset="-122"/>
                <a:ea typeface="微软雅黑" panose="020B0503020204020204" charset="-122"/>
                <a:cs typeface="微软雅黑" panose="020B0503020204020204" charset="-122"/>
              </a:rPr>
              <a:t>网络</a:t>
            </a:r>
            <a:r>
              <a:rPr lang="en-US" altLang="zh-CN" sz="800">
                <a:solidFill>
                  <a:schemeClr val="tx2"/>
                </a:solidFill>
                <a:latin typeface="微软雅黑" panose="020B0503020204020204" charset="-122"/>
                <a:ea typeface="微软雅黑" panose="020B0503020204020204" charset="-122"/>
                <a:cs typeface="微软雅黑" panose="020B0503020204020204" charset="-122"/>
              </a:rPr>
              <a:t> | </a:t>
            </a:r>
            <a:r>
              <a:rPr lang="zh-CN" altLang="en-US" sz="800">
                <a:solidFill>
                  <a:schemeClr val="tx2"/>
                </a:solidFill>
                <a:latin typeface="微软雅黑" panose="020B0503020204020204" charset="-122"/>
                <a:ea typeface="微软雅黑" panose="020B0503020204020204" charset="-122"/>
                <a:cs typeface="微软雅黑" panose="020B0503020204020204" charset="-122"/>
              </a:rPr>
              <a:t>安全</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3" name="椭圆 112"/>
          <p:cNvSpPr/>
          <p:nvPr/>
        </p:nvSpPr>
        <p:spPr>
          <a:xfrm>
            <a:off x="5322888" y="3484880"/>
            <a:ext cx="1514475" cy="448310"/>
          </a:xfrm>
          <a:prstGeom prst="ellipse">
            <a:avLst/>
          </a:prstGeom>
          <a:gradFill>
            <a:gsLst>
              <a:gs pos="0">
                <a:schemeClr val="accent1">
                  <a:lumMod val="60000"/>
                  <a:lumOff val="40000"/>
                  <a:alpha val="0"/>
                </a:schemeClr>
              </a:gs>
              <a:gs pos="100000">
                <a:schemeClr val="accent1">
                  <a:lumMod val="60000"/>
                  <a:lumOff val="40000"/>
                  <a:alpha val="40000"/>
                </a:schemeClr>
              </a:gs>
            </a:gsLst>
            <a:lin ang="5400000" scaled="1"/>
          </a:gradFill>
          <a:ln>
            <a:noFill/>
          </a:ln>
          <a:scene3d>
            <a:camera prst="orthographicFront">
              <a:rot lat="3000000" lon="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grpSp>
        <p:nvGrpSpPr>
          <p:cNvPr id="7" name="组合 6"/>
          <p:cNvGrpSpPr/>
          <p:nvPr/>
        </p:nvGrpSpPr>
        <p:grpSpPr>
          <a:xfrm>
            <a:off x="4041775" y="3489960"/>
            <a:ext cx="4133850" cy="718820"/>
            <a:chOff x="6375" y="5488"/>
            <a:chExt cx="6510" cy="1132"/>
          </a:xfrm>
        </p:grpSpPr>
        <p:sp>
          <p:nvSpPr>
            <p:cNvPr id="14" name="文本框 13"/>
            <p:cNvSpPr txBox="1"/>
            <p:nvPr/>
          </p:nvSpPr>
          <p:spPr>
            <a:xfrm>
              <a:off x="7035" y="5488"/>
              <a:ext cx="1547" cy="386"/>
            </a:xfrm>
            <a:prstGeom prst="rect">
              <a:avLst/>
            </a:prstGeom>
            <a:noFill/>
          </p:spPr>
          <p:txBody>
            <a:bodyPr wrap="square" rtlCol="0">
              <a:spAutoFit/>
            </a:bodyPr>
            <a:p>
              <a:pPr algn="ctr"/>
              <a:r>
                <a:rPr lang="en-US" altLang="zh-CN" sz="1000">
                  <a:solidFill>
                    <a:schemeClr val="tx2"/>
                  </a:solidFill>
                  <a:latin typeface="微软雅黑" panose="020B0503020204020204" charset="-122"/>
                  <a:ea typeface="微软雅黑" panose="020B0503020204020204" charset="-122"/>
                  <a:cs typeface="微软雅黑" panose="020B0503020204020204" charset="-122"/>
                </a:rPr>
                <a:t>IOT</a:t>
              </a:r>
              <a:endParaRPr lang="en-US" altLang="zh-CN"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4" name="文本框 43"/>
            <p:cNvSpPr txBox="1"/>
            <p:nvPr/>
          </p:nvSpPr>
          <p:spPr>
            <a:xfrm>
              <a:off x="6375" y="5756"/>
              <a:ext cx="851" cy="386"/>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视频</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5" name="文本框 44"/>
            <p:cNvSpPr txBox="1"/>
            <p:nvPr/>
          </p:nvSpPr>
          <p:spPr>
            <a:xfrm>
              <a:off x="6866" y="6077"/>
              <a:ext cx="1182" cy="386"/>
            </a:xfrm>
            <a:prstGeom prst="rect">
              <a:avLst/>
            </a:prstGeom>
            <a:noFill/>
          </p:spPr>
          <p:txBody>
            <a:bodyPr wrap="square" rtlCol="0">
              <a:spAutoFit/>
            </a:bodyPr>
            <a:p>
              <a:pPr algn="ctr"/>
              <a:r>
                <a:rPr lang="en-US" altLang="zh-CN" sz="1000">
                  <a:solidFill>
                    <a:schemeClr val="tx2"/>
                  </a:solidFill>
                  <a:latin typeface="微软雅黑" panose="020B0503020204020204" charset="-122"/>
                  <a:ea typeface="微软雅黑" panose="020B0503020204020204" charset="-122"/>
                  <a:cs typeface="微软雅黑" panose="020B0503020204020204" charset="-122"/>
                </a:rPr>
                <a:t>GIS</a:t>
              </a:r>
              <a:endParaRPr lang="en-US" altLang="zh-CN"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6" name="文本框 45"/>
            <p:cNvSpPr txBox="1"/>
            <p:nvPr/>
          </p:nvSpPr>
          <p:spPr>
            <a:xfrm>
              <a:off x="10971" y="5488"/>
              <a:ext cx="1547" cy="386"/>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区块链</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7" name="文本框 46"/>
            <p:cNvSpPr txBox="1"/>
            <p:nvPr/>
          </p:nvSpPr>
          <p:spPr>
            <a:xfrm>
              <a:off x="11721" y="5874"/>
              <a:ext cx="1164" cy="386"/>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融合指挥</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8" name="文本框 47"/>
            <p:cNvSpPr txBox="1"/>
            <p:nvPr/>
          </p:nvSpPr>
          <p:spPr>
            <a:xfrm>
              <a:off x="10518" y="6136"/>
              <a:ext cx="1109" cy="386"/>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数据使能</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9" name="文本框 48"/>
            <p:cNvSpPr txBox="1"/>
            <p:nvPr/>
          </p:nvSpPr>
          <p:spPr>
            <a:xfrm>
              <a:off x="9053" y="6234"/>
              <a:ext cx="1277" cy="386"/>
            </a:xfrm>
            <a:prstGeom prst="rect">
              <a:avLst/>
            </a:prstGeom>
            <a:noFill/>
          </p:spPr>
          <p:txBody>
            <a:bodyPr wrap="square" rtlCol="0">
              <a:spAutoFit/>
            </a:bodyPr>
            <a:p>
              <a:pPr algn="ctr"/>
              <a:r>
                <a:rPr lang="en-US" altLang="zh-CN" sz="1000">
                  <a:solidFill>
                    <a:schemeClr val="tx2"/>
                  </a:solidFill>
                  <a:latin typeface="微软雅黑" panose="020B0503020204020204" charset="-122"/>
                  <a:ea typeface="微软雅黑" panose="020B0503020204020204" charset="-122"/>
                  <a:cs typeface="微软雅黑" panose="020B0503020204020204" charset="-122"/>
                </a:rPr>
                <a:t>AI</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使能</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0" name="文本框 49"/>
            <p:cNvSpPr txBox="1"/>
            <p:nvPr/>
          </p:nvSpPr>
          <p:spPr>
            <a:xfrm>
              <a:off x="7880" y="6186"/>
              <a:ext cx="1295" cy="386"/>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业务使能</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54" name="文本框 53"/>
          <p:cNvSpPr txBox="1"/>
          <p:nvPr/>
        </p:nvSpPr>
        <p:spPr>
          <a:xfrm>
            <a:off x="5393690" y="3586480"/>
            <a:ext cx="709930" cy="245110"/>
          </a:xfrm>
          <a:prstGeom prst="rect">
            <a:avLst/>
          </a:prstGeom>
          <a:noFill/>
        </p:spPr>
        <p:txBody>
          <a:bodyPr wrap="square" rtlCol="0">
            <a:spAutoFit/>
          </a:bodyPr>
          <a:p>
            <a:pPr algn="ct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联接枢纽</a:t>
            </a:r>
            <a:endParaRPr lang="zh-CN" altLang="en-US" sz="10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5" name="文本框 54"/>
          <p:cNvSpPr txBox="1"/>
          <p:nvPr/>
        </p:nvSpPr>
        <p:spPr>
          <a:xfrm>
            <a:off x="5977890" y="3572510"/>
            <a:ext cx="982345" cy="245110"/>
          </a:xfrm>
          <a:prstGeom prst="rect">
            <a:avLst/>
          </a:prstGeom>
          <a:noFill/>
        </p:spPr>
        <p:txBody>
          <a:bodyPr wrap="square" rtlCol="0">
            <a:spAutoFit/>
          </a:bodyPr>
          <a:p>
            <a:pPr algn="ct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运营枢纽</a:t>
            </a:r>
            <a:endParaRPr lang="zh-CN" altLang="en-US" sz="1000" b="1">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3" name="组合 2"/>
          <p:cNvGrpSpPr/>
          <p:nvPr/>
        </p:nvGrpSpPr>
        <p:grpSpPr>
          <a:xfrm>
            <a:off x="8738235" y="348615"/>
            <a:ext cx="3219450" cy="332740"/>
            <a:chOff x="13761" y="549"/>
            <a:chExt cx="5070" cy="524"/>
          </a:xfrm>
        </p:grpSpPr>
        <p:pic>
          <p:nvPicPr>
            <p:cNvPr id="51" name="图片 50"/>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52" name="文本框 51"/>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0" name="图片 20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 name="标题 2"/>
          <p:cNvSpPr>
            <a:spLocks noGrp="1"/>
          </p:cNvSpPr>
          <p:nvPr/>
        </p:nvSpPr>
        <p:spPr>
          <a:xfrm>
            <a:off x="1105535" y="348298"/>
            <a:ext cx="7352665"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多层平台架构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多端数据应用平台架构</a:t>
            </a:r>
            <a:endPar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nvGrpSpPr>
          <p:cNvPr id="3" name="组合 2"/>
          <p:cNvGrpSpPr/>
          <p:nvPr/>
        </p:nvGrpSpPr>
        <p:grpSpPr>
          <a:xfrm>
            <a:off x="8738235" y="348615"/>
            <a:ext cx="3219450" cy="332740"/>
            <a:chOff x="13761" y="549"/>
            <a:chExt cx="5070" cy="524"/>
          </a:xfrm>
        </p:grpSpPr>
        <p:pic>
          <p:nvPicPr>
            <p:cNvPr id="6" name="图片 5"/>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2" name="文本框 11"/>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
        <p:nvSpPr>
          <p:cNvPr id="7" name="矩形 6"/>
          <p:cNvSpPr/>
          <p:nvPr/>
        </p:nvSpPr>
        <p:spPr>
          <a:xfrm>
            <a:off x="7890510" y="1116330"/>
            <a:ext cx="1447800" cy="4892040"/>
          </a:xfrm>
          <a:prstGeom prst="rect">
            <a:avLst/>
          </a:prstGeom>
          <a:solidFill>
            <a:schemeClr val="accent5">
              <a:lumMod val="20000"/>
              <a:lumOff val="80000"/>
              <a:alpha val="38000"/>
            </a:schemeClr>
          </a:solidFill>
          <a:ln>
            <a:gradFill>
              <a:gsLst>
                <a:gs pos="78000">
                  <a:schemeClr val="accent5">
                    <a:lumMod val="40000"/>
                    <a:lumOff val="60000"/>
                    <a:alpha val="0"/>
                  </a:schemeClr>
                </a:gs>
                <a:gs pos="25000">
                  <a:schemeClr val="accent5">
                    <a:lumMod val="40000"/>
                    <a:lumOff val="6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8" name="圆柱形 7"/>
          <p:cNvSpPr/>
          <p:nvPr/>
        </p:nvSpPr>
        <p:spPr>
          <a:xfrm>
            <a:off x="7890510" y="5932170"/>
            <a:ext cx="1447800" cy="640080"/>
          </a:xfrm>
          <a:prstGeom prst="can">
            <a:avLst/>
          </a:prstGeom>
          <a:solidFill>
            <a:schemeClr val="accent5">
              <a:lumMod val="60000"/>
              <a:lumOff val="40000"/>
            </a:schemeClr>
          </a:solidFill>
          <a:ln>
            <a:solidFill>
              <a:schemeClr val="accent5">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9" name="圆角矩形 8"/>
          <p:cNvSpPr/>
          <p:nvPr/>
        </p:nvSpPr>
        <p:spPr>
          <a:xfrm>
            <a:off x="8100060" y="1672590"/>
            <a:ext cx="1028700" cy="388620"/>
          </a:xfrm>
          <a:prstGeom prst="roundRect">
            <a:avLst>
              <a:gd name="adj" fmla="val 50000"/>
            </a:avLst>
          </a:prstGeom>
          <a:solidFill>
            <a:schemeClr val="accent5">
              <a:lumMod val="20000"/>
              <a:lumOff val="8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0" name="圆角矩形 9"/>
          <p:cNvSpPr/>
          <p:nvPr/>
        </p:nvSpPr>
        <p:spPr>
          <a:xfrm>
            <a:off x="8100060" y="2261235"/>
            <a:ext cx="1028700" cy="388620"/>
          </a:xfrm>
          <a:prstGeom prst="roundRect">
            <a:avLst>
              <a:gd name="adj" fmla="val 50000"/>
            </a:avLst>
          </a:prstGeom>
          <a:solidFill>
            <a:schemeClr val="accent5">
              <a:lumMod val="20000"/>
              <a:lumOff val="8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1" name="圆角矩形 10"/>
          <p:cNvSpPr/>
          <p:nvPr/>
        </p:nvSpPr>
        <p:spPr>
          <a:xfrm>
            <a:off x="8100060" y="2849880"/>
            <a:ext cx="1028700" cy="388620"/>
          </a:xfrm>
          <a:prstGeom prst="roundRect">
            <a:avLst>
              <a:gd name="adj" fmla="val 50000"/>
            </a:avLst>
          </a:prstGeom>
          <a:solidFill>
            <a:schemeClr val="accent5">
              <a:lumMod val="20000"/>
              <a:lumOff val="8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3" name="圆角矩形 12"/>
          <p:cNvSpPr/>
          <p:nvPr/>
        </p:nvSpPr>
        <p:spPr>
          <a:xfrm>
            <a:off x="8100060" y="3438525"/>
            <a:ext cx="1028700" cy="388620"/>
          </a:xfrm>
          <a:prstGeom prst="roundRect">
            <a:avLst>
              <a:gd name="adj" fmla="val 50000"/>
            </a:avLst>
          </a:prstGeom>
          <a:solidFill>
            <a:schemeClr val="accent5">
              <a:lumMod val="20000"/>
              <a:lumOff val="8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4" name="圆角矩形 13"/>
          <p:cNvSpPr/>
          <p:nvPr/>
        </p:nvSpPr>
        <p:spPr>
          <a:xfrm>
            <a:off x="8100060" y="4027170"/>
            <a:ext cx="1028700" cy="388620"/>
          </a:xfrm>
          <a:prstGeom prst="roundRect">
            <a:avLst>
              <a:gd name="adj" fmla="val 50000"/>
            </a:avLst>
          </a:prstGeom>
          <a:solidFill>
            <a:schemeClr val="accent5">
              <a:lumMod val="20000"/>
              <a:lumOff val="8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5" name="圆角矩形 14"/>
          <p:cNvSpPr/>
          <p:nvPr/>
        </p:nvSpPr>
        <p:spPr>
          <a:xfrm>
            <a:off x="8100060" y="4615815"/>
            <a:ext cx="1028700" cy="388620"/>
          </a:xfrm>
          <a:prstGeom prst="roundRect">
            <a:avLst>
              <a:gd name="adj" fmla="val 50000"/>
            </a:avLst>
          </a:prstGeom>
          <a:solidFill>
            <a:schemeClr val="accent5">
              <a:lumMod val="20000"/>
              <a:lumOff val="8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 name="圆角矩形 15"/>
          <p:cNvSpPr/>
          <p:nvPr/>
        </p:nvSpPr>
        <p:spPr>
          <a:xfrm>
            <a:off x="8100060" y="5204460"/>
            <a:ext cx="1028700" cy="388620"/>
          </a:xfrm>
          <a:prstGeom prst="roundRect">
            <a:avLst>
              <a:gd name="adj" fmla="val 50000"/>
            </a:avLst>
          </a:prstGeom>
          <a:solidFill>
            <a:schemeClr val="accent5">
              <a:lumMod val="20000"/>
              <a:lumOff val="8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9" name="矩形 18"/>
          <p:cNvSpPr/>
          <p:nvPr/>
        </p:nvSpPr>
        <p:spPr>
          <a:xfrm>
            <a:off x="9492615" y="1116330"/>
            <a:ext cx="2263140" cy="610235"/>
          </a:xfrm>
          <a:prstGeom prst="rect">
            <a:avLst/>
          </a:prstGeom>
          <a:solidFill>
            <a:schemeClr val="accent5">
              <a:lumMod val="20000"/>
              <a:lumOff val="80000"/>
              <a:alpha val="38000"/>
            </a:schemeClr>
          </a:solidFill>
          <a:ln>
            <a:solidFill>
              <a:schemeClr val="accent5">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2" name="矩形 21"/>
          <p:cNvSpPr/>
          <p:nvPr/>
        </p:nvSpPr>
        <p:spPr>
          <a:xfrm>
            <a:off x="9492615" y="1864360"/>
            <a:ext cx="2263140" cy="610235"/>
          </a:xfrm>
          <a:prstGeom prst="rect">
            <a:avLst/>
          </a:prstGeom>
          <a:solidFill>
            <a:schemeClr val="accent5">
              <a:lumMod val="20000"/>
              <a:lumOff val="80000"/>
              <a:alpha val="38000"/>
            </a:schemeClr>
          </a:solidFill>
          <a:ln>
            <a:solidFill>
              <a:schemeClr val="accent5">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3" name="矩形 22"/>
          <p:cNvSpPr/>
          <p:nvPr/>
        </p:nvSpPr>
        <p:spPr>
          <a:xfrm>
            <a:off x="9492615" y="2612390"/>
            <a:ext cx="2263140" cy="610235"/>
          </a:xfrm>
          <a:prstGeom prst="rect">
            <a:avLst/>
          </a:prstGeom>
          <a:solidFill>
            <a:schemeClr val="accent5">
              <a:lumMod val="20000"/>
              <a:lumOff val="80000"/>
              <a:alpha val="38000"/>
            </a:schemeClr>
          </a:solidFill>
          <a:ln>
            <a:solidFill>
              <a:schemeClr val="accent5">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4" name="矩形 23"/>
          <p:cNvSpPr/>
          <p:nvPr/>
        </p:nvSpPr>
        <p:spPr>
          <a:xfrm>
            <a:off x="9492615" y="3360420"/>
            <a:ext cx="2263140" cy="1517015"/>
          </a:xfrm>
          <a:prstGeom prst="rect">
            <a:avLst/>
          </a:prstGeom>
          <a:solidFill>
            <a:schemeClr val="accent5">
              <a:lumMod val="20000"/>
              <a:lumOff val="80000"/>
              <a:alpha val="38000"/>
            </a:schemeClr>
          </a:solidFill>
          <a:ln>
            <a:solidFill>
              <a:schemeClr val="accent5">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5" name="矩形 24"/>
          <p:cNvSpPr/>
          <p:nvPr/>
        </p:nvSpPr>
        <p:spPr>
          <a:xfrm>
            <a:off x="9492615" y="5015230"/>
            <a:ext cx="2263140" cy="1517015"/>
          </a:xfrm>
          <a:prstGeom prst="rect">
            <a:avLst/>
          </a:prstGeom>
          <a:solidFill>
            <a:schemeClr val="accent5">
              <a:lumMod val="20000"/>
              <a:lumOff val="80000"/>
              <a:alpha val="38000"/>
            </a:schemeClr>
          </a:solidFill>
          <a:ln>
            <a:solidFill>
              <a:schemeClr val="accent5">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64" name="组合 63"/>
          <p:cNvGrpSpPr/>
          <p:nvPr/>
        </p:nvGrpSpPr>
        <p:grpSpPr>
          <a:xfrm>
            <a:off x="2386965" y="5932170"/>
            <a:ext cx="5207000" cy="600075"/>
            <a:chOff x="2882901" y="1515850"/>
            <a:chExt cx="5966353" cy="599944"/>
          </a:xfrm>
        </p:grpSpPr>
        <p:sp>
          <p:nvSpPr>
            <p:cNvPr id="72" name="圆角矩形 359"/>
            <p:cNvSpPr/>
            <p:nvPr/>
          </p:nvSpPr>
          <p:spPr bwMode="auto">
            <a:xfrm>
              <a:off x="2882901" y="1773604"/>
              <a:ext cx="5966353" cy="342190"/>
            </a:xfrm>
            <a:prstGeom prst="roundRect">
              <a:avLst>
                <a:gd name="adj" fmla="val 0"/>
              </a:avLst>
            </a:prstGeom>
            <a:solidFill>
              <a:schemeClr val="accent1">
                <a:lumMod val="20000"/>
                <a:lumOff val="80000"/>
                <a:alpha val="39000"/>
              </a:schemeClr>
            </a:solidFill>
            <a:ln>
              <a:solidFill>
                <a:schemeClr val="accent1">
                  <a:lumMod val="40000"/>
                  <a:lumOff val="6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noProof="1">
                <a:latin typeface="微软雅黑" panose="020B0503020204020204" charset="-122"/>
                <a:ea typeface="微软雅黑" panose="020B0503020204020204" charset="-122"/>
                <a:cs typeface="微软雅黑" panose="020B0503020204020204" charset="-122"/>
              </a:endParaRPr>
            </a:p>
          </p:txBody>
        </p:sp>
        <p:sp>
          <p:nvSpPr>
            <p:cNvPr id="73" name="梯形 72"/>
            <p:cNvSpPr/>
            <p:nvPr/>
          </p:nvSpPr>
          <p:spPr>
            <a:xfrm>
              <a:off x="2882901" y="1515850"/>
              <a:ext cx="5966353" cy="257754"/>
            </a:xfrm>
            <a:prstGeom prst="trapezoid">
              <a:avLst>
                <a:gd name="adj" fmla="val 158867"/>
              </a:avLst>
            </a:prstGeom>
            <a:gradFill flip="none" rotWithShape="1">
              <a:gsLst>
                <a:gs pos="48000">
                  <a:schemeClr val="accent1">
                    <a:lumMod val="20000"/>
                    <a:lumOff val="80000"/>
                    <a:alpha val="0"/>
                  </a:schemeClr>
                </a:gs>
                <a:gs pos="100000">
                  <a:schemeClr val="accent1">
                    <a:lumMod val="20000"/>
                    <a:lumOff val="80000"/>
                  </a:schemeClr>
                </a:gs>
              </a:gsLst>
              <a:lin ang="5400000" scaled="1"/>
              <a:tileRect/>
            </a:gradFill>
            <a:ln w="9525" cap="rnd">
              <a:gradFill>
                <a:gsLst>
                  <a:gs pos="0">
                    <a:schemeClr val="accent2">
                      <a:lumMod val="20000"/>
                      <a:lumOff val="80000"/>
                      <a:alpha val="0"/>
                    </a:schemeClr>
                  </a:gs>
                  <a:gs pos="100000">
                    <a:schemeClr val="accent1">
                      <a:lumMod val="60000"/>
                      <a:lumOff val="40000"/>
                    </a:schemeClr>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94" name="矩形 93"/>
          <p:cNvSpPr/>
          <p:nvPr/>
        </p:nvSpPr>
        <p:spPr>
          <a:xfrm>
            <a:off x="2402205" y="3006725"/>
            <a:ext cx="3601085" cy="2002790"/>
          </a:xfrm>
          <a:prstGeom prst="rect">
            <a:avLst/>
          </a:prstGeom>
          <a:solidFill>
            <a:schemeClr val="accent1">
              <a:lumMod val="20000"/>
              <a:lumOff val="80000"/>
              <a:alpha val="38000"/>
            </a:schemeClr>
          </a:solidFill>
          <a:ln>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96" name="矩形 95"/>
          <p:cNvSpPr/>
          <p:nvPr/>
        </p:nvSpPr>
        <p:spPr>
          <a:xfrm>
            <a:off x="6089650" y="2995295"/>
            <a:ext cx="1504950" cy="2642870"/>
          </a:xfrm>
          <a:prstGeom prst="rect">
            <a:avLst/>
          </a:prstGeom>
          <a:solidFill>
            <a:schemeClr val="accent1">
              <a:lumMod val="20000"/>
              <a:lumOff val="80000"/>
              <a:alpha val="38000"/>
            </a:schemeClr>
          </a:solidFill>
          <a:ln>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97" name="矩形 96"/>
          <p:cNvSpPr/>
          <p:nvPr/>
        </p:nvSpPr>
        <p:spPr>
          <a:xfrm>
            <a:off x="2402205" y="5068570"/>
            <a:ext cx="3601085" cy="570230"/>
          </a:xfrm>
          <a:prstGeom prst="rect">
            <a:avLst/>
          </a:prstGeom>
          <a:solidFill>
            <a:schemeClr val="accent1">
              <a:lumMod val="20000"/>
              <a:lumOff val="80000"/>
              <a:alpha val="38000"/>
            </a:schemeClr>
          </a:solidFill>
          <a:ln>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grpSp>
        <p:nvGrpSpPr>
          <p:cNvPr id="98" name="组合 97"/>
          <p:cNvGrpSpPr/>
          <p:nvPr/>
        </p:nvGrpSpPr>
        <p:grpSpPr>
          <a:xfrm>
            <a:off x="2402205" y="2339975"/>
            <a:ext cx="5207000" cy="509905"/>
            <a:chOff x="2882901" y="1515850"/>
            <a:chExt cx="5966353" cy="509794"/>
          </a:xfrm>
        </p:grpSpPr>
        <p:sp>
          <p:nvSpPr>
            <p:cNvPr id="99" name="圆角矩形 359"/>
            <p:cNvSpPr/>
            <p:nvPr/>
          </p:nvSpPr>
          <p:spPr bwMode="auto">
            <a:xfrm>
              <a:off x="2882901" y="1773604"/>
              <a:ext cx="5966353" cy="252040"/>
            </a:xfrm>
            <a:prstGeom prst="roundRect">
              <a:avLst>
                <a:gd name="adj" fmla="val 0"/>
              </a:avLst>
            </a:prstGeom>
            <a:solidFill>
              <a:schemeClr val="accent1">
                <a:lumMod val="20000"/>
                <a:lumOff val="80000"/>
                <a:alpha val="39000"/>
              </a:schemeClr>
            </a:solidFill>
            <a:ln>
              <a:solidFill>
                <a:schemeClr val="accent1">
                  <a:lumMod val="40000"/>
                  <a:lumOff val="6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noProof="1">
                <a:latin typeface="微软雅黑" panose="020B0503020204020204" charset="-122"/>
                <a:ea typeface="微软雅黑" panose="020B0503020204020204" charset="-122"/>
                <a:cs typeface="微软雅黑" panose="020B0503020204020204" charset="-122"/>
              </a:endParaRPr>
            </a:p>
          </p:txBody>
        </p:sp>
        <p:sp>
          <p:nvSpPr>
            <p:cNvPr id="101" name="梯形 100"/>
            <p:cNvSpPr/>
            <p:nvPr/>
          </p:nvSpPr>
          <p:spPr>
            <a:xfrm>
              <a:off x="2882901" y="1515850"/>
              <a:ext cx="5966353" cy="257754"/>
            </a:xfrm>
            <a:prstGeom prst="trapezoid">
              <a:avLst>
                <a:gd name="adj" fmla="val 158867"/>
              </a:avLst>
            </a:prstGeom>
            <a:gradFill flip="none" rotWithShape="1">
              <a:gsLst>
                <a:gs pos="48000">
                  <a:schemeClr val="accent1">
                    <a:lumMod val="20000"/>
                    <a:lumOff val="80000"/>
                    <a:alpha val="0"/>
                  </a:schemeClr>
                </a:gs>
                <a:gs pos="100000">
                  <a:schemeClr val="accent1">
                    <a:lumMod val="20000"/>
                    <a:lumOff val="80000"/>
                  </a:schemeClr>
                </a:gs>
              </a:gsLst>
              <a:lin ang="5400000" scaled="1"/>
              <a:tileRect/>
            </a:gradFill>
            <a:ln w="9525" cap="rnd">
              <a:gradFill>
                <a:gsLst>
                  <a:gs pos="0">
                    <a:schemeClr val="accent1">
                      <a:lumMod val="20000"/>
                      <a:lumOff val="80000"/>
                      <a:alpha val="0"/>
                    </a:schemeClr>
                  </a:gs>
                  <a:gs pos="100000">
                    <a:schemeClr val="accent1">
                      <a:lumMod val="60000"/>
                      <a:lumOff val="40000"/>
                    </a:schemeClr>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110" name="圆角矩形 359"/>
          <p:cNvSpPr/>
          <p:nvPr/>
        </p:nvSpPr>
        <p:spPr bwMode="auto">
          <a:xfrm>
            <a:off x="2402205" y="1519555"/>
            <a:ext cx="5207000" cy="252095"/>
          </a:xfrm>
          <a:prstGeom prst="roundRect">
            <a:avLst>
              <a:gd name="adj" fmla="val 0"/>
            </a:avLst>
          </a:prstGeom>
          <a:solidFill>
            <a:schemeClr val="accent1">
              <a:lumMod val="20000"/>
              <a:lumOff val="80000"/>
              <a:alpha val="39000"/>
            </a:schemeClr>
          </a:solidFill>
          <a:ln>
            <a:solidFill>
              <a:schemeClr val="accent1">
                <a:lumMod val="40000"/>
                <a:lumOff val="6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11" name="梯形 110"/>
          <p:cNvSpPr/>
          <p:nvPr/>
        </p:nvSpPr>
        <p:spPr bwMode="auto">
          <a:xfrm>
            <a:off x="2402205" y="1261745"/>
            <a:ext cx="5207000" cy="257810"/>
          </a:xfrm>
          <a:prstGeom prst="trapezoid">
            <a:avLst>
              <a:gd name="adj" fmla="val 158867"/>
            </a:avLst>
          </a:prstGeom>
          <a:solidFill>
            <a:schemeClr val="accent1">
              <a:lumMod val="20000"/>
              <a:lumOff val="80000"/>
              <a:alpha val="39000"/>
            </a:schemeClr>
          </a:solidFill>
          <a:ln>
            <a:solidFill>
              <a:schemeClr val="accent1">
                <a:lumMod val="40000"/>
                <a:lumOff val="6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80" name="紫荆的职场Point22"/>
          <p:cNvSpPr txBox="1"/>
          <p:nvPr/>
        </p:nvSpPr>
        <p:spPr>
          <a:xfrm>
            <a:off x="8065771" y="1235885"/>
            <a:ext cx="1097280" cy="275590"/>
          </a:xfrm>
          <a:prstGeom prst="rect">
            <a:avLst/>
          </a:prstGeom>
          <a:noFill/>
        </p:spPr>
        <p:txBody>
          <a:bodyPr wrap="none">
            <a:spAutoFit/>
          </a:bodyPr>
          <a:lstStyle/>
          <a:p>
            <a:pPr algn="ct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rPr>
              <a:t>系统运维管控</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5" name="紫荆的职场Point22"/>
          <p:cNvSpPr txBox="1"/>
          <p:nvPr/>
        </p:nvSpPr>
        <p:spPr>
          <a:xfrm>
            <a:off x="8141970" y="1733725"/>
            <a:ext cx="944880" cy="245110"/>
          </a:xfrm>
          <a:prstGeom prst="rect">
            <a:avLst/>
          </a:prstGeom>
          <a:noFill/>
        </p:spPr>
        <p:txBody>
          <a:bodyPr wrap="none">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数据开放管理</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 name="紫荆的职场Point22"/>
          <p:cNvSpPr txBox="1"/>
          <p:nvPr/>
        </p:nvSpPr>
        <p:spPr>
          <a:xfrm>
            <a:off x="8205470" y="2333165"/>
            <a:ext cx="817880" cy="245110"/>
          </a:xfrm>
          <a:prstGeom prst="rect">
            <a:avLst/>
          </a:prstGeom>
          <a:noFill/>
        </p:spPr>
        <p:txBody>
          <a:bodyPr wrap="none">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多用户管理</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 name="紫荆的职场Point22"/>
          <p:cNvSpPr txBox="1"/>
          <p:nvPr/>
        </p:nvSpPr>
        <p:spPr>
          <a:xfrm>
            <a:off x="8293735" y="2921635"/>
            <a:ext cx="641350" cy="245110"/>
          </a:xfrm>
          <a:prstGeom prst="rect">
            <a:avLst/>
          </a:prstGeom>
          <a:noFill/>
        </p:spPr>
        <p:txBody>
          <a:bodyPr wrap="none">
            <a:spAutoFit/>
          </a:bodyPr>
          <a:lstStyle/>
          <a:p>
            <a:pPr algn="ct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API</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管理</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0" name="紫荆的职场Point22"/>
          <p:cNvSpPr txBox="1"/>
          <p:nvPr/>
        </p:nvSpPr>
        <p:spPr>
          <a:xfrm>
            <a:off x="8268970" y="3510280"/>
            <a:ext cx="690880" cy="245110"/>
          </a:xfrm>
          <a:prstGeom prst="rect">
            <a:avLst/>
          </a:prstGeom>
          <a:noFill/>
        </p:spPr>
        <p:txBody>
          <a:bodyPr wrap="none">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数据管理</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1" name="紫荆的职场Point22"/>
          <p:cNvSpPr txBox="1"/>
          <p:nvPr/>
        </p:nvSpPr>
        <p:spPr>
          <a:xfrm>
            <a:off x="8268970" y="4098925"/>
            <a:ext cx="690880" cy="245110"/>
          </a:xfrm>
          <a:prstGeom prst="rect">
            <a:avLst/>
          </a:prstGeom>
          <a:noFill/>
        </p:spPr>
        <p:txBody>
          <a:bodyPr wrap="none">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任务管理</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6" name="紫荆的职场Point22"/>
          <p:cNvSpPr txBox="1"/>
          <p:nvPr/>
        </p:nvSpPr>
        <p:spPr>
          <a:xfrm>
            <a:off x="8268970" y="4687570"/>
            <a:ext cx="690880" cy="245110"/>
          </a:xfrm>
          <a:prstGeom prst="rect">
            <a:avLst/>
          </a:prstGeom>
          <a:noFill/>
        </p:spPr>
        <p:txBody>
          <a:bodyPr wrap="none">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安全管理</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7" name="紫荆的职场Point22"/>
          <p:cNvSpPr txBox="1"/>
          <p:nvPr/>
        </p:nvSpPr>
        <p:spPr>
          <a:xfrm>
            <a:off x="8141970" y="5276215"/>
            <a:ext cx="944880" cy="245110"/>
          </a:xfrm>
          <a:prstGeom prst="rect">
            <a:avLst/>
          </a:prstGeom>
          <a:noFill/>
        </p:spPr>
        <p:txBody>
          <a:bodyPr wrap="none">
            <a:spAutoFit/>
          </a:bodyPr>
          <a:lstStyle/>
          <a:p>
            <a:pPr algn="ct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系统运维管理</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8" name="紫荆的职场Point22"/>
          <p:cNvSpPr txBox="1"/>
          <p:nvPr/>
        </p:nvSpPr>
        <p:spPr>
          <a:xfrm>
            <a:off x="9610725" y="5108575"/>
            <a:ext cx="690880" cy="245110"/>
          </a:xfrm>
          <a:prstGeom prst="rect">
            <a:avLst/>
          </a:prstGeom>
          <a:noFill/>
        </p:spPr>
        <p:txBody>
          <a:bodyPr wrap="none">
            <a:spAutoFit/>
          </a:bodyPr>
          <a:lstStyle/>
          <a:p>
            <a:pPr algn="l"/>
            <a:r>
              <a:rPr lang="zh-CN" altLang="en-US" sz="1000" b="1" dirty="0">
                <a:solidFill>
                  <a:schemeClr val="tx2"/>
                </a:solidFill>
                <a:latin typeface="微软雅黑" panose="020B0503020204020204" charset="-122"/>
                <a:ea typeface="微软雅黑" panose="020B0503020204020204" charset="-122"/>
                <a:cs typeface="微软雅黑" panose="020B0503020204020204" charset="-122"/>
              </a:rPr>
              <a:t>多端应用</a:t>
            </a:r>
            <a:endParaRPr lang="zh-CN" altLang="en-US" sz="10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9" name="紫荆的职场Point22"/>
          <p:cNvSpPr txBox="1"/>
          <p:nvPr/>
        </p:nvSpPr>
        <p:spPr>
          <a:xfrm>
            <a:off x="9613265" y="5353685"/>
            <a:ext cx="2047240" cy="337185"/>
          </a:xfrm>
          <a:prstGeom prst="rect">
            <a:avLst/>
          </a:prstGeom>
          <a:noFill/>
        </p:spPr>
        <p:txBody>
          <a:bodyPr wrap="square">
            <a:spAutoFit/>
          </a:bodyPr>
          <a:lstStyle/>
          <a:p>
            <a:pPr algn="l"/>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满足不同场景，不同角色对象，组织管理及业务管理的诉求。</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0" name="圆角矩形 29"/>
          <p:cNvSpPr/>
          <p:nvPr/>
        </p:nvSpPr>
        <p:spPr>
          <a:xfrm>
            <a:off x="9689465" y="5757863"/>
            <a:ext cx="805180" cy="180975"/>
          </a:xfrm>
          <a:prstGeom prst="roundRect">
            <a:avLst>
              <a:gd name="adj" fmla="val 50000"/>
            </a:avLst>
          </a:prstGeom>
          <a:solidFill>
            <a:schemeClr val="accent5">
              <a:lumMod val="20000"/>
              <a:lumOff val="8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1" name="圆角矩形 30"/>
          <p:cNvSpPr/>
          <p:nvPr/>
        </p:nvSpPr>
        <p:spPr>
          <a:xfrm>
            <a:off x="9689465" y="6012180"/>
            <a:ext cx="805180" cy="180975"/>
          </a:xfrm>
          <a:prstGeom prst="roundRect">
            <a:avLst>
              <a:gd name="adj" fmla="val 50000"/>
            </a:avLst>
          </a:prstGeom>
          <a:solidFill>
            <a:schemeClr val="accent5">
              <a:lumMod val="20000"/>
              <a:lumOff val="8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2" name="圆角矩形 31"/>
          <p:cNvSpPr/>
          <p:nvPr/>
        </p:nvSpPr>
        <p:spPr>
          <a:xfrm>
            <a:off x="9689465" y="6261100"/>
            <a:ext cx="805180" cy="180975"/>
          </a:xfrm>
          <a:prstGeom prst="roundRect">
            <a:avLst>
              <a:gd name="adj" fmla="val 50000"/>
            </a:avLst>
          </a:prstGeom>
          <a:solidFill>
            <a:schemeClr val="accent5">
              <a:lumMod val="20000"/>
              <a:lumOff val="8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3" name="圆角矩形 32"/>
          <p:cNvSpPr/>
          <p:nvPr/>
        </p:nvSpPr>
        <p:spPr>
          <a:xfrm>
            <a:off x="10690225" y="5757863"/>
            <a:ext cx="805180" cy="180975"/>
          </a:xfrm>
          <a:prstGeom prst="roundRect">
            <a:avLst>
              <a:gd name="adj" fmla="val 50000"/>
            </a:avLst>
          </a:prstGeom>
          <a:solidFill>
            <a:schemeClr val="accent5">
              <a:lumMod val="20000"/>
              <a:lumOff val="8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4" name="圆角矩形 33"/>
          <p:cNvSpPr/>
          <p:nvPr/>
        </p:nvSpPr>
        <p:spPr>
          <a:xfrm>
            <a:off x="10690225" y="6012180"/>
            <a:ext cx="805180" cy="180975"/>
          </a:xfrm>
          <a:prstGeom prst="roundRect">
            <a:avLst>
              <a:gd name="adj" fmla="val 50000"/>
            </a:avLst>
          </a:prstGeom>
          <a:solidFill>
            <a:schemeClr val="accent5">
              <a:lumMod val="20000"/>
              <a:lumOff val="8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5" name="圆角矩形 34"/>
          <p:cNvSpPr/>
          <p:nvPr/>
        </p:nvSpPr>
        <p:spPr>
          <a:xfrm>
            <a:off x="10690225" y="6261100"/>
            <a:ext cx="805180" cy="180975"/>
          </a:xfrm>
          <a:prstGeom prst="roundRect">
            <a:avLst>
              <a:gd name="adj" fmla="val 50000"/>
            </a:avLst>
          </a:prstGeom>
          <a:solidFill>
            <a:schemeClr val="accent5">
              <a:lumMod val="20000"/>
              <a:lumOff val="8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6" name="紫荆的职场Point22"/>
          <p:cNvSpPr txBox="1"/>
          <p:nvPr/>
        </p:nvSpPr>
        <p:spPr>
          <a:xfrm>
            <a:off x="9787255" y="5763578"/>
            <a:ext cx="609600" cy="169545"/>
          </a:xfrm>
          <a:prstGeom prst="rect">
            <a:avLst/>
          </a:prstGeom>
          <a:noFill/>
        </p:spPr>
        <p:txBody>
          <a:bodyPr wrap="square" anchor="ctr" anchorCtr="0">
            <a:noAutofit/>
          </a:bodyPr>
          <a:lstStyle/>
          <a:p>
            <a:pPr algn="l"/>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移动办公</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7" name="紫荆的职场Point22"/>
          <p:cNvSpPr txBox="1"/>
          <p:nvPr/>
        </p:nvSpPr>
        <p:spPr>
          <a:xfrm>
            <a:off x="9726295" y="6017895"/>
            <a:ext cx="726440" cy="169545"/>
          </a:xfrm>
          <a:prstGeom prst="rect">
            <a:avLst/>
          </a:prstGeom>
          <a:noFill/>
        </p:spPr>
        <p:txBody>
          <a:bodyPr wrap="square" anchor="ctr" anchorCtr="0">
            <a:no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能源驾驶舱</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8" name="紫荆的职场Point22"/>
          <p:cNvSpPr txBox="1"/>
          <p:nvPr/>
        </p:nvSpPr>
        <p:spPr>
          <a:xfrm>
            <a:off x="9726295" y="6266815"/>
            <a:ext cx="726440" cy="169545"/>
          </a:xfrm>
          <a:prstGeom prst="rect">
            <a:avLst/>
          </a:prstGeom>
          <a:noFill/>
        </p:spPr>
        <p:txBody>
          <a:bodyPr wrap="square" anchor="ctr" anchorCtr="0">
            <a:no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电商驾驶舱</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9" name="紫荆的职场Point22"/>
          <p:cNvSpPr txBox="1"/>
          <p:nvPr/>
        </p:nvSpPr>
        <p:spPr>
          <a:xfrm>
            <a:off x="10639425" y="5763895"/>
            <a:ext cx="941705" cy="169545"/>
          </a:xfrm>
          <a:prstGeom prst="rect">
            <a:avLst/>
          </a:prstGeom>
          <a:noFill/>
        </p:spPr>
        <p:txBody>
          <a:bodyPr wrap="square" anchor="ctr" anchorCtr="0">
            <a:no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企业管理驾驶舱</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0" name="紫荆的职场Point22"/>
          <p:cNvSpPr txBox="1"/>
          <p:nvPr/>
        </p:nvSpPr>
        <p:spPr>
          <a:xfrm>
            <a:off x="10633710" y="6017895"/>
            <a:ext cx="941705" cy="169545"/>
          </a:xfrm>
          <a:prstGeom prst="rect">
            <a:avLst/>
          </a:prstGeom>
          <a:noFill/>
        </p:spPr>
        <p:txBody>
          <a:bodyPr wrap="square" anchor="ctr" anchorCtr="0">
            <a:no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设备管理驾驶舱</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1" name="紫荆的职场Point22"/>
          <p:cNvSpPr txBox="1"/>
          <p:nvPr/>
        </p:nvSpPr>
        <p:spPr>
          <a:xfrm>
            <a:off x="10788015" y="6241415"/>
            <a:ext cx="609600" cy="169545"/>
          </a:xfrm>
          <a:prstGeom prst="rect">
            <a:avLst/>
          </a:prstGeom>
          <a:noFill/>
        </p:spPr>
        <p:txBody>
          <a:bodyPr wrap="square" anchor="ctr" anchorCtr="0">
            <a:noAutofit/>
          </a:bodyPr>
          <a:lstStyle/>
          <a:p>
            <a:pPr algn="ctr"/>
            <a:r>
              <a:rPr lang="en-US" altLang="zh-CN" sz="800" dirty="0">
                <a:solidFill>
                  <a:schemeClr val="tx2"/>
                </a:solidFill>
                <a:latin typeface="微软雅黑" panose="020B0503020204020204" charset="-122"/>
                <a:ea typeface="微软雅黑" panose="020B0503020204020204" charset="-122"/>
                <a:cs typeface="微软雅黑" panose="020B0503020204020204" charset="-122"/>
              </a:rPr>
              <a:t>……</a:t>
            </a:r>
            <a:endParaRPr lang="en-US" altLang="zh-CN"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2" name="紫荆的职场Point22"/>
          <p:cNvSpPr txBox="1"/>
          <p:nvPr/>
        </p:nvSpPr>
        <p:spPr>
          <a:xfrm>
            <a:off x="9610725" y="3452495"/>
            <a:ext cx="944880" cy="245110"/>
          </a:xfrm>
          <a:prstGeom prst="rect">
            <a:avLst/>
          </a:prstGeom>
          <a:noFill/>
        </p:spPr>
        <p:txBody>
          <a:bodyPr wrap="none">
            <a:spAutoFit/>
          </a:bodyPr>
          <a:lstStyle/>
          <a:p>
            <a:pPr algn="l"/>
            <a:r>
              <a:rPr lang="zh-CN" altLang="en-US" sz="1000" b="1" dirty="0">
                <a:solidFill>
                  <a:schemeClr val="tx2"/>
                </a:solidFill>
                <a:latin typeface="微软雅黑" panose="020B0503020204020204" charset="-122"/>
                <a:ea typeface="微软雅黑" panose="020B0503020204020204" charset="-122"/>
                <a:cs typeface="微软雅黑" panose="020B0503020204020204" charset="-122"/>
              </a:rPr>
              <a:t>业务管理看板</a:t>
            </a:r>
            <a:endParaRPr lang="zh-CN" altLang="en-US" sz="10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3" name="紫荆的职场Point22"/>
          <p:cNvSpPr txBox="1"/>
          <p:nvPr/>
        </p:nvSpPr>
        <p:spPr>
          <a:xfrm>
            <a:off x="9613265" y="3697605"/>
            <a:ext cx="2047240" cy="337185"/>
          </a:xfrm>
          <a:prstGeom prst="rect">
            <a:avLst/>
          </a:prstGeom>
          <a:noFill/>
        </p:spPr>
        <p:txBody>
          <a:bodyPr wrap="square">
            <a:spAutoFit/>
          </a:bodyPr>
          <a:lstStyle/>
          <a:p>
            <a:pPr algn="l"/>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解决历史线下查看数据的滞后性，对业务数据实时掌握</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4" name="圆角矩形 43"/>
          <p:cNvSpPr/>
          <p:nvPr/>
        </p:nvSpPr>
        <p:spPr>
          <a:xfrm>
            <a:off x="9689465" y="4101783"/>
            <a:ext cx="805180" cy="180975"/>
          </a:xfrm>
          <a:prstGeom prst="roundRect">
            <a:avLst>
              <a:gd name="adj" fmla="val 50000"/>
            </a:avLst>
          </a:prstGeom>
          <a:solidFill>
            <a:schemeClr val="accent5">
              <a:lumMod val="20000"/>
              <a:lumOff val="8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45" name="圆角矩形 44"/>
          <p:cNvSpPr/>
          <p:nvPr/>
        </p:nvSpPr>
        <p:spPr>
          <a:xfrm>
            <a:off x="9689465" y="4356100"/>
            <a:ext cx="805180" cy="180975"/>
          </a:xfrm>
          <a:prstGeom prst="roundRect">
            <a:avLst>
              <a:gd name="adj" fmla="val 50000"/>
            </a:avLst>
          </a:prstGeom>
          <a:solidFill>
            <a:schemeClr val="accent5">
              <a:lumMod val="20000"/>
              <a:lumOff val="8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46" name="圆角矩形 45"/>
          <p:cNvSpPr/>
          <p:nvPr/>
        </p:nvSpPr>
        <p:spPr>
          <a:xfrm>
            <a:off x="9689465" y="4605020"/>
            <a:ext cx="805180" cy="180975"/>
          </a:xfrm>
          <a:prstGeom prst="roundRect">
            <a:avLst>
              <a:gd name="adj" fmla="val 50000"/>
            </a:avLst>
          </a:prstGeom>
          <a:solidFill>
            <a:schemeClr val="accent5">
              <a:lumMod val="20000"/>
              <a:lumOff val="8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47" name="圆角矩形 46"/>
          <p:cNvSpPr/>
          <p:nvPr/>
        </p:nvSpPr>
        <p:spPr>
          <a:xfrm>
            <a:off x="10690225" y="4101783"/>
            <a:ext cx="805180" cy="180975"/>
          </a:xfrm>
          <a:prstGeom prst="roundRect">
            <a:avLst>
              <a:gd name="adj" fmla="val 50000"/>
            </a:avLst>
          </a:prstGeom>
          <a:solidFill>
            <a:schemeClr val="accent5">
              <a:lumMod val="20000"/>
              <a:lumOff val="8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48" name="圆角矩形 47"/>
          <p:cNvSpPr/>
          <p:nvPr/>
        </p:nvSpPr>
        <p:spPr>
          <a:xfrm>
            <a:off x="10690225" y="4356100"/>
            <a:ext cx="805180" cy="180975"/>
          </a:xfrm>
          <a:prstGeom prst="roundRect">
            <a:avLst>
              <a:gd name="adj" fmla="val 50000"/>
            </a:avLst>
          </a:prstGeom>
          <a:solidFill>
            <a:schemeClr val="accent5">
              <a:lumMod val="20000"/>
              <a:lumOff val="8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49" name="圆角矩形 48"/>
          <p:cNvSpPr/>
          <p:nvPr/>
        </p:nvSpPr>
        <p:spPr>
          <a:xfrm>
            <a:off x="10690225" y="4605020"/>
            <a:ext cx="805180" cy="180975"/>
          </a:xfrm>
          <a:prstGeom prst="roundRect">
            <a:avLst>
              <a:gd name="adj" fmla="val 50000"/>
            </a:avLst>
          </a:prstGeom>
          <a:solidFill>
            <a:schemeClr val="accent5">
              <a:lumMod val="20000"/>
              <a:lumOff val="8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50" name="紫荆的职场Point22"/>
          <p:cNvSpPr txBox="1"/>
          <p:nvPr/>
        </p:nvSpPr>
        <p:spPr>
          <a:xfrm>
            <a:off x="9787255" y="4107498"/>
            <a:ext cx="609600" cy="169545"/>
          </a:xfrm>
          <a:prstGeom prst="rect">
            <a:avLst/>
          </a:prstGeom>
          <a:noFill/>
        </p:spPr>
        <p:txBody>
          <a:bodyPr wrap="square" anchor="ctr" anchorCtr="0">
            <a:noAutofit/>
          </a:bodyPr>
          <a:lstStyle/>
          <a:p>
            <a:pPr algn="l"/>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计划管理</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1" name="紫荆的职场Point22"/>
          <p:cNvSpPr txBox="1"/>
          <p:nvPr/>
        </p:nvSpPr>
        <p:spPr>
          <a:xfrm>
            <a:off x="9726295" y="4361815"/>
            <a:ext cx="726440" cy="169545"/>
          </a:xfrm>
          <a:prstGeom prst="rect">
            <a:avLst/>
          </a:prstGeom>
          <a:noFill/>
        </p:spPr>
        <p:txBody>
          <a:bodyPr wrap="square" anchor="ctr" anchorCtr="0">
            <a:no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原料管理</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2" name="紫荆的职场Point22"/>
          <p:cNvSpPr txBox="1"/>
          <p:nvPr/>
        </p:nvSpPr>
        <p:spPr>
          <a:xfrm>
            <a:off x="9726295" y="4610735"/>
            <a:ext cx="726440" cy="169545"/>
          </a:xfrm>
          <a:prstGeom prst="rect">
            <a:avLst/>
          </a:prstGeom>
          <a:noFill/>
        </p:spPr>
        <p:txBody>
          <a:bodyPr wrap="square" anchor="ctr" anchorCtr="0">
            <a:no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质量管理</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3" name="紫荆的职场Point22"/>
          <p:cNvSpPr txBox="1"/>
          <p:nvPr/>
        </p:nvSpPr>
        <p:spPr>
          <a:xfrm>
            <a:off x="10639425" y="4107815"/>
            <a:ext cx="941705" cy="169545"/>
          </a:xfrm>
          <a:prstGeom prst="rect">
            <a:avLst/>
          </a:prstGeom>
          <a:noFill/>
        </p:spPr>
        <p:txBody>
          <a:bodyPr wrap="square" anchor="ctr" anchorCtr="0">
            <a:no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库存管理</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4" name="紫荆的职场Point22"/>
          <p:cNvSpPr txBox="1"/>
          <p:nvPr/>
        </p:nvSpPr>
        <p:spPr>
          <a:xfrm>
            <a:off x="10633710" y="4361815"/>
            <a:ext cx="941705" cy="169545"/>
          </a:xfrm>
          <a:prstGeom prst="rect">
            <a:avLst/>
          </a:prstGeom>
          <a:noFill/>
        </p:spPr>
        <p:txBody>
          <a:bodyPr wrap="square" anchor="ctr" anchorCtr="0">
            <a:no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生产日报</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5" name="紫荆的职场Point22"/>
          <p:cNvSpPr txBox="1"/>
          <p:nvPr/>
        </p:nvSpPr>
        <p:spPr>
          <a:xfrm>
            <a:off x="10788015" y="4585335"/>
            <a:ext cx="609600" cy="169545"/>
          </a:xfrm>
          <a:prstGeom prst="rect">
            <a:avLst/>
          </a:prstGeom>
          <a:noFill/>
        </p:spPr>
        <p:txBody>
          <a:bodyPr wrap="square" anchor="ctr" anchorCtr="0">
            <a:noAutofit/>
          </a:bodyPr>
          <a:lstStyle/>
          <a:p>
            <a:pPr algn="ctr"/>
            <a:r>
              <a:rPr lang="en-US" altLang="zh-CN" sz="800" dirty="0">
                <a:solidFill>
                  <a:schemeClr val="tx2"/>
                </a:solidFill>
                <a:latin typeface="微软雅黑" panose="020B0503020204020204" charset="-122"/>
                <a:ea typeface="微软雅黑" panose="020B0503020204020204" charset="-122"/>
                <a:cs typeface="微软雅黑" panose="020B0503020204020204" charset="-122"/>
              </a:rPr>
              <a:t>……</a:t>
            </a:r>
            <a:endParaRPr lang="en-US" altLang="zh-CN" sz="80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311" name="组合 310"/>
          <p:cNvGrpSpPr/>
          <p:nvPr/>
        </p:nvGrpSpPr>
        <p:grpSpPr>
          <a:xfrm>
            <a:off x="9738360" y="2649855"/>
            <a:ext cx="942340" cy="516890"/>
            <a:chOff x="15089" y="4365"/>
            <a:chExt cx="1484" cy="814"/>
          </a:xfrm>
        </p:grpSpPr>
        <p:sp>
          <p:nvSpPr>
            <p:cNvPr id="56" name="紫荆的职场Point22"/>
            <p:cNvSpPr txBox="1"/>
            <p:nvPr/>
          </p:nvSpPr>
          <p:spPr>
            <a:xfrm>
              <a:off x="15127" y="4365"/>
              <a:ext cx="1408" cy="337"/>
            </a:xfrm>
            <a:prstGeom prst="rect">
              <a:avLst/>
            </a:prstGeom>
            <a:noFill/>
          </p:spPr>
          <p:txBody>
            <a:bodyPr wrap="none">
              <a:spAutoFit/>
            </a:bodyPr>
            <a:lstStyle/>
            <a:p>
              <a:pPr algn="ctr"/>
              <a:r>
                <a:rPr lang="zh-CN" altLang="en-US" sz="800" b="1" dirty="0">
                  <a:solidFill>
                    <a:schemeClr val="tx2"/>
                  </a:solidFill>
                  <a:latin typeface="微软雅黑" panose="020B0503020204020204" charset="-122"/>
                  <a:ea typeface="微软雅黑" panose="020B0503020204020204" charset="-122"/>
                  <a:cs typeface="微软雅黑" panose="020B0503020204020204" charset="-122"/>
                </a:rPr>
                <a:t>平台活跃用户数</a:t>
              </a:r>
              <a:endParaRPr lang="zh-CN" altLang="en-US" sz="8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7" name="紫荆的职场Point22"/>
            <p:cNvSpPr txBox="1"/>
            <p:nvPr/>
          </p:nvSpPr>
          <p:spPr>
            <a:xfrm>
              <a:off x="15089" y="4599"/>
              <a:ext cx="1484" cy="580"/>
            </a:xfrm>
            <a:prstGeom prst="rect">
              <a:avLst/>
            </a:prstGeom>
            <a:noFill/>
          </p:spPr>
          <p:txBody>
            <a:bodyPr wrap="square">
              <a:spAutoFit/>
            </a:bodyPr>
            <a:lstStyle/>
            <a:p>
              <a:pPr algn="ctr"/>
              <a:r>
                <a:rPr lang="en-US" altLang="zh-CN" b="1" dirty="0">
                  <a:solidFill>
                    <a:schemeClr val="accent5"/>
                  </a:solidFill>
                  <a:latin typeface="微软雅黑" panose="020B0503020204020204" charset="-122"/>
                  <a:ea typeface="微软雅黑" panose="020B0503020204020204" charset="-122"/>
                  <a:cs typeface="微软雅黑" panose="020B0503020204020204" charset="-122"/>
                </a:rPr>
                <a:t>500+</a:t>
              </a:r>
              <a:endParaRPr lang="en-US" altLang="zh-CN" b="1" dirty="0">
                <a:solidFill>
                  <a:schemeClr val="accent5"/>
                </a:solidFill>
                <a:latin typeface="微软雅黑" panose="020B0503020204020204" charset="-122"/>
                <a:ea typeface="微软雅黑" panose="020B0503020204020204" charset="-122"/>
                <a:cs typeface="微软雅黑" panose="020B0503020204020204" charset="-122"/>
              </a:endParaRPr>
            </a:p>
          </p:txBody>
        </p:sp>
      </p:grpSp>
      <p:grpSp>
        <p:nvGrpSpPr>
          <p:cNvPr id="310" name="组合 309"/>
          <p:cNvGrpSpPr/>
          <p:nvPr/>
        </p:nvGrpSpPr>
        <p:grpSpPr>
          <a:xfrm>
            <a:off x="9668510" y="1921510"/>
            <a:ext cx="1082040" cy="516890"/>
            <a:chOff x="15113" y="3204"/>
            <a:chExt cx="1704" cy="814"/>
          </a:xfrm>
        </p:grpSpPr>
        <p:sp>
          <p:nvSpPr>
            <p:cNvPr id="58" name="紫荆的职场Point22"/>
            <p:cNvSpPr txBox="1"/>
            <p:nvPr/>
          </p:nvSpPr>
          <p:spPr>
            <a:xfrm>
              <a:off x="15261" y="3204"/>
              <a:ext cx="1408" cy="337"/>
            </a:xfrm>
            <a:prstGeom prst="rect">
              <a:avLst/>
            </a:prstGeom>
            <a:noFill/>
          </p:spPr>
          <p:txBody>
            <a:bodyPr wrap="none">
              <a:spAutoFit/>
            </a:bodyPr>
            <a:lstStyle/>
            <a:p>
              <a:pPr algn="l"/>
              <a:r>
                <a:rPr lang="zh-CN" altLang="en-US" sz="800" b="1" dirty="0">
                  <a:solidFill>
                    <a:schemeClr val="tx2"/>
                  </a:solidFill>
                  <a:latin typeface="微软雅黑" panose="020B0503020204020204" charset="-122"/>
                  <a:ea typeface="微软雅黑" panose="020B0503020204020204" charset="-122"/>
                  <a:cs typeface="微软雅黑" panose="020B0503020204020204" charset="-122"/>
                </a:rPr>
                <a:t>平台月均访问量</a:t>
              </a:r>
              <a:endParaRPr lang="zh-CN" altLang="en-US" sz="8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9" name="紫荆的职场Point22"/>
            <p:cNvSpPr txBox="1"/>
            <p:nvPr/>
          </p:nvSpPr>
          <p:spPr>
            <a:xfrm>
              <a:off x="15113" y="3438"/>
              <a:ext cx="1704" cy="580"/>
            </a:xfrm>
            <a:prstGeom prst="rect">
              <a:avLst/>
            </a:prstGeom>
            <a:noFill/>
          </p:spPr>
          <p:txBody>
            <a:bodyPr wrap="square">
              <a:spAutoFit/>
            </a:bodyPr>
            <a:lstStyle/>
            <a:p>
              <a:pPr algn="ctr"/>
              <a:r>
                <a:rPr lang="en-US" altLang="zh-CN" b="1" dirty="0">
                  <a:solidFill>
                    <a:schemeClr val="accent5"/>
                  </a:solidFill>
                  <a:latin typeface="微软雅黑" panose="020B0503020204020204" charset="-122"/>
                  <a:ea typeface="微软雅黑" panose="020B0503020204020204" charset="-122"/>
                  <a:cs typeface="微软雅黑" panose="020B0503020204020204" charset="-122"/>
                </a:rPr>
                <a:t>30000+</a:t>
              </a:r>
              <a:endParaRPr lang="en-US" altLang="zh-CN" b="1" dirty="0">
                <a:solidFill>
                  <a:schemeClr val="accent5"/>
                </a:solidFill>
                <a:latin typeface="微软雅黑" panose="020B0503020204020204" charset="-122"/>
                <a:ea typeface="微软雅黑" panose="020B0503020204020204" charset="-122"/>
                <a:cs typeface="微软雅黑" panose="020B0503020204020204" charset="-122"/>
              </a:endParaRPr>
            </a:p>
          </p:txBody>
        </p:sp>
      </p:grpSp>
      <p:grpSp>
        <p:nvGrpSpPr>
          <p:cNvPr id="309" name="组合 308"/>
          <p:cNvGrpSpPr/>
          <p:nvPr/>
        </p:nvGrpSpPr>
        <p:grpSpPr>
          <a:xfrm>
            <a:off x="9813290" y="1163003"/>
            <a:ext cx="792480" cy="516890"/>
            <a:chOff x="15327" y="2012"/>
            <a:chExt cx="1248" cy="814"/>
          </a:xfrm>
        </p:grpSpPr>
        <p:sp>
          <p:nvSpPr>
            <p:cNvPr id="60" name="紫荆的职场Point22"/>
            <p:cNvSpPr txBox="1"/>
            <p:nvPr/>
          </p:nvSpPr>
          <p:spPr>
            <a:xfrm>
              <a:off x="15327" y="2012"/>
              <a:ext cx="1248" cy="337"/>
            </a:xfrm>
            <a:prstGeom prst="rect">
              <a:avLst/>
            </a:prstGeom>
            <a:noFill/>
          </p:spPr>
          <p:txBody>
            <a:bodyPr wrap="none">
              <a:spAutoFit/>
            </a:bodyPr>
            <a:lstStyle/>
            <a:p>
              <a:pPr algn="l"/>
              <a:r>
                <a:rPr lang="zh-CN" altLang="en-US" sz="800" b="1" dirty="0">
                  <a:solidFill>
                    <a:schemeClr val="tx2"/>
                  </a:solidFill>
                  <a:latin typeface="微软雅黑" panose="020B0503020204020204" charset="-122"/>
                  <a:ea typeface="微软雅黑" panose="020B0503020204020204" charset="-122"/>
                  <a:cs typeface="微软雅黑" panose="020B0503020204020204" charset="-122"/>
                </a:rPr>
                <a:t>平台报表总量</a:t>
              </a:r>
              <a:endParaRPr lang="zh-CN" altLang="en-US" sz="8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1" name="紫荆的职场Point22"/>
            <p:cNvSpPr txBox="1"/>
            <p:nvPr/>
          </p:nvSpPr>
          <p:spPr>
            <a:xfrm>
              <a:off x="15329" y="2246"/>
              <a:ext cx="1244" cy="580"/>
            </a:xfrm>
            <a:prstGeom prst="rect">
              <a:avLst/>
            </a:prstGeom>
            <a:noFill/>
          </p:spPr>
          <p:txBody>
            <a:bodyPr wrap="square">
              <a:spAutoFit/>
            </a:bodyPr>
            <a:lstStyle/>
            <a:p>
              <a:pPr algn="l"/>
              <a:r>
                <a:rPr lang="en-US" altLang="zh-CN" b="1" dirty="0">
                  <a:solidFill>
                    <a:schemeClr val="accent5"/>
                  </a:solidFill>
                  <a:latin typeface="微软雅黑" panose="020B0503020204020204" charset="-122"/>
                  <a:ea typeface="微软雅黑" panose="020B0503020204020204" charset="-122"/>
                  <a:cs typeface="微软雅黑" panose="020B0503020204020204" charset="-122"/>
                </a:rPr>
                <a:t>300+</a:t>
              </a:r>
              <a:endParaRPr lang="en-US" altLang="zh-CN" b="1" dirty="0">
                <a:solidFill>
                  <a:schemeClr val="accent5"/>
                </a:solidFill>
                <a:latin typeface="微软雅黑" panose="020B0503020204020204" charset="-122"/>
                <a:ea typeface="微软雅黑" panose="020B0503020204020204" charset="-122"/>
                <a:cs typeface="微软雅黑" panose="020B0503020204020204" charset="-122"/>
              </a:endParaRPr>
            </a:p>
          </p:txBody>
        </p:sp>
      </p:grpSp>
      <p:grpSp>
        <p:nvGrpSpPr>
          <p:cNvPr id="69" name="组合 68"/>
          <p:cNvGrpSpPr/>
          <p:nvPr/>
        </p:nvGrpSpPr>
        <p:grpSpPr>
          <a:xfrm>
            <a:off x="506095" y="5988685"/>
            <a:ext cx="1706245" cy="452120"/>
            <a:chOff x="328" y="9755"/>
            <a:chExt cx="2687" cy="712"/>
          </a:xfrm>
        </p:grpSpPr>
        <p:grpSp>
          <p:nvGrpSpPr>
            <p:cNvPr id="67" name="组合 66"/>
            <p:cNvGrpSpPr/>
            <p:nvPr/>
          </p:nvGrpSpPr>
          <p:grpSpPr>
            <a:xfrm>
              <a:off x="328" y="9755"/>
              <a:ext cx="1913" cy="712"/>
              <a:chOff x="-2310" y="6539"/>
              <a:chExt cx="2512" cy="825"/>
            </a:xfrm>
          </p:grpSpPr>
          <p:grpSp>
            <p:nvGrpSpPr>
              <p:cNvPr id="62" name="组合 61"/>
              <p:cNvGrpSpPr/>
              <p:nvPr/>
            </p:nvGrpSpPr>
            <p:grpSpPr>
              <a:xfrm>
                <a:off x="-2310" y="6539"/>
                <a:ext cx="2512" cy="825"/>
                <a:chOff x="4274289" y="1858897"/>
                <a:chExt cx="2363227" cy="764679"/>
              </a:xfrm>
            </p:grpSpPr>
            <p:sp>
              <p:nvSpPr>
                <p:cNvPr id="63" name="任意形状 166"/>
                <p:cNvSpPr/>
                <p:nvPr/>
              </p:nvSpPr>
              <p:spPr>
                <a:xfrm>
                  <a:off x="4274289" y="1858897"/>
                  <a:ext cx="2363227" cy="764679"/>
                </a:xfrm>
                <a:custGeom>
                  <a:avLst/>
                  <a:gdLst>
                    <a:gd name="connsiteX0" fmla="*/ 1 w 4073505"/>
                    <a:gd name="connsiteY0" fmla="*/ 0 h 763469"/>
                    <a:gd name="connsiteX1" fmla="*/ 4073505 w 4073505"/>
                    <a:gd name="connsiteY1" fmla="*/ 0 h 763469"/>
                    <a:gd name="connsiteX2" fmla="*/ 4034181 w 4073505"/>
                    <a:gd name="connsiteY2" fmla="*/ 68168 h 763469"/>
                    <a:gd name="connsiteX3" fmla="*/ 3967214 w 4073505"/>
                    <a:gd name="connsiteY3" fmla="*/ 381734 h 763469"/>
                    <a:gd name="connsiteX4" fmla="*/ 4034181 w 4073505"/>
                    <a:gd name="connsiteY4" fmla="*/ 695301 h 763469"/>
                    <a:gd name="connsiteX5" fmla="*/ 4073505 w 4073505"/>
                    <a:gd name="connsiteY5" fmla="*/ 763469 h 763469"/>
                    <a:gd name="connsiteX6" fmla="*/ 0 w 4073505"/>
                    <a:gd name="connsiteY6" fmla="*/ 763469 h 763469"/>
                    <a:gd name="connsiteX7" fmla="*/ 39324 w 4073505"/>
                    <a:gd name="connsiteY7" fmla="*/ 695301 h 763469"/>
                    <a:gd name="connsiteX8" fmla="*/ 106291 w 4073505"/>
                    <a:gd name="connsiteY8" fmla="*/ 381734 h 763469"/>
                    <a:gd name="connsiteX9" fmla="*/ 39324 w 4073505"/>
                    <a:gd name="connsiteY9" fmla="*/ 68168 h 763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3505" h="763469">
                      <a:moveTo>
                        <a:pt x="1" y="0"/>
                      </a:moveTo>
                      <a:lnTo>
                        <a:pt x="4073505" y="0"/>
                      </a:lnTo>
                      <a:lnTo>
                        <a:pt x="4034181" y="68168"/>
                      </a:lnTo>
                      <a:cubicBezTo>
                        <a:pt x="3991902" y="157677"/>
                        <a:pt x="3967214" y="265582"/>
                        <a:pt x="3967214" y="381734"/>
                      </a:cubicBezTo>
                      <a:cubicBezTo>
                        <a:pt x="3967214" y="497886"/>
                        <a:pt x="3991902" y="605791"/>
                        <a:pt x="4034181" y="695301"/>
                      </a:cubicBezTo>
                      <a:lnTo>
                        <a:pt x="4073505" y="763469"/>
                      </a:lnTo>
                      <a:lnTo>
                        <a:pt x="0" y="763469"/>
                      </a:lnTo>
                      <a:lnTo>
                        <a:pt x="39324" y="695301"/>
                      </a:lnTo>
                      <a:cubicBezTo>
                        <a:pt x="81604" y="605791"/>
                        <a:pt x="106291" y="497886"/>
                        <a:pt x="106291" y="381734"/>
                      </a:cubicBezTo>
                      <a:cubicBezTo>
                        <a:pt x="106291" y="265582"/>
                        <a:pt x="81604" y="157677"/>
                        <a:pt x="39324" y="68168"/>
                      </a:cubicBezTo>
                      <a:close/>
                    </a:path>
                  </a:pathLst>
                </a:custGeom>
                <a:gradFill flip="none" rotWithShape="1">
                  <a:gsLst>
                    <a:gs pos="0">
                      <a:schemeClr val="accent1">
                        <a:lumMod val="60000"/>
                        <a:lumOff val="40000"/>
                      </a:schemeClr>
                    </a:gs>
                    <a:gs pos="99000">
                      <a:schemeClr val="accent1">
                        <a:lumMod val="60000"/>
                        <a:lumOff val="40000"/>
                      </a:schemeClr>
                    </a:gs>
                  </a:gsLst>
                  <a:lin ang="0" scaled="1"/>
                  <a:tileRect/>
                </a:gradFill>
                <a:ln>
                  <a:noFill/>
                </a:ln>
                <a:effectLst>
                  <a:outerShdw blurRad="127000" dist="88900" dir="5400000" algn="t" rotWithShape="0">
                    <a:schemeClr val="accent1">
                      <a:lumMod val="60000"/>
                      <a:lumOff val="40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65" name="任意形状 171"/>
                <p:cNvSpPr/>
                <p:nvPr/>
              </p:nvSpPr>
              <p:spPr>
                <a:xfrm>
                  <a:off x="4362513" y="1959137"/>
                  <a:ext cx="2186778" cy="564197"/>
                </a:xfrm>
                <a:custGeom>
                  <a:avLst/>
                  <a:gdLst>
                    <a:gd name="connsiteX0" fmla="*/ 1 w 4073505"/>
                    <a:gd name="connsiteY0" fmla="*/ 0 h 763469"/>
                    <a:gd name="connsiteX1" fmla="*/ 4073505 w 4073505"/>
                    <a:gd name="connsiteY1" fmla="*/ 0 h 763469"/>
                    <a:gd name="connsiteX2" fmla="*/ 4034181 w 4073505"/>
                    <a:gd name="connsiteY2" fmla="*/ 68168 h 763469"/>
                    <a:gd name="connsiteX3" fmla="*/ 3967214 w 4073505"/>
                    <a:gd name="connsiteY3" fmla="*/ 381734 h 763469"/>
                    <a:gd name="connsiteX4" fmla="*/ 4034181 w 4073505"/>
                    <a:gd name="connsiteY4" fmla="*/ 695301 h 763469"/>
                    <a:gd name="connsiteX5" fmla="*/ 4073505 w 4073505"/>
                    <a:gd name="connsiteY5" fmla="*/ 763469 h 763469"/>
                    <a:gd name="connsiteX6" fmla="*/ 0 w 4073505"/>
                    <a:gd name="connsiteY6" fmla="*/ 763469 h 763469"/>
                    <a:gd name="connsiteX7" fmla="*/ 39324 w 4073505"/>
                    <a:gd name="connsiteY7" fmla="*/ 695301 h 763469"/>
                    <a:gd name="connsiteX8" fmla="*/ 106291 w 4073505"/>
                    <a:gd name="connsiteY8" fmla="*/ 381734 h 763469"/>
                    <a:gd name="connsiteX9" fmla="*/ 39324 w 4073505"/>
                    <a:gd name="connsiteY9" fmla="*/ 68168 h 763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3505" h="763469">
                      <a:moveTo>
                        <a:pt x="1" y="0"/>
                      </a:moveTo>
                      <a:lnTo>
                        <a:pt x="4073505" y="0"/>
                      </a:lnTo>
                      <a:lnTo>
                        <a:pt x="4034181" y="68168"/>
                      </a:lnTo>
                      <a:cubicBezTo>
                        <a:pt x="3991902" y="157677"/>
                        <a:pt x="3967214" y="265582"/>
                        <a:pt x="3967214" y="381734"/>
                      </a:cubicBezTo>
                      <a:cubicBezTo>
                        <a:pt x="3967214" y="497886"/>
                        <a:pt x="3991902" y="605791"/>
                        <a:pt x="4034181" y="695301"/>
                      </a:cubicBezTo>
                      <a:lnTo>
                        <a:pt x="4073505" y="763469"/>
                      </a:lnTo>
                      <a:lnTo>
                        <a:pt x="0" y="763469"/>
                      </a:lnTo>
                      <a:lnTo>
                        <a:pt x="39324" y="695301"/>
                      </a:lnTo>
                      <a:cubicBezTo>
                        <a:pt x="81604" y="605791"/>
                        <a:pt x="106291" y="497886"/>
                        <a:pt x="106291" y="381734"/>
                      </a:cubicBezTo>
                      <a:cubicBezTo>
                        <a:pt x="106291" y="265582"/>
                        <a:pt x="81604" y="157677"/>
                        <a:pt x="39324" y="68168"/>
                      </a:cubicBezTo>
                      <a:close/>
                    </a:path>
                  </a:pathLst>
                </a:custGeom>
                <a:noFill/>
                <a:ln w="6350">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微软雅黑" panose="020B0503020204020204" charset="-122"/>
                    <a:ea typeface="微软雅黑" panose="020B0503020204020204" charset="-122"/>
                    <a:cs typeface="微软雅黑" panose="020B0503020204020204" charset="-122"/>
                  </a:endParaRPr>
                </a:p>
              </p:txBody>
            </p:sp>
          </p:grpSp>
          <p:sp>
            <p:nvSpPr>
              <p:cNvPr id="66" name="文本框 65"/>
              <p:cNvSpPr txBox="1"/>
              <p:nvPr/>
            </p:nvSpPr>
            <p:spPr>
              <a:xfrm>
                <a:off x="-2012" y="6714"/>
                <a:ext cx="1917" cy="475"/>
              </a:xfrm>
              <a:prstGeom prst="rect">
                <a:avLst/>
              </a:prstGeom>
              <a:noFill/>
            </p:spPr>
            <p:txBody>
              <a:bodyPr wrap="square" rtlCol="0">
                <a:spAutoFit/>
              </a:bodyPr>
              <a:lstStyle/>
              <a:p>
                <a:pPr algn="ctr"/>
                <a:r>
                  <a:rPr lang="en-US" altLang="zh-CN" sz="1100" b="1">
                    <a:solidFill>
                      <a:schemeClr val="bg1"/>
                    </a:solidFill>
                    <a:latin typeface="微软雅黑" panose="020B0503020204020204" charset="-122"/>
                    <a:ea typeface="微软雅黑" panose="020B0503020204020204" charset="-122"/>
                    <a:cs typeface="微软雅黑" panose="020B0503020204020204" charset="-122"/>
                  </a:rPr>
                  <a:t>IT</a:t>
                </a:r>
                <a:r>
                  <a:rPr lang="zh-CN" altLang="en-US" sz="1100" b="1">
                    <a:solidFill>
                      <a:schemeClr val="bg1"/>
                    </a:solidFill>
                    <a:latin typeface="微软雅黑" panose="020B0503020204020204" charset="-122"/>
                    <a:ea typeface="微软雅黑" panose="020B0503020204020204" charset="-122"/>
                    <a:cs typeface="微软雅黑" panose="020B0503020204020204" charset="-122"/>
                  </a:rPr>
                  <a:t>基础设施</a:t>
                </a:r>
                <a:endParaRPr lang="zh-CN" altLang="en-US" sz="11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cxnSp>
          <p:nvCxnSpPr>
            <p:cNvPr id="68" name="直接连接符 67"/>
            <p:cNvCxnSpPr>
              <a:stCxn id="63" idx="3"/>
            </p:cNvCxnSpPr>
            <p:nvPr/>
          </p:nvCxnSpPr>
          <p:spPr>
            <a:xfrm>
              <a:off x="2191" y="10111"/>
              <a:ext cx="824" cy="0"/>
            </a:xfrm>
            <a:prstGeom prst="line">
              <a:avLst/>
            </a:prstGeom>
            <a:ln>
              <a:gradFill>
                <a:gsLst>
                  <a:gs pos="0">
                    <a:schemeClr val="accent1">
                      <a:lumMod val="60000"/>
                      <a:lumOff val="40000"/>
                    </a:schemeClr>
                  </a:gs>
                  <a:gs pos="100000">
                    <a:schemeClr val="accent1">
                      <a:lumMod val="60000"/>
                      <a:lumOff val="40000"/>
                      <a:alpha val="0"/>
                    </a:schemeClr>
                  </a:gs>
                </a:gsLst>
                <a:lin ang="10800000" scaled="1"/>
              </a:gradFill>
              <a:tailEnd type="oval"/>
            </a:ln>
          </p:spPr>
          <p:style>
            <a:lnRef idx="2">
              <a:schemeClr val="accent1"/>
            </a:lnRef>
            <a:fillRef idx="0">
              <a:srgbClr val="FFFFFF"/>
            </a:fillRef>
            <a:effectRef idx="0">
              <a:srgbClr val="FFFFFF"/>
            </a:effectRef>
            <a:fontRef idx="minor">
              <a:schemeClr val="tx1"/>
            </a:fontRef>
          </p:style>
        </p:cxnSp>
      </p:grpSp>
      <p:grpSp>
        <p:nvGrpSpPr>
          <p:cNvPr id="70" name="组合 69"/>
          <p:cNvGrpSpPr/>
          <p:nvPr/>
        </p:nvGrpSpPr>
        <p:grpSpPr>
          <a:xfrm>
            <a:off x="506095" y="5128895"/>
            <a:ext cx="1706245" cy="452120"/>
            <a:chOff x="328" y="9755"/>
            <a:chExt cx="2687" cy="712"/>
          </a:xfrm>
        </p:grpSpPr>
        <p:grpSp>
          <p:nvGrpSpPr>
            <p:cNvPr id="71" name="组合 70"/>
            <p:cNvGrpSpPr/>
            <p:nvPr/>
          </p:nvGrpSpPr>
          <p:grpSpPr>
            <a:xfrm>
              <a:off x="328" y="9755"/>
              <a:ext cx="1913" cy="712"/>
              <a:chOff x="-2310" y="6539"/>
              <a:chExt cx="2512" cy="825"/>
            </a:xfrm>
          </p:grpSpPr>
          <p:grpSp>
            <p:nvGrpSpPr>
              <p:cNvPr id="74" name="组合 73"/>
              <p:cNvGrpSpPr/>
              <p:nvPr/>
            </p:nvGrpSpPr>
            <p:grpSpPr>
              <a:xfrm>
                <a:off x="-2310" y="6539"/>
                <a:ext cx="2512" cy="825"/>
                <a:chOff x="4274289" y="1858897"/>
                <a:chExt cx="2363227" cy="764679"/>
              </a:xfrm>
            </p:grpSpPr>
            <p:sp>
              <p:nvSpPr>
                <p:cNvPr id="75" name="任意形状 166"/>
                <p:cNvSpPr/>
                <p:nvPr/>
              </p:nvSpPr>
              <p:spPr>
                <a:xfrm>
                  <a:off x="4274289" y="1858897"/>
                  <a:ext cx="2363227" cy="764679"/>
                </a:xfrm>
                <a:custGeom>
                  <a:avLst/>
                  <a:gdLst>
                    <a:gd name="connsiteX0" fmla="*/ 1 w 4073505"/>
                    <a:gd name="connsiteY0" fmla="*/ 0 h 763469"/>
                    <a:gd name="connsiteX1" fmla="*/ 4073505 w 4073505"/>
                    <a:gd name="connsiteY1" fmla="*/ 0 h 763469"/>
                    <a:gd name="connsiteX2" fmla="*/ 4034181 w 4073505"/>
                    <a:gd name="connsiteY2" fmla="*/ 68168 h 763469"/>
                    <a:gd name="connsiteX3" fmla="*/ 3967214 w 4073505"/>
                    <a:gd name="connsiteY3" fmla="*/ 381734 h 763469"/>
                    <a:gd name="connsiteX4" fmla="*/ 4034181 w 4073505"/>
                    <a:gd name="connsiteY4" fmla="*/ 695301 h 763469"/>
                    <a:gd name="connsiteX5" fmla="*/ 4073505 w 4073505"/>
                    <a:gd name="connsiteY5" fmla="*/ 763469 h 763469"/>
                    <a:gd name="connsiteX6" fmla="*/ 0 w 4073505"/>
                    <a:gd name="connsiteY6" fmla="*/ 763469 h 763469"/>
                    <a:gd name="connsiteX7" fmla="*/ 39324 w 4073505"/>
                    <a:gd name="connsiteY7" fmla="*/ 695301 h 763469"/>
                    <a:gd name="connsiteX8" fmla="*/ 106291 w 4073505"/>
                    <a:gd name="connsiteY8" fmla="*/ 381734 h 763469"/>
                    <a:gd name="connsiteX9" fmla="*/ 39324 w 4073505"/>
                    <a:gd name="connsiteY9" fmla="*/ 68168 h 763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3505" h="763469">
                      <a:moveTo>
                        <a:pt x="1" y="0"/>
                      </a:moveTo>
                      <a:lnTo>
                        <a:pt x="4073505" y="0"/>
                      </a:lnTo>
                      <a:lnTo>
                        <a:pt x="4034181" y="68168"/>
                      </a:lnTo>
                      <a:cubicBezTo>
                        <a:pt x="3991902" y="157677"/>
                        <a:pt x="3967214" y="265582"/>
                        <a:pt x="3967214" y="381734"/>
                      </a:cubicBezTo>
                      <a:cubicBezTo>
                        <a:pt x="3967214" y="497886"/>
                        <a:pt x="3991902" y="605791"/>
                        <a:pt x="4034181" y="695301"/>
                      </a:cubicBezTo>
                      <a:lnTo>
                        <a:pt x="4073505" y="763469"/>
                      </a:lnTo>
                      <a:lnTo>
                        <a:pt x="0" y="763469"/>
                      </a:lnTo>
                      <a:lnTo>
                        <a:pt x="39324" y="695301"/>
                      </a:lnTo>
                      <a:cubicBezTo>
                        <a:pt x="81604" y="605791"/>
                        <a:pt x="106291" y="497886"/>
                        <a:pt x="106291" y="381734"/>
                      </a:cubicBezTo>
                      <a:cubicBezTo>
                        <a:pt x="106291" y="265582"/>
                        <a:pt x="81604" y="157677"/>
                        <a:pt x="39324" y="68168"/>
                      </a:cubicBezTo>
                      <a:close/>
                    </a:path>
                  </a:pathLst>
                </a:custGeom>
                <a:gradFill flip="none" rotWithShape="1">
                  <a:gsLst>
                    <a:gs pos="0">
                      <a:schemeClr val="accent1">
                        <a:lumMod val="60000"/>
                        <a:lumOff val="40000"/>
                      </a:schemeClr>
                    </a:gs>
                    <a:gs pos="99000">
                      <a:schemeClr val="accent1">
                        <a:lumMod val="60000"/>
                        <a:lumOff val="40000"/>
                      </a:schemeClr>
                    </a:gs>
                  </a:gsLst>
                  <a:lin ang="0" scaled="1"/>
                  <a:tileRect/>
                </a:gradFill>
                <a:ln>
                  <a:noFill/>
                </a:ln>
                <a:effectLst>
                  <a:outerShdw blurRad="127000" dist="88900" dir="5400000" algn="t" rotWithShape="0">
                    <a:schemeClr val="accent1">
                      <a:lumMod val="60000"/>
                      <a:lumOff val="40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76" name="任意形状 171"/>
                <p:cNvSpPr/>
                <p:nvPr/>
              </p:nvSpPr>
              <p:spPr>
                <a:xfrm>
                  <a:off x="4362513" y="1959137"/>
                  <a:ext cx="2186778" cy="564197"/>
                </a:xfrm>
                <a:custGeom>
                  <a:avLst/>
                  <a:gdLst>
                    <a:gd name="connsiteX0" fmla="*/ 1 w 4073505"/>
                    <a:gd name="connsiteY0" fmla="*/ 0 h 763469"/>
                    <a:gd name="connsiteX1" fmla="*/ 4073505 w 4073505"/>
                    <a:gd name="connsiteY1" fmla="*/ 0 h 763469"/>
                    <a:gd name="connsiteX2" fmla="*/ 4034181 w 4073505"/>
                    <a:gd name="connsiteY2" fmla="*/ 68168 h 763469"/>
                    <a:gd name="connsiteX3" fmla="*/ 3967214 w 4073505"/>
                    <a:gd name="connsiteY3" fmla="*/ 381734 h 763469"/>
                    <a:gd name="connsiteX4" fmla="*/ 4034181 w 4073505"/>
                    <a:gd name="connsiteY4" fmla="*/ 695301 h 763469"/>
                    <a:gd name="connsiteX5" fmla="*/ 4073505 w 4073505"/>
                    <a:gd name="connsiteY5" fmla="*/ 763469 h 763469"/>
                    <a:gd name="connsiteX6" fmla="*/ 0 w 4073505"/>
                    <a:gd name="connsiteY6" fmla="*/ 763469 h 763469"/>
                    <a:gd name="connsiteX7" fmla="*/ 39324 w 4073505"/>
                    <a:gd name="connsiteY7" fmla="*/ 695301 h 763469"/>
                    <a:gd name="connsiteX8" fmla="*/ 106291 w 4073505"/>
                    <a:gd name="connsiteY8" fmla="*/ 381734 h 763469"/>
                    <a:gd name="connsiteX9" fmla="*/ 39324 w 4073505"/>
                    <a:gd name="connsiteY9" fmla="*/ 68168 h 763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3505" h="763469">
                      <a:moveTo>
                        <a:pt x="1" y="0"/>
                      </a:moveTo>
                      <a:lnTo>
                        <a:pt x="4073505" y="0"/>
                      </a:lnTo>
                      <a:lnTo>
                        <a:pt x="4034181" y="68168"/>
                      </a:lnTo>
                      <a:cubicBezTo>
                        <a:pt x="3991902" y="157677"/>
                        <a:pt x="3967214" y="265582"/>
                        <a:pt x="3967214" y="381734"/>
                      </a:cubicBezTo>
                      <a:cubicBezTo>
                        <a:pt x="3967214" y="497886"/>
                        <a:pt x="3991902" y="605791"/>
                        <a:pt x="4034181" y="695301"/>
                      </a:cubicBezTo>
                      <a:lnTo>
                        <a:pt x="4073505" y="763469"/>
                      </a:lnTo>
                      <a:lnTo>
                        <a:pt x="0" y="763469"/>
                      </a:lnTo>
                      <a:lnTo>
                        <a:pt x="39324" y="695301"/>
                      </a:lnTo>
                      <a:cubicBezTo>
                        <a:pt x="81604" y="605791"/>
                        <a:pt x="106291" y="497886"/>
                        <a:pt x="106291" y="381734"/>
                      </a:cubicBezTo>
                      <a:cubicBezTo>
                        <a:pt x="106291" y="265582"/>
                        <a:pt x="81604" y="157677"/>
                        <a:pt x="39324" y="68168"/>
                      </a:cubicBezTo>
                      <a:close/>
                    </a:path>
                  </a:pathLst>
                </a:custGeom>
                <a:noFill/>
                <a:ln w="6350">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微软雅黑" panose="020B0503020204020204" charset="-122"/>
                    <a:ea typeface="微软雅黑" panose="020B0503020204020204" charset="-122"/>
                    <a:cs typeface="微软雅黑" panose="020B0503020204020204" charset="-122"/>
                  </a:endParaRPr>
                </a:p>
              </p:txBody>
            </p:sp>
          </p:grpSp>
          <p:sp>
            <p:nvSpPr>
              <p:cNvPr id="77" name="文本框 76"/>
              <p:cNvSpPr txBox="1"/>
              <p:nvPr/>
            </p:nvSpPr>
            <p:spPr>
              <a:xfrm>
                <a:off x="-2124" y="6714"/>
                <a:ext cx="2119" cy="475"/>
              </a:xfrm>
              <a:prstGeom prst="rect">
                <a:avLst/>
              </a:prstGeom>
              <a:noFill/>
            </p:spPr>
            <p:txBody>
              <a:bodyPr wrap="square" rtlCol="0">
                <a:spAutoFit/>
              </a:bodyPr>
              <a:lstStyle/>
              <a:p>
                <a:pPr algn="ctr"/>
                <a:r>
                  <a:rPr lang="zh-CN" sz="1100" b="1">
                    <a:solidFill>
                      <a:schemeClr val="bg1"/>
                    </a:solidFill>
                    <a:latin typeface="微软雅黑" panose="020B0503020204020204" charset="-122"/>
                    <a:ea typeface="微软雅黑" panose="020B0503020204020204" charset="-122"/>
                    <a:cs typeface="微软雅黑" panose="020B0503020204020204" charset="-122"/>
                  </a:rPr>
                  <a:t>大数据计算层</a:t>
                </a:r>
                <a:endParaRPr lang="zh-CN" sz="11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cxnSp>
          <p:nvCxnSpPr>
            <p:cNvPr id="78" name="直接连接符 77"/>
            <p:cNvCxnSpPr>
              <a:stCxn id="75" idx="3"/>
            </p:cNvCxnSpPr>
            <p:nvPr/>
          </p:nvCxnSpPr>
          <p:spPr>
            <a:xfrm>
              <a:off x="2191" y="10111"/>
              <a:ext cx="824" cy="0"/>
            </a:xfrm>
            <a:prstGeom prst="line">
              <a:avLst/>
            </a:prstGeom>
            <a:ln>
              <a:gradFill>
                <a:gsLst>
                  <a:gs pos="0">
                    <a:schemeClr val="accent1">
                      <a:lumMod val="60000"/>
                      <a:lumOff val="40000"/>
                    </a:schemeClr>
                  </a:gs>
                  <a:gs pos="100000">
                    <a:schemeClr val="accent1">
                      <a:lumMod val="60000"/>
                      <a:lumOff val="40000"/>
                      <a:alpha val="0"/>
                    </a:schemeClr>
                  </a:gs>
                </a:gsLst>
                <a:lin ang="10800000" scaled="1"/>
              </a:gradFill>
              <a:tailEnd type="oval"/>
            </a:ln>
          </p:spPr>
          <p:style>
            <a:lnRef idx="2">
              <a:schemeClr val="accent1"/>
            </a:lnRef>
            <a:fillRef idx="0">
              <a:srgbClr val="FFFFFF"/>
            </a:fillRef>
            <a:effectRef idx="0">
              <a:srgbClr val="FFFFFF"/>
            </a:effectRef>
            <a:fontRef idx="minor">
              <a:schemeClr val="tx1"/>
            </a:fontRef>
          </p:style>
        </p:cxnSp>
      </p:grpSp>
      <p:grpSp>
        <p:nvGrpSpPr>
          <p:cNvPr id="79" name="组合 78"/>
          <p:cNvGrpSpPr/>
          <p:nvPr/>
        </p:nvGrpSpPr>
        <p:grpSpPr>
          <a:xfrm>
            <a:off x="506095" y="3830955"/>
            <a:ext cx="1706245" cy="452120"/>
            <a:chOff x="328" y="9755"/>
            <a:chExt cx="2687" cy="712"/>
          </a:xfrm>
        </p:grpSpPr>
        <p:grpSp>
          <p:nvGrpSpPr>
            <p:cNvPr id="81" name="组合 80"/>
            <p:cNvGrpSpPr/>
            <p:nvPr/>
          </p:nvGrpSpPr>
          <p:grpSpPr>
            <a:xfrm>
              <a:off x="328" y="9755"/>
              <a:ext cx="1913" cy="712"/>
              <a:chOff x="-2310" y="6539"/>
              <a:chExt cx="2512" cy="825"/>
            </a:xfrm>
          </p:grpSpPr>
          <p:grpSp>
            <p:nvGrpSpPr>
              <p:cNvPr id="82" name="组合 81"/>
              <p:cNvGrpSpPr/>
              <p:nvPr/>
            </p:nvGrpSpPr>
            <p:grpSpPr>
              <a:xfrm>
                <a:off x="-2310" y="6539"/>
                <a:ext cx="2512" cy="825"/>
                <a:chOff x="4274289" y="1858897"/>
                <a:chExt cx="2363227" cy="764679"/>
              </a:xfrm>
            </p:grpSpPr>
            <p:sp>
              <p:nvSpPr>
                <p:cNvPr id="83" name="任意形状 166"/>
                <p:cNvSpPr/>
                <p:nvPr/>
              </p:nvSpPr>
              <p:spPr>
                <a:xfrm>
                  <a:off x="4274289" y="1858897"/>
                  <a:ext cx="2363227" cy="764679"/>
                </a:xfrm>
                <a:custGeom>
                  <a:avLst/>
                  <a:gdLst>
                    <a:gd name="connsiteX0" fmla="*/ 1 w 4073505"/>
                    <a:gd name="connsiteY0" fmla="*/ 0 h 763469"/>
                    <a:gd name="connsiteX1" fmla="*/ 4073505 w 4073505"/>
                    <a:gd name="connsiteY1" fmla="*/ 0 h 763469"/>
                    <a:gd name="connsiteX2" fmla="*/ 4034181 w 4073505"/>
                    <a:gd name="connsiteY2" fmla="*/ 68168 h 763469"/>
                    <a:gd name="connsiteX3" fmla="*/ 3967214 w 4073505"/>
                    <a:gd name="connsiteY3" fmla="*/ 381734 h 763469"/>
                    <a:gd name="connsiteX4" fmla="*/ 4034181 w 4073505"/>
                    <a:gd name="connsiteY4" fmla="*/ 695301 h 763469"/>
                    <a:gd name="connsiteX5" fmla="*/ 4073505 w 4073505"/>
                    <a:gd name="connsiteY5" fmla="*/ 763469 h 763469"/>
                    <a:gd name="connsiteX6" fmla="*/ 0 w 4073505"/>
                    <a:gd name="connsiteY6" fmla="*/ 763469 h 763469"/>
                    <a:gd name="connsiteX7" fmla="*/ 39324 w 4073505"/>
                    <a:gd name="connsiteY7" fmla="*/ 695301 h 763469"/>
                    <a:gd name="connsiteX8" fmla="*/ 106291 w 4073505"/>
                    <a:gd name="connsiteY8" fmla="*/ 381734 h 763469"/>
                    <a:gd name="connsiteX9" fmla="*/ 39324 w 4073505"/>
                    <a:gd name="connsiteY9" fmla="*/ 68168 h 763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3505" h="763469">
                      <a:moveTo>
                        <a:pt x="1" y="0"/>
                      </a:moveTo>
                      <a:lnTo>
                        <a:pt x="4073505" y="0"/>
                      </a:lnTo>
                      <a:lnTo>
                        <a:pt x="4034181" y="68168"/>
                      </a:lnTo>
                      <a:cubicBezTo>
                        <a:pt x="3991902" y="157677"/>
                        <a:pt x="3967214" y="265582"/>
                        <a:pt x="3967214" y="381734"/>
                      </a:cubicBezTo>
                      <a:cubicBezTo>
                        <a:pt x="3967214" y="497886"/>
                        <a:pt x="3991902" y="605791"/>
                        <a:pt x="4034181" y="695301"/>
                      </a:cubicBezTo>
                      <a:lnTo>
                        <a:pt x="4073505" y="763469"/>
                      </a:lnTo>
                      <a:lnTo>
                        <a:pt x="0" y="763469"/>
                      </a:lnTo>
                      <a:lnTo>
                        <a:pt x="39324" y="695301"/>
                      </a:lnTo>
                      <a:cubicBezTo>
                        <a:pt x="81604" y="605791"/>
                        <a:pt x="106291" y="497886"/>
                        <a:pt x="106291" y="381734"/>
                      </a:cubicBezTo>
                      <a:cubicBezTo>
                        <a:pt x="106291" y="265582"/>
                        <a:pt x="81604" y="157677"/>
                        <a:pt x="39324" y="68168"/>
                      </a:cubicBezTo>
                      <a:close/>
                    </a:path>
                  </a:pathLst>
                </a:custGeom>
                <a:gradFill flip="none" rotWithShape="1">
                  <a:gsLst>
                    <a:gs pos="0">
                      <a:schemeClr val="accent1">
                        <a:lumMod val="60000"/>
                        <a:lumOff val="40000"/>
                      </a:schemeClr>
                    </a:gs>
                    <a:gs pos="99000">
                      <a:schemeClr val="accent1">
                        <a:lumMod val="60000"/>
                        <a:lumOff val="40000"/>
                      </a:schemeClr>
                    </a:gs>
                  </a:gsLst>
                  <a:lin ang="0" scaled="1"/>
                  <a:tileRect/>
                </a:gradFill>
                <a:ln>
                  <a:noFill/>
                </a:ln>
                <a:effectLst>
                  <a:outerShdw blurRad="127000" dist="88900" dir="5400000" algn="t" rotWithShape="0">
                    <a:schemeClr val="accent1">
                      <a:lumMod val="60000"/>
                      <a:lumOff val="40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84" name="任意形状 171"/>
                <p:cNvSpPr/>
                <p:nvPr/>
              </p:nvSpPr>
              <p:spPr>
                <a:xfrm>
                  <a:off x="4362513" y="1959137"/>
                  <a:ext cx="2186778" cy="564197"/>
                </a:xfrm>
                <a:custGeom>
                  <a:avLst/>
                  <a:gdLst>
                    <a:gd name="connsiteX0" fmla="*/ 1 w 4073505"/>
                    <a:gd name="connsiteY0" fmla="*/ 0 h 763469"/>
                    <a:gd name="connsiteX1" fmla="*/ 4073505 w 4073505"/>
                    <a:gd name="connsiteY1" fmla="*/ 0 h 763469"/>
                    <a:gd name="connsiteX2" fmla="*/ 4034181 w 4073505"/>
                    <a:gd name="connsiteY2" fmla="*/ 68168 h 763469"/>
                    <a:gd name="connsiteX3" fmla="*/ 3967214 w 4073505"/>
                    <a:gd name="connsiteY3" fmla="*/ 381734 h 763469"/>
                    <a:gd name="connsiteX4" fmla="*/ 4034181 w 4073505"/>
                    <a:gd name="connsiteY4" fmla="*/ 695301 h 763469"/>
                    <a:gd name="connsiteX5" fmla="*/ 4073505 w 4073505"/>
                    <a:gd name="connsiteY5" fmla="*/ 763469 h 763469"/>
                    <a:gd name="connsiteX6" fmla="*/ 0 w 4073505"/>
                    <a:gd name="connsiteY6" fmla="*/ 763469 h 763469"/>
                    <a:gd name="connsiteX7" fmla="*/ 39324 w 4073505"/>
                    <a:gd name="connsiteY7" fmla="*/ 695301 h 763469"/>
                    <a:gd name="connsiteX8" fmla="*/ 106291 w 4073505"/>
                    <a:gd name="connsiteY8" fmla="*/ 381734 h 763469"/>
                    <a:gd name="connsiteX9" fmla="*/ 39324 w 4073505"/>
                    <a:gd name="connsiteY9" fmla="*/ 68168 h 763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3505" h="763469">
                      <a:moveTo>
                        <a:pt x="1" y="0"/>
                      </a:moveTo>
                      <a:lnTo>
                        <a:pt x="4073505" y="0"/>
                      </a:lnTo>
                      <a:lnTo>
                        <a:pt x="4034181" y="68168"/>
                      </a:lnTo>
                      <a:cubicBezTo>
                        <a:pt x="3991902" y="157677"/>
                        <a:pt x="3967214" y="265582"/>
                        <a:pt x="3967214" y="381734"/>
                      </a:cubicBezTo>
                      <a:cubicBezTo>
                        <a:pt x="3967214" y="497886"/>
                        <a:pt x="3991902" y="605791"/>
                        <a:pt x="4034181" y="695301"/>
                      </a:cubicBezTo>
                      <a:lnTo>
                        <a:pt x="4073505" y="763469"/>
                      </a:lnTo>
                      <a:lnTo>
                        <a:pt x="0" y="763469"/>
                      </a:lnTo>
                      <a:lnTo>
                        <a:pt x="39324" y="695301"/>
                      </a:lnTo>
                      <a:cubicBezTo>
                        <a:pt x="81604" y="605791"/>
                        <a:pt x="106291" y="497886"/>
                        <a:pt x="106291" y="381734"/>
                      </a:cubicBezTo>
                      <a:cubicBezTo>
                        <a:pt x="106291" y="265582"/>
                        <a:pt x="81604" y="157677"/>
                        <a:pt x="39324" y="68168"/>
                      </a:cubicBezTo>
                      <a:close/>
                    </a:path>
                  </a:pathLst>
                </a:custGeom>
                <a:noFill/>
                <a:ln w="6350">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微软雅黑" panose="020B0503020204020204" charset="-122"/>
                    <a:ea typeface="微软雅黑" panose="020B0503020204020204" charset="-122"/>
                    <a:cs typeface="微软雅黑" panose="020B0503020204020204" charset="-122"/>
                  </a:endParaRPr>
                </a:p>
              </p:txBody>
            </p:sp>
          </p:grpSp>
          <p:sp>
            <p:nvSpPr>
              <p:cNvPr id="85" name="文本框 84"/>
              <p:cNvSpPr txBox="1"/>
              <p:nvPr/>
            </p:nvSpPr>
            <p:spPr>
              <a:xfrm>
                <a:off x="-2124" y="6714"/>
                <a:ext cx="2119" cy="475"/>
              </a:xfrm>
              <a:prstGeom prst="rect">
                <a:avLst/>
              </a:prstGeom>
              <a:noFill/>
            </p:spPr>
            <p:txBody>
              <a:bodyPr wrap="square" rtlCol="0">
                <a:spAutoFit/>
              </a:bodyPr>
              <a:lstStyle/>
              <a:p>
                <a:pPr algn="ctr"/>
                <a:r>
                  <a:rPr lang="zh-CN" sz="1100" b="1">
                    <a:solidFill>
                      <a:schemeClr val="bg1"/>
                    </a:solidFill>
                    <a:latin typeface="微软雅黑" panose="020B0503020204020204" charset="-122"/>
                    <a:ea typeface="微软雅黑" panose="020B0503020204020204" charset="-122"/>
                    <a:cs typeface="微软雅黑" panose="020B0503020204020204" charset="-122"/>
                  </a:rPr>
                  <a:t>大数据共享层</a:t>
                </a:r>
                <a:endParaRPr lang="zh-CN" sz="11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cxnSp>
          <p:nvCxnSpPr>
            <p:cNvPr id="86" name="直接连接符 85"/>
            <p:cNvCxnSpPr>
              <a:stCxn id="83" idx="3"/>
            </p:cNvCxnSpPr>
            <p:nvPr/>
          </p:nvCxnSpPr>
          <p:spPr>
            <a:xfrm>
              <a:off x="2191" y="10111"/>
              <a:ext cx="824" cy="0"/>
            </a:xfrm>
            <a:prstGeom prst="line">
              <a:avLst/>
            </a:prstGeom>
            <a:ln>
              <a:gradFill>
                <a:gsLst>
                  <a:gs pos="0">
                    <a:schemeClr val="accent1">
                      <a:lumMod val="60000"/>
                      <a:lumOff val="40000"/>
                    </a:schemeClr>
                  </a:gs>
                  <a:gs pos="100000">
                    <a:schemeClr val="accent1">
                      <a:lumMod val="60000"/>
                      <a:lumOff val="40000"/>
                      <a:alpha val="0"/>
                    </a:schemeClr>
                  </a:gs>
                </a:gsLst>
                <a:lin ang="10800000" scaled="1"/>
              </a:gradFill>
              <a:tailEnd type="oval"/>
            </a:ln>
          </p:spPr>
          <p:style>
            <a:lnRef idx="2">
              <a:schemeClr val="accent1"/>
            </a:lnRef>
            <a:fillRef idx="0">
              <a:srgbClr val="FFFFFF"/>
            </a:fillRef>
            <a:effectRef idx="0">
              <a:srgbClr val="FFFFFF"/>
            </a:effectRef>
            <a:fontRef idx="minor">
              <a:schemeClr val="tx1"/>
            </a:fontRef>
          </p:style>
        </p:cxnSp>
      </p:grpSp>
      <p:grpSp>
        <p:nvGrpSpPr>
          <p:cNvPr id="87" name="组合 86"/>
          <p:cNvGrpSpPr/>
          <p:nvPr/>
        </p:nvGrpSpPr>
        <p:grpSpPr>
          <a:xfrm>
            <a:off x="506095" y="2332990"/>
            <a:ext cx="1706245" cy="452120"/>
            <a:chOff x="328" y="9755"/>
            <a:chExt cx="2687" cy="712"/>
          </a:xfrm>
        </p:grpSpPr>
        <p:grpSp>
          <p:nvGrpSpPr>
            <p:cNvPr id="88" name="组合 87"/>
            <p:cNvGrpSpPr/>
            <p:nvPr/>
          </p:nvGrpSpPr>
          <p:grpSpPr>
            <a:xfrm>
              <a:off x="328" y="9755"/>
              <a:ext cx="1913" cy="712"/>
              <a:chOff x="-2310" y="6539"/>
              <a:chExt cx="2512" cy="825"/>
            </a:xfrm>
          </p:grpSpPr>
          <p:grpSp>
            <p:nvGrpSpPr>
              <p:cNvPr id="89" name="组合 88"/>
              <p:cNvGrpSpPr/>
              <p:nvPr/>
            </p:nvGrpSpPr>
            <p:grpSpPr>
              <a:xfrm>
                <a:off x="-2310" y="6539"/>
                <a:ext cx="2512" cy="825"/>
                <a:chOff x="4274289" y="1858897"/>
                <a:chExt cx="2363227" cy="764679"/>
              </a:xfrm>
            </p:grpSpPr>
            <p:sp>
              <p:nvSpPr>
                <p:cNvPr id="90" name="任意形状 166"/>
                <p:cNvSpPr/>
                <p:nvPr/>
              </p:nvSpPr>
              <p:spPr>
                <a:xfrm>
                  <a:off x="4274289" y="1858897"/>
                  <a:ext cx="2363227" cy="764679"/>
                </a:xfrm>
                <a:custGeom>
                  <a:avLst/>
                  <a:gdLst>
                    <a:gd name="connsiteX0" fmla="*/ 1 w 4073505"/>
                    <a:gd name="connsiteY0" fmla="*/ 0 h 763469"/>
                    <a:gd name="connsiteX1" fmla="*/ 4073505 w 4073505"/>
                    <a:gd name="connsiteY1" fmla="*/ 0 h 763469"/>
                    <a:gd name="connsiteX2" fmla="*/ 4034181 w 4073505"/>
                    <a:gd name="connsiteY2" fmla="*/ 68168 h 763469"/>
                    <a:gd name="connsiteX3" fmla="*/ 3967214 w 4073505"/>
                    <a:gd name="connsiteY3" fmla="*/ 381734 h 763469"/>
                    <a:gd name="connsiteX4" fmla="*/ 4034181 w 4073505"/>
                    <a:gd name="connsiteY4" fmla="*/ 695301 h 763469"/>
                    <a:gd name="connsiteX5" fmla="*/ 4073505 w 4073505"/>
                    <a:gd name="connsiteY5" fmla="*/ 763469 h 763469"/>
                    <a:gd name="connsiteX6" fmla="*/ 0 w 4073505"/>
                    <a:gd name="connsiteY6" fmla="*/ 763469 h 763469"/>
                    <a:gd name="connsiteX7" fmla="*/ 39324 w 4073505"/>
                    <a:gd name="connsiteY7" fmla="*/ 695301 h 763469"/>
                    <a:gd name="connsiteX8" fmla="*/ 106291 w 4073505"/>
                    <a:gd name="connsiteY8" fmla="*/ 381734 h 763469"/>
                    <a:gd name="connsiteX9" fmla="*/ 39324 w 4073505"/>
                    <a:gd name="connsiteY9" fmla="*/ 68168 h 763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3505" h="763469">
                      <a:moveTo>
                        <a:pt x="1" y="0"/>
                      </a:moveTo>
                      <a:lnTo>
                        <a:pt x="4073505" y="0"/>
                      </a:lnTo>
                      <a:lnTo>
                        <a:pt x="4034181" y="68168"/>
                      </a:lnTo>
                      <a:cubicBezTo>
                        <a:pt x="3991902" y="157677"/>
                        <a:pt x="3967214" y="265582"/>
                        <a:pt x="3967214" y="381734"/>
                      </a:cubicBezTo>
                      <a:cubicBezTo>
                        <a:pt x="3967214" y="497886"/>
                        <a:pt x="3991902" y="605791"/>
                        <a:pt x="4034181" y="695301"/>
                      </a:cubicBezTo>
                      <a:lnTo>
                        <a:pt x="4073505" y="763469"/>
                      </a:lnTo>
                      <a:lnTo>
                        <a:pt x="0" y="763469"/>
                      </a:lnTo>
                      <a:lnTo>
                        <a:pt x="39324" y="695301"/>
                      </a:lnTo>
                      <a:cubicBezTo>
                        <a:pt x="81604" y="605791"/>
                        <a:pt x="106291" y="497886"/>
                        <a:pt x="106291" y="381734"/>
                      </a:cubicBezTo>
                      <a:cubicBezTo>
                        <a:pt x="106291" y="265582"/>
                        <a:pt x="81604" y="157677"/>
                        <a:pt x="39324" y="68168"/>
                      </a:cubicBezTo>
                      <a:close/>
                    </a:path>
                  </a:pathLst>
                </a:custGeom>
                <a:gradFill flip="none" rotWithShape="1">
                  <a:gsLst>
                    <a:gs pos="0">
                      <a:schemeClr val="accent1">
                        <a:lumMod val="60000"/>
                        <a:lumOff val="40000"/>
                      </a:schemeClr>
                    </a:gs>
                    <a:gs pos="99000">
                      <a:schemeClr val="accent1">
                        <a:lumMod val="60000"/>
                        <a:lumOff val="40000"/>
                      </a:schemeClr>
                    </a:gs>
                  </a:gsLst>
                  <a:lin ang="0" scaled="1"/>
                  <a:tileRect/>
                </a:gradFill>
                <a:ln>
                  <a:noFill/>
                </a:ln>
                <a:effectLst>
                  <a:outerShdw blurRad="127000" dist="88900" dir="5400000" algn="t" rotWithShape="0">
                    <a:schemeClr val="accent1">
                      <a:lumMod val="60000"/>
                      <a:lumOff val="40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91" name="任意形状 171"/>
                <p:cNvSpPr/>
                <p:nvPr/>
              </p:nvSpPr>
              <p:spPr>
                <a:xfrm>
                  <a:off x="4362513" y="1959137"/>
                  <a:ext cx="2186778" cy="564197"/>
                </a:xfrm>
                <a:custGeom>
                  <a:avLst/>
                  <a:gdLst>
                    <a:gd name="connsiteX0" fmla="*/ 1 w 4073505"/>
                    <a:gd name="connsiteY0" fmla="*/ 0 h 763469"/>
                    <a:gd name="connsiteX1" fmla="*/ 4073505 w 4073505"/>
                    <a:gd name="connsiteY1" fmla="*/ 0 h 763469"/>
                    <a:gd name="connsiteX2" fmla="*/ 4034181 w 4073505"/>
                    <a:gd name="connsiteY2" fmla="*/ 68168 h 763469"/>
                    <a:gd name="connsiteX3" fmla="*/ 3967214 w 4073505"/>
                    <a:gd name="connsiteY3" fmla="*/ 381734 h 763469"/>
                    <a:gd name="connsiteX4" fmla="*/ 4034181 w 4073505"/>
                    <a:gd name="connsiteY4" fmla="*/ 695301 h 763469"/>
                    <a:gd name="connsiteX5" fmla="*/ 4073505 w 4073505"/>
                    <a:gd name="connsiteY5" fmla="*/ 763469 h 763469"/>
                    <a:gd name="connsiteX6" fmla="*/ 0 w 4073505"/>
                    <a:gd name="connsiteY6" fmla="*/ 763469 h 763469"/>
                    <a:gd name="connsiteX7" fmla="*/ 39324 w 4073505"/>
                    <a:gd name="connsiteY7" fmla="*/ 695301 h 763469"/>
                    <a:gd name="connsiteX8" fmla="*/ 106291 w 4073505"/>
                    <a:gd name="connsiteY8" fmla="*/ 381734 h 763469"/>
                    <a:gd name="connsiteX9" fmla="*/ 39324 w 4073505"/>
                    <a:gd name="connsiteY9" fmla="*/ 68168 h 763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3505" h="763469">
                      <a:moveTo>
                        <a:pt x="1" y="0"/>
                      </a:moveTo>
                      <a:lnTo>
                        <a:pt x="4073505" y="0"/>
                      </a:lnTo>
                      <a:lnTo>
                        <a:pt x="4034181" y="68168"/>
                      </a:lnTo>
                      <a:cubicBezTo>
                        <a:pt x="3991902" y="157677"/>
                        <a:pt x="3967214" y="265582"/>
                        <a:pt x="3967214" y="381734"/>
                      </a:cubicBezTo>
                      <a:cubicBezTo>
                        <a:pt x="3967214" y="497886"/>
                        <a:pt x="3991902" y="605791"/>
                        <a:pt x="4034181" y="695301"/>
                      </a:cubicBezTo>
                      <a:lnTo>
                        <a:pt x="4073505" y="763469"/>
                      </a:lnTo>
                      <a:lnTo>
                        <a:pt x="0" y="763469"/>
                      </a:lnTo>
                      <a:lnTo>
                        <a:pt x="39324" y="695301"/>
                      </a:lnTo>
                      <a:cubicBezTo>
                        <a:pt x="81604" y="605791"/>
                        <a:pt x="106291" y="497886"/>
                        <a:pt x="106291" y="381734"/>
                      </a:cubicBezTo>
                      <a:cubicBezTo>
                        <a:pt x="106291" y="265582"/>
                        <a:pt x="81604" y="157677"/>
                        <a:pt x="39324" y="68168"/>
                      </a:cubicBezTo>
                      <a:close/>
                    </a:path>
                  </a:pathLst>
                </a:custGeom>
                <a:noFill/>
                <a:ln w="6350">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微软雅黑" panose="020B0503020204020204" charset="-122"/>
                    <a:ea typeface="微软雅黑" panose="020B0503020204020204" charset="-122"/>
                    <a:cs typeface="微软雅黑" panose="020B0503020204020204" charset="-122"/>
                  </a:endParaRPr>
                </a:p>
              </p:txBody>
            </p:sp>
          </p:grpSp>
          <p:sp>
            <p:nvSpPr>
              <p:cNvPr id="92" name="文本框 91"/>
              <p:cNvSpPr txBox="1"/>
              <p:nvPr/>
            </p:nvSpPr>
            <p:spPr>
              <a:xfrm>
                <a:off x="-2124" y="6714"/>
                <a:ext cx="2119" cy="475"/>
              </a:xfrm>
              <a:prstGeom prst="rect">
                <a:avLst/>
              </a:prstGeom>
              <a:noFill/>
            </p:spPr>
            <p:txBody>
              <a:bodyPr wrap="square" rtlCol="0">
                <a:spAutoFit/>
              </a:bodyPr>
              <a:lstStyle/>
              <a:p>
                <a:pPr algn="ctr"/>
                <a:r>
                  <a:rPr lang="zh-CN" sz="1100" b="1">
                    <a:solidFill>
                      <a:schemeClr val="bg1"/>
                    </a:solidFill>
                    <a:latin typeface="微软雅黑" panose="020B0503020204020204" charset="-122"/>
                    <a:ea typeface="微软雅黑" panose="020B0503020204020204" charset="-122"/>
                    <a:cs typeface="微软雅黑" panose="020B0503020204020204" charset="-122"/>
                  </a:rPr>
                  <a:t>数据应用层</a:t>
                </a:r>
                <a:endParaRPr lang="zh-CN" sz="11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cxnSp>
          <p:nvCxnSpPr>
            <p:cNvPr id="93" name="直接连接符 92"/>
            <p:cNvCxnSpPr>
              <a:stCxn id="90" idx="3"/>
            </p:cNvCxnSpPr>
            <p:nvPr/>
          </p:nvCxnSpPr>
          <p:spPr>
            <a:xfrm>
              <a:off x="2191" y="10111"/>
              <a:ext cx="824" cy="0"/>
            </a:xfrm>
            <a:prstGeom prst="line">
              <a:avLst/>
            </a:prstGeom>
            <a:ln>
              <a:gradFill>
                <a:gsLst>
                  <a:gs pos="0">
                    <a:schemeClr val="accent1">
                      <a:lumMod val="60000"/>
                      <a:lumOff val="40000"/>
                    </a:schemeClr>
                  </a:gs>
                  <a:gs pos="100000">
                    <a:schemeClr val="accent1">
                      <a:lumMod val="60000"/>
                      <a:lumOff val="40000"/>
                      <a:alpha val="0"/>
                    </a:schemeClr>
                  </a:gs>
                </a:gsLst>
                <a:lin ang="10800000" scaled="1"/>
              </a:gradFill>
              <a:tailEnd type="oval"/>
            </a:ln>
          </p:spPr>
          <p:style>
            <a:lnRef idx="2">
              <a:schemeClr val="accent1"/>
            </a:lnRef>
            <a:fillRef idx="0">
              <a:srgbClr val="FFFFFF"/>
            </a:fillRef>
            <a:effectRef idx="0">
              <a:srgbClr val="FFFFFF"/>
            </a:effectRef>
            <a:fontRef idx="minor">
              <a:schemeClr val="tx1"/>
            </a:fontRef>
          </p:style>
        </p:cxnSp>
      </p:grpSp>
      <p:grpSp>
        <p:nvGrpSpPr>
          <p:cNvPr id="95" name="组合 94"/>
          <p:cNvGrpSpPr/>
          <p:nvPr/>
        </p:nvGrpSpPr>
        <p:grpSpPr>
          <a:xfrm>
            <a:off x="506095" y="1255395"/>
            <a:ext cx="1706245" cy="452120"/>
            <a:chOff x="328" y="9755"/>
            <a:chExt cx="2687" cy="712"/>
          </a:xfrm>
        </p:grpSpPr>
        <p:grpSp>
          <p:nvGrpSpPr>
            <p:cNvPr id="100" name="组合 99"/>
            <p:cNvGrpSpPr/>
            <p:nvPr/>
          </p:nvGrpSpPr>
          <p:grpSpPr>
            <a:xfrm>
              <a:off x="328" y="9755"/>
              <a:ext cx="1913" cy="712"/>
              <a:chOff x="-2310" y="6539"/>
              <a:chExt cx="2512" cy="825"/>
            </a:xfrm>
          </p:grpSpPr>
          <p:grpSp>
            <p:nvGrpSpPr>
              <p:cNvPr id="102" name="组合 101"/>
              <p:cNvGrpSpPr/>
              <p:nvPr/>
            </p:nvGrpSpPr>
            <p:grpSpPr>
              <a:xfrm>
                <a:off x="-2310" y="6539"/>
                <a:ext cx="2512" cy="825"/>
                <a:chOff x="4274289" y="1858897"/>
                <a:chExt cx="2363227" cy="764679"/>
              </a:xfrm>
            </p:grpSpPr>
            <p:sp>
              <p:nvSpPr>
                <p:cNvPr id="103" name="任意形状 166"/>
                <p:cNvSpPr/>
                <p:nvPr/>
              </p:nvSpPr>
              <p:spPr>
                <a:xfrm>
                  <a:off x="4274289" y="1858897"/>
                  <a:ext cx="2363227" cy="764679"/>
                </a:xfrm>
                <a:custGeom>
                  <a:avLst/>
                  <a:gdLst>
                    <a:gd name="connsiteX0" fmla="*/ 1 w 4073505"/>
                    <a:gd name="connsiteY0" fmla="*/ 0 h 763469"/>
                    <a:gd name="connsiteX1" fmla="*/ 4073505 w 4073505"/>
                    <a:gd name="connsiteY1" fmla="*/ 0 h 763469"/>
                    <a:gd name="connsiteX2" fmla="*/ 4034181 w 4073505"/>
                    <a:gd name="connsiteY2" fmla="*/ 68168 h 763469"/>
                    <a:gd name="connsiteX3" fmla="*/ 3967214 w 4073505"/>
                    <a:gd name="connsiteY3" fmla="*/ 381734 h 763469"/>
                    <a:gd name="connsiteX4" fmla="*/ 4034181 w 4073505"/>
                    <a:gd name="connsiteY4" fmla="*/ 695301 h 763469"/>
                    <a:gd name="connsiteX5" fmla="*/ 4073505 w 4073505"/>
                    <a:gd name="connsiteY5" fmla="*/ 763469 h 763469"/>
                    <a:gd name="connsiteX6" fmla="*/ 0 w 4073505"/>
                    <a:gd name="connsiteY6" fmla="*/ 763469 h 763469"/>
                    <a:gd name="connsiteX7" fmla="*/ 39324 w 4073505"/>
                    <a:gd name="connsiteY7" fmla="*/ 695301 h 763469"/>
                    <a:gd name="connsiteX8" fmla="*/ 106291 w 4073505"/>
                    <a:gd name="connsiteY8" fmla="*/ 381734 h 763469"/>
                    <a:gd name="connsiteX9" fmla="*/ 39324 w 4073505"/>
                    <a:gd name="connsiteY9" fmla="*/ 68168 h 763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3505" h="763469">
                      <a:moveTo>
                        <a:pt x="1" y="0"/>
                      </a:moveTo>
                      <a:lnTo>
                        <a:pt x="4073505" y="0"/>
                      </a:lnTo>
                      <a:lnTo>
                        <a:pt x="4034181" y="68168"/>
                      </a:lnTo>
                      <a:cubicBezTo>
                        <a:pt x="3991902" y="157677"/>
                        <a:pt x="3967214" y="265582"/>
                        <a:pt x="3967214" y="381734"/>
                      </a:cubicBezTo>
                      <a:cubicBezTo>
                        <a:pt x="3967214" y="497886"/>
                        <a:pt x="3991902" y="605791"/>
                        <a:pt x="4034181" y="695301"/>
                      </a:cubicBezTo>
                      <a:lnTo>
                        <a:pt x="4073505" y="763469"/>
                      </a:lnTo>
                      <a:lnTo>
                        <a:pt x="0" y="763469"/>
                      </a:lnTo>
                      <a:lnTo>
                        <a:pt x="39324" y="695301"/>
                      </a:lnTo>
                      <a:cubicBezTo>
                        <a:pt x="81604" y="605791"/>
                        <a:pt x="106291" y="497886"/>
                        <a:pt x="106291" y="381734"/>
                      </a:cubicBezTo>
                      <a:cubicBezTo>
                        <a:pt x="106291" y="265582"/>
                        <a:pt x="81604" y="157677"/>
                        <a:pt x="39324" y="68168"/>
                      </a:cubicBezTo>
                      <a:close/>
                    </a:path>
                  </a:pathLst>
                </a:custGeom>
                <a:gradFill flip="none" rotWithShape="1">
                  <a:gsLst>
                    <a:gs pos="0">
                      <a:schemeClr val="accent1">
                        <a:lumMod val="60000"/>
                        <a:lumOff val="40000"/>
                      </a:schemeClr>
                    </a:gs>
                    <a:gs pos="99000">
                      <a:schemeClr val="accent1">
                        <a:lumMod val="60000"/>
                        <a:lumOff val="40000"/>
                      </a:schemeClr>
                    </a:gs>
                  </a:gsLst>
                  <a:lin ang="0" scaled="1"/>
                  <a:tileRect/>
                </a:gradFill>
                <a:ln>
                  <a:noFill/>
                </a:ln>
                <a:effectLst>
                  <a:outerShdw blurRad="127000" dist="88900" dir="5400000" algn="t" rotWithShape="0">
                    <a:schemeClr val="accent1">
                      <a:lumMod val="60000"/>
                      <a:lumOff val="40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104" name="任意形状 171"/>
                <p:cNvSpPr/>
                <p:nvPr/>
              </p:nvSpPr>
              <p:spPr>
                <a:xfrm>
                  <a:off x="4362513" y="1959137"/>
                  <a:ext cx="2186778" cy="564197"/>
                </a:xfrm>
                <a:custGeom>
                  <a:avLst/>
                  <a:gdLst>
                    <a:gd name="connsiteX0" fmla="*/ 1 w 4073505"/>
                    <a:gd name="connsiteY0" fmla="*/ 0 h 763469"/>
                    <a:gd name="connsiteX1" fmla="*/ 4073505 w 4073505"/>
                    <a:gd name="connsiteY1" fmla="*/ 0 h 763469"/>
                    <a:gd name="connsiteX2" fmla="*/ 4034181 w 4073505"/>
                    <a:gd name="connsiteY2" fmla="*/ 68168 h 763469"/>
                    <a:gd name="connsiteX3" fmla="*/ 3967214 w 4073505"/>
                    <a:gd name="connsiteY3" fmla="*/ 381734 h 763469"/>
                    <a:gd name="connsiteX4" fmla="*/ 4034181 w 4073505"/>
                    <a:gd name="connsiteY4" fmla="*/ 695301 h 763469"/>
                    <a:gd name="connsiteX5" fmla="*/ 4073505 w 4073505"/>
                    <a:gd name="connsiteY5" fmla="*/ 763469 h 763469"/>
                    <a:gd name="connsiteX6" fmla="*/ 0 w 4073505"/>
                    <a:gd name="connsiteY6" fmla="*/ 763469 h 763469"/>
                    <a:gd name="connsiteX7" fmla="*/ 39324 w 4073505"/>
                    <a:gd name="connsiteY7" fmla="*/ 695301 h 763469"/>
                    <a:gd name="connsiteX8" fmla="*/ 106291 w 4073505"/>
                    <a:gd name="connsiteY8" fmla="*/ 381734 h 763469"/>
                    <a:gd name="connsiteX9" fmla="*/ 39324 w 4073505"/>
                    <a:gd name="connsiteY9" fmla="*/ 68168 h 763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73505" h="763469">
                      <a:moveTo>
                        <a:pt x="1" y="0"/>
                      </a:moveTo>
                      <a:lnTo>
                        <a:pt x="4073505" y="0"/>
                      </a:lnTo>
                      <a:lnTo>
                        <a:pt x="4034181" y="68168"/>
                      </a:lnTo>
                      <a:cubicBezTo>
                        <a:pt x="3991902" y="157677"/>
                        <a:pt x="3967214" y="265582"/>
                        <a:pt x="3967214" y="381734"/>
                      </a:cubicBezTo>
                      <a:cubicBezTo>
                        <a:pt x="3967214" y="497886"/>
                        <a:pt x="3991902" y="605791"/>
                        <a:pt x="4034181" y="695301"/>
                      </a:cubicBezTo>
                      <a:lnTo>
                        <a:pt x="4073505" y="763469"/>
                      </a:lnTo>
                      <a:lnTo>
                        <a:pt x="0" y="763469"/>
                      </a:lnTo>
                      <a:lnTo>
                        <a:pt x="39324" y="695301"/>
                      </a:lnTo>
                      <a:cubicBezTo>
                        <a:pt x="81604" y="605791"/>
                        <a:pt x="106291" y="497886"/>
                        <a:pt x="106291" y="381734"/>
                      </a:cubicBezTo>
                      <a:cubicBezTo>
                        <a:pt x="106291" y="265582"/>
                        <a:pt x="81604" y="157677"/>
                        <a:pt x="39324" y="68168"/>
                      </a:cubicBezTo>
                      <a:close/>
                    </a:path>
                  </a:pathLst>
                </a:custGeom>
                <a:noFill/>
                <a:ln w="6350">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微软雅黑" panose="020B0503020204020204" charset="-122"/>
                    <a:ea typeface="微软雅黑" panose="020B0503020204020204" charset="-122"/>
                    <a:cs typeface="微软雅黑" panose="020B0503020204020204" charset="-122"/>
                  </a:endParaRPr>
                </a:p>
              </p:txBody>
            </p:sp>
          </p:grpSp>
          <p:sp>
            <p:nvSpPr>
              <p:cNvPr id="105" name="文本框 104"/>
              <p:cNvSpPr txBox="1"/>
              <p:nvPr/>
            </p:nvSpPr>
            <p:spPr>
              <a:xfrm>
                <a:off x="-2124" y="6714"/>
                <a:ext cx="2119" cy="475"/>
              </a:xfrm>
              <a:prstGeom prst="rect">
                <a:avLst/>
              </a:prstGeom>
              <a:noFill/>
            </p:spPr>
            <p:txBody>
              <a:bodyPr wrap="square" rtlCol="0">
                <a:spAutoFit/>
              </a:bodyPr>
              <a:lstStyle/>
              <a:p>
                <a:pPr algn="ctr"/>
                <a:r>
                  <a:rPr lang="zh-CN" sz="1100" b="1">
                    <a:solidFill>
                      <a:schemeClr val="bg1"/>
                    </a:solidFill>
                    <a:latin typeface="微软雅黑" panose="020B0503020204020204" charset="-122"/>
                    <a:ea typeface="微软雅黑" panose="020B0503020204020204" charset="-122"/>
                    <a:cs typeface="微软雅黑" panose="020B0503020204020204" charset="-122"/>
                  </a:rPr>
                  <a:t>用户展示平台</a:t>
                </a:r>
                <a:endParaRPr lang="zh-CN" sz="11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cxnSp>
          <p:nvCxnSpPr>
            <p:cNvPr id="106" name="直接连接符 105"/>
            <p:cNvCxnSpPr>
              <a:stCxn id="103" idx="3"/>
            </p:cNvCxnSpPr>
            <p:nvPr/>
          </p:nvCxnSpPr>
          <p:spPr>
            <a:xfrm>
              <a:off x="2191" y="10111"/>
              <a:ext cx="824" cy="0"/>
            </a:xfrm>
            <a:prstGeom prst="line">
              <a:avLst/>
            </a:prstGeom>
            <a:ln>
              <a:gradFill>
                <a:gsLst>
                  <a:gs pos="0">
                    <a:schemeClr val="accent1">
                      <a:lumMod val="60000"/>
                      <a:lumOff val="40000"/>
                    </a:schemeClr>
                  </a:gs>
                  <a:gs pos="100000">
                    <a:schemeClr val="accent1">
                      <a:lumMod val="60000"/>
                      <a:lumOff val="40000"/>
                      <a:alpha val="0"/>
                    </a:schemeClr>
                  </a:gs>
                </a:gsLst>
                <a:lin ang="10800000" scaled="1"/>
              </a:gradFill>
              <a:tailEnd type="oval"/>
            </a:ln>
          </p:spPr>
          <p:style>
            <a:lnRef idx="2">
              <a:schemeClr val="accent1"/>
            </a:lnRef>
            <a:fillRef idx="0">
              <a:srgbClr val="FFFFFF"/>
            </a:fillRef>
            <a:effectRef idx="0">
              <a:srgbClr val="FFFFFF"/>
            </a:effectRef>
            <a:fontRef idx="minor">
              <a:schemeClr val="tx1"/>
            </a:fontRef>
          </p:style>
        </p:cxnSp>
      </p:grpSp>
      <p:sp>
        <p:nvSpPr>
          <p:cNvPr id="109" name="文本框 108"/>
          <p:cNvSpPr txBox="1"/>
          <p:nvPr/>
        </p:nvSpPr>
        <p:spPr>
          <a:xfrm>
            <a:off x="4275773" y="6238240"/>
            <a:ext cx="1429385" cy="260350"/>
          </a:xfrm>
          <a:prstGeom prst="rect">
            <a:avLst/>
          </a:prstGeom>
          <a:noFill/>
        </p:spPr>
        <p:txBody>
          <a:bodyPr wrap="square" rtlCol="0">
            <a:spAutoFit/>
          </a:bodyPr>
          <a:lstStyle/>
          <a:p>
            <a:pPr algn="ctr"/>
            <a:r>
              <a:rPr lang="zh-CN" altLang="en-US" sz="11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企业</a:t>
            </a:r>
            <a:r>
              <a:rPr lang="en-US" altLang="zh-CN" sz="11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IT</a:t>
            </a:r>
            <a:r>
              <a:rPr lang="zh-CN" altLang="en-US" sz="11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基础设施</a:t>
            </a:r>
            <a:endParaRPr lang="zh-CN" altLang="en-US" sz="1100" b="1" dirty="0">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endParaRPr>
          </a:p>
        </p:txBody>
      </p:sp>
      <p:grpSp>
        <p:nvGrpSpPr>
          <p:cNvPr id="115" name="组合 114"/>
          <p:cNvGrpSpPr/>
          <p:nvPr/>
        </p:nvGrpSpPr>
        <p:grpSpPr>
          <a:xfrm>
            <a:off x="2592705" y="5842635"/>
            <a:ext cx="805180" cy="180975"/>
            <a:chOff x="4131" y="9498"/>
            <a:chExt cx="1268" cy="285"/>
          </a:xfrm>
        </p:grpSpPr>
        <p:sp>
          <p:nvSpPr>
            <p:cNvPr id="113" name="圆角矩形 112"/>
            <p:cNvSpPr/>
            <p:nvPr/>
          </p:nvSpPr>
          <p:spPr>
            <a:xfrm>
              <a:off x="4131" y="9498"/>
              <a:ext cx="1268" cy="285"/>
            </a:xfrm>
            <a:prstGeom prst="roundRect">
              <a:avLst>
                <a:gd name="adj" fmla="val 50000"/>
              </a:avLst>
            </a:prstGeom>
            <a:solidFill>
              <a:schemeClr val="accent1">
                <a:lumMod val="20000"/>
                <a:lumOff val="8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14" name="紫荆的职场Point22"/>
            <p:cNvSpPr txBox="1"/>
            <p:nvPr/>
          </p:nvSpPr>
          <p:spPr>
            <a:xfrm>
              <a:off x="4210" y="9507"/>
              <a:ext cx="1110" cy="267"/>
            </a:xfrm>
            <a:prstGeom prst="rect">
              <a:avLst/>
            </a:prstGeom>
            <a:noFill/>
          </p:spPr>
          <p:txBody>
            <a:bodyPr wrap="square" anchor="ctr" anchorCtr="0">
              <a:no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服务器集群</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116" name="组合 115"/>
          <p:cNvGrpSpPr/>
          <p:nvPr/>
        </p:nvGrpSpPr>
        <p:grpSpPr>
          <a:xfrm>
            <a:off x="3573780" y="5842635"/>
            <a:ext cx="805180" cy="180975"/>
            <a:chOff x="4131" y="9498"/>
            <a:chExt cx="1268" cy="285"/>
          </a:xfrm>
        </p:grpSpPr>
        <p:sp>
          <p:nvSpPr>
            <p:cNvPr id="117" name="圆角矩形 116"/>
            <p:cNvSpPr/>
            <p:nvPr/>
          </p:nvSpPr>
          <p:spPr>
            <a:xfrm>
              <a:off x="4131" y="9498"/>
              <a:ext cx="1268" cy="285"/>
            </a:xfrm>
            <a:prstGeom prst="roundRect">
              <a:avLst>
                <a:gd name="adj" fmla="val 50000"/>
              </a:avLst>
            </a:prstGeom>
            <a:solidFill>
              <a:schemeClr val="accent1">
                <a:lumMod val="20000"/>
                <a:lumOff val="8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18" name="紫荆的职场Point22"/>
            <p:cNvSpPr txBox="1"/>
            <p:nvPr/>
          </p:nvSpPr>
          <p:spPr>
            <a:xfrm>
              <a:off x="4210" y="9507"/>
              <a:ext cx="1110" cy="267"/>
            </a:xfrm>
            <a:prstGeom prst="rect">
              <a:avLst/>
            </a:prstGeom>
            <a:noFill/>
          </p:spPr>
          <p:txBody>
            <a:bodyPr wrap="square" anchor="ctr" anchorCtr="0">
              <a:no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存</a:t>
              </a:r>
              <a:r>
                <a:rPr lang="en-US" altLang="zh-CN" sz="800" dirty="0">
                  <a:solidFill>
                    <a:schemeClr val="tx2"/>
                  </a:solidFill>
                  <a:latin typeface="微软雅黑" panose="020B0503020204020204" charset="-122"/>
                  <a:ea typeface="微软雅黑" panose="020B0503020204020204" charset="-122"/>
                  <a:cs typeface="微软雅黑" panose="020B0503020204020204" charset="-122"/>
                </a:rPr>
                <a:t> </a:t>
              </a: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储</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119" name="组合 118"/>
          <p:cNvGrpSpPr/>
          <p:nvPr/>
        </p:nvGrpSpPr>
        <p:grpSpPr>
          <a:xfrm>
            <a:off x="4554855" y="5842635"/>
            <a:ext cx="805180" cy="180975"/>
            <a:chOff x="4131" y="9498"/>
            <a:chExt cx="1268" cy="285"/>
          </a:xfrm>
        </p:grpSpPr>
        <p:sp>
          <p:nvSpPr>
            <p:cNvPr id="120" name="圆角矩形 119"/>
            <p:cNvSpPr/>
            <p:nvPr/>
          </p:nvSpPr>
          <p:spPr>
            <a:xfrm>
              <a:off x="4131" y="9498"/>
              <a:ext cx="1268" cy="285"/>
            </a:xfrm>
            <a:prstGeom prst="roundRect">
              <a:avLst>
                <a:gd name="adj" fmla="val 50000"/>
              </a:avLst>
            </a:prstGeom>
            <a:solidFill>
              <a:schemeClr val="accent1">
                <a:lumMod val="20000"/>
                <a:lumOff val="8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21" name="紫荆的职场Point22"/>
            <p:cNvSpPr txBox="1"/>
            <p:nvPr/>
          </p:nvSpPr>
          <p:spPr>
            <a:xfrm>
              <a:off x="4210" y="9507"/>
              <a:ext cx="1110" cy="267"/>
            </a:xfrm>
            <a:prstGeom prst="rect">
              <a:avLst/>
            </a:prstGeom>
            <a:noFill/>
          </p:spPr>
          <p:txBody>
            <a:bodyPr wrap="square" anchor="ctr" anchorCtr="0">
              <a:no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网络</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122" name="组合 121"/>
          <p:cNvGrpSpPr/>
          <p:nvPr/>
        </p:nvGrpSpPr>
        <p:grpSpPr>
          <a:xfrm>
            <a:off x="6517005" y="5814060"/>
            <a:ext cx="805180" cy="209550"/>
            <a:chOff x="4131" y="9453"/>
            <a:chExt cx="1268" cy="330"/>
          </a:xfrm>
        </p:grpSpPr>
        <p:sp>
          <p:nvSpPr>
            <p:cNvPr id="123" name="圆角矩形 122"/>
            <p:cNvSpPr/>
            <p:nvPr/>
          </p:nvSpPr>
          <p:spPr>
            <a:xfrm>
              <a:off x="4131" y="9498"/>
              <a:ext cx="1268" cy="285"/>
            </a:xfrm>
            <a:prstGeom prst="roundRect">
              <a:avLst>
                <a:gd name="adj" fmla="val 50000"/>
              </a:avLst>
            </a:prstGeom>
            <a:solidFill>
              <a:schemeClr val="accent1">
                <a:lumMod val="20000"/>
                <a:lumOff val="8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24" name="紫荆的职场Point22"/>
            <p:cNvSpPr txBox="1"/>
            <p:nvPr/>
          </p:nvSpPr>
          <p:spPr>
            <a:xfrm>
              <a:off x="4210" y="9453"/>
              <a:ext cx="1110" cy="267"/>
            </a:xfrm>
            <a:prstGeom prst="rect">
              <a:avLst/>
            </a:prstGeom>
            <a:noFill/>
          </p:spPr>
          <p:txBody>
            <a:bodyPr wrap="square" anchor="ctr" anchorCtr="0">
              <a:noAutofit/>
            </a:bodyPr>
            <a:lstStyle/>
            <a:p>
              <a:pPr algn="ctr"/>
              <a:r>
                <a:rPr lang="en-US" altLang="zh-CN" sz="800" dirty="0">
                  <a:solidFill>
                    <a:schemeClr val="tx2"/>
                  </a:solidFill>
                  <a:latin typeface="微软雅黑" panose="020B0503020204020204" charset="-122"/>
                  <a:ea typeface="微软雅黑" panose="020B0503020204020204" charset="-122"/>
                  <a:cs typeface="微软雅黑" panose="020B0503020204020204" charset="-122"/>
                </a:rPr>
                <a:t>……</a:t>
              </a:r>
              <a:endParaRPr lang="en-US" altLang="zh-CN" sz="8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125" name="组合 124"/>
          <p:cNvGrpSpPr/>
          <p:nvPr/>
        </p:nvGrpSpPr>
        <p:grpSpPr>
          <a:xfrm>
            <a:off x="5535930" y="5842635"/>
            <a:ext cx="805180" cy="180975"/>
            <a:chOff x="4131" y="9498"/>
            <a:chExt cx="1268" cy="285"/>
          </a:xfrm>
        </p:grpSpPr>
        <p:sp>
          <p:nvSpPr>
            <p:cNvPr id="126" name="圆角矩形 125"/>
            <p:cNvSpPr/>
            <p:nvPr/>
          </p:nvSpPr>
          <p:spPr>
            <a:xfrm>
              <a:off x="4131" y="9498"/>
              <a:ext cx="1268" cy="285"/>
            </a:xfrm>
            <a:prstGeom prst="roundRect">
              <a:avLst>
                <a:gd name="adj" fmla="val 50000"/>
              </a:avLst>
            </a:prstGeom>
            <a:solidFill>
              <a:schemeClr val="accent1">
                <a:lumMod val="20000"/>
                <a:lumOff val="8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27" name="紫荆的职场Point22"/>
            <p:cNvSpPr txBox="1"/>
            <p:nvPr/>
          </p:nvSpPr>
          <p:spPr>
            <a:xfrm>
              <a:off x="4210" y="9507"/>
              <a:ext cx="1110" cy="267"/>
            </a:xfrm>
            <a:prstGeom prst="rect">
              <a:avLst/>
            </a:prstGeom>
            <a:noFill/>
          </p:spPr>
          <p:txBody>
            <a:bodyPr wrap="square" anchor="ctr" anchorCtr="0">
              <a:no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网络</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129" name="文本框 128"/>
          <p:cNvSpPr txBox="1"/>
          <p:nvPr/>
        </p:nvSpPr>
        <p:spPr>
          <a:xfrm>
            <a:off x="3690394" y="5077479"/>
            <a:ext cx="1024708" cy="229870"/>
          </a:xfrm>
          <a:prstGeom prst="rect">
            <a:avLst/>
          </a:prstGeom>
          <a:noFill/>
        </p:spPr>
        <p:txBody>
          <a:bodyPr wrap="square" rtlCol="0">
            <a:spAutoFit/>
          </a:bodyPr>
          <a:lstStyle/>
          <a:p>
            <a:pPr algn="ctr"/>
            <a:r>
              <a:rPr lang="zh-CN" sz="9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统一数据源</a:t>
            </a:r>
            <a:endParaRPr lang="zh-CN" sz="900" b="1" dirty="0">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endParaRPr>
          </a:p>
        </p:txBody>
      </p:sp>
      <p:sp>
        <p:nvSpPr>
          <p:cNvPr id="130" name="圆角矩形 129"/>
          <p:cNvSpPr/>
          <p:nvPr/>
        </p:nvSpPr>
        <p:spPr>
          <a:xfrm>
            <a:off x="2520315" y="5315585"/>
            <a:ext cx="652780" cy="267970"/>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32" name="圆角矩形 131"/>
          <p:cNvSpPr/>
          <p:nvPr/>
        </p:nvSpPr>
        <p:spPr>
          <a:xfrm>
            <a:off x="3974465" y="5315585"/>
            <a:ext cx="938530" cy="267970"/>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33" name="圆角矩形 132"/>
          <p:cNvSpPr/>
          <p:nvPr/>
        </p:nvSpPr>
        <p:spPr>
          <a:xfrm>
            <a:off x="4987290" y="5315585"/>
            <a:ext cx="938530" cy="267970"/>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34" name="紫荆的职场Point22"/>
          <p:cNvSpPr txBox="1"/>
          <p:nvPr/>
        </p:nvSpPr>
        <p:spPr>
          <a:xfrm>
            <a:off x="2582863" y="5364798"/>
            <a:ext cx="527685" cy="169545"/>
          </a:xfrm>
          <a:prstGeom prst="rect">
            <a:avLst/>
          </a:prstGeom>
          <a:noFill/>
        </p:spPr>
        <p:txBody>
          <a:bodyPr wrap="square" anchor="ctr" anchorCtr="0">
            <a:noAutofit/>
          </a:bodyPr>
          <a:lstStyle/>
          <a:p>
            <a:pPr algn="ctr"/>
            <a:r>
              <a:rPr lang="zh-CN" altLang="en-US" sz="700" dirty="0">
                <a:solidFill>
                  <a:schemeClr val="bg1"/>
                </a:solidFill>
                <a:latin typeface="微软雅黑" panose="020B0503020204020204" charset="-122"/>
                <a:ea typeface="微软雅黑" panose="020B0503020204020204" charset="-122"/>
                <a:cs typeface="微软雅黑" panose="020B0503020204020204" charset="-122"/>
              </a:rPr>
              <a:t>关系型</a:t>
            </a:r>
            <a:endParaRPr lang="zh-CN" altLang="en-US" sz="700" dirty="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700" dirty="0">
                <a:solidFill>
                  <a:schemeClr val="bg1"/>
                </a:solidFill>
                <a:latin typeface="微软雅黑" panose="020B0503020204020204" charset="-122"/>
                <a:ea typeface="微软雅黑" panose="020B0503020204020204" charset="-122"/>
                <a:cs typeface="微软雅黑" panose="020B0503020204020204" charset="-122"/>
              </a:rPr>
              <a:t>数据库</a:t>
            </a:r>
            <a:endParaRPr lang="zh-CN" altLang="en-US" sz="7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6" name="紫荆的职场Point22"/>
          <p:cNvSpPr txBox="1"/>
          <p:nvPr/>
        </p:nvSpPr>
        <p:spPr>
          <a:xfrm>
            <a:off x="4079240" y="5364798"/>
            <a:ext cx="728980" cy="169545"/>
          </a:xfrm>
          <a:prstGeom prst="rect">
            <a:avLst/>
          </a:prstGeom>
          <a:noFill/>
        </p:spPr>
        <p:txBody>
          <a:bodyPr wrap="square" anchor="ctr" anchorCtr="0">
            <a:noAutofit/>
          </a:bodyPr>
          <a:lstStyle/>
          <a:p>
            <a:pPr algn="ctr"/>
            <a:r>
              <a:rPr lang="zh-CN" altLang="en-US" sz="700" dirty="0">
                <a:solidFill>
                  <a:schemeClr val="bg1"/>
                </a:solidFill>
                <a:latin typeface="微软雅黑" panose="020B0503020204020204" charset="-122"/>
                <a:ea typeface="微软雅黑" panose="020B0503020204020204" charset="-122"/>
                <a:cs typeface="微软雅黑" panose="020B0503020204020204" charset="-122"/>
              </a:rPr>
              <a:t>分布式</a:t>
            </a:r>
            <a:endParaRPr lang="zh-CN" altLang="en-US" sz="700" dirty="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700" dirty="0">
                <a:solidFill>
                  <a:schemeClr val="bg1"/>
                </a:solidFill>
                <a:latin typeface="微软雅黑" panose="020B0503020204020204" charset="-122"/>
                <a:ea typeface="微软雅黑" panose="020B0503020204020204" charset="-122"/>
                <a:cs typeface="微软雅黑" panose="020B0503020204020204" charset="-122"/>
              </a:rPr>
              <a:t>关系型数据库</a:t>
            </a:r>
            <a:endParaRPr lang="zh-CN" altLang="en-US" sz="7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7" name="紫荆的职场Point22"/>
          <p:cNvSpPr txBox="1"/>
          <p:nvPr/>
        </p:nvSpPr>
        <p:spPr>
          <a:xfrm>
            <a:off x="5080635" y="5364798"/>
            <a:ext cx="751840" cy="169545"/>
          </a:xfrm>
          <a:prstGeom prst="rect">
            <a:avLst/>
          </a:prstGeom>
          <a:noFill/>
        </p:spPr>
        <p:txBody>
          <a:bodyPr wrap="square" anchor="ctr" anchorCtr="0">
            <a:noAutofit/>
          </a:bodyPr>
          <a:lstStyle/>
          <a:p>
            <a:pPr algn="ctr"/>
            <a:r>
              <a:rPr lang="zh-CN" altLang="en-US" sz="700" dirty="0">
                <a:solidFill>
                  <a:schemeClr val="bg1"/>
                </a:solidFill>
                <a:latin typeface="微软雅黑" panose="020B0503020204020204" charset="-122"/>
                <a:ea typeface="微软雅黑" panose="020B0503020204020204" charset="-122"/>
                <a:cs typeface="微软雅黑" panose="020B0503020204020204" charset="-122"/>
              </a:rPr>
              <a:t>分布式</a:t>
            </a:r>
            <a:endParaRPr lang="zh-CN" altLang="en-US" sz="700" dirty="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700" dirty="0">
                <a:solidFill>
                  <a:schemeClr val="bg1"/>
                </a:solidFill>
                <a:latin typeface="微软雅黑" panose="020B0503020204020204" charset="-122"/>
                <a:ea typeface="微软雅黑" panose="020B0503020204020204" charset="-122"/>
                <a:cs typeface="微软雅黑" panose="020B0503020204020204" charset="-122"/>
              </a:rPr>
              <a:t>文件系统</a:t>
            </a:r>
            <a:endParaRPr lang="zh-CN" altLang="en-US" sz="7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8" name="文本框 137"/>
          <p:cNvSpPr txBox="1"/>
          <p:nvPr/>
        </p:nvSpPr>
        <p:spPr>
          <a:xfrm>
            <a:off x="3108325" y="3082290"/>
            <a:ext cx="2188845" cy="229870"/>
          </a:xfrm>
          <a:prstGeom prst="rect">
            <a:avLst/>
          </a:prstGeom>
          <a:noFill/>
        </p:spPr>
        <p:txBody>
          <a:bodyPr wrap="square" rtlCol="0">
            <a:spAutoFit/>
          </a:bodyPr>
          <a:lstStyle/>
          <a:p>
            <a:pPr algn="ctr"/>
            <a:r>
              <a:rPr lang="zh-CN" sz="9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数据共享平台</a:t>
            </a:r>
            <a:r>
              <a:rPr lang="en-US" altLang="zh-CN" sz="9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a:t>
            </a:r>
            <a:r>
              <a:rPr lang="zh-CN" altLang="en-US" sz="9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企业服务总线</a:t>
            </a:r>
            <a:r>
              <a:rPr lang="en-US" altLang="zh-CN" sz="9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ESB</a:t>
            </a:r>
            <a:endParaRPr lang="en-US" altLang="zh-CN" sz="900" b="1" dirty="0">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endParaRPr>
          </a:p>
        </p:txBody>
      </p:sp>
      <p:sp>
        <p:nvSpPr>
          <p:cNvPr id="4" name="圆角矩形 3"/>
          <p:cNvSpPr/>
          <p:nvPr/>
        </p:nvSpPr>
        <p:spPr>
          <a:xfrm>
            <a:off x="2475230" y="3360420"/>
            <a:ext cx="540000" cy="197485"/>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800">
                <a:cs typeface="微软雅黑" panose="020B0503020204020204" charset="-122"/>
              </a:rPr>
              <a:t>SQL</a:t>
            </a:r>
            <a:endParaRPr lang="en-US" altLang="zh-CN" sz="800">
              <a:cs typeface="微软雅黑" panose="020B0503020204020204" charset="-122"/>
            </a:endParaRPr>
          </a:p>
        </p:txBody>
      </p:sp>
      <p:sp>
        <p:nvSpPr>
          <p:cNvPr id="112" name="圆角矩形 111"/>
          <p:cNvSpPr/>
          <p:nvPr/>
        </p:nvSpPr>
        <p:spPr>
          <a:xfrm>
            <a:off x="3059045" y="3360420"/>
            <a:ext cx="539750" cy="197485"/>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800">
                <a:cs typeface="微软雅黑" panose="020B0503020204020204" charset="-122"/>
                <a:sym typeface="+mn-ea"/>
              </a:rPr>
              <a:t>文件</a:t>
            </a:r>
            <a:endParaRPr lang="zh-CN" altLang="en-US" sz="800">
              <a:cs typeface="微软雅黑" panose="020B0503020204020204" charset="-122"/>
              <a:sym typeface="+mn-ea"/>
            </a:endParaRPr>
          </a:p>
        </p:txBody>
      </p:sp>
      <p:sp>
        <p:nvSpPr>
          <p:cNvPr id="128" name="圆角矩形 127"/>
          <p:cNvSpPr/>
          <p:nvPr/>
        </p:nvSpPr>
        <p:spPr>
          <a:xfrm>
            <a:off x="3642610" y="3360420"/>
            <a:ext cx="539750" cy="197485"/>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800">
                <a:cs typeface="微软雅黑" panose="020B0503020204020204" charset="-122"/>
                <a:sym typeface="+mn-ea"/>
              </a:rPr>
              <a:t>API</a:t>
            </a:r>
            <a:endParaRPr lang="en-US" altLang="zh-CN" sz="800">
              <a:cs typeface="微软雅黑" panose="020B0503020204020204" charset="-122"/>
              <a:sym typeface="+mn-ea"/>
            </a:endParaRPr>
          </a:p>
        </p:txBody>
      </p:sp>
      <p:sp>
        <p:nvSpPr>
          <p:cNvPr id="139" name="圆角矩形 138"/>
          <p:cNvSpPr/>
          <p:nvPr/>
        </p:nvSpPr>
        <p:spPr>
          <a:xfrm>
            <a:off x="4226175" y="3360420"/>
            <a:ext cx="539750" cy="197485"/>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800">
                <a:cs typeface="微软雅黑" panose="020B0503020204020204" charset="-122"/>
                <a:sym typeface="+mn-ea"/>
              </a:rPr>
              <a:t>XML</a:t>
            </a:r>
            <a:endParaRPr lang="en-US" altLang="zh-CN" sz="800">
              <a:cs typeface="微软雅黑" panose="020B0503020204020204" charset="-122"/>
              <a:sym typeface="+mn-ea"/>
            </a:endParaRPr>
          </a:p>
        </p:txBody>
      </p:sp>
      <p:sp>
        <p:nvSpPr>
          <p:cNvPr id="140" name="圆角矩形 139"/>
          <p:cNvSpPr/>
          <p:nvPr/>
        </p:nvSpPr>
        <p:spPr>
          <a:xfrm>
            <a:off x="4809740" y="3360420"/>
            <a:ext cx="539750" cy="197485"/>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800">
                <a:cs typeface="微软雅黑" panose="020B0503020204020204" charset="-122"/>
                <a:sym typeface="+mn-ea"/>
              </a:rPr>
              <a:t>JSON</a:t>
            </a:r>
            <a:endParaRPr lang="en-US" altLang="zh-CN" sz="800">
              <a:cs typeface="微软雅黑" panose="020B0503020204020204" charset="-122"/>
              <a:sym typeface="+mn-ea"/>
            </a:endParaRPr>
          </a:p>
        </p:txBody>
      </p:sp>
      <p:sp>
        <p:nvSpPr>
          <p:cNvPr id="141" name="圆角矩形 140"/>
          <p:cNvSpPr/>
          <p:nvPr/>
        </p:nvSpPr>
        <p:spPr>
          <a:xfrm>
            <a:off x="5393305" y="3360420"/>
            <a:ext cx="539750" cy="197485"/>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800">
                <a:cs typeface="微软雅黑" panose="020B0503020204020204" charset="-122"/>
              </a:rPr>
              <a:t>……</a:t>
            </a:r>
            <a:endParaRPr lang="en-US" altLang="zh-CN" sz="800">
              <a:cs typeface="微软雅黑" panose="020B0503020204020204" charset="-122"/>
            </a:endParaRPr>
          </a:p>
        </p:txBody>
      </p:sp>
      <p:sp>
        <p:nvSpPr>
          <p:cNvPr id="368" name="@显眼包PPT11"/>
          <p:cNvSpPr/>
          <p:nvPr/>
        </p:nvSpPr>
        <p:spPr>
          <a:xfrm>
            <a:off x="2470785" y="3631565"/>
            <a:ext cx="3462020" cy="1301115"/>
          </a:xfrm>
          <a:prstGeom prst="roundRect">
            <a:avLst>
              <a:gd name="adj" fmla="val 10541"/>
            </a:avLst>
          </a:prstGeom>
          <a:solidFill>
            <a:schemeClr val="bg1"/>
          </a:solidFill>
          <a:ln w="9525">
            <a:gradFill flip="none" rotWithShape="1">
              <a:gsLst>
                <a:gs pos="0">
                  <a:schemeClr val="accent1">
                    <a:lumMod val="60000"/>
                    <a:lumOff val="40000"/>
                    <a:alpha val="0"/>
                  </a:schemeClr>
                </a:gs>
                <a:gs pos="100000">
                  <a:schemeClr val="accent1">
                    <a:lumMod val="60000"/>
                    <a:lumOff val="40000"/>
                  </a:schemeClr>
                </a:gs>
              </a:gsLst>
              <a:lin ang="13500000" scaled="1"/>
              <a:tileRect/>
            </a:gradFill>
            <a:prstDash val="solid"/>
          </a:ln>
          <a:effectLst>
            <a:outerShdw blurRad="101600" dist="38100" dir="2700000" algn="tl" rotWithShape="0">
              <a:schemeClr val="bg2">
                <a:lumMod val="50000"/>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2" name="文本框 141"/>
          <p:cNvSpPr txBox="1"/>
          <p:nvPr/>
        </p:nvSpPr>
        <p:spPr>
          <a:xfrm>
            <a:off x="3107373" y="3631565"/>
            <a:ext cx="2188845" cy="229870"/>
          </a:xfrm>
          <a:prstGeom prst="rect">
            <a:avLst/>
          </a:prstGeom>
          <a:noFill/>
        </p:spPr>
        <p:txBody>
          <a:bodyPr wrap="square" rtlCol="0">
            <a:spAutoFit/>
          </a:bodyPr>
          <a:lstStyle/>
          <a:p>
            <a:pPr algn="ctr"/>
            <a:r>
              <a:rPr lang="zh-CN" sz="9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数据处理服务管理</a:t>
            </a:r>
            <a:endParaRPr lang="zh-CN" sz="900" b="1" dirty="0">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endParaRPr>
          </a:p>
        </p:txBody>
      </p:sp>
      <p:sp>
        <p:nvSpPr>
          <p:cNvPr id="143" name="文本框 142"/>
          <p:cNvSpPr txBox="1"/>
          <p:nvPr/>
        </p:nvSpPr>
        <p:spPr>
          <a:xfrm>
            <a:off x="6104890" y="3051810"/>
            <a:ext cx="1504950" cy="229870"/>
          </a:xfrm>
          <a:prstGeom prst="rect">
            <a:avLst/>
          </a:prstGeom>
          <a:noFill/>
        </p:spPr>
        <p:txBody>
          <a:bodyPr wrap="square" rtlCol="0">
            <a:spAutoFit/>
          </a:bodyPr>
          <a:lstStyle/>
          <a:p>
            <a:pPr algn="ctr"/>
            <a:r>
              <a:rPr lang="zh-CN" sz="9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统一数据治理（</a:t>
            </a:r>
            <a:r>
              <a:rPr lang="en-US" altLang="zh-CN" sz="9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ETL</a:t>
            </a:r>
            <a:r>
              <a:rPr lang="zh-CN" sz="9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a:t>
            </a:r>
            <a:endParaRPr lang="zh-CN" sz="900" b="1" dirty="0">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endParaRPr>
          </a:p>
        </p:txBody>
      </p:sp>
      <p:sp>
        <p:nvSpPr>
          <p:cNvPr id="146" name="圆角矩形 145"/>
          <p:cNvSpPr/>
          <p:nvPr/>
        </p:nvSpPr>
        <p:spPr>
          <a:xfrm>
            <a:off x="7204710" y="3307080"/>
            <a:ext cx="329565" cy="2273935"/>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000">
                <a:cs typeface="微软雅黑" panose="020B0503020204020204" charset="-122"/>
              </a:rPr>
              <a:t>数据调度平台</a:t>
            </a:r>
            <a:endParaRPr lang="zh-CN" altLang="en-US" sz="1000">
              <a:cs typeface="微软雅黑" panose="020B0503020204020204" charset="-122"/>
            </a:endParaRPr>
          </a:p>
        </p:txBody>
      </p:sp>
      <p:sp>
        <p:nvSpPr>
          <p:cNvPr id="147" name="圆角矩形 146"/>
          <p:cNvSpPr/>
          <p:nvPr/>
        </p:nvSpPr>
        <p:spPr>
          <a:xfrm>
            <a:off x="6165215" y="3703320"/>
            <a:ext cx="995045" cy="229235"/>
          </a:xfrm>
          <a:prstGeom prst="roundRect">
            <a:avLst>
              <a:gd name="adj" fmla="val 11111"/>
            </a:avLst>
          </a:prstGeom>
          <a:solidFill>
            <a:schemeClr val="accent1">
              <a:lumMod val="20000"/>
              <a:lumOff val="80000"/>
              <a:alpha val="50000"/>
            </a:schemeClr>
          </a:solidFill>
          <a:ln w="9525">
            <a:solidFill>
              <a:schemeClr val="accent1">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800">
                <a:solidFill>
                  <a:schemeClr val="tx2"/>
                </a:solidFill>
                <a:cs typeface="微软雅黑" panose="020B0503020204020204" charset="-122"/>
              </a:rPr>
              <a:t>数据挖掘</a:t>
            </a:r>
            <a:endParaRPr lang="zh-CN" altLang="en-US" sz="800">
              <a:solidFill>
                <a:schemeClr val="tx2"/>
              </a:solidFill>
              <a:cs typeface="微软雅黑" panose="020B0503020204020204" charset="-122"/>
            </a:endParaRPr>
          </a:p>
        </p:txBody>
      </p:sp>
      <p:sp>
        <p:nvSpPr>
          <p:cNvPr id="148" name="圆角矩形 147"/>
          <p:cNvSpPr/>
          <p:nvPr/>
        </p:nvSpPr>
        <p:spPr>
          <a:xfrm>
            <a:off x="6165215" y="4340860"/>
            <a:ext cx="995045" cy="229235"/>
          </a:xfrm>
          <a:prstGeom prst="roundRect">
            <a:avLst>
              <a:gd name="adj" fmla="val 11111"/>
            </a:avLst>
          </a:prstGeom>
          <a:solidFill>
            <a:schemeClr val="accent1">
              <a:lumMod val="20000"/>
              <a:lumOff val="80000"/>
              <a:alpha val="50000"/>
            </a:schemeClr>
          </a:solidFill>
          <a:ln w="9525">
            <a:solidFill>
              <a:schemeClr val="accent1">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800">
                <a:solidFill>
                  <a:schemeClr val="tx2"/>
                </a:solidFill>
                <a:cs typeface="微软雅黑" panose="020B0503020204020204" charset="-122"/>
              </a:rPr>
              <a:t>数据汇总</a:t>
            </a:r>
            <a:endParaRPr lang="zh-CN" altLang="en-US" sz="800">
              <a:solidFill>
                <a:schemeClr val="tx2"/>
              </a:solidFill>
              <a:cs typeface="微软雅黑" panose="020B0503020204020204" charset="-122"/>
            </a:endParaRPr>
          </a:p>
        </p:txBody>
      </p:sp>
      <p:sp>
        <p:nvSpPr>
          <p:cNvPr id="149" name="圆角矩形 148"/>
          <p:cNvSpPr/>
          <p:nvPr/>
        </p:nvSpPr>
        <p:spPr>
          <a:xfrm>
            <a:off x="6165215" y="4022090"/>
            <a:ext cx="995045" cy="229235"/>
          </a:xfrm>
          <a:prstGeom prst="roundRect">
            <a:avLst>
              <a:gd name="adj" fmla="val 11111"/>
            </a:avLst>
          </a:prstGeom>
          <a:solidFill>
            <a:schemeClr val="accent1">
              <a:lumMod val="20000"/>
              <a:lumOff val="80000"/>
              <a:alpha val="50000"/>
            </a:schemeClr>
          </a:solidFill>
          <a:ln w="9525">
            <a:solidFill>
              <a:schemeClr val="accent1">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800">
                <a:solidFill>
                  <a:schemeClr val="tx2"/>
                </a:solidFill>
                <a:cs typeface="微软雅黑" panose="020B0503020204020204" charset="-122"/>
              </a:rPr>
              <a:t>数据分发</a:t>
            </a:r>
            <a:endParaRPr lang="zh-CN" altLang="en-US" sz="800">
              <a:solidFill>
                <a:schemeClr val="tx2"/>
              </a:solidFill>
              <a:cs typeface="微软雅黑" panose="020B0503020204020204" charset="-122"/>
            </a:endParaRPr>
          </a:p>
        </p:txBody>
      </p:sp>
      <p:sp>
        <p:nvSpPr>
          <p:cNvPr id="150" name="圆角矩形 149"/>
          <p:cNvSpPr/>
          <p:nvPr/>
        </p:nvSpPr>
        <p:spPr>
          <a:xfrm>
            <a:off x="6165215" y="4659630"/>
            <a:ext cx="995045" cy="229235"/>
          </a:xfrm>
          <a:prstGeom prst="roundRect">
            <a:avLst>
              <a:gd name="adj" fmla="val 11111"/>
            </a:avLst>
          </a:prstGeom>
          <a:solidFill>
            <a:schemeClr val="accent1">
              <a:lumMod val="20000"/>
              <a:lumOff val="80000"/>
              <a:alpha val="50000"/>
            </a:schemeClr>
          </a:solidFill>
          <a:ln w="9525">
            <a:solidFill>
              <a:schemeClr val="accent1">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800">
                <a:solidFill>
                  <a:schemeClr val="tx2"/>
                </a:solidFill>
                <a:cs typeface="微软雅黑" panose="020B0503020204020204" charset="-122"/>
              </a:rPr>
              <a:t>数据加载</a:t>
            </a:r>
            <a:endParaRPr lang="zh-CN" altLang="en-US" sz="800">
              <a:solidFill>
                <a:schemeClr val="tx2"/>
              </a:solidFill>
              <a:cs typeface="微软雅黑" panose="020B0503020204020204" charset="-122"/>
            </a:endParaRPr>
          </a:p>
        </p:txBody>
      </p:sp>
      <p:sp>
        <p:nvSpPr>
          <p:cNvPr id="151" name="圆角矩形 150"/>
          <p:cNvSpPr/>
          <p:nvPr/>
        </p:nvSpPr>
        <p:spPr>
          <a:xfrm>
            <a:off x="6165215" y="4978400"/>
            <a:ext cx="995045" cy="229235"/>
          </a:xfrm>
          <a:prstGeom prst="roundRect">
            <a:avLst>
              <a:gd name="adj" fmla="val 11111"/>
            </a:avLst>
          </a:prstGeom>
          <a:solidFill>
            <a:schemeClr val="accent1">
              <a:lumMod val="20000"/>
              <a:lumOff val="80000"/>
              <a:alpha val="50000"/>
            </a:schemeClr>
          </a:solidFill>
          <a:ln w="9525">
            <a:solidFill>
              <a:schemeClr val="accent1">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800">
                <a:solidFill>
                  <a:schemeClr val="tx2"/>
                </a:solidFill>
                <a:cs typeface="微软雅黑" panose="020B0503020204020204" charset="-122"/>
              </a:rPr>
              <a:t>数据转换</a:t>
            </a:r>
            <a:endParaRPr lang="zh-CN" altLang="en-US" sz="800">
              <a:solidFill>
                <a:schemeClr val="tx2"/>
              </a:solidFill>
              <a:cs typeface="微软雅黑" panose="020B0503020204020204" charset="-122"/>
            </a:endParaRPr>
          </a:p>
        </p:txBody>
      </p:sp>
      <p:sp>
        <p:nvSpPr>
          <p:cNvPr id="152" name="圆角矩形 151"/>
          <p:cNvSpPr/>
          <p:nvPr/>
        </p:nvSpPr>
        <p:spPr>
          <a:xfrm>
            <a:off x="6165215" y="5297170"/>
            <a:ext cx="995045" cy="229235"/>
          </a:xfrm>
          <a:prstGeom prst="roundRect">
            <a:avLst>
              <a:gd name="adj" fmla="val 11111"/>
            </a:avLst>
          </a:prstGeom>
          <a:solidFill>
            <a:schemeClr val="accent1">
              <a:lumMod val="20000"/>
              <a:lumOff val="80000"/>
              <a:alpha val="50000"/>
            </a:schemeClr>
          </a:solidFill>
          <a:ln w="9525">
            <a:solidFill>
              <a:schemeClr val="accent1">
                <a:lumMod val="60000"/>
                <a:lumOff val="40000"/>
              </a:schemeClr>
            </a:solidFill>
            <a:prstDash val="sys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800">
                <a:solidFill>
                  <a:schemeClr val="tx2"/>
                </a:solidFill>
                <a:cs typeface="微软雅黑" panose="020B0503020204020204" charset="-122"/>
              </a:rPr>
              <a:t>数据抽取</a:t>
            </a:r>
            <a:endParaRPr lang="zh-CN" altLang="en-US" sz="800">
              <a:solidFill>
                <a:schemeClr val="tx2"/>
              </a:solidFill>
              <a:cs typeface="微软雅黑" panose="020B0503020204020204" charset="-122"/>
            </a:endParaRPr>
          </a:p>
        </p:txBody>
      </p:sp>
      <p:grpSp>
        <p:nvGrpSpPr>
          <p:cNvPr id="154" name="组合 153"/>
          <p:cNvGrpSpPr/>
          <p:nvPr/>
        </p:nvGrpSpPr>
        <p:grpSpPr>
          <a:xfrm>
            <a:off x="6104890" y="3295650"/>
            <a:ext cx="600710" cy="300990"/>
            <a:chOff x="9654" y="5400"/>
            <a:chExt cx="946" cy="474"/>
          </a:xfrm>
        </p:grpSpPr>
        <p:sp>
          <p:nvSpPr>
            <p:cNvPr id="144" name="圆角矩形 143"/>
            <p:cNvSpPr/>
            <p:nvPr/>
          </p:nvSpPr>
          <p:spPr>
            <a:xfrm>
              <a:off x="9749" y="5400"/>
              <a:ext cx="757" cy="475"/>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53" name="紫荆的职场Point22"/>
            <p:cNvSpPr txBox="1"/>
            <p:nvPr/>
          </p:nvSpPr>
          <p:spPr>
            <a:xfrm>
              <a:off x="9654" y="5504"/>
              <a:ext cx="946" cy="267"/>
            </a:xfrm>
            <a:prstGeom prst="rect">
              <a:avLst/>
            </a:prstGeom>
            <a:noFill/>
          </p:spPr>
          <p:txBody>
            <a:bodyPr wrap="square" anchor="ctr" anchorCtr="0">
              <a:noAutofit/>
            </a:bodyPr>
            <a:lstStyle/>
            <a:p>
              <a:pPr algn="ctr"/>
              <a:r>
                <a:rPr lang="zh-CN" altLang="en-US" sz="700" dirty="0">
                  <a:solidFill>
                    <a:schemeClr val="bg1"/>
                  </a:solidFill>
                  <a:latin typeface="微软雅黑" panose="020B0503020204020204" charset="-122"/>
                  <a:ea typeface="微软雅黑" panose="020B0503020204020204" charset="-122"/>
                  <a:cs typeface="微软雅黑" panose="020B0503020204020204" charset="-122"/>
                </a:rPr>
                <a:t>非实时数据处理</a:t>
              </a:r>
              <a:endParaRPr lang="zh-CN" altLang="en-US" sz="700"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155" name="组合 154"/>
          <p:cNvGrpSpPr/>
          <p:nvPr/>
        </p:nvGrpSpPr>
        <p:grpSpPr>
          <a:xfrm>
            <a:off x="6619240" y="3295650"/>
            <a:ext cx="600710" cy="300990"/>
            <a:chOff x="9654" y="5400"/>
            <a:chExt cx="946" cy="474"/>
          </a:xfrm>
        </p:grpSpPr>
        <p:sp>
          <p:nvSpPr>
            <p:cNvPr id="156" name="圆角矩形 155"/>
            <p:cNvSpPr/>
            <p:nvPr/>
          </p:nvSpPr>
          <p:spPr>
            <a:xfrm>
              <a:off x="9749" y="5400"/>
              <a:ext cx="757" cy="475"/>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57" name="紫荆的职场Point22"/>
            <p:cNvSpPr txBox="1"/>
            <p:nvPr/>
          </p:nvSpPr>
          <p:spPr>
            <a:xfrm>
              <a:off x="9654" y="5504"/>
              <a:ext cx="946" cy="267"/>
            </a:xfrm>
            <a:prstGeom prst="rect">
              <a:avLst/>
            </a:prstGeom>
            <a:noFill/>
          </p:spPr>
          <p:txBody>
            <a:bodyPr wrap="square" anchor="ctr" anchorCtr="0">
              <a:noAutofit/>
            </a:bodyPr>
            <a:lstStyle/>
            <a:p>
              <a:pPr algn="ctr"/>
              <a:r>
                <a:rPr lang="zh-CN" altLang="en-US" sz="700" dirty="0">
                  <a:solidFill>
                    <a:schemeClr val="bg1"/>
                  </a:solidFill>
                  <a:latin typeface="微软雅黑" panose="020B0503020204020204" charset="-122"/>
                  <a:ea typeface="微软雅黑" panose="020B0503020204020204" charset="-122"/>
                  <a:cs typeface="微软雅黑" panose="020B0503020204020204" charset="-122"/>
                </a:rPr>
                <a:t>实时</a:t>
              </a:r>
              <a:endParaRPr lang="zh-CN" altLang="en-US" sz="700" dirty="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700" dirty="0">
                  <a:solidFill>
                    <a:schemeClr val="bg1"/>
                  </a:solidFill>
                  <a:latin typeface="微软雅黑" panose="020B0503020204020204" charset="-122"/>
                  <a:ea typeface="微软雅黑" panose="020B0503020204020204" charset="-122"/>
                  <a:cs typeface="微软雅黑" panose="020B0503020204020204" charset="-122"/>
                </a:rPr>
                <a:t>数据处理</a:t>
              </a:r>
              <a:endParaRPr lang="zh-CN" altLang="en-US" sz="700" dirty="0">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158" name="圆角矩形 157"/>
          <p:cNvSpPr/>
          <p:nvPr/>
        </p:nvSpPr>
        <p:spPr>
          <a:xfrm>
            <a:off x="3237865" y="5315585"/>
            <a:ext cx="652780" cy="267970"/>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59" name="紫荆的职场Point22"/>
          <p:cNvSpPr txBox="1"/>
          <p:nvPr/>
        </p:nvSpPr>
        <p:spPr>
          <a:xfrm>
            <a:off x="3300413" y="5364798"/>
            <a:ext cx="527685" cy="169545"/>
          </a:xfrm>
          <a:prstGeom prst="rect">
            <a:avLst/>
          </a:prstGeom>
          <a:noFill/>
        </p:spPr>
        <p:txBody>
          <a:bodyPr wrap="square" anchor="ctr" anchorCtr="0">
            <a:noAutofit/>
          </a:bodyPr>
          <a:lstStyle/>
          <a:p>
            <a:pPr algn="ctr"/>
            <a:r>
              <a:rPr lang="zh-CN" altLang="en-US" sz="700" dirty="0">
                <a:solidFill>
                  <a:schemeClr val="bg1"/>
                </a:solidFill>
                <a:latin typeface="微软雅黑" panose="020B0503020204020204" charset="-122"/>
                <a:ea typeface="微软雅黑" panose="020B0503020204020204" charset="-122"/>
                <a:cs typeface="微软雅黑" panose="020B0503020204020204" charset="-122"/>
              </a:rPr>
              <a:t>实时</a:t>
            </a:r>
            <a:endParaRPr lang="zh-CN" altLang="en-US" sz="700" dirty="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700" dirty="0">
                <a:solidFill>
                  <a:schemeClr val="bg1"/>
                </a:solidFill>
                <a:latin typeface="微软雅黑" panose="020B0503020204020204" charset="-122"/>
                <a:ea typeface="微软雅黑" panose="020B0503020204020204" charset="-122"/>
                <a:cs typeface="微软雅黑" panose="020B0503020204020204" charset="-122"/>
              </a:rPr>
              <a:t>数据库</a:t>
            </a:r>
            <a:endParaRPr lang="zh-CN" altLang="en-US" sz="700" dirty="0">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188" name="组合 187"/>
          <p:cNvGrpSpPr/>
          <p:nvPr/>
        </p:nvGrpSpPr>
        <p:grpSpPr>
          <a:xfrm>
            <a:off x="2566035" y="3865245"/>
            <a:ext cx="627380" cy="934085"/>
            <a:chOff x="4041" y="6279"/>
            <a:chExt cx="988" cy="1471"/>
          </a:xfrm>
        </p:grpSpPr>
        <p:sp>
          <p:nvSpPr>
            <p:cNvPr id="160" name="圆角矩形 159"/>
            <p:cNvSpPr/>
            <p:nvPr/>
          </p:nvSpPr>
          <p:spPr>
            <a:xfrm>
              <a:off x="4041" y="6279"/>
              <a:ext cx="988" cy="1471"/>
            </a:xfrm>
            <a:prstGeom prst="roundRect">
              <a:avLst>
                <a:gd name="adj" fmla="val 8974"/>
              </a:avLst>
            </a:prstGeom>
            <a:noFill/>
            <a:ln w="6350">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cxnSp>
          <p:nvCxnSpPr>
            <p:cNvPr id="164" name="直接连接符 163"/>
            <p:cNvCxnSpPr/>
            <p:nvPr/>
          </p:nvCxnSpPr>
          <p:spPr>
            <a:xfrm>
              <a:off x="4133" y="7346"/>
              <a:ext cx="804" cy="0"/>
            </a:xfrm>
            <a:prstGeom prst="line">
              <a:avLst/>
            </a:prstGeom>
            <a:ln w="6350">
              <a:solidFill>
                <a:schemeClr val="accent1">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165" name="直接连接符 164"/>
            <p:cNvCxnSpPr/>
            <p:nvPr/>
          </p:nvCxnSpPr>
          <p:spPr>
            <a:xfrm>
              <a:off x="4133" y="6927"/>
              <a:ext cx="804" cy="0"/>
            </a:xfrm>
            <a:prstGeom prst="line">
              <a:avLst/>
            </a:prstGeom>
            <a:ln w="6350">
              <a:solidFill>
                <a:schemeClr val="accent1">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166" name="直接连接符 165"/>
            <p:cNvCxnSpPr/>
            <p:nvPr/>
          </p:nvCxnSpPr>
          <p:spPr>
            <a:xfrm>
              <a:off x="4133" y="6530"/>
              <a:ext cx="804" cy="0"/>
            </a:xfrm>
            <a:prstGeom prst="line">
              <a:avLst/>
            </a:prstGeom>
            <a:ln w="6350"/>
          </p:spPr>
          <p:style>
            <a:lnRef idx="2">
              <a:schemeClr val="accent1"/>
            </a:lnRef>
            <a:fillRef idx="0">
              <a:srgbClr val="FFFFFF"/>
            </a:fillRef>
            <a:effectRef idx="0">
              <a:srgbClr val="FFFFFF"/>
            </a:effectRef>
            <a:fontRef idx="minor">
              <a:schemeClr val="tx1"/>
            </a:fontRef>
          </p:style>
        </p:cxnSp>
        <p:sp>
          <p:nvSpPr>
            <p:cNvPr id="182" name="任意多边形 181"/>
            <p:cNvSpPr/>
            <p:nvPr/>
          </p:nvSpPr>
          <p:spPr>
            <a:xfrm>
              <a:off x="4042" y="6279"/>
              <a:ext cx="987" cy="267"/>
            </a:xfrm>
            <a:custGeom>
              <a:avLst/>
              <a:gdLst>
                <a:gd name="adj" fmla="val 2292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987" h="267">
                  <a:moveTo>
                    <a:pt x="0" y="80"/>
                  </a:moveTo>
                  <a:cubicBezTo>
                    <a:pt x="-1" y="35"/>
                    <a:pt x="40" y="-1"/>
                    <a:pt x="80" y="0"/>
                  </a:cubicBezTo>
                  <a:lnTo>
                    <a:pt x="907" y="0"/>
                  </a:lnTo>
                  <a:cubicBezTo>
                    <a:pt x="952" y="-1"/>
                    <a:pt x="988" y="40"/>
                    <a:pt x="987" y="80"/>
                  </a:cubicBezTo>
                  <a:lnTo>
                    <a:pt x="987" y="267"/>
                  </a:lnTo>
                  <a:lnTo>
                    <a:pt x="0" y="267"/>
                  </a:lnTo>
                  <a:lnTo>
                    <a:pt x="0" y="80"/>
                  </a:lnTo>
                  <a:close/>
                </a:path>
              </a:pathLst>
            </a:cu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85" name="紫荆的职场Point22"/>
            <p:cNvSpPr txBox="1"/>
            <p:nvPr/>
          </p:nvSpPr>
          <p:spPr>
            <a:xfrm>
              <a:off x="4092" y="6595"/>
              <a:ext cx="887" cy="267"/>
            </a:xfrm>
            <a:prstGeom prst="rect">
              <a:avLst/>
            </a:prstGeom>
            <a:noFill/>
          </p:spPr>
          <p:txBody>
            <a:bodyPr wrap="square" anchor="ctr" anchorCtr="0">
              <a:noAutofit/>
            </a:bodyPr>
            <a:lstStyle/>
            <a:p>
              <a:pPr algn="ctr"/>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接口路由</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6" name="紫荆的职场Point22"/>
            <p:cNvSpPr txBox="1"/>
            <p:nvPr/>
          </p:nvSpPr>
          <p:spPr>
            <a:xfrm>
              <a:off x="4092" y="7011"/>
              <a:ext cx="887" cy="267"/>
            </a:xfrm>
            <a:prstGeom prst="rect">
              <a:avLst/>
            </a:prstGeom>
            <a:noFill/>
          </p:spPr>
          <p:txBody>
            <a:bodyPr wrap="square" anchor="ctr" anchorCtr="0">
              <a:noAutofit/>
            </a:bodyPr>
            <a:lstStyle/>
            <a:p>
              <a:pPr algn="ctr"/>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负载均衡</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87" name="紫荆的职场Point22"/>
            <p:cNvSpPr txBox="1"/>
            <p:nvPr/>
          </p:nvSpPr>
          <p:spPr>
            <a:xfrm>
              <a:off x="4092" y="7427"/>
              <a:ext cx="887" cy="267"/>
            </a:xfrm>
            <a:prstGeom prst="rect">
              <a:avLst/>
            </a:prstGeom>
            <a:noFill/>
          </p:spPr>
          <p:txBody>
            <a:bodyPr wrap="square" anchor="ctr" anchorCtr="0">
              <a:noAutofit/>
            </a:bodyPr>
            <a:lstStyle/>
            <a:p>
              <a:pPr algn="ctr"/>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安全管理</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199" name="组合 198"/>
          <p:cNvGrpSpPr/>
          <p:nvPr/>
        </p:nvGrpSpPr>
        <p:grpSpPr>
          <a:xfrm>
            <a:off x="5153025" y="3861435"/>
            <a:ext cx="731520" cy="934085"/>
            <a:chOff x="3959" y="6279"/>
            <a:chExt cx="1152" cy="1471"/>
          </a:xfrm>
        </p:grpSpPr>
        <p:sp>
          <p:nvSpPr>
            <p:cNvPr id="200" name="圆角矩形 199"/>
            <p:cNvSpPr/>
            <p:nvPr/>
          </p:nvSpPr>
          <p:spPr>
            <a:xfrm>
              <a:off x="4041" y="6279"/>
              <a:ext cx="988" cy="1471"/>
            </a:xfrm>
            <a:prstGeom prst="roundRect">
              <a:avLst>
                <a:gd name="adj" fmla="val 8974"/>
              </a:avLst>
            </a:prstGeom>
            <a:noFill/>
            <a:ln w="6350">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cxnSp>
          <p:nvCxnSpPr>
            <p:cNvPr id="201" name="直接连接符 200"/>
            <p:cNvCxnSpPr/>
            <p:nvPr/>
          </p:nvCxnSpPr>
          <p:spPr>
            <a:xfrm>
              <a:off x="4133" y="7124"/>
              <a:ext cx="804" cy="0"/>
            </a:xfrm>
            <a:prstGeom prst="line">
              <a:avLst/>
            </a:prstGeom>
            <a:ln w="6350">
              <a:solidFill>
                <a:schemeClr val="accent1">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203" name="直接连接符 202"/>
            <p:cNvCxnSpPr/>
            <p:nvPr/>
          </p:nvCxnSpPr>
          <p:spPr>
            <a:xfrm>
              <a:off x="4133" y="6530"/>
              <a:ext cx="804" cy="0"/>
            </a:xfrm>
            <a:prstGeom prst="line">
              <a:avLst/>
            </a:prstGeom>
            <a:ln w="6350"/>
          </p:spPr>
          <p:style>
            <a:lnRef idx="2">
              <a:schemeClr val="accent1"/>
            </a:lnRef>
            <a:fillRef idx="0">
              <a:srgbClr val="FFFFFF"/>
            </a:fillRef>
            <a:effectRef idx="0">
              <a:srgbClr val="FFFFFF"/>
            </a:effectRef>
            <a:fontRef idx="minor">
              <a:schemeClr val="tx1"/>
            </a:fontRef>
          </p:style>
        </p:cxnSp>
        <p:sp>
          <p:nvSpPr>
            <p:cNvPr id="204" name="任意多边形 203"/>
            <p:cNvSpPr/>
            <p:nvPr/>
          </p:nvSpPr>
          <p:spPr>
            <a:xfrm>
              <a:off x="4042" y="6279"/>
              <a:ext cx="987" cy="267"/>
            </a:xfrm>
            <a:custGeom>
              <a:avLst/>
              <a:gdLst>
                <a:gd name="adj" fmla="val 22922"/>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987" h="267">
                  <a:moveTo>
                    <a:pt x="0" y="80"/>
                  </a:moveTo>
                  <a:cubicBezTo>
                    <a:pt x="-1" y="35"/>
                    <a:pt x="40" y="-1"/>
                    <a:pt x="80" y="0"/>
                  </a:cubicBezTo>
                  <a:lnTo>
                    <a:pt x="907" y="0"/>
                  </a:lnTo>
                  <a:cubicBezTo>
                    <a:pt x="952" y="-1"/>
                    <a:pt x="988" y="40"/>
                    <a:pt x="987" y="80"/>
                  </a:cubicBezTo>
                  <a:lnTo>
                    <a:pt x="987" y="267"/>
                  </a:lnTo>
                  <a:lnTo>
                    <a:pt x="0" y="267"/>
                  </a:lnTo>
                  <a:lnTo>
                    <a:pt x="0" y="80"/>
                  </a:lnTo>
                  <a:close/>
                </a:path>
              </a:pathLst>
            </a:cu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205" name="紫荆的职场Point22"/>
            <p:cNvSpPr txBox="1"/>
            <p:nvPr/>
          </p:nvSpPr>
          <p:spPr>
            <a:xfrm>
              <a:off x="3959" y="6279"/>
              <a:ext cx="1152" cy="267"/>
            </a:xfrm>
            <a:prstGeom prst="rect">
              <a:avLst/>
            </a:prstGeom>
            <a:noFill/>
          </p:spPr>
          <p:txBody>
            <a:bodyPr wrap="square" anchor="ctr" anchorCtr="0">
              <a:noAutofit/>
            </a:bodyPr>
            <a:lstStyle/>
            <a:p>
              <a:pPr algn="ctr"/>
              <a:r>
                <a:rPr lang="zh-CN" altLang="en-US" sz="700" dirty="0">
                  <a:solidFill>
                    <a:schemeClr val="bg1"/>
                  </a:solidFill>
                  <a:latin typeface="微软雅黑" panose="020B0503020204020204" charset="-122"/>
                  <a:ea typeface="微软雅黑" panose="020B0503020204020204" charset="-122"/>
                  <a:cs typeface="微软雅黑" panose="020B0503020204020204" charset="-122"/>
                </a:rPr>
                <a:t>服务运维管理</a:t>
              </a:r>
              <a:endParaRPr lang="zh-CN" altLang="en-US" sz="7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06" name="紫荆的职场Point22"/>
            <p:cNvSpPr txBox="1"/>
            <p:nvPr/>
          </p:nvSpPr>
          <p:spPr>
            <a:xfrm>
              <a:off x="4092" y="6728"/>
              <a:ext cx="887" cy="267"/>
            </a:xfrm>
            <a:prstGeom prst="rect">
              <a:avLst/>
            </a:prstGeom>
            <a:noFill/>
          </p:spPr>
          <p:txBody>
            <a:bodyPr wrap="square" anchor="ctr" anchorCtr="0">
              <a:noAutofit/>
            </a:bodyPr>
            <a:lstStyle/>
            <a:p>
              <a:pPr algn="ctr"/>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接口服务</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状态监控</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08" name="紫荆的职场Point22"/>
            <p:cNvSpPr txBox="1"/>
            <p:nvPr/>
          </p:nvSpPr>
          <p:spPr>
            <a:xfrm>
              <a:off x="4092" y="7284"/>
              <a:ext cx="887" cy="267"/>
            </a:xfrm>
            <a:prstGeom prst="rect">
              <a:avLst/>
            </a:prstGeom>
            <a:noFill/>
          </p:spPr>
          <p:txBody>
            <a:bodyPr wrap="square" anchor="ctr" anchorCtr="0">
              <a:noAutofit/>
            </a:bodyPr>
            <a:lstStyle/>
            <a:p>
              <a:pPr algn="ctr"/>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接口传输</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700" dirty="0">
                  <a:solidFill>
                    <a:schemeClr val="tx2"/>
                  </a:solidFill>
                  <a:latin typeface="微软雅黑" panose="020B0503020204020204" charset="-122"/>
                  <a:ea typeface="微软雅黑" panose="020B0503020204020204" charset="-122"/>
                  <a:cs typeface="微软雅黑" panose="020B0503020204020204" charset="-122"/>
                </a:rPr>
                <a:t>日志管理</a:t>
              </a:r>
              <a:endParaRPr lang="zh-CN" altLang="en-US" sz="700" dirty="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209" name="紫荆的职场Point22"/>
          <p:cNvSpPr txBox="1"/>
          <p:nvPr/>
        </p:nvSpPr>
        <p:spPr>
          <a:xfrm>
            <a:off x="2520315" y="3865245"/>
            <a:ext cx="731520" cy="169545"/>
          </a:xfrm>
          <a:prstGeom prst="rect">
            <a:avLst/>
          </a:prstGeom>
          <a:noFill/>
        </p:spPr>
        <p:txBody>
          <a:bodyPr wrap="square" anchor="ctr" anchorCtr="0">
            <a:noAutofit/>
          </a:bodyPr>
          <a:lstStyle/>
          <a:p>
            <a:pPr algn="ctr"/>
            <a:r>
              <a:rPr lang="zh-CN" altLang="en-US" sz="700" dirty="0">
                <a:solidFill>
                  <a:schemeClr val="bg1"/>
                </a:solidFill>
                <a:latin typeface="微软雅黑" panose="020B0503020204020204" charset="-122"/>
                <a:ea typeface="微软雅黑" panose="020B0503020204020204" charset="-122"/>
                <a:cs typeface="微软雅黑" panose="020B0503020204020204" charset="-122"/>
              </a:rPr>
              <a:t>服务调度管理</a:t>
            </a:r>
            <a:endParaRPr lang="zh-CN" altLang="en-US" sz="700" dirty="0">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224" name="组合 223"/>
          <p:cNvGrpSpPr/>
          <p:nvPr/>
        </p:nvGrpSpPr>
        <p:grpSpPr>
          <a:xfrm>
            <a:off x="3253105" y="3865245"/>
            <a:ext cx="1910715" cy="455930"/>
            <a:chOff x="5123" y="6279"/>
            <a:chExt cx="3009" cy="718"/>
          </a:xfrm>
        </p:grpSpPr>
        <p:sp>
          <p:nvSpPr>
            <p:cNvPr id="171" name="圆角矩形 170"/>
            <p:cNvSpPr/>
            <p:nvPr/>
          </p:nvSpPr>
          <p:spPr>
            <a:xfrm>
              <a:off x="5131" y="6279"/>
              <a:ext cx="3001" cy="710"/>
            </a:xfrm>
            <a:prstGeom prst="roundRect">
              <a:avLst>
                <a:gd name="adj" fmla="val 8974"/>
              </a:avLst>
            </a:prstGeom>
            <a:noFill/>
            <a:ln w="6350">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cxnSp>
          <p:nvCxnSpPr>
            <p:cNvPr id="172" name="直接连接符 171"/>
            <p:cNvCxnSpPr/>
            <p:nvPr/>
          </p:nvCxnSpPr>
          <p:spPr>
            <a:xfrm>
              <a:off x="5131" y="6530"/>
              <a:ext cx="2939" cy="0"/>
            </a:xfrm>
            <a:prstGeom prst="line">
              <a:avLst/>
            </a:prstGeom>
            <a:ln w="6350"/>
          </p:spPr>
          <p:style>
            <a:lnRef idx="2">
              <a:schemeClr val="accent1"/>
            </a:lnRef>
            <a:fillRef idx="0">
              <a:srgbClr val="FFFFFF"/>
            </a:fillRef>
            <a:effectRef idx="0">
              <a:srgbClr val="FFFFFF"/>
            </a:effectRef>
            <a:fontRef idx="minor">
              <a:schemeClr val="tx1"/>
            </a:fontRef>
          </p:style>
        </p:cxnSp>
        <p:cxnSp>
          <p:nvCxnSpPr>
            <p:cNvPr id="173" name="直接连接符 172"/>
            <p:cNvCxnSpPr/>
            <p:nvPr/>
          </p:nvCxnSpPr>
          <p:spPr>
            <a:xfrm>
              <a:off x="5193" y="6755"/>
              <a:ext cx="2878" cy="0"/>
            </a:xfrm>
            <a:prstGeom prst="line">
              <a:avLst/>
            </a:prstGeom>
            <a:ln w="6350">
              <a:solidFill>
                <a:schemeClr val="accent1">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174" name="直接连接符 173"/>
            <p:cNvCxnSpPr/>
            <p:nvPr/>
          </p:nvCxnSpPr>
          <p:spPr>
            <a:xfrm>
              <a:off x="6098" y="6580"/>
              <a:ext cx="0" cy="368"/>
            </a:xfrm>
            <a:prstGeom prst="line">
              <a:avLst/>
            </a:prstGeom>
            <a:ln w="6350">
              <a:solidFill>
                <a:schemeClr val="accent1">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175" name="直接连接符 174"/>
            <p:cNvCxnSpPr/>
            <p:nvPr/>
          </p:nvCxnSpPr>
          <p:spPr>
            <a:xfrm>
              <a:off x="7088" y="6595"/>
              <a:ext cx="0" cy="365"/>
            </a:xfrm>
            <a:prstGeom prst="line">
              <a:avLst/>
            </a:prstGeom>
            <a:ln w="6350">
              <a:solidFill>
                <a:schemeClr val="accent1">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sp>
          <p:nvSpPr>
            <p:cNvPr id="212" name="任意多边形 211"/>
            <p:cNvSpPr/>
            <p:nvPr/>
          </p:nvSpPr>
          <p:spPr>
            <a:xfrm>
              <a:off x="5131" y="6279"/>
              <a:ext cx="3001" cy="264"/>
            </a:xfrm>
            <a:custGeom>
              <a:avLst/>
              <a:gdLst>
                <a:gd name="adj" fmla="val 19933"/>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3001" h="264">
                  <a:moveTo>
                    <a:pt x="0" y="60"/>
                  </a:moveTo>
                  <a:cubicBezTo>
                    <a:pt x="-1" y="26"/>
                    <a:pt x="30" y="-1"/>
                    <a:pt x="60" y="0"/>
                  </a:cubicBezTo>
                  <a:lnTo>
                    <a:pt x="2941" y="0"/>
                  </a:lnTo>
                  <a:cubicBezTo>
                    <a:pt x="2975" y="-1"/>
                    <a:pt x="3002" y="30"/>
                    <a:pt x="3001" y="60"/>
                  </a:cubicBezTo>
                  <a:lnTo>
                    <a:pt x="3001" y="241"/>
                  </a:lnTo>
                  <a:cubicBezTo>
                    <a:pt x="3001" y="249"/>
                    <a:pt x="2998" y="260"/>
                    <a:pt x="2996" y="264"/>
                  </a:cubicBezTo>
                  <a:lnTo>
                    <a:pt x="5" y="264"/>
                  </a:lnTo>
                  <a:cubicBezTo>
                    <a:pt x="1" y="257"/>
                    <a:pt x="0" y="246"/>
                    <a:pt x="0" y="241"/>
                  </a:cubicBezTo>
                  <a:lnTo>
                    <a:pt x="0" y="60"/>
                  </a:lnTo>
                  <a:close/>
                </a:path>
              </a:pathLst>
            </a:custGeom>
            <a:solidFill>
              <a:schemeClr val="accent1">
                <a:lumMod val="60000"/>
                <a:lumOff val="40000"/>
              </a:schemeClr>
            </a:solidFill>
            <a:ln w="6350">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214" name="紫荆的职场Point22"/>
            <p:cNvSpPr txBox="1"/>
            <p:nvPr/>
          </p:nvSpPr>
          <p:spPr>
            <a:xfrm>
              <a:off x="6056" y="6279"/>
              <a:ext cx="1152" cy="267"/>
            </a:xfrm>
            <a:prstGeom prst="rect">
              <a:avLst/>
            </a:prstGeom>
            <a:noFill/>
          </p:spPr>
          <p:txBody>
            <a:bodyPr wrap="square" anchor="ctr" anchorCtr="0">
              <a:noAutofit/>
            </a:bodyPr>
            <a:lstStyle/>
            <a:p>
              <a:pPr algn="ctr"/>
              <a:r>
                <a:rPr lang="zh-CN" altLang="en-US" sz="700" dirty="0">
                  <a:solidFill>
                    <a:schemeClr val="bg1"/>
                  </a:solidFill>
                  <a:latin typeface="微软雅黑" panose="020B0503020204020204" charset="-122"/>
                  <a:ea typeface="微软雅黑" panose="020B0503020204020204" charset="-122"/>
                  <a:cs typeface="微软雅黑" panose="020B0503020204020204" charset="-122"/>
                </a:rPr>
                <a:t>数据服务组件</a:t>
              </a:r>
              <a:endParaRPr lang="zh-CN" altLang="en-US" sz="7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15" name="椭圆 214"/>
            <p:cNvSpPr/>
            <p:nvPr/>
          </p:nvSpPr>
          <p:spPr>
            <a:xfrm>
              <a:off x="6073" y="6723"/>
              <a:ext cx="57" cy="57"/>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16" name="椭圆 215"/>
            <p:cNvSpPr/>
            <p:nvPr/>
          </p:nvSpPr>
          <p:spPr>
            <a:xfrm>
              <a:off x="7060" y="6729"/>
              <a:ext cx="57" cy="57"/>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18" name="紫荆的职场Point22"/>
            <p:cNvSpPr txBox="1"/>
            <p:nvPr/>
          </p:nvSpPr>
          <p:spPr>
            <a:xfrm>
              <a:off x="5125" y="6515"/>
              <a:ext cx="1042" cy="267"/>
            </a:xfrm>
            <a:prstGeom prst="rect">
              <a:avLst/>
            </a:prstGeom>
            <a:noFill/>
          </p:spPr>
          <p:txBody>
            <a:bodyPr wrap="square" anchor="ctr" anchorCtr="0">
              <a:noAutofit/>
            </a:bodyPr>
            <a:lstStyle/>
            <a:p>
              <a:pPr algn="ctr"/>
              <a:r>
                <a:rPr lang="zh-CN" altLang="en-US" sz="600" dirty="0">
                  <a:solidFill>
                    <a:schemeClr val="tx2"/>
                  </a:solidFill>
                  <a:latin typeface="微软雅黑" panose="020B0503020204020204" charset="-122"/>
                  <a:ea typeface="微软雅黑" panose="020B0503020204020204" charset="-122"/>
                  <a:cs typeface="微软雅黑" panose="020B0503020204020204" charset="-122"/>
                </a:rPr>
                <a:t>数据处理组件</a:t>
              </a:r>
              <a:endParaRPr lang="zh-CN" altLang="en-US" sz="6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19" name="紫荆的职场Point22"/>
            <p:cNvSpPr txBox="1"/>
            <p:nvPr/>
          </p:nvSpPr>
          <p:spPr>
            <a:xfrm>
              <a:off x="5123" y="6731"/>
              <a:ext cx="1042" cy="267"/>
            </a:xfrm>
            <a:prstGeom prst="rect">
              <a:avLst/>
            </a:prstGeom>
            <a:noFill/>
          </p:spPr>
          <p:txBody>
            <a:bodyPr wrap="square" anchor="ctr" anchorCtr="0">
              <a:noAutofit/>
            </a:bodyPr>
            <a:lstStyle/>
            <a:p>
              <a:pPr algn="ctr"/>
              <a:r>
                <a:rPr lang="zh-CN" altLang="en-US" sz="600" dirty="0">
                  <a:solidFill>
                    <a:schemeClr val="tx2"/>
                  </a:solidFill>
                  <a:latin typeface="微软雅黑" panose="020B0503020204020204" charset="-122"/>
                  <a:ea typeface="微软雅黑" panose="020B0503020204020204" charset="-122"/>
                  <a:cs typeface="微软雅黑" panose="020B0503020204020204" charset="-122"/>
                </a:rPr>
                <a:t>基础功能组件</a:t>
              </a:r>
              <a:endParaRPr lang="zh-CN" altLang="en-US" sz="6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20" name="紫荆的职场Point22"/>
            <p:cNvSpPr txBox="1"/>
            <p:nvPr/>
          </p:nvSpPr>
          <p:spPr>
            <a:xfrm>
              <a:off x="6080" y="6515"/>
              <a:ext cx="1042" cy="267"/>
            </a:xfrm>
            <a:prstGeom prst="rect">
              <a:avLst/>
            </a:prstGeom>
            <a:noFill/>
          </p:spPr>
          <p:txBody>
            <a:bodyPr wrap="square" anchor="ctr" anchorCtr="0">
              <a:noAutofit/>
            </a:bodyPr>
            <a:lstStyle/>
            <a:p>
              <a:pPr algn="ctr"/>
              <a:r>
                <a:rPr lang="zh-CN" altLang="en-US" sz="600" dirty="0">
                  <a:solidFill>
                    <a:schemeClr val="tx2"/>
                  </a:solidFill>
                  <a:latin typeface="微软雅黑" panose="020B0503020204020204" charset="-122"/>
                  <a:ea typeface="微软雅黑" panose="020B0503020204020204" charset="-122"/>
                  <a:cs typeface="微软雅黑" panose="020B0503020204020204" charset="-122"/>
                </a:rPr>
                <a:t>数据查询组件</a:t>
              </a:r>
              <a:endParaRPr lang="zh-CN" altLang="en-US" sz="6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21" name="紫荆的职场Point22"/>
            <p:cNvSpPr txBox="1"/>
            <p:nvPr/>
          </p:nvSpPr>
          <p:spPr>
            <a:xfrm>
              <a:off x="6078" y="6731"/>
              <a:ext cx="1042" cy="267"/>
            </a:xfrm>
            <a:prstGeom prst="rect">
              <a:avLst/>
            </a:prstGeom>
            <a:noFill/>
          </p:spPr>
          <p:txBody>
            <a:bodyPr wrap="square" anchor="ctr" anchorCtr="0">
              <a:noAutofit/>
            </a:bodyPr>
            <a:lstStyle/>
            <a:p>
              <a:pPr algn="ctr"/>
              <a:r>
                <a:rPr lang="zh-CN" altLang="en-US" sz="600" dirty="0">
                  <a:solidFill>
                    <a:schemeClr val="tx2"/>
                  </a:solidFill>
                  <a:latin typeface="微软雅黑" panose="020B0503020204020204" charset="-122"/>
                  <a:ea typeface="微软雅黑" panose="020B0503020204020204" charset="-122"/>
                  <a:cs typeface="微软雅黑" panose="020B0503020204020204" charset="-122"/>
                </a:rPr>
                <a:t>时间报警组件</a:t>
              </a:r>
              <a:endParaRPr lang="zh-CN" altLang="en-US" sz="6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22" name="紫荆的职场Point22"/>
            <p:cNvSpPr txBox="1"/>
            <p:nvPr/>
          </p:nvSpPr>
          <p:spPr>
            <a:xfrm>
              <a:off x="7090" y="6513"/>
              <a:ext cx="1042" cy="267"/>
            </a:xfrm>
            <a:prstGeom prst="rect">
              <a:avLst/>
            </a:prstGeom>
            <a:noFill/>
          </p:spPr>
          <p:txBody>
            <a:bodyPr wrap="square" anchor="ctr" anchorCtr="0">
              <a:noAutofit/>
            </a:bodyPr>
            <a:lstStyle/>
            <a:p>
              <a:pPr algn="ctr"/>
              <a:r>
                <a:rPr lang="zh-CN" altLang="en-US" sz="600" dirty="0">
                  <a:solidFill>
                    <a:schemeClr val="tx2"/>
                  </a:solidFill>
                  <a:latin typeface="微软雅黑" panose="020B0503020204020204" charset="-122"/>
                  <a:ea typeface="微软雅黑" panose="020B0503020204020204" charset="-122"/>
                  <a:cs typeface="微软雅黑" panose="020B0503020204020204" charset="-122"/>
                </a:rPr>
                <a:t>数据可视组件</a:t>
              </a:r>
              <a:endParaRPr lang="zh-CN" altLang="en-US" sz="6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23" name="紫荆的职场Point22"/>
            <p:cNvSpPr txBox="1"/>
            <p:nvPr/>
          </p:nvSpPr>
          <p:spPr>
            <a:xfrm>
              <a:off x="7088" y="6729"/>
              <a:ext cx="1042" cy="267"/>
            </a:xfrm>
            <a:prstGeom prst="rect">
              <a:avLst/>
            </a:prstGeom>
            <a:noFill/>
          </p:spPr>
          <p:txBody>
            <a:bodyPr wrap="square" anchor="ctr" anchorCtr="0">
              <a:noAutofit/>
            </a:bodyPr>
            <a:lstStyle/>
            <a:p>
              <a:pPr algn="ctr"/>
              <a:r>
                <a:rPr lang="en-US" altLang="zh-CN" sz="600" dirty="0">
                  <a:solidFill>
                    <a:schemeClr val="tx2"/>
                  </a:solidFill>
                  <a:latin typeface="微软雅黑" panose="020B0503020204020204" charset="-122"/>
                  <a:ea typeface="微软雅黑" panose="020B0503020204020204" charset="-122"/>
                  <a:cs typeface="微软雅黑" panose="020B0503020204020204" charset="-122"/>
                </a:rPr>
                <a:t>……</a:t>
              </a:r>
              <a:endParaRPr lang="en-US" altLang="zh-CN" sz="6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241" name="组合 240"/>
          <p:cNvGrpSpPr/>
          <p:nvPr/>
        </p:nvGrpSpPr>
        <p:grpSpPr>
          <a:xfrm>
            <a:off x="3253105" y="4343400"/>
            <a:ext cx="1910715" cy="456565"/>
            <a:chOff x="5123" y="6279"/>
            <a:chExt cx="3009" cy="719"/>
          </a:xfrm>
        </p:grpSpPr>
        <p:sp>
          <p:nvSpPr>
            <p:cNvPr id="242" name="圆角矩形 241"/>
            <p:cNvSpPr/>
            <p:nvPr/>
          </p:nvSpPr>
          <p:spPr>
            <a:xfrm>
              <a:off x="5131" y="6279"/>
              <a:ext cx="3001" cy="710"/>
            </a:xfrm>
            <a:prstGeom prst="roundRect">
              <a:avLst>
                <a:gd name="adj" fmla="val 8974"/>
              </a:avLst>
            </a:prstGeom>
            <a:noFill/>
            <a:ln w="6350">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cxnSp>
          <p:nvCxnSpPr>
            <p:cNvPr id="243" name="直接连接符 242"/>
            <p:cNvCxnSpPr/>
            <p:nvPr/>
          </p:nvCxnSpPr>
          <p:spPr>
            <a:xfrm>
              <a:off x="5131" y="6530"/>
              <a:ext cx="2939" cy="0"/>
            </a:xfrm>
            <a:prstGeom prst="line">
              <a:avLst/>
            </a:prstGeom>
            <a:ln w="6350"/>
          </p:spPr>
          <p:style>
            <a:lnRef idx="2">
              <a:schemeClr val="accent1"/>
            </a:lnRef>
            <a:fillRef idx="0">
              <a:srgbClr val="FFFFFF"/>
            </a:fillRef>
            <a:effectRef idx="0">
              <a:srgbClr val="FFFFFF"/>
            </a:effectRef>
            <a:fontRef idx="minor">
              <a:schemeClr val="tx1"/>
            </a:fontRef>
          </p:style>
        </p:cxnSp>
        <p:cxnSp>
          <p:nvCxnSpPr>
            <p:cNvPr id="244" name="直接连接符 243"/>
            <p:cNvCxnSpPr/>
            <p:nvPr/>
          </p:nvCxnSpPr>
          <p:spPr>
            <a:xfrm>
              <a:off x="5193" y="6755"/>
              <a:ext cx="2878" cy="0"/>
            </a:xfrm>
            <a:prstGeom prst="line">
              <a:avLst/>
            </a:prstGeom>
            <a:ln w="6350">
              <a:solidFill>
                <a:schemeClr val="accent1">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245" name="直接连接符 244"/>
            <p:cNvCxnSpPr/>
            <p:nvPr/>
          </p:nvCxnSpPr>
          <p:spPr>
            <a:xfrm>
              <a:off x="6098" y="6580"/>
              <a:ext cx="0" cy="368"/>
            </a:xfrm>
            <a:prstGeom prst="line">
              <a:avLst/>
            </a:prstGeom>
            <a:ln w="6350">
              <a:solidFill>
                <a:schemeClr val="accent1">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246" name="直接连接符 245"/>
            <p:cNvCxnSpPr/>
            <p:nvPr/>
          </p:nvCxnSpPr>
          <p:spPr>
            <a:xfrm>
              <a:off x="7088" y="6595"/>
              <a:ext cx="0" cy="365"/>
            </a:xfrm>
            <a:prstGeom prst="line">
              <a:avLst/>
            </a:prstGeom>
            <a:ln w="6350">
              <a:solidFill>
                <a:schemeClr val="accent1">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sp>
          <p:nvSpPr>
            <p:cNvPr id="247" name="任意多边形 246"/>
            <p:cNvSpPr/>
            <p:nvPr/>
          </p:nvSpPr>
          <p:spPr>
            <a:xfrm>
              <a:off x="5131" y="6279"/>
              <a:ext cx="3001" cy="264"/>
            </a:xfrm>
            <a:custGeom>
              <a:avLst/>
              <a:gdLst>
                <a:gd name="adj" fmla="val 19933"/>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3001" h="264">
                  <a:moveTo>
                    <a:pt x="0" y="60"/>
                  </a:moveTo>
                  <a:cubicBezTo>
                    <a:pt x="-1" y="26"/>
                    <a:pt x="30" y="-1"/>
                    <a:pt x="60" y="0"/>
                  </a:cubicBezTo>
                  <a:lnTo>
                    <a:pt x="2941" y="0"/>
                  </a:lnTo>
                  <a:cubicBezTo>
                    <a:pt x="2975" y="-1"/>
                    <a:pt x="3002" y="30"/>
                    <a:pt x="3001" y="60"/>
                  </a:cubicBezTo>
                  <a:lnTo>
                    <a:pt x="3001" y="241"/>
                  </a:lnTo>
                  <a:cubicBezTo>
                    <a:pt x="3001" y="249"/>
                    <a:pt x="2998" y="260"/>
                    <a:pt x="2996" y="264"/>
                  </a:cubicBezTo>
                  <a:lnTo>
                    <a:pt x="5" y="264"/>
                  </a:lnTo>
                  <a:cubicBezTo>
                    <a:pt x="1" y="257"/>
                    <a:pt x="0" y="246"/>
                    <a:pt x="0" y="241"/>
                  </a:cubicBezTo>
                  <a:lnTo>
                    <a:pt x="0" y="60"/>
                  </a:lnTo>
                  <a:close/>
                </a:path>
              </a:pathLst>
            </a:custGeom>
            <a:solidFill>
              <a:schemeClr val="accent1">
                <a:lumMod val="60000"/>
                <a:lumOff val="40000"/>
              </a:schemeClr>
            </a:solidFill>
            <a:ln w="6350">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248" name="紫荆的职场Point22"/>
            <p:cNvSpPr txBox="1"/>
            <p:nvPr/>
          </p:nvSpPr>
          <p:spPr>
            <a:xfrm>
              <a:off x="5885" y="6279"/>
              <a:ext cx="1424" cy="267"/>
            </a:xfrm>
            <a:prstGeom prst="rect">
              <a:avLst/>
            </a:prstGeom>
            <a:noFill/>
          </p:spPr>
          <p:txBody>
            <a:bodyPr wrap="square" anchor="ctr" anchorCtr="0">
              <a:noAutofit/>
            </a:bodyPr>
            <a:lstStyle/>
            <a:p>
              <a:pPr algn="ctr"/>
              <a:r>
                <a:rPr lang="zh-CN" altLang="en-US" sz="700" dirty="0">
                  <a:solidFill>
                    <a:schemeClr val="bg1"/>
                  </a:solidFill>
                  <a:latin typeface="微软雅黑" panose="020B0503020204020204" charset="-122"/>
                  <a:ea typeface="微软雅黑" panose="020B0503020204020204" charset="-122"/>
                  <a:cs typeface="微软雅黑" panose="020B0503020204020204" charset="-122"/>
                </a:rPr>
                <a:t>接口资源服务管理</a:t>
              </a:r>
              <a:endParaRPr lang="zh-CN" altLang="en-US" sz="7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49" name="椭圆 248"/>
            <p:cNvSpPr/>
            <p:nvPr/>
          </p:nvSpPr>
          <p:spPr>
            <a:xfrm>
              <a:off x="6073" y="6723"/>
              <a:ext cx="57" cy="57"/>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50" name="椭圆 249"/>
            <p:cNvSpPr/>
            <p:nvPr/>
          </p:nvSpPr>
          <p:spPr>
            <a:xfrm>
              <a:off x="7060" y="6729"/>
              <a:ext cx="57" cy="57"/>
            </a:xfrm>
            <a:prstGeom prst="ellips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51" name="紫荆的职场Point22"/>
            <p:cNvSpPr txBox="1"/>
            <p:nvPr/>
          </p:nvSpPr>
          <p:spPr>
            <a:xfrm>
              <a:off x="5125" y="6515"/>
              <a:ext cx="1042" cy="267"/>
            </a:xfrm>
            <a:prstGeom prst="rect">
              <a:avLst/>
            </a:prstGeom>
            <a:noFill/>
          </p:spPr>
          <p:txBody>
            <a:bodyPr wrap="square" anchor="ctr" anchorCtr="0">
              <a:noAutofit/>
            </a:bodyPr>
            <a:lstStyle/>
            <a:p>
              <a:pPr algn="ctr"/>
              <a:r>
                <a:rPr lang="zh-CN" altLang="en-US" sz="600" dirty="0">
                  <a:solidFill>
                    <a:schemeClr val="tx2"/>
                  </a:solidFill>
                  <a:latin typeface="微软雅黑" panose="020B0503020204020204" charset="-122"/>
                  <a:ea typeface="微软雅黑" panose="020B0503020204020204" charset="-122"/>
                  <a:cs typeface="微软雅黑" panose="020B0503020204020204" charset="-122"/>
                </a:rPr>
                <a:t>注</a:t>
              </a:r>
              <a:r>
                <a:rPr lang="en-US" altLang="zh-CN" sz="600" dirty="0">
                  <a:solidFill>
                    <a:schemeClr val="tx2"/>
                  </a:solidFill>
                  <a:latin typeface="微软雅黑" panose="020B0503020204020204" charset="-122"/>
                  <a:ea typeface="微软雅黑" panose="020B0503020204020204" charset="-122"/>
                  <a:cs typeface="微软雅黑" panose="020B0503020204020204" charset="-122"/>
                </a:rPr>
                <a:t> </a:t>
              </a:r>
              <a:r>
                <a:rPr lang="zh-CN" altLang="en-US" sz="600" dirty="0">
                  <a:solidFill>
                    <a:schemeClr val="tx2"/>
                  </a:solidFill>
                  <a:latin typeface="微软雅黑" panose="020B0503020204020204" charset="-122"/>
                  <a:ea typeface="微软雅黑" panose="020B0503020204020204" charset="-122"/>
                  <a:cs typeface="微软雅黑" panose="020B0503020204020204" charset="-122"/>
                </a:rPr>
                <a:t>册</a:t>
              </a:r>
              <a:endParaRPr lang="zh-CN" altLang="en-US" sz="6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52" name="紫荆的职场Point22"/>
            <p:cNvSpPr txBox="1"/>
            <p:nvPr/>
          </p:nvSpPr>
          <p:spPr>
            <a:xfrm>
              <a:off x="5123" y="6731"/>
              <a:ext cx="1042" cy="267"/>
            </a:xfrm>
            <a:prstGeom prst="rect">
              <a:avLst/>
            </a:prstGeom>
            <a:noFill/>
          </p:spPr>
          <p:txBody>
            <a:bodyPr wrap="square" anchor="ctr" anchorCtr="0">
              <a:noAutofit/>
            </a:bodyPr>
            <a:lstStyle/>
            <a:p>
              <a:pPr algn="ctr"/>
              <a:r>
                <a:rPr lang="zh-CN" altLang="en-US" sz="600" dirty="0">
                  <a:solidFill>
                    <a:schemeClr val="tx2"/>
                  </a:solidFill>
                  <a:latin typeface="微软雅黑" panose="020B0503020204020204" charset="-122"/>
                  <a:ea typeface="微软雅黑" panose="020B0503020204020204" charset="-122"/>
                  <a:cs typeface="微软雅黑" panose="020B0503020204020204" charset="-122"/>
                </a:rPr>
                <a:t>上</a:t>
              </a:r>
              <a:r>
                <a:rPr lang="en-US" altLang="zh-CN" sz="6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600" dirty="0">
                  <a:solidFill>
                    <a:schemeClr val="tx2"/>
                  </a:solidFill>
                  <a:latin typeface="微软雅黑" panose="020B0503020204020204" charset="-122"/>
                  <a:ea typeface="微软雅黑" panose="020B0503020204020204" charset="-122"/>
                  <a:cs typeface="微软雅黑" panose="020B0503020204020204" charset="-122"/>
                </a:rPr>
                <a:t>下线</a:t>
              </a:r>
              <a:endParaRPr lang="zh-CN" altLang="en-US" sz="6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53" name="紫荆的职场Point22"/>
            <p:cNvSpPr txBox="1"/>
            <p:nvPr/>
          </p:nvSpPr>
          <p:spPr>
            <a:xfrm>
              <a:off x="6080" y="6515"/>
              <a:ext cx="1042" cy="267"/>
            </a:xfrm>
            <a:prstGeom prst="rect">
              <a:avLst/>
            </a:prstGeom>
            <a:noFill/>
          </p:spPr>
          <p:txBody>
            <a:bodyPr wrap="square" anchor="ctr" anchorCtr="0">
              <a:noAutofit/>
            </a:bodyPr>
            <a:lstStyle/>
            <a:p>
              <a:pPr algn="ctr"/>
              <a:r>
                <a:rPr lang="zh-CN" altLang="en-US" sz="600" dirty="0">
                  <a:solidFill>
                    <a:schemeClr val="tx2"/>
                  </a:solidFill>
                  <a:latin typeface="微软雅黑" panose="020B0503020204020204" charset="-122"/>
                  <a:ea typeface="微软雅黑" panose="020B0503020204020204" charset="-122"/>
                  <a:cs typeface="微软雅黑" panose="020B0503020204020204" charset="-122"/>
                </a:rPr>
                <a:t>发</a:t>
              </a:r>
              <a:r>
                <a:rPr lang="en-US" altLang="zh-CN" sz="600" dirty="0">
                  <a:solidFill>
                    <a:schemeClr val="tx2"/>
                  </a:solidFill>
                  <a:latin typeface="微软雅黑" panose="020B0503020204020204" charset="-122"/>
                  <a:ea typeface="微软雅黑" panose="020B0503020204020204" charset="-122"/>
                  <a:cs typeface="微软雅黑" panose="020B0503020204020204" charset="-122"/>
                </a:rPr>
                <a:t> </a:t>
              </a:r>
              <a:r>
                <a:rPr lang="zh-CN" altLang="en-US" sz="600" dirty="0">
                  <a:solidFill>
                    <a:schemeClr val="tx2"/>
                  </a:solidFill>
                  <a:latin typeface="微软雅黑" panose="020B0503020204020204" charset="-122"/>
                  <a:ea typeface="微软雅黑" panose="020B0503020204020204" charset="-122"/>
                  <a:cs typeface="微软雅黑" panose="020B0503020204020204" charset="-122"/>
                </a:rPr>
                <a:t>布</a:t>
              </a:r>
              <a:endParaRPr lang="zh-CN" altLang="en-US" sz="6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54" name="紫荆的职场Point22"/>
            <p:cNvSpPr txBox="1"/>
            <p:nvPr/>
          </p:nvSpPr>
          <p:spPr>
            <a:xfrm>
              <a:off x="6078" y="6731"/>
              <a:ext cx="1042" cy="267"/>
            </a:xfrm>
            <a:prstGeom prst="rect">
              <a:avLst/>
            </a:prstGeom>
            <a:noFill/>
          </p:spPr>
          <p:txBody>
            <a:bodyPr wrap="square" anchor="ctr" anchorCtr="0">
              <a:noAutofit/>
            </a:bodyPr>
            <a:lstStyle/>
            <a:p>
              <a:pPr algn="ctr"/>
              <a:r>
                <a:rPr lang="zh-CN" altLang="en-US" sz="600" dirty="0">
                  <a:solidFill>
                    <a:schemeClr val="tx2"/>
                  </a:solidFill>
                  <a:latin typeface="微软雅黑" panose="020B0503020204020204" charset="-122"/>
                  <a:ea typeface="微软雅黑" panose="020B0503020204020204" charset="-122"/>
                  <a:cs typeface="微软雅黑" panose="020B0503020204020204" charset="-122"/>
                </a:rPr>
                <a:t>注</a:t>
              </a:r>
              <a:r>
                <a:rPr lang="en-US" altLang="zh-CN" sz="600" dirty="0">
                  <a:solidFill>
                    <a:schemeClr val="tx2"/>
                  </a:solidFill>
                  <a:latin typeface="微软雅黑" panose="020B0503020204020204" charset="-122"/>
                  <a:ea typeface="微软雅黑" panose="020B0503020204020204" charset="-122"/>
                  <a:cs typeface="微软雅黑" panose="020B0503020204020204" charset="-122"/>
                </a:rPr>
                <a:t> </a:t>
              </a:r>
              <a:r>
                <a:rPr lang="zh-CN" altLang="en-US" sz="600" dirty="0">
                  <a:solidFill>
                    <a:schemeClr val="tx2"/>
                  </a:solidFill>
                  <a:latin typeface="微软雅黑" panose="020B0503020204020204" charset="-122"/>
                  <a:ea typeface="微软雅黑" panose="020B0503020204020204" charset="-122"/>
                  <a:cs typeface="微软雅黑" panose="020B0503020204020204" charset="-122"/>
                </a:rPr>
                <a:t>销</a:t>
              </a:r>
              <a:endParaRPr lang="zh-CN" altLang="en-US" sz="6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55" name="紫荆的职场Point22"/>
            <p:cNvSpPr txBox="1"/>
            <p:nvPr/>
          </p:nvSpPr>
          <p:spPr>
            <a:xfrm>
              <a:off x="7090" y="6513"/>
              <a:ext cx="1042" cy="267"/>
            </a:xfrm>
            <a:prstGeom prst="rect">
              <a:avLst/>
            </a:prstGeom>
            <a:noFill/>
          </p:spPr>
          <p:txBody>
            <a:bodyPr wrap="square" anchor="ctr" anchorCtr="0">
              <a:noAutofit/>
            </a:bodyPr>
            <a:lstStyle/>
            <a:p>
              <a:pPr algn="ctr"/>
              <a:r>
                <a:rPr lang="zh-CN" altLang="en-US" sz="600" dirty="0">
                  <a:solidFill>
                    <a:schemeClr val="tx2"/>
                  </a:solidFill>
                  <a:latin typeface="微软雅黑" panose="020B0503020204020204" charset="-122"/>
                  <a:ea typeface="微软雅黑" panose="020B0503020204020204" charset="-122"/>
                  <a:cs typeface="微软雅黑" panose="020B0503020204020204" charset="-122"/>
                </a:rPr>
                <a:t>权</a:t>
              </a:r>
              <a:r>
                <a:rPr lang="en-US" altLang="zh-CN" sz="600" dirty="0">
                  <a:solidFill>
                    <a:schemeClr val="tx2"/>
                  </a:solidFill>
                  <a:latin typeface="微软雅黑" panose="020B0503020204020204" charset="-122"/>
                  <a:ea typeface="微软雅黑" panose="020B0503020204020204" charset="-122"/>
                  <a:cs typeface="微软雅黑" panose="020B0503020204020204" charset="-122"/>
                </a:rPr>
                <a:t> </a:t>
              </a:r>
              <a:r>
                <a:rPr lang="zh-CN" altLang="en-US" sz="600" dirty="0">
                  <a:solidFill>
                    <a:schemeClr val="tx2"/>
                  </a:solidFill>
                  <a:latin typeface="微软雅黑" panose="020B0503020204020204" charset="-122"/>
                  <a:ea typeface="微软雅黑" panose="020B0503020204020204" charset="-122"/>
                  <a:cs typeface="微软雅黑" panose="020B0503020204020204" charset="-122"/>
                </a:rPr>
                <a:t>限</a:t>
              </a:r>
              <a:endParaRPr lang="zh-CN" altLang="en-US" sz="6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56" name="紫荆的职场Point22"/>
            <p:cNvSpPr txBox="1"/>
            <p:nvPr/>
          </p:nvSpPr>
          <p:spPr>
            <a:xfrm>
              <a:off x="7088" y="6729"/>
              <a:ext cx="1042" cy="267"/>
            </a:xfrm>
            <a:prstGeom prst="rect">
              <a:avLst/>
            </a:prstGeom>
            <a:noFill/>
          </p:spPr>
          <p:txBody>
            <a:bodyPr wrap="square" anchor="ctr" anchorCtr="0">
              <a:noAutofit/>
            </a:bodyPr>
            <a:lstStyle/>
            <a:p>
              <a:pPr algn="ctr"/>
              <a:r>
                <a:rPr lang="en-US" altLang="zh-CN" sz="600" dirty="0">
                  <a:solidFill>
                    <a:schemeClr val="tx2"/>
                  </a:solidFill>
                  <a:latin typeface="微软雅黑" panose="020B0503020204020204" charset="-122"/>
                  <a:ea typeface="微软雅黑" panose="020B0503020204020204" charset="-122"/>
                  <a:cs typeface="微软雅黑" panose="020B0503020204020204" charset="-122"/>
                </a:rPr>
                <a:t>……</a:t>
              </a:r>
              <a:endParaRPr lang="en-US" altLang="zh-CN" sz="600" dirty="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257" name="圆角矩形 256"/>
          <p:cNvSpPr/>
          <p:nvPr/>
        </p:nvSpPr>
        <p:spPr>
          <a:xfrm>
            <a:off x="2621915" y="2332990"/>
            <a:ext cx="2365375" cy="197485"/>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800" b="1">
                <a:cs typeface="微软雅黑" panose="020B0503020204020204" charset="-122"/>
              </a:rPr>
              <a:t>业务场景</a:t>
            </a:r>
            <a:endParaRPr lang="zh-CN" altLang="en-US" sz="800" b="1">
              <a:cs typeface="微软雅黑" panose="020B0503020204020204" charset="-122"/>
            </a:endParaRPr>
          </a:p>
        </p:txBody>
      </p:sp>
      <p:sp>
        <p:nvSpPr>
          <p:cNvPr id="259" name="圆角矩形 258"/>
          <p:cNvSpPr/>
          <p:nvPr/>
        </p:nvSpPr>
        <p:spPr>
          <a:xfrm>
            <a:off x="5033010" y="2332990"/>
            <a:ext cx="2359025" cy="197485"/>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800" b="1">
                <a:cs typeface="微软雅黑" panose="020B0503020204020204" charset="-122"/>
              </a:rPr>
              <a:t>管理平台</a:t>
            </a:r>
            <a:endParaRPr lang="zh-CN" altLang="en-US" sz="800" b="1">
              <a:cs typeface="微软雅黑" panose="020B0503020204020204" charset="-122"/>
            </a:endParaRPr>
          </a:p>
        </p:txBody>
      </p:sp>
      <p:sp>
        <p:nvSpPr>
          <p:cNvPr id="262" name="文本框 261"/>
          <p:cNvSpPr txBox="1"/>
          <p:nvPr/>
        </p:nvSpPr>
        <p:spPr>
          <a:xfrm>
            <a:off x="3974465" y="2600960"/>
            <a:ext cx="2115185" cy="260350"/>
          </a:xfrm>
          <a:prstGeom prst="rect">
            <a:avLst/>
          </a:prstGeom>
          <a:noFill/>
        </p:spPr>
        <p:txBody>
          <a:bodyPr wrap="square" rtlCol="0">
            <a:spAutoFit/>
          </a:bodyPr>
          <a:lstStyle/>
          <a:p>
            <a:pPr algn="ctr"/>
            <a:r>
              <a:rPr lang="zh-CN" sz="11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成果增值应用，辅助决策</a:t>
            </a:r>
            <a:endParaRPr lang="zh-CN" sz="1100" b="1" dirty="0">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endParaRPr>
          </a:p>
        </p:txBody>
      </p:sp>
      <p:grpSp>
        <p:nvGrpSpPr>
          <p:cNvPr id="292" name="组合 291"/>
          <p:cNvGrpSpPr/>
          <p:nvPr/>
        </p:nvGrpSpPr>
        <p:grpSpPr>
          <a:xfrm>
            <a:off x="2654300" y="1921510"/>
            <a:ext cx="2304415" cy="467360"/>
            <a:chOff x="4147" y="3128"/>
            <a:chExt cx="3629" cy="736"/>
          </a:xfrm>
        </p:grpSpPr>
        <p:grpSp>
          <p:nvGrpSpPr>
            <p:cNvPr id="264" name="组合 263"/>
            <p:cNvGrpSpPr/>
            <p:nvPr/>
          </p:nvGrpSpPr>
          <p:grpSpPr>
            <a:xfrm>
              <a:off x="4147" y="3128"/>
              <a:ext cx="326" cy="736"/>
              <a:chOff x="4147" y="3128"/>
              <a:chExt cx="326" cy="736"/>
            </a:xfrm>
          </p:grpSpPr>
          <p:sp>
            <p:nvSpPr>
              <p:cNvPr id="260" name="圆角矩形 259"/>
              <p:cNvSpPr/>
              <p:nvPr/>
            </p:nvSpPr>
            <p:spPr>
              <a:xfrm>
                <a:off x="4147" y="3128"/>
                <a:ext cx="307" cy="737"/>
              </a:xfrm>
              <a:prstGeom prst="roundRect">
                <a:avLst/>
              </a:prstGeom>
              <a:gradFill>
                <a:gsLst>
                  <a:gs pos="82000">
                    <a:schemeClr val="accent1">
                      <a:lumMod val="20000"/>
                      <a:lumOff val="80000"/>
                      <a:alpha val="0"/>
                    </a:schemeClr>
                  </a:gs>
                  <a:gs pos="0">
                    <a:schemeClr val="accent1">
                      <a:lumMod val="20000"/>
                      <a:lumOff val="8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800">
                  <a:cs typeface="微软雅黑" panose="020B0503020204020204" charset="-122"/>
                </a:endParaRPr>
              </a:p>
            </p:txBody>
          </p:sp>
          <p:sp>
            <p:nvSpPr>
              <p:cNvPr id="263" name="紫荆的职场Point22"/>
              <p:cNvSpPr txBox="1"/>
              <p:nvPr/>
            </p:nvSpPr>
            <p:spPr>
              <a:xfrm>
                <a:off x="4147" y="3128"/>
                <a:ext cx="327" cy="650"/>
              </a:xfrm>
              <a:prstGeom prst="rect">
                <a:avLst/>
              </a:prstGeom>
              <a:noFill/>
            </p:spPr>
            <p:txBody>
              <a:bodyPr vert="mongolianVert" wrap="square" anchor="ctr" anchorCtr="0">
                <a:noAutofit/>
              </a:bodyPr>
              <a:lstStyle/>
              <a:p>
                <a:pPr algn="ctr"/>
                <a:r>
                  <a:rPr lang="zh-CN" altLang="en-US"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员工自助</a:t>
                </a:r>
                <a:endParaRPr lang="zh-CN" altLang="en-US"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265" name="组合 264"/>
            <p:cNvGrpSpPr/>
            <p:nvPr/>
          </p:nvGrpSpPr>
          <p:grpSpPr>
            <a:xfrm>
              <a:off x="4514" y="3128"/>
              <a:ext cx="326" cy="736"/>
              <a:chOff x="4147" y="3128"/>
              <a:chExt cx="326" cy="736"/>
            </a:xfrm>
          </p:grpSpPr>
          <p:sp>
            <p:nvSpPr>
              <p:cNvPr id="266" name="圆角矩形 265"/>
              <p:cNvSpPr/>
              <p:nvPr/>
            </p:nvSpPr>
            <p:spPr>
              <a:xfrm>
                <a:off x="4147" y="3128"/>
                <a:ext cx="307" cy="737"/>
              </a:xfrm>
              <a:prstGeom prst="roundRect">
                <a:avLst/>
              </a:prstGeom>
              <a:gradFill>
                <a:gsLst>
                  <a:gs pos="82000">
                    <a:schemeClr val="accent1">
                      <a:lumMod val="20000"/>
                      <a:lumOff val="80000"/>
                      <a:alpha val="0"/>
                    </a:schemeClr>
                  </a:gs>
                  <a:gs pos="0">
                    <a:schemeClr val="accent1">
                      <a:lumMod val="20000"/>
                      <a:lumOff val="8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800">
                  <a:cs typeface="微软雅黑" panose="020B0503020204020204" charset="-122"/>
                </a:endParaRPr>
              </a:p>
            </p:txBody>
          </p:sp>
          <p:sp>
            <p:nvSpPr>
              <p:cNvPr id="267" name="紫荆的职场Point22"/>
              <p:cNvSpPr txBox="1"/>
              <p:nvPr/>
            </p:nvSpPr>
            <p:spPr>
              <a:xfrm>
                <a:off x="4147" y="3128"/>
                <a:ext cx="327" cy="650"/>
              </a:xfrm>
              <a:prstGeom prst="rect">
                <a:avLst/>
              </a:prstGeom>
              <a:noFill/>
            </p:spPr>
            <p:txBody>
              <a:bodyPr vert="mongolianVert" wrap="square" anchor="ctr" anchorCtr="0">
                <a:noAutofit/>
              </a:bodyPr>
              <a:lstStyle/>
              <a:p>
                <a:pPr algn="ctr"/>
                <a:r>
                  <a:rPr lang="zh-CN" altLang="en-US"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物流系统</a:t>
                </a:r>
                <a:endParaRPr lang="zh-CN" altLang="en-US"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268" name="组合 267"/>
            <p:cNvGrpSpPr/>
            <p:nvPr/>
          </p:nvGrpSpPr>
          <p:grpSpPr>
            <a:xfrm>
              <a:off x="4881" y="3128"/>
              <a:ext cx="326" cy="736"/>
              <a:chOff x="4147" y="3128"/>
              <a:chExt cx="326" cy="736"/>
            </a:xfrm>
          </p:grpSpPr>
          <p:sp>
            <p:nvSpPr>
              <p:cNvPr id="269" name="圆角矩形 268"/>
              <p:cNvSpPr/>
              <p:nvPr/>
            </p:nvSpPr>
            <p:spPr>
              <a:xfrm>
                <a:off x="4147" y="3128"/>
                <a:ext cx="307" cy="737"/>
              </a:xfrm>
              <a:prstGeom prst="roundRect">
                <a:avLst/>
              </a:prstGeom>
              <a:gradFill>
                <a:gsLst>
                  <a:gs pos="82000">
                    <a:schemeClr val="accent1">
                      <a:lumMod val="20000"/>
                      <a:lumOff val="80000"/>
                      <a:alpha val="0"/>
                    </a:schemeClr>
                  </a:gs>
                  <a:gs pos="0">
                    <a:schemeClr val="accent1">
                      <a:lumMod val="20000"/>
                      <a:lumOff val="8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800">
                  <a:cs typeface="微软雅黑" panose="020B0503020204020204" charset="-122"/>
                </a:endParaRPr>
              </a:p>
            </p:txBody>
          </p:sp>
          <p:sp>
            <p:nvSpPr>
              <p:cNvPr id="270" name="紫荆的职场Point22"/>
              <p:cNvSpPr txBox="1"/>
              <p:nvPr/>
            </p:nvSpPr>
            <p:spPr>
              <a:xfrm>
                <a:off x="4147" y="3128"/>
                <a:ext cx="327" cy="650"/>
              </a:xfrm>
              <a:prstGeom prst="rect">
                <a:avLst/>
              </a:prstGeom>
              <a:noFill/>
            </p:spPr>
            <p:txBody>
              <a:bodyPr vert="mongolianVert" wrap="square" anchor="ctr" anchorCtr="0">
                <a:noAutofit/>
              </a:bodyPr>
              <a:lstStyle/>
              <a:p>
                <a:pPr algn="ctr"/>
                <a:r>
                  <a:rPr lang="en-US" altLang="zh-CN"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OA</a:t>
                </a:r>
                <a:r>
                  <a:rPr lang="zh-CN" altLang="en-US"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系统</a:t>
                </a:r>
                <a:endParaRPr lang="zh-CN" altLang="en-US"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271" name="组合 270"/>
            <p:cNvGrpSpPr/>
            <p:nvPr/>
          </p:nvGrpSpPr>
          <p:grpSpPr>
            <a:xfrm>
              <a:off x="5248" y="3128"/>
              <a:ext cx="326" cy="736"/>
              <a:chOff x="4147" y="3128"/>
              <a:chExt cx="326" cy="736"/>
            </a:xfrm>
          </p:grpSpPr>
          <p:sp>
            <p:nvSpPr>
              <p:cNvPr id="272" name="圆角矩形 271"/>
              <p:cNvSpPr/>
              <p:nvPr/>
            </p:nvSpPr>
            <p:spPr>
              <a:xfrm>
                <a:off x="4147" y="3128"/>
                <a:ext cx="307" cy="737"/>
              </a:xfrm>
              <a:prstGeom prst="roundRect">
                <a:avLst/>
              </a:prstGeom>
              <a:gradFill>
                <a:gsLst>
                  <a:gs pos="82000">
                    <a:schemeClr val="accent1">
                      <a:lumMod val="20000"/>
                      <a:lumOff val="80000"/>
                      <a:alpha val="0"/>
                    </a:schemeClr>
                  </a:gs>
                  <a:gs pos="0">
                    <a:schemeClr val="accent1">
                      <a:lumMod val="20000"/>
                      <a:lumOff val="8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800">
                  <a:cs typeface="微软雅黑" panose="020B0503020204020204" charset="-122"/>
                </a:endParaRPr>
              </a:p>
            </p:txBody>
          </p:sp>
          <p:sp>
            <p:nvSpPr>
              <p:cNvPr id="273" name="紫荆的职场Point22"/>
              <p:cNvSpPr txBox="1"/>
              <p:nvPr/>
            </p:nvSpPr>
            <p:spPr>
              <a:xfrm>
                <a:off x="4147" y="3128"/>
                <a:ext cx="327" cy="650"/>
              </a:xfrm>
              <a:prstGeom prst="rect">
                <a:avLst/>
              </a:prstGeom>
              <a:noFill/>
            </p:spPr>
            <p:txBody>
              <a:bodyPr vert="mongolianVert" wrap="square" anchor="ctr" anchorCtr="0">
                <a:noAutofit/>
              </a:bodyPr>
              <a:lstStyle/>
              <a:p>
                <a:pPr algn="ctr"/>
                <a:r>
                  <a:rPr lang="en-US" altLang="zh-CN"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HR</a:t>
                </a:r>
                <a:r>
                  <a:rPr lang="zh-CN" altLang="en-US"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系统</a:t>
                </a:r>
                <a:endParaRPr lang="zh-CN" altLang="en-US"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274" name="组合 273"/>
            <p:cNvGrpSpPr/>
            <p:nvPr/>
          </p:nvGrpSpPr>
          <p:grpSpPr>
            <a:xfrm>
              <a:off x="5615" y="3128"/>
              <a:ext cx="326" cy="736"/>
              <a:chOff x="4147" y="3128"/>
              <a:chExt cx="326" cy="736"/>
            </a:xfrm>
          </p:grpSpPr>
          <p:sp>
            <p:nvSpPr>
              <p:cNvPr id="275" name="圆角矩形 274"/>
              <p:cNvSpPr/>
              <p:nvPr/>
            </p:nvSpPr>
            <p:spPr>
              <a:xfrm>
                <a:off x="4147" y="3128"/>
                <a:ext cx="307" cy="737"/>
              </a:xfrm>
              <a:prstGeom prst="roundRect">
                <a:avLst/>
              </a:prstGeom>
              <a:gradFill>
                <a:gsLst>
                  <a:gs pos="82000">
                    <a:schemeClr val="accent1">
                      <a:lumMod val="20000"/>
                      <a:lumOff val="80000"/>
                      <a:alpha val="0"/>
                    </a:schemeClr>
                  </a:gs>
                  <a:gs pos="0">
                    <a:schemeClr val="accent1">
                      <a:lumMod val="20000"/>
                      <a:lumOff val="8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800">
                  <a:cs typeface="微软雅黑" panose="020B0503020204020204" charset="-122"/>
                </a:endParaRPr>
              </a:p>
            </p:txBody>
          </p:sp>
          <p:sp>
            <p:nvSpPr>
              <p:cNvPr id="276" name="紫荆的职场Point22"/>
              <p:cNvSpPr txBox="1"/>
              <p:nvPr/>
            </p:nvSpPr>
            <p:spPr>
              <a:xfrm>
                <a:off x="4147" y="3128"/>
                <a:ext cx="327" cy="650"/>
              </a:xfrm>
              <a:prstGeom prst="rect">
                <a:avLst/>
              </a:prstGeom>
              <a:noFill/>
            </p:spPr>
            <p:txBody>
              <a:bodyPr vert="mongolianVert" wrap="square" anchor="ctr" anchorCtr="0">
                <a:noAutofit/>
              </a:bodyPr>
              <a:lstStyle/>
              <a:p>
                <a:pPr algn="ctr"/>
                <a:r>
                  <a:rPr lang="en-US" altLang="zh-CN"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ERP</a:t>
                </a:r>
                <a:r>
                  <a:rPr lang="zh-CN" altLang="en-US"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系统</a:t>
                </a:r>
                <a:endParaRPr lang="zh-CN" altLang="en-US"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277" name="组合 276"/>
            <p:cNvGrpSpPr/>
            <p:nvPr/>
          </p:nvGrpSpPr>
          <p:grpSpPr>
            <a:xfrm>
              <a:off x="5982" y="3128"/>
              <a:ext cx="326" cy="736"/>
              <a:chOff x="4147" y="3128"/>
              <a:chExt cx="326" cy="736"/>
            </a:xfrm>
          </p:grpSpPr>
          <p:sp>
            <p:nvSpPr>
              <p:cNvPr id="278" name="圆角矩形 277"/>
              <p:cNvSpPr/>
              <p:nvPr/>
            </p:nvSpPr>
            <p:spPr>
              <a:xfrm>
                <a:off x="4147" y="3128"/>
                <a:ext cx="307" cy="737"/>
              </a:xfrm>
              <a:prstGeom prst="roundRect">
                <a:avLst/>
              </a:prstGeom>
              <a:gradFill>
                <a:gsLst>
                  <a:gs pos="82000">
                    <a:schemeClr val="accent1">
                      <a:lumMod val="20000"/>
                      <a:lumOff val="80000"/>
                      <a:alpha val="0"/>
                    </a:schemeClr>
                  </a:gs>
                  <a:gs pos="0">
                    <a:schemeClr val="accent1">
                      <a:lumMod val="20000"/>
                      <a:lumOff val="8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800">
                  <a:cs typeface="微软雅黑" panose="020B0503020204020204" charset="-122"/>
                </a:endParaRPr>
              </a:p>
            </p:txBody>
          </p:sp>
          <p:sp>
            <p:nvSpPr>
              <p:cNvPr id="279" name="紫荆的职场Point22"/>
              <p:cNvSpPr txBox="1"/>
              <p:nvPr/>
            </p:nvSpPr>
            <p:spPr>
              <a:xfrm>
                <a:off x="4147" y="3128"/>
                <a:ext cx="327" cy="650"/>
              </a:xfrm>
              <a:prstGeom prst="rect">
                <a:avLst/>
              </a:prstGeom>
              <a:noFill/>
            </p:spPr>
            <p:txBody>
              <a:bodyPr vert="eaVert" wrap="square" anchor="ctr" anchorCtr="0">
                <a:noAutofit/>
              </a:bodyPr>
              <a:lstStyle/>
              <a:p>
                <a:pPr algn="ctr"/>
                <a:r>
                  <a:rPr lang="zh-CN" altLang="en-US"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电商系统</a:t>
                </a:r>
                <a:endParaRPr lang="zh-CN" altLang="en-US"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280" name="组合 279"/>
            <p:cNvGrpSpPr/>
            <p:nvPr/>
          </p:nvGrpSpPr>
          <p:grpSpPr>
            <a:xfrm>
              <a:off x="6349" y="3128"/>
              <a:ext cx="326" cy="736"/>
              <a:chOff x="4147" y="3128"/>
              <a:chExt cx="326" cy="736"/>
            </a:xfrm>
          </p:grpSpPr>
          <p:sp>
            <p:nvSpPr>
              <p:cNvPr id="281" name="圆角矩形 280"/>
              <p:cNvSpPr/>
              <p:nvPr/>
            </p:nvSpPr>
            <p:spPr>
              <a:xfrm>
                <a:off x="4147" y="3128"/>
                <a:ext cx="307" cy="737"/>
              </a:xfrm>
              <a:prstGeom prst="roundRect">
                <a:avLst/>
              </a:prstGeom>
              <a:gradFill>
                <a:gsLst>
                  <a:gs pos="82000">
                    <a:schemeClr val="accent1">
                      <a:lumMod val="20000"/>
                      <a:lumOff val="80000"/>
                      <a:alpha val="0"/>
                    </a:schemeClr>
                  </a:gs>
                  <a:gs pos="0">
                    <a:schemeClr val="accent1">
                      <a:lumMod val="20000"/>
                      <a:lumOff val="8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800">
                  <a:cs typeface="微软雅黑" panose="020B0503020204020204" charset="-122"/>
                </a:endParaRPr>
              </a:p>
            </p:txBody>
          </p:sp>
          <p:sp>
            <p:nvSpPr>
              <p:cNvPr id="282" name="紫荆的职场Point22"/>
              <p:cNvSpPr txBox="1"/>
              <p:nvPr/>
            </p:nvSpPr>
            <p:spPr>
              <a:xfrm>
                <a:off x="4147" y="3128"/>
                <a:ext cx="327" cy="650"/>
              </a:xfrm>
              <a:prstGeom prst="rect">
                <a:avLst/>
              </a:prstGeom>
              <a:noFill/>
            </p:spPr>
            <p:txBody>
              <a:bodyPr vert="mongolianVert" wrap="square" anchor="ctr" anchorCtr="0">
                <a:noAutofit/>
              </a:bodyPr>
              <a:lstStyle/>
              <a:p>
                <a:pPr algn="ctr"/>
                <a:r>
                  <a:rPr lang="zh-CN" altLang="en-US"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考勤系统</a:t>
                </a:r>
                <a:endParaRPr lang="zh-CN" altLang="en-US"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283" name="组合 282"/>
            <p:cNvGrpSpPr/>
            <p:nvPr/>
          </p:nvGrpSpPr>
          <p:grpSpPr>
            <a:xfrm>
              <a:off x="6716" y="3128"/>
              <a:ext cx="326" cy="736"/>
              <a:chOff x="4147" y="3128"/>
              <a:chExt cx="326" cy="736"/>
            </a:xfrm>
          </p:grpSpPr>
          <p:sp>
            <p:nvSpPr>
              <p:cNvPr id="284" name="圆角矩形 283"/>
              <p:cNvSpPr/>
              <p:nvPr/>
            </p:nvSpPr>
            <p:spPr>
              <a:xfrm>
                <a:off x="4147" y="3128"/>
                <a:ext cx="307" cy="737"/>
              </a:xfrm>
              <a:prstGeom prst="roundRect">
                <a:avLst/>
              </a:prstGeom>
              <a:gradFill>
                <a:gsLst>
                  <a:gs pos="82000">
                    <a:schemeClr val="accent1">
                      <a:lumMod val="20000"/>
                      <a:lumOff val="80000"/>
                      <a:alpha val="0"/>
                    </a:schemeClr>
                  </a:gs>
                  <a:gs pos="0">
                    <a:schemeClr val="accent1">
                      <a:lumMod val="20000"/>
                      <a:lumOff val="8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800">
                  <a:cs typeface="微软雅黑" panose="020B0503020204020204" charset="-122"/>
                </a:endParaRPr>
              </a:p>
            </p:txBody>
          </p:sp>
          <p:sp>
            <p:nvSpPr>
              <p:cNvPr id="285" name="紫荆的职场Point22"/>
              <p:cNvSpPr txBox="1"/>
              <p:nvPr/>
            </p:nvSpPr>
            <p:spPr>
              <a:xfrm>
                <a:off x="4147" y="3128"/>
                <a:ext cx="327" cy="650"/>
              </a:xfrm>
              <a:prstGeom prst="rect">
                <a:avLst/>
              </a:prstGeom>
              <a:noFill/>
            </p:spPr>
            <p:txBody>
              <a:bodyPr vert="mongolianVert" wrap="square" anchor="ctr" anchorCtr="0">
                <a:noAutofit/>
              </a:bodyPr>
              <a:lstStyle/>
              <a:p>
                <a:pPr algn="ctr"/>
                <a:r>
                  <a:rPr lang="zh-CN" altLang="en-US"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设备系统</a:t>
                </a:r>
                <a:endParaRPr lang="zh-CN" altLang="en-US"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286" name="组合 285"/>
            <p:cNvGrpSpPr/>
            <p:nvPr/>
          </p:nvGrpSpPr>
          <p:grpSpPr>
            <a:xfrm>
              <a:off x="7083" y="3128"/>
              <a:ext cx="326" cy="736"/>
              <a:chOff x="4147" y="3128"/>
              <a:chExt cx="326" cy="736"/>
            </a:xfrm>
          </p:grpSpPr>
          <p:sp>
            <p:nvSpPr>
              <p:cNvPr id="287" name="圆角矩形 286"/>
              <p:cNvSpPr/>
              <p:nvPr/>
            </p:nvSpPr>
            <p:spPr>
              <a:xfrm>
                <a:off x="4147" y="3128"/>
                <a:ext cx="307" cy="737"/>
              </a:xfrm>
              <a:prstGeom prst="roundRect">
                <a:avLst/>
              </a:prstGeom>
              <a:gradFill>
                <a:gsLst>
                  <a:gs pos="82000">
                    <a:schemeClr val="accent1">
                      <a:lumMod val="20000"/>
                      <a:lumOff val="80000"/>
                      <a:alpha val="0"/>
                    </a:schemeClr>
                  </a:gs>
                  <a:gs pos="0">
                    <a:schemeClr val="accent1">
                      <a:lumMod val="20000"/>
                      <a:lumOff val="8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800">
                  <a:cs typeface="微软雅黑" panose="020B0503020204020204" charset="-122"/>
                </a:endParaRPr>
              </a:p>
            </p:txBody>
          </p:sp>
          <p:sp>
            <p:nvSpPr>
              <p:cNvPr id="288" name="紫荆的职场Point22"/>
              <p:cNvSpPr txBox="1"/>
              <p:nvPr/>
            </p:nvSpPr>
            <p:spPr>
              <a:xfrm>
                <a:off x="4147" y="3128"/>
                <a:ext cx="327" cy="650"/>
              </a:xfrm>
              <a:prstGeom prst="rect">
                <a:avLst/>
              </a:prstGeom>
              <a:noFill/>
            </p:spPr>
            <p:txBody>
              <a:bodyPr vert="mongolianVert" wrap="square" anchor="ctr" anchorCtr="0">
                <a:noAutofit/>
              </a:bodyPr>
              <a:lstStyle/>
              <a:p>
                <a:pPr algn="ctr"/>
                <a:r>
                  <a:rPr lang="zh-CN" altLang="en-US"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能源系统</a:t>
                </a:r>
                <a:endParaRPr lang="zh-CN" altLang="en-US"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289" name="组合 288"/>
            <p:cNvGrpSpPr/>
            <p:nvPr/>
          </p:nvGrpSpPr>
          <p:grpSpPr>
            <a:xfrm>
              <a:off x="7450" y="3128"/>
              <a:ext cx="326" cy="736"/>
              <a:chOff x="4147" y="3128"/>
              <a:chExt cx="326" cy="736"/>
            </a:xfrm>
          </p:grpSpPr>
          <p:sp>
            <p:nvSpPr>
              <p:cNvPr id="290" name="圆角矩形 289"/>
              <p:cNvSpPr/>
              <p:nvPr/>
            </p:nvSpPr>
            <p:spPr>
              <a:xfrm>
                <a:off x="4147" y="3128"/>
                <a:ext cx="307" cy="737"/>
              </a:xfrm>
              <a:prstGeom prst="roundRect">
                <a:avLst/>
              </a:prstGeom>
              <a:gradFill>
                <a:gsLst>
                  <a:gs pos="82000">
                    <a:schemeClr val="accent1">
                      <a:lumMod val="20000"/>
                      <a:lumOff val="80000"/>
                      <a:alpha val="0"/>
                    </a:schemeClr>
                  </a:gs>
                  <a:gs pos="0">
                    <a:schemeClr val="accent1">
                      <a:lumMod val="20000"/>
                      <a:lumOff val="8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ltLang="zh-CN" sz="800">
                  <a:cs typeface="微软雅黑" panose="020B0503020204020204" charset="-122"/>
                </a:endParaRPr>
              </a:p>
            </p:txBody>
          </p:sp>
          <p:sp>
            <p:nvSpPr>
              <p:cNvPr id="291" name="紫荆的职场Point22"/>
              <p:cNvSpPr txBox="1"/>
              <p:nvPr/>
            </p:nvSpPr>
            <p:spPr>
              <a:xfrm>
                <a:off x="4147" y="3128"/>
                <a:ext cx="327" cy="650"/>
              </a:xfrm>
              <a:prstGeom prst="rect">
                <a:avLst/>
              </a:prstGeom>
              <a:noFill/>
            </p:spPr>
            <p:txBody>
              <a:bodyPr vert="mongolianVert" wrap="square" anchor="ctr" anchorCtr="0">
                <a:noAutofit/>
              </a:bodyPr>
              <a:lstStyle/>
              <a:p>
                <a:pPr algn="ctr"/>
                <a:r>
                  <a:rPr lang="en-US" altLang="zh-CN"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a:t>
                </a:r>
                <a:endParaRPr lang="en-US" altLang="zh-CN" sz="6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sp>
        <p:nvSpPr>
          <p:cNvPr id="293" name="椭圆 292"/>
          <p:cNvSpPr/>
          <p:nvPr/>
        </p:nvSpPr>
        <p:spPr>
          <a:xfrm>
            <a:off x="5237480" y="1912620"/>
            <a:ext cx="521970" cy="521970"/>
          </a:xfrm>
          <a:prstGeom prst="ellipse">
            <a:avLst/>
          </a:prstGeom>
          <a:gradFill>
            <a:gsLst>
              <a:gs pos="82000">
                <a:schemeClr val="accent1">
                  <a:lumMod val="20000"/>
                  <a:lumOff val="80000"/>
                  <a:alpha val="0"/>
                </a:schemeClr>
              </a:gs>
              <a:gs pos="0">
                <a:schemeClr val="accent1">
                  <a:lumMod val="20000"/>
                  <a:lumOff val="8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94" name="椭圆 293"/>
          <p:cNvSpPr/>
          <p:nvPr/>
        </p:nvSpPr>
        <p:spPr>
          <a:xfrm>
            <a:off x="6720840" y="1912620"/>
            <a:ext cx="521970" cy="521970"/>
          </a:xfrm>
          <a:prstGeom prst="ellipse">
            <a:avLst/>
          </a:prstGeom>
          <a:gradFill>
            <a:gsLst>
              <a:gs pos="82000">
                <a:schemeClr val="accent1">
                  <a:lumMod val="20000"/>
                  <a:lumOff val="80000"/>
                  <a:alpha val="0"/>
                </a:schemeClr>
              </a:gs>
              <a:gs pos="0">
                <a:schemeClr val="accent1">
                  <a:lumMod val="20000"/>
                  <a:lumOff val="8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95" name="椭圆 294"/>
          <p:cNvSpPr/>
          <p:nvPr/>
        </p:nvSpPr>
        <p:spPr>
          <a:xfrm>
            <a:off x="5979160" y="1912620"/>
            <a:ext cx="521970" cy="521970"/>
          </a:xfrm>
          <a:prstGeom prst="ellipse">
            <a:avLst/>
          </a:prstGeom>
          <a:gradFill>
            <a:gsLst>
              <a:gs pos="82000">
                <a:schemeClr val="accent1">
                  <a:lumMod val="20000"/>
                  <a:lumOff val="80000"/>
                  <a:alpha val="0"/>
                </a:schemeClr>
              </a:gs>
              <a:gs pos="0">
                <a:schemeClr val="accent1">
                  <a:lumMod val="20000"/>
                  <a:lumOff val="8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96" name="文本框 295"/>
          <p:cNvSpPr txBox="1"/>
          <p:nvPr/>
        </p:nvSpPr>
        <p:spPr>
          <a:xfrm>
            <a:off x="5246053" y="1954530"/>
            <a:ext cx="504825" cy="306705"/>
          </a:xfrm>
          <a:prstGeom prst="rect">
            <a:avLst/>
          </a:prstGeom>
          <a:noFill/>
        </p:spPr>
        <p:txBody>
          <a:bodyPr wrap="square" rtlCol="0">
            <a:spAutoFit/>
          </a:bodyPr>
          <a:lstStyle/>
          <a:p>
            <a:pPr algn="ctr"/>
            <a:r>
              <a:rPr lang="zh-CN" sz="7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智能运营平台</a:t>
            </a:r>
            <a:endParaRPr lang="zh-CN" sz="7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97" name="文本框 296"/>
          <p:cNvSpPr txBox="1"/>
          <p:nvPr/>
        </p:nvSpPr>
        <p:spPr>
          <a:xfrm>
            <a:off x="5987733" y="1954530"/>
            <a:ext cx="504825" cy="306705"/>
          </a:xfrm>
          <a:prstGeom prst="rect">
            <a:avLst/>
          </a:prstGeom>
          <a:noFill/>
        </p:spPr>
        <p:txBody>
          <a:bodyPr wrap="square" rtlCol="0">
            <a:spAutoFit/>
          </a:bodyPr>
          <a:lstStyle/>
          <a:p>
            <a:pPr algn="ctr"/>
            <a:r>
              <a:rPr lang="zh-CN" altLang="en-US" sz="7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精准营销平台</a:t>
            </a:r>
            <a:endParaRPr lang="zh-CN" altLang="en-US" sz="7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98" name="文本框 297"/>
          <p:cNvSpPr txBox="1"/>
          <p:nvPr/>
        </p:nvSpPr>
        <p:spPr>
          <a:xfrm>
            <a:off x="6729413" y="1954530"/>
            <a:ext cx="504825" cy="306705"/>
          </a:xfrm>
          <a:prstGeom prst="rect">
            <a:avLst/>
          </a:prstGeom>
          <a:noFill/>
        </p:spPr>
        <p:txBody>
          <a:bodyPr wrap="square" rtlCol="0">
            <a:spAutoFit/>
          </a:bodyPr>
          <a:lstStyle/>
          <a:p>
            <a:pPr algn="ctr"/>
            <a:r>
              <a:rPr lang="zh-CN" altLang="en-US" sz="7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智能决策分析</a:t>
            </a:r>
            <a:endParaRPr lang="zh-CN" altLang="en-US" sz="7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99" name="圆角矩形 298"/>
          <p:cNvSpPr/>
          <p:nvPr/>
        </p:nvSpPr>
        <p:spPr>
          <a:xfrm>
            <a:off x="2642870" y="1116330"/>
            <a:ext cx="755015" cy="240665"/>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800">
                <a:cs typeface="微软雅黑" panose="020B0503020204020204" charset="-122"/>
              </a:rPr>
              <a:t>均衡负载</a:t>
            </a:r>
            <a:endParaRPr lang="zh-CN" altLang="en-US" sz="800">
              <a:cs typeface="微软雅黑" panose="020B0503020204020204" charset="-122"/>
            </a:endParaRPr>
          </a:p>
        </p:txBody>
      </p:sp>
      <p:sp>
        <p:nvSpPr>
          <p:cNvPr id="300" name="圆角矩形 299"/>
          <p:cNvSpPr/>
          <p:nvPr/>
        </p:nvSpPr>
        <p:spPr>
          <a:xfrm>
            <a:off x="3427095" y="1116330"/>
            <a:ext cx="755015" cy="240665"/>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800">
                <a:cs typeface="微软雅黑" panose="020B0503020204020204" charset="-122"/>
              </a:rPr>
              <a:t>域名服务</a:t>
            </a:r>
            <a:endParaRPr lang="zh-CN" altLang="en-US" sz="800">
              <a:cs typeface="微软雅黑" panose="020B0503020204020204" charset="-122"/>
            </a:endParaRPr>
          </a:p>
        </p:txBody>
      </p:sp>
      <p:sp>
        <p:nvSpPr>
          <p:cNvPr id="301" name="圆角矩形 300"/>
          <p:cNvSpPr/>
          <p:nvPr/>
        </p:nvSpPr>
        <p:spPr>
          <a:xfrm>
            <a:off x="4225925" y="1116330"/>
            <a:ext cx="755015" cy="240665"/>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800">
                <a:cs typeface="微软雅黑" panose="020B0503020204020204" charset="-122"/>
              </a:rPr>
              <a:t>权限管理</a:t>
            </a:r>
            <a:endParaRPr lang="zh-CN" altLang="en-US" sz="800">
              <a:cs typeface="微软雅黑" panose="020B0503020204020204" charset="-122"/>
            </a:endParaRPr>
          </a:p>
        </p:txBody>
      </p:sp>
      <p:sp>
        <p:nvSpPr>
          <p:cNvPr id="302" name="圆角矩形 301"/>
          <p:cNvSpPr/>
          <p:nvPr/>
        </p:nvSpPr>
        <p:spPr>
          <a:xfrm>
            <a:off x="5033010" y="1116330"/>
            <a:ext cx="755015" cy="240665"/>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800">
                <a:cs typeface="微软雅黑" panose="020B0503020204020204" charset="-122"/>
              </a:rPr>
              <a:t>统一认证</a:t>
            </a:r>
            <a:endParaRPr lang="zh-CN" altLang="en-US" sz="800">
              <a:cs typeface="微软雅黑" panose="020B0503020204020204" charset="-122"/>
            </a:endParaRPr>
          </a:p>
        </p:txBody>
      </p:sp>
      <p:sp>
        <p:nvSpPr>
          <p:cNvPr id="303" name="圆角矩形 302"/>
          <p:cNvSpPr/>
          <p:nvPr/>
        </p:nvSpPr>
        <p:spPr>
          <a:xfrm>
            <a:off x="5832475" y="1116330"/>
            <a:ext cx="755015" cy="240665"/>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800">
                <a:cs typeface="微软雅黑" panose="020B0503020204020204" charset="-122"/>
              </a:rPr>
              <a:t>用户注册</a:t>
            </a:r>
            <a:endParaRPr lang="zh-CN" altLang="en-US" sz="800">
              <a:cs typeface="微软雅黑" panose="020B0503020204020204" charset="-122"/>
            </a:endParaRPr>
          </a:p>
        </p:txBody>
      </p:sp>
      <p:sp>
        <p:nvSpPr>
          <p:cNvPr id="304" name="圆角矩形 303"/>
          <p:cNvSpPr/>
          <p:nvPr/>
        </p:nvSpPr>
        <p:spPr>
          <a:xfrm>
            <a:off x="6619240" y="1116330"/>
            <a:ext cx="755015" cy="240665"/>
          </a:xfrm>
          <a:prstGeom prst="roundRect">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800">
                <a:cs typeface="微软雅黑" panose="020B0503020204020204" charset="-122"/>
              </a:rPr>
              <a:t>门户发布</a:t>
            </a:r>
            <a:endParaRPr lang="zh-CN" altLang="en-US" sz="800">
              <a:cs typeface="微软雅黑" panose="020B0503020204020204" charset="-122"/>
            </a:endParaRPr>
          </a:p>
        </p:txBody>
      </p:sp>
      <p:sp>
        <p:nvSpPr>
          <p:cNvPr id="305" name="文本框 304"/>
          <p:cNvSpPr txBox="1"/>
          <p:nvPr/>
        </p:nvSpPr>
        <p:spPr>
          <a:xfrm>
            <a:off x="4079240" y="1511935"/>
            <a:ext cx="2115185" cy="260350"/>
          </a:xfrm>
          <a:prstGeom prst="rect">
            <a:avLst/>
          </a:prstGeom>
          <a:noFill/>
        </p:spPr>
        <p:txBody>
          <a:bodyPr wrap="square" rtlCol="0">
            <a:spAutoFit/>
          </a:bodyPr>
          <a:lstStyle/>
          <a:p>
            <a:pPr algn="ctr"/>
            <a:r>
              <a:rPr lang="zh-CN" sz="1100" b="1">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rPr>
              <a:t>统一门户管理</a:t>
            </a:r>
            <a:endParaRPr lang="zh-CN" sz="1100" b="1" dirty="0">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endParaRPr>
          </a:p>
        </p:txBody>
      </p:sp>
      <p:pic>
        <p:nvPicPr>
          <p:cNvPr id="306" name="图片 305" descr="用户访问量"/>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978833" y="1978660"/>
            <a:ext cx="387985" cy="387985"/>
          </a:xfrm>
          <a:prstGeom prst="rect">
            <a:avLst/>
          </a:prstGeom>
        </p:spPr>
      </p:pic>
      <p:pic>
        <p:nvPicPr>
          <p:cNvPr id="307" name="图片 306" descr="1-1报表"/>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965498" y="1219835"/>
            <a:ext cx="414655" cy="403225"/>
          </a:xfrm>
          <a:prstGeom prst="rect">
            <a:avLst/>
          </a:prstGeom>
        </p:spPr>
      </p:pic>
      <p:pic>
        <p:nvPicPr>
          <p:cNvPr id="308" name="图片 307" descr="活跃用户"/>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925175" y="2671445"/>
            <a:ext cx="495300" cy="495300"/>
          </a:xfrm>
          <a:prstGeom prst="rect">
            <a:avLst/>
          </a:prstGeom>
        </p:spPr>
      </p:pic>
      <p:sp>
        <p:nvSpPr>
          <p:cNvPr id="108" name="文本框 107"/>
          <p:cNvSpPr txBox="1"/>
          <p:nvPr/>
        </p:nvSpPr>
        <p:spPr>
          <a:xfrm>
            <a:off x="7899718" y="6205855"/>
            <a:ext cx="1429385" cy="260350"/>
          </a:xfrm>
          <a:prstGeom prst="rect">
            <a:avLst/>
          </a:prstGeom>
          <a:noFill/>
        </p:spPr>
        <p:txBody>
          <a:bodyPr wrap="square" rtlCol="0">
            <a:spAutoFit/>
          </a:bodyPr>
          <a:lstStyle/>
          <a:p>
            <a:pPr algn="ctr"/>
            <a:r>
              <a:rPr lang="zh-CN" altLang="en-US" sz="1100" b="1" dirty="0">
                <a:solidFill>
                  <a:schemeClr val="bg1"/>
                </a:solidFill>
                <a:latin typeface="微软雅黑" panose="020B0503020204020204" charset="-122"/>
                <a:ea typeface="微软雅黑" panose="020B0503020204020204" charset="-122"/>
                <a:cs typeface="微软雅黑" panose="020B0503020204020204" charset="-122"/>
              </a:rPr>
              <a:t>应用场景</a:t>
            </a:r>
            <a:endParaRPr lang="zh-CN" altLang="en-US" sz="1100" b="1" dirty="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供应链运营数字化架构</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7" name="紫荆的职场Point13"/>
          <p:cNvSpPr/>
          <p:nvPr/>
        </p:nvSpPr>
        <p:spPr>
          <a:xfrm>
            <a:off x="304801" y="1081617"/>
            <a:ext cx="1487714" cy="795438"/>
          </a:xfrm>
          <a:prstGeom prst="rect">
            <a:avLst/>
          </a:prstGeom>
          <a:gradFill>
            <a:gsLst>
              <a:gs pos="0">
                <a:schemeClr val="accent1">
                  <a:lumMod val="60000"/>
                  <a:lumOff val="40000"/>
                </a:schemeClr>
              </a:gs>
              <a:gs pos="80000">
                <a:schemeClr val="accent1"/>
              </a:gs>
            </a:gsLst>
            <a:lin ang="5400000" scaled="1"/>
          </a:gradFill>
          <a:ln>
            <a:noFill/>
          </a:ln>
          <a:effectLst>
            <a:outerShdw blurRad="114300" dist="76200" algn="l" rotWithShape="0">
              <a:schemeClr val="accent1">
                <a:lumMod val="60000"/>
                <a:lumOff val="40000"/>
                <a:alpha val="4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38" name="紫荆的职场Point14"/>
          <p:cNvSpPr/>
          <p:nvPr/>
        </p:nvSpPr>
        <p:spPr>
          <a:xfrm>
            <a:off x="304801" y="1948574"/>
            <a:ext cx="1487714" cy="679155"/>
          </a:xfrm>
          <a:prstGeom prst="rect">
            <a:avLst/>
          </a:prstGeom>
          <a:gradFill>
            <a:gsLst>
              <a:gs pos="0">
                <a:schemeClr val="accent1">
                  <a:lumMod val="60000"/>
                  <a:lumOff val="40000"/>
                </a:schemeClr>
              </a:gs>
              <a:gs pos="80000">
                <a:schemeClr val="accent1"/>
              </a:gs>
            </a:gsLst>
            <a:lin ang="5400000" scaled="1"/>
          </a:gradFill>
          <a:ln>
            <a:noFill/>
          </a:ln>
          <a:effectLst>
            <a:outerShdw blurRad="114300" dist="76200" algn="l" rotWithShape="0">
              <a:schemeClr val="accent1">
                <a:lumMod val="60000"/>
                <a:lumOff val="40000"/>
                <a:alpha val="4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39" name="紫荆的职场Point15"/>
          <p:cNvSpPr/>
          <p:nvPr/>
        </p:nvSpPr>
        <p:spPr>
          <a:xfrm>
            <a:off x="304801" y="2705603"/>
            <a:ext cx="1487714" cy="3221904"/>
          </a:xfrm>
          <a:prstGeom prst="rect">
            <a:avLst/>
          </a:prstGeom>
          <a:gradFill>
            <a:gsLst>
              <a:gs pos="0">
                <a:schemeClr val="accent5">
                  <a:lumMod val="60000"/>
                  <a:lumOff val="40000"/>
                </a:schemeClr>
              </a:gs>
              <a:gs pos="80000">
                <a:schemeClr val="accent5"/>
              </a:gs>
            </a:gsLst>
            <a:lin ang="5400000" scaled="1"/>
          </a:gradFill>
          <a:ln>
            <a:noFill/>
          </a:ln>
          <a:effectLst>
            <a:outerShdw blurRad="114300" dist="76200" algn="l" rotWithShape="0">
              <a:schemeClr val="accent5">
                <a:lumMod val="60000"/>
                <a:lumOff val="40000"/>
                <a:alpha val="4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40" name="紫荆的职场Point16"/>
          <p:cNvSpPr/>
          <p:nvPr/>
        </p:nvSpPr>
        <p:spPr>
          <a:xfrm>
            <a:off x="304800" y="5997575"/>
            <a:ext cx="1487805" cy="659130"/>
          </a:xfrm>
          <a:prstGeom prst="rect">
            <a:avLst/>
          </a:prstGeom>
          <a:gradFill>
            <a:gsLst>
              <a:gs pos="0">
                <a:schemeClr val="accent1">
                  <a:lumMod val="60000"/>
                  <a:lumOff val="40000"/>
                </a:schemeClr>
              </a:gs>
              <a:gs pos="80000">
                <a:schemeClr val="accent1"/>
              </a:gs>
            </a:gsLst>
            <a:lin ang="5400000" scaled="1"/>
          </a:gradFill>
          <a:ln>
            <a:noFill/>
          </a:ln>
          <a:effectLst>
            <a:outerShdw blurRad="114300" dist="76200" algn="l" rotWithShape="0">
              <a:schemeClr val="accent1">
                <a:lumMod val="60000"/>
                <a:lumOff val="40000"/>
                <a:alpha val="4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41" name="紫荆的职场Point17"/>
          <p:cNvSpPr txBox="1"/>
          <p:nvPr/>
        </p:nvSpPr>
        <p:spPr>
          <a:xfrm>
            <a:off x="417716" y="1239734"/>
            <a:ext cx="1261884" cy="317130"/>
          </a:xfrm>
          <a:prstGeom prst="rect">
            <a:avLst/>
          </a:prstGeom>
          <a:noFill/>
        </p:spPr>
        <p:txBody>
          <a:bodyPr wrap="none">
            <a:spAutoFit/>
          </a:bodyPr>
          <a:lstStyle/>
          <a:p>
            <a:pPr algn="ctr"/>
            <a:r>
              <a:rPr lang="zh-CN" altLang="en-US" sz="1400" b="1" dirty="0">
                <a:solidFill>
                  <a:srgbClr val="FFFFFF"/>
                </a:solidFill>
                <a:latin typeface="微软雅黑" panose="020B0503020204020204" charset="-122"/>
                <a:ea typeface="微软雅黑" panose="020B0503020204020204" charset="-122"/>
                <a:cs typeface="微软雅黑" panose="020B0503020204020204" charset="-122"/>
              </a:rPr>
              <a:t>供应链控制塔</a:t>
            </a:r>
            <a:endParaRPr lang="zh-CN" altLang="en-US" sz="14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2" name="紫荆的职场Point18"/>
          <p:cNvSpPr txBox="1"/>
          <p:nvPr/>
        </p:nvSpPr>
        <p:spPr>
          <a:xfrm>
            <a:off x="507484" y="2035964"/>
            <a:ext cx="1082348" cy="317130"/>
          </a:xfrm>
          <a:prstGeom prst="rect">
            <a:avLst/>
          </a:prstGeom>
          <a:noFill/>
        </p:spPr>
        <p:txBody>
          <a:bodyPr wrap="none">
            <a:spAutoFit/>
          </a:bodyPr>
          <a:lstStyle/>
          <a:p>
            <a:pPr algn="ctr"/>
            <a:r>
              <a:rPr lang="zh-CN" altLang="en-US" sz="1400" b="1" dirty="0">
                <a:solidFill>
                  <a:srgbClr val="FFFFFF">
                    <a:lumMod val="95000"/>
                  </a:srgbClr>
                </a:solidFill>
                <a:latin typeface="微软雅黑" panose="020B0503020204020204" charset="-122"/>
                <a:ea typeface="微软雅黑" panose="020B0503020204020204" charset="-122"/>
                <a:cs typeface="微软雅黑" panose="020B0503020204020204" charset="-122"/>
              </a:rPr>
              <a:t>供应链计划</a:t>
            </a:r>
            <a:endParaRPr lang="zh-CN" altLang="en-US" sz="1400" b="1" dirty="0">
              <a:solidFill>
                <a:srgbClr val="FFFFFF">
                  <a:lumMod val="95000"/>
                </a:srgbClr>
              </a:solidFill>
              <a:latin typeface="微软雅黑" panose="020B0503020204020204" charset="-122"/>
              <a:ea typeface="微软雅黑" panose="020B0503020204020204" charset="-122"/>
              <a:cs typeface="微软雅黑" panose="020B0503020204020204" charset="-122"/>
            </a:endParaRPr>
          </a:p>
        </p:txBody>
      </p:sp>
      <p:sp>
        <p:nvSpPr>
          <p:cNvPr id="77" name="紫荆的职场Point19"/>
          <p:cNvSpPr txBox="1"/>
          <p:nvPr/>
        </p:nvSpPr>
        <p:spPr>
          <a:xfrm>
            <a:off x="507484" y="3810331"/>
            <a:ext cx="1082348" cy="317130"/>
          </a:xfrm>
          <a:prstGeom prst="rect">
            <a:avLst/>
          </a:prstGeom>
          <a:noFill/>
        </p:spPr>
        <p:txBody>
          <a:bodyPr wrap="none">
            <a:spAutoFit/>
          </a:bodyPr>
          <a:lstStyle/>
          <a:p>
            <a:pPr algn="ctr"/>
            <a:r>
              <a:rPr lang="zh-CN" altLang="en-US" sz="1400" b="1" dirty="0">
                <a:solidFill>
                  <a:srgbClr val="FFFFFF"/>
                </a:solidFill>
                <a:latin typeface="微软雅黑" panose="020B0503020204020204" charset="-122"/>
                <a:ea typeface="微软雅黑" panose="020B0503020204020204" charset="-122"/>
                <a:cs typeface="微软雅黑" panose="020B0503020204020204" charset="-122"/>
              </a:rPr>
              <a:t>供应链运营</a:t>
            </a:r>
            <a:endParaRPr lang="zh-CN" altLang="en-US" sz="14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8" name="紫荆的职场Point20"/>
          <p:cNvSpPr txBox="1"/>
          <p:nvPr/>
        </p:nvSpPr>
        <p:spPr>
          <a:xfrm>
            <a:off x="597252" y="6051724"/>
            <a:ext cx="902811" cy="317130"/>
          </a:xfrm>
          <a:prstGeom prst="rect">
            <a:avLst/>
          </a:prstGeom>
          <a:noFill/>
        </p:spPr>
        <p:txBody>
          <a:bodyPr wrap="none">
            <a:spAutoFit/>
          </a:bodyPr>
          <a:lstStyle/>
          <a:p>
            <a:pPr algn="ctr"/>
            <a:r>
              <a:rPr lang="zh-CN" altLang="en-US" sz="1400" b="1" dirty="0">
                <a:solidFill>
                  <a:srgbClr val="FFFFFF"/>
                </a:solidFill>
                <a:latin typeface="微软雅黑" panose="020B0503020204020204" charset="-122"/>
                <a:ea typeface="微软雅黑" panose="020B0503020204020204" charset="-122"/>
                <a:cs typeface="微软雅黑" panose="020B0503020204020204" charset="-122"/>
              </a:rPr>
              <a:t>资源集成</a:t>
            </a:r>
            <a:endParaRPr lang="zh-CN" altLang="en-US" sz="14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10" name="紫荆的职场Point61"/>
          <p:cNvSpPr txBox="1"/>
          <p:nvPr/>
        </p:nvSpPr>
        <p:spPr>
          <a:xfrm>
            <a:off x="411436" y="4093114"/>
            <a:ext cx="1274445" cy="213995"/>
          </a:xfrm>
          <a:prstGeom prst="rect">
            <a:avLst/>
          </a:prstGeom>
          <a:noFill/>
        </p:spPr>
        <p:txBody>
          <a:bodyPr wrap="none">
            <a:spAutoFit/>
          </a:bodyPr>
          <a:lstStyle/>
          <a:p>
            <a:pPr algn="ctr"/>
            <a:r>
              <a:rPr lang="en-US" altLang="zh-CN" sz="800" dirty="0">
                <a:solidFill>
                  <a:srgbClr val="FFFFFF"/>
                </a:solidFill>
                <a:latin typeface="微软雅黑" panose="020B0503020204020204" charset="-122"/>
                <a:ea typeface="微软雅黑" panose="020B0503020204020204" charset="-122"/>
                <a:cs typeface="微软雅黑" panose="020B0503020204020204" charset="-122"/>
              </a:rPr>
              <a:t>Supply chain operations</a:t>
            </a:r>
            <a:endParaRPr lang="en-US" altLang="zh-CN" sz="8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75" name="紫荆的职场Point126"/>
          <p:cNvSpPr txBox="1"/>
          <p:nvPr/>
        </p:nvSpPr>
        <p:spPr>
          <a:xfrm>
            <a:off x="454616" y="2284554"/>
            <a:ext cx="1188085" cy="213995"/>
          </a:xfrm>
          <a:prstGeom prst="rect">
            <a:avLst/>
          </a:prstGeom>
          <a:noFill/>
        </p:spPr>
        <p:txBody>
          <a:bodyPr wrap="none">
            <a:spAutoFit/>
          </a:bodyPr>
          <a:lstStyle/>
          <a:p>
            <a:pPr algn="ctr"/>
            <a:r>
              <a:rPr lang="en-US" altLang="zh-CN" sz="800" dirty="0">
                <a:solidFill>
                  <a:srgbClr val="FFFFFF">
                    <a:lumMod val="95000"/>
                  </a:srgbClr>
                </a:solidFill>
                <a:latin typeface="微软雅黑" panose="020B0503020204020204" charset="-122"/>
                <a:ea typeface="微软雅黑" panose="020B0503020204020204" charset="-122"/>
                <a:cs typeface="微软雅黑" panose="020B0503020204020204" charset="-122"/>
              </a:rPr>
              <a:t>Supply</a:t>
            </a:r>
            <a:r>
              <a:rPr lang="en-US" altLang="zh-CN" sz="800" b="1" dirty="0">
                <a:solidFill>
                  <a:srgbClr val="FFFFFF">
                    <a:lumMod val="95000"/>
                  </a:srgbClr>
                </a:solidFill>
                <a:latin typeface="微软雅黑" panose="020B0503020204020204" charset="-122"/>
                <a:ea typeface="微软雅黑" panose="020B0503020204020204" charset="-122"/>
                <a:cs typeface="微软雅黑" panose="020B0503020204020204" charset="-122"/>
              </a:rPr>
              <a:t> </a:t>
            </a:r>
            <a:r>
              <a:rPr lang="en-US" altLang="zh-CN" sz="800" dirty="0">
                <a:solidFill>
                  <a:srgbClr val="FFFFFF">
                    <a:lumMod val="95000"/>
                  </a:srgbClr>
                </a:solidFill>
                <a:latin typeface="微软雅黑" panose="020B0503020204020204" charset="-122"/>
                <a:ea typeface="微软雅黑" panose="020B0503020204020204" charset="-122"/>
                <a:cs typeface="微软雅黑" panose="020B0503020204020204" charset="-122"/>
              </a:rPr>
              <a:t>chain</a:t>
            </a:r>
            <a:r>
              <a:rPr lang="en-US" altLang="zh-CN" sz="800" b="1" dirty="0">
                <a:solidFill>
                  <a:srgbClr val="FFFFFF">
                    <a:lumMod val="95000"/>
                  </a:srgbClr>
                </a:solidFill>
                <a:latin typeface="微软雅黑" panose="020B0503020204020204" charset="-122"/>
                <a:ea typeface="微软雅黑" panose="020B0503020204020204" charset="-122"/>
                <a:cs typeface="微软雅黑" panose="020B0503020204020204" charset="-122"/>
              </a:rPr>
              <a:t> </a:t>
            </a:r>
            <a:r>
              <a:rPr lang="en-US" altLang="zh-CN" sz="800" dirty="0">
                <a:solidFill>
                  <a:srgbClr val="FFFFFF">
                    <a:lumMod val="95000"/>
                  </a:srgbClr>
                </a:solidFill>
                <a:latin typeface="微软雅黑" panose="020B0503020204020204" charset="-122"/>
                <a:ea typeface="微软雅黑" panose="020B0503020204020204" charset="-122"/>
                <a:cs typeface="微软雅黑" panose="020B0503020204020204" charset="-122"/>
              </a:rPr>
              <a:t>planning</a:t>
            </a:r>
            <a:endParaRPr lang="en-US" altLang="zh-CN" sz="800" dirty="0">
              <a:solidFill>
                <a:srgbClr val="FFFFFF">
                  <a:lumMod val="95000"/>
                </a:srgbClr>
              </a:solidFill>
              <a:latin typeface="微软雅黑" panose="020B0503020204020204" charset="-122"/>
              <a:ea typeface="微软雅黑" panose="020B0503020204020204" charset="-122"/>
              <a:cs typeface="微软雅黑" panose="020B0503020204020204" charset="-122"/>
            </a:endParaRPr>
          </a:p>
        </p:txBody>
      </p:sp>
      <p:sp>
        <p:nvSpPr>
          <p:cNvPr id="276" name="紫荆的职场Point127"/>
          <p:cNvSpPr txBox="1"/>
          <p:nvPr/>
        </p:nvSpPr>
        <p:spPr>
          <a:xfrm>
            <a:off x="325711" y="1471071"/>
            <a:ext cx="1445895" cy="213995"/>
          </a:xfrm>
          <a:prstGeom prst="rect">
            <a:avLst/>
          </a:prstGeom>
          <a:noFill/>
        </p:spPr>
        <p:txBody>
          <a:bodyPr wrap="none">
            <a:spAutoFit/>
          </a:bodyPr>
          <a:lstStyle/>
          <a:p>
            <a:pPr algn="ctr"/>
            <a:r>
              <a:rPr lang="en-US" altLang="zh-CN" sz="800" dirty="0">
                <a:solidFill>
                  <a:srgbClr val="FFFFFF"/>
                </a:solidFill>
                <a:latin typeface="微软雅黑" panose="020B0503020204020204" charset="-122"/>
                <a:ea typeface="微软雅黑" panose="020B0503020204020204" charset="-122"/>
                <a:cs typeface="微软雅黑" panose="020B0503020204020204" charset="-122"/>
              </a:rPr>
              <a:t>Supply chain control towers</a:t>
            </a:r>
            <a:endParaRPr lang="en-US" altLang="zh-CN" sz="8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77" name="紫荆的职场Point128"/>
          <p:cNvSpPr txBox="1"/>
          <p:nvPr/>
        </p:nvSpPr>
        <p:spPr>
          <a:xfrm>
            <a:off x="483504" y="6292682"/>
            <a:ext cx="1130300" cy="213995"/>
          </a:xfrm>
          <a:prstGeom prst="rect">
            <a:avLst/>
          </a:prstGeom>
          <a:noFill/>
        </p:spPr>
        <p:txBody>
          <a:bodyPr wrap="none">
            <a:spAutoFit/>
          </a:bodyPr>
          <a:lstStyle/>
          <a:p>
            <a:pPr algn="ctr"/>
            <a:r>
              <a:rPr lang="en-US" altLang="zh-CN" sz="800">
                <a:solidFill>
                  <a:srgbClr val="FFFFFF"/>
                </a:solidFill>
                <a:latin typeface="微软雅黑" panose="020B0503020204020204" charset="-122"/>
                <a:ea typeface="微软雅黑" panose="020B0503020204020204" charset="-122"/>
                <a:cs typeface="微软雅黑" panose="020B0503020204020204" charset="-122"/>
              </a:rPr>
              <a:t>Resource integration</a:t>
            </a:r>
            <a:endParaRPr lang="en-US" altLang="zh-CN" sz="800" dirty="0">
              <a:solidFill>
                <a:srgbClr val="FFFFFF"/>
              </a:solidFill>
              <a:latin typeface="微软雅黑" panose="020B0503020204020204" charset="-122"/>
              <a:ea typeface="微软雅黑" panose="020B0503020204020204" charset="-122"/>
              <a:cs typeface="微软雅黑" panose="020B0503020204020204" charset="-122"/>
            </a:endParaRPr>
          </a:p>
        </p:txBody>
      </p:sp>
      <p:pic>
        <p:nvPicPr>
          <p:cNvPr id="4" name="图片 3"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9" name="组合 8"/>
          <p:cNvGrpSpPr/>
          <p:nvPr/>
        </p:nvGrpSpPr>
        <p:grpSpPr>
          <a:xfrm>
            <a:off x="8715375" y="348615"/>
            <a:ext cx="3220085" cy="333375"/>
            <a:chOff x="13761" y="549"/>
            <a:chExt cx="5071" cy="525"/>
          </a:xfrm>
        </p:grpSpPr>
        <p:pic>
          <p:nvPicPr>
            <p:cNvPr id="10" name="图片 9"/>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6" name="文本框 15"/>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grpSp>
        <p:nvGrpSpPr>
          <p:cNvPr id="93" name="组合 92"/>
          <p:cNvGrpSpPr/>
          <p:nvPr/>
        </p:nvGrpSpPr>
        <p:grpSpPr>
          <a:xfrm>
            <a:off x="10410825" y="1029970"/>
            <a:ext cx="1811020" cy="5641975"/>
            <a:chOff x="16395" y="1622"/>
            <a:chExt cx="2852" cy="8885"/>
          </a:xfrm>
        </p:grpSpPr>
        <p:sp>
          <p:nvSpPr>
            <p:cNvPr id="47" name="@显眼包PPT4"/>
            <p:cNvSpPr/>
            <p:nvPr/>
          </p:nvSpPr>
          <p:spPr>
            <a:xfrm>
              <a:off x="16395" y="1743"/>
              <a:ext cx="2435" cy="8740"/>
            </a:xfrm>
            <a:prstGeom prst="rect">
              <a:avLst/>
            </a:prstGeom>
            <a:solidFill>
              <a:schemeClr val="bg1">
                <a:alpha val="18000"/>
              </a:schemeClr>
            </a:solidFill>
            <a:ln>
              <a:solidFill>
                <a:schemeClr val="accent1">
                  <a:lumMod val="60000"/>
                  <a:lumOff val="4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8" name="@显眼包PPT2"/>
            <p:cNvSpPr/>
            <p:nvPr/>
          </p:nvSpPr>
          <p:spPr>
            <a:xfrm rot="16200000" flipV="1">
              <a:off x="14538" y="5949"/>
              <a:ext cx="8850" cy="266"/>
            </a:xfrm>
            <a:prstGeom prst="parallelogram">
              <a:avLst>
                <a:gd name="adj" fmla="val 23743"/>
              </a:avLst>
            </a:prstGeom>
            <a:gradFill flip="none" rotWithShape="1">
              <a:gsLst>
                <a:gs pos="0">
                  <a:schemeClr val="accent1">
                    <a:lumMod val="60000"/>
                    <a:lumOff val="40000"/>
                    <a:alpha val="80000"/>
                  </a:schemeClr>
                </a:gs>
                <a:gs pos="100000">
                  <a:schemeClr val="accent1">
                    <a:lumMod val="20000"/>
                    <a:lumOff val="80000"/>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j-ea"/>
              </a:endParaRPr>
            </a:p>
          </p:txBody>
        </p:sp>
        <p:sp>
          <p:nvSpPr>
            <p:cNvPr id="49" name="@显眼包PPT3"/>
            <p:cNvSpPr/>
            <p:nvPr/>
          </p:nvSpPr>
          <p:spPr>
            <a:xfrm>
              <a:off x="16395" y="1622"/>
              <a:ext cx="2852" cy="121"/>
            </a:xfrm>
            <a:prstGeom prst="parallelogram">
              <a:avLst>
                <a:gd name="adj" fmla="val 429697"/>
              </a:avLst>
            </a:prstGeom>
            <a:gradFill>
              <a:gsLst>
                <a:gs pos="0">
                  <a:schemeClr val="accent1">
                    <a:lumMod val="60000"/>
                    <a:lumOff val="40000"/>
                    <a:alpha val="80000"/>
                  </a:schemeClr>
                </a:gs>
                <a:gs pos="100000">
                  <a:schemeClr val="accent1">
                    <a:lumMod val="20000"/>
                    <a:lumOff val="80000"/>
                    <a:alpha val="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50" name="组合 49"/>
            <p:cNvGrpSpPr/>
            <p:nvPr/>
          </p:nvGrpSpPr>
          <p:grpSpPr>
            <a:xfrm rot="0">
              <a:off x="16533" y="2032"/>
              <a:ext cx="2112" cy="3600"/>
              <a:chOff x="16533" y="2019"/>
              <a:chExt cx="2112" cy="3600"/>
            </a:xfrm>
          </p:grpSpPr>
          <p:sp>
            <p:nvSpPr>
              <p:cNvPr id="51" name="@显眼包PPT4"/>
              <p:cNvSpPr/>
              <p:nvPr/>
            </p:nvSpPr>
            <p:spPr>
              <a:xfrm>
                <a:off x="16533" y="2317"/>
                <a:ext cx="2112" cy="3302"/>
              </a:xfrm>
              <a:prstGeom prst="roundRect">
                <a:avLst>
                  <a:gd name="adj" fmla="val 3714"/>
                </a:avLst>
              </a:prstGeom>
              <a:gradFill>
                <a:gsLst>
                  <a:gs pos="0">
                    <a:schemeClr val="accent1">
                      <a:lumMod val="60000"/>
                      <a:lumOff val="40000"/>
                      <a:alpha val="17000"/>
                    </a:schemeClr>
                  </a:gs>
                  <a:gs pos="100000">
                    <a:schemeClr val="accent1">
                      <a:lumMod val="60000"/>
                      <a:lumOff val="40000"/>
                      <a:alpha val="0"/>
                    </a:schemeClr>
                  </a:gs>
                </a:gsLst>
                <a:lin ang="5400000" scaled="1"/>
              </a:gra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2" name="@显眼包PPT5"/>
              <p:cNvSpPr/>
              <p:nvPr/>
            </p:nvSpPr>
            <p:spPr>
              <a:xfrm>
                <a:off x="16533" y="2019"/>
                <a:ext cx="2112" cy="478"/>
              </a:xfrm>
              <a:prstGeom prst="rect">
                <a:avLst/>
              </a:prstGeom>
              <a:gradFill flip="none" rotWithShape="1">
                <a:gsLst>
                  <a:gs pos="0">
                    <a:schemeClr val="accent1">
                      <a:lumMod val="60000"/>
                      <a:lumOff val="40000"/>
                    </a:schemeClr>
                  </a:gs>
                  <a:gs pos="50000">
                    <a:schemeClr val="accent1"/>
                  </a:gs>
                </a:gsLst>
                <a:path path="circle">
                  <a:fillToRect r="100000" b="100000"/>
                </a:path>
                <a:tileRect l="-100000" t="-100000"/>
              </a:gradFill>
              <a:ln>
                <a:noFill/>
              </a:ln>
              <a:effectLst>
                <a:outerShdw blurRad="165100" dist="63500" dir="5400000" algn="t" rotWithShape="0">
                  <a:schemeClr val="accent1">
                    <a:lumMod val="60000"/>
                    <a:lumOff val="40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outerShdw blurRad="50800" dist="38100" dir="2700000" algn="tl">
                        <a:srgbClr val="A13422">
                          <a:lumMod val="50000"/>
                          <a:alpha val="36000"/>
                        </a:srgbClr>
                      </a:outerShdw>
                    </a:effectLst>
                    <a:uLnTx/>
                    <a:uFillTx/>
                    <a:latin typeface="微软雅黑" panose="020B0503020204020204" charset="-122"/>
                    <a:ea typeface="微软雅黑" panose="020B0503020204020204" charset="-122"/>
                    <a:cs typeface="微软雅黑" panose="020B0503020204020204" charset="-122"/>
                  </a:rPr>
                  <a:t>算法平台</a:t>
                </a:r>
                <a:endParaRPr kumimoji="0" lang="zh-CN" altLang="en-US" sz="1400" b="1" i="0" u="none" strike="noStrike" kern="1200" cap="none" spc="0" normalizeH="0" baseline="0" noProof="0" dirty="0">
                  <a:ln>
                    <a:noFill/>
                  </a:ln>
                  <a:solidFill>
                    <a:srgbClr val="FFFFFF"/>
                  </a:solidFill>
                  <a:effectLst>
                    <a:outerShdw blurRad="50800" dist="38100" dir="2700000" algn="tl">
                      <a:srgbClr val="A13422">
                        <a:lumMod val="50000"/>
                        <a:alpha val="36000"/>
                      </a:srgb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53" name="紫荆的职场Point115"/>
              <p:cNvSpPr txBox="1"/>
              <p:nvPr/>
            </p:nvSpPr>
            <p:spPr>
              <a:xfrm>
                <a:off x="16879" y="2727"/>
                <a:ext cx="1422" cy="499"/>
              </a:xfrm>
              <a:prstGeom prst="rect">
                <a:avLst/>
              </a:prstGeom>
              <a:noFill/>
            </p:spPr>
            <p:txBody>
              <a:bodyPr wrap="none">
                <a:spAutoFit/>
              </a:bodyPr>
              <a:lstStyle/>
              <a:p>
                <a:pPr algn="ctr"/>
                <a:r>
                  <a:rPr lang="zh-CN" altLang="en-US" sz="1400" dirty="0">
                    <a:solidFill>
                      <a:schemeClr val="tx2"/>
                    </a:solidFill>
                    <a:latin typeface="微软雅黑" panose="020B0503020204020204" charset="-122"/>
                    <a:ea typeface="微软雅黑" panose="020B0503020204020204" charset="-122"/>
                    <a:cs typeface="微软雅黑" panose="020B0503020204020204" charset="-122"/>
                  </a:rPr>
                  <a:t>深度学习</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4" name="紫荆的职场Point116"/>
              <p:cNvSpPr txBox="1"/>
              <p:nvPr/>
            </p:nvSpPr>
            <p:spPr>
              <a:xfrm>
                <a:off x="16879" y="3277"/>
                <a:ext cx="1422" cy="499"/>
              </a:xfrm>
              <a:prstGeom prst="rect">
                <a:avLst/>
              </a:prstGeom>
              <a:noFill/>
            </p:spPr>
            <p:txBody>
              <a:bodyPr wrap="none">
                <a:spAutoFit/>
              </a:bodyPr>
              <a:lstStyle/>
              <a:p>
                <a:pPr algn="ctr"/>
                <a:r>
                  <a:rPr lang="zh-CN" altLang="en-US" sz="1400">
                    <a:solidFill>
                      <a:schemeClr val="tx2"/>
                    </a:solidFill>
                    <a:latin typeface="微软雅黑" panose="020B0503020204020204" charset="-122"/>
                    <a:ea typeface="微软雅黑" panose="020B0503020204020204" charset="-122"/>
                    <a:cs typeface="微软雅黑" panose="020B0503020204020204" charset="-122"/>
                  </a:rPr>
                  <a:t>分层建模</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5" name="紫荆的职场Point117"/>
              <p:cNvSpPr txBox="1"/>
              <p:nvPr/>
            </p:nvSpPr>
            <p:spPr>
              <a:xfrm>
                <a:off x="16737" y="3828"/>
                <a:ext cx="1704" cy="499"/>
              </a:xfrm>
              <a:prstGeom prst="rect">
                <a:avLst/>
              </a:prstGeom>
              <a:noFill/>
            </p:spPr>
            <p:txBody>
              <a:bodyPr wrap="none">
                <a:spAutoFit/>
              </a:bodyPr>
              <a:lstStyle/>
              <a:p>
                <a:pPr algn="ctr"/>
                <a:r>
                  <a:rPr lang="zh-CN" altLang="en-US" sz="1400">
                    <a:solidFill>
                      <a:schemeClr val="tx2"/>
                    </a:solidFill>
                    <a:latin typeface="微软雅黑" panose="020B0503020204020204" charset="-122"/>
                    <a:ea typeface="微软雅黑" panose="020B0503020204020204" charset="-122"/>
                    <a:cs typeface="微软雅黑" panose="020B0503020204020204" charset="-122"/>
                  </a:rPr>
                  <a:t>分时段建模</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6" name="紫荆的职场Point118"/>
              <p:cNvSpPr txBox="1"/>
              <p:nvPr/>
            </p:nvSpPr>
            <p:spPr>
              <a:xfrm>
                <a:off x="16737" y="4378"/>
                <a:ext cx="1704" cy="499"/>
              </a:xfrm>
              <a:prstGeom prst="rect">
                <a:avLst/>
              </a:prstGeom>
              <a:noFill/>
            </p:spPr>
            <p:txBody>
              <a:bodyPr wrap="none">
                <a:spAutoFit/>
              </a:bodyPr>
              <a:lstStyle/>
              <a:p>
                <a:pPr algn="ctr"/>
                <a:r>
                  <a:rPr lang="zh-CN" altLang="en-US" sz="1400" dirty="0">
                    <a:solidFill>
                      <a:schemeClr val="tx2"/>
                    </a:solidFill>
                    <a:latin typeface="微软雅黑" panose="020B0503020204020204" charset="-122"/>
                    <a:ea typeface="微软雅黑" panose="020B0503020204020204" charset="-122"/>
                    <a:cs typeface="微软雅黑" panose="020B0503020204020204" charset="-122"/>
                  </a:rPr>
                  <a:t>多阶段决策</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7" name="紫荆的职场Point125"/>
              <p:cNvSpPr txBox="1"/>
              <p:nvPr/>
            </p:nvSpPr>
            <p:spPr>
              <a:xfrm>
                <a:off x="17161" y="4928"/>
                <a:ext cx="856" cy="499"/>
              </a:xfrm>
              <a:prstGeom prst="rect">
                <a:avLst/>
              </a:prstGeom>
              <a:noFill/>
            </p:spPr>
            <p:txBody>
              <a:bodyPr wrap="none">
                <a:spAutoFit/>
              </a:bodyPr>
              <a:lstStyle/>
              <a:p>
                <a:pPr algn="ctr"/>
                <a:r>
                  <a:rPr lang="en-US" altLang="zh-CN" sz="1400" dirty="0">
                    <a:solidFill>
                      <a:schemeClr val="tx2"/>
                    </a:solidFill>
                    <a:latin typeface="微软雅黑" panose="020B0503020204020204" charset="-122"/>
                    <a:ea typeface="微软雅黑" panose="020B0503020204020204" charset="-122"/>
                    <a:cs typeface="微软雅黑" panose="020B0503020204020204" charset="-122"/>
                  </a:rPr>
                  <a:t>……</a:t>
                </a:r>
                <a:endParaRPr lang="en-US" altLang="zh-CN" sz="14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58" name="组合 57"/>
            <p:cNvGrpSpPr/>
            <p:nvPr/>
          </p:nvGrpSpPr>
          <p:grpSpPr>
            <a:xfrm rot="0">
              <a:off x="16533" y="6611"/>
              <a:ext cx="2112" cy="2777"/>
              <a:chOff x="16533" y="2019"/>
              <a:chExt cx="2112" cy="2777"/>
            </a:xfrm>
          </p:grpSpPr>
          <p:sp>
            <p:nvSpPr>
              <p:cNvPr id="59" name="@显眼包PPT4"/>
              <p:cNvSpPr/>
              <p:nvPr/>
            </p:nvSpPr>
            <p:spPr>
              <a:xfrm>
                <a:off x="16533" y="2317"/>
                <a:ext cx="2112" cy="2479"/>
              </a:xfrm>
              <a:prstGeom prst="roundRect">
                <a:avLst>
                  <a:gd name="adj" fmla="val 3714"/>
                </a:avLst>
              </a:prstGeom>
              <a:gradFill>
                <a:gsLst>
                  <a:gs pos="0">
                    <a:schemeClr val="accent1">
                      <a:lumMod val="60000"/>
                      <a:lumOff val="40000"/>
                      <a:alpha val="17000"/>
                    </a:schemeClr>
                  </a:gs>
                  <a:gs pos="100000">
                    <a:schemeClr val="accent1">
                      <a:lumMod val="60000"/>
                      <a:lumOff val="40000"/>
                      <a:alpha val="0"/>
                    </a:schemeClr>
                  </a:gs>
                </a:gsLst>
                <a:lin ang="5400000" scaled="1"/>
              </a:gra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0" name="@显眼包PPT5"/>
              <p:cNvSpPr/>
              <p:nvPr/>
            </p:nvSpPr>
            <p:spPr>
              <a:xfrm>
                <a:off x="16533" y="2019"/>
                <a:ext cx="2112" cy="478"/>
              </a:xfrm>
              <a:prstGeom prst="rect">
                <a:avLst/>
              </a:prstGeom>
              <a:gradFill flip="none" rotWithShape="1">
                <a:gsLst>
                  <a:gs pos="0">
                    <a:schemeClr val="accent1">
                      <a:lumMod val="60000"/>
                      <a:lumOff val="40000"/>
                    </a:schemeClr>
                  </a:gs>
                  <a:gs pos="50000">
                    <a:schemeClr val="accent1"/>
                  </a:gs>
                </a:gsLst>
                <a:path path="circle">
                  <a:fillToRect r="100000" b="100000"/>
                </a:path>
                <a:tileRect l="-100000" t="-100000"/>
              </a:gradFill>
              <a:ln>
                <a:noFill/>
              </a:ln>
              <a:effectLst>
                <a:outerShdw blurRad="165100" dist="63500" dir="5400000" algn="t" rotWithShape="0">
                  <a:schemeClr val="accent1">
                    <a:lumMod val="60000"/>
                    <a:lumOff val="40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srgbClr val="FFFFFF"/>
                    </a:solidFill>
                    <a:effectLst>
                      <a:outerShdw blurRad="50800" dist="38100" dir="2700000" algn="tl">
                        <a:srgbClr val="A13422">
                          <a:lumMod val="50000"/>
                          <a:alpha val="36000"/>
                        </a:srgbClr>
                      </a:outerShdw>
                    </a:effectLst>
                    <a:uLnTx/>
                    <a:uFillTx/>
                    <a:latin typeface="微软雅黑" panose="020B0503020204020204" charset="-122"/>
                    <a:ea typeface="微软雅黑" panose="020B0503020204020204" charset="-122"/>
                    <a:cs typeface="微软雅黑" panose="020B0503020204020204" charset="-122"/>
                  </a:rPr>
                  <a:t>仿真平台</a:t>
                </a:r>
                <a:endParaRPr kumimoji="0" lang="zh-CN" altLang="en-US" sz="1400" b="1" i="0" u="none" strike="noStrike" kern="1200" cap="none" spc="0" normalizeH="0" baseline="0" noProof="0" dirty="0">
                  <a:ln>
                    <a:noFill/>
                  </a:ln>
                  <a:solidFill>
                    <a:srgbClr val="FFFFFF"/>
                  </a:solidFill>
                  <a:effectLst>
                    <a:outerShdw blurRad="50800" dist="38100" dir="2700000" algn="tl">
                      <a:srgbClr val="A13422">
                        <a:lumMod val="50000"/>
                        <a:alpha val="36000"/>
                      </a:srgb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61" name="紫荆的职场Point115"/>
              <p:cNvSpPr txBox="1"/>
              <p:nvPr/>
            </p:nvSpPr>
            <p:spPr>
              <a:xfrm>
                <a:off x="16746" y="2727"/>
                <a:ext cx="1688" cy="483"/>
              </a:xfrm>
              <a:prstGeom prst="rect">
                <a:avLst/>
              </a:prstGeom>
              <a:noFill/>
            </p:spPr>
            <p:txBody>
              <a:bodyPr wrap="none">
                <a:spAutoFit/>
              </a:bodyPr>
              <a:lstStyle/>
              <a:p>
                <a:pPr algn="ctr"/>
                <a:r>
                  <a:rPr lang="zh-CN" altLang="en-US" sz="1400" dirty="0">
                    <a:solidFill>
                      <a:schemeClr val="tx2"/>
                    </a:solidFill>
                    <a:latin typeface="微软雅黑" panose="020B0503020204020204" charset="-122"/>
                    <a:ea typeface="微软雅黑" panose="020B0503020204020204" charset="-122"/>
                    <a:cs typeface="微软雅黑" panose="020B0503020204020204" charset="-122"/>
                  </a:rPr>
                  <a:t>多场景仿真</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2" name="紫荆的职场Point116"/>
              <p:cNvSpPr txBox="1"/>
              <p:nvPr/>
            </p:nvSpPr>
            <p:spPr>
              <a:xfrm>
                <a:off x="16886" y="3277"/>
                <a:ext cx="1408" cy="483"/>
              </a:xfrm>
              <a:prstGeom prst="rect">
                <a:avLst/>
              </a:prstGeom>
              <a:noFill/>
            </p:spPr>
            <p:txBody>
              <a:bodyPr wrap="none">
                <a:spAutoFit/>
              </a:bodyPr>
              <a:lstStyle/>
              <a:p>
                <a:pPr algn="ctr"/>
                <a:r>
                  <a:rPr lang="zh-CN" altLang="en-US" sz="1400">
                    <a:solidFill>
                      <a:schemeClr val="tx2"/>
                    </a:solidFill>
                    <a:latin typeface="微软雅黑" panose="020B0503020204020204" charset="-122"/>
                    <a:ea typeface="微软雅黑" panose="020B0503020204020204" charset="-122"/>
                    <a:cs typeface="微软雅黑" panose="020B0503020204020204" charset="-122"/>
                  </a:rPr>
                  <a:t>仿真模型</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3" name="紫荆的职场Point125"/>
              <p:cNvSpPr txBox="1"/>
              <p:nvPr/>
            </p:nvSpPr>
            <p:spPr>
              <a:xfrm>
                <a:off x="17162" y="3837"/>
                <a:ext cx="856" cy="499"/>
              </a:xfrm>
              <a:prstGeom prst="rect">
                <a:avLst/>
              </a:prstGeom>
              <a:noFill/>
            </p:spPr>
            <p:txBody>
              <a:bodyPr wrap="none">
                <a:spAutoFit/>
              </a:bodyPr>
              <a:lstStyle/>
              <a:p>
                <a:pPr algn="ctr"/>
                <a:r>
                  <a:rPr lang="en-US" altLang="zh-CN" sz="1400" dirty="0">
                    <a:solidFill>
                      <a:schemeClr val="tx2"/>
                    </a:solidFill>
                    <a:latin typeface="微软雅黑" panose="020B0503020204020204" charset="-122"/>
                    <a:ea typeface="微软雅黑" panose="020B0503020204020204" charset="-122"/>
                    <a:cs typeface="微软雅黑" panose="020B0503020204020204" charset="-122"/>
                  </a:rPr>
                  <a:t>……</a:t>
                </a:r>
                <a:endParaRPr lang="en-US" altLang="zh-CN" sz="14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grpSp>
        <p:nvGrpSpPr>
          <p:cNvPr id="128" name="组合 127"/>
          <p:cNvGrpSpPr/>
          <p:nvPr/>
        </p:nvGrpSpPr>
        <p:grpSpPr>
          <a:xfrm>
            <a:off x="1949872" y="1029324"/>
            <a:ext cx="8427933" cy="1623106"/>
            <a:chOff x="3001" y="11063"/>
            <a:chExt cx="11668" cy="4535"/>
          </a:xfrm>
        </p:grpSpPr>
        <p:sp>
          <p:nvSpPr>
            <p:cNvPr id="94" name="@显眼包PPT6"/>
            <p:cNvSpPr/>
            <p:nvPr/>
          </p:nvSpPr>
          <p:spPr>
            <a:xfrm>
              <a:off x="3001" y="11209"/>
              <a:ext cx="11457" cy="4327"/>
            </a:xfrm>
            <a:prstGeom prst="rect">
              <a:avLst/>
            </a:prstGeom>
            <a:solidFill>
              <a:schemeClr val="accent1">
                <a:lumMod val="20000"/>
                <a:lumOff val="80000"/>
                <a:alpha val="50000"/>
              </a:schemeClr>
            </a:solidFill>
            <a:ln>
              <a:solidFill>
                <a:schemeClr val="accent1">
                  <a:lumMod val="40000"/>
                  <a:lumOff val="6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7" name="@显眼包PPT43"/>
            <p:cNvSpPr/>
            <p:nvPr/>
          </p:nvSpPr>
          <p:spPr>
            <a:xfrm rot="16200000" flipV="1">
              <a:off x="12296" y="13225"/>
              <a:ext cx="4535" cy="210"/>
            </a:xfrm>
            <a:prstGeom prst="parallelogram">
              <a:avLst>
                <a:gd name="adj" fmla="val 34130"/>
              </a:avLst>
            </a:prstGeom>
            <a:gradFill>
              <a:gsLst>
                <a:gs pos="0">
                  <a:schemeClr val="accent1">
                    <a:lumMod val="20000"/>
                    <a:lumOff val="80000"/>
                  </a:schemeClr>
                </a:gs>
                <a:gs pos="100000">
                  <a:schemeClr val="accent1">
                    <a:lumMod val="20000"/>
                    <a:lumOff val="80000"/>
                    <a:alpha val="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j-ea"/>
              </a:endParaRPr>
            </a:p>
          </p:txBody>
        </p:sp>
      </p:grpSp>
      <p:sp>
        <p:nvSpPr>
          <p:cNvPr id="129" name="紫荆的职场Point22"/>
          <p:cNvSpPr txBox="1"/>
          <p:nvPr/>
        </p:nvSpPr>
        <p:spPr>
          <a:xfrm>
            <a:off x="5542916" y="1115870"/>
            <a:ext cx="1101090" cy="275590"/>
          </a:xfrm>
          <a:prstGeom prst="rect">
            <a:avLst/>
          </a:prstGeom>
          <a:noFill/>
        </p:spPr>
        <p:txBody>
          <a:bodyPr wrap="none">
            <a:spAutoFit/>
          </a:bodyPr>
          <a:lstStyle/>
          <a:p>
            <a:pPr algn="ctr"/>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rPr>
              <a:t>供应链控制塔</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30" name="紫荆的职场Point23"/>
          <p:cNvSpPr/>
          <p:nvPr/>
        </p:nvSpPr>
        <p:spPr>
          <a:xfrm>
            <a:off x="2148205" y="1410335"/>
            <a:ext cx="1487805" cy="400685"/>
          </a:xfrm>
          <a:prstGeom prst="roundRect">
            <a:avLst/>
          </a:prstGeom>
          <a:solidFill>
            <a:schemeClr val="accent1">
              <a:lumMod val="60000"/>
              <a:lumOff val="40000"/>
            </a:schemeClr>
          </a:solidFill>
          <a:ln w="10859">
            <a:noFill/>
            <a:prstDash val="dash"/>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78181" tIns="39091" rIns="78181" bIns="39091" numCol="1" spcCol="0" rtlCol="0" fromWordArt="0" anchor="ctr" anchorCtr="0" forceAA="0" compatLnSpc="1">
            <a:noAutofit/>
          </a:bodyPr>
          <a:lstStyle/>
          <a:p>
            <a:pPr lvl="0" algn="ctr">
              <a:buClrTx/>
              <a:buSzTx/>
              <a:buFontTx/>
            </a:pPr>
            <a:r>
              <a:rPr lang="zh-CN" altLang="en-US" sz="1400" b="1" dirty="0">
                <a:effectLst/>
                <a:latin typeface="微软雅黑" panose="020B0503020204020204" charset="-122"/>
                <a:ea typeface="微软雅黑" panose="020B0503020204020204" charset="-122"/>
                <a:cs typeface="微软雅黑" panose="020B0503020204020204" charset="-122"/>
                <a:sym typeface="+mn-ea"/>
              </a:rPr>
              <a:t>数据大屏</a:t>
            </a:r>
            <a:endParaRPr lang="zh-CN" altLang="en-US" sz="1400" b="1" dirty="0">
              <a:effectLst/>
              <a:latin typeface="微软雅黑" panose="020B0503020204020204" charset="-122"/>
              <a:ea typeface="微软雅黑" panose="020B0503020204020204" charset="-122"/>
              <a:cs typeface="微软雅黑" panose="020B0503020204020204" charset="-122"/>
              <a:sym typeface="+mn-ea"/>
            </a:endParaRPr>
          </a:p>
        </p:txBody>
      </p:sp>
      <p:sp>
        <p:nvSpPr>
          <p:cNvPr id="131" name="紫荆的职场Point24"/>
          <p:cNvSpPr/>
          <p:nvPr/>
        </p:nvSpPr>
        <p:spPr>
          <a:xfrm>
            <a:off x="3749040" y="1410335"/>
            <a:ext cx="1487805" cy="400685"/>
          </a:xfrm>
          <a:prstGeom prst="roundRect">
            <a:avLst/>
          </a:prstGeom>
          <a:solidFill>
            <a:schemeClr val="accent1">
              <a:lumMod val="60000"/>
              <a:lumOff val="40000"/>
            </a:schemeClr>
          </a:solidFill>
          <a:ln w="10859">
            <a:noFill/>
            <a:prstDash val="dash"/>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78181" tIns="39091" rIns="78181" bIns="39091" numCol="1" spcCol="0" rtlCol="0" fromWordArt="0" anchor="ctr" anchorCtr="0" forceAA="0" compatLnSpc="1">
            <a:noAutofit/>
          </a:bodyPr>
          <a:lstStyle/>
          <a:p>
            <a:pPr lvl="0" algn="ctr">
              <a:buClrTx/>
              <a:buSzTx/>
              <a:buFontTx/>
            </a:pPr>
            <a:r>
              <a:rPr lang="zh-CN" altLang="en-US" sz="1400" b="1" dirty="0">
                <a:effectLst/>
                <a:latin typeface="微软雅黑" panose="020B0503020204020204" charset="-122"/>
                <a:ea typeface="微软雅黑" panose="020B0503020204020204" charset="-122"/>
                <a:cs typeface="微软雅黑" panose="020B0503020204020204" charset="-122"/>
                <a:sym typeface="+mn-ea"/>
              </a:rPr>
              <a:t>执行监控</a:t>
            </a:r>
            <a:endParaRPr lang="zh-CN" altLang="en-US" sz="1400" b="1" dirty="0">
              <a:effectLst/>
              <a:latin typeface="微软雅黑" panose="020B0503020204020204" charset="-122"/>
              <a:ea typeface="微软雅黑" panose="020B0503020204020204" charset="-122"/>
              <a:cs typeface="微软雅黑" panose="020B0503020204020204" charset="-122"/>
              <a:sym typeface="+mn-ea"/>
            </a:endParaRPr>
          </a:p>
        </p:txBody>
      </p:sp>
      <p:sp>
        <p:nvSpPr>
          <p:cNvPr id="132" name="紫荆的职场Point25"/>
          <p:cNvSpPr/>
          <p:nvPr/>
        </p:nvSpPr>
        <p:spPr>
          <a:xfrm>
            <a:off x="5349875" y="1410335"/>
            <a:ext cx="1487805" cy="400685"/>
          </a:xfrm>
          <a:prstGeom prst="roundRect">
            <a:avLst/>
          </a:prstGeom>
          <a:solidFill>
            <a:schemeClr val="accent1">
              <a:lumMod val="60000"/>
              <a:lumOff val="40000"/>
            </a:schemeClr>
          </a:solidFill>
          <a:ln w="10859">
            <a:noFill/>
            <a:prstDash val="dash"/>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78181" tIns="39091" rIns="78181" bIns="39091" numCol="1" spcCol="0" rtlCol="0" fromWordArt="0" anchor="ctr" anchorCtr="0" forceAA="0" compatLnSpc="1">
            <a:noAutofit/>
          </a:bodyPr>
          <a:lstStyle/>
          <a:p>
            <a:pPr lvl="0" algn="ctr">
              <a:buClrTx/>
              <a:buSzTx/>
              <a:buFontTx/>
            </a:pPr>
            <a:r>
              <a:rPr lang="zh-CN" altLang="en-US" sz="1400" b="1" dirty="0">
                <a:effectLst/>
                <a:latin typeface="微软雅黑" panose="020B0503020204020204" charset="-122"/>
                <a:ea typeface="微软雅黑" panose="020B0503020204020204" charset="-122"/>
                <a:cs typeface="微软雅黑" panose="020B0503020204020204" charset="-122"/>
                <a:sym typeface="+mn-ea"/>
              </a:rPr>
              <a:t>异常预警</a:t>
            </a:r>
            <a:endParaRPr lang="zh-CN" altLang="en-US" sz="1400" b="1" dirty="0">
              <a:effectLst/>
              <a:latin typeface="微软雅黑" panose="020B0503020204020204" charset="-122"/>
              <a:ea typeface="微软雅黑" panose="020B0503020204020204" charset="-122"/>
              <a:cs typeface="微软雅黑" panose="020B0503020204020204" charset="-122"/>
              <a:sym typeface="+mn-ea"/>
            </a:endParaRPr>
          </a:p>
        </p:txBody>
      </p:sp>
      <p:sp>
        <p:nvSpPr>
          <p:cNvPr id="135" name="紫荆的职场Point26"/>
          <p:cNvSpPr/>
          <p:nvPr/>
        </p:nvSpPr>
        <p:spPr>
          <a:xfrm>
            <a:off x="6950075" y="1410335"/>
            <a:ext cx="1487805" cy="400685"/>
          </a:xfrm>
          <a:prstGeom prst="roundRect">
            <a:avLst/>
          </a:prstGeom>
          <a:solidFill>
            <a:schemeClr val="accent1">
              <a:lumMod val="60000"/>
              <a:lumOff val="40000"/>
            </a:schemeClr>
          </a:solidFill>
          <a:ln w="10859">
            <a:noFill/>
            <a:prstDash val="dash"/>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78181" tIns="39091" rIns="78181" bIns="39091" numCol="1" spcCol="0" rtlCol="0" fromWordArt="0" anchor="ctr" anchorCtr="0" forceAA="0" compatLnSpc="1">
            <a:noAutofit/>
          </a:bodyPr>
          <a:lstStyle/>
          <a:p>
            <a:pPr lvl="0" algn="ctr">
              <a:buClrTx/>
              <a:buSzTx/>
              <a:buFontTx/>
            </a:pPr>
            <a:r>
              <a:rPr lang="zh-CN" altLang="en-US" sz="1400" b="1" dirty="0">
                <a:effectLst/>
                <a:latin typeface="微软雅黑" panose="020B0503020204020204" charset="-122"/>
                <a:ea typeface="微软雅黑" panose="020B0503020204020204" charset="-122"/>
                <a:cs typeface="微软雅黑" panose="020B0503020204020204" charset="-122"/>
                <a:sym typeface="+mn-ea"/>
              </a:rPr>
              <a:t>指标分析</a:t>
            </a:r>
            <a:endParaRPr lang="zh-CN" altLang="en-US" sz="1400" b="1" dirty="0">
              <a:effectLst/>
              <a:latin typeface="微软雅黑" panose="020B0503020204020204" charset="-122"/>
              <a:ea typeface="微软雅黑" panose="020B0503020204020204" charset="-122"/>
              <a:cs typeface="微软雅黑" panose="020B0503020204020204" charset="-122"/>
              <a:sym typeface="+mn-ea"/>
            </a:endParaRPr>
          </a:p>
        </p:txBody>
      </p:sp>
      <p:sp>
        <p:nvSpPr>
          <p:cNvPr id="136" name="紫荆的职场Point27"/>
          <p:cNvSpPr/>
          <p:nvPr/>
        </p:nvSpPr>
        <p:spPr>
          <a:xfrm>
            <a:off x="8550910" y="1410335"/>
            <a:ext cx="1487805" cy="400685"/>
          </a:xfrm>
          <a:prstGeom prst="roundRect">
            <a:avLst/>
          </a:prstGeom>
          <a:solidFill>
            <a:schemeClr val="accent1">
              <a:lumMod val="60000"/>
              <a:lumOff val="40000"/>
            </a:schemeClr>
          </a:solidFill>
          <a:ln w="10859">
            <a:noFill/>
            <a:prstDash val="dash"/>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78181" tIns="39091" rIns="78181" bIns="39091" numCol="1" spcCol="0" rtlCol="0" fromWordArt="0" anchor="ctr" anchorCtr="0" forceAA="0" compatLnSpc="1">
            <a:noAutofit/>
          </a:bodyPr>
          <a:lstStyle/>
          <a:p>
            <a:pPr lvl="0" algn="ctr">
              <a:buClrTx/>
              <a:buSzTx/>
              <a:buFontTx/>
            </a:pPr>
            <a:r>
              <a:rPr lang="zh-CN" altLang="en-US" sz="1400" b="1" dirty="0">
                <a:effectLst/>
                <a:latin typeface="微软雅黑" panose="020B0503020204020204" charset="-122"/>
                <a:ea typeface="微软雅黑" panose="020B0503020204020204" charset="-122"/>
                <a:cs typeface="微软雅黑" panose="020B0503020204020204" charset="-122"/>
                <a:sym typeface="+mn-ea"/>
              </a:rPr>
              <a:t>优化建议</a:t>
            </a:r>
            <a:endParaRPr lang="zh-CN" altLang="en-US" sz="1400" b="1" dirty="0">
              <a:effectLst/>
              <a:latin typeface="微软雅黑" panose="020B0503020204020204" charset="-122"/>
              <a:ea typeface="微软雅黑" panose="020B0503020204020204" charset="-122"/>
              <a:cs typeface="微软雅黑" panose="020B0503020204020204" charset="-122"/>
              <a:sym typeface="+mn-ea"/>
            </a:endParaRPr>
          </a:p>
        </p:txBody>
      </p:sp>
      <p:grpSp>
        <p:nvGrpSpPr>
          <p:cNvPr id="140" name="组合 139"/>
          <p:cNvGrpSpPr/>
          <p:nvPr/>
        </p:nvGrpSpPr>
        <p:grpSpPr>
          <a:xfrm>
            <a:off x="1950720" y="2674686"/>
            <a:ext cx="8427720" cy="3253507"/>
            <a:chOff x="3001" y="11127"/>
            <a:chExt cx="11668" cy="4425"/>
          </a:xfrm>
        </p:grpSpPr>
        <p:sp>
          <p:nvSpPr>
            <p:cNvPr id="142" name="@显眼包PPT6"/>
            <p:cNvSpPr/>
            <p:nvPr/>
          </p:nvSpPr>
          <p:spPr>
            <a:xfrm>
              <a:off x="3001" y="11209"/>
              <a:ext cx="11457" cy="4327"/>
            </a:xfrm>
            <a:prstGeom prst="rect">
              <a:avLst/>
            </a:prstGeom>
            <a:solidFill>
              <a:schemeClr val="accent5">
                <a:lumMod val="20000"/>
                <a:lumOff val="80000"/>
                <a:alpha val="50000"/>
              </a:schemeClr>
            </a:solidFill>
            <a:ln>
              <a:solidFill>
                <a:schemeClr val="accent5">
                  <a:lumMod val="40000"/>
                  <a:lumOff val="6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3" name="@显眼包PPT43"/>
            <p:cNvSpPr/>
            <p:nvPr/>
          </p:nvSpPr>
          <p:spPr>
            <a:xfrm rot="16200000" flipV="1">
              <a:off x="12351" y="13234"/>
              <a:ext cx="4425" cy="210"/>
            </a:xfrm>
            <a:prstGeom prst="parallelogram">
              <a:avLst>
                <a:gd name="adj" fmla="val 34130"/>
              </a:avLst>
            </a:prstGeom>
            <a:gradFill>
              <a:gsLst>
                <a:gs pos="0">
                  <a:schemeClr val="accent5">
                    <a:lumMod val="20000"/>
                    <a:lumOff val="80000"/>
                  </a:schemeClr>
                </a:gs>
                <a:gs pos="100000">
                  <a:schemeClr val="accent5">
                    <a:lumMod val="20000"/>
                    <a:lumOff val="80000"/>
                    <a:alpha val="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j-ea"/>
              </a:endParaRPr>
            </a:p>
          </p:txBody>
        </p:sp>
      </p:grpSp>
      <p:sp>
        <p:nvSpPr>
          <p:cNvPr id="145" name="紫荆的职场Point3"/>
          <p:cNvSpPr/>
          <p:nvPr/>
        </p:nvSpPr>
        <p:spPr>
          <a:xfrm>
            <a:off x="7633304" y="3055023"/>
            <a:ext cx="2458131" cy="1383809"/>
          </a:xfrm>
          <a:prstGeom prst="roundRect">
            <a:avLst>
              <a:gd name="adj" fmla="val 2622"/>
            </a:avLst>
          </a:prstGeom>
          <a:solidFill>
            <a:schemeClr val="accent5">
              <a:lumMod val="60000"/>
              <a:lumOff val="40000"/>
              <a:alpha val="30000"/>
            </a:schemeClr>
          </a:soli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46" name="紫荆的职场Point4"/>
          <p:cNvSpPr/>
          <p:nvPr/>
        </p:nvSpPr>
        <p:spPr>
          <a:xfrm>
            <a:off x="4921099" y="3055023"/>
            <a:ext cx="2458131" cy="1383809"/>
          </a:xfrm>
          <a:prstGeom prst="roundRect">
            <a:avLst>
              <a:gd name="adj" fmla="val 2622"/>
            </a:avLst>
          </a:prstGeom>
          <a:solidFill>
            <a:schemeClr val="accent5">
              <a:lumMod val="60000"/>
              <a:lumOff val="40000"/>
              <a:alpha val="30000"/>
            </a:schemeClr>
          </a:soli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49" name="紫荆的职场Point5"/>
          <p:cNvSpPr/>
          <p:nvPr/>
        </p:nvSpPr>
        <p:spPr>
          <a:xfrm>
            <a:off x="4990771" y="3649826"/>
            <a:ext cx="746718" cy="326797"/>
          </a:xfrm>
          <a:prstGeom prst="roundRect">
            <a:avLst/>
          </a:prstGeom>
          <a:solidFill>
            <a:srgbClr val="FFFFFF"/>
          </a:solidFill>
          <a:ln w="12700">
            <a:solidFill>
              <a:schemeClr val="accent5"/>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rPr>
              <a:t>渠道库存</a:t>
            </a:r>
            <a:endPar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51" name="紫荆的职场Point6"/>
          <p:cNvSpPr/>
          <p:nvPr/>
        </p:nvSpPr>
        <p:spPr>
          <a:xfrm>
            <a:off x="5776806" y="3649826"/>
            <a:ext cx="746718" cy="326797"/>
          </a:xfrm>
          <a:prstGeom prst="roundRect">
            <a:avLst/>
          </a:prstGeom>
          <a:solidFill>
            <a:srgbClr val="FFFFFF"/>
          </a:solidFill>
          <a:ln w="12700">
            <a:solidFill>
              <a:schemeClr val="accent5"/>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rPr>
              <a:t>逻辑库存</a:t>
            </a:r>
            <a:endPar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52" name="紫荆的职场Point7"/>
          <p:cNvSpPr/>
          <p:nvPr/>
        </p:nvSpPr>
        <p:spPr>
          <a:xfrm>
            <a:off x="6562840" y="3649826"/>
            <a:ext cx="746718" cy="326797"/>
          </a:xfrm>
          <a:prstGeom prst="roundRect">
            <a:avLst/>
          </a:prstGeom>
          <a:solidFill>
            <a:srgbClr val="FFFFFF"/>
          </a:solidFill>
          <a:ln w="12700">
            <a:solidFill>
              <a:schemeClr val="accent5"/>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rPr>
              <a:t>实物库存</a:t>
            </a:r>
            <a:endPar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54" name="紫荆的职场Point8"/>
          <p:cNvSpPr/>
          <p:nvPr/>
        </p:nvSpPr>
        <p:spPr>
          <a:xfrm>
            <a:off x="4990771" y="4029287"/>
            <a:ext cx="746718" cy="326797"/>
          </a:xfrm>
          <a:prstGeom prst="roundRect">
            <a:avLst/>
          </a:prstGeom>
          <a:solidFill>
            <a:srgbClr val="FFFFFF"/>
          </a:solidFill>
          <a:ln w="12700">
            <a:solidFill>
              <a:schemeClr val="accent5"/>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rPr>
              <a:t>货权管理</a:t>
            </a:r>
            <a:endPar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55" name="紫荆的职场Point9"/>
          <p:cNvSpPr/>
          <p:nvPr/>
        </p:nvSpPr>
        <p:spPr>
          <a:xfrm>
            <a:off x="5776806" y="4029287"/>
            <a:ext cx="746718" cy="326797"/>
          </a:xfrm>
          <a:prstGeom prst="roundRect">
            <a:avLst/>
          </a:prstGeom>
          <a:solidFill>
            <a:srgbClr val="FFFFFF"/>
          </a:solidFill>
          <a:ln w="12700">
            <a:solidFill>
              <a:schemeClr val="accent5"/>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rPr>
              <a:t>订单匹配</a:t>
            </a:r>
            <a:endPar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58" name="紫荆的职场Point10"/>
          <p:cNvSpPr/>
          <p:nvPr/>
        </p:nvSpPr>
        <p:spPr>
          <a:xfrm>
            <a:off x="6562840" y="4029287"/>
            <a:ext cx="746718" cy="326797"/>
          </a:xfrm>
          <a:prstGeom prst="roundRect">
            <a:avLst/>
          </a:prstGeom>
          <a:solidFill>
            <a:srgbClr val="FFFFFF"/>
          </a:solidFill>
          <a:ln w="12700">
            <a:solidFill>
              <a:schemeClr val="accent5"/>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rPr>
              <a:t>库存补调</a:t>
            </a:r>
            <a:endPar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60" name="紫荆的职场Point11"/>
          <p:cNvSpPr/>
          <p:nvPr/>
        </p:nvSpPr>
        <p:spPr>
          <a:xfrm>
            <a:off x="2220232" y="3055023"/>
            <a:ext cx="2458131" cy="1383809"/>
          </a:xfrm>
          <a:prstGeom prst="roundRect">
            <a:avLst>
              <a:gd name="adj" fmla="val 2622"/>
            </a:avLst>
          </a:prstGeom>
          <a:solidFill>
            <a:schemeClr val="accent5">
              <a:lumMod val="60000"/>
              <a:lumOff val="40000"/>
              <a:alpha val="30000"/>
            </a:schemeClr>
          </a:solidFill>
          <a:ln>
            <a:no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61" name="紫荆的职场Point40"/>
          <p:cNvSpPr txBox="1"/>
          <p:nvPr/>
        </p:nvSpPr>
        <p:spPr>
          <a:xfrm>
            <a:off x="5325928" y="2785346"/>
            <a:ext cx="1800494" cy="317130"/>
          </a:xfrm>
          <a:prstGeom prst="rect">
            <a:avLst/>
          </a:prstGeom>
          <a:noFill/>
        </p:spPr>
        <p:txBody>
          <a:bodyPr wrap="none">
            <a:spAutoFit/>
          </a:bodyPr>
          <a:lstStyle/>
          <a:p>
            <a:pPr algn="ctr"/>
            <a:r>
              <a:rPr lang="zh-CN" altLang="en-US" sz="1400" b="1" dirty="0">
                <a:solidFill>
                  <a:schemeClr val="accent5"/>
                </a:solidFill>
                <a:latin typeface="微软雅黑" panose="020B0503020204020204" charset="-122"/>
                <a:ea typeface="微软雅黑" panose="020B0503020204020204" charset="-122"/>
                <a:cs typeface="微软雅黑" panose="020B0503020204020204" charset="-122"/>
              </a:rPr>
              <a:t>供应链协同运营平台</a:t>
            </a:r>
            <a:endParaRPr lang="zh-CN" altLang="en-US" sz="14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63" name="紫荆的职场Point41"/>
          <p:cNvSpPr/>
          <p:nvPr/>
        </p:nvSpPr>
        <p:spPr>
          <a:xfrm>
            <a:off x="2289903" y="3110480"/>
            <a:ext cx="2318788" cy="431006"/>
          </a:xfrm>
          <a:prstGeom prst="roundRect">
            <a:avLst/>
          </a:prstGeom>
          <a:solidFill>
            <a:schemeClr val="accent5">
              <a:alpha val="80000"/>
            </a:schemeClr>
          </a:solidFill>
          <a:ln w="10859">
            <a:noFill/>
            <a:prstDash val="dash"/>
          </a:ln>
          <a:effectLst>
            <a:outerShdw blurRad="190500" dist="50800" dir="2700000" sx="99000" sy="99000" algn="tl" rotWithShape="0">
              <a:srgbClr val="A84031">
                <a:alpha val="15000"/>
              </a:srgbClr>
            </a:outerShdw>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78181" tIns="39091" rIns="78181" bIns="39091" numCol="1" spcCol="0" rtlCol="0" fromWordArt="0" anchor="ctr" anchorCtr="0" forceAA="0" compatLnSpc="1">
            <a:noAutofit/>
          </a:bodyPr>
          <a:lstStyle/>
          <a:p>
            <a:pPr lvl="0" algn="ctr">
              <a:buClrTx/>
              <a:buSzTx/>
              <a:buFontTx/>
            </a:pPr>
            <a:r>
              <a:rPr lang="zh-CN" altLang="en-US" sz="1400" b="1" dirty="0">
                <a:solidFill>
                  <a:srgbClr val="FFFFFF"/>
                </a:solidFill>
                <a:effectLst/>
                <a:latin typeface="微软雅黑" panose="020B0503020204020204" charset="-122"/>
                <a:ea typeface="微软雅黑" panose="020B0503020204020204" charset="-122"/>
                <a:cs typeface="微软雅黑" panose="020B0503020204020204" charset="-122"/>
                <a:sym typeface="+mn-ea"/>
              </a:rPr>
              <a:t>订单中心</a:t>
            </a:r>
            <a:endParaRPr lang="zh-CN" altLang="en-US" sz="1400" b="1" dirty="0">
              <a:solidFill>
                <a:srgbClr val="FFFFFF"/>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64" name="紫荆的职场Point42"/>
          <p:cNvSpPr/>
          <p:nvPr/>
        </p:nvSpPr>
        <p:spPr>
          <a:xfrm>
            <a:off x="4990770" y="3110480"/>
            <a:ext cx="2318788" cy="431006"/>
          </a:xfrm>
          <a:prstGeom prst="roundRect">
            <a:avLst/>
          </a:prstGeom>
          <a:solidFill>
            <a:schemeClr val="accent5">
              <a:alpha val="80000"/>
            </a:schemeClr>
          </a:solidFill>
          <a:ln w="10859">
            <a:noFill/>
            <a:prstDash val="dash"/>
          </a:ln>
          <a:effectLst>
            <a:outerShdw blurRad="190500" dist="50800" dir="2700000" sx="99000" sy="99000" algn="tl" rotWithShape="0">
              <a:srgbClr val="A84031">
                <a:alpha val="15000"/>
              </a:srgbClr>
            </a:outerShdw>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78181" tIns="39091" rIns="78181" bIns="39091" numCol="1" spcCol="0" rtlCol="0" fromWordArt="0" anchor="ctr" anchorCtr="0" forceAA="0" compatLnSpc="1">
            <a:noAutofit/>
          </a:bodyPr>
          <a:lstStyle/>
          <a:p>
            <a:pPr lvl="0" algn="ctr">
              <a:buClrTx/>
              <a:buSzTx/>
              <a:buFontTx/>
            </a:pPr>
            <a:r>
              <a:rPr lang="zh-CN" altLang="en-US" sz="1400" b="1" dirty="0">
                <a:effectLst/>
                <a:latin typeface="微软雅黑" panose="020B0503020204020204" charset="-122"/>
                <a:ea typeface="微软雅黑" panose="020B0503020204020204" charset="-122"/>
                <a:cs typeface="微软雅黑" panose="020B0503020204020204" charset="-122"/>
                <a:sym typeface="+mn-ea"/>
              </a:rPr>
              <a:t>库存中心</a:t>
            </a:r>
            <a:endParaRPr lang="zh-CN" altLang="en-US" sz="1400" b="1" dirty="0">
              <a:effectLst/>
              <a:latin typeface="微软雅黑" panose="020B0503020204020204" charset="-122"/>
              <a:ea typeface="微软雅黑" panose="020B0503020204020204" charset="-122"/>
              <a:cs typeface="微软雅黑" panose="020B0503020204020204" charset="-122"/>
              <a:sym typeface="+mn-ea"/>
            </a:endParaRPr>
          </a:p>
        </p:txBody>
      </p:sp>
      <p:sp>
        <p:nvSpPr>
          <p:cNvPr id="165" name="紫荆的职场Point43"/>
          <p:cNvSpPr/>
          <p:nvPr/>
        </p:nvSpPr>
        <p:spPr>
          <a:xfrm>
            <a:off x="7702975" y="3110480"/>
            <a:ext cx="2318788" cy="431006"/>
          </a:xfrm>
          <a:prstGeom prst="roundRect">
            <a:avLst/>
          </a:prstGeom>
          <a:solidFill>
            <a:schemeClr val="accent5">
              <a:alpha val="80000"/>
            </a:schemeClr>
          </a:solidFill>
          <a:ln w="10859">
            <a:noFill/>
            <a:prstDash val="dash"/>
          </a:ln>
          <a:effectLst>
            <a:outerShdw blurRad="190500" dist="50800" dir="2700000" sx="99000" sy="99000" algn="tl" rotWithShape="0">
              <a:srgbClr val="A84031">
                <a:alpha val="15000"/>
              </a:srgbClr>
            </a:outerShdw>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78181" tIns="39091" rIns="78181" bIns="39091" numCol="1" spcCol="0" rtlCol="0" fromWordArt="0" anchor="ctr" anchorCtr="0" forceAA="0" compatLnSpc="1">
            <a:noAutofit/>
          </a:bodyPr>
          <a:lstStyle/>
          <a:p>
            <a:pPr lvl="0" algn="ctr">
              <a:buClrTx/>
              <a:buSzTx/>
              <a:buFontTx/>
            </a:pPr>
            <a:r>
              <a:rPr lang="zh-CN" altLang="en-US" sz="1400" b="1" dirty="0">
                <a:effectLst/>
                <a:latin typeface="微软雅黑" panose="020B0503020204020204" charset="-122"/>
                <a:ea typeface="微软雅黑" panose="020B0503020204020204" charset="-122"/>
                <a:cs typeface="微软雅黑" panose="020B0503020204020204" charset="-122"/>
                <a:sym typeface="+mn-ea"/>
              </a:rPr>
              <a:t>对账中心</a:t>
            </a:r>
            <a:endParaRPr lang="zh-CN" altLang="en-US" sz="1400" b="1" dirty="0">
              <a:effectLst/>
              <a:latin typeface="微软雅黑" panose="020B0503020204020204" charset="-122"/>
              <a:ea typeface="微软雅黑" panose="020B0503020204020204" charset="-122"/>
              <a:cs typeface="微软雅黑" panose="020B0503020204020204" charset="-122"/>
              <a:sym typeface="+mn-ea"/>
            </a:endParaRPr>
          </a:p>
        </p:txBody>
      </p:sp>
      <p:sp>
        <p:nvSpPr>
          <p:cNvPr id="166" name="紫荆的职场Point44"/>
          <p:cNvSpPr/>
          <p:nvPr/>
        </p:nvSpPr>
        <p:spPr>
          <a:xfrm>
            <a:off x="2289904" y="3649826"/>
            <a:ext cx="746718" cy="326797"/>
          </a:xfrm>
          <a:prstGeom prst="roundRect">
            <a:avLst/>
          </a:prstGeom>
          <a:solidFill>
            <a:srgbClr val="FFFFFF"/>
          </a:solidFill>
          <a:ln w="12700">
            <a:solidFill>
              <a:schemeClr val="accent5"/>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rPr>
              <a:t>订单接收</a:t>
            </a:r>
            <a:endPar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67" name="紫荆的职场Point45"/>
          <p:cNvSpPr/>
          <p:nvPr/>
        </p:nvSpPr>
        <p:spPr>
          <a:xfrm>
            <a:off x="3075939" y="3649826"/>
            <a:ext cx="746718" cy="326797"/>
          </a:xfrm>
          <a:prstGeom prst="roundRect">
            <a:avLst/>
          </a:prstGeom>
          <a:solidFill>
            <a:srgbClr val="FFFFFF"/>
          </a:solidFill>
          <a:ln w="12700">
            <a:solidFill>
              <a:schemeClr val="accent5"/>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rPr>
              <a:t>订单处理</a:t>
            </a:r>
            <a:endPar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68" name="紫荆的职场Point46"/>
          <p:cNvSpPr/>
          <p:nvPr/>
        </p:nvSpPr>
        <p:spPr>
          <a:xfrm>
            <a:off x="3861973" y="3649826"/>
            <a:ext cx="746718" cy="326797"/>
          </a:xfrm>
          <a:prstGeom prst="roundRect">
            <a:avLst/>
          </a:prstGeom>
          <a:solidFill>
            <a:srgbClr val="FFFFFF"/>
          </a:solidFill>
          <a:ln w="12700">
            <a:solidFill>
              <a:schemeClr val="accent5"/>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rPr>
              <a:t>智能寻源</a:t>
            </a:r>
            <a:endPar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69" name="紫荆的职场Point47"/>
          <p:cNvSpPr/>
          <p:nvPr/>
        </p:nvSpPr>
        <p:spPr>
          <a:xfrm>
            <a:off x="2289904" y="4029287"/>
            <a:ext cx="746718" cy="326797"/>
          </a:xfrm>
          <a:prstGeom prst="roundRect">
            <a:avLst/>
          </a:prstGeom>
          <a:solidFill>
            <a:srgbClr val="FFFFFF"/>
          </a:solidFill>
          <a:ln w="12700">
            <a:solidFill>
              <a:schemeClr val="accent5"/>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rPr>
              <a:t>执行管控</a:t>
            </a:r>
            <a:endPar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70" name="紫荆的职场Point48"/>
          <p:cNvSpPr/>
          <p:nvPr/>
        </p:nvSpPr>
        <p:spPr>
          <a:xfrm>
            <a:off x="3075939" y="4029287"/>
            <a:ext cx="746718" cy="326797"/>
          </a:xfrm>
          <a:prstGeom prst="roundRect">
            <a:avLst/>
          </a:prstGeom>
          <a:solidFill>
            <a:srgbClr val="FFFFFF"/>
          </a:solidFill>
          <a:ln w="12700">
            <a:solidFill>
              <a:schemeClr val="accent5"/>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rPr>
              <a:t>订单拦截</a:t>
            </a:r>
            <a:endPar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71" name="紫荆的职场Point49"/>
          <p:cNvSpPr/>
          <p:nvPr/>
        </p:nvSpPr>
        <p:spPr>
          <a:xfrm>
            <a:off x="3861973" y="4029287"/>
            <a:ext cx="746718" cy="326797"/>
          </a:xfrm>
          <a:prstGeom prst="roundRect">
            <a:avLst/>
          </a:prstGeom>
          <a:solidFill>
            <a:srgbClr val="FFFFFF"/>
          </a:solidFill>
          <a:ln w="12700">
            <a:solidFill>
              <a:schemeClr val="accent5"/>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rPr>
              <a:t>信息推送</a:t>
            </a:r>
            <a:endPar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72" name="紫荆的职场Point50"/>
          <p:cNvSpPr/>
          <p:nvPr/>
        </p:nvSpPr>
        <p:spPr>
          <a:xfrm>
            <a:off x="7702976" y="3649826"/>
            <a:ext cx="746718" cy="326797"/>
          </a:xfrm>
          <a:prstGeom prst="roundRect">
            <a:avLst/>
          </a:prstGeom>
          <a:solidFill>
            <a:srgbClr val="FFFFFF"/>
          </a:solidFill>
          <a:ln w="12700">
            <a:solidFill>
              <a:schemeClr val="accent5"/>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rPr>
              <a:t>销售对账</a:t>
            </a:r>
            <a:endPar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73" name="紫荆的职场Point51"/>
          <p:cNvSpPr/>
          <p:nvPr/>
        </p:nvSpPr>
        <p:spPr>
          <a:xfrm>
            <a:off x="8489011" y="3649826"/>
            <a:ext cx="746718" cy="326797"/>
          </a:xfrm>
          <a:prstGeom prst="roundRect">
            <a:avLst/>
          </a:prstGeom>
          <a:solidFill>
            <a:srgbClr val="FFFFFF"/>
          </a:solidFill>
          <a:ln w="12700">
            <a:solidFill>
              <a:schemeClr val="accent5"/>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rPr>
              <a:t>退货对账</a:t>
            </a:r>
            <a:endPar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74" name="紫荆的职场Point52"/>
          <p:cNvSpPr/>
          <p:nvPr/>
        </p:nvSpPr>
        <p:spPr>
          <a:xfrm>
            <a:off x="9275045" y="3649826"/>
            <a:ext cx="746718" cy="326797"/>
          </a:xfrm>
          <a:prstGeom prst="roundRect">
            <a:avLst/>
          </a:prstGeom>
          <a:solidFill>
            <a:srgbClr val="FFFFFF"/>
          </a:solidFill>
          <a:ln w="12700">
            <a:solidFill>
              <a:schemeClr val="accent5"/>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rPr>
              <a:t>账单调整</a:t>
            </a:r>
            <a:endPar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75" name="紫荆的职场Point53"/>
          <p:cNvSpPr/>
          <p:nvPr/>
        </p:nvSpPr>
        <p:spPr>
          <a:xfrm>
            <a:off x="7702976" y="4029287"/>
            <a:ext cx="746718" cy="326797"/>
          </a:xfrm>
          <a:prstGeom prst="roundRect">
            <a:avLst/>
          </a:prstGeom>
          <a:solidFill>
            <a:srgbClr val="FFFFFF"/>
          </a:solidFill>
          <a:ln w="12700">
            <a:solidFill>
              <a:schemeClr val="accent5"/>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rPr>
              <a:t>费用分摊</a:t>
            </a:r>
            <a:endPar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77" name="紫荆的职场Point54"/>
          <p:cNvSpPr/>
          <p:nvPr/>
        </p:nvSpPr>
        <p:spPr>
          <a:xfrm>
            <a:off x="8489011" y="4029287"/>
            <a:ext cx="746718" cy="326797"/>
          </a:xfrm>
          <a:prstGeom prst="roundRect">
            <a:avLst/>
          </a:prstGeom>
          <a:solidFill>
            <a:srgbClr val="FFFFFF"/>
          </a:solidFill>
          <a:ln w="12700">
            <a:solidFill>
              <a:schemeClr val="accent5"/>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rPr>
              <a:t>自动核销</a:t>
            </a:r>
            <a:endPar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78" name="紫荆的职场Point55"/>
          <p:cNvSpPr/>
          <p:nvPr/>
        </p:nvSpPr>
        <p:spPr>
          <a:xfrm>
            <a:off x="9275045" y="4029287"/>
            <a:ext cx="746718" cy="326797"/>
          </a:xfrm>
          <a:prstGeom prst="roundRect">
            <a:avLst/>
          </a:prstGeom>
          <a:solidFill>
            <a:srgbClr val="FFFFFF"/>
          </a:solidFill>
          <a:ln w="12700">
            <a:solidFill>
              <a:schemeClr val="accent5"/>
            </a:solid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rPr>
              <a:t>报表管理</a:t>
            </a:r>
            <a:endParaRPr lang="zh-CN" altLang="en-US" sz="100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81" name="紫荆的职场Point56"/>
          <p:cNvSpPr/>
          <p:nvPr/>
        </p:nvSpPr>
        <p:spPr>
          <a:xfrm>
            <a:off x="1950720" y="4501515"/>
            <a:ext cx="8275955" cy="487045"/>
          </a:xfrm>
          <a:prstGeom prst="roundRect">
            <a:avLst>
              <a:gd name="adj" fmla="val 0"/>
            </a:avLst>
          </a:prstGeom>
          <a:solidFill>
            <a:schemeClr val="accent5">
              <a:alpha val="80000"/>
            </a:schemeClr>
          </a:solidFill>
          <a:ln w="12700" cap="flat">
            <a:solidFill>
              <a:schemeClr val="accent5">
                <a:alpha val="50000"/>
              </a:schemeClr>
            </a:solidFill>
            <a:prstDash val="solid"/>
            <a:miter lim="800000"/>
          </a:ln>
          <a:effectLst/>
          <a:sp3d/>
        </p:spPr>
        <p:txBody>
          <a:bodyPr rot="0" spcFirstLastPara="1" vertOverflow="overflow" horzOverflow="overflow" vert="horz" wrap="square" lIns="45719" tIns="45719" rIns="45719" bIns="45719" numCol="1" spcCol="38100" rtlCol="0" fromWordArt="0" anchor="ctr" anchorCtr="0" forceAA="0" compatLnSpc="0">
            <a:noAutofit/>
          </a:bodyPr>
          <a:lstStyle/>
          <a:p>
            <a:pPr lvl="0" algn="l" hangingPunct="0">
              <a:buClrTx/>
              <a:buSzTx/>
              <a:buFontTx/>
            </a:pPr>
            <a:endParaRPr lang="zh-CN" altLang="en-US">
              <a:solidFill>
                <a:srgbClr val="000000">
                  <a:alpha val="80000"/>
                </a:srgbClr>
              </a:solidFill>
              <a:latin typeface="微软雅黑" panose="020B0503020204020204" charset="-122"/>
              <a:ea typeface="微软雅黑" panose="020B0503020204020204" charset="-122"/>
              <a:cs typeface="+mn-ea"/>
              <a:sym typeface="+mn-ea"/>
            </a:endParaRPr>
          </a:p>
        </p:txBody>
      </p:sp>
      <p:sp>
        <p:nvSpPr>
          <p:cNvPr id="182" name="紫荆的职场Point57"/>
          <p:cNvSpPr/>
          <p:nvPr/>
        </p:nvSpPr>
        <p:spPr>
          <a:xfrm>
            <a:off x="2306335" y="4612848"/>
            <a:ext cx="817009" cy="265649"/>
          </a:xfrm>
          <a:prstGeom prst="roundRect">
            <a:avLst>
              <a:gd name="adj" fmla="val 50000"/>
            </a:avLst>
          </a:prstGeom>
          <a:solidFill>
            <a:schemeClr val="bg1">
              <a:alpha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83" name="紫荆的职场Point58"/>
          <p:cNvSpPr txBox="1"/>
          <p:nvPr/>
        </p:nvSpPr>
        <p:spPr>
          <a:xfrm>
            <a:off x="2314730" y="4602964"/>
            <a:ext cx="800219" cy="285417"/>
          </a:xfrm>
          <a:prstGeom prst="rect">
            <a:avLst/>
          </a:prstGeom>
          <a:noFill/>
          <a:extLst>
            <a:ext uri="{909E8E84-426E-40DD-AFC4-6F175D3DCCD1}">
              <a14:hiddenFill xmlns:a14="http://schemas.microsoft.com/office/drawing/2010/main">
                <a:solidFill>
                  <a:schemeClr val="accent4">
                    <a:alpha val="20000"/>
                  </a:schemeClr>
                </a:solidFill>
              </a14:hiddenFill>
            </a:ext>
          </a:extLst>
        </p:spPr>
        <p:txBody>
          <a:bodyPr wrap="none">
            <a:spAutoFit/>
          </a:bodyPr>
          <a:lstStyle/>
          <a:p>
            <a:pPr algn="ctr"/>
            <a:r>
              <a:rPr lang="zh-CN" altLang="en-US" sz="1200" b="1" dirty="0">
                <a:solidFill>
                  <a:srgbClr val="FFFFFF"/>
                </a:solidFill>
                <a:latin typeface="微软雅黑" panose="020B0503020204020204" charset="-122"/>
                <a:ea typeface="微软雅黑" panose="020B0503020204020204" charset="-122"/>
                <a:cs typeface="微软雅黑" panose="020B0503020204020204" charset="-122"/>
              </a:rPr>
              <a:t>基础中心</a:t>
            </a:r>
            <a:endParaRPr lang="zh-CN" altLang="en-US" sz="1200" b="1" dirty="0">
              <a:solidFill>
                <a:srgbClr val="FFFFFF"/>
              </a:solidFill>
              <a:latin typeface="微软雅黑" panose="020B0503020204020204" charset="-122"/>
              <a:ea typeface="微软雅黑" panose="020B0503020204020204" charset="-122"/>
              <a:cs typeface="微软雅黑" panose="020B0503020204020204" charset="-122"/>
            </a:endParaRPr>
          </a:p>
        </p:txBody>
      </p:sp>
      <p:grpSp>
        <p:nvGrpSpPr>
          <p:cNvPr id="184" name="紫荆的职场Point59"/>
          <p:cNvGrpSpPr/>
          <p:nvPr/>
        </p:nvGrpSpPr>
        <p:grpSpPr>
          <a:xfrm>
            <a:off x="3336140" y="4610712"/>
            <a:ext cx="6600533" cy="268650"/>
            <a:chOff x="3291055" y="4754056"/>
            <a:chExt cx="6600533" cy="260727"/>
          </a:xfrm>
        </p:grpSpPr>
        <p:sp>
          <p:nvSpPr>
            <p:cNvPr id="185" name="紫荆的职场Point59-1"/>
            <p:cNvSpPr/>
            <p:nvPr/>
          </p:nvSpPr>
          <p:spPr>
            <a:xfrm>
              <a:off x="3291055" y="4754056"/>
              <a:ext cx="746718" cy="260727"/>
            </a:xfrm>
            <a:prstGeom prst="roundRect">
              <a:avLst/>
            </a:prstGeom>
            <a:solidFill>
              <a:srgbClr val="FFFFFF"/>
            </a:solidFill>
            <a:ln>
              <a:no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r>
                <a:rPr lang="zh-CN" altLang="en-US" sz="10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商品中心</a:t>
              </a:r>
              <a:endParaRPr lang="zh-CN" altLang="en-US" sz="10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p:txBody>
        </p:sp>
        <p:sp>
          <p:nvSpPr>
            <p:cNvPr id="186" name="紫荆的职场Point59-2"/>
            <p:cNvSpPr/>
            <p:nvPr/>
          </p:nvSpPr>
          <p:spPr>
            <a:xfrm>
              <a:off x="4266691" y="4754056"/>
              <a:ext cx="746718" cy="260727"/>
            </a:xfrm>
            <a:prstGeom prst="roundRect">
              <a:avLst/>
            </a:prstGeom>
            <a:solidFill>
              <a:srgbClr val="FFFFFF"/>
            </a:solidFill>
            <a:ln>
              <a:no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r>
                <a:rPr lang="zh-CN" altLang="en-US" sz="10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活动中心</a:t>
              </a:r>
              <a:endParaRPr lang="zh-CN" altLang="en-US" sz="10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p:txBody>
        </p:sp>
        <p:sp>
          <p:nvSpPr>
            <p:cNvPr id="278" name="紫荆的职场Point59-3"/>
            <p:cNvSpPr/>
            <p:nvPr/>
          </p:nvSpPr>
          <p:spPr>
            <a:xfrm>
              <a:off x="5242327" y="4754056"/>
              <a:ext cx="746718" cy="260727"/>
            </a:xfrm>
            <a:prstGeom prst="roundRect">
              <a:avLst/>
            </a:prstGeom>
            <a:solidFill>
              <a:srgbClr val="FFFFFF"/>
            </a:solidFill>
            <a:ln>
              <a:no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r>
                <a:rPr lang="zh-CN" altLang="en-US" sz="10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策略中心</a:t>
              </a:r>
              <a:endParaRPr lang="zh-CN" altLang="en-US" sz="10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p:txBody>
        </p:sp>
        <p:sp>
          <p:nvSpPr>
            <p:cNvPr id="279" name="紫荆的职场Point59-4"/>
            <p:cNvSpPr/>
            <p:nvPr/>
          </p:nvSpPr>
          <p:spPr>
            <a:xfrm>
              <a:off x="6217963" y="4754056"/>
              <a:ext cx="746718" cy="260727"/>
            </a:xfrm>
            <a:prstGeom prst="roundRect">
              <a:avLst/>
            </a:prstGeom>
            <a:solidFill>
              <a:srgbClr val="FFFFFF"/>
            </a:solidFill>
            <a:ln>
              <a:no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r>
                <a:rPr lang="zh-CN" altLang="en-US" sz="10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账户中心</a:t>
              </a:r>
              <a:endParaRPr lang="zh-CN" altLang="en-US" sz="10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p:txBody>
        </p:sp>
        <p:sp>
          <p:nvSpPr>
            <p:cNvPr id="280" name="紫荆的职场Point59-5"/>
            <p:cNvSpPr/>
            <p:nvPr/>
          </p:nvSpPr>
          <p:spPr>
            <a:xfrm>
              <a:off x="7193599" y="4754056"/>
              <a:ext cx="746718" cy="260727"/>
            </a:xfrm>
            <a:prstGeom prst="roundRect">
              <a:avLst/>
            </a:prstGeom>
            <a:solidFill>
              <a:srgbClr val="FFFFFF"/>
            </a:solidFill>
            <a:ln>
              <a:no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r>
                <a:rPr lang="zh-CN" altLang="en-US" sz="10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权限中心</a:t>
              </a:r>
              <a:endParaRPr lang="zh-CN" altLang="en-US" sz="10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p:txBody>
        </p:sp>
        <p:sp>
          <p:nvSpPr>
            <p:cNvPr id="281" name="紫荆的职场Point59-6"/>
            <p:cNvSpPr/>
            <p:nvPr/>
          </p:nvSpPr>
          <p:spPr>
            <a:xfrm>
              <a:off x="8169235" y="4754056"/>
              <a:ext cx="746718" cy="260727"/>
            </a:xfrm>
            <a:prstGeom prst="roundRect">
              <a:avLst/>
            </a:prstGeom>
            <a:solidFill>
              <a:srgbClr val="FFFFFF"/>
            </a:solidFill>
            <a:ln>
              <a:no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r>
                <a:rPr lang="zh-CN" altLang="en-US" sz="10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配置中心</a:t>
              </a:r>
              <a:endParaRPr lang="zh-CN" altLang="en-US" sz="10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p:txBody>
        </p:sp>
        <p:sp>
          <p:nvSpPr>
            <p:cNvPr id="282" name="紫荆的职场Point59-7"/>
            <p:cNvSpPr/>
            <p:nvPr/>
          </p:nvSpPr>
          <p:spPr>
            <a:xfrm>
              <a:off x="9144870" y="4754056"/>
              <a:ext cx="746718" cy="260727"/>
            </a:xfrm>
            <a:prstGeom prst="roundRect">
              <a:avLst/>
            </a:prstGeom>
            <a:solidFill>
              <a:srgbClr val="FFFFFF"/>
            </a:solidFill>
            <a:ln>
              <a:no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r>
                <a:rPr lang="zh-CN" altLang="en-US" sz="10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接口中心</a:t>
              </a:r>
              <a:endParaRPr lang="zh-CN" altLang="en-US" sz="10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p:txBody>
        </p:sp>
      </p:grpSp>
      <p:sp>
        <p:nvSpPr>
          <p:cNvPr id="283" name="紫荆的职场Point63"/>
          <p:cNvSpPr/>
          <p:nvPr/>
        </p:nvSpPr>
        <p:spPr>
          <a:xfrm>
            <a:off x="2185670" y="5330190"/>
            <a:ext cx="1897380" cy="579120"/>
          </a:xfrm>
          <a:prstGeom prst="roundRect">
            <a:avLst>
              <a:gd name="adj" fmla="val 4370"/>
            </a:avLst>
          </a:prstGeom>
          <a:noFill/>
          <a:ln w="9525">
            <a:gradFill flip="none" rotWithShape="1">
              <a:gsLst>
                <a:gs pos="0">
                  <a:schemeClr val="accent5">
                    <a:lumMod val="60000"/>
                    <a:lumOff val="40000"/>
                  </a:schemeClr>
                </a:gs>
                <a:gs pos="100000">
                  <a:schemeClr val="accent5">
                    <a:lumMod val="60000"/>
                    <a:lumOff val="40000"/>
                    <a:alpha val="0"/>
                  </a:schemeClr>
                </a:gs>
              </a:gsLst>
              <a:lin ang="5400000" scaled="1"/>
              <a:tileRect/>
            </a:grad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284" name="紫荆的职场Point64"/>
          <p:cNvSpPr/>
          <p:nvPr/>
        </p:nvSpPr>
        <p:spPr>
          <a:xfrm>
            <a:off x="2741377" y="5234460"/>
            <a:ext cx="786036" cy="216000"/>
          </a:xfrm>
          <a:prstGeom prst="roundRect">
            <a:avLst/>
          </a:prstGeom>
          <a:solidFill>
            <a:schemeClr val="bg1"/>
          </a:solidFill>
          <a:ln w="10859">
            <a:solidFill>
              <a:schemeClr val="accent5">
                <a:lumMod val="60000"/>
                <a:lumOff val="40000"/>
              </a:schemeClr>
            </a:solidFill>
            <a:prstDash val="solid"/>
          </a:ln>
          <a:effectLst>
            <a:outerShdw blurRad="190500" dist="50800" dir="2700000" sx="99000" sy="99000" algn="tl" rotWithShape="0">
              <a:schemeClr val="accent5">
                <a:lumMod val="60000"/>
                <a:lumOff val="40000"/>
                <a:alpha val="15000"/>
              </a:schemeClr>
            </a:outerShdw>
          </a:effectLst>
        </p:spPr>
        <p:style>
          <a:lnRef idx="2">
            <a:srgbClr val="24396B">
              <a:shade val="50000"/>
            </a:srgbClr>
          </a:lnRef>
          <a:fillRef idx="1">
            <a:srgbClr val="24396B"/>
          </a:fillRef>
          <a:effectRef idx="0">
            <a:srgbClr val="24396B"/>
          </a:effectRef>
          <a:fontRef idx="minor">
            <a:srgbClr val="FFFFFF"/>
          </a:fontRef>
        </p:style>
        <p:txBody>
          <a:bodyPr lIns="78181" tIns="39091" rIns="78181" bIns="39091" rtlCol="0" anchor="ctr"/>
          <a:lstStyle/>
          <a:p>
            <a:pPr algn="ctr"/>
            <a:r>
              <a:rPr lang="zh-CN" altLang="en-US" sz="10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销售</a:t>
            </a:r>
            <a:endParaRPr lang="zh-CN" altLang="en-US" sz="10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85" name="紫荆的职场Point65"/>
          <p:cNvSpPr/>
          <p:nvPr/>
        </p:nvSpPr>
        <p:spPr>
          <a:xfrm>
            <a:off x="2227543" y="5584595"/>
            <a:ext cx="422860" cy="242821"/>
          </a:xfrm>
          <a:prstGeom prst="roundRect">
            <a:avLst/>
          </a:prstGeom>
          <a:solidFill>
            <a:schemeClr val="bg1">
              <a:alpha val="80000"/>
            </a:schemeClr>
          </a:solidFill>
          <a:ln>
            <a:solidFill>
              <a:schemeClr val="accent5">
                <a:lumMod val="60000"/>
                <a:lumOff val="40000"/>
              </a:schemeClr>
            </a:solid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r>
              <a:rPr lang="en-US" altLang="zh-CN" sz="700" dirty="0">
                <a:solidFill>
                  <a:schemeClr val="tx2"/>
                </a:solidFill>
                <a:latin typeface="微软雅黑" panose="020B0503020204020204" charset="-122"/>
                <a:ea typeface="微软雅黑" panose="020B0503020204020204" charset="-122"/>
                <a:cs typeface="微软雅黑" panose="020B0503020204020204" charset="-122"/>
              </a:rPr>
              <a:t>CRM</a:t>
            </a:r>
            <a:endParaRPr lang="en-US" altLang="zh-CN"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86" name="紫荆的职场Point66"/>
          <p:cNvSpPr/>
          <p:nvPr/>
        </p:nvSpPr>
        <p:spPr>
          <a:xfrm>
            <a:off x="2689228" y="5584595"/>
            <a:ext cx="422860" cy="242821"/>
          </a:xfrm>
          <a:prstGeom prst="roundRect">
            <a:avLst/>
          </a:prstGeom>
          <a:solidFill>
            <a:schemeClr val="bg1">
              <a:alpha val="80000"/>
            </a:schemeClr>
          </a:solidFill>
          <a:ln>
            <a:solidFill>
              <a:schemeClr val="accent5">
                <a:lumMod val="60000"/>
                <a:lumOff val="4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700" dirty="0">
                <a:solidFill>
                  <a:schemeClr val="tx2"/>
                </a:solidFill>
                <a:latin typeface="微软雅黑" panose="020B0503020204020204" charset="-122"/>
                <a:ea typeface="微软雅黑" panose="020B0503020204020204" charset="-122"/>
                <a:cs typeface="微软雅黑" panose="020B0503020204020204" charset="-122"/>
                <a:sym typeface="+mn-ea"/>
              </a:rPr>
              <a:t>ERP</a:t>
            </a:r>
            <a:endParaRPr lang="en-US" altLang="zh-CN" sz="7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89" name="紫荆的职场Point67"/>
          <p:cNvSpPr/>
          <p:nvPr/>
        </p:nvSpPr>
        <p:spPr>
          <a:xfrm>
            <a:off x="3150913" y="5584595"/>
            <a:ext cx="422860" cy="242821"/>
          </a:xfrm>
          <a:prstGeom prst="roundRect">
            <a:avLst/>
          </a:prstGeom>
          <a:solidFill>
            <a:schemeClr val="bg1">
              <a:alpha val="80000"/>
            </a:schemeClr>
          </a:solidFill>
          <a:ln>
            <a:solidFill>
              <a:schemeClr val="accent5">
                <a:lumMod val="60000"/>
                <a:lumOff val="4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700" dirty="0">
                <a:solidFill>
                  <a:schemeClr val="tx2"/>
                </a:solidFill>
                <a:latin typeface="微软雅黑" panose="020B0503020204020204" charset="-122"/>
                <a:ea typeface="微软雅黑" panose="020B0503020204020204" charset="-122"/>
                <a:cs typeface="微软雅黑" panose="020B0503020204020204" charset="-122"/>
                <a:sym typeface="+mn-ea"/>
              </a:rPr>
              <a:t>SRM</a:t>
            </a:r>
            <a:endParaRPr lang="en-US" altLang="zh-CN" sz="7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90" name="紫荆的职场Point68"/>
          <p:cNvSpPr/>
          <p:nvPr/>
        </p:nvSpPr>
        <p:spPr>
          <a:xfrm>
            <a:off x="3612598" y="5584595"/>
            <a:ext cx="422860" cy="242821"/>
          </a:xfrm>
          <a:prstGeom prst="roundRect">
            <a:avLst/>
          </a:prstGeom>
          <a:solidFill>
            <a:schemeClr val="bg1">
              <a:alpha val="80000"/>
            </a:schemeClr>
          </a:solidFill>
          <a:ln>
            <a:solidFill>
              <a:schemeClr val="accent5">
                <a:lumMod val="60000"/>
                <a:lumOff val="4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700" dirty="0">
                <a:solidFill>
                  <a:schemeClr val="tx2"/>
                </a:solidFill>
                <a:latin typeface="微软雅黑" panose="020B0503020204020204" charset="-122"/>
                <a:ea typeface="微软雅黑" panose="020B0503020204020204" charset="-122"/>
                <a:cs typeface="微软雅黑" panose="020B0503020204020204" charset="-122"/>
                <a:sym typeface="+mn-ea"/>
              </a:rPr>
              <a:t>POS</a:t>
            </a:r>
            <a:endParaRPr lang="en-US" altLang="zh-CN" sz="7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91" name="紫荆的职场Point69"/>
          <p:cNvSpPr/>
          <p:nvPr/>
        </p:nvSpPr>
        <p:spPr>
          <a:xfrm>
            <a:off x="4258945" y="5329555"/>
            <a:ext cx="974725" cy="579755"/>
          </a:xfrm>
          <a:prstGeom prst="roundRect">
            <a:avLst>
              <a:gd name="adj" fmla="val 4370"/>
            </a:avLst>
          </a:prstGeom>
          <a:noFill/>
          <a:ln w="9525">
            <a:gradFill flip="none" rotWithShape="1">
              <a:gsLst>
                <a:gs pos="0">
                  <a:schemeClr val="accent5">
                    <a:lumMod val="60000"/>
                    <a:lumOff val="40000"/>
                  </a:schemeClr>
                </a:gs>
                <a:gs pos="100000">
                  <a:schemeClr val="accent5">
                    <a:lumMod val="60000"/>
                    <a:lumOff val="40000"/>
                    <a:alpha val="0"/>
                  </a:schemeClr>
                </a:gs>
              </a:gsLst>
              <a:lin ang="5400000" scaled="1"/>
              <a:tileRect/>
            </a:gra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292" name="紫荆的职场Point70"/>
          <p:cNvSpPr/>
          <p:nvPr/>
        </p:nvSpPr>
        <p:spPr>
          <a:xfrm>
            <a:off x="4353190" y="5234460"/>
            <a:ext cx="786036" cy="216000"/>
          </a:xfrm>
          <a:prstGeom prst="roundRect">
            <a:avLst/>
          </a:prstGeom>
          <a:solidFill>
            <a:schemeClr val="bg1"/>
          </a:solidFill>
          <a:ln w="10859">
            <a:solidFill>
              <a:schemeClr val="accent5">
                <a:lumMod val="60000"/>
                <a:lumOff val="40000"/>
              </a:schemeClr>
            </a:solidFill>
            <a:prstDash val="solid"/>
          </a:ln>
          <a:effectLst>
            <a:outerShdw blurRad="190500" dist="50800" dir="2700000" sx="99000" sy="99000" algn="tl" rotWithShape="0">
              <a:schemeClr val="accent5">
                <a:lumMod val="60000"/>
                <a:lumOff val="40000"/>
                <a:alpha val="15000"/>
              </a:schemeClr>
            </a:outerShdw>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78181" tIns="39091" rIns="78181" bIns="39091" numCol="1" spcCol="0" rtlCol="0" fromWordArt="0" anchor="ctr" anchorCtr="0" forceAA="0" compatLnSpc="1">
            <a:noAutofit/>
          </a:bodyPr>
          <a:lstStyle/>
          <a:p>
            <a:pPr lvl="0" algn="ctr">
              <a:buClrTx/>
              <a:buSzTx/>
              <a:buFontTx/>
            </a:pPr>
            <a:r>
              <a:rPr lang="zh-CN" altLang="en-US" sz="10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sym typeface="+mn-ea"/>
              </a:rPr>
              <a:t>制造</a:t>
            </a:r>
            <a:endParaRPr lang="zh-CN" altLang="en-US" sz="10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93" name="紫荆的职场Point71"/>
          <p:cNvSpPr/>
          <p:nvPr/>
        </p:nvSpPr>
        <p:spPr>
          <a:xfrm>
            <a:off x="4300608" y="5584595"/>
            <a:ext cx="422860" cy="242821"/>
          </a:xfrm>
          <a:prstGeom prst="roundRect">
            <a:avLst/>
          </a:prstGeom>
          <a:solidFill>
            <a:schemeClr val="bg1">
              <a:alpha val="80000"/>
            </a:schemeClr>
          </a:solidFill>
          <a:ln>
            <a:solidFill>
              <a:schemeClr val="accent5">
                <a:lumMod val="60000"/>
                <a:lumOff val="4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700" dirty="0">
                <a:solidFill>
                  <a:schemeClr val="tx2"/>
                </a:solidFill>
                <a:latin typeface="微软雅黑" panose="020B0503020204020204" charset="-122"/>
                <a:ea typeface="微软雅黑" panose="020B0503020204020204" charset="-122"/>
                <a:cs typeface="微软雅黑" panose="020B0503020204020204" charset="-122"/>
                <a:sym typeface="+mn-ea"/>
              </a:rPr>
              <a:t>MES</a:t>
            </a:r>
            <a:endParaRPr lang="en-US" altLang="zh-CN" sz="7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94" name="紫荆的职场Point72"/>
          <p:cNvSpPr/>
          <p:nvPr/>
        </p:nvSpPr>
        <p:spPr>
          <a:xfrm>
            <a:off x="4762293" y="5584595"/>
            <a:ext cx="422860" cy="242821"/>
          </a:xfrm>
          <a:prstGeom prst="roundRect">
            <a:avLst/>
          </a:prstGeom>
          <a:solidFill>
            <a:schemeClr val="bg1">
              <a:alpha val="80000"/>
            </a:schemeClr>
          </a:solidFill>
          <a:ln>
            <a:solidFill>
              <a:schemeClr val="accent5">
                <a:lumMod val="60000"/>
                <a:lumOff val="40000"/>
              </a:schemeClr>
            </a:soli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700" dirty="0">
                <a:solidFill>
                  <a:schemeClr val="tx2"/>
                </a:solidFill>
                <a:latin typeface="微软雅黑" panose="020B0503020204020204" charset="-122"/>
                <a:ea typeface="微软雅黑" panose="020B0503020204020204" charset="-122"/>
                <a:cs typeface="微软雅黑" panose="020B0503020204020204" charset="-122"/>
                <a:sym typeface="+mn-ea"/>
              </a:rPr>
              <a:t>LES</a:t>
            </a:r>
            <a:endParaRPr lang="en-US" altLang="zh-CN" sz="7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95" name="紫荆的职场Point73"/>
          <p:cNvSpPr/>
          <p:nvPr/>
        </p:nvSpPr>
        <p:spPr>
          <a:xfrm>
            <a:off x="5409565" y="5329555"/>
            <a:ext cx="1442720" cy="579755"/>
          </a:xfrm>
          <a:prstGeom prst="roundRect">
            <a:avLst>
              <a:gd name="adj" fmla="val 4370"/>
            </a:avLst>
          </a:prstGeom>
          <a:noFill/>
          <a:ln w="9525">
            <a:gradFill flip="none" rotWithShape="1">
              <a:gsLst>
                <a:gs pos="0">
                  <a:schemeClr val="accent5">
                    <a:lumMod val="60000"/>
                    <a:lumOff val="40000"/>
                  </a:schemeClr>
                </a:gs>
                <a:gs pos="100000">
                  <a:schemeClr val="accent5">
                    <a:lumMod val="60000"/>
                    <a:lumOff val="40000"/>
                    <a:alpha val="0"/>
                  </a:schemeClr>
                </a:gs>
              </a:gsLst>
              <a:lin ang="5400000" scaled="1"/>
              <a:tileRect/>
            </a:gra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296" name="紫荆的职场Point74"/>
          <p:cNvSpPr/>
          <p:nvPr/>
        </p:nvSpPr>
        <p:spPr>
          <a:xfrm>
            <a:off x="5737762" y="5234460"/>
            <a:ext cx="786036" cy="216000"/>
          </a:xfrm>
          <a:prstGeom prst="roundRect">
            <a:avLst/>
          </a:prstGeom>
          <a:solidFill>
            <a:schemeClr val="bg1"/>
          </a:solidFill>
          <a:ln w="10859">
            <a:solidFill>
              <a:schemeClr val="accent5">
                <a:lumMod val="60000"/>
                <a:lumOff val="40000"/>
              </a:schemeClr>
            </a:solidFill>
            <a:prstDash val="solid"/>
          </a:ln>
          <a:effectLst>
            <a:outerShdw blurRad="190500" dist="50800" dir="2700000" sx="99000" sy="99000" algn="tl" rotWithShape="0">
              <a:schemeClr val="accent5">
                <a:lumMod val="60000"/>
                <a:lumOff val="40000"/>
                <a:alpha val="15000"/>
              </a:schemeClr>
            </a:outerShdw>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78181" tIns="39091" rIns="78181" bIns="39091" numCol="1" spcCol="0" rtlCol="0" fromWordArt="0" anchor="ctr" anchorCtr="0" forceAA="0" compatLnSpc="1">
            <a:noAutofit/>
          </a:bodyPr>
          <a:lstStyle/>
          <a:p>
            <a:pPr lvl="0" algn="ctr">
              <a:buClrTx/>
              <a:buSzTx/>
              <a:buFontTx/>
            </a:pPr>
            <a:r>
              <a:rPr lang="zh-CN" altLang="en-US" sz="10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sym typeface="+mn-ea"/>
              </a:rPr>
              <a:t>仓储</a:t>
            </a:r>
            <a:endParaRPr lang="zh-CN" altLang="en-US" sz="10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97" name="紫荆的职场Point75"/>
          <p:cNvSpPr/>
          <p:nvPr/>
        </p:nvSpPr>
        <p:spPr>
          <a:xfrm>
            <a:off x="5451167" y="5584595"/>
            <a:ext cx="422860" cy="242821"/>
          </a:xfrm>
          <a:prstGeom prst="roundRect">
            <a:avLst/>
          </a:prstGeom>
          <a:solidFill>
            <a:schemeClr val="bg1">
              <a:alpha val="80000"/>
            </a:schemeClr>
          </a:solidFill>
          <a:ln>
            <a:solidFill>
              <a:schemeClr val="accent5">
                <a:lumMod val="60000"/>
                <a:lumOff val="40000"/>
              </a:schemeClr>
            </a:solid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r>
              <a:rPr lang="en-US" altLang="zh-CN" sz="600" dirty="0">
                <a:solidFill>
                  <a:schemeClr val="tx2"/>
                </a:solidFill>
                <a:latin typeface="微软雅黑" panose="020B0503020204020204" charset="-122"/>
                <a:ea typeface="微软雅黑" panose="020B0503020204020204" charset="-122"/>
                <a:cs typeface="微软雅黑" panose="020B0503020204020204" charset="-122"/>
              </a:rPr>
              <a:t>WMS</a:t>
            </a:r>
            <a:endParaRPr lang="en-US" altLang="zh-CN" sz="6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98" name="紫荆的职场Point76"/>
          <p:cNvSpPr/>
          <p:nvPr/>
        </p:nvSpPr>
        <p:spPr>
          <a:xfrm>
            <a:off x="5912852" y="5584595"/>
            <a:ext cx="422860" cy="242821"/>
          </a:xfrm>
          <a:prstGeom prst="roundRect">
            <a:avLst/>
          </a:prstGeom>
          <a:solidFill>
            <a:schemeClr val="bg1">
              <a:alpha val="80000"/>
            </a:schemeClr>
          </a:solidFill>
          <a:ln>
            <a:solidFill>
              <a:schemeClr val="accent5">
                <a:lumMod val="60000"/>
                <a:lumOff val="40000"/>
              </a:schemeClr>
            </a:solid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r>
              <a:rPr lang="en-US" altLang="zh-CN" sz="700" dirty="0">
                <a:solidFill>
                  <a:schemeClr val="tx2"/>
                </a:solidFill>
                <a:latin typeface="微软雅黑" panose="020B0503020204020204" charset="-122"/>
                <a:ea typeface="微软雅黑" panose="020B0503020204020204" charset="-122"/>
                <a:cs typeface="微软雅黑" panose="020B0503020204020204" charset="-122"/>
              </a:rPr>
              <a:t>WES</a:t>
            </a:r>
            <a:endParaRPr lang="en-US" altLang="zh-CN"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99" name="紫荆的职场Point77"/>
          <p:cNvSpPr/>
          <p:nvPr/>
        </p:nvSpPr>
        <p:spPr>
          <a:xfrm>
            <a:off x="6379199" y="5584595"/>
            <a:ext cx="422860" cy="242821"/>
          </a:xfrm>
          <a:prstGeom prst="roundRect">
            <a:avLst/>
          </a:prstGeom>
          <a:solidFill>
            <a:schemeClr val="bg1">
              <a:alpha val="80000"/>
            </a:schemeClr>
          </a:solidFill>
          <a:ln>
            <a:solidFill>
              <a:schemeClr val="accent5">
                <a:lumMod val="60000"/>
                <a:lumOff val="40000"/>
              </a:schemeClr>
            </a:solid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r>
              <a:rPr lang="en-US" altLang="zh-CN" sz="700" dirty="0">
                <a:solidFill>
                  <a:schemeClr val="tx2"/>
                </a:solidFill>
                <a:latin typeface="微软雅黑" panose="020B0503020204020204" charset="-122"/>
                <a:ea typeface="微软雅黑" panose="020B0503020204020204" charset="-122"/>
                <a:cs typeface="微软雅黑" panose="020B0503020204020204" charset="-122"/>
              </a:rPr>
              <a:t>WCS</a:t>
            </a:r>
            <a:endParaRPr lang="en-US" altLang="zh-CN"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00" name="紫荆的职场Point78"/>
          <p:cNvSpPr/>
          <p:nvPr/>
        </p:nvSpPr>
        <p:spPr>
          <a:xfrm>
            <a:off x="7028180" y="5329555"/>
            <a:ext cx="1442720" cy="579755"/>
          </a:xfrm>
          <a:prstGeom prst="roundRect">
            <a:avLst>
              <a:gd name="adj" fmla="val 4370"/>
            </a:avLst>
          </a:prstGeom>
          <a:noFill/>
          <a:ln w="9525">
            <a:gradFill flip="none" rotWithShape="1">
              <a:gsLst>
                <a:gs pos="0">
                  <a:schemeClr val="accent5">
                    <a:lumMod val="60000"/>
                    <a:lumOff val="40000"/>
                  </a:schemeClr>
                </a:gs>
                <a:gs pos="100000">
                  <a:schemeClr val="accent5">
                    <a:lumMod val="60000"/>
                    <a:lumOff val="40000"/>
                    <a:alpha val="0"/>
                  </a:schemeClr>
                </a:gs>
              </a:gsLst>
              <a:lin ang="5400000" scaled="1"/>
              <a:tileRect/>
            </a:gra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301" name="紫荆的职场Point79"/>
          <p:cNvSpPr/>
          <p:nvPr/>
        </p:nvSpPr>
        <p:spPr>
          <a:xfrm>
            <a:off x="7356347" y="5234460"/>
            <a:ext cx="786036" cy="216000"/>
          </a:xfrm>
          <a:prstGeom prst="roundRect">
            <a:avLst/>
          </a:prstGeom>
          <a:solidFill>
            <a:schemeClr val="bg1"/>
          </a:solidFill>
          <a:ln w="10859">
            <a:solidFill>
              <a:schemeClr val="accent5">
                <a:lumMod val="60000"/>
                <a:lumOff val="40000"/>
              </a:schemeClr>
            </a:solidFill>
            <a:prstDash val="solid"/>
          </a:ln>
          <a:effectLst>
            <a:outerShdw blurRad="190500" dist="50800" dir="2700000" sx="99000" sy="99000" algn="tl" rotWithShape="0">
              <a:schemeClr val="accent5">
                <a:lumMod val="60000"/>
                <a:lumOff val="40000"/>
                <a:alpha val="15000"/>
              </a:schemeClr>
            </a:outerShdw>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78181" tIns="39091" rIns="78181" bIns="39091" numCol="1" spcCol="0" rtlCol="0" fromWordArt="0" anchor="ctr" anchorCtr="0" forceAA="0" compatLnSpc="1">
            <a:noAutofit/>
          </a:bodyPr>
          <a:lstStyle/>
          <a:p>
            <a:pPr lvl="0" algn="ctr">
              <a:buClrTx/>
              <a:buSzTx/>
              <a:buFontTx/>
            </a:pPr>
            <a:r>
              <a:rPr lang="zh-CN" altLang="en-US" sz="10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sym typeface="+mn-ea"/>
              </a:rPr>
              <a:t>运输</a:t>
            </a:r>
            <a:endParaRPr lang="zh-CN" altLang="en-US" sz="10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02" name="紫荆的职场Point80"/>
          <p:cNvSpPr/>
          <p:nvPr/>
        </p:nvSpPr>
        <p:spPr>
          <a:xfrm>
            <a:off x="7069752" y="5584595"/>
            <a:ext cx="422860" cy="242821"/>
          </a:xfrm>
          <a:prstGeom prst="roundRect">
            <a:avLst/>
          </a:prstGeom>
          <a:solidFill>
            <a:schemeClr val="bg1">
              <a:alpha val="80000"/>
            </a:schemeClr>
          </a:solidFill>
          <a:ln>
            <a:solidFill>
              <a:schemeClr val="accent5">
                <a:lumMod val="60000"/>
                <a:lumOff val="40000"/>
              </a:schemeClr>
            </a:solid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r>
              <a:rPr lang="en-US" altLang="zh-CN" sz="700" dirty="0">
                <a:solidFill>
                  <a:schemeClr val="tx2"/>
                </a:solidFill>
                <a:latin typeface="微软雅黑" panose="020B0503020204020204" charset="-122"/>
                <a:ea typeface="微软雅黑" panose="020B0503020204020204" charset="-122"/>
                <a:cs typeface="微软雅黑" panose="020B0503020204020204" charset="-122"/>
              </a:rPr>
              <a:t>TMS</a:t>
            </a:r>
            <a:endParaRPr lang="en-US" altLang="zh-CN"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04" name="紫荆的职场Point81"/>
          <p:cNvSpPr/>
          <p:nvPr/>
        </p:nvSpPr>
        <p:spPr>
          <a:xfrm>
            <a:off x="7531437" y="5584595"/>
            <a:ext cx="422860" cy="242821"/>
          </a:xfrm>
          <a:prstGeom prst="roundRect">
            <a:avLst/>
          </a:prstGeom>
          <a:solidFill>
            <a:schemeClr val="bg1">
              <a:alpha val="80000"/>
            </a:schemeClr>
          </a:solidFill>
          <a:ln>
            <a:solidFill>
              <a:schemeClr val="accent5">
                <a:lumMod val="60000"/>
                <a:lumOff val="40000"/>
              </a:schemeClr>
            </a:solid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r>
              <a:rPr lang="en-US" altLang="zh-CN" sz="700" dirty="0">
                <a:solidFill>
                  <a:schemeClr val="tx2"/>
                </a:solidFill>
                <a:latin typeface="微软雅黑" panose="020B0503020204020204" charset="-122"/>
                <a:ea typeface="微软雅黑" panose="020B0503020204020204" charset="-122"/>
                <a:cs typeface="微软雅黑" panose="020B0503020204020204" charset="-122"/>
              </a:rPr>
              <a:t>DMS</a:t>
            </a:r>
            <a:endParaRPr lang="en-US" altLang="zh-CN"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06" name="紫荆的职场Point82"/>
          <p:cNvSpPr/>
          <p:nvPr/>
        </p:nvSpPr>
        <p:spPr>
          <a:xfrm>
            <a:off x="7997784" y="5584595"/>
            <a:ext cx="422860" cy="242821"/>
          </a:xfrm>
          <a:prstGeom prst="roundRect">
            <a:avLst/>
          </a:prstGeom>
          <a:solidFill>
            <a:schemeClr val="bg1">
              <a:alpha val="80000"/>
            </a:schemeClr>
          </a:solidFill>
          <a:ln>
            <a:solidFill>
              <a:schemeClr val="accent5">
                <a:lumMod val="60000"/>
                <a:lumOff val="40000"/>
              </a:schemeClr>
            </a:solid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r>
              <a:rPr lang="en-US" altLang="zh-CN" sz="700" dirty="0">
                <a:solidFill>
                  <a:schemeClr val="tx2"/>
                </a:solidFill>
                <a:latin typeface="微软雅黑" panose="020B0503020204020204" charset="-122"/>
                <a:ea typeface="微软雅黑" panose="020B0503020204020204" charset="-122"/>
                <a:cs typeface="微软雅黑" panose="020B0503020204020204" charset="-122"/>
              </a:rPr>
              <a:t>……</a:t>
            </a:r>
            <a:endParaRPr lang="en-US" altLang="zh-CN"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17" name="紫荆的职场Point83"/>
          <p:cNvSpPr/>
          <p:nvPr/>
        </p:nvSpPr>
        <p:spPr>
          <a:xfrm>
            <a:off x="8646795" y="5330190"/>
            <a:ext cx="1442720" cy="579120"/>
          </a:xfrm>
          <a:prstGeom prst="roundRect">
            <a:avLst>
              <a:gd name="adj" fmla="val 4370"/>
            </a:avLst>
          </a:prstGeom>
          <a:noFill/>
          <a:ln w="9525">
            <a:gradFill flip="none" rotWithShape="1">
              <a:gsLst>
                <a:gs pos="0">
                  <a:schemeClr val="accent5">
                    <a:lumMod val="60000"/>
                    <a:lumOff val="40000"/>
                  </a:schemeClr>
                </a:gs>
                <a:gs pos="100000">
                  <a:schemeClr val="accent5">
                    <a:lumMod val="60000"/>
                    <a:lumOff val="40000"/>
                    <a:alpha val="0"/>
                  </a:schemeClr>
                </a:gs>
              </a:gsLst>
              <a:lin ang="5400000" scaled="1"/>
              <a:tileRect/>
            </a:grad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318" name="紫荆的职场Point84"/>
          <p:cNvSpPr/>
          <p:nvPr/>
        </p:nvSpPr>
        <p:spPr>
          <a:xfrm>
            <a:off x="8974931" y="5234460"/>
            <a:ext cx="786036" cy="216000"/>
          </a:xfrm>
          <a:prstGeom prst="roundRect">
            <a:avLst/>
          </a:prstGeom>
          <a:solidFill>
            <a:schemeClr val="bg1"/>
          </a:solidFill>
          <a:ln w="10859">
            <a:solidFill>
              <a:schemeClr val="accent5">
                <a:lumMod val="60000"/>
                <a:lumOff val="40000"/>
              </a:schemeClr>
            </a:solidFill>
            <a:prstDash val="solid"/>
          </a:ln>
          <a:effectLst>
            <a:outerShdw blurRad="190500" dist="50800" dir="2700000" sx="99000" sy="99000" algn="tl" rotWithShape="0">
              <a:schemeClr val="accent5">
                <a:lumMod val="60000"/>
                <a:lumOff val="40000"/>
                <a:alpha val="15000"/>
              </a:schemeClr>
            </a:outerShdw>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78181" tIns="39091" rIns="78181" bIns="39091" numCol="1" spcCol="0" rtlCol="0" fromWordArt="0" anchor="ctr" anchorCtr="0" forceAA="0" compatLnSpc="1">
            <a:noAutofit/>
          </a:bodyPr>
          <a:lstStyle/>
          <a:p>
            <a:pPr lvl="0" algn="ctr">
              <a:buClrTx/>
              <a:buSzTx/>
              <a:buFontTx/>
            </a:pPr>
            <a:r>
              <a:rPr lang="zh-CN" altLang="en-US" sz="10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sym typeface="+mn-ea"/>
              </a:rPr>
              <a:t>财务</a:t>
            </a:r>
            <a:endParaRPr lang="zh-CN" altLang="en-US" sz="10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19" name="紫荆的职场Point85"/>
          <p:cNvSpPr/>
          <p:nvPr/>
        </p:nvSpPr>
        <p:spPr>
          <a:xfrm>
            <a:off x="8688336" y="5584595"/>
            <a:ext cx="422860" cy="242821"/>
          </a:xfrm>
          <a:prstGeom prst="roundRect">
            <a:avLst/>
          </a:prstGeom>
          <a:solidFill>
            <a:schemeClr val="bg1">
              <a:alpha val="80000"/>
            </a:schemeClr>
          </a:solidFill>
          <a:ln>
            <a:solidFill>
              <a:schemeClr val="accent5">
                <a:lumMod val="60000"/>
                <a:lumOff val="40000"/>
              </a:schemeClr>
            </a:solid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r>
              <a:rPr lang="en-US" altLang="zh-CN" sz="700" dirty="0">
                <a:solidFill>
                  <a:schemeClr val="tx2"/>
                </a:solidFill>
                <a:latin typeface="微软雅黑" panose="020B0503020204020204" charset="-122"/>
                <a:ea typeface="微软雅黑" panose="020B0503020204020204" charset="-122"/>
                <a:cs typeface="微软雅黑" panose="020B0503020204020204" charset="-122"/>
              </a:rPr>
              <a:t>BMS</a:t>
            </a:r>
            <a:endParaRPr lang="en-US" altLang="zh-CN"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0" name="紫荆的职场Point86"/>
          <p:cNvSpPr/>
          <p:nvPr/>
        </p:nvSpPr>
        <p:spPr>
          <a:xfrm>
            <a:off x="9150021" y="5584595"/>
            <a:ext cx="422860" cy="242821"/>
          </a:xfrm>
          <a:prstGeom prst="roundRect">
            <a:avLst/>
          </a:prstGeom>
          <a:solidFill>
            <a:schemeClr val="bg1">
              <a:alpha val="80000"/>
            </a:schemeClr>
          </a:solidFill>
          <a:ln>
            <a:solidFill>
              <a:schemeClr val="accent5">
                <a:lumMod val="60000"/>
                <a:lumOff val="40000"/>
              </a:schemeClr>
            </a:solid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r>
              <a:rPr lang="en-US" altLang="zh-CN" sz="700" dirty="0">
                <a:solidFill>
                  <a:schemeClr val="tx2"/>
                </a:solidFill>
                <a:latin typeface="微软雅黑" panose="020B0503020204020204" charset="-122"/>
                <a:ea typeface="微软雅黑" panose="020B0503020204020204" charset="-122"/>
                <a:cs typeface="微软雅黑" panose="020B0503020204020204" charset="-122"/>
              </a:rPr>
              <a:t>FMS</a:t>
            </a:r>
            <a:endParaRPr lang="en-US" altLang="zh-CN"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1" name="紫荆的职场Point87"/>
          <p:cNvSpPr/>
          <p:nvPr/>
        </p:nvSpPr>
        <p:spPr>
          <a:xfrm>
            <a:off x="9603740" y="5584825"/>
            <a:ext cx="413385" cy="234950"/>
          </a:xfrm>
          <a:prstGeom prst="roundRect">
            <a:avLst/>
          </a:prstGeom>
          <a:solidFill>
            <a:schemeClr val="bg1">
              <a:alpha val="80000"/>
            </a:schemeClr>
          </a:solidFill>
          <a:ln>
            <a:solidFill>
              <a:schemeClr val="accent5">
                <a:lumMod val="60000"/>
                <a:lumOff val="40000"/>
              </a:schemeClr>
            </a:solid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r>
              <a:rPr lang="en-US" altLang="zh-CN" sz="700" dirty="0">
                <a:solidFill>
                  <a:schemeClr val="tx2"/>
                </a:solidFill>
                <a:latin typeface="微软雅黑" panose="020B0503020204020204" charset="-122"/>
                <a:ea typeface="微软雅黑" panose="020B0503020204020204" charset="-122"/>
                <a:cs typeface="微软雅黑" panose="020B0503020204020204" charset="-122"/>
              </a:rPr>
              <a:t>ERP</a:t>
            </a:r>
            <a:endParaRPr lang="en-US" altLang="zh-CN" sz="7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2" name="紫荆的职场Point62"/>
          <p:cNvSpPr txBox="1"/>
          <p:nvPr/>
        </p:nvSpPr>
        <p:spPr>
          <a:xfrm>
            <a:off x="5599113" y="4977218"/>
            <a:ext cx="1254125" cy="275590"/>
          </a:xfrm>
          <a:prstGeom prst="rect">
            <a:avLst/>
          </a:prstGeom>
          <a:noFill/>
        </p:spPr>
        <p:txBody>
          <a:bodyPr wrap="none">
            <a:spAutoFit/>
          </a:bodyPr>
          <a:lstStyle/>
          <a:p>
            <a:pPr algn="ctr"/>
            <a:r>
              <a:rPr lang="zh-CN" altLang="en-US" sz="1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供应链执行系统</a:t>
            </a:r>
            <a:endParaRPr lang="zh-CN" altLang="en-US" sz="12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nvGrpSpPr>
          <p:cNvPr id="323" name="组合 322"/>
          <p:cNvGrpSpPr/>
          <p:nvPr/>
        </p:nvGrpSpPr>
        <p:grpSpPr>
          <a:xfrm>
            <a:off x="1951355" y="5950024"/>
            <a:ext cx="8426998" cy="729655"/>
            <a:chOff x="3001" y="10759"/>
            <a:chExt cx="11667" cy="5468"/>
          </a:xfrm>
        </p:grpSpPr>
        <p:sp>
          <p:nvSpPr>
            <p:cNvPr id="324" name="@显眼包PPT6"/>
            <p:cNvSpPr/>
            <p:nvPr/>
          </p:nvSpPr>
          <p:spPr>
            <a:xfrm>
              <a:off x="3001" y="11211"/>
              <a:ext cx="11457" cy="4954"/>
            </a:xfrm>
            <a:prstGeom prst="rect">
              <a:avLst/>
            </a:prstGeom>
            <a:solidFill>
              <a:schemeClr val="accent1">
                <a:lumMod val="20000"/>
                <a:lumOff val="80000"/>
                <a:alpha val="50000"/>
              </a:schemeClr>
            </a:solidFill>
            <a:ln>
              <a:solidFill>
                <a:schemeClr val="accent1">
                  <a:lumMod val="40000"/>
                  <a:lumOff val="6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25" name="@显眼包PPT43"/>
            <p:cNvSpPr/>
            <p:nvPr/>
          </p:nvSpPr>
          <p:spPr>
            <a:xfrm rot="16200000" flipV="1">
              <a:off x="11829" y="13388"/>
              <a:ext cx="5468" cy="210"/>
            </a:xfrm>
            <a:prstGeom prst="parallelogram">
              <a:avLst>
                <a:gd name="adj" fmla="val 34130"/>
              </a:avLst>
            </a:prstGeom>
            <a:gradFill>
              <a:gsLst>
                <a:gs pos="0">
                  <a:schemeClr val="accent1">
                    <a:lumMod val="20000"/>
                    <a:lumOff val="80000"/>
                  </a:schemeClr>
                </a:gs>
                <a:gs pos="100000">
                  <a:schemeClr val="accent1">
                    <a:lumMod val="20000"/>
                    <a:lumOff val="80000"/>
                    <a:alpha val="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j-ea"/>
              </a:endParaRPr>
            </a:p>
          </p:txBody>
        </p:sp>
      </p:grpSp>
      <p:grpSp>
        <p:nvGrpSpPr>
          <p:cNvPr id="358" name="组合 357"/>
          <p:cNvGrpSpPr/>
          <p:nvPr/>
        </p:nvGrpSpPr>
        <p:grpSpPr>
          <a:xfrm>
            <a:off x="2108835" y="6062980"/>
            <a:ext cx="889000" cy="502920"/>
            <a:chOff x="3321" y="9512"/>
            <a:chExt cx="1400" cy="792"/>
          </a:xfrm>
        </p:grpSpPr>
        <p:sp>
          <p:nvSpPr>
            <p:cNvPr id="326" name="紫荆的职场Point88"/>
            <p:cNvSpPr/>
            <p:nvPr/>
          </p:nvSpPr>
          <p:spPr>
            <a:xfrm>
              <a:off x="3321" y="9512"/>
              <a:ext cx="1401" cy="88"/>
            </a:xfrm>
            <a:prstGeom prst="trapezoid">
              <a:avLst>
                <a:gd name="adj" fmla="val 164557"/>
              </a:avLst>
            </a:prstGeom>
            <a:gradFill>
              <a:gsLst>
                <a:gs pos="0">
                  <a:schemeClr val="accent1">
                    <a:lumMod val="40000"/>
                    <a:lumOff val="60000"/>
                    <a:alpha val="0"/>
                  </a:schemeClr>
                </a:gs>
                <a:gs pos="100000">
                  <a:schemeClr val="accent1">
                    <a:lumMod val="40000"/>
                    <a:lumOff val="60000"/>
                  </a:schemeClr>
                </a:gs>
              </a:gsLst>
              <a:lin ang="5400000" scaled="1"/>
            </a:gradFill>
            <a:ln>
              <a:no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327" name="紫荆的职场Point89"/>
            <p:cNvSpPr/>
            <p:nvPr/>
          </p:nvSpPr>
          <p:spPr>
            <a:xfrm>
              <a:off x="3323" y="9600"/>
              <a:ext cx="1394" cy="704"/>
            </a:xfrm>
            <a:prstGeom prst="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349" name="紫荆的职场Point106"/>
            <p:cNvSpPr txBox="1"/>
            <p:nvPr/>
          </p:nvSpPr>
          <p:spPr>
            <a:xfrm>
              <a:off x="3418" y="9738"/>
              <a:ext cx="1260" cy="449"/>
            </a:xfrm>
            <a:prstGeom prst="rect">
              <a:avLst/>
            </a:prstGeom>
            <a:noFill/>
          </p:spPr>
          <p:txBody>
            <a:bodyPr wrap="none">
              <a:spAutoFit/>
            </a:bodyPr>
            <a:lstStyle/>
            <a:p>
              <a:pPr algn="ctr"/>
              <a:r>
                <a:rPr lang="zh-CN" altLang="en-US" sz="1200" b="1" dirty="0">
                  <a:solidFill>
                    <a:srgbClr val="FFFFFF"/>
                  </a:solidFill>
                  <a:latin typeface="微软雅黑" panose="020B0503020204020204" charset="-122"/>
                  <a:ea typeface="微软雅黑" panose="020B0503020204020204" charset="-122"/>
                  <a:cs typeface="微软雅黑" panose="020B0503020204020204" charset="-122"/>
                </a:rPr>
                <a:t>自营工厂</a:t>
              </a:r>
              <a:endParaRPr lang="zh-CN" altLang="en-US" sz="1200" b="1" dirty="0">
                <a:solidFill>
                  <a:srgbClr val="FFFFFF"/>
                </a:solidFill>
                <a:latin typeface="微软雅黑" panose="020B0503020204020204" charset="-122"/>
                <a:ea typeface="微软雅黑" panose="020B0503020204020204" charset="-122"/>
                <a:cs typeface="微软雅黑" panose="020B0503020204020204" charset="-122"/>
              </a:endParaRPr>
            </a:p>
          </p:txBody>
        </p:sp>
      </p:grpSp>
      <p:grpSp>
        <p:nvGrpSpPr>
          <p:cNvPr id="360" name="组合 359"/>
          <p:cNvGrpSpPr/>
          <p:nvPr/>
        </p:nvGrpSpPr>
        <p:grpSpPr>
          <a:xfrm>
            <a:off x="3112135" y="6062980"/>
            <a:ext cx="902335" cy="502920"/>
            <a:chOff x="4796" y="9512"/>
            <a:chExt cx="1421" cy="792"/>
          </a:xfrm>
        </p:grpSpPr>
        <p:sp>
          <p:nvSpPr>
            <p:cNvPr id="328" name="紫荆的职场Point90"/>
            <p:cNvSpPr/>
            <p:nvPr/>
          </p:nvSpPr>
          <p:spPr>
            <a:xfrm>
              <a:off x="4796" y="9512"/>
              <a:ext cx="1401" cy="88"/>
            </a:xfrm>
            <a:prstGeom prst="trapezoid">
              <a:avLst>
                <a:gd name="adj" fmla="val 164557"/>
              </a:avLst>
            </a:prstGeom>
            <a:gradFill>
              <a:gsLst>
                <a:gs pos="0">
                  <a:schemeClr val="accent1">
                    <a:lumMod val="40000"/>
                    <a:lumOff val="60000"/>
                    <a:alpha val="0"/>
                  </a:schemeClr>
                </a:gs>
                <a:gs pos="100000">
                  <a:schemeClr val="accent1">
                    <a:lumMod val="40000"/>
                    <a:lumOff val="60000"/>
                  </a:schemeClr>
                </a:gs>
              </a:gsLst>
              <a:lin ang="5400000" scaled="1"/>
            </a:gra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329" name="紫荆的职场Point91"/>
            <p:cNvSpPr/>
            <p:nvPr/>
          </p:nvSpPr>
          <p:spPr>
            <a:xfrm>
              <a:off x="4798" y="9600"/>
              <a:ext cx="1394" cy="704"/>
            </a:xfrm>
            <a:prstGeom prst="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350" name="紫荆的职场Point107"/>
            <p:cNvSpPr txBox="1"/>
            <p:nvPr/>
          </p:nvSpPr>
          <p:spPr>
            <a:xfrm>
              <a:off x="4861" y="9738"/>
              <a:ext cx="1356" cy="449"/>
            </a:xfrm>
            <a:prstGeom prst="rect">
              <a:avLst/>
            </a:prstGeom>
            <a:noFill/>
          </p:spPr>
          <p:txBody>
            <a:bodyPr wrap="none">
              <a:spAutoFit/>
            </a:bodyPr>
            <a:lstStyle/>
            <a:p>
              <a:pPr algn="ctr"/>
              <a:r>
                <a:rPr lang="en-US" altLang="zh-CN" sz="1200" b="1" dirty="0">
                  <a:solidFill>
                    <a:srgbClr val="FFFFFF"/>
                  </a:solidFill>
                  <a:latin typeface="微软雅黑" panose="020B0503020204020204" charset="-122"/>
                  <a:ea typeface="微软雅黑" panose="020B0503020204020204" charset="-122"/>
                  <a:cs typeface="微软雅黑" panose="020B0503020204020204" charset="-122"/>
                </a:rPr>
                <a:t>ODM</a:t>
              </a:r>
              <a:r>
                <a:rPr lang="zh-CN" altLang="en-US" sz="1200" b="1" dirty="0">
                  <a:solidFill>
                    <a:srgbClr val="FFFFFF"/>
                  </a:solidFill>
                  <a:latin typeface="微软雅黑" panose="020B0503020204020204" charset="-122"/>
                  <a:ea typeface="微软雅黑" panose="020B0503020204020204" charset="-122"/>
                  <a:cs typeface="微软雅黑" panose="020B0503020204020204" charset="-122"/>
                </a:rPr>
                <a:t>工厂</a:t>
              </a:r>
              <a:endParaRPr lang="zh-CN" altLang="en-US" sz="1200" b="1" dirty="0">
                <a:solidFill>
                  <a:srgbClr val="FFFFFF"/>
                </a:solidFill>
                <a:latin typeface="微软雅黑" panose="020B0503020204020204" charset="-122"/>
                <a:ea typeface="微软雅黑" panose="020B0503020204020204" charset="-122"/>
                <a:cs typeface="微软雅黑" panose="020B0503020204020204" charset="-122"/>
              </a:endParaRPr>
            </a:p>
          </p:txBody>
        </p:sp>
      </p:grpSp>
      <p:grpSp>
        <p:nvGrpSpPr>
          <p:cNvPr id="361" name="组合 360"/>
          <p:cNvGrpSpPr/>
          <p:nvPr/>
        </p:nvGrpSpPr>
        <p:grpSpPr>
          <a:xfrm>
            <a:off x="4128770" y="6062980"/>
            <a:ext cx="889000" cy="502920"/>
            <a:chOff x="6271" y="9512"/>
            <a:chExt cx="1400" cy="792"/>
          </a:xfrm>
        </p:grpSpPr>
        <p:sp>
          <p:nvSpPr>
            <p:cNvPr id="330" name="紫荆的职场Point92"/>
            <p:cNvSpPr/>
            <p:nvPr/>
          </p:nvSpPr>
          <p:spPr>
            <a:xfrm>
              <a:off x="6271" y="9512"/>
              <a:ext cx="1401" cy="88"/>
            </a:xfrm>
            <a:prstGeom prst="trapezoid">
              <a:avLst>
                <a:gd name="adj" fmla="val 164557"/>
              </a:avLst>
            </a:prstGeom>
            <a:gradFill>
              <a:gsLst>
                <a:gs pos="0">
                  <a:schemeClr val="accent1">
                    <a:lumMod val="40000"/>
                    <a:lumOff val="60000"/>
                    <a:alpha val="0"/>
                  </a:schemeClr>
                </a:gs>
                <a:gs pos="100000">
                  <a:schemeClr val="accent1">
                    <a:lumMod val="40000"/>
                    <a:lumOff val="60000"/>
                  </a:schemeClr>
                </a:gs>
              </a:gsLst>
              <a:lin ang="5400000" scaled="1"/>
            </a:gra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331" name="紫荆的职场Point93"/>
            <p:cNvSpPr/>
            <p:nvPr/>
          </p:nvSpPr>
          <p:spPr>
            <a:xfrm>
              <a:off x="6272" y="9600"/>
              <a:ext cx="1394" cy="704"/>
            </a:xfrm>
            <a:prstGeom prst="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351" name="紫荆的职场Point108"/>
            <p:cNvSpPr txBox="1"/>
            <p:nvPr/>
          </p:nvSpPr>
          <p:spPr>
            <a:xfrm>
              <a:off x="6462" y="9738"/>
              <a:ext cx="1018" cy="449"/>
            </a:xfrm>
            <a:prstGeom prst="rect">
              <a:avLst/>
            </a:prstGeom>
            <a:noFill/>
          </p:spPr>
          <p:txBody>
            <a:bodyPr wrap="none">
              <a:spAutoFit/>
            </a:bodyPr>
            <a:lstStyle/>
            <a:p>
              <a:pPr algn="ctr"/>
              <a:r>
                <a:rPr lang="zh-CN" altLang="en-US" sz="1200" b="1">
                  <a:solidFill>
                    <a:srgbClr val="FFFFFF"/>
                  </a:solidFill>
                  <a:latin typeface="微软雅黑" panose="020B0503020204020204" charset="-122"/>
                  <a:ea typeface="微软雅黑" panose="020B0503020204020204" charset="-122"/>
                  <a:cs typeface="微软雅黑" panose="020B0503020204020204" charset="-122"/>
                </a:rPr>
                <a:t>供应商</a:t>
              </a:r>
              <a:endParaRPr lang="zh-CN" altLang="en-US" sz="1200" b="1" dirty="0">
                <a:solidFill>
                  <a:srgbClr val="FFFFFF"/>
                </a:solidFill>
                <a:latin typeface="微软雅黑" panose="020B0503020204020204" charset="-122"/>
                <a:ea typeface="微软雅黑" panose="020B0503020204020204" charset="-122"/>
                <a:cs typeface="微软雅黑" panose="020B0503020204020204" charset="-122"/>
              </a:endParaRPr>
            </a:p>
          </p:txBody>
        </p:sp>
      </p:grpSp>
      <p:grpSp>
        <p:nvGrpSpPr>
          <p:cNvPr id="363" name="组合 362"/>
          <p:cNvGrpSpPr/>
          <p:nvPr/>
        </p:nvGrpSpPr>
        <p:grpSpPr>
          <a:xfrm>
            <a:off x="5132070" y="6062980"/>
            <a:ext cx="889000" cy="502920"/>
            <a:chOff x="7745" y="9512"/>
            <a:chExt cx="1400" cy="792"/>
          </a:xfrm>
        </p:grpSpPr>
        <p:sp>
          <p:nvSpPr>
            <p:cNvPr id="332" name="紫荆的职场Point94"/>
            <p:cNvSpPr/>
            <p:nvPr/>
          </p:nvSpPr>
          <p:spPr>
            <a:xfrm>
              <a:off x="7745" y="9512"/>
              <a:ext cx="1401" cy="88"/>
            </a:xfrm>
            <a:prstGeom prst="trapezoid">
              <a:avLst>
                <a:gd name="adj" fmla="val 164557"/>
              </a:avLst>
            </a:prstGeom>
            <a:gradFill>
              <a:gsLst>
                <a:gs pos="0">
                  <a:schemeClr val="accent1">
                    <a:lumMod val="40000"/>
                    <a:lumOff val="60000"/>
                    <a:alpha val="0"/>
                  </a:schemeClr>
                </a:gs>
                <a:gs pos="100000">
                  <a:schemeClr val="accent1">
                    <a:lumMod val="40000"/>
                    <a:lumOff val="60000"/>
                  </a:schemeClr>
                </a:gs>
              </a:gsLst>
              <a:lin ang="5400000" scaled="1"/>
            </a:gra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333" name="紫荆的职场Point95"/>
            <p:cNvSpPr/>
            <p:nvPr/>
          </p:nvSpPr>
          <p:spPr>
            <a:xfrm>
              <a:off x="7747" y="9600"/>
              <a:ext cx="1394" cy="704"/>
            </a:xfrm>
            <a:prstGeom prst="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352" name="紫荆的职场Point109"/>
            <p:cNvSpPr txBox="1"/>
            <p:nvPr/>
          </p:nvSpPr>
          <p:spPr>
            <a:xfrm>
              <a:off x="7963" y="9738"/>
              <a:ext cx="1018" cy="449"/>
            </a:xfrm>
            <a:prstGeom prst="rect">
              <a:avLst/>
            </a:prstGeom>
            <a:noFill/>
          </p:spPr>
          <p:txBody>
            <a:bodyPr wrap="none">
              <a:spAutoFit/>
            </a:bodyPr>
            <a:lstStyle/>
            <a:p>
              <a:pPr algn="ctr"/>
              <a:r>
                <a:rPr lang="zh-CN" altLang="en-US" sz="1200" b="1">
                  <a:solidFill>
                    <a:srgbClr val="FFFFFF"/>
                  </a:solidFill>
                  <a:latin typeface="微软雅黑" panose="020B0503020204020204" charset="-122"/>
                  <a:ea typeface="微软雅黑" panose="020B0503020204020204" charset="-122"/>
                  <a:cs typeface="微软雅黑" panose="020B0503020204020204" charset="-122"/>
                </a:rPr>
                <a:t>自营仓</a:t>
              </a:r>
              <a:endParaRPr lang="zh-CN" altLang="en-US" sz="1200" b="1" dirty="0">
                <a:solidFill>
                  <a:srgbClr val="FFFFFF"/>
                </a:solidFill>
                <a:latin typeface="微软雅黑" panose="020B0503020204020204" charset="-122"/>
                <a:ea typeface="微软雅黑" panose="020B0503020204020204" charset="-122"/>
                <a:cs typeface="微软雅黑" panose="020B0503020204020204" charset="-122"/>
              </a:endParaRPr>
            </a:p>
          </p:txBody>
        </p:sp>
      </p:grpSp>
      <p:grpSp>
        <p:nvGrpSpPr>
          <p:cNvPr id="364" name="组合 363"/>
          <p:cNvGrpSpPr/>
          <p:nvPr/>
        </p:nvGrpSpPr>
        <p:grpSpPr>
          <a:xfrm>
            <a:off x="6135370" y="6062980"/>
            <a:ext cx="949960" cy="502920"/>
            <a:chOff x="10670" y="9512"/>
            <a:chExt cx="1496" cy="792"/>
          </a:xfrm>
        </p:grpSpPr>
        <p:sp>
          <p:nvSpPr>
            <p:cNvPr id="336" name="紫荆的职场Point98"/>
            <p:cNvSpPr/>
            <p:nvPr/>
          </p:nvSpPr>
          <p:spPr>
            <a:xfrm>
              <a:off x="10692" y="9512"/>
              <a:ext cx="1401" cy="88"/>
            </a:xfrm>
            <a:prstGeom prst="trapezoid">
              <a:avLst>
                <a:gd name="adj" fmla="val 164557"/>
              </a:avLst>
            </a:prstGeom>
            <a:gradFill>
              <a:gsLst>
                <a:gs pos="0">
                  <a:schemeClr val="accent1">
                    <a:lumMod val="40000"/>
                    <a:lumOff val="60000"/>
                    <a:alpha val="0"/>
                  </a:schemeClr>
                </a:gs>
                <a:gs pos="100000">
                  <a:schemeClr val="accent1">
                    <a:lumMod val="40000"/>
                    <a:lumOff val="60000"/>
                  </a:schemeClr>
                </a:gs>
              </a:gsLst>
              <a:lin ang="5400000" scaled="1"/>
            </a:gra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337" name="紫荆的职场Point99"/>
            <p:cNvSpPr/>
            <p:nvPr/>
          </p:nvSpPr>
          <p:spPr>
            <a:xfrm>
              <a:off x="10693" y="9600"/>
              <a:ext cx="1394" cy="704"/>
            </a:xfrm>
            <a:prstGeom prst="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354" name="紫荆的职场Point111"/>
            <p:cNvSpPr txBox="1"/>
            <p:nvPr/>
          </p:nvSpPr>
          <p:spPr>
            <a:xfrm>
              <a:off x="10670" y="9738"/>
              <a:ext cx="1497" cy="425"/>
            </a:xfrm>
            <a:prstGeom prst="rect">
              <a:avLst/>
            </a:prstGeom>
            <a:noFill/>
          </p:spPr>
          <p:txBody>
            <a:bodyPr wrap="none">
              <a:spAutoFit/>
            </a:bodyPr>
            <a:lstStyle/>
            <a:p>
              <a:pPr algn="ctr"/>
              <a:r>
                <a:rPr lang="zh-CN" altLang="en-US" sz="1050" b="1" dirty="0">
                  <a:solidFill>
                    <a:srgbClr val="FFFFFF"/>
                  </a:solidFill>
                  <a:latin typeface="微软雅黑" panose="020B0503020204020204" charset="-122"/>
                  <a:ea typeface="微软雅黑" panose="020B0503020204020204" charset="-122"/>
                  <a:cs typeface="微软雅黑" panose="020B0503020204020204" charset="-122"/>
                </a:rPr>
                <a:t>渠道</a:t>
              </a:r>
              <a:r>
                <a:rPr lang="en-US" altLang="zh-CN" sz="1050" b="1" dirty="0">
                  <a:solidFill>
                    <a:srgbClr val="FFFFFF"/>
                  </a:solidFill>
                  <a:latin typeface="微软雅黑" panose="020B0503020204020204" charset="-122"/>
                  <a:ea typeface="微软雅黑" panose="020B0503020204020204" charset="-122"/>
                  <a:cs typeface="微软雅黑" panose="020B0503020204020204" charset="-122"/>
                </a:rPr>
                <a:t>/</a:t>
              </a:r>
              <a:r>
                <a:rPr lang="zh-CN" altLang="en-US" sz="1050" b="1" dirty="0">
                  <a:solidFill>
                    <a:srgbClr val="FFFFFF"/>
                  </a:solidFill>
                  <a:latin typeface="微软雅黑" panose="020B0503020204020204" charset="-122"/>
                  <a:ea typeface="微软雅黑" panose="020B0503020204020204" charset="-122"/>
                  <a:cs typeface="微软雅黑" panose="020B0503020204020204" charset="-122"/>
                </a:rPr>
                <a:t>门店仓</a:t>
              </a:r>
              <a:endParaRPr lang="zh-CN" altLang="en-US" sz="1050" b="1" dirty="0">
                <a:solidFill>
                  <a:srgbClr val="FFFFFF"/>
                </a:solidFill>
                <a:latin typeface="微软雅黑" panose="020B0503020204020204" charset="-122"/>
                <a:ea typeface="微软雅黑" panose="020B0503020204020204" charset="-122"/>
                <a:cs typeface="微软雅黑" panose="020B0503020204020204" charset="-122"/>
              </a:endParaRPr>
            </a:p>
          </p:txBody>
        </p:sp>
      </p:grpSp>
      <p:grpSp>
        <p:nvGrpSpPr>
          <p:cNvPr id="365" name="组合 364"/>
          <p:cNvGrpSpPr/>
          <p:nvPr/>
        </p:nvGrpSpPr>
        <p:grpSpPr>
          <a:xfrm>
            <a:off x="7199630" y="6062980"/>
            <a:ext cx="889000" cy="502920"/>
            <a:chOff x="12170" y="9512"/>
            <a:chExt cx="1400" cy="792"/>
          </a:xfrm>
        </p:grpSpPr>
        <p:sp>
          <p:nvSpPr>
            <p:cNvPr id="338" name="紫荆的职场Point100"/>
            <p:cNvSpPr/>
            <p:nvPr/>
          </p:nvSpPr>
          <p:spPr>
            <a:xfrm>
              <a:off x="12170" y="9512"/>
              <a:ext cx="1401" cy="88"/>
            </a:xfrm>
            <a:prstGeom prst="trapezoid">
              <a:avLst>
                <a:gd name="adj" fmla="val 164557"/>
              </a:avLst>
            </a:prstGeom>
            <a:gradFill>
              <a:gsLst>
                <a:gs pos="0">
                  <a:schemeClr val="accent1">
                    <a:lumMod val="40000"/>
                    <a:lumOff val="60000"/>
                    <a:alpha val="0"/>
                  </a:schemeClr>
                </a:gs>
                <a:gs pos="100000">
                  <a:schemeClr val="accent1">
                    <a:lumMod val="40000"/>
                    <a:lumOff val="60000"/>
                  </a:schemeClr>
                </a:gs>
              </a:gsLst>
              <a:lin ang="5400000" scaled="1"/>
            </a:gra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344" name="紫荆的职场Point101"/>
            <p:cNvSpPr/>
            <p:nvPr/>
          </p:nvSpPr>
          <p:spPr>
            <a:xfrm>
              <a:off x="12171" y="9600"/>
              <a:ext cx="1394" cy="704"/>
            </a:xfrm>
            <a:prstGeom prst="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355" name="紫荆的职场Point112"/>
            <p:cNvSpPr txBox="1"/>
            <p:nvPr/>
          </p:nvSpPr>
          <p:spPr>
            <a:xfrm>
              <a:off x="12433" y="9738"/>
              <a:ext cx="927" cy="412"/>
            </a:xfrm>
            <a:prstGeom prst="rect">
              <a:avLst/>
            </a:prstGeom>
            <a:noFill/>
          </p:spPr>
          <p:txBody>
            <a:bodyPr wrap="none">
              <a:spAutoFit/>
            </a:bodyPr>
            <a:lstStyle/>
            <a:p>
              <a:pPr algn="ctr"/>
              <a:r>
                <a:rPr lang="zh-CN" altLang="en-US" sz="1050" b="1">
                  <a:solidFill>
                    <a:srgbClr val="FFFFFF"/>
                  </a:solidFill>
                  <a:latin typeface="微软雅黑" panose="020B0503020204020204" charset="-122"/>
                  <a:ea typeface="微软雅黑" panose="020B0503020204020204" charset="-122"/>
                  <a:cs typeface="微软雅黑" panose="020B0503020204020204" charset="-122"/>
                </a:rPr>
                <a:t>经销商</a:t>
              </a:r>
              <a:endParaRPr lang="zh-CN" altLang="en-US" sz="1050" b="1" dirty="0">
                <a:solidFill>
                  <a:srgbClr val="FFFFFF"/>
                </a:solidFill>
                <a:latin typeface="微软雅黑" panose="020B0503020204020204" charset="-122"/>
                <a:ea typeface="微软雅黑" panose="020B0503020204020204" charset="-122"/>
                <a:cs typeface="微软雅黑" panose="020B0503020204020204" charset="-122"/>
              </a:endParaRPr>
            </a:p>
          </p:txBody>
        </p:sp>
      </p:grpSp>
      <p:grpSp>
        <p:nvGrpSpPr>
          <p:cNvPr id="366" name="组合 365"/>
          <p:cNvGrpSpPr/>
          <p:nvPr/>
        </p:nvGrpSpPr>
        <p:grpSpPr>
          <a:xfrm>
            <a:off x="8202930" y="6062980"/>
            <a:ext cx="889000" cy="502920"/>
            <a:chOff x="13645" y="9512"/>
            <a:chExt cx="1400" cy="792"/>
          </a:xfrm>
        </p:grpSpPr>
        <p:sp>
          <p:nvSpPr>
            <p:cNvPr id="345" name="紫荆的职场Point102"/>
            <p:cNvSpPr/>
            <p:nvPr/>
          </p:nvSpPr>
          <p:spPr>
            <a:xfrm>
              <a:off x="13645" y="9512"/>
              <a:ext cx="1401" cy="88"/>
            </a:xfrm>
            <a:prstGeom prst="trapezoid">
              <a:avLst>
                <a:gd name="adj" fmla="val 164557"/>
              </a:avLst>
            </a:prstGeom>
            <a:gradFill>
              <a:gsLst>
                <a:gs pos="0">
                  <a:schemeClr val="accent1">
                    <a:lumMod val="40000"/>
                    <a:lumOff val="60000"/>
                    <a:alpha val="0"/>
                  </a:schemeClr>
                </a:gs>
                <a:gs pos="100000">
                  <a:schemeClr val="accent1">
                    <a:lumMod val="40000"/>
                    <a:lumOff val="60000"/>
                  </a:schemeClr>
                </a:gs>
              </a:gsLst>
              <a:lin ang="5400000" scaled="1"/>
            </a:gra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346" name="紫荆的职场Point103"/>
            <p:cNvSpPr/>
            <p:nvPr/>
          </p:nvSpPr>
          <p:spPr>
            <a:xfrm>
              <a:off x="13646" y="9600"/>
              <a:ext cx="1394" cy="704"/>
            </a:xfrm>
            <a:prstGeom prst="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356" name="紫荆的职场Point113"/>
            <p:cNvSpPr txBox="1"/>
            <p:nvPr/>
          </p:nvSpPr>
          <p:spPr>
            <a:xfrm>
              <a:off x="13802" y="9738"/>
              <a:ext cx="1139" cy="412"/>
            </a:xfrm>
            <a:prstGeom prst="rect">
              <a:avLst/>
            </a:prstGeom>
            <a:noFill/>
          </p:spPr>
          <p:txBody>
            <a:bodyPr wrap="none">
              <a:spAutoFit/>
            </a:bodyPr>
            <a:lstStyle/>
            <a:p>
              <a:pPr algn="ctr"/>
              <a:r>
                <a:rPr lang="zh-CN" altLang="en-US" sz="1050" b="1">
                  <a:solidFill>
                    <a:srgbClr val="FFFFFF"/>
                  </a:solidFill>
                  <a:latin typeface="微软雅黑" panose="020B0503020204020204" charset="-122"/>
                  <a:ea typeface="微软雅黑" panose="020B0503020204020204" charset="-122"/>
                  <a:cs typeface="微软雅黑" panose="020B0503020204020204" charset="-122"/>
                </a:rPr>
                <a:t>电商平台</a:t>
              </a:r>
              <a:endParaRPr lang="zh-CN" altLang="en-US" sz="1050" b="1" dirty="0">
                <a:solidFill>
                  <a:srgbClr val="FFFFFF"/>
                </a:solidFill>
                <a:latin typeface="微软雅黑" panose="020B0503020204020204" charset="-122"/>
                <a:ea typeface="微软雅黑" panose="020B0503020204020204" charset="-122"/>
                <a:cs typeface="微软雅黑" panose="020B0503020204020204" charset="-122"/>
              </a:endParaRPr>
            </a:p>
          </p:txBody>
        </p:sp>
      </p:grpSp>
      <p:grpSp>
        <p:nvGrpSpPr>
          <p:cNvPr id="367" name="组合 366"/>
          <p:cNvGrpSpPr/>
          <p:nvPr/>
        </p:nvGrpSpPr>
        <p:grpSpPr>
          <a:xfrm>
            <a:off x="9206230" y="6062980"/>
            <a:ext cx="889000" cy="502920"/>
            <a:chOff x="15119" y="9512"/>
            <a:chExt cx="1400" cy="792"/>
          </a:xfrm>
        </p:grpSpPr>
        <p:sp>
          <p:nvSpPr>
            <p:cNvPr id="347" name="紫荆的职场Point104"/>
            <p:cNvSpPr/>
            <p:nvPr/>
          </p:nvSpPr>
          <p:spPr>
            <a:xfrm>
              <a:off x="15119" y="9512"/>
              <a:ext cx="1401" cy="88"/>
            </a:xfrm>
            <a:prstGeom prst="trapezoid">
              <a:avLst>
                <a:gd name="adj" fmla="val 164557"/>
              </a:avLst>
            </a:prstGeom>
            <a:gradFill>
              <a:gsLst>
                <a:gs pos="0">
                  <a:schemeClr val="accent1">
                    <a:lumMod val="40000"/>
                    <a:lumOff val="60000"/>
                    <a:alpha val="0"/>
                  </a:schemeClr>
                </a:gs>
                <a:gs pos="100000">
                  <a:schemeClr val="accent1">
                    <a:lumMod val="40000"/>
                    <a:lumOff val="60000"/>
                  </a:schemeClr>
                </a:gs>
              </a:gsLst>
              <a:lin ang="5400000" scaled="1"/>
            </a:gra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348" name="紫荆的职场Point105"/>
            <p:cNvSpPr/>
            <p:nvPr/>
          </p:nvSpPr>
          <p:spPr>
            <a:xfrm>
              <a:off x="15121" y="9600"/>
              <a:ext cx="1394" cy="704"/>
            </a:xfrm>
            <a:prstGeom prst="rect">
              <a:avLst/>
            </a:prstGeom>
            <a:solidFill>
              <a:schemeClr val="accent1">
                <a:lumMod val="60000"/>
                <a:lumOff val="40000"/>
              </a:schemeClr>
            </a:soli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357" name="紫荆的职场Point114"/>
            <p:cNvSpPr txBox="1"/>
            <p:nvPr/>
          </p:nvSpPr>
          <p:spPr>
            <a:xfrm>
              <a:off x="15383" y="9738"/>
              <a:ext cx="927" cy="412"/>
            </a:xfrm>
            <a:prstGeom prst="rect">
              <a:avLst/>
            </a:prstGeom>
            <a:noFill/>
          </p:spPr>
          <p:txBody>
            <a:bodyPr wrap="none">
              <a:spAutoFit/>
            </a:bodyPr>
            <a:lstStyle/>
            <a:p>
              <a:pPr algn="ctr"/>
              <a:r>
                <a:rPr lang="zh-CN" altLang="en-US" sz="1050" b="1">
                  <a:solidFill>
                    <a:srgbClr val="FFFFFF"/>
                  </a:solidFill>
                  <a:latin typeface="微软雅黑" panose="020B0503020204020204" charset="-122"/>
                  <a:ea typeface="微软雅黑" panose="020B0503020204020204" charset="-122"/>
                  <a:cs typeface="微软雅黑" panose="020B0503020204020204" charset="-122"/>
                </a:rPr>
                <a:t>零售商</a:t>
              </a:r>
              <a:endParaRPr lang="zh-CN" altLang="en-US" sz="1050" b="1" dirty="0">
                <a:solidFill>
                  <a:srgbClr val="FFFFFF"/>
                </a:solidFill>
                <a:latin typeface="微软雅黑" panose="020B0503020204020204" charset="-122"/>
                <a:ea typeface="微软雅黑" panose="020B0503020204020204" charset="-122"/>
                <a:cs typeface="微软雅黑" panose="020B0503020204020204" charset="-122"/>
              </a:endParaRPr>
            </a:p>
          </p:txBody>
        </p:sp>
      </p:grpSp>
      <p:sp>
        <p:nvSpPr>
          <p:cNvPr id="368" name="@显眼包PPT11"/>
          <p:cNvSpPr/>
          <p:nvPr/>
        </p:nvSpPr>
        <p:spPr>
          <a:xfrm>
            <a:off x="2066925" y="1877060"/>
            <a:ext cx="8028940" cy="645795"/>
          </a:xfrm>
          <a:prstGeom prst="roundRect">
            <a:avLst>
              <a:gd name="adj" fmla="val 15981"/>
            </a:avLst>
          </a:prstGeom>
          <a:solidFill>
            <a:schemeClr val="bg1"/>
          </a:solidFill>
          <a:ln w="9525">
            <a:gradFill flip="none" rotWithShape="1">
              <a:gsLst>
                <a:gs pos="0">
                  <a:schemeClr val="accent1">
                    <a:lumMod val="60000"/>
                    <a:lumOff val="40000"/>
                    <a:alpha val="0"/>
                  </a:schemeClr>
                </a:gs>
                <a:gs pos="100000">
                  <a:schemeClr val="accent1">
                    <a:lumMod val="60000"/>
                    <a:lumOff val="40000"/>
                  </a:schemeClr>
                </a:gs>
              </a:gsLst>
              <a:lin ang="13500000" scaled="1"/>
              <a:tileRect/>
            </a:gradFill>
            <a:prstDash val="solid"/>
          </a:ln>
          <a:effectLst>
            <a:outerShdw blurRad="101600" dist="38100" dir="2700000" algn="tl" rotWithShape="0">
              <a:schemeClr val="bg2">
                <a:lumMod val="50000"/>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381" name="组合 380"/>
          <p:cNvGrpSpPr/>
          <p:nvPr/>
        </p:nvGrpSpPr>
        <p:grpSpPr>
          <a:xfrm>
            <a:off x="2216785" y="2157730"/>
            <a:ext cx="7788910" cy="262890"/>
            <a:chOff x="3383" y="3374"/>
            <a:chExt cx="12425" cy="414"/>
          </a:xfrm>
        </p:grpSpPr>
        <p:sp>
          <p:nvSpPr>
            <p:cNvPr id="369" name="紫荆的职场Point30"/>
            <p:cNvSpPr/>
            <p:nvPr/>
          </p:nvSpPr>
          <p:spPr>
            <a:xfrm>
              <a:off x="3383" y="3374"/>
              <a:ext cx="1185" cy="415"/>
            </a:xfrm>
            <a:prstGeom prst="rect">
              <a:avLst/>
            </a:prstGeom>
            <a:solidFill>
              <a:schemeClr val="bg1"/>
            </a:solidFill>
            <a:ln w="11430">
              <a:solidFill>
                <a:schemeClr val="accent1">
                  <a:lumMod val="60000"/>
                  <a:lumOff val="40000"/>
                </a:schemeClr>
              </a:solidFill>
              <a:prstDash val="solid"/>
            </a:ln>
            <a:effectLst/>
          </p:spPr>
          <p:style>
            <a:lnRef idx="2">
              <a:srgbClr val="24396B">
                <a:shade val="50000"/>
              </a:srgbClr>
            </a:lnRef>
            <a:fillRef idx="1">
              <a:srgbClr val="24396B"/>
            </a:fillRef>
            <a:effectRef idx="0">
              <a:srgbClr val="24396B"/>
            </a:effectRef>
            <a:fontRef idx="minor">
              <a:srgbClr val="FFFFFF"/>
            </a:fontRef>
          </p:style>
          <p:txBody>
            <a:bodyPr lIns="82296" tIns="41148" rIns="82296" bIns="41148" rtlCol="0" anchor="ctr"/>
            <a:lstStyle/>
            <a:p>
              <a:pPr algn="ctr"/>
              <a:r>
                <a:rPr lang="zh-CN" altLang="en-US" sz="1000" dirty="0">
                  <a:solidFill>
                    <a:schemeClr val="bg2">
                      <a:lumMod val="25000"/>
                    </a:schemeClr>
                  </a:solidFill>
                  <a:latin typeface="微软雅黑" panose="020B0503020204020204" charset="-122"/>
                  <a:ea typeface="微软雅黑" panose="020B0503020204020204" charset="-122"/>
                  <a:cs typeface="微软雅黑" panose="020B0503020204020204" charset="-122"/>
                </a:rPr>
                <a:t>经营计划</a:t>
              </a:r>
              <a:endParaRPr lang="zh-CN" altLang="en-US" sz="1000" dirty="0">
                <a:solidFill>
                  <a:schemeClr val="bg2">
                    <a:lumMod val="25000"/>
                  </a:schemeClr>
                </a:solidFill>
                <a:latin typeface="微软雅黑" panose="020B0503020204020204" charset="-122"/>
                <a:ea typeface="微软雅黑" panose="020B0503020204020204" charset="-122"/>
                <a:cs typeface="微软雅黑" panose="020B0503020204020204" charset="-122"/>
              </a:endParaRPr>
            </a:p>
          </p:txBody>
        </p:sp>
        <p:sp>
          <p:nvSpPr>
            <p:cNvPr id="370" name="紫荆的职场Point31"/>
            <p:cNvSpPr/>
            <p:nvPr/>
          </p:nvSpPr>
          <p:spPr>
            <a:xfrm>
              <a:off x="4632" y="3374"/>
              <a:ext cx="1185" cy="415"/>
            </a:xfrm>
            <a:prstGeom prst="rect">
              <a:avLst/>
            </a:prstGeom>
            <a:solidFill>
              <a:schemeClr val="bg1"/>
            </a:solidFill>
            <a:ln w="11430">
              <a:solidFill>
                <a:schemeClr val="accent1">
                  <a:lumMod val="60000"/>
                  <a:lumOff val="40000"/>
                </a:schemeClr>
              </a:solidFill>
              <a:prstDash val="solid"/>
            </a:ln>
            <a:effectLst/>
          </p:spPr>
          <p:style>
            <a:lnRef idx="2">
              <a:srgbClr val="24396B">
                <a:shade val="50000"/>
              </a:srgbClr>
            </a:lnRef>
            <a:fillRef idx="1">
              <a:srgbClr val="24396B"/>
            </a:fillRef>
            <a:effectRef idx="0">
              <a:srgbClr val="24396B"/>
            </a:effectRef>
            <a:fontRef idx="minor">
              <a:srgbClr val="FFFFFF"/>
            </a:fontRef>
          </p:style>
          <p:txBody>
            <a:bodyPr lIns="82296" tIns="41148" rIns="82296" bIns="41148" rtlCol="0" anchor="ctr"/>
            <a:lstStyle/>
            <a:p>
              <a:pPr algn="ctr"/>
              <a:r>
                <a:rPr lang="zh-CN" altLang="en-US" sz="1000" dirty="0">
                  <a:solidFill>
                    <a:schemeClr val="bg2">
                      <a:lumMod val="25000"/>
                    </a:schemeClr>
                  </a:solidFill>
                  <a:latin typeface="微软雅黑" panose="020B0503020204020204" charset="-122"/>
                  <a:ea typeface="微软雅黑" panose="020B0503020204020204" charset="-122"/>
                  <a:cs typeface="微软雅黑" panose="020B0503020204020204" charset="-122"/>
                </a:rPr>
                <a:t>网络规划</a:t>
              </a:r>
              <a:endParaRPr lang="zh-CN" altLang="en-US" sz="1000" dirty="0">
                <a:solidFill>
                  <a:schemeClr val="bg2">
                    <a:lumMod val="25000"/>
                  </a:schemeClr>
                </a:solidFill>
                <a:latin typeface="微软雅黑" panose="020B0503020204020204" charset="-122"/>
                <a:ea typeface="微软雅黑" panose="020B0503020204020204" charset="-122"/>
                <a:cs typeface="微软雅黑" panose="020B0503020204020204" charset="-122"/>
              </a:endParaRPr>
            </a:p>
          </p:txBody>
        </p:sp>
        <p:sp>
          <p:nvSpPr>
            <p:cNvPr id="371" name="紫荆的职场Point32"/>
            <p:cNvSpPr/>
            <p:nvPr/>
          </p:nvSpPr>
          <p:spPr>
            <a:xfrm>
              <a:off x="5881" y="3374"/>
              <a:ext cx="1185" cy="415"/>
            </a:xfrm>
            <a:prstGeom prst="rect">
              <a:avLst/>
            </a:prstGeom>
            <a:solidFill>
              <a:schemeClr val="bg1"/>
            </a:solidFill>
            <a:ln w="11430">
              <a:solidFill>
                <a:schemeClr val="accent1">
                  <a:lumMod val="60000"/>
                  <a:lumOff val="40000"/>
                </a:schemeClr>
              </a:solidFill>
              <a:prstDash val="solid"/>
            </a:ln>
            <a:effectLst/>
          </p:spPr>
          <p:style>
            <a:lnRef idx="2">
              <a:srgbClr val="24396B">
                <a:shade val="50000"/>
              </a:srgbClr>
            </a:lnRef>
            <a:fillRef idx="1">
              <a:srgbClr val="24396B"/>
            </a:fillRef>
            <a:effectRef idx="0">
              <a:srgbClr val="24396B"/>
            </a:effectRef>
            <a:fontRef idx="minor">
              <a:srgbClr val="FFFFFF"/>
            </a:fontRef>
          </p:style>
          <p:txBody>
            <a:bodyPr lIns="82296" tIns="41148" rIns="82296" bIns="41148" rtlCol="0" anchor="ctr"/>
            <a:lstStyle/>
            <a:p>
              <a:pPr algn="ctr"/>
              <a:r>
                <a:rPr lang="zh-CN" altLang="en-US" sz="1000" dirty="0">
                  <a:solidFill>
                    <a:schemeClr val="bg2">
                      <a:lumMod val="25000"/>
                    </a:schemeClr>
                  </a:solidFill>
                  <a:latin typeface="微软雅黑" panose="020B0503020204020204" charset="-122"/>
                  <a:ea typeface="微软雅黑" panose="020B0503020204020204" charset="-122"/>
                  <a:cs typeface="微软雅黑" panose="020B0503020204020204" charset="-122"/>
                </a:rPr>
                <a:t>品类规划</a:t>
              </a:r>
              <a:endParaRPr lang="zh-CN" altLang="en-US" sz="1000" dirty="0">
                <a:solidFill>
                  <a:schemeClr val="bg2">
                    <a:lumMod val="25000"/>
                  </a:schemeClr>
                </a:solidFill>
                <a:latin typeface="微软雅黑" panose="020B0503020204020204" charset="-122"/>
                <a:ea typeface="微软雅黑" panose="020B0503020204020204" charset="-122"/>
                <a:cs typeface="微软雅黑" panose="020B0503020204020204" charset="-122"/>
              </a:endParaRPr>
            </a:p>
          </p:txBody>
        </p:sp>
        <p:sp>
          <p:nvSpPr>
            <p:cNvPr id="372" name="紫荆的职场Point33"/>
            <p:cNvSpPr/>
            <p:nvPr/>
          </p:nvSpPr>
          <p:spPr>
            <a:xfrm>
              <a:off x="7130" y="3374"/>
              <a:ext cx="1185" cy="415"/>
            </a:xfrm>
            <a:prstGeom prst="rect">
              <a:avLst/>
            </a:prstGeom>
            <a:solidFill>
              <a:schemeClr val="bg1"/>
            </a:solidFill>
            <a:ln w="11430">
              <a:solidFill>
                <a:schemeClr val="accent1">
                  <a:lumMod val="60000"/>
                  <a:lumOff val="40000"/>
                </a:schemeClr>
              </a:solidFill>
              <a:prstDash val="solid"/>
            </a:ln>
            <a:effectLst/>
          </p:spPr>
          <p:style>
            <a:lnRef idx="2">
              <a:srgbClr val="24396B">
                <a:shade val="50000"/>
              </a:srgbClr>
            </a:lnRef>
            <a:fillRef idx="1">
              <a:srgbClr val="24396B"/>
            </a:fillRef>
            <a:effectRef idx="0">
              <a:srgbClr val="24396B"/>
            </a:effectRef>
            <a:fontRef idx="minor">
              <a:srgbClr val="FFFFFF"/>
            </a:fontRef>
          </p:style>
          <p:txBody>
            <a:bodyPr lIns="82296" tIns="41148" rIns="82296" bIns="41148" rtlCol="0" anchor="ctr"/>
            <a:lstStyle/>
            <a:p>
              <a:pPr algn="ctr"/>
              <a:r>
                <a:rPr lang="zh-CN" altLang="en-US" sz="1000" dirty="0">
                  <a:solidFill>
                    <a:schemeClr val="bg2">
                      <a:lumMod val="25000"/>
                    </a:schemeClr>
                  </a:solidFill>
                  <a:latin typeface="微软雅黑" panose="020B0503020204020204" charset="-122"/>
                  <a:ea typeface="微软雅黑" panose="020B0503020204020204" charset="-122"/>
                  <a:cs typeface="微软雅黑" panose="020B0503020204020204" charset="-122"/>
                </a:rPr>
                <a:t>需求计划</a:t>
              </a:r>
              <a:endParaRPr lang="zh-CN" altLang="en-US" sz="1000" dirty="0">
                <a:solidFill>
                  <a:schemeClr val="bg2">
                    <a:lumMod val="25000"/>
                  </a:schemeClr>
                </a:solidFill>
                <a:latin typeface="微软雅黑" panose="020B0503020204020204" charset="-122"/>
                <a:ea typeface="微软雅黑" panose="020B0503020204020204" charset="-122"/>
                <a:cs typeface="微软雅黑" panose="020B0503020204020204" charset="-122"/>
              </a:endParaRPr>
            </a:p>
          </p:txBody>
        </p:sp>
        <p:sp>
          <p:nvSpPr>
            <p:cNvPr id="373" name="紫荆的职场Point34"/>
            <p:cNvSpPr/>
            <p:nvPr/>
          </p:nvSpPr>
          <p:spPr>
            <a:xfrm>
              <a:off x="8379" y="3374"/>
              <a:ext cx="1185" cy="415"/>
            </a:xfrm>
            <a:prstGeom prst="rect">
              <a:avLst/>
            </a:prstGeom>
            <a:solidFill>
              <a:schemeClr val="bg1"/>
            </a:solidFill>
            <a:ln w="11430">
              <a:solidFill>
                <a:schemeClr val="accent1">
                  <a:lumMod val="60000"/>
                  <a:lumOff val="40000"/>
                </a:schemeClr>
              </a:solidFill>
              <a:prstDash val="solid"/>
            </a:ln>
            <a:effectLst/>
          </p:spPr>
          <p:style>
            <a:lnRef idx="2">
              <a:srgbClr val="24396B">
                <a:shade val="50000"/>
              </a:srgbClr>
            </a:lnRef>
            <a:fillRef idx="1">
              <a:srgbClr val="24396B"/>
            </a:fillRef>
            <a:effectRef idx="0">
              <a:srgbClr val="24396B"/>
            </a:effectRef>
            <a:fontRef idx="minor">
              <a:srgbClr val="FFFFFF"/>
            </a:fontRef>
          </p:style>
          <p:txBody>
            <a:bodyPr lIns="82296" tIns="41148" rIns="82296" bIns="41148" rtlCol="0" anchor="ctr"/>
            <a:lstStyle/>
            <a:p>
              <a:pPr algn="ctr"/>
              <a:r>
                <a:rPr lang="zh-CN" altLang="en-US" sz="1000" dirty="0">
                  <a:solidFill>
                    <a:schemeClr val="bg2">
                      <a:lumMod val="25000"/>
                    </a:schemeClr>
                  </a:solidFill>
                  <a:latin typeface="微软雅黑" panose="020B0503020204020204" charset="-122"/>
                  <a:ea typeface="微软雅黑" panose="020B0503020204020204" charset="-122"/>
                  <a:cs typeface="微软雅黑" panose="020B0503020204020204" charset="-122"/>
                </a:rPr>
                <a:t>销售计划</a:t>
              </a:r>
              <a:endParaRPr lang="zh-CN" altLang="en-US" sz="1000" dirty="0">
                <a:solidFill>
                  <a:schemeClr val="bg2">
                    <a:lumMod val="25000"/>
                  </a:schemeClr>
                </a:solidFill>
                <a:latin typeface="微软雅黑" panose="020B0503020204020204" charset="-122"/>
                <a:ea typeface="微软雅黑" panose="020B0503020204020204" charset="-122"/>
                <a:cs typeface="微软雅黑" panose="020B0503020204020204" charset="-122"/>
              </a:endParaRPr>
            </a:p>
          </p:txBody>
        </p:sp>
        <p:sp>
          <p:nvSpPr>
            <p:cNvPr id="374" name="紫荆的职场Point35"/>
            <p:cNvSpPr/>
            <p:nvPr/>
          </p:nvSpPr>
          <p:spPr>
            <a:xfrm>
              <a:off x="9628" y="3374"/>
              <a:ext cx="1185" cy="415"/>
            </a:xfrm>
            <a:prstGeom prst="rect">
              <a:avLst/>
            </a:prstGeom>
            <a:solidFill>
              <a:schemeClr val="bg1"/>
            </a:solidFill>
            <a:ln w="11430">
              <a:solidFill>
                <a:schemeClr val="accent1">
                  <a:lumMod val="60000"/>
                  <a:lumOff val="40000"/>
                </a:schemeClr>
              </a:solidFill>
              <a:prstDash val="solid"/>
            </a:ln>
            <a:effectLst/>
          </p:spPr>
          <p:style>
            <a:lnRef idx="2">
              <a:srgbClr val="24396B">
                <a:shade val="50000"/>
              </a:srgbClr>
            </a:lnRef>
            <a:fillRef idx="1">
              <a:srgbClr val="24396B"/>
            </a:fillRef>
            <a:effectRef idx="0">
              <a:srgbClr val="24396B"/>
            </a:effectRef>
            <a:fontRef idx="minor">
              <a:srgbClr val="FFFFFF"/>
            </a:fontRef>
          </p:style>
          <p:txBody>
            <a:bodyPr lIns="82296" tIns="41148" rIns="82296" bIns="41148" rtlCol="0" anchor="ctr"/>
            <a:lstStyle/>
            <a:p>
              <a:pPr algn="ctr"/>
              <a:r>
                <a:rPr lang="zh-CN" altLang="en-US" sz="1000" dirty="0">
                  <a:solidFill>
                    <a:schemeClr val="bg2">
                      <a:lumMod val="25000"/>
                    </a:schemeClr>
                  </a:solidFill>
                  <a:latin typeface="微软雅黑" panose="020B0503020204020204" charset="-122"/>
                  <a:ea typeface="微软雅黑" panose="020B0503020204020204" charset="-122"/>
                  <a:cs typeface="微软雅黑" panose="020B0503020204020204" charset="-122"/>
                </a:rPr>
                <a:t>补货计划</a:t>
              </a:r>
              <a:endParaRPr lang="zh-CN" altLang="en-US" sz="1000" dirty="0">
                <a:solidFill>
                  <a:schemeClr val="bg2">
                    <a:lumMod val="25000"/>
                  </a:schemeClr>
                </a:solidFill>
                <a:latin typeface="微软雅黑" panose="020B0503020204020204" charset="-122"/>
                <a:ea typeface="微软雅黑" panose="020B0503020204020204" charset="-122"/>
                <a:cs typeface="微软雅黑" panose="020B0503020204020204" charset="-122"/>
              </a:endParaRPr>
            </a:p>
          </p:txBody>
        </p:sp>
        <p:sp>
          <p:nvSpPr>
            <p:cNvPr id="375" name="紫荆的职场Point36"/>
            <p:cNvSpPr/>
            <p:nvPr/>
          </p:nvSpPr>
          <p:spPr>
            <a:xfrm>
              <a:off x="10877" y="3374"/>
              <a:ext cx="1185" cy="415"/>
            </a:xfrm>
            <a:prstGeom prst="rect">
              <a:avLst/>
            </a:prstGeom>
            <a:solidFill>
              <a:schemeClr val="bg1"/>
            </a:solidFill>
            <a:ln w="11430">
              <a:solidFill>
                <a:schemeClr val="accent1">
                  <a:lumMod val="60000"/>
                  <a:lumOff val="40000"/>
                </a:schemeClr>
              </a:solidFill>
              <a:prstDash val="solid"/>
            </a:ln>
            <a:effectLst/>
          </p:spPr>
          <p:style>
            <a:lnRef idx="2">
              <a:srgbClr val="24396B">
                <a:shade val="50000"/>
              </a:srgbClr>
            </a:lnRef>
            <a:fillRef idx="1">
              <a:srgbClr val="24396B"/>
            </a:fillRef>
            <a:effectRef idx="0">
              <a:srgbClr val="24396B"/>
            </a:effectRef>
            <a:fontRef idx="minor">
              <a:srgbClr val="FFFFFF"/>
            </a:fontRef>
          </p:style>
          <p:txBody>
            <a:bodyPr lIns="82296" tIns="41148" rIns="82296" bIns="41148" rtlCol="0" anchor="ctr"/>
            <a:lstStyle/>
            <a:p>
              <a:pPr algn="ctr"/>
              <a:r>
                <a:rPr lang="zh-CN" altLang="en-US" sz="1000" dirty="0">
                  <a:solidFill>
                    <a:schemeClr val="bg2">
                      <a:lumMod val="25000"/>
                    </a:schemeClr>
                  </a:solidFill>
                  <a:latin typeface="微软雅黑" panose="020B0503020204020204" charset="-122"/>
                  <a:ea typeface="微软雅黑" panose="020B0503020204020204" charset="-122"/>
                  <a:cs typeface="微软雅黑" panose="020B0503020204020204" charset="-122"/>
                </a:rPr>
                <a:t>调拨计划</a:t>
              </a:r>
              <a:endParaRPr lang="zh-CN" altLang="en-US" sz="1000" dirty="0">
                <a:solidFill>
                  <a:schemeClr val="bg2">
                    <a:lumMod val="25000"/>
                  </a:schemeClr>
                </a:solidFill>
                <a:latin typeface="微软雅黑" panose="020B0503020204020204" charset="-122"/>
                <a:ea typeface="微软雅黑" panose="020B0503020204020204" charset="-122"/>
                <a:cs typeface="微软雅黑" panose="020B0503020204020204" charset="-122"/>
              </a:endParaRPr>
            </a:p>
          </p:txBody>
        </p:sp>
        <p:sp>
          <p:nvSpPr>
            <p:cNvPr id="376" name="紫荆的职场Point37"/>
            <p:cNvSpPr/>
            <p:nvPr/>
          </p:nvSpPr>
          <p:spPr>
            <a:xfrm>
              <a:off x="12126" y="3374"/>
              <a:ext cx="1185" cy="415"/>
            </a:xfrm>
            <a:prstGeom prst="rect">
              <a:avLst/>
            </a:prstGeom>
            <a:solidFill>
              <a:schemeClr val="bg1"/>
            </a:solidFill>
            <a:ln w="11430">
              <a:solidFill>
                <a:schemeClr val="accent1">
                  <a:lumMod val="60000"/>
                  <a:lumOff val="40000"/>
                </a:schemeClr>
              </a:solidFill>
              <a:prstDash val="solid"/>
            </a:ln>
            <a:effectLst/>
          </p:spPr>
          <p:style>
            <a:lnRef idx="2">
              <a:srgbClr val="24396B">
                <a:shade val="50000"/>
              </a:srgbClr>
            </a:lnRef>
            <a:fillRef idx="1">
              <a:srgbClr val="24396B"/>
            </a:fillRef>
            <a:effectRef idx="0">
              <a:srgbClr val="24396B"/>
            </a:effectRef>
            <a:fontRef idx="minor">
              <a:srgbClr val="FFFFFF"/>
            </a:fontRef>
          </p:style>
          <p:txBody>
            <a:bodyPr lIns="82296" tIns="41148" rIns="82296" bIns="41148" rtlCol="0" anchor="ctr"/>
            <a:lstStyle/>
            <a:p>
              <a:pPr algn="ctr"/>
              <a:r>
                <a:rPr lang="zh-CN" altLang="en-US" sz="1000" dirty="0">
                  <a:solidFill>
                    <a:schemeClr val="bg2">
                      <a:lumMod val="25000"/>
                    </a:schemeClr>
                  </a:solidFill>
                  <a:latin typeface="微软雅黑" panose="020B0503020204020204" charset="-122"/>
                  <a:ea typeface="微软雅黑" panose="020B0503020204020204" charset="-122"/>
                  <a:cs typeface="微软雅黑" panose="020B0503020204020204" charset="-122"/>
                </a:rPr>
                <a:t>资源排程</a:t>
              </a:r>
              <a:endParaRPr lang="zh-CN" altLang="en-US" sz="1000" dirty="0">
                <a:solidFill>
                  <a:schemeClr val="bg2">
                    <a:lumMod val="25000"/>
                  </a:schemeClr>
                </a:solidFill>
                <a:latin typeface="微软雅黑" panose="020B0503020204020204" charset="-122"/>
                <a:ea typeface="微软雅黑" panose="020B0503020204020204" charset="-122"/>
                <a:cs typeface="微软雅黑" panose="020B0503020204020204" charset="-122"/>
              </a:endParaRPr>
            </a:p>
          </p:txBody>
        </p:sp>
        <p:sp>
          <p:nvSpPr>
            <p:cNvPr id="377" name="紫荆的职场Point38"/>
            <p:cNvSpPr/>
            <p:nvPr/>
          </p:nvSpPr>
          <p:spPr>
            <a:xfrm>
              <a:off x="13375" y="3374"/>
              <a:ext cx="1185" cy="415"/>
            </a:xfrm>
            <a:prstGeom prst="rect">
              <a:avLst/>
            </a:prstGeom>
            <a:solidFill>
              <a:schemeClr val="bg1"/>
            </a:solidFill>
            <a:ln w="11430">
              <a:solidFill>
                <a:schemeClr val="accent1">
                  <a:lumMod val="60000"/>
                  <a:lumOff val="40000"/>
                </a:schemeClr>
              </a:solidFill>
              <a:prstDash val="solid"/>
            </a:ln>
            <a:effectLst/>
          </p:spPr>
          <p:style>
            <a:lnRef idx="2">
              <a:srgbClr val="24396B">
                <a:shade val="50000"/>
              </a:srgbClr>
            </a:lnRef>
            <a:fillRef idx="1">
              <a:srgbClr val="24396B"/>
            </a:fillRef>
            <a:effectRef idx="0">
              <a:srgbClr val="24396B"/>
            </a:effectRef>
            <a:fontRef idx="minor">
              <a:srgbClr val="FFFFFF"/>
            </a:fontRef>
          </p:style>
          <p:txBody>
            <a:bodyPr lIns="82296" tIns="41148" rIns="82296" bIns="41148" rtlCol="0" anchor="ctr"/>
            <a:lstStyle/>
            <a:p>
              <a:pPr algn="ctr"/>
              <a:r>
                <a:rPr lang="zh-CN" altLang="en-US" sz="1000" dirty="0">
                  <a:solidFill>
                    <a:schemeClr val="bg2">
                      <a:lumMod val="25000"/>
                    </a:schemeClr>
                  </a:solidFill>
                  <a:latin typeface="微软雅黑" panose="020B0503020204020204" charset="-122"/>
                  <a:ea typeface="微软雅黑" panose="020B0503020204020204" charset="-122"/>
                  <a:cs typeface="微软雅黑" panose="020B0503020204020204" charset="-122"/>
                </a:rPr>
                <a:t>生产计划</a:t>
              </a:r>
              <a:endParaRPr lang="zh-CN" altLang="en-US" sz="1000" dirty="0">
                <a:solidFill>
                  <a:schemeClr val="bg2">
                    <a:lumMod val="25000"/>
                  </a:schemeClr>
                </a:solidFill>
                <a:latin typeface="微软雅黑" panose="020B0503020204020204" charset="-122"/>
                <a:ea typeface="微软雅黑" panose="020B0503020204020204" charset="-122"/>
                <a:cs typeface="微软雅黑" panose="020B0503020204020204" charset="-122"/>
              </a:endParaRPr>
            </a:p>
          </p:txBody>
        </p:sp>
        <p:sp>
          <p:nvSpPr>
            <p:cNvPr id="378" name="紫荆的职场Point39"/>
            <p:cNvSpPr/>
            <p:nvPr/>
          </p:nvSpPr>
          <p:spPr>
            <a:xfrm>
              <a:off x="14624" y="3374"/>
              <a:ext cx="1185" cy="415"/>
            </a:xfrm>
            <a:prstGeom prst="rect">
              <a:avLst/>
            </a:prstGeom>
            <a:solidFill>
              <a:schemeClr val="bg1"/>
            </a:solidFill>
            <a:ln w="11430">
              <a:solidFill>
                <a:schemeClr val="accent1">
                  <a:lumMod val="60000"/>
                  <a:lumOff val="40000"/>
                </a:schemeClr>
              </a:solidFill>
              <a:prstDash val="solid"/>
            </a:ln>
            <a:effectLst/>
          </p:spPr>
          <p:style>
            <a:lnRef idx="2">
              <a:srgbClr val="24396B">
                <a:shade val="50000"/>
              </a:srgbClr>
            </a:lnRef>
            <a:fillRef idx="1">
              <a:srgbClr val="24396B"/>
            </a:fillRef>
            <a:effectRef idx="0">
              <a:srgbClr val="24396B"/>
            </a:effectRef>
            <a:fontRef idx="minor">
              <a:srgbClr val="FFFFFF"/>
            </a:fontRef>
          </p:style>
          <p:txBody>
            <a:bodyPr lIns="82296" tIns="41148" rIns="82296" bIns="41148" rtlCol="0" anchor="ctr"/>
            <a:lstStyle/>
            <a:p>
              <a:pPr algn="ctr"/>
              <a:r>
                <a:rPr lang="zh-CN" altLang="en-US" sz="1000" dirty="0">
                  <a:solidFill>
                    <a:schemeClr val="bg2">
                      <a:lumMod val="25000"/>
                    </a:schemeClr>
                  </a:solidFill>
                  <a:latin typeface="微软雅黑" panose="020B0503020204020204" charset="-122"/>
                  <a:ea typeface="微软雅黑" panose="020B0503020204020204" charset="-122"/>
                  <a:cs typeface="微软雅黑" panose="020B0503020204020204" charset="-122"/>
                </a:rPr>
                <a:t>采购计划</a:t>
              </a:r>
              <a:endParaRPr lang="zh-CN" altLang="en-US" sz="1000" dirty="0">
                <a:solidFill>
                  <a:schemeClr val="bg2">
                    <a:lumMod val="25000"/>
                  </a:schemeClr>
                </a:solidFill>
                <a:latin typeface="微软雅黑" panose="020B0503020204020204" charset="-122"/>
                <a:ea typeface="微软雅黑" panose="020B0503020204020204" charset="-122"/>
                <a:cs typeface="微软雅黑" panose="020B0503020204020204" charset="-122"/>
              </a:endParaRPr>
            </a:p>
          </p:txBody>
        </p:sp>
      </p:grpSp>
      <p:sp>
        <p:nvSpPr>
          <p:cNvPr id="382" name="紫荆的职场Point22"/>
          <p:cNvSpPr txBox="1"/>
          <p:nvPr/>
        </p:nvSpPr>
        <p:spPr>
          <a:xfrm>
            <a:off x="5697221" y="1863265"/>
            <a:ext cx="792480" cy="275590"/>
          </a:xfrm>
          <a:prstGeom prst="rect">
            <a:avLst/>
          </a:prstGeom>
          <a:noFill/>
        </p:spPr>
        <p:txBody>
          <a:bodyPr wrap="none">
            <a:spAutoFit/>
          </a:bodyPr>
          <a:lstStyle/>
          <a:p>
            <a:pPr algn="ctr"/>
            <a:r>
              <a:rPr lang="zh-CN" altLang="en-US" sz="12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协同计划</a:t>
            </a:r>
            <a:endParaRPr lang="zh-CN" altLang="en-US" sz="12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矩形 146"/>
          <p:cNvSpPr/>
          <p:nvPr/>
        </p:nvSpPr>
        <p:spPr>
          <a:xfrm>
            <a:off x="2333671" y="3275391"/>
            <a:ext cx="4582800" cy="1948498"/>
          </a:xfrm>
          <a:prstGeom prst="rect">
            <a:avLst/>
          </a:prstGeom>
          <a:solidFill>
            <a:schemeClr val="accent5">
              <a:lumMod val="20000"/>
              <a:lumOff val="80000"/>
            </a:schemeClr>
          </a:solidFill>
          <a:ln>
            <a:solidFill>
              <a:schemeClr val="accent5">
                <a:alpha val="50000"/>
              </a:schemeClr>
            </a:solidFill>
          </a:ln>
        </p:spPr>
        <p:style>
          <a:lnRef idx="2">
            <a:schemeClr val="accent5"/>
          </a:lnRef>
          <a:fillRef idx="2">
            <a:schemeClr val="accent5"/>
          </a:fillRef>
          <a:effectRef idx="0">
            <a:srgbClr val="FFFFFF"/>
          </a:effectRef>
          <a:fontRef idx="minor">
            <a:schemeClr val="dk1"/>
          </a:fontRef>
        </p:style>
        <p:txBody>
          <a:bodyPr rot="0" spcFirstLastPara="1" vertOverflow="overflow" horzOverflow="overflow" vert="horz" wrap="square" lIns="45719" tIns="45719" rIns="45719" bIns="45719" numCol="1" spcCol="38100" rtlCol="0" anchor="ctr">
            <a:noAutofit/>
          </a:bodyPr>
          <a:lstStyle/>
          <a:p>
            <a:pPr lvl="0" algn="l" hangingPunct="0">
              <a:buClrTx/>
              <a:buSzTx/>
              <a:buFontTx/>
            </a:pPr>
            <a:endParaRPr lang="zh-CN" altLang="en-US">
              <a:solidFill>
                <a:srgbClr val="404040"/>
              </a:solidFill>
              <a:latin typeface="微软雅黑" panose="020B0503020204020204" charset="-122"/>
              <a:ea typeface="微软雅黑" panose="020B0503020204020204" charset="-122"/>
              <a:cs typeface="+mn-ea"/>
              <a:sym typeface="+mn-ea"/>
            </a:endParaRPr>
          </a:p>
        </p:txBody>
      </p:sp>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公司数字化转型系统架构</a:t>
            </a:r>
            <a:endParaRPr lang="zh-CN" altLang="en-US" sz="2500" b="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39" name="梯形 138"/>
          <p:cNvSpPr/>
          <p:nvPr/>
        </p:nvSpPr>
        <p:spPr>
          <a:xfrm>
            <a:off x="299720" y="5897245"/>
            <a:ext cx="11648440" cy="523875"/>
          </a:xfrm>
          <a:prstGeom prst="trapezoid">
            <a:avLst>
              <a:gd name="adj" fmla="val 119447"/>
            </a:avLst>
          </a:prstGeom>
          <a:noFill/>
          <a:ln>
            <a:solidFill>
              <a:schemeClr val="accent1">
                <a:lumMod val="60000"/>
                <a:lumOff val="40000"/>
              </a:schemeClr>
            </a:solidFill>
          </a:ln>
        </p:spPr>
        <p:style>
          <a:lnRef idx="2">
            <a:schemeClr val="accent6"/>
          </a:lnRef>
          <a:fillRef idx="2">
            <a:schemeClr val="accent6"/>
          </a:fillRef>
          <a:effectRef idx="0">
            <a:srgbClr val="FFFFFF"/>
          </a:effectRef>
          <a:fontRef idx="minor">
            <a:schemeClr val="lt1"/>
          </a:fontRef>
        </p:style>
        <p:txBody>
          <a:bodyPr lIns="98755" tIns="49378" rIns="98755" bIns="49378" rtlCol="0" anchor="ctr"/>
          <a:lstStyle/>
          <a:p>
            <a:pPr algn="ctr"/>
            <a:endParaRPr lang="zh-CN" altLang="en-US" sz="1945">
              <a:solidFill>
                <a:srgbClr val="FFFFFF"/>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40" name="矩形 139"/>
          <p:cNvSpPr/>
          <p:nvPr/>
        </p:nvSpPr>
        <p:spPr>
          <a:xfrm>
            <a:off x="299720" y="6421120"/>
            <a:ext cx="11648440" cy="109220"/>
          </a:xfrm>
          <a:prstGeom prst="rect">
            <a:avLst/>
          </a:prstGeom>
          <a:gradFill>
            <a:gsLst>
              <a:gs pos="0">
                <a:schemeClr val="accent1">
                  <a:lumMod val="60000"/>
                  <a:lumOff val="40000"/>
                </a:schemeClr>
              </a:gs>
              <a:gs pos="88000">
                <a:schemeClr val="accent1"/>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41" name="矩形 140"/>
          <p:cNvSpPr/>
          <p:nvPr>
            <p:custDataLst>
              <p:tags r:id="rId1"/>
            </p:custDataLst>
          </p:nvPr>
        </p:nvSpPr>
        <p:spPr>
          <a:xfrm>
            <a:off x="623888" y="5378828"/>
            <a:ext cx="1588056" cy="649800"/>
          </a:xfrm>
          <a:prstGeom prst="rect">
            <a:avLst/>
          </a:prstGeom>
          <a:gradFill>
            <a:gsLst>
              <a:gs pos="0">
                <a:schemeClr val="accent1">
                  <a:lumMod val="60000"/>
                  <a:lumOff val="40000"/>
                </a:schemeClr>
              </a:gs>
              <a:gs pos="88000">
                <a:schemeClr val="accent1"/>
              </a:gs>
            </a:gsLst>
            <a:lin ang="0" scaled="0"/>
          </a:gradFill>
          <a:effectLst>
            <a:outerShdw blurRad="50800" dist="38100" dir="2700000" algn="tl" rotWithShape="0">
              <a:schemeClr val="accent1">
                <a:lumMod val="40000"/>
                <a:lumOff val="60000"/>
                <a:alpha val="40000"/>
              </a:schemeClr>
            </a:outerShdw>
          </a:effectLst>
        </p:spPr>
        <p:style>
          <a:lnRef idx="0">
            <a:srgbClr val="FFFFFF"/>
          </a:lnRef>
          <a:fillRef idx="1">
            <a:schemeClr val="accent2"/>
          </a:fillRef>
          <a:effectRef idx="0">
            <a:srgbClr val="FFFFFF"/>
          </a:effectRef>
          <a:fontRef idx="minor">
            <a:schemeClr val="dk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500" b="1"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42" name="矩形 141"/>
          <p:cNvSpPr/>
          <p:nvPr>
            <p:custDataLst>
              <p:tags r:id="rId2"/>
            </p:custDataLst>
          </p:nvPr>
        </p:nvSpPr>
        <p:spPr>
          <a:xfrm>
            <a:off x="623888" y="2010472"/>
            <a:ext cx="1588056" cy="1128077"/>
          </a:xfrm>
          <a:prstGeom prst="rect">
            <a:avLst/>
          </a:prstGeom>
          <a:gradFill>
            <a:gsLst>
              <a:gs pos="0">
                <a:schemeClr val="accent1">
                  <a:lumMod val="40000"/>
                  <a:lumOff val="60000"/>
                </a:schemeClr>
              </a:gs>
              <a:gs pos="88000">
                <a:schemeClr val="accent1">
                  <a:lumMod val="60000"/>
                  <a:lumOff val="40000"/>
                </a:schemeClr>
              </a:gs>
            </a:gsLst>
            <a:lin ang="0" scaled="0"/>
          </a:gradFill>
          <a:effectLst>
            <a:outerShdw blurRad="50800" dist="38100" dir="2700000" algn="tl" rotWithShape="0">
              <a:schemeClr val="accent1">
                <a:lumMod val="40000"/>
                <a:lumOff val="60000"/>
                <a:alpha val="40000"/>
              </a:schemeClr>
            </a:outerShdw>
          </a:effectLst>
        </p:spPr>
        <p:style>
          <a:lnRef idx="0">
            <a:srgbClr val="FFFFFF"/>
          </a:lnRef>
          <a:fillRef idx="1">
            <a:schemeClr val="accent2"/>
          </a:fillRef>
          <a:effectRef idx="0">
            <a:srgbClr val="FFFFFF"/>
          </a:effectRef>
          <a:fontRef idx="minor">
            <a:schemeClr val="dk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r>
              <a:rPr lang="zh-CN" altLang="en-US" sz="1500" b="1" dirty="0">
                <a:solidFill>
                  <a:srgbClr val="FFFFFF"/>
                </a:solidFill>
                <a:latin typeface="微软雅黑" panose="020B0503020204020204" charset="-122"/>
                <a:ea typeface="微软雅黑" panose="020B0503020204020204" charset="-122"/>
                <a:cs typeface="微软雅黑" panose="020B0503020204020204" charset="-122"/>
                <a:sym typeface="+mn-ea"/>
              </a:rPr>
              <a:t>应用层</a:t>
            </a:r>
            <a:endParaRPr lang="zh-CN" altLang="en-US" sz="1500" b="1" dirty="0">
              <a:solidFill>
                <a:srgbClr val="FFFFFF"/>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en-US" altLang="zh-CN" sz="1000" b="1" dirty="0">
                <a:solidFill>
                  <a:srgbClr val="FFFFFF"/>
                </a:solidFill>
                <a:latin typeface="微软雅黑" panose="020B0503020204020204" charset="-122"/>
                <a:ea typeface="微软雅黑" panose="020B0503020204020204" charset="-122"/>
                <a:cs typeface="微软雅黑" panose="020B0503020204020204" charset="-122"/>
                <a:sym typeface="+mn-ea"/>
              </a:rPr>
              <a:t>Application Layer</a:t>
            </a:r>
            <a:endParaRPr lang="en-US" altLang="zh-CN" sz="1000" b="1"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43" name="矩形 142"/>
          <p:cNvSpPr/>
          <p:nvPr>
            <p:custDataLst>
              <p:tags r:id="rId3"/>
            </p:custDataLst>
          </p:nvPr>
        </p:nvSpPr>
        <p:spPr>
          <a:xfrm>
            <a:off x="623888" y="1222118"/>
            <a:ext cx="1588056" cy="649800"/>
          </a:xfrm>
          <a:prstGeom prst="rect">
            <a:avLst/>
          </a:prstGeom>
          <a:gradFill>
            <a:gsLst>
              <a:gs pos="0">
                <a:schemeClr val="accent1">
                  <a:lumMod val="40000"/>
                  <a:lumOff val="60000"/>
                </a:schemeClr>
              </a:gs>
              <a:gs pos="88000">
                <a:schemeClr val="accent1">
                  <a:lumMod val="60000"/>
                  <a:lumOff val="40000"/>
                </a:schemeClr>
              </a:gs>
            </a:gsLst>
            <a:lin ang="0" scaled="0"/>
          </a:gradFill>
          <a:effectLst>
            <a:outerShdw blurRad="50800" dist="38100" dir="2700000" algn="tl" rotWithShape="0">
              <a:schemeClr val="accent1">
                <a:lumMod val="40000"/>
                <a:lumOff val="60000"/>
                <a:alpha val="40000"/>
              </a:schemeClr>
            </a:outerShdw>
          </a:effectLst>
        </p:spPr>
        <p:style>
          <a:lnRef idx="0">
            <a:srgbClr val="FFFFFF"/>
          </a:lnRef>
          <a:fillRef idx="1">
            <a:schemeClr val="accent2"/>
          </a:fillRef>
          <a:effectRef idx="0">
            <a:srgbClr val="FFFFFF"/>
          </a:effectRef>
          <a:fontRef idx="minor">
            <a:schemeClr val="dk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r>
              <a:rPr lang="zh-CN" altLang="en-US" sz="1500" b="1" dirty="0">
                <a:solidFill>
                  <a:srgbClr val="FFFFFF"/>
                </a:solidFill>
                <a:latin typeface="微软雅黑" panose="020B0503020204020204" charset="-122"/>
                <a:ea typeface="微软雅黑" panose="020B0503020204020204" charset="-122"/>
                <a:cs typeface="微软雅黑" panose="020B0503020204020204" charset="-122"/>
                <a:sym typeface="+mn-ea"/>
              </a:rPr>
              <a:t>触点</a:t>
            </a:r>
            <a:endParaRPr lang="zh-CN" altLang="en-US" sz="1500" b="1" dirty="0">
              <a:solidFill>
                <a:srgbClr val="FFFFFF"/>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000" b="1" dirty="0">
                <a:solidFill>
                  <a:srgbClr val="FFFFFF"/>
                </a:solidFill>
                <a:latin typeface="微软雅黑" panose="020B0503020204020204" charset="-122"/>
                <a:ea typeface="微软雅黑" panose="020B0503020204020204" charset="-122"/>
                <a:cs typeface="微软雅黑" panose="020B0503020204020204" charset="-122"/>
                <a:sym typeface="+mn-ea"/>
              </a:rPr>
              <a:t>Touch point</a:t>
            </a:r>
            <a:endParaRPr lang="zh-CN" altLang="en-US" sz="1000" b="1"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44" name="文本框 143"/>
          <p:cNvSpPr txBox="1"/>
          <p:nvPr/>
        </p:nvSpPr>
        <p:spPr>
          <a:xfrm>
            <a:off x="732474" y="5456761"/>
            <a:ext cx="1503601" cy="321626"/>
          </a:xfrm>
          <a:prstGeom prst="rect">
            <a:avLst/>
          </a:prstGeom>
          <a:noFill/>
          <a:effectLst/>
        </p:spPr>
        <p:txBody>
          <a:bodyPr wrap="square" lIns="86868" tIns="43434" rIns="86868" bIns="43434" rtlCol="0">
            <a:spAutoFit/>
          </a:bodyPr>
          <a:lstStyle>
            <a:defPPr>
              <a:defRPr lang="zh-CN"/>
            </a:defPPr>
            <a:lvl1pPr>
              <a:defRPr>
                <a:solidFill>
                  <a:srgbClr val="24396B"/>
                </a:solidFill>
                <a:latin typeface="思源宋体 CN Heavy" panose="02020900000000000000" pitchFamily="18" charset="-122"/>
                <a:ea typeface="思源宋体 CN Heavy" panose="02020900000000000000" pitchFamily="18" charset="-122"/>
              </a:defRPr>
            </a:lvl1pPr>
          </a:lstStyle>
          <a:p>
            <a:pPr algn="ctr"/>
            <a:r>
              <a:rPr lang="zh-CN" altLang="en-US" sz="1520" dirty="0">
                <a:solidFill>
                  <a:schemeClr val="bg1"/>
                </a:solidFill>
                <a:latin typeface="微软雅黑" panose="020B0503020204020204" charset="-122"/>
                <a:ea typeface="微软雅黑" panose="020B0503020204020204" charset="-122"/>
                <a:cs typeface="微软雅黑" panose="020B0503020204020204" charset="-122"/>
              </a:rPr>
              <a:t>云平台</a:t>
            </a:r>
            <a:endParaRPr lang="zh-CN" altLang="en-US" sz="152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45" name="文本框 144"/>
          <p:cNvSpPr txBox="1"/>
          <p:nvPr/>
        </p:nvSpPr>
        <p:spPr>
          <a:xfrm>
            <a:off x="732473" y="5718930"/>
            <a:ext cx="1346970" cy="240030"/>
          </a:xfrm>
          <a:prstGeom prst="rect">
            <a:avLst/>
          </a:prstGeom>
          <a:noFill/>
          <a:effectLst/>
        </p:spPr>
        <p:txBody>
          <a:bodyPr wrap="square" lIns="86868" tIns="43434" rIns="86868" bIns="43434">
            <a:spAutoFit/>
          </a:bodyPr>
          <a:lstStyle/>
          <a:p>
            <a:pPr marL="0" marR="0" lvl="0" indent="0" algn="ctr" defTabSz="914400" rtl="0" eaLnBrk="1" fontAlgn="auto" latinLnBrk="0" hangingPunct="1">
              <a:lnSpc>
                <a:spcPct val="100000"/>
              </a:lnSpc>
              <a:spcBef>
                <a:spcPts val="0"/>
              </a:spcBef>
              <a:buClrTx/>
              <a:buSzTx/>
              <a:buFontTx/>
              <a:buNone/>
              <a:defRPr/>
            </a:pPr>
            <a:r>
              <a:rPr kumimoji="0" lang="en-US" altLang="zh-CN" sz="1000" b="1"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Cloud Platform</a:t>
            </a:r>
            <a:endParaRPr kumimoji="0" lang="en-US" altLang="zh-CN" sz="1000" b="1"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6" name="矩形 145"/>
          <p:cNvSpPr/>
          <p:nvPr/>
        </p:nvSpPr>
        <p:spPr>
          <a:xfrm>
            <a:off x="2337118" y="5378828"/>
            <a:ext cx="9265920" cy="649800"/>
          </a:xfrm>
          <a:prstGeom prst="rect">
            <a:avLst/>
          </a:prstGeom>
          <a:gradFill>
            <a:gsLst>
              <a:gs pos="0">
                <a:schemeClr val="accent1">
                  <a:lumMod val="60000"/>
                  <a:lumOff val="40000"/>
                </a:schemeClr>
              </a:gs>
              <a:gs pos="88000">
                <a:schemeClr val="accent1"/>
              </a:gs>
            </a:gsLst>
            <a:lin ang="0" scaled="0"/>
          </a:gradFill>
          <a:effectLst>
            <a:outerShdw blurRad="50800" dist="38100" dir="2700000" algn="tl" rotWithShape="0">
              <a:schemeClr val="accent1">
                <a:lumMod val="40000"/>
                <a:lumOff val="60000"/>
                <a:alpha val="40000"/>
              </a:schemeClr>
            </a:outerShdw>
          </a:effectLst>
        </p:spPr>
        <p:style>
          <a:lnRef idx="0">
            <a:srgbClr val="FFFFFF"/>
          </a:lnRef>
          <a:fillRef idx="1">
            <a:schemeClr val="accent2"/>
          </a:fillRef>
          <a:effectRef idx="0">
            <a:srgbClr val="FFFFFF"/>
          </a:effectRef>
          <a:fontRef idx="minor">
            <a:schemeClr val="dk1"/>
          </a:fontRef>
        </p:style>
        <p:txBody>
          <a:bodyPr spcFirstLastPara="0"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500" b="1"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49" name="矩形 148"/>
          <p:cNvSpPr/>
          <p:nvPr/>
        </p:nvSpPr>
        <p:spPr>
          <a:xfrm>
            <a:off x="7013614" y="3275391"/>
            <a:ext cx="4582800" cy="1948498"/>
          </a:xfrm>
          <a:prstGeom prst="rect">
            <a:avLst/>
          </a:prstGeom>
          <a:solidFill>
            <a:schemeClr val="accent5">
              <a:lumMod val="20000"/>
              <a:lumOff val="80000"/>
            </a:schemeClr>
          </a:solidFill>
          <a:ln>
            <a:solidFill>
              <a:schemeClr val="accent5">
                <a:alpha val="50000"/>
              </a:schemeClr>
            </a:solidFill>
          </a:ln>
        </p:spPr>
        <p:style>
          <a:lnRef idx="2">
            <a:schemeClr val="accent5"/>
          </a:lnRef>
          <a:fillRef idx="2">
            <a:schemeClr val="accent5"/>
          </a:fillRef>
          <a:effectRef idx="0">
            <a:srgbClr val="FFFFFF"/>
          </a:effectRef>
          <a:fontRef idx="minor">
            <a:schemeClr val="dk1"/>
          </a:fontRef>
        </p:style>
        <p:txBody>
          <a:bodyPr rot="0" spcFirstLastPara="1" vertOverflow="overflow" horzOverflow="overflow" vert="horz" wrap="square" lIns="45719" tIns="45719" rIns="45719" bIns="45719" numCol="1" spcCol="38100" rtlCol="0" fromWordArt="0" anchor="ctr" anchorCtr="0" forceAA="0" compatLnSpc="1">
            <a:noAutofit/>
          </a:bodyPr>
          <a:lstStyle/>
          <a:p>
            <a:pPr lvl="0" algn="l" hangingPunct="0">
              <a:buClrTx/>
              <a:buSzTx/>
              <a:buFontTx/>
            </a:pPr>
            <a:endParaRPr lang="zh-CN" altLang="en-US">
              <a:solidFill>
                <a:srgbClr val="000000">
                  <a:alpha val="80000"/>
                </a:srgbClr>
              </a:solidFill>
              <a:latin typeface="微软雅黑" panose="020B0503020204020204" charset="-122"/>
              <a:ea typeface="微软雅黑" panose="020B0503020204020204" charset="-122"/>
              <a:cs typeface="+mn-ea"/>
              <a:sym typeface="+mn-ea"/>
            </a:endParaRPr>
          </a:p>
        </p:txBody>
      </p:sp>
      <p:sp>
        <p:nvSpPr>
          <p:cNvPr id="151" name="矩形 150"/>
          <p:cNvSpPr/>
          <p:nvPr>
            <p:custDataLst>
              <p:tags r:id="rId4"/>
            </p:custDataLst>
          </p:nvPr>
        </p:nvSpPr>
        <p:spPr>
          <a:xfrm>
            <a:off x="4671060" y="2003577"/>
            <a:ext cx="2257200" cy="513000"/>
          </a:xfrm>
          <a:prstGeom prst="rect">
            <a:avLst/>
          </a:prstGeom>
          <a:solidFill>
            <a:schemeClr val="accent1">
              <a:lumMod val="20000"/>
              <a:lumOff val="80000"/>
              <a:alpha val="50000"/>
            </a:schemeClr>
          </a:solidFill>
          <a:ln>
            <a:solidFill>
              <a:schemeClr val="accent1">
                <a:lumMod val="60000"/>
                <a:lumOff val="40000"/>
              </a:schemeClr>
            </a:solidFill>
          </a:ln>
        </p:spPr>
        <p:style>
          <a:lnRef idx="0">
            <a:srgbClr val="FFFFFF"/>
          </a:lnRef>
          <a:fillRef idx="3">
            <a:schemeClr val="accent2"/>
          </a:fillRef>
          <a:effectRef idx="0">
            <a:srgbClr val="FFFFFF"/>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sym typeface="+mn-ea"/>
            </a:endParaRPr>
          </a:p>
        </p:txBody>
      </p:sp>
      <p:sp>
        <p:nvSpPr>
          <p:cNvPr id="152" name="矩形 151"/>
          <p:cNvSpPr/>
          <p:nvPr>
            <p:custDataLst>
              <p:tags r:id="rId5"/>
            </p:custDataLst>
          </p:nvPr>
        </p:nvSpPr>
        <p:spPr>
          <a:xfrm>
            <a:off x="7008449" y="2003577"/>
            <a:ext cx="2257200" cy="513000"/>
          </a:xfrm>
          <a:prstGeom prst="rect">
            <a:avLst/>
          </a:prstGeom>
          <a:solidFill>
            <a:schemeClr val="accent1">
              <a:lumMod val="20000"/>
              <a:lumOff val="80000"/>
              <a:alpha val="50000"/>
            </a:schemeClr>
          </a:solidFill>
          <a:ln>
            <a:solidFill>
              <a:schemeClr val="accent1">
                <a:lumMod val="60000"/>
                <a:lumOff val="40000"/>
              </a:schemeClr>
            </a:solidFill>
          </a:ln>
        </p:spPr>
        <p:style>
          <a:lnRef idx="0">
            <a:srgbClr val="FFFFFF"/>
          </a:lnRef>
          <a:fillRef idx="3">
            <a:schemeClr val="accent2"/>
          </a:fillRef>
          <a:effectRef idx="0">
            <a:srgbClr val="FFFFFF"/>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sym typeface="+mn-ea"/>
            </a:endParaRPr>
          </a:p>
        </p:txBody>
      </p:sp>
      <p:sp>
        <p:nvSpPr>
          <p:cNvPr id="153" name="矩形 152"/>
          <p:cNvSpPr/>
          <p:nvPr>
            <p:custDataLst>
              <p:tags r:id="rId6"/>
            </p:custDataLst>
          </p:nvPr>
        </p:nvSpPr>
        <p:spPr>
          <a:xfrm>
            <a:off x="9345839" y="2003577"/>
            <a:ext cx="2257200" cy="513000"/>
          </a:xfrm>
          <a:prstGeom prst="rect">
            <a:avLst/>
          </a:prstGeom>
          <a:solidFill>
            <a:schemeClr val="accent1">
              <a:lumMod val="20000"/>
              <a:lumOff val="80000"/>
              <a:alpha val="50000"/>
            </a:schemeClr>
          </a:solidFill>
          <a:ln>
            <a:solidFill>
              <a:schemeClr val="accent1">
                <a:lumMod val="60000"/>
                <a:lumOff val="40000"/>
              </a:schemeClr>
            </a:solidFill>
          </a:ln>
        </p:spPr>
        <p:style>
          <a:lnRef idx="0">
            <a:srgbClr val="FFFFFF"/>
          </a:lnRef>
          <a:fillRef idx="3">
            <a:schemeClr val="accent2"/>
          </a:fillRef>
          <a:effectRef idx="0">
            <a:srgbClr val="FFFFFF"/>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sym typeface="+mn-ea"/>
            </a:endParaRPr>
          </a:p>
        </p:txBody>
      </p:sp>
      <p:sp>
        <p:nvSpPr>
          <p:cNvPr id="154" name="矩形 153"/>
          <p:cNvSpPr/>
          <p:nvPr>
            <p:custDataLst>
              <p:tags r:id="rId7"/>
            </p:custDataLst>
          </p:nvPr>
        </p:nvSpPr>
        <p:spPr>
          <a:xfrm>
            <a:off x="2333886" y="2618892"/>
            <a:ext cx="2257200" cy="513000"/>
          </a:xfrm>
          <a:prstGeom prst="rect">
            <a:avLst/>
          </a:prstGeom>
          <a:solidFill>
            <a:schemeClr val="accent1">
              <a:lumMod val="20000"/>
              <a:lumOff val="80000"/>
              <a:alpha val="50000"/>
            </a:schemeClr>
          </a:solidFill>
          <a:ln>
            <a:solidFill>
              <a:schemeClr val="accent1">
                <a:lumMod val="60000"/>
                <a:lumOff val="40000"/>
              </a:schemeClr>
            </a:solidFill>
          </a:ln>
        </p:spPr>
        <p:style>
          <a:lnRef idx="0">
            <a:srgbClr val="FFFFFF"/>
          </a:lnRef>
          <a:fillRef idx="3">
            <a:schemeClr val="accent2"/>
          </a:fillRef>
          <a:effectRef idx="0">
            <a:srgbClr val="FFFFFF"/>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sym typeface="+mn-ea"/>
            </a:endParaRPr>
          </a:p>
        </p:txBody>
      </p:sp>
      <p:sp>
        <p:nvSpPr>
          <p:cNvPr id="155" name="矩形 154"/>
          <p:cNvSpPr/>
          <p:nvPr>
            <p:custDataLst>
              <p:tags r:id="rId8"/>
            </p:custDataLst>
          </p:nvPr>
        </p:nvSpPr>
        <p:spPr>
          <a:xfrm>
            <a:off x="4671060" y="2618892"/>
            <a:ext cx="2257200" cy="513000"/>
          </a:xfrm>
          <a:prstGeom prst="rect">
            <a:avLst/>
          </a:prstGeom>
          <a:solidFill>
            <a:schemeClr val="accent1">
              <a:lumMod val="20000"/>
              <a:lumOff val="80000"/>
              <a:alpha val="50000"/>
            </a:schemeClr>
          </a:solidFill>
          <a:ln>
            <a:solidFill>
              <a:schemeClr val="accent1">
                <a:lumMod val="60000"/>
                <a:lumOff val="40000"/>
              </a:schemeClr>
            </a:solidFill>
          </a:ln>
        </p:spPr>
        <p:style>
          <a:lnRef idx="0">
            <a:srgbClr val="FFFFFF"/>
          </a:lnRef>
          <a:fillRef idx="3">
            <a:schemeClr val="accent2"/>
          </a:fillRef>
          <a:effectRef idx="0">
            <a:srgbClr val="FFFFFF"/>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sym typeface="+mn-ea"/>
            </a:endParaRPr>
          </a:p>
        </p:txBody>
      </p:sp>
      <p:sp>
        <p:nvSpPr>
          <p:cNvPr id="156" name="矩形 155"/>
          <p:cNvSpPr/>
          <p:nvPr>
            <p:custDataLst>
              <p:tags r:id="rId9"/>
            </p:custDataLst>
          </p:nvPr>
        </p:nvSpPr>
        <p:spPr>
          <a:xfrm>
            <a:off x="6968285" y="2618892"/>
            <a:ext cx="2257200" cy="513000"/>
          </a:xfrm>
          <a:prstGeom prst="rect">
            <a:avLst/>
          </a:prstGeom>
          <a:solidFill>
            <a:schemeClr val="accent1">
              <a:lumMod val="20000"/>
              <a:lumOff val="80000"/>
              <a:alpha val="50000"/>
            </a:schemeClr>
          </a:solidFill>
          <a:ln>
            <a:solidFill>
              <a:schemeClr val="accent1">
                <a:lumMod val="60000"/>
                <a:lumOff val="40000"/>
              </a:schemeClr>
            </a:solidFill>
          </a:ln>
        </p:spPr>
        <p:style>
          <a:lnRef idx="0">
            <a:srgbClr val="FFFFFF"/>
          </a:lnRef>
          <a:fillRef idx="3">
            <a:schemeClr val="accent2"/>
          </a:fillRef>
          <a:effectRef idx="0">
            <a:srgbClr val="FFFFFF"/>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sym typeface="+mn-ea"/>
            </a:endParaRPr>
          </a:p>
        </p:txBody>
      </p:sp>
      <p:sp>
        <p:nvSpPr>
          <p:cNvPr id="158" name="矩形 157"/>
          <p:cNvSpPr/>
          <p:nvPr>
            <p:custDataLst>
              <p:tags r:id="rId10"/>
            </p:custDataLst>
          </p:nvPr>
        </p:nvSpPr>
        <p:spPr>
          <a:xfrm>
            <a:off x="9345839" y="2618892"/>
            <a:ext cx="2257200" cy="513000"/>
          </a:xfrm>
          <a:prstGeom prst="rect">
            <a:avLst/>
          </a:prstGeom>
          <a:solidFill>
            <a:schemeClr val="accent1">
              <a:lumMod val="20000"/>
              <a:lumOff val="80000"/>
              <a:alpha val="50000"/>
            </a:schemeClr>
          </a:solidFill>
          <a:ln>
            <a:solidFill>
              <a:schemeClr val="accent1">
                <a:lumMod val="60000"/>
                <a:lumOff val="40000"/>
              </a:schemeClr>
            </a:solidFill>
          </a:ln>
        </p:spPr>
        <p:style>
          <a:lnRef idx="0">
            <a:srgbClr val="FFFFFF"/>
          </a:lnRef>
          <a:fillRef idx="3">
            <a:schemeClr val="accent2"/>
          </a:fillRef>
          <a:effectRef idx="0">
            <a:srgbClr val="FFFFFF"/>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sym typeface="+mn-ea"/>
            </a:endParaRPr>
          </a:p>
        </p:txBody>
      </p:sp>
      <p:sp>
        <p:nvSpPr>
          <p:cNvPr id="159" name="矩形 158"/>
          <p:cNvSpPr/>
          <p:nvPr/>
        </p:nvSpPr>
        <p:spPr>
          <a:xfrm>
            <a:off x="2333671" y="1221256"/>
            <a:ext cx="855000" cy="628242"/>
          </a:xfrm>
          <a:prstGeom prst="rect">
            <a:avLst/>
          </a:prstGeom>
          <a:solidFill>
            <a:schemeClr val="bg1"/>
          </a:solidFill>
          <a:ln>
            <a:solidFill>
              <a:schemeClr val="accent1">
                <a:lumMod val="60000"/>
                <a:lumOff val="40000"/>
              </a:schemeClr>
            </a:solidFill>
          </a:ln>
          <a:effectLst>
            <a:outerShdw blurRad="50800" dist="38100" dir="5400000" algn="ctr" rotWithShape="0">
              <a:schemeClr val="accent1">
                <a:lumMod val="40000"/>
                <a:lumOff val="60000"/>
                <a:alpha val="40000"/>
              </a:schemeClr>
            </a:outerShdw>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0" name="矩形 159"/>
          <p:cNvSpPr/>
          <p:nvPr/>
        </p:nvSpPr>
        <p:spPr>
          <a:xfrm>
            <a:off x="3267865" y="1221256"/>
            <a:ext cx="855000" cy="628242"/>
          </a:xfrm>
          <a:prstGeom prst="rect">
            <a:avLst/>
          </a:prstGeom>
          <a:solidFill>
            <a:schemeClr val="bg1"/>
          </a:solidFill>
          <a:ln>
            <a:solidFill>
              <a:schemeClr val="accent1">
                <a:lumMod val="60000"/>
                <a:lumOff val="40000"/>
              </a:schemeClr>
            </a:solidFill>
          </a:ln>
          <a:effectLst>
            <a:outerShdw blurRad="50800" dist="38100" dir="5400000" algn="ctr" rotWithShape="0">
              <a:schemeClr val="accent1">
                <a:lumMod val="40000"/>
                <a:lumOff val="60000"/>
                <a:alpha val="40000"/>
              </a:schemeClr>
            </a:outerShdw>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1" name="矩形 160"/>
          <p:cNvSpPr/>
          <p:nvPr/>
        </p:nvSpPr>
        <p:spPr>
          <a:xfrm>
            <a:off x="4202059" y="1221256"/>
            <a:ext cx="855000" cy="628242"/>
          </a:xfrm>
          <a:prstGeom prst="rect">
            <a:avLst/>
          </a:prstGeom>
          <a:solidFill>
            <a:schemeClr val="bg1"/>
          </a:solidFill>
          <a:ln>
            <a:solidFill>
              <a:schemeClr val="accent1">
                <a:lumMod val="60000"/>
                <a:lumOff val="40000"/>
              </a:schemeClr>
            </a:solidFill>
          </a:ln>
          <a:effectLst>
            <a:outerShdw blurRad="50800" dist="38100" dir="5400000" algn="ctr" rotWithShape="0">
              <a:schemeClr val="accent1">
                <a:lumMod val="40000"/>
                <a:lumOff val="60000"/>
                <a:alpha val="40000"/>
              </a:schemeClr>
            </a:outerShdw>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2" name="矩形 161"/>
          <p:cNvSpPr/>
          <p:nvPr/>
        </p:nvSpPr>
        <p:spPr>
          <a:xfrm>
            <a:off x="5136252" y="1221256"/>
            <a:ext cx="855000" cy="628242"/>
          </a:xfrm>
          <a:prstGeom prst="rect">
            <a:avLst/>
          </a:prstGeom>
          <a:solidFill>
            <a:schemeClr val="bg1"/>
          </a:solidFill>
          <a:ln>
            <a:solidFill>
              <a:schemeClr val="accent1">
                <a:lumMod val="60000"/>
                <a:lumOff val="40000"/>
              </a:schemeClr>
            </a:solidFill>
          </a:ln>
          <a:effectLst>
            <a:outerShdw blurRad="50800" dist="38100" dir="5400000" algn="ctr" rotWithShape="0">
              <a:schemeClr val="accent1">
                <a:lumMod val="40000"/>
                <a:lumOff val="60000"/>
                <a:alpha val="40000"/>
              </a:schemeClr>
            </a:outerShdw>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3" name="矩形 162"/>
          <p:cNvSpPr/>
          <p:nvPr/>
        </p:nvSpPr>
        <p:spPr>
          <a:xfrm>
            <a:off x="6070446" y="1221256"/>
            <a:ext cx="855000" cy="628242"/>
          </a:xfrm>
          <a:prstGeom prst="rect">
            <a:avLst/>
          </a:prstGeom>
          <a:solidFill>
            <a:schemeClr val="bg1"/>
          </a:solidFill>
          <a:ln>
            <a:solidFill>
              <a:schemeClr val="accent1">
                <a:lumMod val="60000"/>
                <a:lumOff val="40000"/>
              </a:schemeClr>
            </a:solidFill>
          </a:ln>
          <a:effectLst>
            <a:outerShdw blurRad="50800" dist="38100" dir="5400000" algn="ctr" rotWithShape="0">
              <a:schemeClr val="accent1">
                <a:lumMod val="40000"/>
                <a:lumOff val="60000"/>
                <a:alpha val="40000"/>
              </a:schemeClr>
            </a:outerShdw>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4" name="矩形 163"/>
          <p:cNvSpPr/>
          <p:nvPr/>
        </p:nvSpPr>
        <p:spPr>
          <a:xfrm>
            <a:off x="7004640" y="1221256"/>
            <a:ext cx="855000" cy="628242"/>
          </a:xfrm>
          <a:prstGeom prst="rect">
            <a:avLst/>
          </a:prstGeom>
          <a:solidFill>
            <a:schemeClr val="bg1"/>
          </a:solidFill>
          <a:ln>
            <a:solidFill>
              <a:schemeClr val="accent1">
                <a:lumMod val="60000"/>
                <a:lumOff val="40000"/>
              </a:schemeClr>
            </a:solidFill>
          </a:ln>
          <a:effectLst>
            <a:outerShdw blurRad="50800" dist="38100" dir="5400000" algn="ctr" rotWithShape="0">
              <a:schemeClr val="accent1">
                <a:lumMod val="40000"/>
                <a:lumOff val="60000"/>
                <a:alpha val="40000"/>
              </a:schemeClr>
            </a:outerShdw>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5" name="矩形 164"/>
          <p:cNvSpPr/>
          <p:nvPr/>
        </p:nvSpPr>
        <p:spPr>
          <a:xfrm>
            <a:off x="7938833" y="1221256"/>
            <a:ext cx="855000" cy="628242"/>
          </a:xfrm>
          <a:prstGeom prst="rect">
            <a:avLst/>
          </a:prstGeom>
          <a:solidFill>
            <a:schemeClr val="bg1"/>
          </a:solidFill>
          <a:ln>
            <a:solidFill>
              <a:schemeClr val="accent1">
                <a:lumMod val="60000"/>
                <a:lumOff val="40000"/>
              </a:schemeClr>
            </a:solidFill>
          </a:ln>
          <a:effectLst>
            <a:outerShdw blurRad="50800" dist="38100" dir="5400000" algn="ctr" rotWithShape="0">
              <a:schemeClr val="accent1">
                <a:lumMod val="40000"/>
                <a:lumOff val="60000"/>
                <a:alpha val="40000"/>
              </a:schemeClr>
            </a:outerShdw>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6" name="矩形 165"/>
          <p:cNvSpPr/>
          <p:nvPr/>
        </p:nvSpPr>
        <p:spPr>
          <a:xfrm>
            <a:off x="8873028" y="1221256"/>
            <a:ext cx="855000" cy="628242"/>
          </a:xfrm>
          <a:prstGeom prst="rect">
            <a:avLst/>
          </a:prstGeom>
          <a:solidFill>
            <a:schemeClr val="bg1"/>
          </a:solidFill>
          <a:ln>
            <a:solidFill>
              <a:schemeClr val="accent1">
                <a:lumMod val="60000"/>
                <a:lumOff val="40000"/>
              </a:schemeClr>
            </a:solidFill>
          </a:ln>
          <a:effectLst>
            <a:outerShdw blurRad="50800" dist="38100" dir="5400000" algn="ctr" rotWithShape="0">
              <a:schemeClr val="accent1">
                <a:lumMod val="40000"/>
                <a:lumOff val="60000"/>
                <a:alpha val="40000"/>
              </a:schemeClr>
            </a:outerShdw>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7" name="矩形 166"/>
          <p:cNvSpPr/>
          <p:nvPr/>
        </p:nvSpPr>
        <p:spPr>
          <a:xfrm>
            <a:off x="9807222" y="1221256"/>
            <a:ext cx="855000" cy="628242"/>
          </a:xfrm>
          <a:prstGeom prst="rect">
            <a:avLst/>
          </a:prstGeom>
          <a:solidFill>
            <a:schemeClr val="bg1"/>
          </a:solidFill>
          <a:ln>
            <a:solidFill>
              <a:schemeClr val="accent1">
                <a:lumMod val="60000"/>
                <a:lumOff val="40000"/>
              </a:schemeClr>
            </a:solidFill>
          </a:ln>
          <a:effectLst>
            <a:outerShdw blurRad="50800" dist="38100" dir="5400000" algn="ctr" rotWithShape="0">
              <a:schemeClr val="accent1">
                <a:lumMod val="40000"/>
                <a:lumOff val="60000"/>
                <a:alpha val="40000"/>
              </a:schemeClr>
            </a:outerShdw>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8" name="矩形 167"/>
          <p:cNvSpPr/>
          <p:nvPr/>
        </p:nvSpPr>
        <p:spPr>
          <a:xfrm>
            <a:off x="10744726" y="1221256"/>
            <a:ext cx="855000" cy="628242"/>
          </a:xfrm>
          <a:prstGeom prst="rect">
            <a:avLst/>
          </a:prstGeom>
          <a:solidFill>
            <a:schemeClr val="bg1"/>
          </a:solidFill>
          <a:ln>
            <a:solidFill>
              <a:schemeClr val="accent1">
                <a:lumMod val="60000"/>
                <a:lumOff val="40000"/>
              </a:schemeClr>
            </a:solidFill>
          </a:ln>
          <a:effectLst>
            <a:outerShdw blurRad="50800" dist="38100" dir="5400000" algn="ctr" rotWithShape="0">
              <a:schemeClr val="accent1">
                <a:lumMod val="40000"/>
                <a:lumOff val="60000"/>
                <a:alpha val="40000"/>
              </a:schemeClr>
            </a:outerShdw>
          </a:effectLst>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9" name="文本框 168"/>
          <p:cNvSpPr txBox="1"/>
          <p:nvPr/>
        </p:nvSpPr>
        <p:spPr>
          <a:xfrm>
            <a:off x="2478882" y="3371421"/>
            <a:ext cx="1503601" cy="319405"/>
          </a:xfrm>
          <a:prstGeom prst="rect">
            <a:avLst/>
          </a:prstGeom>
          <a:noFill/>
          <a:effectLst/>
        </p:spPr>
        <p:txBody>
          <a:bodyPr wrap="square" lIns="86868" tIns="43434" rIns="86868" bIns="43434" rtlCol="0">
            <a:spAutoFit/>
          </a:bodyPr>
          <a:lstStyle>
            <a:defPPr>
              <a:defRPr lang="zh-CN"/>
            </a:defPPr>
            <a:lvl1pPr>
              <a:defRPr>
                <a:solidFill>
                  <a:srgbClr val="24396B"/>
                </a:solidFill>
                <a:latin typeface="思源宋体 CN Heavy" panose="02020900000000000000" pitchFamily="18" charset="-122"/>
                <a:ea typeface="思源宋体 CN Heavy" panose="02020900000000000000" pitchFamily="18" charset="-122"/>
              </a:defRPr>
            </a:lvl1pPr>
          </a:lstStyle>
          <a:p>
            <a:r>
              <a:rPr lang="zh-CN" altLang="en-US" sz="1520" b="1" dirty="0">
                <a:solidFill>
                  <a:schemeClr val="tx2"/>
                </a:solidFill>
                <a:latin typeface="微软雅黑" panose="020B0503020204020204" charset="-122"/>
                <a:ea typeface="微软雅黑" panose="020B0503020204020204" charset="-122"/>
                <a:cs typeface="微软雅黑" panose="020B0503020204020204" charset="-122"/>
              </a:rPr>
              <a:t>业务中台</a:t>
            </a:r>
            <a:endParaRPr lang="zh-CN" altLang="en-US" sz="152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0" name="文本框 169"/>
          <p:cNvSpPr txBox="1"/>
          <p:nvPr/>
        </p:nvSpPr>
        <p:spPr>
          <a:xfrm>
            <a:off x="3369310" y="3425190"/>
            <a:ext cx="2195195" cy="260985"/>
          </a:xfrm>
          <a:prstGeom prst="rect">
            <a:avLst/>
          </a:prstGeom>
          <a:noFill/>
          <a:effectLst/>
        </p:spPr>
        <p:txBody>
          <a:bodyPr wrap="square" lIns="86868" tIns="43434" rIns="86868" bIns="43434">
            <a:spAutoFit/>
          </a:bodyPr>
          <a:lstStyle/>
          <a:p>
            <a:pPr marL="0" marR="0" lvl="0" indent="0" defTabSz="914400" rtl="0" eaLnBrk="1" fontAlgn="auto" latinLnBrk="0" hangingPunct="1">
              <a:lnSpc>
                <a:spcPct val="100000"/>
              </a:lnSpc>
              <a:spcBef>
                <a:spcPts val="0"/>
              </a:spcBef>
              <a:buClrTx/>
              <a:buSzTx/>
              <a:buFontTx/>
              <a:buNone/>
              <a:defRPr/>
            </a:pPr>
            <a:r>
              <a:rPr kumimoji="0" lang="en-US" altLang="zh-CN" sz="114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Business Middle Platform</a:t>
            </a:r>
            <a:endParaRPr kumimoji="0" lang="en-US" altLang="zh-CN" sz="114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71" name="文本框 170"/>
          <p:cNvSpPr txBox="1"/>
          <p:nvPr/>
        </p:nvSpPr>
        <p:spPr>
          <a:xfrm>
            <a:off x="7153209" y="3371421"/>
            <a:ext cx="1503601" cy="319405"/>
          </a:xfrm>
          <a:prstGeom prst="rect">
            <a:avLst/>
          </a:prstGeom>
          <a:noFill/>
          <a:effectLst/>
        </p:spPr>
        <p:txBody>
          <a:bodyPr wrap="square" lIns="86868" tIns="43434" rIns="86868" bIns="43434" rtlCol="0">
            <a:spAutoFit/>
          </a:bodyPr>
          <a:lstStyle>
            <a:defPPr>
              <a:defRPr lang="zh-CN"/>
            </a:defPPr>
            <a:lvl1pPr>
              <a:defRPr>
                <a:solidFill>
                  <a:srgbClr val="24396B"/>
                </a:solidFill>
                <a:latin typeface="思源宋体 CN Heavy" panose="02020900000000000000" pitchFamily="18" charset="-122"/>
                <a:ea typeface="思源宋体 CN Heavy" panose="02020900000000000000" pitchFamily="18" charset="-122"/>
              </a:defRPr>
            </a:lvl1pPr>
          </a:lstStyle>
          <a:p>
            <a:r>
              <a:rPr lang="zh-CN" altLang="en-US" sz="1520" b="1" dirty="0">
                <a:solidFill>
                  <a:schemeClr val="tx2"/>
                </a:solidFill>
                <a:latin typeface="微软雅黑" panose="020B0503020204020204" charset="-122"/>
                <a:ea typeface="微软雅黑" panose="020B0503020204020204" charset="-122"/>
                <a:cs typeface="微软雅黑" panose="020B0503020204020204" charset="-122"/>
              </a:rPr>
              <a:t>数据中台</a:t>
            </a:r>
            <a:endParaRPr lang="zh-CN" altLang="en-US" sz="152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2" name="文本框 171"/>
          <p:cNvSpPr txBox="1"/>
          <p:nvPr/>
        </p:nvSpPr>
        <p:spPr>
          <a:xfrm>
            <a:off x="8043545" y="3425190"/>
            <a:ext cx="1924050" cy="260985"/>
          </a:xfrm>
          <a:prstGeom prst="rect">
            <a:avLst/>
          </a:prstGeom>
          <a:noFill/>
          <a:effectLst/>
        </p:spPr>
        <p:txBody>
          <a:bodyPr wrap="square" lIns="86868" tIns="43434" rIns="86868" bIns="43434">
            <a:spAutoFit/>
          </a:bodyPr>
          <a:lstStyle/>
          <a:p>
            <a:pPr marL="0" marR="0" lvl="0" indent="0" defTabSz="914400" rtl="0" eaLnBrk="1" fontAlgn="auto" latinLnBrk="0" hangingPunct="1">
              <a:lnSpc>
                <a:spcPct val="100000"/>
              </a:lnSpc>
              <a:spcBef>
                <a:spcPts val="0"/>
              </a:spcBef>
              <a:buClrTx/>
              <a:buSzTx/>
              <a:buFontTx/>
              <a:buNone/>
              <a:defRPr/>
            </a:pPr>
            <a:r>
              <a:rPr kumimoji="0" lang="en-US" altLang="zh-CN" sz="114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Data Middle Platform</a:t>
            </a:r>
            <a:endParaRPr kumimoji="0" lang="en-US" altLang="zh-CN" sz="114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73" name="矩形: 圆角 452"/>
          <p:cNvSpPr/>
          <p:nvPr>
            <p:custDataLst>
              <p:tags r:id="rId11"/>
            </p:custDataLst>
          </p:nvPr>
        </p:nvSpPr>
        <p:spPr>
          <a:xfrm>
            <a:off x="2561884" y="3805953"/>
            <a:ext cx="1109924" cy="271059"/>
          </a:xfrm>
          <a:prstGeom prst="roundRect">
            <a:avLst>
              <a:gd name="adj" fmla="val 50000"/>
            </a:avLst>
          </a:prstGeom>
          <a:ln>
            <a:solidFill>
              <a:schemeClr val="accent5">
                <a:lumMod val="60000"/>
                <a:lumOff val="40000"/>
              </a:schemeClr>
            </a:solidFill>
          </a:ln>
        </p:spPr>
        <p:style>
          <a:lnRef idx="2">
            <a:schemeClr val="accent5"/>
          </a:lnRef>
          <a:fillRef idx="1">
            <a:schemeClr val="lt1"/>
          </a:fillRef>
          <a:effectRef idx="0">
            <a:schemeClr val="accent5"/>
          </a:effectRef>
          <a:fontRef idx="minor">
            <a:schemeClr val="dk1"/>
          </a:fontRef>
        </p:style>
        <p:txBody>
          <a:bodyPr lIns="93817" tIns="46909" rIns="93817" bIns="46909" rtlCol="0" anchor="ct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用户中心</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174" name="文本框 173"/>
          <p:cNvSpPr txBox="1"/>
          <p:nvPr/>
        </p:nvSpPr>
        <p:spPr>
          <a:xfrm>
            <a:off x="1119696" y="4370501"/>
            <a:ext cx="947752" cy="263149"/>
          </a:xfrm>
          <a:prstGeom prst="rect">
            <a:avLst/>
          </a:prstGeom>
          <a:noFill/>
          <a:effectLst/>
        </p:spPr>
        <p:txBody>
          <a:bodyPr wrap="square" lIns="86868" tIns="43434" rIns="86868" bIns="43434" rtlCol="0">
            <a:spAutoFit/>
          </a:bodyPr>
          <a:lstStyle/>
          <a:p>
            <a:pPr algn="ctr"/>
            <a:r>
              <a:rPr lang="zh-CN" altLang="en-US" sz="1140" dirty="0">
                <a:solidFill>
                  <a:srgbClr val="000000"/>
                </a:solidFill>
                <a:latin typeface="微软雅黑" panose="020B0503020204020204" charset="-122"/>
                <a:ea typeface="微软雅黑" panose="020B0503020204020204" charset="-122"/>
                <a:cs typeface="微软雅黑" panose="020B0503020204020204" charset="-122"/>
              </a:rPr>
              <a:t>库存中心</a:t>
            </a:r>
            <a:endParaRPr lang="zh-CN" altLang="en-US" sz="1140" dirty="0">
              <a:solidFill>
                <a:srgbClr val="000000"/>
              </a:solidFill>
              <a:effectLst/>
              <a:latin typeface="微软雅黑" panose="020B0503020204020204" charset="-122"/>
              <a:ea typeface="微软雅黑" panose="020B0503020204020204" charset="-122"/>
              <a:cs typeface="微软雅黑" panose="020B0503020204020204" charset="-122"/>
            </a:endParaRPr>
          </a:p>
        </p:txBody>
      </p:sp>
      <p:sp>
        <p:nvSpPr>
          <p:cNvPr id="175" name="文本框 174"/>
          <p:cNvSpPr txBox="1"/>
          <p:nvPr/>
        </p:nvSpPr>
        <p:spPr>
          <a:xfrm>
            <a:off x="1119696" y="4839313"/>
            <a:ext cx="947752" cy="263149"/>
          </a:xfrm>
          <a:prstGeom prst="rect">
            <a:avLst/>
          </a:prstGeom>
          <a:noFill/>
          <a:effectLst/>
        </p:spPr>
        <p:txBody>
          <a:bodyPr wrap="square" lIns="86868" tIns="43434" rIns="86868" bIns="43434" rtlCol="0">
            <a:spAutoFit/>
          </a:bodyPr>
          <a:lstStyle/>
          <a:p>
            <a:pPr algn="ctr"/>
            <a:r>
              <a:rPr lang="zh-CN" altLang="en-US" sz="1140" dirty="0">
                <a:solidFill>
                  <a:srgbClr val="000000"/>
                </a:solidFill>
                <a:latin typeface="微软雅黑" panose="020B0503020204020204" charset="-122"/>
                <a:ea typeface="微软雅黑" panose="020B0503020204020204" charset="-122"/>
                <a:cs typeface="微软雅黑" panose="020B0503020204020204" charset="-122"/>
              </a:rPr>
              <a:t>生产中心</a:t>
            </a:r>
            <a:endParaRPr lang="zh-CN" altLang="en-US" sz="1140" dirty="0">
              <a:solidFill>
                <a:srgbClr val="000000"/>
              </a:solidFill>
              <a:effectLst/>
              <a:latin typeface="微软雅黑" panose="020B0503020204020204" charset="-122"/>
              <a:ea typeface="微软雅黑" panose="020B0503020204020204" charset="-122"/>
              <a:cs typeface="微软雅黑" panose="020B0503020204020204" charset="-122"/>
            </a:endParaRPr>
          </a:p>
        </p:txBody>
      </p:sp>
      <p:sp>
        <p:nvSpPr>
          <p:cNvPr id="177" name="矩形 176"/>
          <p:cNvSpPr/>
          <p:nvPr/>
        </p:nvSpPr>
        <p:spPr>
          <a:xfrm>
            <a:off x="7250981" y="3842446"/>
            <a:ext cx="583252" cy="1230630"/>
          </a:xfrm>
          <a:prstGeom prst="rect">
            <a:avLst/>
          </a:prstGeom>
          <a:ln>
            <a:solidFill>
              <a:schemeClr val="accent5">
                <a:lumMod val="60000"/>
                <a:lumOff val="40000"/>
              </a:schemeClr>
            </a:solidFill>
            <a:prstDash val="sysDash"/>
          </a:ln>
        </p:spPr>
        <p:style>
          <a:lnRef idx="2">
            <a:schemeClr val="accent5"/>
          </a:lnRef>
          <a:fillRef idx="1">
            <a:schemeClr val="lt1"/>
          </a:fillRef>
          <a:effectRef idx="0">
            <a:schemeClr val="accent5"/>
          </a:effectRef>
          <a:fontRef idx="minor">
            <a:schemeClr val="dk1"/>
          </a:fontRef>
        </p:style>
        <p:txBody>
          <a:bodyPr lIns="91440" tIns="45720" rIns="91440" bIns="45720" rtlCol="0" anchor="ctr">
            <a:noAutofit/>
          </a:bodyPr>
          <a:lstStyle/>
          <a:p>
            <a:pPr lvl="0" algn="l">
              <a:buClrTx/>
              <a:buSzTx/>
              <a:buFontTx/>
            </a:pPr>
            <a:endParaRPr kumimoji="1" lang="zh-CN" altLang="en-US" sz="1400" dirty="0">
              <a:solidFill>
                <a:srgbClr val="000000">
                  <a:lumMod val="65000"/>
                  <a:lumOff val="3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78" name="矩形 177"/>
          <p:cNvSpPr/>
          <p:nvPr/>
        </p:nvSpPr>
        <p:spPr>
          <a:xfrm>
            <a:off x="7902488" y="4714142"/>
            <a:ext cx="1759591" cy="358934"/>
          </a:xfrm>
          <a:prstGeom prst="rect">
            <a:avLst/>
          </a:prstGeom>
          <a:ln>
            <a:solidFill>
              <a:schemeClr val="accent5">
                <a:lumMod val="60000"/>
                <a:lumOff val="40000"/>
              </a:schemeClr>
            </a:solidFill>
            <a:prstDash val="sysDash"/>
          </a:ln>
        </p:spPr>
        <p:style>
          <a:lnRef idx="2">
            <a:schemeClr val="accent5"/>
          </a:lnRef>
          <a:fillRef idx="1">
            <a:schemeClr val="lt1"/>
          </a:fillRef>
          <a:effectRef idx="0">
            <a:schemeClr val="accent5"/>
          </a:effectRef>
          <a:fontRef idx="minor">
            <a:schemeClr val="dk1"/>
          </a:fontRef>
        </p:style>
        <p:txBody>
          <a:bodyPr lIns="91440" tIns="45720" rIns="91440" bIns="45720" rtlCol="0" anchor="ctr">
            <a:noAutofit/>
          </a:bodyPr>
          <a:lstStyle/>
          <a:p>
            <a:pPr lvl="0" algn="l">
              <a:buClrTx/>
              <a:buSzTx/>
              <a:buFontTx/>
            </a:pPr>
            <a:endParaRPr kumimoji="1" lang="zh-CN" altLang="en-US" sz="1400">
              <a:solidFill>
                <a:srgbClr val="000000">
                  <a:lumMod val="65000"/>
                  <a:lumOff val="3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79" name="矩形 178"/>
          <p:cNvSpPr/>
          <p:nvPr/>
        </p:nvSpPr>
        <p:spPr>
          <a:xfrm>
            <a:off x="9721287" y="4714142"/>
            <a:ext cx="1759591" cy="358934"/>
          </a:xfrm>
          <a:prstGeom prst="rect">
            <a:avLst/>
          </a:prstGeom>
          <a:ln>
            <a:solidFill>
              <a:schemeClr val="accent5">
                <a:lumMod val="60000"/>
                <a:lumOff val="40000"/>
              </a:schemeClr>
            </a:solidFill>
            <a:prstDash val="sysDash"/>
          </a:ln>
        </p:spPr>
        <p:style>
          <a:lnRef idx="2">
            <a:schemeClr val="accent5"/>
          </a:lnRef>
          <a:fillRef idx="1">
            <a:schemeClr val="lt1"/>
          </a:fillRef>
          <a:effectRef idx="0">
            <a:schemeClr val="accent5"/>
          </a:effectRef>
          <a:fontRef idx="minor">
            <a:schemeClr val="dk1"/>
          </a:fontRef>
        </p:style>
        <p:txBody>
          <a:bodyPr lIns="91440" tIns="45720" rIns="91440" bIns="45720" rtlCol="0" anchor="ctr">
            <a:noAutofit/>
          </a:bodyPr>
          <a:lstStyle/>
          <a:p>
            <a:pPr lvl="0" algn="l">
              <a:buClrTx/>
              <a:buSzTx/>
              <a:buFontTx/>
            </a:pPr>
            <a:endParaRPr kumimoji="1" lang="zh-CN" altLang="en-US" sz="1400">
              <a:solidFill>
                <a:srgbClr val="000000">
                  <a:lumMod val="65000"/>
                  <a:lumOff val="3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81" name="矩形 180"/>
          <p:cNvSpPr/>
          <p:nvPr/>
        </p:nvSpPr>
        <p:spPr>
          <a:xfrm>
            <a:off x="7902488" y="4274373"/>
            <a:ext cx="3569342" cy="358934"/>
          </a:xfrm>
          <a:prstGeom prst="rect">
            <a:avLst/>
          </a:prstGeom>
          <a:ln>
            <a:solidFill>
              <a:schemeClr val="accent5">
                <a:lumMod val="60000"/>
                <a:lumOff val="40000"/>
              </a:schemeClr>
            </a:solidFill>
            <a:prstDash val="sysDash"/>
          </a:ln>
        </p:spPr>
        <p:style>
          <a:lnRef idx="2">
            <a:schemeClr val="accent5"/>
          </a:lnRef>
          <a:fillRef idx="1">
            <a:schemeClr val="lt1"/>
          </a:fillRef>
          <a:effectRef idx="0">
            <a:schemeClr val="accent5"/>
          </a:effectRef>
          <a:fontRef idx="minor">
            <a:schemeClr val="dk1"/>
          </a:fontRef>
        </p:style>
        <p:txBody>
          <a:bodyPr lIns="91440" tIns="45720" rIns="91440" bIns="45720" rtlCol="0" anchor="ctr">
            <a:noAutofit/>
          </a:bodyPr>
          <a:lstStyle/>
          <a:p>
            <a:pPr lvl="0" algn="l">
              <a:buClrTx/>
              <a:buSzTx/>
              <a:buFontTx/>
            </a:pPr>
            <a:endParaRPr kumimoji="1" lang="zh-CN" altLang="en-US" sz="1400">
              <a:solidFill>
                <a:srgbClr val="000000">
                  <a:lumMod val="65000"/>
                  <a:lumOff val="3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82" name="矩形 181"/>
          <p:cNvSpPr/>
          <p:nvPr/>
        </p:nvSpPr>
        <p:spPr>
          <a:xfrm>
            <a:off x="7902488" y="3844859"/>
            <a:ext cx="3569342" cy="358934"/>
          </a:xfrm>
          <a:prstGeom prst="rect">
            <a:avLst/>
          </a:prstGeom>
          <a:ln>
            <a:solidFill>
              <a:schemeClr val="accent5">
                <a:lumMod val="60000"/>
                <a:lumOff val="40000"/>
              </a:schemeClr>
            </a:solidFill>
            <a:prstDash val="sysDash"/>
          </a:ln>
        </p:spPr>
        <p:style>
          <a:lnRef idx="2">
            <a:schemeClr val="accent5"/>
          </a:lnRef>
          <a:fillRef idx="1">
            <a:schemeClr val="lt1"/>
          </a:fillRef>
          <a:effectRef idx="0">
            <a:schemeClr val="accent5"/>
          </a:effectRef>
          <a:fontRef idx="minor">
            <a:schemeClr val="dk1"/>
          </a:fontRef>
        </p:style>
        <p:txBody>
          <a:bodyPr lIns="91440" tIns="45720" rIns="91440" bIns="45720" rtlCol="0" anchor="ctr">
            <a:noAutofit/>
          </a:bodyPr>
          <a:lstStyle/>
          <a:p>
            <a:pPr lvl="0" algn="l">
              <a:buClrTx/>
              <a:buSzTx/>
              <a:buFontTx/>
            </a:pPr>
            <a:endParaRPr kumimoji="1" lang="zh-CN" altLang="en-US" sz="1400">
              <a:solidFill>
                <a:srgbClr val="000000">
                  <a:lumMod val="65000"/>
                  <a:lumOff val="3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83" name="文本框 182"/>
          <p:cNvSpPr txBox="1"/>
          <p:nvPr/>
        </p:nvSpPr>
        <p:spPr>
          <a:xfrm>
            <a:off x="7392703" y="3950109"/>
            <a:ext cx="323897" cy="1052596"/>
          </a:xfrm>
          <a:prstGeom prst="rect">
            <a:avLst/>
          </a:prstGeom>
          <a:noFill/>
          <a:effectLst/>
        </p:spPr>
        <p:txBody>
          <a:bodyPr wrap="square" lIns="86868" tIns="43434" rIns="86868" bIns="43434" rtlCol="0">
            <a:spAutoFit/>
          </a:bodyPr>
          <a:lstStyle/>
          <a:p>
            <a:pPr algn="ctr"/>
            <a:r>
              <a:rPr lang="zh-CN" altLang="en-US" sz="1045" dirty="0">
                <a:solidFill>
                  <a:schemeClr val="accent6"/>
                </a:solidFill>
                <a:effectLst/>
                <a:latin typeface="微软雅黑" panose="020B0503020204020204" charset="-122"/>
                <a:ea typeface="微软雅黑" panose="020B0503020204020204" charset="-122"/>
                <a:cs typeface="微软雅黑" panose="020B0503020204020204" charset="-122"/>
              </a:rPr>
              <a:t>数据运营体系</a:t>
            </a:r>
            <a:endParaRPr lang="zh-CN" altLang="en-US" sz="1045" dirty="0">
              <a:solidFill>
                <a:schemeClr val="accent6"/>
              </a:solidFill>
              <a:effectLst/>
              <a:latin typeface="微软雅黑" panose="020B0503020204020204" charset="-122"/>
              <a:ea typeface="微软雅黑" panose="020B0503020204020204" charset="-122"/>
              <a:cs typeface="微软雅黑" panose="020B0503020204020204" charset="-122"/>
            </a:endParaRPr>
          </a:p>
        </p:txBody>
      </p:sp>
      <p:sp>
        <p:nvSpPr>
          <p:cNvPr id="184" name="文本框 183"/>
          <p:cNvSpPr txBox="1"/>
          <p:nvPr/>
        </p:nvSpPr>
        <p:spPr>
          <a:xfrm>
            <a:off x="7980871" y="3904866"/>
            <a:ext cx="966358" cy="248529"/>
          </a:xfrm>
          <a:prstGeom prst="rect">
            <a:avLst/>
          </a:prstGeom>
          <a:noFill/>
          <a:effectLst/>
        </p:spPr>
        <p:txBody>
          <a:bodyPr wrap="square" lIns="86868" tIns="43434" rIns="86868" bIns="43434" rtlCol="0">
            <a:spAutoFit/>
          </a:bodyPr>
          <a:lstStyle/>
          <a:p>
            <a:r>
              <a:rPr lang="zh-CN" altLang="en-US" sz="10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rPr>
              <a:t>数据资产管理</a:t>
            </a:r>
            <a:endParaRPr lang="zh-CN" altLang="en-US" sz="10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endParaRPr>
          </a:p>
        </p:txBody>
      </p:sp>
      <p:sp>
        <p:nvSpPr>
          <p:cNvPr id="185" name="文本框 184"/>
          <p:cNvSpPr txBox="1"/>
          <p:nvPr/>
        </p:nvSpPr>
        <p:spPr>
          <a:xfrm>
            <a:off x="7980871" y="4339206"/>
            <a:ext cx="966358" cy="248529"/>
          </a:xfrm>
          <a:prstGeom prst="rect">
            <a:avLst/>
          </a:prstGeom>
          <a:noFill/>
          <a:ln>
            <a:noFill/>
          </a:ln>
          <a:effectLst/>
        </p:spPr>
        <p:txBody>
          <a:bodyPr wrap="square" lIns="86868" tIns="43434" rIns="86868" bIns="43434" rtlCol="0">
            <a:spAutoFit/>
          </a:bodyPr>
          <a:lstStyle/>
          <a:p>
            <a:r>
              <a:rPr lang="zh-CN" altLang="en-US" sz="10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rPr>
              <a:t>数据资产体系</a:t>
            </a:r>
            <a:endParaRPr lang="zh-CN" altLang="en-US" sz="10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endParaRPr>
          </a:p>
        </p:txBody>
      </p:sp>
      <p:sp>
        <p:nvSpPr>
          <p:cNvPr id="186" name="文本框 185"/>
          <p:cNvSpPr txBox="1"/>
          <p:nvPr/>
        </p:nvSpPr>
        <p:spPr>
          <a:xfrm>
            <a:off x="8315675" y="4773546"/>
            <a:ext cx="966358" cy="248529"/>
          </a:xfrm>
          <a:prstGeom prst="rect">
            <a:avLst/>
          </a:prstGeom>
          <a:noFill/>
          <a:effectLst/>
        </p:spPr>
        <p:txBody>
          <a:bodyPr wrap="square" lIns="86868" tIns="43434" rIns="86868" bIns="43434" rtlCol="0">
            <a:spAutoFit/>
          </a:bodyPr>
          <a:lstStyle/>
          <a:p>
            <a:pPr algn="ctr"/>
            <a:r>
              <a:rPr lang="zh-CN" altLang="en-US" sz="10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rPr>
              <a:t>数据汇集</a:t>
            </a:r>
            <a:endParaRPr lang="zh-CN" altLang="en-US" sz="10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endParaRPr>
          </a:p>
        </p:txBody>
      </p:sp>
      <p:sp>
        <p:nvSpPr>
          <p:cNvPr id="187" name="文本框 186"/>
          <p:cNvSpPr txBox="1"/>
          <p:nvPr/>
        </p:nvSpPr>
        <p:spPr>
          <a:xfrm>
            <a:off x="10125425" y="4773546"/>
            <a:ext cx="966358" cy="248529"/>
          </a:xfrm>
          <a:prstGeom prst="rect">
            <a:avLst/>
          </a:prstGeom>
          <a:noFill/>
          <a:effectLst/>
        </p:spPr>
        <p:txBody>
          <a:bodyPr wrap="square" lIns="86868" tIns="43434" rIns="86868" bIns="43434" rtlCol="0">
            <a:spAutoFit/>
          </a:bodyPr>
          <a:lstStyle/>
          <a:p>
            <a:pPr algn="ctr"/>
            <a:r>
              <a:rPr lang="zh-CN" altLang="en-US" sz="10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rPr>
              <a:t>数据开发</a:t>
            </a:r>
            <a:endParaRPr lang="zh-CN" altLang="en-US" sz="10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endParaRPr>
          </a:p>
        </p:txBody>
      </p:sp>
      <p:sp>
        <p:nvSpPr>
          <p:cNvPr id="207" name="矩形: 圆角 518"/>
          <p:cNvSpPr/>
          <p:nvPr>
            <p:custDataLst>
              <p:tags r:id="rId12"/>
            </p:custDataLst>
          </p:nvPr>
        </p:nvSpPr>
        <p:spPr>
          <a:xfrm>
            <a:off x="8968332" y="3923683"/>
            <a:ext cx="724705" cy="176983"/>
          </a:xfrm>
          <a:prstGeom prst="roundRect">
            <a:avLst>
              <a:gd name="adj" fmla="val 50000"/>
            </a:avLst>
          </a:prstGeom>
          <a:solidFill>
            <a:schemeClr val="accent5">
              <a:lumMod val="20000"/>
              <a:lumOff val="80000"/>
              <a:alpha val="50000"/>
            </a:schemeClr>
          </a:solidFill>
          <a:ln>
            <a:solidFill>
              <a:schemeClr val="accent5">
                <a:lumMod val="60000"/>
                <a:lumOff val="40000"/>
              </a:schemeClr>
            </a:solidFill>
          </a:ln>
        </p:spPr>
        <p:style>
          <a:lnRef idx="2">
            <a:schemeClr val="accent5">
              <a:shade val="15000"/>
            </a:schemeClr>
          </a:lnRef>
          <a:fillRef idx="1">
            <a:schemeClr val="accent5"/>
          </a:fillRef>
          <a:effectRef idx="0">
            <a:schemeClr val="accent5"/>
          </a:effectRef>
          <a:fontRef idx="minor">
            <a:schemeClr val="lt1"/>
          </a:fontRef>
        </p:style>
        <p:txBody>
          <a:bodyPr lIns="93817" tIns="46909" rIns="93817" bIns="46909" rtlCol="0" anchor="ctr"/>
          <a:lstStyle/>
          <a:p>
            <a:pPr algn="ctr"/>
            <a:r>
              <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rPr>
              <a:t>元数据管理</a:t>
            </a:r>
            <a:endPar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14" name="文本框 213"/>
          <p:cNvSpPr txBox="1"/>
          <p:nvPr/>
        </p:nvSpPr>
        <p:spPr>
          <a:xfrm>
            <a:off x="3215244" y="5573603"/>
            <a:ext cx="2050396" cy="319405"/>
          </a:xfrm>
          <a:prstGeom prst="rect">
            <a:avLst/>
          </a:prstGeom>
          <a:noFill/>
          <a:effectLst/>
        </p:spPr>
        <p:txBody>
          <a:bodyPr wrap="square" lIns="86868" tIns="43434" rIns="86868" bIns="43434" rtlCol="0">
            <a:spAutoFit/>
          </a:bodyPr>
          <a:lstStyle>
            <a:defPPr>
              <a:defRPr lang="zh-CN"/>
            </a:defPPr>
            <a:lvl1pPr>
              <a:defRPr>
                <a:solidFill>
                  <a:srgbClr val="24396B"/>
                </a:solidFill>
                <a:latin typeface="思源宋体 CN Heavy" panose="02020900000000000000" pitchFamily="18" charset="-122"/>
                <a:ea typeface="思源宋体 CN Heavy" panose="02020900000000000000" pitchFamily="18" charset="-122"/>
              </a:defRPr>
            </a:lvl1pPr>
          </a:lstStyle>
          <a:p>
            <a:pPr algn="ctr"/>
            <a:r>
              <a:rPr lang="zh-CN" altLang="en-US" sz="1520" b="1" dirty="0">
                <a:solidFill>
                  <a:schemeClr val="bg1"/>
                </a:solidFill>
                <a:latin typeface="微软雅黑" panose="020B0503020204020204" charset="-122"/>
                <a:ea typeface="微软雅黑" panose="020B0503020204020204" charset="-122"/>
                <a:cs typeface="微软雅黑" panose="020B0503020204020204" charset="-122"/>
              </a:rPr>
              <a:t>私有云</a:t>
            </a:r>
            <a:r>
              <a:rPr lang="en-US" altLang="zh-CN" sz="1520" b="1"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1520" b="1" dirty="0">
                <a:solidFill>
                  <a:schemeClr val="bg1"/>
                </a:solidFill>
                <a:latin typeface="微软雅黑" panose="020B0503020204020204" charset="-122"/>
                <a:ea typeface="微软雅黑" panose="020B0503020204020204" charset="-122"/>
                <a:cs typeface="微软雅黑" panose="020B0503020204020204" charset="-122"/>
              </a:rPr>
              <a:t>共有云平台</a:t>
            </a:r>
            <a:endParaRPr lang="zh-CN" altLang="en-US" sz="152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15" name="文本框 214"/>
          <p:cNvSpPr txBox="1"/>
          <p:nvPr/>
        </p:nvSpPr>
        <p:spPr>
          <a:xfrm>
            <a:off x="5221002" y="5627393"/>
            <a:ext cx="966358" cy="248529"/>
          </a:xfrm>
          <a:prstGeom prst="rect">
            <a:avLst/>
          </a:prstGeom>
          <a:noFill/>
          <a:effectLst/>
        </p:spPr>
        <p:txBody>
          <a:bodyPr wrap="square" lIns="86868" tIns="43434" rIns="86868" bIns="43434" rtlCol="0">
            <a:spAutoFit/>
          </a:bodyPr>
          <a:lstStyle/>
          <a:p>
            <a:pPr algn="ctr"/>
            <a:r>
              <a:rPr lang="zh-CN" altLang="en-US" sz="1000" dirty="0">
                <a:solidFill>
                  <a:schemeClr val="bg1"/>
                </a:solidFill>
                <a:effectLst/>
                <a:latin typeface="微软雅黑" panose="020B0503020204020204" charset="-122"/>
                <a:ea typeface="微软雅黑" panose="020B0503020204020204" charset="-122"/>
                <a:cs typeface="微软雅黑" panose="020B0503020204020204" charset="-122"/>
              </a:rPr>
              <a:t>监控服务体系</a:t>
            </a:r>
            <a:endParaRPr lang="zh-CN" altLang="en-US" sz="1000" dirty="0">
              <a:solidFill>
                <a:schemeClr val="bg1"/>
              </a:solidFill>
              <a:effectLst/>
              <a:latin typeface="微软雅黑" panose="020B0503020204020204" charset="-122"/>
              <a:ea typeface="微软雅黑" panose="020B0503020204020204" charset="-122"/>
              <a:cs typeface="微软雅黑" panose="020B0503020204020204" charset="-122"/>
            </a:endParaRPr>
          </a:p>
        </p:txBody>
      </p:sp>
      <p:cxnSp>
        <p:nvCxnSpPr>
          <p:cNvPr id="216" name="直接连接符 215"/>
          <p:cNvCxnSpPr/>
          <p:nvPr/>
        </p:nvCxnSpPr>
        <p:spPr>
          <a:xfrm>
            <a:off x="6265783" y="5650927"/>
            <a:ext cx="0" cy="216000"/>
          </a:xfrm>
          <a:prstGeom prst="line">
            <a:avLst/>
          </a:prstGeom>
          <a:ln w="12700">
            <a:solidFill>
              <a:schemeClr val="bg1"/>
            </a:solidFill>
          </a:ln>
          <a:effectLst/>
        </p:spPr>
        <p:style>
          <a:lnRef idx="1">
            <a:srgbClr val="24396B"/>
          </a:lnRef>
          <a:fillRef idx="0">
            <a:srgbClr val="24396B"/>
          </a:fillRef>
          <a:effectRef idx="0">
            <a:srgbClr val="24396B"/>
          </a:effectRef>
          <a:fontRef idx="minor">
            <a:srgbClr val="000000"/>
          </a:fontRef>
        </p:style>
      </p:cxnSp>
      <p:sp>
        <p:nvSpPr>
          <p:cNvPr id="217" name="文本框 216"/>
          <p:cNvSpPr txBox="1"/>
          <p:nvPr/>
        </p:nvSpPr>
        <p:spPr>
          <a:xfrm>
            <a:off x="6408340" y="5627392"/>
            <a:ext cx="965835" cy="241220"/>
          </a:xfrm>
          <a:prstGeom prst="rect">
            <a:avLst/>
          </a:prstGeom>
          <a:noFill/>
          <a:effectLst/>
        </p:spPr>
        <p:txBody>
          <a:bodyPr wrap="square" lIns="86868" tIns="43434" rIns="86868" bIns="43434" rtlCol="0">
            <a:spAutoFit/>
          </a:bodyPr>
          <a:lstStyle/>
          <a:p>
            <a:pPr algn="ctr"/>
            <a:r>
              <a:rPr lang="zh-CN" altLang="en-US" sz="1000" dirty="0">
                <a:solidFill>
                  <a:schemeClr val="bg1"/>
                </a:solidFill>
                <a:effectLst/>
                <a:latin typeface="微软雅黑" panose="020B0503020204020204" charset="-122"/>
                <a:ea typeface="微软雅黑" panose="020B0503020204020204" charset="-122"/>
                <a:cs typeface="微软雅黑" panose="020B0503020204020204" charset="-122"/>
              </a:rPr>
              <a:t>日志服务体系</a:t>
            </a:r>
            <a:endParaRPr lang="zh-CN" altLang="en-US" sz="1000" dirty="0">
              <a:solidFill>
                <a:schemeClr val="bg1"/>
              </a:solidFill>
              <a:effectLst/>
              <a:latin typeface="微软雅黑" panose="020B0503020204020204" charset="-122"/>
              <a:ea typeface="微软雅黑" panose="020B0503020204020204" charset="-122"/>
              <a:cs typeface="微软雅黑" panose="020B0503020204020204" charset="-122"/>
            </a:endParaRPr>
          </a:p>
        </p:txBody>
      </p:sp>
      <p:cxnSp>
        <p:nvCxnSpPr>
          <p:cNvPr id="218" name="直接连接符 217"/>
          <p:cNvCxnSpPr/>
          <p:nvPr/>
        </p:nvCxnSpPr>
        <p:spPr>
          <a:xfrm>
            <a:off x="7490381" y="5650927"/>
            <a:ext cx="0" cy="216000"/>
          </a:xfrm>
          <a:prstGeom prst="line">
            <a:avLst/>
          </a:prstGeom>
          <a:ln w="12700">
            <a:solidFill>
              <a:schemeClr val="bg1"/>
            </a:solidFill>
          </a:ln>
          <a:effectLst/>
        </p:spPr>
        <p:style>
          <a:lnRef idx="1">
            <a:srgbClr val="24396B"/>
          </a:lnRef>
          <a:fillRef idx="0">
            <a:srgbClr val="24396B"/>
          </a:fillRef>
          <a:effectRef idx="0">
            <a:srgbClr val="24396B"/>
          </a:effectRef>
          <a:fontRef idx="minor">
            <a:srgbClr val="000000"/>
          </a:fontRef>
        </p:style>
      </p:cxnSp>
      <p:sp>
        <p:nvSpPr>
          <p:cNvPr id="219" name="文本框 218"/>
          <p:cNvSpPr txBox="1"/>
          <p:nvPr/>
        </p:nvSpPr>
        <p:spPr>
          <a:xfrm>
            <a:off x="7595155" y="5627393"/>
            <a:ext cx="965835" cy="248529"/>
          </a:xfrm>
          <a:prstGeom prst="rect">
            <a:avLst/>
          </a:prstGeom>
          <a:noFill/>
          <a:effectLst/>
        </p:spPr>
        <p:txBody>
          <a:bodyPr wrap="square" lIns="86868" tIns="43434" rIns="86868" bIns="43434" rtlCol="0">
            <a:spAutoFit/>
          </a:bodyPr>
          <a:lstStyle/>
          <a:p>
            <a:pPr algn="ctr"/>
            <a:r>
              <a:rPr lang="zh-CN" altLang="en-US" sz="1000" dirty="0">
                <a:solidFill>
                  <a:schemeClr val="bg1"/>
                </a:solidFill>
                <a:effectLst/>
                <a:latin typeface="微软雅黑" panose="020B0503020204020204" charset="-122"/>
                <a:ea typeface="微软雅黑" panose="020B0503020204020204" charset="-122"/>
                <a:cs typeface="微软雅黑" panose="020B0503020204020204" charset="-122"/>
              </a:rPr>
              <a:t>元数据库</a:t>
            </a:r>
            <a:endParaRPr lang="zh-CN" altLang="en-US" sz="1000" dirty="0">
              <a:solidFill>
                <a:schemeClr val="bg1"/>
              </a:solidFill>
              <a:effectLst/>
              <a:latin typeface="微软雅黑" panose="020B0503020204020204" charset="-122"/>
              <a:ea typeface="微软雅黑" panose="020B0503020204020204" charset="-122"/>
              <a:cs typeface="微软雅黑" panose="020B0503020204020204" charset="-122"/>
            </a:endParaRPr>
          </a:p>
        </p:txBody>
      </p:sp>
      <p:cxnSp>
        <p:nvCxnSpPr>
          <p:cNvPr id="220" name="直接连接符 219"/>
          <p:cNvCxnSpPr/>
          <p:nvPr/>
        </p:nvCxnSpPr>
        <p:spPr>
          <a:xfrm>
            <a:off x="8714978" y="5650927"/>
            <a:ext cx="0" cy="216000"/>
          </a:xfrm>
          <a:prstGeom prst="line">
            <a:avLst/>
          </a:prstGeom>
          <a:ln w="12700">
            <a:solidFill>
              <a:schemeClr val="bg1"/>
            </a:solidFill>
          </a:ln>
          <a:effectLst/>
        </p:spPr>
        <p:style>
          <a:lnRef idx="1">
            <a:srgbClr val="24396B"/>
          </a:lnRef>
          <a:fillRef idx="0">
            <a:srgbClr val="24396B"/>
          </a:fillRef>
          <a:effectRef idx="0">
            <a:srgbClr val="24396B"/>
          </a:effectRef>
          <a:fontRef idx="minor">
            <a:srgbClr val="000000"/>
          </a:fontRef>
        </p:style>
      </p:cxnSp>
      <p:sp>
        <p:nvSpPr>
          <p:cNvPr id="221" name="文本框 220"/>
          <p:cNvSpPr txBox="1"/>
          <p:nvPr/>
        </p:nvSpPr>
        <p:spPr>
          <a:xfrm>
            <a:off x="8781970" y="5627393"/>
            <a:ext cx="965835" cy="248529"/>
          </a:xfrm>
          <a:prstGeom prst="rect">
            <a:avLst/>
          </a:prstGeom>
          <a:noFill/>
          <a:effectLst/>
        </p:spPr>
        <p:txBody>
          <a:bodyPr wrap="square" lIns="86868" tIns="43434" rIns="86868" bIns="43434" rtlCol="0">
            <a:spAutoFit/>
          </a:bodyPr>
          <a:lstStyle/>
          <a:p>
            <a:pPr algn="ctr"/>
            <a:r>
              <a:rPr lang="zh-CN" altLang="en-US" sz="1000" dirty="0">
                <a:solidFill>
                  <a:schemeClr val="bg1"/>
                </a:solidFill>
                <a:effectLst/>
                <a:latin typeface="微软雅黑" panose="020B0503020204020204" charset="-122"/>
                <a:ea typeface="微软雅黑" panose="020B0503020204020204" charset="-122"/>
                <a:cs typeface="微软雅黑" panose="020B0503020204020204" charset="-122"/>
              </a:rPr>
              <a:t>平台负载均衡</a:t>
            </a:r>
            <a:endParaRPr lang="zh-CN" altLang="en-US" sz="1000" dirty="0">
              <a:solidFill>
                <a:schemeClr val="bg1"/>
              </a:solidFill>
              <a:effectLst/>
              <a:latin typeface="微软雅黑" panose="020B0503020204020204" charset="-122"/>
              <a:ea typeface="微软雅黑" panose="020B0503020204020204" charset="-122"/>
              <a:cs typeface="微软雅黑" panose="020B0503020204020204" charset="-122"/>
            </a:endParaRPr>
          </a:p>
        </p:txBody>
      </p:sp>
      <p:cxnSp>
        <p:nvCxnSpPr>
          <p:cNvPr id="222" name="直接连接符 221"/>
          <p:cNvCxnSpPr/>
          <p:nvPr/>
        </p:nvCxnSpPr>
        <p:spPr>
          <a:xfrm>
            <a:off x="9939575" y="5650927"/>
            <a:ext cx="0" cy="216000"/>
          </a:xfrm>
          <a:prstGeom prst="line">
            <a:avLst/>
          </a:prstGeom>
          <a:ln w="12700">
            <a:solidFill>
              <a:schemeClr val="bg1"/>
            </a:solidFill>
          </a:ln>
          <a:effectLst/>
        </p:spPr>
        <p:style>
          <a:lnRef idx="1">
            <a:srgbClr val="24396B"/>
          </a:lnRef>
          <a:fillRef idx="0">
            <a:srgbClr val="24396B"/>
          </a:fillRef>
          <a:effectRef idx="0">
            <a:srgbClr val="24396B"/>
          </a:effectRef>
          <a:fontRef idx="minor">
            <a:srgbClr val="000000"/>
          </a:fontRef>
        </p:style>
      </p:cxnSp>
      <p:sp>
        <p:nvSpPr>
          <p:cNvPr id="223" name="文本框 222"/>
          <p:cNvSpPr txBox="1"/>
          <p:nvPr/>
        </p:nvSpPr>
        <p:spPr>
          <a:xfrm>
            <a:off x="9968785" y="5627393"/>
            <a:ext cx="965835" cy="248529"/>
          </a:xfrm>
          <a:prstGeom prst="rect">
            <a:avLst/>
          </a:prstGeom>
          <a:noFill/>
          <a:effectLst/>
        </p:spPr>
        <p:txBody>
          <a:bodyPr wrap="square" lIns="86868" tIns="43434" rIns="86868" bIns="43434" rtlCol="0">
            <a:spAutoFit/>
          </a:bodyPr>
          <a:lstStyle/>
          <a:p>
            <a:pPr algn="ctr"/>
            <a:r>
              <a:rPr lang="zh-CN" altLang="en-US" sz="1000" dirty="0">
                <a:solidFill>
                  <a:schemeClr val="bg1"/>
                </a:solidFill>
                <a:effectLst/>
                <a:latin typeface="微软雅黑" panose="020B0503020204020204" charset="-122"/>
                <a:ea typeface="微软雅黑" panose="020B0503020204020204" charset="-122"/>
                <a:cs typeface="微软雅黑" panose="020B0503020204020204" charset="-122"/>
              </a:rPr>
              <a:t>中间件</a:t>
            </a:r>
            <a:endParaRPr lang="zh-CN" altLang="en-US" sz="1000" dirty="0">
              <a:solidFill>
                <a:schemeClr val="bg1"/>
              </a:solidFill>
              <a:effectLst/>
              <a:latin typeface="微软雅黑" panose="020B0503020204020204" charset="-122"/>
              <a:ea typeface="微软雅黑" panose="020B0503020204020204" charset="-122"/>
              <a:cs typeface="微软雅黑" panose="020B0503020204020204" charset="-122"/>
            </a:endParaRPr>
          </a:p>
        </p:txBody>
      </p:sp>
      <p:grpSp>
        <p:nvGrpSpPr>
          <p:cNvPr id="7" name="组合 6"/>
          <p:cNvGrpSpPr/>
          <p:nvPr/>
        </p:nvGrpSpPr>
        <p:grpSpPr>
          <a:xfrm>
            <a:off x="2333886" y="2003425"/>
            <a:ext cx="2256790" cy="513080"/>
            <a:chOff x="3738" y="3155"/>
            <a:chExt cx="3554" cy="808"/>
          </a:xfrm>
        </p:grpSpPr>
        <p:sp>
          <p:nvSpPr>
            <p:cNvPr id="150" name="矩形 149"/>
            <p:cNvSpPr/>
            <p:nvPr>
              <p:custDataLst>
                <p:tags r:id="rId13"/>
              </p:custDataLst>
            </p:nvPr>
          </p:nvSpPr>
          <p:spPr>
            <a:xfrm>
              <a:off x="3738" y="3155"/>
              <a:ext cx="3555" cy="808"/>
            </a:xfrm>
            <a:prstGeom prst="rect">
              <a:avLst/>
            </a:prstGeom>
            <a:solidFill>
              <a:schemeClr val="accent1">
                <a:lumMod val="20000"/>
                <a:lumOff val="80000"/>
                <a:alpha val="50000"/>
              </a:schemeClr>
            </a:solidFill>
            <a:ln>
              <a:solidFill>
                <a:schemeClr val="accent1">
                  <a:lumMod val="60000"/>
                  <a:lumOff val="40000"/>
                </a:schemeClr>
              </a:solidFill>
            </a:ln>
          </p:spPr>
          <p:style>
            <a:lnRef idx="0">
              <a:srgbClr val="FFFFFF"/>
            </a:lnRef>
            <a:fillRef idx="3">
              <a:schemeClr val="accent2"/>
            </a:fillRef>
            <a:effectRef idx="0">
              <a:srgbClr val="FFFFFF"/>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sym typeface="+mn-ea"/>
              </a:endParaRPr>
            </a:p>
          </p:txBody>
        </p:sp>
        <p:grpSp>
          <p:nvGrpSpPr>
            <p:cNvPr id="4" name="组合 3"/>
            <p:cNvGrpSpPr/>
            <p:nvPr/>
          </p:nvGrpSpPr>
          <p:grpSpPr>
            <a:xfrm>
              <a:off x="3757" y="3263"/>
              <a:ext cx="3517" cy="639"/>
              <a:chOff x="4224" y="-1663"/>
              <a:chExt cx="3517" cy="639"/>
            </a:xfrm>
          </p:grpSpPr>
          <p:sp>
            <p:nvSpPr>
              <p:cNvPr id="224" name="文本框 223"/>
              <p:cNvSpPr txBox="1"/>
              <p:nvPr/>
            </p:nvSpPr>
            <p:spPr>
              <a:xfrm>
                <a:off x="4937" y="-1663"/>
                <a:ext cx="2129" cy="414"/>
              </a:xfrm>
              <a:prstGeom prst="rect">
                <a:avLst/>
              </a:prstGeom>
              <a:noFill/>
              <a:effectLst/>
            </p:spPr>
            <p:txBody>
              <a:bodyPr wrap="square" lIns="86868" tIns="43434" rIns="86868" bIns="43434" rtlCol="0">
                <a:spAutoFit/>
              </a:bodyPr>
              <a:lstStyle/>
              <a:p>
                <a:pPr algn="ctr"/>
                <a:r>
                  <a:rPr lang="zh-CN" altLang="en-US" sz="1140" dirty="0">
                    <a:solidFill>
                      <a:schemeClr val="tx2"/>
                    </a:solidFill>
                    <a:effectLst/>
                    <a:latin typeface="微软雅黑" panose="020B0503020204020204" charset="-122"/>
                    <a:ea typeface="微软雅黑" panose="020B0503020204020204" charset="-122"/>
                    <a:cs typeface="微软雅黑" panose="020B0503020204020204" charset="-122"/>
                  </a:rPr>
                  <a:t>营销管理系统</a:t>
                </a:r>
                <a:endParaRPr lang="zh-CN" altLang="en-US" sz="114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25" name="文本框 224"/>
              <p:cNvSpPr txBox="1"/>
              <p:nvPr/>
            </p:nvSpPr>
            <p:spPr>
              <a:xfrm>
                <a:off x="4224" y="-1402"/>
                <a:ext cx="3517" cy="378"/>
              </a:xfrm>
              <a:prstGeom prst="rect">
                <a:avLst/>
              </a:prstGeom>
              <a:noFill/>
              <a:effectLst/>
            </p:spPr>
            <p:txBody>
              <a:bodyPr wrap="square" lIns="86868" tIns="43434" rIns="86868" bIns="43434">
                <a:spAutoFit/>
              </a:bodyPr>
              <a:lstStyle/>
              <a:p>
                <a:pPr marL="0" marR="0" lvl="0" indent="0" defTabSz="914400" rtl="0" eaLnBrk="1" fontAlgn="auto" latinLnBrk="0" hangingPunct="1">
                  <a:lnSpc>
                    <a:spcPct val="100000"/>
                  </a:lnSpc>
                  <a:spcBef>
                    <a:spcPts val="0"/>
                  </a:spcBef>
                  <a:buClrTx/>
                  <a:buSzTx/>
                  <a:buFontTx/>
                  <a:buNone/>
                  <a:defRPr/>
                </a:pPr>
                <a:r>
                  <a:rPr kumimoji="0" lang="en-US" altLang="zh-CN"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Marketing Management System</a:t>
                </a:r>
                <a:endParaRPr kumimoji="0" lang="en-US" altLang="zh-CN"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grpSp>
      </p:grpSp>
      <p:sp>
        <p:nvSpPr>
          <p:cNvPr id="226" name="文本框 225"/>
          <p:cNvSpPr txBox="1"/>
          <p:nvPr/>
        </p:nvSpPr>
        <p:spPr>
          <a:xfrm>
            <a:off x="9691734" y="2670551"/>
            <a:ext cx="1565410" cy="260985"/>
          </a:xfrm>
          <a:prstGeom prst="rect">
            <a:avLst/>
          </a:prstGeom>
          <a:noFill/>
          <a:effectLst/>
        </p:spPr>
        <p:txBody>
          <a:bodyPr wrap="square" lIns="86868" tIns="43434" rIns="86868" bIns="43434" rtlCol="0">
            <a:spAutoFit/>
          </a:bodyPr>
          <a:lstStyle/>
          <a:p>
            <a:r>
              <a:rPr lang="en-US" altLang="zh-CN" sz="1140" dirty="0">
                <a:solidFill>
                  <a:schemeClr val="tx2"/>
                </a:solidFill>
                <a:latin typeface="微软雅黑" panose="020B0503020204020204" charset="-122"/>
                <a:ea typeface="微软雅黑" panose="020B0503020204020204" charset="-122"/>
                <a:cs typeface="微软雅黑" panose="020B0503020204020204" charset="-122"/>
              </a:rPr>
              <a:t>MES</a:t>
            </a:r>
            <a:r>
              <a:rPr lang="zh-CN" altLang="en-US" sz="1140" dirty="0">
                <a:solidFill>
                  <a:schemeClr val="tx2"/>
                </a:solidFill>
                <a:latin typeface="微软雅黑" panose="020B0503020204020204" charset="-122"/>
                <a:ea typeface="微软雅黑" panose="020B0503020204020204" charset="-122"/>
                <a:cs typeface="微软雅黑" panose="020B0503020204020204" charset="-122"/>
              </a:rPr>
              <a:t>生产管理系统</a:t>
            </a:r>
            <a:endParaRPr lang="zh-CN" altLang="en-US" sz="114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27" name="文本框 226"/>
          <p:cNvSpPr txBox="1"/>
          <p:nvPr/>
        </p:nvSpPr>
        <p:spPr>
          <a:xfrm>
            <a:off x="9379699" y="2836545"/>
            <a:ext cx="2189480" cy="240030"/>
          </a:xfrm>
          <a:prstGeom prst="rect">
            <a:avLst/>
          </a:prstGeom>
          <a:noFill/>
          <a:effectLst/>
        </p:spPr>
        <p:txBody>
          <a:bodyPr wrap="square" lIns="86868" tIns="43434" rIns="86868" bIns="43434">
            <a:spAutoFit/>
          </a:bodyPr>
          <a:lstStyle/>
          <a:p>
            <a:pPr marL="0" marR="0" lvl="0" indent="0" defTabSz="914400" rtl="0" eaLnBrk="1" fontAlgn="auto" latinLnBrk="0" hangingPunct="1">
              <a:lnSpc>
                <a:spcPct val="100000"/>
              </a:lnSpc>
              <a:spcBef>
                <a:spcPts val="0"/>
              </a:spcBef>
              <a:buClrTx/>
              <a:buSzTx/>
              <a:buFontTx/>
              <a:buNone/>
              <a:defRPr/>
            </a:pPr>
            <a:r>
              <a:rPr kumimoji="0" lang="en-US" altLang="zh-CN"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Manufacturing Execution System</a:t>
            </a:r>
            <a:endParaRPr kumimoji="0" lang="en-US" altLang="zh-CN"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38" name="矩形 237"/>
          <p:cNvSpPr/>
          <p:nvPr>
            <p:custDataLst>
              <p:tags r:id="rId14"/>
            </p:custDataLst>
          </p:nvPr>
        </p:nvSpPr>
        <p:spPr>
          <a:xfrm>
            <a:off x="647700" y="3290570"/>
            <a:ext cx="1588135" cy="1934210"/>
          </a:xfrm>
          <a:prstGeom prst="rect">
            <a:avLst/>
          </a:prstGeom>
          <a:gradFill>
            <a:gsLst>
              <a:gs pos="0">
                <a:schemeClr val="accent5">
                  <a:lumMod val="60000"/>
                  <a:lumOff val="40000"/>
                </a:schemeClr>
              </a:gs>
              <a:gs pos="88000">
                <a:schemeClr val="accent5"/>
              </a:gs>
            </a:gsLst>
            <a:lin ang="8100000" scaled="0"/>
          </a:gradFill>
          <a:effectLst>
            <a:outerShdw blurRad="50800" dist="38100" dir="2700000" algn="tl" rotWithShape="0">
              <a:schemeClr val="accent5">
                <a:lumMod val="60000"/>
                <a:lumOff val="40000"/>
                <a:alpha val="40000"/>
              </a:schemeClr>
            </a:outerShdw>
          </a:effectLst>
        </p:spPr>
        <p:style>
          <a:lnRef idx="0">
            <a:srgbClr val="FFFFFF"/>
          </a:lnRef>
          <a:fillRef idx="1">
            <a:schemeClr val="accent5"/>
          </a:fillRef>
          <a:effectRef idx="0">
            <a:srgbClr val="FFFFFF"/>
          </a:effectRef>
          <a:fontRef idx="minor">
            <a:schemeClr val="dk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r>
              <a:rPr lang="zh-CN" altLang="en-US" sz="1500" b="1" dirty="0">
                <a:solidFill>
                  <a:srgbClr val="FFFFFF"/>
                </a:solidFill>
                <a:latin typeface="微软雅黑" panose="020B0503020204020204" charset="-122"/>
                <a:ea typeface="微软雅黑" panose="020B0503020204020204" charset="-122"/>
                <a:cs typeface="微软雅黑" panose="020B0503020204020204" charset="-122"/>
                <a:sym typeface="+mn-ea"/>
              </a:rPr>
              <a:t>双平台</a:t>
            </a:r>
            <a:endParaRPr lang="zh-CN" altLang="en-US" sz="1500" b="1" dirty="0">
              <a:solidFill>
                <a:srgbClr val="FFFFFF"/>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000" b="1" dirty="0">
                <a:solidFill>
                  <a:srgbClr val="FFFFFF"/>
                </a:solidFill>
                <a:latin typeface="微软雅黑" panose="020B0503020204020204" charset="-122"/>
                <a:ea typeface="微软雅黑" panose="020B0503020204020204" charset="-122"/>
                <a:cs typeface="微软雅黑" panose="020B0503020204020204" charset="-122"/>
                <a:sym typeface="+mn-ea"/>
              </a:rPr>
              <a:t>Dual-Platform</a:t>
            </a:r>
            <a:endParaRPr lang="zh-CN" altLang="en-US" sz="1000" b="1"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239" name="文本框 238"/>
          <p:cNvSpPr txBox="1"/>
          <p:nvPr/>
        </p:nvSpPr>
        <p:spPr>
          <a:xfrm>
            <a:off x="5123635" y="2057903"/>
            <a:ext cx="1352050" cy="260985"/>
          </a:xfrm>
          <a:prstGeom prst="rect">
            <a:avLst/>
          </a:prstGeom>
          <a:noFill/>
          <a:effectLst/>
        </p:spPr>
        <p:txBody>
          <a:bodyPr wrap="square" lIns="86868" tIns="43434" rIns="86868" bIns="43434" rtlCol="0">
            <a:spAutoFit/>
          </a:bodyPr>
          <a:lstStyle/>
          <a:p>
            <a:pPr algn="ctr"/>
            <a:r>
              <a:rPr lang="zh-CN" altLang="en-US" sz="1140" dirty="0">
                <a:solidFill>
                  <a:schemeClr val="tx2"/>
                </a:solidFill>
                <a:effectLst/>
                <a:latin typeface="微软雅黑" panose="020B0503020204020204" charset="-122"/>
                <a:ea typeface="微软雅黑" panose="020B0503020204020204" charset="-122"/>
                <a:cs typeface="微软雅黑" panose="020B0503020204020204" charset="-122"/>
              </a:rPr>
              <a:t>微信小程序</a:t>
            </a:r>
            <a:endParaRPr lang="zh-CN" altLang="en-US" sz="114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40" name="文本框 239"/>
          <p:cNvSpPr txBox="1"/>
          <p:nvPr/>
        </p:nvSpPr>
        <p:spPr>
          <a:xfrm>
            <a:off x="4774770" y="2223770"/>
            <a:ext cx="2049780" cy="240030"/>
          </a:xfrm>
          <a:prstGeom prst="rect">
            <a:avLst/>
          </a:prstGeom>
          <a:noFill/>
          <a:effectLst/>
        </p:spPr>
        <p:txBody>
          <a:bodyPr wrap="square" lIns="86868" tIns="43434" rIns="86868" bIns="43434">
            <a:spAutoFit/>
          </a:bodyPr>
          <a:lstStyle/>
          <a:p>
            <a:pPr marL="0" marR="0" lvl="0" indent="0" algn="ctr" defTabSz="914400" rtl="0" eaLnBrk="1" fontAlgn="auto" latinLnBrk="0" hangingPunct="1">
              <a:lnSpc>
                <a:spcPct val="100000"/>
              </a:lnSpc>
              <a:spcBef>
                <a:spcPts val="0"/>
              </a:spcBef>
              <a:buClrTx/>
              <a:buSzTx/>
              <a:buFontTx/>
              <a:buNone/>
              <a:defRPr/>
            </a:pPr>
            <a:r>
              <a:rPr kumimoji="0" lang="en-US" altLang="zh-CN"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WeChat Mini Program</a:t>
            </a:r>
            <a:endParaRPr kumimoji="0" lang="en-US" altLang="zh-CN"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1" name="文本框 240"/>
          <p:cNvSpPr txBox="1"/>
          <p:nvPr/>
        </p:nvSpPr>
        <p:spPr>
          <a:xfrm>
            <a:off x="7461024" y="2089653"/>
            <a:ext cx="1352050" cy="260985"/>
          </a:xfrm>
          <a:prstGeom prst="rect">
            <a:avLst/>
          </a:prstGeom>
          <a:noFill/>
          <a:effectLst/>
        </p:spPr>
        <p:txBody>
          <a:bodyPr wrap="square" lIns="86868" tIns="43434" rIns="86868" bIns="43434" rtlCol="0">
            <a:spAutoFit/>
          </a:bodyPr>
          <a:lstStyle/>
          <a:p>
            <a:pPr algn="ctr"/>
            <a:r>
              <a:rPr lang="en-US" altLang="zh-CN" sz="1140" dirty="0">
                <a:solidFill>
                  <a:schemeClr val="tx2"/>
                </a:solidFill>
                <a:effectLst/>
                <a:latin typeface="微软雅黑" panose="020B0503020204020204" charset="-122"/>
                <a:ea typeface="微软雅黑" panose="020B0503020204020204" charset="-122"/>
                <a:cs typeface="微软雅黑" panose="020B0503020204020204" charset="-122"/>
              </a:rPr>
              <a:t>OMS</a:t>
            </a:r>
            <a:r>
              <a:rPr lang="zh-CN" altLang="en-US" sz="1140" dirty="0">
                <a:solidFill>
                  <a:schemeClr val="tx2"/>
                </a:solidFill>
                <a:effectLst/>
                <a:latin typeface="微软雅黑" panose="020B0503020204020204" charset="-122"/>
                <a:ea typeface="微软雅黑" panose="020B0503020204020204" charset="-122"/>
                <a:cs typeface="微软雅黑" panose="020B0503020204020204" charset="-122"/>
              </a:rPr>
              <a:t>管理系统</a:t>
            </a:r>
            <a:endParaRPr lang="zh-CN" altLang="en-US" sz="114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42" name="文本框 241"/>
          <p:cNvSpPr txBox="1"/>
          <p:nvPr/>
        </p:nvSpPr>
        <p:spPr>
          <a:xfrm>
            <a:off x="7112159" y="2255520"/>
            <a:ext cx="2049780" cy="240030"/>
          </a:xfrm>
          <a:prstGeom prst="rect">
            <a:avLst/>
          </a:prstGeom>
          <a:noFill/>
          <a:effectLst/>
        </p:spPr>
        <p:txBody>
          <a:bodyPr wrap="square" lIns="86868" tIns="43434" rIns="86868" bIns="43434">
            <a:spAutoFit/>
          </a:bodyPr>
          <a:lstStyle/>
          <a:p>
            <a:pPr marL="0" marR="0" lvl="0" indent="0" algn="ctr" defTabSz="914400" rtl="0" eaLnBrk="1" fontAlgn="auto" latinLnBrk="0" hangingPunct="1">
              <a:lnSpc>
                <a:spcPct val="100000"/>
              </a:lnSpc>
              <a:spcBef>
                <a:spcPts val="0"/>
              </a:spcBef>
              <a:buClrTx/>
              <a:buSzTx/>
              <a:buFontTx/>
              <a:buNone/>
              <a:defRPr/>
            </a:pPr>
            <a:r>
              <a:rPr kumimoji="0" lang="en-US" altLang="zh-CN"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Order Management System </a:t>
            </a:r>
            <a:endParaRPr kumimoji="0" lang="en-US" altLang="zh-CN"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3" name="文本框 242"/>
          <p:cNvSpPr txBox="1"/>
          <p:nvPr/>
        </p:nvSpPr>
        <p:spPr>
          <a:xfrm>
            <a:off x="9780044" y="2071873"/>
            <a:ext cx="1352050" cy="260985"/>
          </a:xfrm>
          <a:prstGeom prst="rect">
            <a:avLst/>
          </a:prstGeom>
          <a:noFill/>
          <a:effectLst/>
        </p:spPr>
        <p:txBody>
          <a:bodyPr wrap="square" lIns="86868" tIns="43434" rIns="86868" bIns="43434" rtlCol="0">
            <a:spAutoFit/>
          </a:bodyPr>
          <a:lstStyle/>
          <a:p>
            <a:pPr algn="ctr"/>
            <a:r>
              <a:rPr lang="zh-CN" sz="1140" dirty="0">
                <a:solidFill>
                  <a:schemeClr val="tx2"/>
                </a:solidFill>
                <a:effectLst/>
                <a:latin typeface="微软雅黑" panose="020B0503020204020204" charset="-122"/>
                <a:ea typeface="微软雅黑" panose="020B0503020204020204" charset="-122"/>
                <a:cs typeface="微软雅黑" panose="020B0503020204020204" charset="-122"/>
              </a:rPr>
              <a:t>在线营销系统</a:t>
            </a:r>
            <a:endParaRPr lang="zh-CN" sz="114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44" name="文本框 243"/>
          <p:cNvSpPr txBox="1"/>
          <p:nvPr/>
        </p:nvSpPr>
        <p:spPr>
          <a:xfrm>
            <a:off x="9431179" y="2237740"/>
            <a:ext cx="2049780" cy="240030"/>
          </a:xfrm>
          <a:prstGeom prst="rect">
            <a:avLst/>
          </a:prstGeom>
          <a:noFill/>
          <a:effectLst/>
        </p:spPr>
        <p:txBody>
          <a:bodyPr wrap="square" lIns="86868" tIns="43434" rIns="86868" bIns="43434">
            <a:spAutoFit/>
          </a:bodyPr>
          <a:lstStyle/>
          <a:p>
            <a:pPr marL="0" marR="0" lvl="0" indent="0" algn="ctr" defTabSz="914400" rtl="0" eaLnBrk="1" fontAlgn="auto" latinLnBrk="0" hangingPunct="1">
              <a:lnSpc>
                <a:spcPct val="100000"/>
              </a:lnSpc>
              <a:spcBef>
                <a:spcPts val="0"/>
              </a:spcBef>
              <a:buClrTx/>
              <a:buSzTx/>
              <a:buFontTx/>
              <a:buNone/>
              <a:defRPr/>
            </a:pPr>
            <a:r>
              <a:rPr kumimoji="0" lang="en-US" altLang="zh-CN"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Internet Marketing System</a:t>
            </a:r>
            <a:endParaRPr kumimoji="0" lang="en-US" altLang="zh-CN"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5" name="文本框 244"/>
          <p:cNvSpPr txBox="1"/>
          <p:nvPr/>
        </p:nvSpPr>
        <p:spPr>
          <a:xfrm>
            <a:off x="2786461" y="2694173"/>
            <a:ext cx="1352050" cy="260985"/>
          </a:xfrm>
          <a:prstGeom prst="rect">
            <a:avLst/>
          </a:prstGeom>
          <a:noFill/>
          <a:effectLst/>
        </p:spPr>
        <p:txBody>
          <a:bodyPr wrap="square" lIns="86868" tIns="43434" rIns="86868" bIns="43434" rtlCol="0">
            <a:spAutoFit/>
          </a:bodyPr>
          <a:lstStyle/>
          <a:p>
            <a:pPr algn="ctr"/>
            <a:r>
              <a:rPr lang="en-US" altLang="zh-CN" sz="1140" dirty="0">
                <a:solidFill>
                  <a:schemeClr val="tx2"/>
                </a:solidFill>
                <a:effectLst/>
                <a:latin typeface="微软雅黑" panose="020B0503020204020204" charset="-122"/>
                <a:ea typeface="微软雅黑" panose="020B0503020204020204" charset="-122"/>
                <a:cs typeface="微软雅黑" panose="020B0503020204020204" charset="-122"/>
              </a:rPr>
              <a:t>ERP</a:t>
            </a:r>
            <a:r>
              <a:rPr lang="zh-CN" altLang="en-US" sz="1140" dirty="0">
                <a:solidFill>
                  <a:schemeClr val="tx2"/>
                </a:solidFill>
                <a:effectLst/>
                <a:latin typeface="微软雅黑" panose="020B0503020204020204" charset="-122"/>
                <a:ea typeface="微软雅黑" panose="020B0503020204020204" charset="-122"/>
                <a:cs typeface="微软雅黑" panose="020B0503020204020204" charset="-122"/>
              </a:rPr>
              <a:t>管理系统</a:t>
            </a:r>
            <a:endParaRPr lang="zh-CN" altLang="en-US" sz="114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46" name="文本框 245"/>
          <p:cNvSpPr txBox="1"/>
          <p:nvPr/>
        </p:nvSpPr>
        <p:spPr>
          <a:xfrm>
            <a:off x="2437596" y="2860040"/>
            <a:ext cx="2049780" cy="240030"/>
          </a:xfrm>
          <a:prstGeom prst="rect">
            <a:avLst/>
          </a:prstGeom>
          <a:noFill/>
          <a:effectLst/>
        </p:spPr>
        <p:txBody>
          <a:bodyPr wrap="square" lIns="86868" tIns="43434" rIns="86868" bIns="43434">
            <a:spAutoFit/>
          </a:bodyPr>
          <a:lstStyle/>
          <a:p>
            <a:pPr marL="0" marR="0" lvl="0" indent="0" algn="ctr" defTabSz="914400" rtl="0" eaLnBrk="1" fontAlgn="auto" latinLnBrk="0" hangingPunct="1">
              <a:lnSpc>
                <a:spcPct val="100000"/>
              </a:lnSpc>
              <a:spcBef>
                <a:spcPts val="0"/>
              </a:spcBef>
              <a:buClrTx/>
              <a:buSzTx/>
              <a:buFontTx/>
              <a:buNone/>
              <a:defRPr/>
            </a:pPr>
            <a:r>
              <a:rPr kumimoji="0" lang="en-US" altLang="zh-CN" sz="1000" b="0" u="none" strike="noStrike" kern="1200" cap="none" spc="0" normalizeH="0" baseline="0" noProof="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ERP System</a:t>
            </a:r>
            <a:endParaRPr kumimoji="0" lang="en-US" altLang="zh-CN"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7" name="文本框 246"/>
          <p:cNvSpPr txBox="1"/>
          <p:nvPr/>
        </p:nvSpPr>
        <p:spPr>
          <a:xfrm>
            <a:off x="5002735" y="2694305"/>
            <a:ext cx="1593850" cy="260985"/>
          </a:xfrm>
          <a:prstGeom prst="rect">
            <a:avLst/>
          </a:prstGeom>
          <a:noFill/>
          <a:effectLst/>
        </p:spPr>
        <p:txBody>
          <a:bodyPr wrap="square" lIns="86868" tIns="43434" rIns="86868" bIns="43434" rtlCol="0">
            <a:spAutoFit/>
          </a:bodyPr>
          <a:lstStyle/>
          <a:p>
            <a:pPr algn="ctr"/>
            <a:r>
              <a:rPr lang="en-US" sz="1140" dirty="0">
                <a:solidFill>
                  <a:schemeClr val="tx2"/>
                </a:solidFill>
                <a:effectLst/>
                <a:latin typeface="微软雅黑" panose="020B0503020204020204" charset="-122"/>
                <a:ea typeface="微软雅黑" panose="020B0503020204020204" charset="-122"/>
                <a:cs typeface="微软雅黑" panose="020B0503020204020204" charset="-122"/>
              </a:rPr>
              <a:t>CRM</a:t>
            </a:r>
            <a:r>
              <a:rPr lang="zh-CN" altLang="en-US" sz="1140" dirty="0">
                <a:solidFill>
                  <a:schemeClr val="tx2"/>
                </a:solidFill>
                <a:effectLst/>
                <a:latin typeface="微软雅黑" panose="020B0503020204020204" charset="-122"/>
                <a:ea typeface="微软雅黑" panose="020B0503020204020204" charset="-122"/>
                <a:cs typeface="微软雅黑" panose="020B0503020204020204" charset="-122"/>
              </a:rPr>
              <a:t>客户管理系统</a:t>
            </a:r>
            <a:endParaRPr lang="zh-CN" altLang="en-US" sz="114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48" name="文本框 247"/>
          <p:cNvSpPr txBox="1"/>
          <p:nvPr/>
        </p:nvSpPr>
        <p:spPr>
          <a:xfrm>
            <a:off x="4774770" y="2860040"/>
            <a:ext cx="2049780" cy="240030"/>
          </a:xfrm>
          <a:prstGeom prst="rect">
            <a:avLst/>
          </a:prstGeom>
          <a:noFill/>
          <a:effectLst/>
        </p:spPr>
        <p:txBody>
          <a:bodyPr wrap="square" lIns="86868" tIns="43434" rIns="86868" bIns="43434">
            <a:spAutoFit/>
          </a:bodyPr>
          <a:lstStyle/>
          <a:p>
            <a:pPr marL="0" marR="0" lvl="0" indent="0" algn="ctr" defTabSz="914400" rtl="0" eaLnBrk="1" fontAlgn="auto" latinLnBrk="0" hangingPunct="1">
              <a:lnSpc>
                <a:spcPct val="100000"/>
              </a:lnSpc>
              <a:spcBef>
                <a:spcPts val="0"/>
              </a:spcBef>
              <a:buClrTx/>
              <a:buSzTx/>
              <a:buFontTx/>
              <a:buNone/>
              <a:defRPr/>
            </a:pPr>
            <a:r>
              <a:rPr kumimoji="0" lang="en-US" altLang="zh-CN"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CRM System</a:t>
            </a:r>
            <a:endParaRPr kumimoji="0" lang="en-US" altLang="zh-CN"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9" name="文本框 248"/>
          <p:cNvSpPr txBox="1"/>
          <p:nvPr/>
        </p:nvSpPr>
        <p:spPr>
          <a:xfrm>
            <a:off x="7299960" y="2676525"/>
            <a:ext cx="1593850" cy="260985"/>
          </a:xfrm>
          <a:prstGeom prst="rect">
            <a:avLst/>
          </a:prstGeom>
          <a:noFill/>
          <a:effectLst/>
        </p:spPr>
        <p:txBody>
          <a:bodyPr wrap="square" lIns="86868" tIns="43434" rIns="86868" bIns="43434" rtlCol="0">
            <a:spAutoFit/>
          </a:bodyPr>
          <a:lstStyle/>
          <a:p>
            <a:pPr algn="ctr"/>
            <a:r>
              <a:rPr lang="en-US" altLang="zh-CN" sz="1140" dirty="0">
                <a:solidFill>
                  <a:schemeClr val="tx2"/>
                </a:solidFill>
                <a:effectLst/>
                <a:latin typeface="微软雅黑" panose="020B0503020204020204" charset="-122"/>
                <a:ea typeface="微软雅黑" panose="020B0503020204020204" charset="-122"/>
                <a:cs typeface="微软雅黑" panose="020B0503020204020204" charset="-122"/>
              </a:rPr>
              <a:t>WMS</a:t>
            </a:r>
            <a:r>
              <a:rPr lang="zh-CN" altLang="en-US" sz="1140" dirty="0">
                <a:solidFill>
                  <a:schemeClr val="tx2"/>
                </a:solidFill>
                <a:effectLst/>
                <a:latin typeface="微软雅黑" panose="020B0503020204020204" charset="-122"/>
                <a:ea typeface="微软雅黑" panose="020B0503020204020204" charset="-122"/>
                <a:cs typeface="微软雅黑" panose="020B0503020204020204" charset="-122"/>
              </a:rPr>
              <a:t>仓储管理系统</a:t>
            </a:r>
            <a:endParaRPr lang="zh-CN" altLang="en-US" sz="114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50" name="文本框 249"/>
          <p:cNvSpPr txBox="1"/>
          <p:nvPr/>
        </p:nvSpPr>
        <p:spPr>
          <a:xfrm>
            <a:off x="6927850" y="2842260"/>
            <a:ext cx="2338070" cy="240030"/>
          </a:xfrm>
          <a:prstGeom prst="rect">
            <a:avLst/>
          </a:prstGeom>
          <a:noFill/>
          <a:effectLst/>
        </p:spPr>
        <p:txBody>
          <a:bodyPr wrap="square" lIns="86868" tIns="43434" rIns="86868" bIns="43434">
            <a:spAutoFit/>
          </a:bodyPr>
          <a:lstStyle/>
          <a:p>
            <a:pPr marL="0" marR="0" lvl="0" indent="0" algn="ctr" defTabSz="914400" rtl="0" eaLnBrk="1" fontAlgn="auto" latinLnBrk="0" hangingPunct="1">
              <a:lnSpc>
                <a:spcPct val="100000"/>
              </a:lnSpc>
              <a:spcBef>
                <a:spcPts val="0"/>
              </a:spcBef>
              <a:buClrTx/>
              <a:buSzTx/>
              <a:buFontTx/>
              <a:buNone/>
              <a:defRPr/>
            </a:pPr>
            <a:r>
              <a:rPr kumimoji="0" lang="en-US" altLang="zh-CN"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Warehouse Management System</a:t>
            </a:r>
            <a:endParaRPr kumimoji="0" lang="en-US" altLang="zh-CN" sz="1000" b="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51" name="矩形: 圆角 452"/>
          <p:cNvSpPr/>
          <p:nvPr>
            <p:custDataLst>
              <p:tags r:id="rId15"/>
            </p:custDataLst>
          </p:nvPr>
        </p:nvSpPr>
        <p:spPr>
          <a:xfrm>
            <a:off x="4024868" y="3805953"/>
            <a:ext cx="1109345" cy="271059"/>
          </a:xfrm>
          <a:prstGeom prst="roundRect">
            <a:avLst>
              <a:gd name="adj" fmla="val 50000"/>
            </a:avLst>
          </a:prstGeom>
          <a:ln>
            <a:solidFill>
              <a:schemeClr val="accent5">
                <a:lumMod val="60000"/>
                <a:lumOff val="40000"/>
              </a:schemeClr>
            </a:solidFill>
          </a:ln>
        </p:spPr>
        <p:style>
          <a:lnRef idx="2">
            <a:schemeClr val="accent5"/>
          </a:lnRef>
          <a:fillRef idx="1">
            <a:schemeClr val="lt1"/>
          </a:fillRef>
          <a:effectRef idx="0">
            <a:schemeClr val="accent5"/>
          </a:effectRef>
          <a:fontRef idx="minor">
            <a:schemeClr val="dk1"/>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sym typeface="+mn-ea"/>
              </a:rPr>
              <a:t>商品中心</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252" name="矩形: 圆角 452"/>
          <p:cNvSpPr/>
          <p:nvPr>
            <p:custDataLst>
              <p:tags r:id="rId16"/>
            </p:custDataLst>
          </p:nvPr>
        </p:nvSpPr>
        <p:spPr>
          <a:xfrm>
            <a:off x="5487273" y="3805953"/>
            <a:ext cx="1109345" cy="271059"/>
          </a:xfrm>
          <a:prstGeom prst="roundRect">
            <a:avLst>
              <a:gd name="adj" fmla="val 50000"/>
            </a:avLst>
          </a:prstGeom>
          <a:ln>
            <a:solidFill>
              <a:schemeClr val="accent5">
                <a:lumMod val="60000"/>
                <a:lumOff val="40000"/>
              </a:schemeClr>
            </a:solidFill>
          </a:ln>
        </p:spPr>
        <p:style>
          <a:lnRef idx="2">
            <a:schemeClr val="accent5"/>
          </a:lnRef>
          <a:fillRef idx="1">
            <a:schemeClr val="lt1"/>
          </a:fillRef>
          <a:effectRef idx="0">
            <a:schemeClr val="accent5"/>
          </a:effectRef>
          <a:fontRef idx="minor">
            <a:schemeClr val="dk1"/>
          </a:fontRef>
        </p:style>
        <p:txBody>
          <a:bodyPr lIns="93817" tIns="46909" rIns="93817" bIns="46909" rtlCol="0" anchor="ctr"/>
          <a:lstStyle/>
          <a:p>
            <a:pPr algn="ctr"/>
            <a:r>
              <a:rPr lang="zh-CN" altLang="en-US" sz="1000">
                <a:solidFill>
                  <a:srgbClr val="404040"/>
                </a:solidFill>
                <a:effectLst/>
                <a:latin typeface="微软雅黑" panose="020B0503020204020204" charset="-122"/>
                <a:ea typeface="微软雅黑" panose="020B0503020204020204" charset="-122"/>
                <a:cs typeface="微软雅黑" panose="020B0503020204020204" charset="-122"/>
              </a:rPr>
              <a:t>交易中心</a:t>
            </a:r>
            <a:endParaRPr lang="zh-CN" altLang="en-US" sz="100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53" name="矩形: 圆角 452"/>
          <p:cNvSpPr/>
          <p:nvPr>
            <p:custDataLst>
              <p:tags r:id="rId17"/>
            </p:custDataLst>
          </p:nvPr>
        </p:nvSpPr>
        <p:spPr>
          <a:xfrm>
            <a:off x="2561884" y="4278942"/>
            <a:ext cx="1109924" cy="270510"/>
          </a:xfrm>
          <a:prstGeom prst="roundRect">
            <a:avLst>
              <a:gd name="adj" fmla="val 50000"/>
            </a:avLst>
          </a:prstGeom>
          <a:ln>
            <a:solidFill>
              <a:schemeClr val="accent5">
                <a:lumMod val="60000"/>
                <a:lumOff val="40000"/>
              </a:schemeClr>
            </a:solidFill>
          </a:ln>
        </p:spPr>
        <p:style>
          <a:lnRef idx="2">
            <a:schemeClr val="accent5"/>
          </a:lnRef>
          <a:fillRef idx="1">
            <a:schemeClr val="lt1"/>
          </a:fillRef>
          <a:effectRef idx="0">
            <a:schemeClr val="accent5"/>
          </a:effectRef>
          <a:fontRef idx="minor">
            <a:schemeClr val="dk1"/>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sym typeface="+mn-ea"/>
              </a:rPr>
              <a:t>计划中心</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254" name="矩形: 圆角 452"/>
          <p:cNvSpPr/>
          <p:nvPr>
            <p:custDataLst>
              <p:tags r:id="rId18"/>
            </p:custDataLst>
          </p:nvPr>
        </p:nvSpPr>
        <p:spPr>
          <a:xfrm>
            <a:off x="4024868" y="4278942"/>
            <a:ext cx="1109345" cy="270510"/>
          </a:xfrm>
          <a:prstGeom prst="roundRect">
            <a:avLst>
              <a:gd name="adj" fmla="val 50000"/>
            </a:avLst>
          </a:prstGeom>
          <a:ln>
            <a:solidFill>
              <a:schemeClr val="accent5">
                <a:lumMod val="60000"/>
                <a:lumOff val="40000"/>
              </a:schemeClr>
            </a:solidFill>
          </a:ln>
        </p:spPr>
        <p:style>
          <a:lnRef idx="2">
            <a:schemeClr val="accent5"/>
          </a:lnRef>
          <a:fillRef idx="1">
            <a:schemeClr val="lt1"/>
          </a:fillRef>
          <a:effectRef idx="0">
            <a:schemeClr val="accent5"/>
          </a:effectRef>
          <a:fontRef idx="minor">
            <a:schemeClr val="dk1"/>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sym typeface="+mn-ea"/>
              </a:rPr>
              <a:t>渠道中心</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255" name="矩形: 圆角 452"/>
          <p:cNvSpPr/>
          <p:nvPr>
            <p:custDataLst>
              <p:tags r:id="rId19"/>
            </p:custDataLst>
          </p:nvPr>
        </p:nvSpPr>
        <p:spPr>
          <a:xfrm>
            <a:off x="5487273" y="4278942"/>
            <a:ext cx="1109345" cy="270510"/>
          </a:xfrm>
          <a:prstGeom prst="roundRect">
            <a:avLst>
              <a:gd name="adj" fmla="val 50000"/>
            </a:avLst>
          </a:prstGeom>
          <a:ln>
            <a:solidFill>
              <a:schemeClr val="accent5">
                <a:lumMod val="60000"/>
                <a:lumOff val="40000"/>
              </a:schemeClr>
            </a:solidFill>
          </a:ln>
        </p:spPr>
        <p:style>
          <a:lnRef idx="2">
            <a:schemeClr val="accent5"/>
          </a:lnRef>
          <a:fillRef idx="1">
            <a:schemeClr val="lt1"/>
          </a:fillRef>
          <a:effectRef idx="0">
            <a:schemeClr val="accent5"/>
          </a:effectRef>
          <a:fontRef idx="minor">
            <a:schemeClr val="dk1"/>
          </a:fontRef>
        </p:style>
        <p:txBody>
          <a:bodyPr lIns="93817" tIns="46909" rIns="93817" bIns="46909" rtlCol="0" anchor="ctr"/>
          <a:lstStyle/>
          <a:p>
            <a:pPr algn="ctr"/>
            <a:r>
              <a:rPr lang="zh-CN" altLang="en-US" sz="1000">
                <a:solidFill>
                  <a:srgbClr val="404040"/>
                </a:solidFill>
                <a:effectLst/>
                <a:latin typeface="微软雅黑" panose="020B0503020204020204" charset="-122"/>
                <a:ea typeface="微软雅黑" panose="020B0503020204020204" charset="-122"/>
                <a:cs typeface="微软雅黑" panose="020B0503020204020204" charset="-122"/>
              </a:rPr>
              <a:t>库存中心</a:t>
            </a:r>
            <a:endParaRPr lang="zh-CN" altLang="en-US" sz="100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56" name="矩形: 圆角 452"/>
          <p:cNvSpPr/>
          <p:nvPr>
            <p:custDataLst>
              <p:tags r:id="rId20"/>
            </p:custDataLst>
          </p:nvPr>
        </p:nvSpPr>
        <p:spPr>
          <a:xfrm>
            <a:off x="2561884" y="4751382"/>
            <a:ext cx="1109924" cy="270510"/>
          </a:xfrm>
          <a:prstGeom prst="roundRect">
            <a:avLst>
              <a:gd name="adj" fmla="val 50000"/>
            </a:avLst>
          </a:prstGeom>
          <a:ln>
            <a:solidFill>
              <a:schemeClr val="accent5">
                <a:lumMod val="60000"/>
                <a:lumOff val="40000"/>
              </a:schemeClr>
            </a:solidFill>
          </a:ln>
        </p:spPr>
        <p:style>
          <a:lnRef idx="2">
            <a:schemeClr val="accent5"/>
          </a:lnRef>
          <a:fillRef idx="1">
            <a:schemeClr val="lt1"/>
          </a:fillRef>
          <a:effectRef idx="0">
            <a:schemeClr val="accent5"/>
          </a:effectRef>
          <a:fontRef idx="minor">
            <a:schemeClr val="dk1"/>
          </a:fontRef>
        </p:style>
        <p:txBody>
          <a:bodyPr vertOverflow="overflow" horzOverflow="overflow" vert="horz" wrap="square" lIns="93817" tIns="46909" rIns="93817" bIns="46909" numCol="1" spcCol="0" rtlCol="0" fromWordArt="0" anchor="ctr" anchorCtr="0" forceAA="0" compatLnSpc="1">
            <a:noAutofit/>
          </a:bodyPr>
          <a:lstStyle/>
          <a:p>
            <a:pPr lvl="0" algn="ctr">
              <a:buClrTx/>
              <a:buSzTx/>
              <a:buFontTx/>
            </a:pPr>
            <a:r>
              <a:rPr lang="zh-CN" altLang="en-US" sz="1000">
                <a:solidFill>
                  <a:srgbClr val="404040"/>
                </a:solidFill>
                <a:effectLst/>
                <a:latin typeface="微软雅黑" panose="020B0503020204020204" charset="-122"/>
                <a:ea typeface="微软雅黑" panose="020B0503020204020204" charset="-122"/>
                <a:cs typeface="微软雅黑" panose="020B0503020204020204" charset="-122"/>
                <a:sym typeface="+mn-ea"/>
              </a:rPr>
              <a:t>数据中心</a:t>
            </a:r>
            <a:endParaRPr lang="zh-CN" altLang="en-US" sz="1000">
              <a:solidFill>
                <a:srgbClr val="404040"/>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257" name="矩形: 圆角 452"/>
          <p:cNvSpPr/>
          <p:nvPr>
            <p:custDataLst>
              <p:tags r:id="rId21"/>
            </p:custDataLst>
          </p:nvPr>
        </p:nvSpPr>
        <p:spPr>
          <a:xfrm>
            <a:off x="4024868" y="4751382"/>
            <a:ext cx="1109345" cy="270510"/>
          </a:xfrm>
          <a:prstGeom prst="roundRect">
            <a:avLst>
              <a:gd name="adj" fmla="val 50000"/>
            </a:avLst>
          </a:prstGeom>
          <a:ln>
            <a:solidFill>
              <a:schemeClr val="accent5">
                <a:lumMod val="60000"/>
                <a:lumOff val="40000"/>
              </a:schemeClr>
            </a:solidFill>
          </a:ln>
        </p:spPr>
        <p:style>
          <a:lnRef idx="2">
            <a:schemeClr val="accent5"/>
          </a:lnRef>
          <a:fillRef idx="1">
            <a:schemeClr val="lt1"/>
          </a:fillRef>
          <a:effectRef idx="0">
            <a:schemeClr val="accent5"/>
          </a:effectRef>
          <a:fontRef idx="minor">
            <a:schemeClr val="dk1"/>
          </a:fontRef>
        </p:style>
        <p:txBody>
          <a:bodyPr lIns="93817" tIns="46909" rIns="93817" bIns="46909" rtlCol="0" anchor="ctr"/>
          <a:lstStyle/>
          <a:p>
            <a:pPr algn="ctr"/>
            <a:r>
              <a:rPr lang="zh-CN" altLang="en-US" sz="1000">
                <a:solidFill>
                  <a:srgbClr val="404040"/>
                </a:solidFill>
                <a:effectLst/>
                <a:latin typeface="微软雅黑" panose="020B0503020204020204" charset="-122"/>
                <a:ea typeface="微软雅黑" panose="020B0503020204020204" charset="-122"/>
                <a:cs typeface="微软雅黑" panose="020B0503020204020204" charset="-122"/>
              </a:rPr>
              <a:t>物流中心</a:t>
            </a:r>
            <a:endParaRPr lang="zh-CN" altLang="en-US" sz="100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58" name="矩形: 圆角 452"/>
          <p:cNvSpPr/>
          <p:nvPr>
            <p:custDataLst>
              <p:tags r:id="rId22"/>
            </p:custDataLst>
          </p:nvPr>
        </p:nvSpPr>
        <p:spPr>
          <a:xfrm>
            <a:off x="5487273" y="4751382"/>
            <a:ext cx="1109345" cy="270510"/>
          </a:xfrm>
          <a:prstGeom prst="roundRect">
            <a:avLst>
              <a:gd name="adj" fmla="val 50000"/>
            </a:avLst>
          </a:prstGeom>
          <a:ln>
            <a:solidFill>
              <a:schemeClr val="accent5">
                <a:lumMod val="60000"/>
                <a:lumOff val="40000"/>
              </a:schemeClr>
            </a:solidFill>
          </a:ln>
        </p:spPr>
        <p:style>
          <a:lnRef idx="2">
            <a:schemeClr val="accent5"/>
          </a:lnRef>
          <a:fillRef idx="1">
            <a:schemeClr val="lt1"/>
          </a:fillRef>
          <a:effectRef idx="0">
            <a:schemeClr val="accent5"/>
          </a:effectRef>
          <a:fontRef idx="minor">
            <a:schemeClr val="dk1"/>
          </a:fontRef>
        </p:style>
        <p:txBody>
          <a:bodyPr lIns="93817" tIns="46909" rIns="93817" bIns="46909" rtlCol="0" anchor="ctr"/>
          <a:lstStyle/>
          <a:p>
            <a:pPr algn="ctr"/>
            <a:r>
              <a:rPr lang="zh-CN" altLang="en-US" sz="1000">
                <a:solidFill>
                  <a:srgbClr val="404040"/>
                </a:solidFill>
                <a:effectLst/>
                <a:latin typeface="微软雅黑" panose="020B0503020204020204" charset="-122"/>
                <a:ea typeface="微软雅黑" panose="020B0503020204020204" charset="-122"/>
                <a:cs typeface="微软雅黑" panose="020B0503020204020204" charset="-122"/>
              </a:rPr>
              <a:t>生产中心</a:t>
            </a:r>
            <a:endParaRPr lang="zh-CN" altLang="en-US" sz="100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59" name="矩形: 圆角 518"/>
          <p:cNvSpPr/>
          <p:nvPr>
            <p:custDataLst>
              <p:tags r:id="rId23"/>
            </p:custDataLst>
          </p:nvPr>
        </p:nvSpPr>
        <p:spPr>
          <a:xfrm>
            <a:off x="9805262" y="3923683"/>
            <a:ext cx="724705" cy="176983"/>
          </a:xfrm>
          <a:prstGeom prst="roundRect">
            <a:avLst>
              <a:gd name="adj" fmla="val 50000"/>
            </a:avLst>
          </a:prstGeom>
          <a:solidFill>
            <a:schemeClr val="accent5">
              <a:lumMod val="20000"/>
              <a:lumOff val="80000"/>
              <a:alpha val="50000"/>
            </a:schemeClr>
          </a:solidFill>
          <a:ln>
            <a:solidFill>
              <a:schemeClr val="accent5">
                <a:lumMod val="60000"/>
                <a:lumOff val="40000"/>
              </a:schemeClr>
            </a:solidFill>
          </a:ln>
        </p:spPr>
        <p:style>
          <a:lnRef idx="2">
            <a:schemeClr val="accent5">
              <a:shade val="15000"/>
            </a:schemeClr>
          </a:lnRef>
          <a:fillRef idx="1">
            <a:schemeClr val="accent5"/>
          </a:fillRef>
          <a:effectRef idx="0">
            <a:schemeClr val="accent5"/>
          </a:effectRef>
          <a:fontRef idx="minor">
            <a:schemeClr val="lt1"/>
          </a:fontRef>
        </p:style>
        <p:txBody>
          <a:bodyPr lIns="93817" tIns="46909" rIns="93817" bIns="46909" rtlCol="0" anchor="ctr"/>
          <a:lstStyle/>
          <a:p>
            <a:pPr algn="ctr"/>
            <a:r>
              <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rPr>
              <a:t>数据血缘</a:t>
            </a:r>
            <a:endPar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60" name="矩形: 圆角 518"/>
          <p:cNvSpPr/>
          <p:nvPr>
            <p:custDataLst>
              <p:tags r:id="rId24"/>
            </p:custDataLst>
          </p:nvPr>
        </p:nvSpPr>
        <p:spPr>
          <a:xfrm>
            <a:off x="10658702" y="3923683"/>
            <a:ext cx="724705" cy="176983"/>
          </a:xfrm>
          <a:prstGeom prst="roundRect">
            <a:avLst>
              <a:gd name="adj" fmla="val 50000"/>
            </a:avLst>
          </a:prstGeom>
          <a:solidFill>
            <a:schemeClr val="accent5">
              <a:lumMod val="20000"/>
              <a:lumOff val="80000"/>
              <a:alpha val="50000"/>
            </a:schemeClr>
          </a:solidFill>
          <a:ln>
            <a:solidFill>
              <a:schemeClr val="accent5">
                <a:lumMod val="60000"/>
                <a:lumOff val="40000"/>
              </a:schemeClr>
            </a:solidFill>
          </a:ln>
        </p:spPr>
        <p:style>
          <a:lnRef idx="2">
            <a:schemeClr val="accent5">
              <a:shade val="15000"/>
            </a:schemeClr>
          </a:lnRef>
          <a:fillRef idx="1">
            <a:schemeClr val="accent5"/>
          </a:fillRef>
          <a:effectRef idx="0">
            <a:schemeClr val="accent5"/>
          </a:effectRef>
          <a:fontRef idx="minor">
            <a:schemeClr val="lt1"/>
          </a:fontRef>
        </p:style>
        <p:txBody>
          <a:bodyPr lIns="93817" tIns="46909" rIns="93817" bIns="46909" rtlCol="0" anchor="ctr"/>
          <a:lstStyle/>
          <a:p>
            <a:pPr algn="ctr"/>
            <a:r>
              <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rPr>
              <a:t>数据质量</a:t>
            </a:r>
            <a:endPar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61" name="矩形: 圆角 518"/>
          <p:cNvSpPr/>
          <p:nvPr>
            <p:custDataLst>
              <p:tags r:id="rId25"/>
            </p:custDataLst>
          </p:nvPr>
        </p:nvSpPr>
        <p:spPr>
          <a:xfrm>
            <a:off x="8968967" y="4363738"/>
            <a:ext cx="724705" cy="176983"/>
          </a:xfrm>
          <a:prstGeom prst="roundRect">
            <a:avLst>
              <a:gd name="adj" fmla="val 50000"/>
            </a:avLst>
          </a:prstGeom>
          <a:solidFill>
            <a:schemeClr val="accent5">
              <a:lumMod val="20000"/>
              <a:lumOff val="80000"/>
              <a:alpha val="50000"/>
            </a:schemeClr>
          </a:solidFill>
          <a:ln>
            <a:solidFill>
              <a:schemeClr val="accent5">
                <a:lumMod val="60000"/>
                <a:lumOff val="40000"/>
              </a:schemeClr>
            </a:solidFill>
          </a:ln>
        </p:spPr>
        <p:style>
          <a:lnRef idx="2">
            <a:schemeClr val="accent5">
              <a:shade val="15000"/>
            </a:schemeClr>
          </a:lnRef>
          <a:fillRef idx="1">
            <a:schemeClr val="accent5"/>
          </a:fillRef>
          <a:effectRef idx="0">
            <a:schemeClr val="accent5"/>
          </a:effectRef>
          <a:fontRef idx="minor">
            <a:schemeClr val="lt1"/>
          </a:fontRef>
        </p:style>
        <p:txBody>
          <a:bodyPr lIns="93817" tIns="46909" rIns="93817" bIns="46909" rtlCol="0" anchor="ctr"/>
          <a:lstStyle/>
          <a:p>
            <a:pPr algn="ctr"/>
            <a:r>
              <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rPr>
              <a:t>主题域</a:t>
            </a:r>
            <a:endPar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62" name="矩形: 圆角 518"/>
          <p:cNvSpPr/>
          <p:nvPr>
            <p:custDataLst>
              <p:tags r:id="rId26"/>
            </p:custDataLst>
          </p:nvPr>
        </p:nvSpPr>
        <p:spPr>
          <a:xfrm>
            <a:off x="9814322" y="4363738"/>
            <a:ext cx="724535" cy="176983"/>
          </a:xfrm>
          <a:prstGeom prst="roundRect">
            <a:avLst>
              <a:gd name="adj" fmla="val 50000"/>
            </a:avLst>
          </a:prstGeom>
          <a:solidFill>
            <a:schemeClr val="accent5">
              <a:lumMod val="20000"/>
              <a:lumOff val="80000"/>
              <a:alpha val="50000"/>
            </a:schemeClr>
          </a:solidFill>
          <a:ln>
            <a:solidFill>
              <a:schemeClr val="accent5">
                <a:lumMod val="60000"/>
                <a:lumOff val="40000"/>
              </a:schemeClr>
            </a:solidFill>
          </a:ln>
        </p:spPr>
        <p:style>
          <a:lnRef idx="2">
            <a:schemeClr val="accent5">
              <a:shade val="15000"/>
            </a:schemeClr>
          </a:lnRef>
          <a:fillRef idx="1">
            <a:schemeClr val="accent5"/>
          </a:fillRef>
          <a:effectRef idx="0">
            <a:schemeClr val="accent5"/>
          </a:effectRef>
          <a:fontRef idx="minor">
            <a:schemeClr val="lt1"/>
          </a:fontRef>
        </p:style>
        <p:txBody>
          <a:bodyPr lIns="93817" tIns="46909" rIns="93817" bIns="46909" rtlCol="0" anchor="ctr"/>
          <a:lstStyle/>
          <a:p>
            <a:pPr algn="ctr"/>
            <a:r>
              <a:rPr lang="en-US" altLang="zh-CN" sz="700" dirty="0">
                <a:solidFill>
                  <a:schemeClr val="tx2"/>
                </a:solidFill>
                <a:effectLst/>
                <a:latin typeface="微软雅黑" panose="020B0503020204020204" charset="-122"/>
                <a:ea typeface="微软雅黑" panose="020B0503020204020204" charset="-122"/>
                <a:cs typeface="微软雅黑" panose="020B0503020204020204" charset="-122"/>
                <a:sym typeface="+mn-ea"/>
              </a:rPr>
              <a:t>ODS</a:t>
            </a:r>
            <a:endParaRPr lang="en-US" altLang="zh-CN" sz="700" dirty="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263" name="矩形: 圆角 518"/>
          <p:cNvSpPr/>
          <p:nvPr>
            <p:custDataLst>
              <p:tags r:id="rId27"/>
            </p:custDataLst>
          </p:nvPr>
        </p:nvSpPr>
        <p:spPr>
          <a:xfrm>
            <a:off x="10659507" y="4363738"/>
            <a:ext cx="724535" cy="176983"/>
          </a:xfrm>
          <a:prstGeom prst="roundRect">
            <a:avLst>
              <a:gd name="adj" fmla="val 50000"/>
            </a:avLst>
          </a:prstGeom>
          <a:solidFill>
            <a:schemeClr val="accent5">
              <a:lumMod val="20000"/>
              <a:lumOff val="80000"/>
              <a:alpha val="50000"/>
            </a:schemeClr>
          </a:solidFill>
          <a:ln>
            <a:solidFill>
              <a:schemeClr val="accent5">
                <a:lumMod val="60000"/>
                <a:lumOff val="40000"/>
              </a:schemeClr>
            </a:solidFill>
          </a:ln>
        </p:spPr>
        <p:style>
          <a:lnRef idx="2">
            <a:schemeClr val="accent5">
              <a:shade val="15000"/>
            </a:schemeClr>
          </a:lnRef>
          <a:fillRef idx="1">
            <a:schemeClr val="accent5"/>
          </a:fillRef>
          <a:effectRef idx="0">
            <a:schemeClr val="accent5"/>
          </a:effectRef>
          <a:fontRef idx="minor">
            <a:schemeClr val="lt1"/>
          </a:fontRef>
        </p:style>
        <p:txBody>
          <a:bodyPr lIns="93817" tIns="46909" rIns="93817" bIns="46909" rtlCol="0" anchor="ctr"/>
          <a:lstStyle/>
          <a:p>
            <a:pPr algn="ctr"/>
            <a:r>
              <a:rPr lang="en-US" altLang="zh-CN" sz="700" dirty="0">
                <a:solidFill>
                  <a:schemeClr val="tx2"/>
                </a:solidFill>
                <a:effectLst/>
                <a:latin typeface="微软雅黑" panose="020B0503020204020204" charset="-122"/>
                <a:ea typeface="微软雅黑" panose="020B0503020204020204" charset="-122"/>
                <a:cs typeface="微软雅黑" panose="020B0503020204020204" charset="-122"/>
                <a:sym typeface="+mn-ea"/>
              </a:rPr>
              <a:t>ODW</a:t>
            </a:r>
            <a:endParaRPr lang="en-US" altLang="zh-CN" sz="700" dirty="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2" name="椭圆 1"/>
          <p:cNvSpPr/>
          <p:nvPr/>
        </p:nvSpPr>
        <p:spPr>
          <a:xfrm>
            <a:off x="5265420" y="6156325"/>
            <a:ext cx="2037080" cy="154305"/>
          </a:xfrm>
          <a:prstGeom prst="ellipse">
            <a:avLst/>
          </a:prstGeom>
          <a:solidFill>
            <a:schemeClr val="accent1">
              <a:alpha val="21000"/>
            </a:schemeClr>
          </a:solidFill>
          <a:ln>
            <a:noFill/>
          </a:ln>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bg1"/>
              </a:solidFill>
              <a:cs typeface="微软雅黑" panose="020B0503020204020204" charset="-122"/>
            </a:endParaRPr>
          </a:p>
        </p:txBody>
      </p:sp>
      <p:pic>
        <p:nvPicPr>
          <p:cNvPr id="3" name="图片 2" descr="屋顶资源管理"/>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355600" y="186055"/>
            <a:ext cx="549910" cy="549910"/>
          </a:xfrm>
          <a:prstGeom prst="rect">
            <a:avLst/>
          </a:prstGeom>
        </p:spPr>
      </p:pic>
      <p:pic>
        <p:nvPicPr>
          <p:cNvPr id="6" name="图片 5" descr="云平台"/>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2787015" y="5456555"/>
            <a:ext cx="480695" cy="480695"/>
          </a:xfrm>
          <a:prstGeom prst="rect">
            <a:avLst/>
          </a:prstGeom>
        </p:spPr>
      </p:pic>
      <p:grpSp>
        <p:nvGrpSpPr>
          <p:cNvPr id="9" name="组合 8"/>
          <p:cNvGrpSpPr/>
          <p:nvPr/>
        </p:nvGrpSpPr>
        <p:grpSpPr>
          <a:xfrm>
            <a:off x="8715375" y="348615"/>
            <a:ext cx="3219450" cy="332740"/>
            <a:chOff x="13761" y="549"/>
            <a:chExt cx="5070" cy="524"/>
          </a:xfrm>
        </p:grpSpPr>
        <p:pic>
          <p:nvPicPr>
            <p:cNvPr id="10" name="图片 9"/>
            <p:cNvPicPr>
              <a:picLocks noChangeAspect="1"/>
            </p:cNvPicPr>
            <p:nvPr userDrawn="1"/>
          </p:nvPicPr>
          <p:blipFill>
            <a:blip r:embed="rId32"/>
            <a:srcRect l="17002" t="-1765" r="56499" b="-1176"/>
            <a:stretch>
              <a:fillRect/>
            </a:stretch>
          </p:blipFill>
          <p:spPr>
            <a:xfrm>
              <a:off x="13761" y="549"/>
              <a:ext cx="1582" cy="525"/>
            </a:xfrm>
            <a:prstGeom prst="rect">
              <a:avLst/>
            </a:prstGeom>
          </p:spPr>
        </p:pic>
        <p:sp>
          <p:nvSpPr>
            <p:cNvPr id="16" name="文本框 15"/>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
        <p:nvSpPr>
          <p:cNvPr id="41" name="文本框 40"/>
          <p:cNvSpPr txBox="1"/>
          <p:nvPr/>
        </p:nvSpPr>
        <p:spPr>
          <a:xfrm>
            <a:off x="2372995" y="1271905"/>
            <a:ext cx="775970" cy="486410"/>
          </a:xfrm>
          <a:prstGeom prst="rect">
            <a:avLst/>
          </a:prstGeom>
          <a:noFill/>
          <a:effectLst/>
        </p:spPr>
        <p:txBody>
          <a:bodyPr wrap="square" lIns="86868" tIns="43434" rIns="86868" bIns="43434" rtlCol="0">
            <a:spAutoFit/>
          </a:bodyPr>
          <a:lstStyle/>
          <a:p>
            <a:pPr algn="ctr"/>
            <a:r>
              <a:rPr lang="zh-CN" altLang="en-US" sz="13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电商</a:t>
            </a:r>
            <a:endParaRPr lang="en-US" altLang="zh-CN" sz="130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a:p>
            <a:pPr algn="ctr"/>
            <a:r>
              <a:rPr lang="zh-CN" altLang="en-US" sz="130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平台</a:t>
            </a:r>
            <a:endParaRPr lang="zh-CN" altLang="en-US" sz="13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endParaRPr>
          </a:p>
        </p:txBody>
      </p:sp>
      <p:sp>
        <p:nvSpPr>
          <p:cNvPr id="42" name="文本框 41"/>
          <p:cNvSpPr txBox="1"/>
          <p:nvPr/>
        </p:nvSpPr>
        <p:spPr>
          <a:xfrm>
            <a:off x="3307715" y="1271905"/>
            <a:ext cx="775970" cy="486410"/>
          </a:xfrm>
          <a:prstGeom prst="rect">
            <a:avLst/>
          </a:prstGeom>
          <a:noFill/>
          <a:effectLst/>
        </p:spPr>
        <p:txBody>
          <a:bodyPr wrap="square" lIns="86868" tIns="43434" rIns="86868" bIns="43434" rtlCol="0">
            <a:spAutoFit/>
          </a:bodyPr>
          <a:lstStyle/>
          <a:p>
            <a:pPr algn="ctr"/>
            <a:r>
              <a:rPr lang="zh-CN" sz="13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rPr>
              <a:t>微信</a:t>
            </a:r>
            <a:endParaRPr lang="zh-CN" sz="13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endParaRPr>
          </a:p>
          <a:p>
            <a:pPr algn="ctr"/>
            <a:r>
              <a:rPr lang="zh-CN" sz="13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rPr>
              <a:t>公众号</a:t>
            </a:r>
            <a:endParaRPr lang="zh-CN" sz="13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endParaRPr>
          </a:p>
        </p:txBody>
      </p:sp>
      <p:sp>
        <p:nvSpPr>
          <p:cNvPr id="43" name="文本框 42"/>
          <p:cNvSpPr txBox="1"/>
          <p:nvPr/>
        </p:nvSpPr>
        <p:spPr>
          <a:xfrm>
            <a:off x="4242435" y="1271905"/>
            <a:ext cx="775970" cy="486410"/>
          </a:xfrm>
          <a:prstGeom prst="rect">
            <a:avLst/>
          </a:prstGeom>
          <a:noFill/>
          <a:effectLst/>
        </p:spPr>
        <p:txBody>
          <a:bodyPr wrap="square" lIns="86868" tIns="43434" rIns="86868" bIns="43434" rtlCol="0">
            <a:spAutoFit/>
          </a:bodyPr>
          <a:lstStyle/>
          <a:p>
            <a:pPr algn="ctr"/>
            <a:r>
              <a:rPr lang="zh-CN" altLang="en-US" sz="13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小红书</a:t>
            </a:r>
            <a:endParaRPr lang="en-US" altLang="zh-CN" sz="130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a:p>
            <a:pPr algn="ctr"/>
            <a:r>
              <a:rPr lang="zh-CN" altLang="en-US" sz="130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rPr>
              <a:t>微</a:t>
            </a:r>
            <a:r>
              <a:rPr lang="zh-CN" altLang="en-US" sz="13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rPr>
              <a:t>博等</a:t>
            </a:r>
            <a:endParaRPr lang="zh-CN" altLang="en-US" sz="13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endParaRPr>
          </a:p>
        </p:txBody>
      </p:sp>
      <p:sp>
        <p:nvSpPr>
          <p:cNvPr id="44" name="文本框 43"/>
          <p:cNvSpPr txBox="1"/>
          <p:nvPr/>
        </p:nvSpPr>
        <p:spPr>
          <a:xfrm>
            <a:off x="5176520" y="1271905"/>
            <a:ext cx="775970" cy="486410"/>
          </a:xfrm>
          <a:prstGeom prst="rect">
            <a:avLst/>
          </a:prstGeom>
          <a:noFill/>
          <a:effectLst/>
        </p:spPr>
        <p:txBody>
          <a:bodyPr wrap="square" lIns="86868" tIns="43434" rIns="86868" bIns="43434" rtlCol="0">
            <a:spAutoFit/>
          </a:bodyPr>
          <a:lstStyle/>
          <a:p>
            <a:pPr algn="ctr"/>
            <a:r>
              <a:rPr lang="zh-CN" altLang="en-US" sz="13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线下</a:t>
            </a:r>
            <a:endParaRPr lang="en-US" altLang="zh-CN" sz="130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a:p>
            <a:pPr algn="ctr"/>
            <a:r>
              <a:rPr lang="zh-CN" altLang="en-US" sz="130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rPr>
              <a:t>门</a:t>
            </a:r>
            <a:r>
              <a:rPr lang="zh-CN" altLang="en-US" sz="13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rPr>
              <a:t>店</a:t>
            </a:r>
            <a:endParaRPr lang="zh-CN" altLang="en-US" sz="13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endParaRPr>
          </a:p>
        </p:txBody>
      </p:sp>
      <p:sp>
        <p:nvSpPr>
          <p:cNvPr id="45" name="文本框 44"/>
          <p:cNvSpPr txBox="1"/>
          <p:nvPr/>
        </p:nvSpPr>
        <p:spPr>
          <a:xfrm>
            <a:off x="6111240" y="1271905"/>
            <a:ext cx="775970" cy="486410"/>
          </a:xfrm>
          <a:prstGeom prst="rect">
            <a:avLst/>
          </a:prstGeom>
          <a:noFill/>
          <a:effectLst/>
        </p:spPr>
        <p:txBody>
          <a:bodyPr wrap="square" lIns="86868" tIns="43434" rIns="86868" bIns="43434" rtlCol="0">
            <a:spAutoFit/>
          </a:bodyPr>
          <a:lstStyle/>
          <a:p>
            <a:pPr algn="ctr"/>
            <a:r>
              <a:rPr lang="zh-CN" altLang="en-US" sz="13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地推</a:t>
            </a:r>
            <a:endParaRPr lang="en-US" altLang="zh-CN" sz="130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a:p>
            <a:pPr algn="ctr"/>
            <a:r>
              <a:rPr lang="zh-CN" altLang="en-US" sz="130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rPr>
              <a:t>广告</a:t>
            </a:r>
            <a:endParaRPr lang="zh-CN" altLang="en-US" sz="13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endParaRPr>
          </a:p>
        </p:txBody>
      </p:sp>
      <p:sp>
        <p:nvSpPr>
          <p:cNvPr id="46" name="文本框 45"/>
          <p:cNvSpPr txBox="1"/>
          <p:nvPr/>
        </p:nvSpPr>
        <p:spPr>
          <a:xfrm>
            <a:off x="7045960" y="1271905"/>
            <a:ext cx="775970" cy="486410"/>
          </a:xfrm>
          <a:prstGeom prst="rect">
            <a:avLst/>
          </a:prstGeom>
          <a:noFill/>
          <a:effectLst/>
        </p:spPr>
        <p:txBody>
          <a:bodyPr wrap="square" lIns="86868" tIns="43434" rIns="86868" bIns="43434" rtlCol="0">
            <a:spAutoFit/>
          </a:bodyPr>
          <a:lstStyle/>
          <a:p>
            <a:pPr algn="ctr"/>
            <a:r>
              <a:rPr lang="zh-CN" altLang="en-US" sz="13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会展</a:t>
            </a:r>
            <a:endParaRPr lang="en-US" altLang="zh-CN" sz="130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a:p>
            <a:pPr algn="ctr"/>
            <a:r>
              <a:rPr lang="zh-CN" altLang="en-US" sz="130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rPr>
              <a:t>展览</a:t>
            </a:r>
            <a:endParaRPr lang="zh-CN" altLang="en-US" sz="13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endParaRPr>
          </a:p>
        </p:txBody>
      </p:sp>
      <p:sp>
        <p:nvSpPr>
          <p:cNvPr id="47" name="文本框 46"/>
          <p:cNvSpPr txBox="1"/>
          <p:nvPr/>
        </p:nvSpPr>
        <p:spPr>
          <a:xfrm>
            <a:off x="7980680" y="1271905"/>
            <a:ext cx="775970" cy="486410"/>
          </a:xfrm>
          <a:prstGeom prst="rect">
            <a:avLst/>
          </a:prstGeom>
          <a:noFill/>
          <a:effectLst/>
        </p:spPr>
        <p:txBody>
          <a:bodyPr wrap="square" lIns="86868" tIns="43434" rIns="86868" bIns="43434" rtlCol="0">
            <a:spAutoFit/>
          </a:bodyPr>
          <a:lstStyle/>
          <a:p>
            <a:pPr algn="ctr"/>
            <a:r>
              <a:rPr lang="zh-CN" altLang="en-US" sz="13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异业</a:t>
            </a:r>
            <a:endParaRPr lang="en-US" altLang="zh-CN" sz="130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a:p>
            <a:pPr algn="ctr"/>
            <a:r>
              <a:rPr lang="zh-CN" altLang="en-US" sz="130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rPr>
              <a:t>合作</a:t>
            </a:r>
            <a:endParaRPr lang="zh-CN" altLang="en-US" sz="13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endParaRPr>
          </a:p>
        </p:txBody>
      </p:sp>
      <p:sp>
        <p:nvSpPr>
          <p:cNvPr id="48" name="文本框 47"/>
          <p:cNvSpPr txBox="1"/>
          <p:nvPr/>
        </p:nvSpPr>
        <p:spPr>
          <a:xfrm>
            <a:off x="8914765" y="1271905"/>
            <a:ext cx="775970" cy="486410"/>
          </a:xfrm>
          <a:prstGeom prst="rect">
            <a:avLst/>
          </a:prstGeom>
          <a:noFill/>
          <a:effectLst/>
        </p:spPr>
        <p:txBody>
          <a:bodyPr wrap="square" lIns="86868" tIns="43434" rIns="86868" bIns="43434" rtlCol="0">
            <a:spAutoFit/>
          </a:bodyPr>
          <a:lstStyle/>
          <a:p>
            <a:pPr algn="ctr"/>
            <a:r>
              <a:rPr lang="zh-CN" altLang="en-US" sz="13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rPr>
              <a:t>官方</a:t>
            </a:r>
            <a:endParaRPr lang="en-US" altLang="zh-CN" sz="130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endParaRPr>
          </a:p>
          <a:p>
            <a:pPr algn="ctr"/>
            <a:r>
              <a:rPr lang="zh-CN" altLang="en-US" sz="130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网站</a:t>
            </a:r>
            <a:endParaRPr lang="zh-CN" altLang="en-US" sz="13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endParaRPr>
          </a:p>
        </p:txBody>
      </p:sp>
      <p:sp>
        <p:nvSpPr>
          <p:cNvPr id="49" name="文本框 48"/>
          <p:cNvSpPr txBox="1"/>
          <p:nvPr/>
        </p:nvSpPr>
        <p:spPr>
          <a:xfrm>
            <a:off x="9849485" y="1271905"/>
            <a:ext cx="775970" cy="486410"/>
          </a:xfrm>
          <a:prstGeom prst="rect">
            <a:avLst/>
          </a:prstGeom>
          <a:noFill/>
          <a:effectLst/>
        </p:spPr>
        <p:txBody>
          <a:bodyPr wrap="square" lIns="86868" tIns="43434" rIns="86868" bIns="43434" rtlCol="0">
            <a:spAutoFit/>
          </a:bodyPr>
          <a:lstStyle/>
          <a:p>
            <a:pPr algn="ctr"/>
            <a:r>
              <a:rPr lang="zh-CN" altLang="en-US" sz="13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rPr>
              <a:t>电视</a:t>
            </a:r>
            <a:endParaRPr lang="en-US" altLang="zh-CN" sz="130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endParaRPr>
          </a:p>
          <a:p>
            <a:pPr algn="ctr"/>
            <a:r>
              <a:rPr lang="zh-CN" altLang="en-US" sz="130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rPr>
              <a:t>广告</a:t>
            </a:r>
            <a:endParaRPr lang="zh-CN" altLang="en-US" sz="13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endParaRPr>
          </a:p>
        </p:txBody>
      </p:sp>
      <p:sp>
        <p:nvSpPr>
          <p:cNvPr id="50" name="文本框 49"/>
          <p:cNvSpPr txBox="1"/>
          <p:nvPr/>
        </p:nvSpPr>
        <p:spPr>
          <a:xfrm>
            <a:off x="10784205" y="1271905"/>
            <a:ext cx="775970" cy="486410"/>
          </a:xfrm>
          <a:prstGeom prst="rect">
            <a:avLst/>
          </a:prstGeom>
          <a:noFill/>
          <a:effectLst/>
        </p:spPr>
        <p:txBody>
          <a:bodyPr wrap="square" lIns="86868" tIns="43434" rIns="86868" bIns="43434" rtlCol="0">
            <a:spAutoFit/>
          </a:bodyPr>
          <a:lstStyle/>
          <a:p>
            <a:pPr algn="ctr"/>
            <a:r>
              <a:rPr lang="zh-CN" altLang="en-US" sz="1300" dirty="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垂直</a:t>
            </a:r>
            <a:endParaRPr lang="en-US" altLang="zh-CN" sz="1300">
              <a:solidFill>
                <a:srgbClr val="000000">
                  <a:lumMod val="75000"/>
                  <a:lumOff val="25000"/>
                </a:srgbClr>
              </a:solidFill>
              <a:latin typeface="微软雅黑" panose="020B0503020204020204" charset="-122"/>
              <a:ea typeface="微软雅黑" panose="020B0503020204020204" charset="-122"/>
              <a:cs typeface="微软雅黑" panose="020B0503020204020204" charset="-122"/>
            </a:endParaRPr>
          </a:p>
          <a:p>
            <a:pPr algn="ctr"/>
            <a:r>
              <a:rPr lang="zh-CN" altLang="en-US" sz="1300">
                <a:solidFill>
                  <a:srgbClr val="000000">
                    <a:lumMod val="75000"/>
                    <a:lumOff val="25000"/>
                  </a:srgbClr>
                </a:solidFill>
                <a:latin typeface="微软雅黑" panose="020B0503020204020204" charset="-122"/>
                <a:ea typeface="微软雅黑" panose="020B0503020204020204" charset="-122"/>
                <a:cs typeface="微软雅黑" panose="020B0503020204020204" charset="-122"/>
              </a:rPr>
              <a:t>媒体</a:t>
            </a:r>
            <a:endParaRPr lang="zh-CN" altLang="en-US" sz="1300" dirty="0">
              <a:solidFill>
                <a:srgbClr val="000000">
                  <a:lumMod val="75000"/>
                  <a:lumOff val="25000"/>
                </a:srgbClr>
              </a:solidFill>
              <a:effectLst/>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组织系统管理系统平台</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2" name="任意多边形: 形状 5"/>
          <p:cNvSpPr/>
          <p:nvPr/>
        </p:nvSpPr>
        <p:spPr>
          <a:xfrm>
            <a:off x="2419985" y="1414145"/>
            <a:ext cx="7439660" cy="2867660"/>
          </a:xfrm>
          <a:custGeom>
            <a:avLst/>
            <a:gdLst>
              <a:gd name="connsiteX0" fmla="*/ 1479550 w 1530350"/>
              <a:gd name="connsiteY0" fmla="*/ 0 h 2673350"/>
              <a:gd name="connsiteX1" fmla="*/ 1530350 w 1530350"/>
              <a:gd name="connsiteY1" fmla="*/ 0 h 2673350"/>
              <a:gd name="connsiteX2" fmla="*/ 1530350 w 1530350"/>
              <a:gd name="connsiteY2" fmla="*/ 2673350 h 2673350"/>
              <a:gd name="connsiteX3" fmla="*/ 1479550 w 1530350"/>
              <a:gd name="connsiteY3" fmla="*/ 2673350 h 2673350"/>
              <a:gd name="connsiteX4" fmla="*/ 50800 w 1530350"/>
              <a:gd name="connsiteY4" fmla="*/ 2673350 h 2673350"/>
              <a:gd name="connsiteX5" fmla="*/ 0 w 1530350"/>
              <a:gd name="connsiteY5" fmla="*/ 2673350 h 2673350"/>
              <a:gd name="connsiteX6" fmla="*/ 0 w 1530350"/>
              <a:gd name="connsiteY6" fmla="*/ 0 h 2673350"/>
              <a:gd name="connsiteX7" fmla="*/ 50800 w 1530350"/>
              <a:gd name="connsiteY7" fmla="*/ 0 h 267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30350" h="2673350">
                <a:moveTo>
                  <a:pt x="1479550" y="0"/>
                </a:moveTo>
                <a:cubicBezTo>
                  <a:pt x="1507606" y="0"/>
                  <a:pt x="1530350" y="0"/>
                  <a:pt x="1530350" y="0"/>
                </a:cubicBezTo>
                <a:lnTo>
                  <a:pt x="1530350" y="2673350"/>
                </a:lnTo>
                <a:cubicBezTo>
                  <a:pt x="1530350" y="2673350"/>
                  <a:pt x="1507606" y="2673350"/>
                  <a:pt x="1479550" y="2673350"/>
                </a:cubicBezTo>
                <a:lnTo>
                  <a:pt x="50800" y="2673350"/>
                </a:lnTo>
                <a:cubicBezTo>
                  <a:pt x="22744" y="2673350"/>
                  <a:pt x="0" y="2673350"/>
                  <a:pt x="0" y="2673350"/>
                </a:cubicBezTo>
                <a:lnTo>
                  <a:pt x="0" y="0"/>
                </a:lnTo>
                <a:cubicBezTo>
                  <a:pt x="0" y="0"/>
                  <a:pt x="22744" y="0"/>
                  <a:pt x="50800" y="0"/>
                </a:cubicBezTo>
                <a:close/>
              </a:path>
            </a:pathLst>
          </a:custGeom>
          <a:solidFill>
            <a:schemeClr val="accent5">
              <a:lumMod val="20000"/>
              <a:lumOff val="80000"/>
              <a:alpha val="20000"/>
            </a:schemeClr>
          </a:solidFill>
          <a:ln>
            <a:solidFill>
              <a:schemeClr val="accent5">
                <a:lumMod val="60000"/>
                <a:lumOff val="40000"/>
                <a:alpha val="50000"/>
              </a:schemeClr>
            </a:solidFill>
            <a:prstDash val="solid"/>
          </a:ln>
        </p:spPr>
        <p:style>
          <a:lnRef idx="1">
            <a:srgbClr val="24396B"/>
          </a:lnRef>
          <a:fillRef idx="0">
            <a:srgbClr val="24396B"/>
          </a:fillRef>
          <a:effectRef idx="0">
            <a:srgbClr val="24396B"/>
          </a:effectRef>
          <a:fontRef idx="minor">
            <a:srgbClr val="000000"/>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900" dirty="0">
              <a:solidFill>
                <a:srgbClr val="1C4274"/>
              </a:solidFill>
              <a:latin typeface="微软雅黑" panose="020B0503020204020204" charset="-122"/>
              <a:ea typeface="微软雅黑" panose="020B0503020204020204" charset="-122"/>
              <a:cs typeface="微软雅黑" panose="020B0503020204020204" charset="-122"/>
              <a:sym typeface="+mn-ea"/>
            </a:endParaRPr>
          </a:p>
        </p:txBody>
      </p:sp>
      <p:sp>
        <p:nvSpPr>
          <p:cNvPr id="13" name="任意多边形: 形状 2"/>
          <p:cNvSpPr/>
          <p:nvPr/>
        </p:nvSpPr>
        <p:spPr>
          <a:xfrm>
            <a:off x="572770" y="1413510"/>
            <a:ext cx="1642110" cy="2868295"/>
          </a:xfrm>
          <a:custGeom>
            <a:avLst/>
            <a:gdLst>
              <a:gd name="connsiteX0" fmla="*/ 1479550 w 1530350"/>
              <a:gd name="connsiteY0" fmla="*/ 0 h 2673350"/>
              <a:gd name="connsiteX1" fmla="*/ 1530350 w 1530350"/>
              <a:gd name="connsiteY1" fmla="*/ 0 h 2673350"/>
              <a:gd name="connsiteX2" fmla="*/ 1530350 w 1530350"/>
              <a:gd name="connsiteY2" fmla="*/ 2673350 h 2673350"/>
              <a:gd name="connsiteX3" fmla="*/ 1479550 w 1530350"/>
              <a:gd name="connsiteY3" fmla="*/ 2673350 h 2673350"/>
              <a:gd name="connsiteX4" fmla="*/ 50800 w 1530350"/>
              <a:gd name="connsiteY4" fmla="*/ 2673350 h 2673350"/>
              <a:gd name="connsiteX5" fmla="*/ 0 w 1530350"/>
              <a:gd name="connsiteY5" fmla="*/ 2673350 h 2673350"/>
              <a:gd name="connsiteX6" fmla="*/ 0 w 1530350"/>
              <a:gd name="connsiteY6" fmla="*/ 0 h 2673350"/>
              <a:gd name="connsiteX7" fmla="*/ 50800 w 1530350"/>
              <a:gd name="connsiteY7" fmla="*/ 0 h 267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30350" h="2673350">
                <a:moveTo>
                  <a:pt x="1479550" y="0"/>
                </a:moveTo>
                <a:cubicBezTo>
                  <a:pt x="1507606" y="0"/>
                  <a:pt x="1530350" y="0"/>
                  <a:pt x="1530350" y="0"/>
                </a:cubicBezTo>
                <a:lnTo>
                  <a:pt x="1530350" y="2673350"/>
                </a:lnTo>
                <a:cubicBezTo>
                  <a:pt x="1530350" y="2673350"/>
                  <a:pt x="1507606" y="2673350"/>
                  <a:pt x="1479550" y="2673350"/>
                </a:cubicBezTo>
                <a:lnTo>
                  <a:pt x="50800" y="2673350"/>
                </a:lnTo>
                <a:cubicBezTo>
                  <a:pt x="22744" y="2673350"/>
                  <a:pt x="0" y="2673350"/>
                  <a:pt x="0" y="2673350"/>
                </a:cubicBezTo>
                <a:lnTo>
                  <a:pt x="0" y="0"/>
                </a:lnTo>
                <a:cubicBezTo>
                  <a:pt x="0" y="0"/>
                  <a:pt x="22744" y="0"/>
                  <a:pt x="50800" y="0"/>
                </a:cubicBezTo>
                <a:close/>
              </a:path>
            </a:pathLst>
          </a:custGeom>
          <a:solidFill>
            <a:schemeClr val="accent1">
              <a:lumMod val="20000"/>
              <a:lumOff val="80000"/>
              <a:alpha val="50000"/>
            </a:schemeClr>
          </a:solidFill>
          <a:ln>
            <a:solidFill>
              <a:schemeClr val="accent1">
                <a:alpha val="50000"/>
              </a:schemeClr>
            </a:solidFill>
            <a:prstDash val="solid"/>
          </a:ln>
        </p:spPr>
        <p:style>
          <a:lnRef idx="1">
            <a:srgbClr val="24396B"/>
          </a:lnRef>
          <a:fillRef idx="0">
            <a:srgbClr val="24396B"/>
          </a:fillRef>
          <a:effectRef idx="0">
            <a:srgbClr val="24396B"/>
          </a:effectRef>
          <a:fontRef idx="minor">
            <a:srgbClr val="000000"/>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900" dirty="0">
              <a:solidFill>
                <a:srgbClr val="1C4274"/>
              </a:solidFill>
              <a:latin typeface="微软雅黑" panose="020B0503020204020204" charset="-122"/>
              <a:ea typeface="微软雅黑" panose="020B0503020204020204" charset="-122"/>
              <a:cs typeface="微软雅黑" panose="020B0503020204020204" charset="-122"/>
              <a:sym typeface="+mn-ea"/>
            </a:endParaRPr>
          </a:p>
        </p:txBody>
      </p:sp>
      <p:sp>
        <p:nvSpPr>
          <p:cNvPr id="14" name="任意多边形: 形状 5"/>
          <p:cNvSpPr/>
          <p:nvPr/>
        </p:nvSpPr>
        <p:spPr>
          <a:xfrm>
            <a:off x="10063480" y="1413510"/>
            <a:ext cx="1642110" cy="2868295"/>
          </a:xfrm>
          <a:custGeom>
            <a:avLst/>
            <a:gdLst>
              <a:gd name="connsiteX0" fmla="*/ 1479550 w 1530350"/>
              <a:gd name="connsiteY0" fmla="*/ 0 h 2673350"/>
              <a:gd name="connsiteX1" fmla="*/ 1530350 w 1530350"/>
              <a:gd name="connsiteY1" fmla="*/ 0 h 2673350"/>
              <a:gd name="connsiteX2" fmla="*/ 1530350 w 1530350"/>
              <a:gd name="connsiteY2" fmla="*/ 2673350 h 2673350"/>
              <a:gd name="connsiteX3" fmla="*/ 1479550 w 1530350"/>
              <a:gd name="connsiteY3" fmla="*/ 2673350 h 2673350"/>
              <a:gd name="connsiteX4" fmla="*/ 50800 w 1530350"/>
              <a:gd name="connsiteY4" fmla="*/ 2673350 h 2673350"/>
              <a:gd name="connsiteX5" fmla="*/ 0 w 1530350"/>
              <a:gd name="connsiteY5" fmla="*/ 2673350 h 2673350"/>
              <a:gd name="connsiteX6" fmla="*/ 0 w 1530350"/>
              <a:gd name="connsiteY6" fmla="*/ 0 h 2673350"/>
              <a:gd name="connsiteX7" fmla="*/ 50800 w 1530350"/>
              <a:gd name="connsiteY7" fmla="*/ 0 h 267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30350" h="2673350">
                <a:moveTo>
                  <a:pt x="1479550" y="0"/>
                </a:moveTo>
                <a:cubicBezTo>
                  <a:pt x="1507606" y="0"/>
                  <a:pt x="1530350" y="0"/>
                  <a:pt x="1530350" y="0"/>
                </a:cubicBezTo>
                <a:lnTo>
                  <a:pt x="1530350" y="2673350"/>
                </a:lnTo>
                <a:cubicBezTo>
                  <a:pt x="1530350" y="2673350"/>
                  <a:pt x="1507606" y="2673350"/>
                  <a:pt x="1479550" y="2673350"/>
                </a:cubicBezTo>
                <a:lnTo>
                  <a:pt x="50800" y="2673350"/>
                </a:lnTo>
                <a:cubicBezTo>
                  <a:pt x="22744" y="2673350"/>
                  <a:pt x="0" y="2673350"/>
                  <a:pt x="0" y="2673350"/>
                </a:cubicBezTo>
                <a:lnTo>
                  <a:pt x="0" y="0"/>
                </a:lnTo>
                <a:cubicBezTo>
                  <a:pt x="0" y="0"/>
                  <a:pt x="22744" y="0"/>
                  <a:pt x="50800" y="0"/>
                </a:cubicBezTo>
                <a:close/>
              </a:path>
            </a:pathLst>
          </a:custGeom>
          <a:solidFill>
            <a:schemeClr val="accent1">
              <a:lumMod val="20000"/>
              <a:lumOff val="80000"/>
              <a:alpha val="50000"/>
            </a:schemeClr>
          </a:solidFill>
          <a:ln>
            <a:solidFill>
              <a:schemeClr val="accent1">
                <a:alpha val="50000"/>
              </a:schemeClr>
            </a:solidFill>
            <a:prstDash val="solid"/>
          </a:ln>
        </p:spPr>
        <p:style>
          <a:lnRef idx="1">
            <a:srgbClr val="24396B"/>
          </a:lnRef>
          <a:fillRef idx="0">
            <a:srgbClr val="24396B"/>
          </a:fillRef>
          <a:effectRef idx="0">
            <a:srgbClr val="24396B"/>
          </a:effectRef>
          <a:fontRef idx="minor">
            <a:srgbClr val="000000"/>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900" dirty="0">
              <a:solidFill>
                <a:srgbClr val="1C4274"/>
              </a:solidFill>
              <a:latin typeface="微软雅黑" panose="020B0503020204020204" charset="-122"/>
              <a:ea typeface="微软雅黑" panose="020B0503020204020204" charset="-122"/>
              <a:cs typeface="微软雅黑" panose="020B0503020204020204" charset="-122"/>
              <a:sym typeface="+mn-ea"/>
            </a:endParaRPr>
          </a:p>
        </p:txBody>
      </p:sp>
      <p:sp>
        <p:nvSpPr>
          <p:cNvPr id="18" name="矩形: 圆角 6"/>
          <p:cNvSpPr/>
          <p:nvPr/>
        </p:nvSpPr>
        <p:spPr>
          <a:xfrm>
            <a:off x="893445" y="2094865"/>
            <a:ext cx="995045" cy="422275"/>
          </a:xfrm>
          <a:prstGeom prst="roundRect">
            <a:avLst>
              <a:gd name="adj" fmla="val 8000"/>
            </a:avLst>
          </a:prstGeom>
          <a:solidFill>
            <a:srgbClr val="FFFFFF"/>
          </a:solidFill>
          <a:ln w="6350" cap="flat">
            <a:solidFill>
              <a:schemeClr val="accent1">
                <a:lumMod val="60000"/>
                <a:lumOff val="40000"/>
              </a:schemeClr>
            </a:solidFill>
            <a:prstDash val="solid"/>
            <a:miter/>
          </a:ln>
          <a:effectLst>
            <a:outerShdw blurRad="254000" dist="127000" dir="5400000" sx="80000" sy="80000" algn="t" rotWithShape="0">
              <a:srgbClr val="121C34">
                <a:alpha val="10000"/>
              </a:srgbClr>
            </a:outerShdw>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9" name="矩形: 圆角 8"/>
          <p:cNvSpPr/>
          <p:nvPr/>
        </p:nvSpPr>
        <p:spPr>
          <a:xfrm>
            <a:off x="10384155" y="2094865"/>
            <a:ext cx="995045" cy="422275"/>
          </a:xfrm>
          <a:prstGeom prst="roundRect">
            <a:avLst>
              <a:gd name="adj" fmla="val 8000"/>
            </a:avLst>
          </a:prstGeom>
          <a:solidFill>
            <a:srgbClr val="FFFFFF"/>
          </a:solidFill>
          <a:ln w="6350" cap="flat">
            <a:solidFill>
              <a:schemeClr val="accent1">
                <a:lumMod val="60000"/>
                <a:lumOff val="40000"/>
              </a:schemeClr>
            </a:solidFill>
            <a:prstDash val="solid"/>
            <a:miter/>
          </a:ln>
          <a:effectLst>
            <a:outerShdw blurRad="254000" dist="127000" dir="5400000" sx="80000" sy="80000" algn="t" rotWithShape="0">
              <a:srgbClr val="121C34">
                <a:alpha val="10000"/>
              </a:srgbClr>
            </a:outerShdw>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0" name="矩形: 圆角 14"/>
          <p:cNvSpPr/>
          <p:nvPr/>
        </p:nvSpPr>
        <p:spPr>
          <a:xfrm>
            <a:off x="893445" y="2626360"/>
            <a:ext cx="995045" cy="422275"/>
          </a:xfrm>
          <a:prstGeom prst="roundRect">
            <a:avLst>
              <a:gd name="adj" fmla="val 8000"/>
            </a:avLst>
          </a:prstGeom>
          <a:solidFill>
            <a:srgbClr val="FFFFFF"/>
          </a:solidFill>
          <a:ln w="6350" cap="flat">
            <a:solidFill>
              <a:schemeClr val="accent1">
                <a:lumMod val="60000"/>
                <a:lumOff val="40000"/>
              </a:schemeClr>
            </a:solidFill>
            <a:prstDash val="solid"/>
            <a:miter/>
          </a:ln>
          <a:effectLst>
            <a:outerShdw blurRad="254000" dist="127000" dir="5400000" sx="80000" sy="80000" algn="t" rotWithShape="0">
              <a:srgbClr val="121C34">
                <a:alpha val="10000"/>
              </a:srgbClr>
            </a:outerShdw>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1" name="矩形: 圆角 15"/>
          <p:cNvSpPr/>
          <p:nvPr/>
        </p:nvSpPr>
        <p:spPr>
          <a:xfrm>
            <a:off x="10384155" y="2626360"/>
            <a:ext cx="995045" cy="422275"/>
          </a:xfrm>
          <a:prstGeom prst="roundRect">
            <a:avLst>
              <a:gd name="adj" fmla="val 8000"/>
            </a:avLst>
          </a:prstGeom>
          <a:solidFill>
            <a:srgbClr val="FFFFFF"/>
          </a:solidFill>
          <a:ln w="6350" cap="flat">
            <a:solidFill>
              <a:schemeClr val="accent1">
                <a:lumMod val="60000"/>
                <a:lumOff val="40000"/>
              </a:schemeClr>
            </a:solidFill>
            <a:prstDash val="solid"/>
            <a:miter/>
          </a:ln>
          <a:effectLst>
            <a:outerShdw blurRad="254000" dist="127000" dir="5400000" sx="80000" sy="80000" algn="t" rotWithShape="0">
              <a:srgbClr val="121C34">
                <a:alpha val="10000"/>
              </a:srgbClr>
            </a:outerShdw>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1" name="矩形: 圆角 16"/>
          <p:cNvSpPr/>
          <p:nvPr/>
        </p:nvSpPr>
        <p:spPr>
          <a:xfrm>
            <a:off x="893445" y="3157855"/>
            <a:ext cx="995045" cy="422275"/>
          </a:xfrm>
          <a:prstGeom prst="roundRect">
            <a:avLst>
              <a:gd name="adj" fmla="val 8000"/>
            </a:avLst>
          </a:prstGeom>
          <a:solidFill>
            <a:srgbClr val="FFFFFF"/>
          </a:solidFill>
          <a:ln w="6350" cap="flat">
            <a:solidFill>
              <a:schemeClr val="accent1">
                <a:lumMod val="60000"/>
                <a:lumOff val="40000"/>
              </a:schemeClr>
            </a:solidFill>
            <a:prstDash val="solid"/>
            <a:miter/>
          </a:ln>
          <a:effectLst>
            <a:outerShdw blurRad="254000" dist="127000" dir="5400000" sx="80000" sy="80000" algn="t" rotWithShape="0">
              <a:srgbClr val="121C34">
                <a:alpha val="10000"/>
              </a:srgbClr>
            </a:outerShdw>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2" name="矩形: 圆角 21"/>
          <p:cNvSpPr/>
          <p:nvPr/>
        </p:nvSpPr>
        <p:spPr>
          <a:xfrm>
            <a:off x="10384155" y="3157855"/>
            <a:ext cx="995045" cy="422275"/>
          </a:xfrm>
          <a:prstGeom prst="roundRect">
            <a:avLst>
              <a:gd name="adj" fmla="val 8000"/>
            </a:avLst>
          </a:prstGeom>
          <a:solidFill>
            <a:srgbClr val="FFFFFF"/>
          </a:solidFill>
          <a:ln w="6350" cap="flat">
            <a:solidFill>
              <a:schemeClr val="accent1">
                <a:lumMod val="60000"/>
                <a:lumOff val="40000"/>
              </a:schemeClr>
            </a:solidFill>
            <a:prstDash val="solid"/>
            <a:miter/>
          </a:ln>
          <a:effectLst>
            <a:outerShdw blurRad="254000" dist="127000" dir="5400000" sx="80000" sy="80000" algn="t" rotWithShape="0">
              <a:srgbClr val="121C34">
                <a:alpha val="10000"/>
              </a:srgbClr>
            </a:outerShdw>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5" name="矩形: 圆角 22"/>
          <p:cNvSpPr/>
          <p:nvPr/>
        </p:nvSpPr>
        <p:spPr>
          <a:xfrm>
            <a:off x="893445" y="3689350"/>
            <a:ext cx="995045" cy="422275"/>
          </a:xfrm>
          <a:prstGeom prst="roundRect">
            <a:avLst>
              <a:gd name="adj" fmla="val 8000"/>
            </a:avLst>
          </a:prstGeom>
          <a:solidFill>
            <a:srgbClr val="FFFFFF"/>
          </a:solidFill>
          <a:ln w="6350" cap="flat">
            <a:solidFill>
              <a:schemeClr val="accent1">
                <a:lumMod val="60000"/>
                <a:lumOff val="40000"/>
              </a:schemeClr>
            </a:solidFill>
            <a:prstDash val="solid"/>
            <a:miter/>
          </a:ln>
          <a:effectLst>
            <a:outerShdw blurRad="254000" dist="127000" dir="5400000" sx="80000" sy="80000" algn="t" rotWithShape="0">
              <a:srgbClr val="121C34">
                <a:alpha val="10000"/>
              </a:srgbClr>
            </a:outerShdw>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6" name="矩形: 圆角 23"/>
          <p:cNvSpPr/>
          <p:nvPr/>
        </p:nvSpPr>
        <p:spPr>
          <a:xfrm>
            <a:off x="10384155" y="3689350"/>
            <a:ext cx="995045" cy="422275"/>
          </a:xfrm>
          <a:prstGeom prst="roundRect">
            <a:avLst>
              <a:gd name="adj" fmla="val 8000"/>
            </a:avLst>
          </a:prstGeom>
          <a:solidFill>
            <a:srgbClr val="FFFFFF"/>
          </a:solidFill>
          <a:ln w="6350" cap="flat">
            <a:solidFill>
              <a:schemeClr val="accent1">
                <a:lumMod val="60000"/>
                <a:lumOff val="40000"/>
              </a:schemeClr>
            </a:solidFill>
            <a:prstDash val="solid"/>
            <a:miter/>
          </a:ln>
          <a:effectLst>
            <a:outerShdw blurRad="254000" dist="127000" dir="5400000" sx="80000" sy="80000" algn="t" rotWithShape="0">
              <a:srgbClr val="121C34">
                <a:alpha val="10000"/>
              </a:srgbClr>
            </a:outerShdw>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7" name="矩形: 圆角 24"/>
          <p:cNvSpPr/>
          <p:nvPr/>
        </p:nvSpPr>
        <p:spPr>
          <a:xfrm>
            <a:off x="572770" y="1413510"/>
            <a:ext cx="1642110" cy="511175"/>
          </a:xfrm>
          <a:prstGeom prst="roundRect">
            <a:avLst>
              <a:gd name="adj" fmla="val 0"/>
            </a:avLst>
          </a:prstGeom>
          <a:solidFill>
            <a:schemeClr val="accent1"/>
          </a:solidFill>
          <a:ln>
            <a:noFill/>
          </a:ln>
          <a:effectLst>
            <a:outerShdw blurRad="50800" dist="38100" dir="2700000" algn="tl" rotWithShape="0">
              <a:schemeClr val="accent1">
                <a:lumMod val="60000"/>
                <a:lumOff val="40000"/>
                <a:alpha val="40000"/>
              </a:schemeClr>
            </a:outerShdw>
          </a:effectLst>
        </p:spPr>
        <p:txBody>
          <a:bodyPr rot="0" spcFirstLastPara="1" vert="horz" wrap="square" lIns="0" tIns="0" rIns="0" bIns="0" numCol="1" spcCol="0" rtlCol="0" fromWordArt="0" anchor="ctr" anchorCtr="0" forceAA="0" compatLnSpc="0">
            <a:noAutofit/>
          </a:bodyPr>
          <a:lstStyle/>
          <a:p>
            <a:pPr lvl="0" algn="ctr">
              <a:buClr>
                <a:srgbClr val="525455"/>
              </a:buClr>
              <a:buSzPts val="1100"/>
              <a:buFontTx/>
            </a:pPr>
            <a:endParaRPr sz="1465">
              <a:solidFill>
                <a:srgbClr val="525455"/>
              </a:solidFill>
              <a:latin typeface="微软雅黑" panose="020B0503020204020204" charset="-122"/>
              <a:ea typeface="微软雅黑" panose="020B0503020204020204" charset="-122"/>
              <a:cs typeface="微软雅黑" panose="020B0503020204020204" charset="-122"/>
              <a:sym typeface="+mn-ea"/>
            </a:endParaRPr>
          </a:p>
        </p:txBody>
      </p:sp>
      <p:sp>
        <p:nvSpPr>
          <p:cNvPr id="78" name="矩形: 圆角 25"/>
          <p:cNvSpPr/>
          <p:nvPr/>
        </p:nvSpPr>
        <p:spPr>
          <a:xfrm>
            <a:off x="2419350" y="1413510"/>
            <a:ext cx="7440295" cy="511175"/>
          </a:xfrm>
          <a:prstGeom prst="roundRect">
            <a:avLst>
              <a:gd name="adj" fmla="val 0"/>
            </a:avLst>
          </a:prstGeom>
          <a:solidFill>
            <a:schemeClr val="accent5"/>
          </a:solidFill>
          <a:ln>
            <a:noFill/>
          </a:ln>
          <a:effectLst>
            <a:outerShdw blurRad="50800" dist="38100" dir="2700000" algn="tl" rotWithShape="0">
              <a:schemeClr val="accent5">
                <a:lumMod val="60000"/>
                <a:lumOff val="40000"/>
                <a:alpha val="40000"/>
              </a:schemeClr>
            </a:outerShdw>
          </a:effectLst>
        </p:spPr>
        <p:txBody>
          <a:bodyPr rot="0" spcFirstLastPara="1" vert="horz" wrap="square" lIns="0" tIns="0" rIns="0" bIns="0" numCol="1" spcCol="0" rtlCol="0" fromWordArt="0" anchor="ctr" anchorCtr="0" forceAA="0" compatLnSpc="0">
            <a:noAutofit/>
          </a:bodyPr>
          <a:lstStyle/>
          <a:p>
            <a:pPr lvl="0" algn="ctr">
              <a:buClr>
                <a:srgbClr val="525455"/>
              </a:buClr>
              <a:buSzPts val="1100"/>
              <a:buFontTx/>
            </a:pPr>
            <a:endParaRPr sz="1465">
              <a:solidFill>
                <a:srgbClr val="525455"/>
              </a:solidFill>
              <a:latin typeface="微软雅黑" panose="020B0503020204020204" charset="-122"/>
              <a:ea typeface="微软雅黑" panose="020B0503020204020204" charset="-122"/>
              <a:cs typeface="微软雅黑" panose="020B0503020204020204" charset="-122"/>
              <a:sym typeface="+mn-ea"/>
            </a:endParaRPr>
          </a:p>
        </p:txBody>
      </p:sp>
      <p:sp>
        <p:nvSpPr>
          <p:cNvPr id="79" name="矩形: 圆角 26"/>
          <p:cNvSpPr/>
          <p:nvPr/>
        </p:nvSpPr>
        <p:spPr>
          <a:xfrm>
            <a:off x="572770" y="5848985"/>
            <a:ext cx="11132820" cy="511175"/>
          </a:xfrm>
          <a:prstGeom prst="roundRect">
            <a:avLst>
              <a:gd name="adj" fmla="val 8000"/>
            </a:avLst>
          </a:prstGeom>
          <a:solidFill>
            <a:schemeClr val="accent1"/>
          </a:solidFill>
          <a:ln>
            <a:noFill/>
          </a:ln>
          <a:effectLst>
            <a:outerShdw blurRad="50800" dist="38100" dir="2700000" algn="tl" rotWithShape="0">
              <a:schemeClr val="accent1">
                <a:lumMod val="60000"/>
                <a:lumOff val="40000"/>
                <a:alpha val="40000"/>
              </a:schemeClr>
            </a:outerShdw>
          </a:effectLst>
        </p:spPr>
        <p:style>
          <a:lnRef idx="0">
            <a:scrgbClr r="0" g="0" b="0"/>
          </a:lnRef>
          <a:fillRef idx="0">
            <a:scrgbClr r="0" g="0" b="0"/>
          </a:fillRef>
          <a:effectRef idx="0">
            <a:scrgbClr r="0" g="0" b="0"/>
          </a:effectRef>
          <a:fontRef idx="minor">
            <a:srgbClr val="FFFFFF"/>
          </a:fontRef>
        </p:style>
        <p:txBody>
          <a:bodyPr rot="0" spcFirstLastPara="0" vert="horz" wrap="square" lIns="91440" tIns="45720" rIns="91440" bIns="45720" numCol="1" spcCol="0" rtlCol="0" fromWordArt="0" anchor="ctr" anchorCtr="0" forceAA="0" compatLnSpc="1">
            <a:noAutofit/>
          </a:bodyPr>
          <a:lstStyle>
            <a:defPPr>
              <a:defRPr lang="en-US">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sz="100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endParaRPr>
          </a:p>
        </p:txBody>
      </p:sp>
      <p:sp>
        <p:nvSpPr>
          <p:cNvPr id="80" name="矩形: 圆角 27"/>
          <p:cNvSpPr/>
          <p:nvPr/>
        </p:nvSpPr>
        <p:spPr>
          <a:xfrm>
            <a:off x="10063480" y="1413510"/>
            <a:ext cx="1642110" cy="511175"/>
          </a:xfrm>
          <a:prstGeom prst="roundRect">
            <a:avLst>
              <a:gd name="adj" fmla="val 0"/>
            </a:avLst>
          </a:prstGeom>
          <a:solidFill>
            <a:schemeClr val="accent1"/>
          </a:solidFill>
          <a:ln>
            <a:noFill/>
          </a:ln>
          <a:effectLst>
            <a:outerShdw blurRad="50800" dist="38100" dir="2700000" algn="tl" rotWithShape="0">
              <a:schemeClr val="accent1">
                <a:lumMod val="60000"/>
                <a:lumOff val="40000"/>
                <a:alpha val="40000"/>
              </a:schemeClr>
            </a:outerShdw>
          </a:effectLst>
        </p:spPr>
        <p:txBody>
          <a:bodyPr rot="0" spcFirstLastPara="1" vert="horz" wrap="square" lIns="0" tIns="0" rIns="0" bIns="0" numCol="1" spcCol="0" rtlCol="0" fromWordArt="0" anchor="ctr" anchorCtr="0" forceAA="0" compatLnSpc="0">
            <a:noAutofit/>
          </a:bodyPr>
          <a:lstStyle/>
          <a:p>
            <a:pPr lvl="0" algn="ctr">
              <a:buClr>
                <a:srgbClr val="525455"/>
              </a:buClr>
              <a:buSzPts val="1100"/>
              <a:buFontTx/>
            </a:pPr>
            <a:endParaRPr sz="1465">
              <a:solidFill>
                <a:srgbClr val="525455"/>
              </a:solidFill>
              <a:latin typeface="微软雅黑" panose="020B0503020204020204" charset="-122"/>
              <a:ea typeface="微软雅黑" panose="020B0503020204020204" charset="-122"/>
              <a:cs typeface="微软雅黑" panose="020B0503020204020204" charset="-122"/>
              <a:sym typeface="+mn-ea"/>
            </a:endParaRPr>
          </a:p>
        </p:txBody>
      </p:sp>
      <p:sp>
        <p:nvSpPr>
          <p:cNvPr id="83" name="任意多边形: 形状 28"/>
          <p:cNvSpPr/>
          <p:nvPr/>
        </p:nvSpPr>
        <p:spPr>
          <a:xfrm>
            <a:off x="2570480" y="2128520"/>
            <a:ext cx="1444625" cy="2044065"/>
          </a:xfrm>
          <a:custGeom>
            <a:avLst/>
            <a:gdLst>
              <a:gd name="connsiteX0" fmla="*/ 1295400 w 1346200"/>
              <a:gd name="connsiteY0" fmla="*/ 0 h 2012950"/>
              <a:gd name="connsiteX1" fmla="*/ 1346200 w 1346200"/>
              <a:gd name="connsiteY1" fmla="*/ 0 h 2012950"/>
              <a:gd name="connsiteX2" fmla="*/ 1346200 w 1346200"/>
              <a:gd name="connsiteY2" fmla="*/ 2012950 h 2012950"/>
              <a:gd name="connsiteX3" fmla="*/ 1295400 w 1346200"/>
              <a:gd name="connsiteY3" fmla="*/ 2012950 h 2012950"/>
              <a:gd name="connsiteX4" fmla="*/ 50800 w 1346200"/>
              <a:gd name="connsiteY4" fmla="*/ 2012950 h 2012950"/>
              <a:gd name="connsiteX5" fmla="*/ 0 w 1346200"/>
              <a:gd name="connsiteY5" fmla="*/ 2012950 h 2012950"/>
              <a:gd name="connsiteX6" fmla="*/ 0 w 1346200"/>
              <a:gd name="connsiteY6" fmla="*/ 0 h 2012950"/>
              <a:gd name="connsiteX7" fmla="*/ 50800 w 1346200"/>
              <a:gd name="connsiteY7" fmla="*/ 0 h 201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200" h="2012950">
                <a:moveTo>
                  <a:pt x="1295400" y="0"/>
                </a:moveTo>
                <a:cubicBezTo>
                  <a:pt x="1323456" y="0"/>
                  <a:pt x="1346200" y="0"/>
                  <a:pt x="1346200" y="0"/>
                </a:cubicBezTo>
                <a:lnTo>
                  <a:pt x="1346200" y="2012950"/>
                </a:lnTo>
                <a:cubicBezTo>
                  <a:pt x="1346200" y="2012950"/>
                  <a:pt x="1323456" y="2012950"/>
                  <a:pt x="1295400" y="2012950"/>
                </a:cubicBezTo>
                <a:lnTo>
                  <a:pt x="50800" y="2012950"/>
                </a:lnTo>
                <a:cubicBezTo>
                  <a:pt x="22744" y="2012950"/>
                  <a:pt x="0" y="2012950"/>
                  <a:pt x="0" y="2012950"/>
                </a:cubicBezTo>
                <a:lnTo>
                  <a:pt x="0" y="0"/>
                </a:lnTo>
                <a:cubicBezTo>
                  <a:pt x="0" y="0"/>
                  <a:pt x="22744" y="0"/>
                  <a:pt x="50800" y="0"/>
                </a:cubicBezTo>
                <a:close/>
              </a:path>
            </a:pathLst>
          </a:custGeom>
          <a:gradFill>
            <a:gsLst>
              <a:gs pos="81000">
                <a:schemeClr val="accent5">
                  <a:lumMod val="20000"/>
                  <a:lumOff val="80000"/>
                  <a:alpha val="0"/>
                </a:schemeClr>
              </a:gs>
              <a:gs pos="0">
                <a:schemeClr val="accent5">
                  <a:lumMod val="20000"/>
                  <a:lumOff val="80000"/>
                  <a:alpha val="100000"/>
                </a:schemeClr>
              </a:gs>
            </a:gsLst>
            <a:lin ang="16200000" scaled="0"/>
          </a:gradFill>
          <a:ln w="6350" cap="flat">
            <a:solidFill>
              <a:schemeClr val="accent5">
                <a:lumMod val="60000"/>
                <a:lumOff val="40000"/>
                <a:alpha val="70000"/>
              </a:schemeClr>
            </a:solidFill>
            <a:custDash>
              <a:ds d="600000" sp="600000"/>
            </a:custDash>
            <a:miter/>
          </a:ln>
        </p:spPr>
        <p:txBody>
          <a:bodyPr rtlCol="0" anchor="ctr">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lvl="0" algn="l">
              <a:buClrTx/>
              <a:buSzTx/>
              <a:buFontTx/>
            </a:pPr>
            <a:endParaRPr lang="zh-CN" altLang="en-US">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89" name="任意多边形: 形状 29"/>
          <p:cNvSpPr/>
          <p:nvPr/>
        </p:nvSpPr>
        <p:spPr>
          <a:xfrm>
            <a:off x="5417185" y="2128520"/>
            <a:ext cx="1444625" cy="2044065"/>
          </a:xfrm>
          <a:custGeom>
            <a:avLst/>
            <a:gdLst>
              <a:gd name="connsiteX0" fmla="*/ 1295400 w 1346200"/>
              <a:gd name="connsiteY0" fmla="*/ 0 h 1905000"/>
              <a:gd name="connsiteX1" fmla="*/ 1346200 w 1346200"/>
              <a:gd name="connsiteY1" fmla="*/ 0 h 1905000"/>
              <a:gd name="connsiteX2" fmla="*/ 1346200 w 1346200"/>
              <a:gd name="connsiteY2" fmla="*/ 1905000 h 1905000"/>
              <a:gd name="connsiteX3" fmla="*/ 1295400 w 1346200"/>
              <a:gd name="connsiteY3" fmla="*/ 1905000 h 1905000"/>
              <a:gd name="connsiteX4" fmla="*/ 50800 w 1346200"/>
              <a:gd name="connsiteY4" fmla="*/ 1905000 h 1905000"/>
              <a:gd name="connsiteX5" fmla="*/ 0 w 1346200"/>
              <a:gd name="connsiteY5" fmla="*/ 1905000 h 1905000"/>
              <a:gd name="connsiteX6" fmla="*/ 0 w 1346200"/>
              <a:gd name="connsiteY6" fmla="*/ 0 h 1905000"/>
              <a:gd name="connsiteX7" fmla="*/ 50800 w 1346200"/>
              <a:gd name="connsiteY7" fmla="*/ 0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200" h="1905000">
                <a:moveTo>
                  <a:pt x="1295400" y="0"/>
                </a:moveTo>
                <a:cubicBezTo>
                  <a:pt x="1323456" y="0"/>
                  <a:pt x="1346200" y="0"/>
                  <a:pt x="1346200" y="0"/>
                </a:cubicBezTo>
                <a:lnTo>
                  <a:pt x="1346200" y="1905000"/>
                </a:lnTo>
                <a:cubicBezTo>
                  <a:pt x="1346200" y="1905000"/>
                  <a:pt x="1323456" y="1905000"/>
                  <a:pt x="1295400" y="1905000"/>
                </a:cubicBezTo>
                <a:lnTo>
                  <a:pt x="50800" y="1905000"/>
                </a:lnTo>
                <a:cubicBezTo>
                  <a:pt x="22744" y="1905000"/>
                  <a:pt x="0" y="1905000"/>
                  <a:pt x="0" y="1905000"/>
                </a:cubicBezTo>
                <a:lnTo>
                  <a:pt x="0" y="0"/>
                </a:lnTo>
                <a:cubicBezTo>
                  <a:pt x="0" y="0"/>
                  <a:pt x="22744" y="0"/>
                  <a:pt x="50800" y="0"/>
                </a:cubicBezTo>
                <a:close/>
              </a:path>
            </a:pathLst>
          </a:custGeom>
          <a:gradFill>
            <a:gsLst>
              <a:gs pos="81000">
                <a:schemeClr val="accent5">
                  <a:lumMod val="20000"/>
                  <a:lumOff val="80000"/>
                  <a:alpha val="0"/>
                </a:schemeClr>
              </a:gs>
              <a:gs pos="0">
                <a:schemeClr val="accent5">
                  <a:lumMod val="20000"/>
                  <a:lumOff val="80000"/>
                  <a:alpha val="100000"/>
                </a:schemeClr>
              </a:gs>
            </a:gsLst>
            <a:lin ang="16200000" scaled="0"/>
          </a:gradFill>
          <a:ln w="6350" cap="flat">
            <a:solidFill>
              <a:schemeClr val="accent5">
                <a:lumMod val="60000"/>
                <a:lumOff val="40000"/>
                <a:alpha val="70000"/>
              </a:schemeClr>
            </a:solidFill>
            <a:custDash>
              <a:ds d="600000" sp="600000"/>
            </a:custDash>
            <a:miter/>
          </a:ln>
        </p:spPr>
        <p:txBody>
          <a:bodyPr rtlCol="0" anchor="ctr">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lvl="0" algn="l">
              <a:buClrTx/>
              <a:buSzTx/>
              <a:buFontTx/>
            </a:pPr>
            <a:endParaRPr lang="zh-CN" altLang="en-US">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90" name="任意多边形: 形状 30"/>
          <p:cNvSpPr/>
          <p:nvPr/>
        </p:nvSpPr>
        <p:spPr>
          <a:xfrm>
            <a:off x="8281670" y="2128520"/>
            <a:ext cx="1444625" cy="2044065"/>
          </a:xfrm>
          <a:custGeom>
            <a:avLst/>
            <a:gdLst>
              <a:gd name="connsiteX0" fmla="*/ 1295400 w 1346200"/>
              <a:gd name="connsiteY0" fmla="*/ 0 h 1905000"/>
              <a:gd name="connsiteX1" fmla="*/ 1346200 w 1346200"/>
              <a:gd name="connsiteY1" fmla="*/ 0 h 1905000"/>
              <a:gd name="connsiteX2" fmla="*/ 1346200 w 1346200"/>
              <a:gd name="connsiteY2" fmla="*/ 1905000 h 1905000"/>
              <a:gd name="connsiteX3" fmla="*/ 1295400 w 1346200"/>
              <a:gd name="connsiteY3" fmla="*/ 1905000 h 1905000"/>
              <a:gd name="connsiteX4" fmla="*/ 50800 w 1346200"/>
              <a:gd name="connsiteY4" fmla="*/ 1905000 h 1905000"/>
              <a:gd name="connsiteX5" fmla="*/ 0 w 1346200"/>
              <a:gd name="connsiteY5" fmla="*/ 1905000 h 1905000"/>
              <a:gd name="connsiteX6" fmla="*/ 0 w 1346200"/>
              <a:gd name="connsiteY6" fmla="*/ 0 h 1905000"/>
              <a:gd name="connsiteX7" fmla="*/ 50800 w 1346200"/>
              <a:gd name="connsiteY7" fmla="*/ 0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6200" h="1905000">
                <a:moveTo>
                  <a:pt x="1295400" y="0"/>
                </a:moveTo>
                <a:cubicBezTo>
                  <a:pt x="1323456" y="0"/>
                  <a:pt x="1346200" y="0"/>
                  <a:pt x="1346200" y="0"/>
                </a:cubicBezTo>
                <a:lnTo>
                  <a:pt x="1346200" y="1905000"/>
                </a:lnTo>
                <a:cubicBezTo>
                  <a:pt x="1346200" y="1905000"/>
                  <a:pt x="1323456" y="1905000"/>
                  <a:pt x="1295400" y="1905000"/>
                </a:cubicBezTo>
                <a:lnTo>
                  <a:pt x="50800" y="1905000"/>
                </a:lnTo>
                <a:cubicBezTo>
                  <a:pt x="22744" y="1905000"/>
                  <a:pt x="0" y="1905000"/>
                  <a:pt x="0" y="1905000"/>
                </a:cubicBezTo>
                <a:lnTo>
                  <a:pt x="0" y="0"/>
                </a:lnTo>
                <a:cubicBezTo>
                  <a:pt x="0" y="0"/>
                  <a:pt x="22744" y="0"/>
                  <a:pt x="50800" y="0"/>
                </a:cubicBezTo>
                <a:close/>
              </a:path>
            </a:pathLst>
          </a:custGeom>
          <a:gradFill>
            <a:gsLst>
              <a:gs pos="81000">
                <a:schemeClr val="accent5">
                  <a:lumMod val="20000"/>
                  <a:lumOff val="80000"/>
                  <a:alpha val="0"/>
                </a:schemeClr>
              </a:gs>
              <a:gs pos="0">
                <a:schemeClr val="accent5">
                  <a:lumMod val="20000"/>
                  <a:lumOff val="80000"/>
                  <a:alpha val="100000"/>
                </a:schemeClr>
              </a:gs>
            </a:gsLst>
            <a:lin ang="16200000" scaled="0"/>
          </a:gradFill>
          <a:ln w="6350" cap="flat">
            <a:solidFill>
              <a:schemeClr val="accent5">
                <a:lumMod val="60000"/>
                <a:lumOff val="40000"/>
                <a:alpha val="70000"/>
              </a:schemeClr>
            </a:solidFill>
            <a:custDash>
              <a:ds d="600000" sp="600000"/>
            </a:custDash>
            <a:miter/>
          </a:ln>
        </p:spPr>
        <p:txBody>
          <a:bodyPr rtlCol="0" anchor="ctr">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lvl="0" algn="l">
              <a:buClrTx/>
              <a:buSzTx/>
              <a:buFontTx/>
            </a:pPr>
            <a:endParaRPr lang="zh-CN" altLang="en-US">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91" name="矩形: 圆角 31"/>
          <p:cNvSpPr/>
          <p:nvPr/>
        </p:nvSpPr>
        <p:spPr>
          <a:xfrm>
            <a:off x="2707005" y="2531745"/>
            <a:ext cx="1178560" cy="211455"/>
          </a:xfrm>
          <a:prstGeom prst="roundRect">
            <a:avLst>
              <a:gd name="adj" fmla="val 8000"/>
            </a:avLst>
          </a:prstGeom>
          <a:solidFill>
            <a:srgbClr val="FFFFFF"/>
          </a:solidFill>
          <a:ln w="6350" cap="flat">
            <a:solidFill>
              <a:schemeClr val="accent5">
                <a:lumMod val="60000"/>
                <a:lumOff val="40000"/>
              </a:schemeClr>
            </a:solid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2" name="矩形: 圆角 32"/>
          <p:cNvSpPr/>
          <p:nvPr/>
        </p:nvSpPr>
        <p:spPr>
          <a:xfrm>
            <a:off x="5553710" y="2585085"/>
            <a:ext cx="1178560" cy="211455"/>
          </a:xfrm>
          <a:prstGeom prst="roundRect">
            <a:avLst>
              <a:gd name="adj" fmla="val 8000"/>
            </a:avLst>
          </a:prstGeom>
          <a:solidFill>
            <a:srgbClr val="FFFFFF"/>
          </a:solidFill>
          <a:ln w="6350" cap="flat">
            <a:solidFill>
              <a:schemeClr val="accent5">
                <a:lumMod val="60000"/>
                <a:lumOff val="40000"/>
              </a:schemeClr>
            </a:solid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endParaRPr lang="zh-CN" altLang="en-US">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93" name="矩形: 圆角 33"/>
          <p:cNvSpPr/>
          <p:nvPr/>
        </p:nvSpPr>
        <p:spPr>
          <a:xfrm>
            <a:off x="8418195" y="2585085"/>
            <a:ext cx="1178560" cy="211455"/>
          </a:xfrm>
          <a:prstGeom prst="roundRect">
            <a:avLst>
              <a:gd name="adj" fmla="val 8000"/>
            </a:avLst>
          </a:prstGeom>
          <a:solidFill>
            <a:srgbClr val="FFFFFF"/>
          </a:solidFill>
          <a:ln w="6350" cap="flat">
            <a:solidFill>
              <a:schemeClr val="accent5">
                <a:lumMod val="60000"/>
                <a:lumOff val="40000"/>
              </a:schemeClr>
            </a:solid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endParaRPr lang="zh-CN" altLang="en-US">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94" name="矩形: 圆角 34"/>
          <p:cNvSpPr/>
          <p:nvPr/>
        </p:nvSpPr>
        <p:spPr>
          <a:xfrm>
            <a:off x="2707005" y="2858770"/>
            <a:ext cx="1178560" cy="211455"/>
          </a:xfrm>
          <a:prstGeom prst="roundRect">
            <a:avLst>
              <a:gd name="adj" fmla="val 8000"/>
            </a:avLst>
          </a:prstGeom>
          <a:solidFill>
            <a:srgbClr val="FFFFFF"/>
          </a:solidFill>
          <a:ln w="6350" cap="flat">
            <a:solidFill>
              <a:schemeClr val="accent5">
                <a:lumMod val="60000"/>
                <a:lumOff val="40000"/>
              </a:schemeClr>
            </a:solid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5" name="矩形: 圆角 35"/>
          <p:cNvSpPr/>
          <p:nvPr/>
        </p:nvSpPr>
        <p:spPr>
          <a:xfrm>
            <a:off x="5553710" y="2912110"/>
            <a:ext cx="1178560" cy="211455"/>
          </a:xfrm>
          <a:prstGeom prst="roundRect">
            <a:avLst>
              <a:gd name="adj" fmla="val 8000"/>
            </a:avLst>
          </a:prstGeom>
          <a:solidFill>
            <a:srgbClr val="FFFFFF"/>
          </a:solidFill>
          <a:ln w="6350" cap="flat">
            <a:solidFill>
              <a:schemeClr val="accent5">
                <a:lumMod val="60000"/>
                <a:lumOff val="40000"/>
              </a:schemeClr>
            </a:solid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endParaRPr lang="zh-CN" altLang="en-US">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96" name="矩形: 圆角 36"/>
          <p:cNvSpPr/>
          <p:nvPr/>
        </p:nvSpPr>
        <p:spPr>
          <a:xfrm>
            <a:off x="8418195" y="2912110"/>
            <a:ext cx="1178560" cy="211455"/>
          </a:xfrm>
          <a:prstGeom prst="roundRect">
            <a:avLst>
              <a:gd name="adj" fmla="val 8000"/>
            </a:avLst>
          </a:prstGeom>
          <a:solidFill>
            <a:srgbClr val="FFFFFF"/>
          </a:solidFill>
          <a:ln w="6350" cap="flat">
            <a:solidFill>
              <a:schemeClr val="accent5">
                <a:lumMod val="60000"/>
                <a:lumOff val="40000"/>
              </a:schemeClr>
            </a:solid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lvl="0" algn="l">
              <a:buClrTx/>
              <a:buSzTx/>
              <a:buFontTx/>
            </a:pPr>
            <a:endParaRPr lang="zh-CN" altLang="en-US">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97" name="矩形: 圆角 37"/>
          <p:cNvSpPr/>
          <p:nvPr/>
        </p:nvSpPr>
        <p:spPr>
          <a:xfrm>
            <a:off x="2707005" y="3185795"/>
            <a:ext cx="1178560" cy="211455"/>
          </a:xfrm>
          <a:prstGeom prst="roundRect">
            <a:avLst>
              <a:gd name="adj" fmla="val 8000"/>
            </a:avLst>
          </a:prstGeom>
          <a:solidFill>
            <a:srgbClr val="FFFFFF"/>
          </a:solidFill>
          <a:ln w="6350" cap="flat">
            <a:solidFill>
              <a:schemeClr val="accent5">
                <a:lumMod val="60000"/>
                <a:lumOff val="40000"/>
              </a:schemeClr>
            </a:solid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8" name="矩形: 圆角 38"/>
          <p:cNvSpPr/>
          <p:nvPr/>
        </p:nvSpPr>
        <p:spPr>
          <a:xfrm>
            <a:off x="5553710" y="3239135"/>
            <a:ext cx="1178560" cy="211455"/>
          </a:xfrm>
          <a:prstGeom prst="roundRect">
            <a:avLst>
              <a:gd name="adj" fmla="val 8000"/>
            </a:avLst>
          </a:prstGeom>
          <a:solidFill>
            <a:srgbClr val="FFFFFF"/>
          </a:solidFill>
          <a:ln w="6350" cap="flat">
            <a:solidFill>
              <a:schemeClr val="accent5">
                <a:lumMod val="60000"/>
                <a:lumOff val="40000"/>
              </a:schemeClr>
            </a:solid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endParaRPr lang="zh-CN" altLang="en-US">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99" name="矩形: 圆角 39"/>
          <p:cNvSpPr/>
          <p:nvPr/>
        </p:nvSpPr>
        <p:spPr>
          <a:xfrm>
            <a:off x="8418195" y="3239135"/>
            <a:ext cx="1178560" cy="211455"/>
          </a:xfrm>
          <a:prstGeom prst="roundRect">
            <a:avLst>
              <a:gd name="adj" fmla="val 8000"/>
            </a:avLst>
          </a:prstGeom>
          <a:solidFill>
            <a:srgbClr val="FFFFFF"/>
          </a:solidFill>
          <a:ln w="6350" cap="flat">
            <a:solidFill>
              <a:schemeClr val="accent5">
                <a:lumMod val="60000"/>
                <a:lumOff val="40000"/>
              </a:schemeClr>
            </a:solid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lvl="0" algn="l">
              <a:buClrTx/>
              <a:buSzTx/>
              <a:buFontTx/>
            </a:pPr>
            <a:endParaRPr lang="zh-CN" altLang="en-US">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00" name="矩形: 圆角 40"/>
          <p:cNvSpPr/>
          <p:nvPr/>
        </p:nvSpPr>
        <p:spPr>
          <a:xfrm>
            <a:off x="2707005" y="3512820"/>
            <a:ext cx="1178560" cy="211455"/>
          </a:xfrm>
          <a:prstGeom prst="roundRect">
            <a:avLst>
              <a:gd name="adj" fmla="val 8000"/>
            </a:avLst>
          </a:prstGeom>
          <a:solidFill>
            <a:srgbClr val="FFFFFF"/>
          </a:solidFill>
          <a:ln w="6350" cap="flat">
            <a:solidFill>
              <a:schemeClr val="accent5">
                <a:lumMod val="60000"/>
                <a:lumOff val="40000"/>
              </a:schemeClr>
            </a:solid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1" name="矩形: 圆角 41"/>
          <p:cNvSpPr/>
          <p:nvPr/>
        </p:nvSpPr>
        <p:spPr>
          <a:xfrm>
            <a:off x="2707005" y="3839845"/>
            <a:ext cx="1178560" cy="211455"/>
          </a:xfrm>
          <a:prstGeom prst="roundRect">
            <a:avLst>
              <a:gd name="adj" fmla="val 8000"/>
            </a:avLst>
          </a:prstGeom>
          <a:solidFill>
            <a:srgbClr val="FFFFFF"/>
          </a:solidFill>
          <a:ln w="6350" cap="flat">
            <a:solidFill>
              <a:schemeClr val="accent5">
                <a:lumMod val="60000"/>
                <a:lumOff val="40000"/>
              </a:schemeClr>
            </a:solid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2" name="矩形: 圆角 42"/>
          <p:cNvSpPr/>
          <p:nvPr/>
        </p:nvSpPr>
        <p:spPr>
          <a:xfrm>
            <a:off x="5553710" y="3566160"/>
            <a:ext cx="1178560" cy="211455"/>
          </a:xfrm>
          <a:prstGeom prst="roundRect">
            <a:avLst>
              <a:gd name="adj" fmla="val 8000"/>
            </a:avLst>
          </a:prstGeom>
          <a:solidFill>
            <a:srgbClr val="FFFFFF"/>
          </a:solidFill>
          <a:ln w="6350" cap="flat">
            <a:solidFill>
              <a:schemeClr val="accent5">
                <a:lumMod val="60000"/>
                <a:lumOff val="40000"/>
              </a:schemeClr>
            </a:solid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endParaRPr lang="zh-CN" altLang="en-US">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103" name="矩形: 圆角 43"/>
          <p:cNvSpPr/>
          <p:nvPr/>
        </p:nvSpPr>
        <p:spPr>
          <a:xfrm>
            <a:off x="5553710" y="3893185"/>
            <a:ext cx="1178560" cy="211455"/>
          </a:xfrm>
          <a:prstGeom prst="roundRect">
            <a:avLst>
              <a:gd name="adj" fmla="val 8000"/>
            </a:avLst>
          </a:prstGeom>
          <a:solidFill>
            <a:srgbClr val="FFFFFF"/>
          </a:solidFill>
          <a:ln w="6350" cap="flat">
            <a:solidFill>
              <a:schemeClr val="accent5">
                <a:lumMod val="60000"/>
                <a:lumOff val="40000"/>
              </a:schemeClr>
            </a:solid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endParaRPr lang="zh-CN" altLang="en-US">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104" name="矩形: 圆角 44"/>
          <p:cNvSpPr/>
          <p:nvPr/>
        </p:nvSpPr>
        <p:spPr>
          <a:xfrm>
            <a:off x="8418195" y="3566160"/>
            <a:ext cx="1178560" cy="211455"/>
          </a:xfrm>
          <a:prstGeom prst="roundRect">
            <a:avLst>
              <a:gd name="adj" fmla="val 8000"/>
            </a:avLst>
          </a:prstGeom>
          <a:solidFill>
            <a:srgbClr val="FFFFFF"/>
          </a:solidFill>
          <a:ln w="6350" cap="flat">
            <a:solidFill>
              <a:schemeClr val="accent5">
                <a:lumMod val="60000"/>
                <a:lumOff val="40000"/>
              </a:schemeClr>
            </a:solid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lvl="0" algn="l">
              <a:buClrTx/>
              <a:buSzTx/>
              <a:buFontTx/>
            </a:pPr>
            <a:endParaRPr lang="zh-CN" altLang="en-US">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05" name="矩形: 圆角 45"/>
          <p:cNvSpPr/>
          <p:nvPr/>
        </p:nvSpPr>
        <p:spPr>
          <a:xfrm>
            <a:off x="8418195" y="3893185"/>
            <a:ext cx="1178560" cy="211455"/>
          </a:xfrm>
          <a:prstGeom prst="roundRect">
            <a:avLst>
              <a:gd name="adj" fmla="val 8000"/>
            </a:avLst>
          </a:prstGeom>
          <a:solidFill>
            <a:srgbClr val="FFFFFF"/>
          </a:solidFill>
          <a:ln w="6350" cap="flat">
            <a:solidFill>
              <a:schemeClr val="accent5">
                <a:lumMod val="60000"/>
                <a:lumOff val="40000"/>
              </a:schemeClr>
            </a:solid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lvl="0" algn="l">
              <a:buClrTx/>
              <a:buSzTx/>
              <a:buFontTx/>
            </a:pPr>
            <a:endParaRPr lang="zh-CN" altLang="en-US">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06" name="任意多边形: 形状 46"/>
          <p:cNvSpPr/>
          <p:nvPr/>
        </p:nvSpPr>
        <p:spPr>
          <a:xfrm>
            <a:off x="4102100" y="3056255"/>
            <a:ext cx="265430" cy="188595"/>
          </a:xfrm>
          <a:custGeom>
            <a:avLst/>
            <a:gdLst>
              <a:gd name="connsiteX0" fmla="*/ 114300 w 247650"/>
              <a:gd name="connsiteY0" fmla="*/ 175971 h 175971"/>
              <a:gd name="connsiteX1" fmla="*/ 247650 w 247650"/>
              <a:gd name="connsiteY1" fmla="*/ 87986 h 175971"/>
              <a:gd name="connsiteX2" fmla="*/ 114300 w 247650"/>
              <a:gd name="connsiteY2" fmla="*/ 0 h 175971"/>
              <a:gd name="connsiteX3" fmla="*/ 114300 w 247650"/>
              <a:gd name="connsiteY3" fmla="*/ 43536 h 175971"/>
              <a:gd name="connsiteX4" fmla="*/ 0 w 247650"/>
              <a:gd name="connsiteY4" fmla="*/ 43536 h 175971"/>
              <a:gd name="connsiteX5" fmla="*/ 0 w 247650"/>
              <a:gd name="connsiteY5" fmla="*/ 132436 h 175971"/>
              <a:gd name="connsiteX6" fmla="*/ 114300 w 247650"/>
              <a:gd name="connsiteY6" fmla="*/ 132436 h 175971"/>
              <a:gd name="connsiteX7" fmla="*/ 114300 w 247650"/>
              <a:gd name="connsiteY7" fmla="*/ 175971 h 175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650" h="175971">
                <a:moveTo>
                  <a:pt x="114300" y="175971"/>
                </a:moveTo>
                <a:lnTo>
                  <a:pt x="247650" y="87986"/>
                </a:lnTo>
                <a:lnTo>
                  <a:pt x="114300" y="0"/>
                </a:lnTo>
                <a:lnTo>
                  <a:pt x="114300" y="43536"/>
                </a:lnTo>
                <a:lnTo>
                  <a:pt x="0" y="43536"/>
                </a:lnTo>
                <a:lnTo>
                  <a:pt x="0" y="132436"/>
                </a:lnTo>
                <a:lnTo>
                  <a:pt x="114300" y="132436"/>
                </a:lnTo>
                <a:lnTo>
                  <a:pt x="114300" y="175971"/>
                </a:lnTo>
                <a:close/>
              </a:path>
            </a:pathLst>
          </a:custGeom>
          <a:gradFill flip="none" rotWithShape="1">
            <a:gsLst>
              <a:gs pos="0">
                <a:schemeClr val="accent5">
                  <a:lumMod val="60000"/>
                  <a:lumOff val="40000"/>
                  <a:alpha val="0"/>
                </a:schemeClr>
              </a:gs>
              <a:gs pos="84000">
                <a:schemeClr val="accent5">
                  <a:lumMod val="60000"/>
                  <a:lumOff val="40000"/>
                </a:schemeClr>
              </a:gs>
            </a:gsLst>
            <a:lin ang="0" scaled="1"/>
            <a:tileRect/>
          </a:gradFill>
          <a:ln>
            <a:noFill/>
          </a:ln>
          <a:effectLst/>
        </p:spPr>
        <p:style>
          <a:lnRef idx="0">
            <a:scrgbClr r="0" g="0" b="0"/>
          </a:lnRef>
          <a:fillRef idx="0">
            <a:scrgbClr r="0" g="0" b="0"/>
          </a:fillRef>
          <a:effectRef idx="0">
            <a:scrgbClr r="0" g="0" b="0"/>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zh-CN" altLang="en-US" sz="100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07" name="任意多边形: 形状 47"/>
          <p:cNvSpPr/>
          <p:nvPr/>
        </p:nvSpPr>
        <p:spPr>
          <a:xfrm>
            <a:off x="6971030" y="3056255"/>
            <a:ext cx="265430" cy="188595"/>
          </a:xfrm>
          <a:custGeom>
            <a:avLst/>
            <a:gdLst>
              <a:gd name="connsiteX0" fmla="*/ 114300 w 247650"/>
              <a:gd name="connsiteY0" fmla="*/ 175971 h 175971"/>
              <a:gd name="connsiteX1" fmla="*/ 247650 w 247650"/>
              <a:gd name="connsiteY1" fmla="*/ 87986 h 175971"/>
              <a:gd name="connsiteX2" fmla="*/ 114300 w 247650"/>
              <a:gd name="connsiteY2" fmla="*/ 0 h 175971"/>
              <a:gd name="connsiteX3" fmla="*/ 114300 w 247650"/>
              <a:gd name="connsiteY3" fmla="*/ 43536 h 175971"/>
              <a:gd name="connsiteX4" fmla="*/ 0 w 247650"/>
              <a:gd name="connsiteY4" fmla="*/ 43536 h 175971"/>
              <a:gd name="connsiteX5" fmla="*/ 0 w 247650"/>
              <a:gd name="connsiteY5" fmla="*/ 132436 h 175971"/>
              <a:gd name="connsiteX6" fmla="*/ 114300 w 247650"/>
              <a:gd name="connsiteY6" fmla="*/ 132436 h 175971"/>
              <a:gd name="connsiteX7" fmla="*/ 114300 w 247650"/>
              <a:gd name="connsiteY7" fmla="*/ 175971 h 175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650" h="175971">
                <a:moveTo>
                  <a:pt x="114300" y="175971"/>
                </a:moveTo>
                <a:lnTo>
                  <a:pt x="247650" y="87986"/>
                </a:lnTo>
                <a:lnTo>
                  <a:pt x="114300" y="0"/>
                </a:lnTo>
                <a:lnTo>
                  <a:pt x="114300" y="43536"/>
                </a:lnTo>
                <a:lnTo>
                  <a:pt x="0" y="43536"/>
                </a:lnTo>
                <a:lnTo>
                  <a:pt x="0" y="132436"/>
                </a:lnTo>
                <a:lnTo>
                  <a:pt x="114300" y="132436"/>
                </a:lnTo>
                <a:lnTo>
                  <a:pt x="114300" y="175971"/>
                </a:lnTo>
                <a:close/>
              </a:path>
            </a:pathLst>
          </a:custGeom>
          <a:gradFill flip="none" rotWithShape="1">
            <a:gsLst>
              <a:gs pos="0">
                <a:schemeClr val="accent5">
                  <a:lumMod val="60000"/>
                  <a:lumOff val="40000"/>
                  <a:alpha val="0"/>
                </a:schemeClr>
              </a:gs>
              <a:gs pos="84000">
                <a:schemeClr val="accent5">
                  <a:lumMod val="60000"/>
                  <a:lumOff val="40000"/>
                </a:schemeClr>
              </a:gs>
            </a:gsLst>
            <a:lin ang="0" scaled="1"/>
            <a:tileRect/>
          </a:gradFill>
          <a:ln>
            <a:noFill/>
          </a:ln>
          <a:effectLst/>
        </p:spPr>
        <p:style>
          <a:lnRef idx="0">
            <a:scrgbClr r="0" g="0" b="0"/>
          </a:lnRef>
          <a:fillRef idx="0">
            <a:scrgbClr r="0" g="0" b="0"/>
          </a:fillRef>
          <a:effectRef idx="0">
            <a:scrgbClr r="0" g="0" b="0"/>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zh-CN" altLang="en-US" sz="100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08" name="矩形: 圆角 48"/>
          <p:cNvSpPr/>
          <p:nvPr/>
        </p:nvSpPr>
        <p:spPr>
          <a:xfrm>
            <a:off x="4504055" y="2128520"/>
            <a:ext cx="476885" cy="2044065"/>
          </a:xfrm>
          <a:prstGeom prst="roundRect">
            <a:avLst>
              <a:gd name="adj" fmla="val 8000"/>
            </a:avLst>
          </a:prstGeom>
          <a:solidFill>
            <a:schemeClr val="bg1"/>
          </a:solidFill>
          <a:ln w="12700" cap="flat">
            <a:solidFill>
              <a:schemeClr val="accent5">
                <a:lumMod val="60000"/>
                <a:lumOff val="40000"/>
              </a:schemeClr>
            </a:solidFill>
            <a:custDash>
              <a:ds d="600000" sp="600000"/>
            </a:custDash>
            <a:miter/>
          </a:ln>
          <a:extLst>
            <a:ext uri="{909E8E84-426E-40DD-AFC4-6F175D3DCCD1}">
              <a14:hiddenFill xmlns:a14="http://schemas.microsoft.com/office/drawing/2010/main">
                <a:solidFill>
                  <a:srgbClr val="77A0AD">
                    <a:alpha val="20000"/>
                  </a:srgbClr>
                </a:solidFill>
              </a14:hiddenFill>
            </a:ext>
          </a:extLst>
        </p:spPr>
        <p:txBody>
          <a:bodyPr rot="0" spcFirstLastPara="0" vert="horz" wrap="square" lIns="91440" tIns="45720" rIns="91440" bIns="45720" numCol="1" spcCol="0" rtlCol="0" fromWordArt="0" anchor="ctr" anchorCtr="0" forceAA="0" compatLnSpc="0">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lvl="0" algn="l">
              <a:buClrTx/>
              <a:buSzTx/>
              <a:buFontTx/>
            </a:pPr>
            <a:endParaRPr lang="zh-CN" altLang="en-US">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09" name="矩形: 圆角 49"/>
          <p:cNvSpPr/>
          <p:nvPr/>
        </p:nvSpPr>
        <p:spPr>
          <a:xfrm>
            <a:off x="7332980" y="2128520"/>
            <a:ext cx="476885" cy="2044065"/>
          </a:xfrm>
          <a:prstGeom prst="roundRect">
            <a:avLst>
              <a:gd name="adj" fmla="val 8000"/>
            </a:avLst>
          </a:prstGeom>
          <a:solidFill>
            <a:schemeClr val="bg1"/>
          </a:solidFill>
          <a:ln w="12700" cap="flat">
            <a:solidFill>
              <a:schemeClr val="accent5">
                <a:lumMod val="60000"/>
                <a:lumOff val="40000"/>
              </a:schemeClr>
            </a:solidFill>
            <a:custDash>
              <a:ds d="600000" sp="600000"/>
            </a:custDash>
            <a:miter/>
          </a:ln>
          <a:extLst>
            <a:ext uri="{909E8E84-426E-40DD-AFC4-6F175D3DCCD1}">
              <a14:hiddenFill xmlns:a14="http://schemas.microsoft.com/office/drawing/2010/main">
                <a:solidFill>
                  <a:srgbClr val="77A0AD">
                    <a:alpha val="20000"/>
                  </a:srgbClr>
                </a:solidFill>
              </a14:hiddenFill>
            </a:ext>
          </a:extLst>
        </p:spPr>
        <p:txBody>
          <a:bodyPr rot="0" spcFirstLastPara="0" vert="horz" wrap="square" lIns="91440" tIns="45720" rIns="91440" bIns="45720" numCol="1" spcCol="0" rtlCol="0" fromWordArt="0" anchor="ctr" anchorCtr="0" forceAA="0" compatLnSpc="0">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lvl="0" algn="l">
              <a:buClrTx/>
              <a:buSzTx/>
              <a:buFontTx/>
            </a:pPr>
            <a:endParaRPr lang="zh-CN" altLang="en-US">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10" name="任意多边形: 形状 50"/>
          <p:cNvSpPr/>
          <p:nvPr/>
        </p:nvSpPr>
        <p:spPr>
          <a:xfrm>
            <a:off x="5081905" y="3056255"/>
            <a:ext cx="265430" cy="188595"/>
          </a:xfrm>
          <a:custGeom>
            <a:avLst/>
            <a:gdLst>
              <a:gd name="connsiteX0" fmla="*/ 114300 w 247650"/>
              <a:gd name="connsiteY0" fmla="*/ 175971 h 175971"/>
              <a:gd name="connsiteX1" fmla="*/ 247650 w 247650"/>
              <a:gd name="connsiteY1" fmla="*/ 87986 h 175971"/>
              <a:gd name="connsiteX2" fmla="*/ 114300 w 247650"/>
              <a:gd name="connsiteY2" fmla="*/ 0 h 175971"/>
              <a:gd name="connsiteX3" fmla="*/ 114300 w 247650"/>
              <a:gd name="connsiteY3" fmla="*/ 43536 h 175971"/>
              <a:gd name="connsiteX4" fmla="*/ 0 w 247650"/>
              <a:gd name="connsiteY4" fmla="*/ 43536 h 175971"/>
              <a:gd name="connsiteX5" fmla="*/ 0 w 247650"/>
              <a:gd name="connsiteY5" fmla="*/ 132436 h 175971"/>
              <a:gd name="connsiteX6" fmla="*/ 114300 w 247650"/>
              <a:gd name="connsiteY6" fmla="*/ 132436 h 175971"/>
              <a:gd name="connsiteX7" fmla="*/ 114300 w 247650"/>
              <a:gd name="connsiteY7" fmla="*/ 175971 h 175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650" h="175971">
                <a:moveTo>
                  <a:pt x="114300" y="175971"/>
                </a:moveTo>
                <a:lnTo>
                  <a:pt x="247650" y="87986"/>
                </a:lnTo>
                <a:lnTo>
                  <a:pt x="114300" y="0"/>
                </a:lnTo>
                <a:lnTo>
                  <a:pt x="114300" y="43536"/>
                </a:lnTo>
                <a:lnTo>
                  <a:pt x="0" y="43536"/>
                </a:lnTo>
                <a:lnTo>
                  <a:pt x="0" y="132436"/>
                </a:lnTo>
                <a:lnTo>
                  <a:pt x="114300" y="132436"/>
                </a:lnTo>
                <a:lnTo>
                  <a:pt x="114300" y="175971"/>
                </a:lnTo>
                <a:close/>
              </a:path>
            </a:pathLst>
          </a:custGeom>
          <a:gradFill flip="none" rotWithShape="1">
            <a:gsLst>
              <a:gs pos="0">
                <a:schemeClr val="accent5">
                  <a:lumMod val="60000"/>
                  <a:lumOff val="40000"/>
                  <a:alpha val="0"/>
                </a:schemeClr>
              </a:gs>
              <a:gs pos="84000">
                <a:schemeClr val="accent5">
                  <a:lumMod val="60000"/>
                  <a:lumOff val="40000"/>
                </a:schemeClr>
              </a:gs>
            </a:gsLst>
            <a:lin ang="0" scaled="1"/>
            <a:tileRect/>
          </a:gradFill>
          <a:ln>
            <a:noFill/>
          </a:ln>
          <a:effectLst/>
        </p:spPr>
        <p:style>
          <a:lnRef idx="0">
            <a:scrgbClr r="0" g="0" b="0"/>
          </a:lnRef>
          <a:fillRef idx="0">
            <a:scrgbClr r="0" g="0" b="0"/>
          </a:fillRef>
          <a:effectRef idx="0">
            <a:scrgbClr r="0" g="0" b="0"/>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zh-CN" altLang="en-US" sz="100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11" name="任意多边形: 形状 51"/>
          <p:cNvSpPr/>
          <p:nvPr/>
        </p:nvSpPr>
        <p:spPr>
          <a:xfrm>
            <a:off x="7878445" y="3048635"/>
            <a:ext cx="265430" cy="188595"/>
          </a:xfrm>
          <a:custGeom>
            <a:avLst/>
            <a:gdLst>
              <a:gd name="connsiteX0" fmla="*/ 114300 w 247650"/>
              <a:gd name="connsiteY0" fmla="*/ 175971 h 175971"/>
              <a:gd name="connsiteX1" fmla="*/ 247650 w 247650"/>
              <a:gd name="connsiteY1" fmla="*/ 87986 h 175971"/>
              <a:gd name="connsiteX2" fmla="*/ 114300 w 247650"/>
              <a:gd name="connsiteY2" fmla="*/ 0 h 175971"/>
              <a:gd name="connsiteX3" fmla="*/ 114300 w 247650"/>
              <a:gd name="connsiteY3" fmla="*/ 43536 h 175971"/>
              <a:gd name="connsiteX4" fmla="*/ 0 w 247650"/>
              <a:gd name="connsiteY4" fmla="*/ 43536 h 175971"/>
              <a:gd name="connsiteX5" fmla="*/ 0 w 247650"/>
              <a:gd name="connsiteY5" fmla="*/ 132436 h 175971"/>
              <a:gd name="connsiteX6" fmla="*/ 114300 w 247650"/>
              <a:gd name="connsiteY6" fmla="*/ 132436 h 175971"/>
              <a:gd name="connsiteX7" fmla="*/ 114300 w 247650"/>
              <a:gd name="connsiteY7" fmla="*/ 175971 h 175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650" h="175971">
                <a:moveTo>
                  <a:pt x="114300" y="175971"/>
                </a:moveTo>
                <a:lnTo>
                  <a:pt x="247650" y="87986"/>
                </a:lnTo>
                <a:lnTo>
                  <a:pt x="114300" y="0"/>
                </a:lnTo>
                <a:lnTo>
                  <a:pt x="114300" y="43536"/>
                </a:lnTo>
                <a:lnTo>
                  <a:pt x="0" y="43536"/>
                </a:lnTo>
                <a:lnTo>
                  <a:pt x="0" y="132436"/>
                </a:lnTo>
                <a:lnTo>
                  <a:pt x="114300" y="132436"/>
                </a:lnTo>
                <a:lnTo>
                  <a:pt x="114300" y="175971"/>
                </a:lnTo>
                <a:close/>
              </a:path>
            </a:pathLst>
          </a:custGeom>
          <a:gradFill flip="none" rotWithShape="1">
            <a:gsLst>
              <a:gs pos="0">
                <a:schemeClr val="accent5">
                  <a:lumMod val="60000"/>
                  <a:lumOff val="40000"/>
                  <a:alpha val="0"/>
                </a:schemeClr>
              </a:gs>
              <a:gs pos="84000">
                <a:schemeClr val="accent5">
                  <a:lumMod val="60000"/>
                  <a:lumOff val="40000"/>
                </a:schemeClr>
              </a:gs>
            </a:gsLst>
            <a:lin ang="0" scaled="1"/>
            <a:tileRect/>
          </a:gradFill>
          <a:ln>
            <a:noFill/>
          </a:ln>
          <a:effectLst/>
        </p:spPr>
        <p:style>
          <a:lnRef idx="0">
            <a:scrgbClr r="0" g="0" b="0"/>
          </a:lnRef>
          <a:fillRef idx="0">
            <a:scrgbClr r="0" g="0" b="0"/>
          </a:fillRef>
          <a:effectRef idx="0">
            <a:scrgbClr r="0" g="0" b="0"/>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en-US">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zh-CN" altLang="en-US" sz="1000">
              <a:solidFill>
                <a:schemeClr val="accent2"/>
              </a:solidFill>
              <a:latin typeface="微软雅黑" panose="020B0503020204020204" charset="-122"/>
              <a:ea typeface="微软雅黑" panose="020B0503020204020204" charset="-122"/>
              <a:cs typeface="微软雅黑" panose="020B0503020204020204" charset="-122"/>
              <a:sym typeface="+mn-ea"/>
            </a:endParaRPr>
          </a:p>
        </p:txBody>
      </p:sp>
      <p:sp>
        <p:nvSpPr>
          <p:cNvPr id="112" name="矩形: 圆角 52"/>
          <p:cNvSpPr/>
          <p:nvPr/>
        </p:nvSpPr>
        <p:spPr>
          <a:xfrm>
            <a:off x="572770" y="5222240"/>
            <a:ext cx="1512570" cy="422275"/>
          </a:xfrm>
          <a:prstGeom prst="roundRect">
            <a:avLst>
              <a:gd name="adj" fmla="val 8000"/>
            </a:avLst>
          </a:prstGeom>
          <a:solidFill>
            <a:schemeClr val="accent1">
              <a:lumMod val="20000"/>
              <a:lumOff val="80000"/>
            </a:schemeClr>
          </a:solidFill>
          <a:ln>
            <a:solidFill>
              <a:schemeClr val="accent1">
                <a:alpha val="50000"/>
              </a:schemeClr>
            </a:solidFill>
            <a:prstDash val="solid"/>
          </a:ln>
        </p:spPr>
        <p:style>
          <a:lnRef idx="1">
            <a:srgbClr val="24396B"/>
          </a:lnRef>
          <a:fillRef idx="0">
            <a:srgbClr val="24396B"/>
          </a:fillRef>
          <a:effectRef idx="0">
            <a:srgbClr val="24396B"/>
          </a:effectRef>
          <a:fontRef idx="minor">
            <a:srgbClr val="000000"/>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900" dirty="0">
              <a:solidFill>
                <a:srgbClr val="1C4274"/>
              </a:solidFill>
              <a:latin typeface="微软雅黑" panose="020B0503020204020204" charset="-122"/>
              <a:ea typeface="微软雅黑" panose="020B0503020204020204" charset="-122"/>
              <a:cs typeface="微软雅黑" panose="020B0503020204020204" charset="-122"/>
              <a:sym typeface="+mn-ea"/>
            </a:endParaRPr>
          </a:p>
        </p:txBody>
      </p:sp>
      <p:sp>
        <p:nvSpPr>
          <p:cNvPr id="113" name="矩形: 圆角 53"/>
          <p:cNvSpPr/>
          <p:nvPr/>
        </p:nvSpPr>
        <p:spPr>
          <a:xfrm>
            <a:off x="2174240" y="5222240"/>
            <a:ext cx="1512570" cy="422275"/>
          </a:xfrm>
          <a:prstGeom prst="roundRect">
            <a:avLst>
              <a:gd name="adj" fmla="val 8000"/>
            </a:avLst>
          </a:prstGeom>
          <a:solidFill>
            <a:schemeClr val="accent1">
              <a:lumMod val="20000"/>
              <a:lumOff val="80000"/>
            </a:schemeClr>
          </a:solidFill>
          <a:ln>
            <a:solidFill>
              <a:schemeClr val="accent1">
                <a:alpha val="50000"/>
              </a:schemeClr>
            </a:solidFill>
            <a:prstDash val="solid"/>
          </a:ln>
        </p:spPr>
        <p:style>
          <a:lnRef idx="1">
            <a:srgbClr val="24396B"/>
          </a:lnRef>
          <a:fillRef idx="0">
            <a:srgbClr val="24396B"/>
          </a:fillRef>
          <a:effectRef idx="0">
            <a:srgbClr val="24396B"/>
          </a:effectRef>
          <a:fontRef idx="minor">
            <a:srgbClr val="000000"/>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900" dirty="0">
              <a:solidFill>
                <a:srgbClr val="1C4274"/>
              </a:solidFill>
              <a:latin typeface="微软雅黑" panose="020B0503020204020204" charset="-122"/>
              <a:ea typeface="微软雅黑" panose="020B0503020204020204" charset="-122"/>
              <a:cs typeface="微软雅黑" panose="020B0503020204020204" charset="-122"/>
              <a:sym typeface="+mn-ea"/>
            </a:endParaRPr>
          </a:p>
        </p:txBody>
      </p:sp>
      <p:sp>
        <p:nvSpPr>
          <p:cNvPr id="114" name="矩形: 圆角 54"/>
          <p:cNvSpPr/>
          <p:nvPr/>
        </p:nvSpPr>
        <p:spPr>
          <a:xfrm>
            <a:off x="3782060" y="5222240"/>
            <a:ext cx="1512570" cy="422275"/>
          </a:xfrm>
          <a:prstGeom prst="roundRect">
            <a:avLst>
              <a:gd name="adj" fmla="val 8000"/>
            </a:avLst>
          </a:prstGeom>
          <a:solidFill>
            <a:schemeClr val="accent1">
              <a:lumMod val="20000"/>
              <a:lumOff val="80000"/>
            </a:schemeClr>
          </a:solidFill>
          <a:ln>
            <a:solidFill>
              <a:schemeClr val="accent1">
                <a:alpha val="50000"/>
              </a:schemeClr>
            </a:solidFill>
            <a:prstDash val="solid"/>
          </a:ln>
        </p:spPr>
        <p:style>
          <a:lnRef idx="1">
            <a:srgbClr val="24396B"/>
          </a:lnRef>
          <a:fillRef idx="0">
            <a:srgbClr val="24396B"/>
          </a:fillRef>
          <a:effectRef idx="0">
            <a:srgbClr val="24396B"/>
          </a:effectRef>
          <a:fontRef idx="minor">
            <a:srgbClr val="000000"/>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900" dirty="0">
              <a:solidFill>
                <a:srgbClr val="1C4274"/>
              </a:solidFill>
              <a:latin typeface="微软雅黑" panose="020B0503020204020204" charset="-122"/>
              <a:ea typeface="微软雅黑" panose="020B0503020204020204" charset="-122"/>
              <a:cs typeface="微软雅黑" panose="020B0503020204020204" charset="-122"/>
              <a:sym typeface="+mn-ea"/>
            </a:endParaRPr>
          </a:p>
        </p:txBody>
      </p:sp>
      <p:sp>
        <p:nvSpPr>
          <p:cNvPr id="115" name="矩形: 圆角 55"/>
          <p:cNvSpPr/>
          <p:nvPr/>
        </p:nvSpPr>
        <p:spPr>
          <a:xfrm>
            <a:off x="5382895" y="5222240"/>
            <a:ext cx="1512570" cy="422275"/>
          </a:xfrm>
          <a:prstGeom prst="roundRect">
            <a:avLst>
              <a:gd name="adj" fmla="val 8000"/>
            </a:avLst>
          </a:prstGeom>
          <a:solidFill>
            <a:schemeClr val="accent1">
              <a:lumMod val="20000"/>
              <a:lumOff val="80000"/>
            </a:schemeClr>
          </a:solidFill>
          <a:ln>
            <a:solidFill>
              <a:schemeClr val="accent1">
                <a:alpha val="50000"/>
              </a:schemeClr>
            </a:solidFill>
            <a:prstDash val="solid"/>
          </a:ln>
        </p:spPr>
        <p:style>
          <a:lnRef idx="1">
            <a:srgbClr val="24396B"/>
          </a:lnRef>
          <a:fillRef idx="0">
            <a:srgbClr val="24396B"/>
          </a:fillRef>
          <a:effectRef idx="0">
            <a:srgbClr val="24396B"/>
          </a:effectRef>
          <a:fontRef idx="minor">
            <a:srgbClr val="000000"/>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900" dirty="0">
              <a:solidFill>
                <a:srgbClr val="1C4274"/>
              </a:solidFill>
              <a:latin typeface="微软雅黑" panose="020B0503020204020204" charset="-122"/>
              <a:ea typeface="微软雅黑" panose="020B0503020204020204" charset="-122"/>
              <a:cs typeface="微软雅黑" panose="020B0503020204020204" charset="-122"/>
              <a:sym typeface="+mn-ea"/>
            </a:endParaRPr>
          </a:p>
        </p:txBody>
      </p:sp>
      <p:sp>
        <p:nvSpPr>
          <p:cNvPr id="116" name="矩形: 圆角 56"/>
          <p:cNvSpPr/>
          <p:nvPr/>
        </p:nvSpPr>
        <p:spPr>
          <a:xfrm>
            <a:off x="6984365" y="5222240"/>
            <a:ext cx="1512570" cy="422275"/>
          </a:xfrm>
          <a:prstGeom prst="roundRect">
            <a:avLst>
              <a:gd name="adj" fmla="val 8000"/>
            </a:avLst>
          </a:prstGeom>
          <a:solidFill>
            <a:schemeClr val="accent1">
              <a:lumMod val="20000"/>
              <a:lumOff val="80000"/>
            </a:schemeClr>
          </a:solidFill>
          <a:ln>
            <a:solidFill>
              <a:schemeClr val="accent1">
                <a:alpha val="50000"/>
              </a:schemeClr>
            </a:solidFill>
            <a:prstDash val="solid"/>
          </a:ln>
        </p:spPr>
        <p:style>
          <a:lnRef idx="1">
            <a:srgbClr val="24396B"/>
          </a:lnRef>
          <a:fillRef idx="0">
            <a:srgbClr val="24396B"/>
          </a:fillRef>
          <a:effectRef idx="0">
            <a:srgbClr val="24396B"/>
          </a:effectRef>
          <a:fontRef idx="minor">
            <a:srgbClr val="000000"/>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900" dirty="0">
              <a:solidFill>
                <a:srgbClr val="1C4274"/>
              </a:solidFill>
              <a:latin typeface="微软雅黑" panose="020B0503020204020204" charset="-122"/>
              <a:ea typeface="微软雅黑" panose="020B0503020204020204" charset="-122"/>
              <a:cs typeface="微软雅黑" panose="020B0503020204020204" charset="-122"/>
              <a:sym typeface="+mn-ea"/>
            </a:endParaRPr>
          </a:p>
        </p:txBody>
      </p:sp>
      <p:sp>
        <p:nvSpPr>
          <p:cNvPr id="117" name="矩形: 圆角 57"/>
          <p:cNvSpPr/>
          <p:nvPr/>
        </p:nvSpPr>
        <p:spPr>
          <a:xfrm>
            <a:off x="8592185" y="5222240"/>
            <a:ext cx="1512570" cy="422275"/>
          </a:xfrm>
          <a:prstGeom prst="roundRect">
            <a:avLst>
              <a:gd name="adj" fmla="val 8000"/>
            </a:avLst>
          </a:prstGeom>
          <a:solidFill>
            <a:schemeClr val="accent1">
              <a:lumMod val="20000"/>
              <a:lumOff val="80000"/>
            </a:schemeClr>
          </a:solidFill>
          <a:ln>
            <a:solidFill>
              <a:schemeClr val="accent1">
                <a:alpha val="50000"/>
              </a:schemeClr>
            </a:solidFill>
            <a:prstDash val="solid"/>
          </a:ln>
        </p:spPr>
        <p:style>
          <a:lnRef idx="1">
            <a:srgbClr val="24396B"/>
          </a:lnRef>
          <a:fillRef idx="0">
            <a:srgbClr val="24396B"/>
          </a:fillRef>
          <a:effectRef idx="0">
            <a:srgbClr val="24396B"/>
          </a:effectRef>
          <a:fontRef idx="minor">
            <a:srgbClr val="000000"/>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900" dirty="0">
              <a:solidFill>
                <a:srgbClr val="1C4274"/>
              </a:solidFill>
              <a:latin typeface="微软雅黑" panose="020B0503020204020204" charset="-122"/>
              <a:ea typeface="微软雅黑" panose="020B0503020204020204" charset="-122"/>
              <a:cs typeface="微软雅黑" panose="020B0503020204020204" charset="-122"/>
              <a:sym typeface="+mn-ea"/>
            </a:endParaRPr>
          </a:p>
        </p:txBody>
      </p:sp>
      <p:sp>
        <p:nvSpPr>
          <p:cNvPr id="118" name="矩形: 圆角 58"/>
          <p:cNvSpPr/>
          <p:nvPr/>
        </p:nvSpPr>
        <p:spPr>
          <a:xfrm>
            <a:off x="10193020" y="5222240"/>
            <a:ext cx="1512570" cy="422275"/>
          </a:xfrm>
          <a:prstGeom prst="roundRect">
            <a:avLst>
              <a:gd name="adj" fmla="val 8000"/>
            </a:avLst>
          </a:prstGeom>
          <a:solidFill>
            <a:schemeClr val="accent1">
              <a:lumMod val="20000"/>
              <a:lumOff val="80000"/>
            </a:schemeClr>
          </a:solidFill>
          <a:ln>
            <a:solidFill>
              <a:schemeClr val="accent1">
                <a:alpha val="50000"/>
              </a:schemeClr>
            </a:solidFill>
            <a:prstDash val="solid"/>
          </a:ln>
        </p:spPr>
        <p:style>
          <a:lnRef idx="1">
            <a:srgbClr val="24396B"/>
          </a:lnRef>
          <a:fillRef idx="0">
            <a:srgbClr val="24396B"/>
          </a:fillRef>
          <a:effectRef idx="0">
            <a:srgbClr val="24396B"/>
          </a:effectRef>
          <a:fontRef idx="minor">
            <a:srgbClr val="000000"/>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900" dirty="0">
              <a:solidFill>
                <a:srgbClr val="1C4274"/>
              </a:solidFill>
              <a:latin typeface="微软雅黑" panose="020B0503020204020204" charset="-122"/>
              <a:ea typeface="微软雅黑" panose="020B0503020204020204" charset="-122"/>
              <a:cs typeface="微软雅黑" panose="020B0503020204020204" charset="-122"/>
              <a:sym typeface="+mn-ea"/>
            </a:endParaRPr>
          </a:p>
        </p:txBody>
      </p:sp>
      <p:sp>
        <p:nvSpPr>
          <p:cNvPr id="119" name="矩形: 圆角 60"/>
          <p:cNvSpPr/>
          <p:nvPr/>
        </p:nvSpPr>
        <p:spPr>
          <a:xfrm>
            <a:off x="572770" y="4486275"/>
            <a:ext cx="11132820" cy="531495"/>
          </a:xfrm>
          <a:prstGeom prst="roundRect">
            <a:avLst>
              <a:gd name="adj" fmla="val 8000"/>
            </a:avLst>
          </a:prstGeom>
          <a:pattFill prst="wdDnDiag">
            <a:fgClr>
              <a:schemeClr val="bg1"/>
            </a:fgClr>
            <a:bgClr>
              <a:schemeClr val="accent1">
                <a:lumMod val="20000"/>
                <a:lumOff val="80000"/>
              </a:schemeClr>
            </a:bgClr>
          </a:pattFill>
          <a:ln>
            <a:solidFill>
              <a:schemeClr val="accent1">
                <a:lumMod val="40000"/>
                <a:lumOff val="60000"/>
                <a:alpha val="50000"/>
              </a:schemeClr>
            </a:solidFill>
          </a:ln>
        </p:spPr>
        <p:txBody>
          <a:bodyPr rot="0" spcFirstLastPara="1" vert="horz" wrap="square" lIns="0" tIns="0" rIns="0" bIns="0" numCol="1" spcCol="0" rtlCol="0" fromWordArt="0" anchor="ctr" anchorCtr="0" forceAA="0" compatLnSpc="0">
            <a:noAutofit/>
          </a:bodyPr>
          <a:lstStyle/>
          <a:p>
            <a:pPr lvl="0" algn="ctr">
              <a:spcBef>
                <a:spcPts val="0"/>
              </a:spcBef>
              <a:spcAft>
                <a:spcPts val="0"/>
              </a:spcAft>
              <a:buClr>
                <a:srgbClr val="525455"/>
              </a:buClr>
              <a:buSzPts val="1100"/>
              <a:buFont typeface="微软雅黑" panose="020B0503020204020204" charset="-122"/>
            </a:pPr>
            <a:endParaRPr sz="1100">
              <a:solidFill>
                <a:srgbClr val="525455"/>
              </a:solidFill>
              <a:latin typeface="微软雅黑" panose="020B0503020204020204" charset="-122"/>
              <a:ea typeface="微软雅黑" panose="020B0503020204020204" charset="-122"/>
              <a:cs typeface="微软雅黑" panose="020B0503020204020204" charset="-122"/>
              <a:sym typeface="+mn-ea"/>
            </a:endParaRPr>
          </a:p>
        </p:txBody>
      </p:sp>
      <p:sp>
        <p:nvSpPr>
          <p:cNvPr id="120" name="文本框 283"/>
          <p:cNvSpPr txBox="1"/>
          <p:nvPr/>
        </p:nvSpPr>
        <p:spPr>
          <a:xfrm>
            <a:off x="1036320" y="1561465"/>
            <a:ext cx="715645" cy="20002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300" b="1" dirty="0">
                <a:solidFill>
                  <a:srgbClr val="FFFFFF"/>
                </a:solidFill>
                <a:effectLst/>
                <a:latin typeface="微软雅黑" panose="020B0503020204020204" charset="-122"/>
                <a:ea typeface="微软雅黑" panose="020B0503020204020204" charset="-122"/>
                <a:cs typeface="微软雅黑" panose="020B0503020204020204" charset="-122"/>
              </a:rPr>
              <a:t>个体成长</a:t>
            </a:r>
            <a:endParaRPr lang="zh-CN" altLang="en-US" sz="1300" b="1" dirty="0">
              <a:solidFill>
                <a:srgbClr val="FFFFFF"/>
              </a:solidFill>
              <a:effectLst/>
              <a:latin typeface="微软雅黑" panose="020B0503020204020204" charset="-122"/>
              <a:ea typeface="微软雅黑" panose="020B0503020204020204" charset="-122"/>
              <a:cs typeface="微软雅黑" panose="020B0503020204020204" charset="-122"/>
            </a:endParaRPr>
          </a:p>
        </p:txBody>
      </p:sp>
      <p:sp>
        <p:nvSpPr>
          <p:cNvPr id="121" name="文本框 284"/>
          <p:cNvSpPr txBox="1"/>
          <p:nvPr/>
        </p:nvSpPr>
        <p:spPr>
          <a:xfrm>
            <a:off x="4886960" y="1561465"/>
            <a:ext cx="2504440" cy="20002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300" b="1" dirty="0">
                <a:solidFill>
                  <a:srgbClr val="FFFFFF"/>
                </a:solidFill>
                <a:effectLst/>
                <a:latin typeface="微软雅黑" panose="020B0503020204020204" charset="-122"/>
                <a:ea typeface="微软雅黑" panose="020B0503020204020204" charset="-122"/>
                <a:cs typeface="微软雅黑" panose="020B0503020204020204" charset="-122"/>
              </a:rPr>
              <a:t>去中心化组织目标协同管理系统</a:t>
            </a:r>
            <a:endParaRPr lang="zh-CN" altLang="en-US" sz="1300" b="1" dirty="0">
              <a:solidFill>
                <a:srgbClr val="FFFFFF"/>
              </a:solidFill>
              <a:effectLst/>
              <a:latin typeface="微软雅黑" panose="020B0503020204020204" charset="-122"/>
              <a:ea typeface="微软雅黑" panose="020B0503020204020204" charset="-122"/>
              <a:cs typeface="微软雅黑" panose="020B0503020204020204" charset="-122"/>
            </a:endParaRPr>
          </a:p>
        </p:txBody>
      </p:sp>
      <p:sp>
        <p:nvSpPr>
          <p:cNvPr id="122" name="文本框 286"/>
          <p:cNvSpPr txBox="1"/>
          <p:nvPr/>
        </p:nvSpPr>
        <p:spPr>
          <a:xfrm>
            <a:off x="10527030" y="1561465"/>
            <a:ext cx="715645" cy="20002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300" b="1" dirty="0">
                <a:solidFill>
                  <a:srgbClr val="FFFFFF"/>
                </a:solidFill>
                <a:effectLst/>
                <a:latin typeface="微软雅黑" panose="020B0503020204020204" charset="-122"/>
                <a:ea typeface="微软雅黑" panose="020B0503020204020204" charset="-122"/>
                <a:cs typeface="微软雅黑" panose="020B0503020204020204" charset="-122"/>
              </a:rPr>
              <a:t>企业成长</a:t>
            </a:r>
            <a:endParaRPr lang="zh-CN" altLang="en-US" sz="1300" b="1" dirty="0">
              <a:solidFill>
                <a:srgbClr val="FFFFFF"/>
              </a:solidFill>
              <a:effectLst/>
              <a:latin typeface="微软雅黑" panose="020B0503020204020204" charset="-122"/>
              <a:ea typeface="微软雅黑" panose="020B0503020204020204" charset="-122"/>
              <a:cs typeface="微软雅黑" panose="020B0503020204020204" charset="-122"/>
            </a:endParaRPr>
          </a:p>
        </p:txBody>
      </p:sp>
      <p:sp>
        <p:nvSpPr>
          <p:cNvPr id="123" name="文本框 287"/>
          <p:cNvSpPr txBox="1"/>
          <p:nvPr/>
        </p:nvSpPr>
        <p:spPr>
          <a:xfrm>
            <a:off x="3863340" y="5996940"/>
            <a:ext cx="4013200" cy="27686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b="1" dirty="0">
                <a:solidFill>
                  <a:srgbClr val="FFFFFF"/>
                </a:solidFill>
                <a:effectLst/>
                <a:latin typeface="微软雅黑" panose="020B0503020204020204" charset="-122"/>
                <a:ea typeface="微软雅黑" panose="020B0503020204020204" charset="-122"/>
                <a:cs typeface="微软雅黑" panose="020B0503020204020204" charset="-122"/>
              </a:rPr>
              <a:t>去中心化组织目标协同管理系统</a:t>
            </a:r>
            <a:endParaRPr lang="zh-CN" altLang="en-US" b="1" dirty="0">
              <a:solidFill>
                <a:srgbClr val="FFFFFF"/>
              </a:solidFill>
              <a:effectLst/>
              <a:latin typeface="微软雅黑" panose="020B0503020204020204" charset="-122"/>
              <a:ea typeface="微软雅黑" panose="020B0503020204020204" charset="-122"/>
              <a:cs typeface="微软雅黑" panose="020B0503020204020204" charset="-122"/>
            </a:endParaRPr>
          </a:p>
        </p:txBody>
      </p:sp>
      <p:sp>
        <p:nvSpPr>
          <p:cNvPr id="124" name="文本框 288"/>
          <p:cNvSpPr txBox="1"/>
          <p:nvPr/>
        </p:nvSpPr>
        <p:spPr>
          <a:xfrm>
            <a:off x="4342765" y="4625340"/>
            <a:ext cx="3435350" cy="253365"/>
          </a:xfrm>
          <a:prstGeom prst="rect">
            <a:avLst/>
          </a:prstGeom>
          <a:noFill/>
        </p:spPr>
        <p:txBody>
          <a:bodyPr wrap="square" lIns="0" tIns="0" rIns="0" bIns="0" rtlCol="0">
            <a:spAutoFit/>
          </a:bodyPr>
          <a:lstStyle>
            <a:defPPr>
              <a:defRPr lang="zh-CN"/>
            </a:defPPr>
            <a:lvl1pPr algn="ctr">
              <a:lnSpc>
                <a:spcPct val="110000"/>
              </a:lnSpc>
              <a:defRPr sz="900">
                <a:solidFill>
                  <a:srgbClr val="055DF6"/>
                </a:solidFill>
                <a:effectLst/>
                <a:latin typeface="MiSans Semibold" panose="00000700000000000000" pitchFamily="2" charset="-122"/>
                <a:ea typeface="MiSans Semibold" panose="00000700000000000000" pitchFamily="2" charset="-122"/>
              </a:defRPr>
            </a:lvl1pPr>
          </a:lstStyle>
          <a:p>
            <a:r>
              <a:rPr lang="zh-CN" altLang="en-US" sz="1500" b="1" dirty="0">
                <a:solidFill>
                  <a:schemeClr val="accent1"/>
                </a:solidFill>
                <a:latin typeface="微软雅黑" panose="020B0503020204020204" charset="-122"/>
                <a:ea typeface="微软雅黑" panose="020B0503020204020204" charset="-122"/>
                <a:cs typeface="微软雅黑" panose="020B0503020204020204" charset="-122"/>
              </a:rPr>
              <a:t>大数据基础设施（计算和储存平台）</a:t>
            </a:r>
            <a:endParaRPr lang="zh-CN" altLang="en-US" sz="15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25" name="文本框 289"/>
          <p:cNvSpPr txBox="1"/>
          <p:nvPr/>
        </p:nvSpPr>
        <p:spPr>
          <a:xfrm>
            <a:off x="1115060" y="2223770"/>
            <a:ext cx="550545" cy="15367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共振对话</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26" name="文本框 290"/>
          <p:cNvSpPr txBox="1"/>
          <p:nvPr/>
        </p:nvSpPr>
        <p:spPr>
          <a:xfrm>
            <a:off x="1115060" y="2755265"/>
            <a:ext cx="550545" cy="15367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协同挑战</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27" name="文本框 291"/>
          <p:cNvSpPr txBox="1"/>
          <p:nvPr/>
        </p:nvSpPr>
        <p:spPr>
          <a:xfrm>
            <a:off x="1115060" y="3286760"/>
            <a:ext cx="550545" cy="15367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团队赋能</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28" name="文本框 292"/>
          <p:cNvSpPr txBox="1"/>
          <p:nvPr/>
        </p:nvSpPr>
        <p:spPr>
          <a:xfrm>
            <a:off x="1115060" y="3818255"/>
            <a:ext cx="550545" cy="15367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肯定认可</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29" name="文本框 293"/>
          <p:cNvSpPr txBox="1"/>
          <p:nvPr/>
        </p:nvSpPr>
        <p:spPr>
          <a:xfrm>
            <a:off x="10674985" y="2223770"/>
            <a:ext cx="412750" cy="15367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去中心</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30" name="文本框 294"/>
          <p:cNvSpPr txBox="1"/>
          <p:nvPr/>
        </p:nvSpPr>
        <p:spPr>
          <a:xfrm>
            <a:off x="10605770" y="2755265"/>
            <a:ext cx="550545" cy="15367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目标协同</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31" name="文本框 295"/>
          <p:cNvSpPr txBox="1"/>
          <p:nvPr/>
        </p:nvSpPr>
        <p:spPr>
          <a:xfrm>
            <a:off x="10605770" y="3286760"/>
            <a:ext cx="550545" cy="15367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信息同频</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32" name="文本框 296"/>
          <p:cNvSpPr txBox="1"/>
          <p:nvPr/>
        </p:nvSpPr>
        <p:spPr>
          <a:xfrm>
            <a:off x="10605770" y="3818255"/>
            <a:ext cx="550545" cy="15367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rPr>
              <a:t>成果展现</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43" name="文本框 307"/>
          <p:cNvSpPr txBox="1"/>
          <p:nvPr/>
        </p:nvSpPr>
        <p:spPr>
          <a:xfrm>
            <a:off x="3103880" y="2577465"/>
            <a:ext cx="384810" cy="11747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10000"/>
              </a:lnSpc>
            </a:pPr>
            <a:r>
              <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rPr>
              <a:t>目标对齐</a:t>
            </a:r>
            <a:endPar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44" name="文本框 308"/>
          <p:cNvSpPr txBox="1"/>
          <p:nvPr/>
        </p:nvSpPr>
        <p:spPr>
          <a:xfrm>
            <a:off x="3103880" y="2904490"/>
            <a:ext cx="384810" cy="11747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10000"/>
              </a:lnSpc>
            </a:pPr>
            <a:r>
              <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rPr>
              <a:t>同步协同</a:t>
            </a:r>
            <a:endPar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45" name="文本框 309"/>
          <p:cNvSpPr txBox="1"/>
          <p:nvPr/>
        </p:nvSpPr>
        <p:spPr>
          <a:xfrm>
            <a:off x="3103880" y="3232150"/>
            <a:ext cx="384810" cy="11747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10000"/>
              </a:lnSpc>
            </a:pPr>
            <a:r>
              <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rPr>
              <a:t>动态沟通</a:t>
            </a:r>
            <a:endPar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46" name="文本框 310"/>
          <p:cNvSpPr txBox="1"/>
          <p:nvPr/>
        </p:nvSpPr>
        <p:spPr>
          <a:xfrm>
            <a:off x="3103880" y="3559175"/>
            <a:ext cx="384810" cy="11747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10000"/>
              </a:lnSpc>
            </a:pPr>
            <a:r>
              <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rPr>
              <a:t>执行优化</a:t>
            </a:r>
            <a:endPar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47" name="文本框 311"/>
          <p:cNvSpPr txBox="1"/>
          <p:nvPr/>
        </p:nvSpPr>
        <p:spPr>
          <a:xfrm>
            <a:off x="3103880" y="3886200"/>
            <a:ext cx="384810" cy="11747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10000"/>
              </a:lnSpc>
            </a:pPr>
            <a:r>
              <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rPr>
              <a:t>结果反馈</a:t>
            </a:r>
            <a:endPar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48" name="文本框 312"/>
          <p:cNvSpPr txBox="1"/>
          <p:nvPr/>
        </p:nvSpPr>
        <p:spPr>
          <a:xfrm>
            <a:off x="5853430" y="2630805"/>
            <a:ext cx="577850" cy="11747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10000"/>
              </a:lnSpc>
            </a:pPr>
            <a:r>
              <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rPr>
              <a:t>关键目标</a:t>
            </a:r>
            <a:r>
              <a:rPr lang="en-US" altLang="zh-CN" sz="700" dirty="0">
                <a:solidFill>
                  <a:schemeClr val="tx2"/>
                </a:solidFill>
                <a:effectLst/>
                <a:latin typeface="微软雅黑" panose="020B0503020204020204" charset="-122"/>
                <a:ea typeface="微软雅黑" panose="020B0503020204020204" charset="-122"/>
                <a:cs typeface="微软雅黑" panose="020B0503020204020204" charset="-122"/>
              </a:rPr>
              <a:t>KR1</a:t>
            </a:r>
            <a:endParaRPr lang="en-US" altLang="zh-CN" sz="7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49" name="文本框 313"/>
          <p:cNvSpPr txBox="1"/>
          <p:nvPr/>
        </p:nvSpPr>
        <p:spPr>
          <a:xfrm>
            <a:off x="5853430" y="2957830"/>
            <a:ext cx="577850" cy="11747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10000"/>
              </a:lnSpc>
            </a:pPr>
            <a:r>
              <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rPr>
              <a:t>关键目标</a:t>
            </a:r>
            <a:r>
              <a:rPr lang="en-US" altLang="zh-CN" sz="700" dirty="0">
                <a:solidFill>
                  <a:schemeClr val="tx2"/>
                </a:solidFill>
                <a:effectLst/>
                <a:latin typeface="微软雅黑" panose="020B0503020204020204" charset="-122"/>
                <a:ea typeface="微软雅黑" panose="020B0503020204020204" charset="-122"/>
                <a:cs typeface="微软雅黑" panose="020B0503020204020204" charset="-122"/>
              </a:rPr>
              <a:t>KR2</a:t>
            </a:r>
            <a:endParaRPr lang="en-US" altLang="zh-CN" sz="7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50" name="文本框 314"/>
          <p:cNvSpPr txBox="1"/>
          <p:nvPr/>
        </p:nvSpPr>
        <p:spPr>
          <a:xfrm>
            <a:off x="5853430" y="3285490"/>
            <a:ext cx="577850" cy="11747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10000"/>
              </a:lnSpc>
            </a:pPr>
            <a:r>
              <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rPr>
              <a:t>关键目标</a:t>
            </a:r>
            <a:r>
              <a:rPr lang="en-US" altLang="zh-CN" sz="700" dirty="0">
                <a:solidFill>
                  <a:schemeClr val="tx2"/>
                </a:solidFill>
                <a:effectLst/>
                <a:latin typeface="微软雅黑" panose="020B0503020204020204" charset="-122"/>
                <a:ea typeface="微软雅黑" panose="020B0503020204020204" charset="-122"/>
                <a:cs typeface="微软雅黑" panose="020B0503020204020204" charset="-122"/>
              </a:rPr>
              <a:t>KR3</a:t>
            </a:r>
            <a:endParaRPr lang="en-US" altLang="zh-CN" sz="7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51" name="文本框 315"/>
          <p:cNvSpPr txBox="1"/>
          <p:nvPr/>
        </p:nvSpPr>
        <p:spPr>
          <a:xfrm>
            <a:off x="5853430" y="3612515"/>
            <a:ext cx="577850" cy="11747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10000"/>
              </a:lnSpc>
            </a:pPr>
            <a:r>
              <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rPr>
              <a:t>关键目标</a:t>
            </a:r>
            <a:r>
              <a:rPr lang="en-US" altLang="zh-CN" sz="700" dirty="0">
                <a:solidFill>
                  <a:schemeClr val="tx2"/>
                </a:solidFill>
                <a:effectLst/>
                <a:latin typeface="微软雅黑" panose="020B0503020204020204" charset="-122"/>
                <a:ea typeface="微软雅黑" panose="020B0503020204020204" charset="-122"/>
                <a:cs typeface="微软雅黑" panose="020B0503020204020204" charset="-122"/>
              </a:rPr>
              <a:t>KR4</a:t>
            </a:r>
            <a:endParaRPr lang="en-US" altLang="zh-CN" sz="7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52" name="文本框 316"/>
          <p:cNvSpPr txBox="1"/>
          <p:nvPr/>
        </p:nvSpPr>
        <p:spPr>
          <a:xfrm>
            <a:off x="5853430" y="3939540"/>
            <a:ext cx="577850" cy="117475"/>
          </a:xfrm>
          <a:prstGeom prst="rect">
            <a:avLst/>
          </a:prstGeom>
          <a:noFill/>
          <a:effectLst/>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10000"/>
              </a:lnSpc>
            </a:pPr>
            <a:r>
              <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rPr>
              <a:t>关键目标</a:t>
            </a:r>
            <a:r>
              <a:rPr lang="en-US" altLang="zh-CN" sz="700" dirty="0">
                <a:solidFill>
                  <a:schemeClr val="tx2"/>
                </a:solidFill>
                <a:effectLst/>
                <a:latin typeface="微软雅黑" panose="020B0503020204020204" charset="-122"/>
                <a:ea typeface="微软雅黑" panose="020B0503020204020204" charset="-122"/>
                <a:cs typeface="微软雅黑" panose="020B0503020204020204" charset="-122"/>
              </a:rPr>
              <a:t>KR5</a:t>
            </a:r>
            <a:endParaRPr lang="en-US" altLang="zh-CN" sz="7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53" name="文本框 317"/>
          <p:cNvSpPr txBox="1"/>
          <p:nvPr/>
        </p:nvSpPr>
        <p:spPr>
          <a:xfrm>
            <a:off x="8815070" y="2630805"/>
            <a:ext cx="384810" cy="11747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10000"/>
              </a:lnSpc>
            </a:pPr>
            <a:r>
              <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rPr>
              <a:t>目标拆解</a:t>
            </a:r>
            <a:endPar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54" name="文本框 318"/>
          <p:cNvSpPr txBox="1"/>
          <p:nvPr/>
        </p:nvSpPr>
        <p:spPr>
          <a:xfrm>
            <a:off x="8815070" y="2957830"/>
            <a:ext cx="384810" cy="11747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10000"/>
              </a:lnSpc>
            </a:pPr>
            <a:r>
              <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rPr>
              <a:t>进展跟踪</a:t>
            </a:r>
            <a:endPar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55" name="文本框 319"/>
          <p:cNvSpPr txBox="1"/>
          <p:nvPr/>
        </p:nvSpPr>
        <p:spPr>
          <a:xfrm>
            <a:off x="8815070" y="3285490"/>
            <a:ext cx="384810" cy="11747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10000"/>
              </a:lnSpc>
            </a:pPr>
            <a:r>
              <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rPr>
              <a:t>同频调整</a:t>
            </a:r>
            <a:endPar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56" name="文本框 320"/>
          <p:cNvSpPr txBox="1"/>
          <p:nvPr/>
        </p:nvSpPr>
        <p:spPr>
          <a:xfrm>
            <a:off x="8815070" y="3612515"/>
            <a:ext cx="384810" cy="11747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10000"/>
              </a:lnSpc>
            </a:pPr>
            <a:r>
              <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rPr>
              <a:t>执行优化</a:t>
            </a:r>
            <a:endPar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57" name="文本框 321"/>
          <p:cNvSpPr txBox="1"/>
          <p:nvPr/>
        </p:nvSpPr>
        <p:spPr>
          <a:xfrm>
            <a:off x="8815070" y="3939540"/>
            <a:ext cx="384810" cy="11747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10000"/>
              </a:lnSpc>
            </a:pPr>
            <a:r>
              <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rPr>
              <a:t>结果反馈</a:t>
            </a:r>
            <a:endParaRPr lang="zh-CN" altLang="en-US" sz="7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58" name="文本框 323"/>
          <p:cNvSpPr txBox="1"/>
          <p:nvPr/>
        </p:nvSpPr>
        <p:spPr>
          <a:xfrm>
            <a:off x="4603750" y="2919730"/>
            <a:ext cx="278765" cy="46164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500" b="1" dirty="0">
                <a:solidFill>
                  <a:schemeClr val="accent5">
                    <a:lumMod val="60000"/>
                    <a:lumOff val="40000"/>
                  </a:schemeClr>
                </a:solidFill>
                <a:effectLst/>
                <a:latin typeface="微软雅黑" panose="020B0503020204020204" charset="-122"/>
                <a:ea typeface="微软雅黑" panose="020B0503020204020204" charset="-122"/>
                <a:cs typeface="微软雅黑" panose="020B0503020204020204" charset="-122"/>
              </a:rPr>
              <a:t>目标</a:t>
            </a:r>
            <a:endParaRPr lang="zh-CN" altLang="en-US" sz="1500" b="1" dirty="0">
              <a:solidFill>
                <a:schemeClr val="accent5">
                  <a:lumMod val="60000"/>
                  <a:lumOff val="40000"/>
                </a:schemeClr>
              </a:solidFill>
              <a:effectLst/>
              <a:latin typeface="微软雅黑" panose="020B0503020204020204" charset="-122"/>
              <a:ea typeface="微软雅黑" panose="020B0503020204020204" charset="-122"/>
              <a:cs typeface="微软雅黑" panose="020B0503020204020204" charset="-122"/>
            </a:endParaRPr>
          </a:p>
        </p:txBody>
      </p:sp>
      <p:sp>
        <p:nvSpPr>
          <p:cNvPr id="159" name="文本框 324"/>
          <p:cNvSpPr txBox="1"/>
          <p:nvPr/>
        </p:nvSpPr>
        <p:spPr>
          <a:xfrm>
            <a:off x="7432675" y="2919730"/>
            <a:ext cx="278765" cy="461645"/>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500" b="1" dirty="0">
                <a:solidFill>
                  <a:schemeClr val="accent5">
                    <a:lumMod val="60000"/>
                    <a:lumOff val="40000"/>
                  </a:schemeClr>
                </a:solidFill>
                <a:effectLst/>
                <a:latin typeface="微软雅黑" panose="020B0503020204020204" charset="-122"/>
                <a:ea typeface="微软雅黑" panose="020B0503020204020204" charset="-122"/>
                <a:cs typeface="微软雅黑" panose="020B0503020204020204" charset="-122"/>
              </a:rPr>
              <a:t>目标</a:t>
            </a:r>
            <a:endParaRPr lang="zh-CN" altLang="en-US" sz="1500" b="1" dirty="0">
              <a:solidFill>
                <a:schemeClr val="accent5">
                  <a:lumMod val="60000"/>
                  <a:lumOff val="40000"/>
                </a:schemeClr>
              </a:solidFill>
              <a:effectLst/>
              <a:latin typeface="微软雅黑" panose="020B0503020204020204" charset="-122"/>
              <a:ea typeface="微软雅黑" panose="020B0503020204020204" charset="-122"/>
              <a:cs typeface="微软雅黑" panose="020B0503020204020204" charset="-122"/>
            </a:endParaRPr>
          </a:p>
        </p:txBody>
      </p:sp>
      <p:pic>
        <p:nvPicPr>
          <p:cNvPr id="4" name="图片 3"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 name="文本框 297"/>
          <p:cNvSpPr txBox="1"/>
          <p:nvPr/>
        </p:nvSpPr>
        <p:spPr>
          <a:xfrm>
            <a:off x="930275" y="5341303"/>
            <a:ext cx="797560" cy="18415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200" dirty="0">
                <a:solidFill>
                  <a:schemeClr val="accent6"/>
                </a:solidFill>
                <a:effectLst/>
                <a:latin typeface="微软雅黑" panose="020B0503020204020204" charset="-122"/>
                <a:ea typeface="微软雅黑" panose="020B0503020204020204" charset="-122"/>
                <a:cs typeface="微软雅黑" panose="020B0503020204020204" charset="-122"/>
              </a:rPr>
              <a:t>目标驱动</a:t>
            </a:r>
            <a:endParaRPr lang="zh-CN" altLang="en-US" sz="1200" dirty="0">
              <a:solidFill>
                <a:schemeClr val="accent6"/>
              </a:solidFill>
              <a:effectLst/>
              <a:latin typeface="微软雅黑" panose="020B0503020204020204" charset="-122"/>
              <a:ea typeface="微软雅黑" panose="020B0503020204020204" charset="-122"/>
              <a:cs typeface="微软雅黑" panose="020B0503020204020204" charset="-122"/>
            </a:endParaRPr>
          </a:p>
        </p:txBody>
      </p:sp>
      <p:sp>
        <p:nvSpPr>
          <p:cNvPr id="3" name="文本框 298"/>
          <p:cNvSpPr txBox="1"/>
          <p:nvPr/>
        </p:nvSpPr>
        <p:spPr>
          <a:xfrm>
            <a:off x="2561908" y="5341303"/>
            <a:ext cx="737235" cy="18415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200" dirty="0">
                <a:solidFill>
                  <a:schemeClr val="accent6"/>
                </a:solidFill>
                <a:effectLst/>
                <a:latin typeface="微软雅黑" panose="020B0503020204020204" charset="-122"/>
                <a:ea typeface="微软雅黑" panose="020B0503020204020204" charset="-122"/>
                <a:cs typeface="微软雅黑" panose="020B0503020204020204" charset="-122"/>
              </a:rPr>
              <a:t>快速反馈</a:t>
            </a:r>
            <a:endParaRPr lang="zh-CN" altLang="en-US" sz="1200" dirty="0">
              <a:solidFill>
                <a:schemeClr val="accent6"/>
              </a:solidFill>
              <a:effectLst/>
              <a:latin typeface="微软雅黑" panose="020B0503020204020204" charset="-122"/>
              <a:ea typeface="微软雅黑" panose="020B0503020204020204" charset="-122"/>
              <a:cs typeface="微软雅黑" panose="020B0503020204020204" charset="-122"/>
            </a:endParaRPr>
          </a:p>
        </p:txBody>
      </p:sp>
      <p:sp>
        <p:nvSpPr>
          <p:cNvPr id="6" name="文本框 299"/>
          <p:cNvSpPr txBox="1"/>
          <p:nvPr/>
        </p:nvSpPr>
        <p:spPr>
          <a:xfrm>
            <a:off x="4170045" y="5341303"/>
            <a:ext cx="736600" cy="18415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200" dirty="0">
                <a:solidFill>
                  <a:schemeClr val="accent6"/>
                </a:solidFill>
                <a:effectLst/>
                <a:latin typeface="微软雅黑" panose="020B0503020204020204" charset="-122"/>
                <a:ea typeface="微软雅黑" panose="020B0503020204020204" charset="-122"/>
                <a:cs typeface="微软雅黑" panose="020B0503020204020204" charset="-122"/>
              </a:rPr>
              <a:t>信息同频</a:t>
            </a:r>
            <a:endParaRPr lang="zh-CN" altLang="en-US" sz="1200" dirty="0">
              <a:solidFill>
                <a:schemeClr val="accent6"/>
              </a:solidFill>
              <a:effectLst/>
              <a:latin typeface="微软雅黑" panose="020B0503020204020204" charset="-122"/>
              <a:ea typeface="微软雅黑" panose="020B0503020204020204" charset="-122"/>
              <a:cs typeface="微软雅黑" panose="020B0503020204020204" charset="-122"/>
            </a:endParaRPr>
          </a:p>
        </p:txBody>
      </p:sp>
      <p:sp>
        <p:nvSpPr>
          <p:cNvPr id="7" name="文本框 300"/>
          <p:cNvSpPr txBox="1"/>
          <p:nvPr/>
        </p:nvSpPr>
        <p:spPr>
          <a:xfrm>
            <a:off x="5723255" y="5341303"/>
            <a:ext cx="831850" cy="18415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200" dirty="0">
                <a:solidFill>
                  <a:schemeClr val="accent6"/>
                </a:solidFill>
                <a:effectLst/>
                <a:latin typeface="微软雅黑" panose="020B0503020204020204" charset="-122"/>
                <a:ea typeface="微软雅黑" panose="020B0503020204020204" charset="-122"/>
                <a:cs typeface="微软雅黑" panose="020B0503020204020204" charset="-122"/>
              </a:rPr>
              <a:t>进度协同</a:t>
            </a:r>
            <a:endParaRPr lang="zh-CN" altLang="en-US" sz="1200" dirty="0">
              <a:solidFill>
                <a:schemeClr val="accent6"/>
              </a:solidFill>
              <a:effectLst/>
              <a:latin typeface="微软雅黑" panose="020B0503020204020204" charset="-122"/>
              <a:ea typeface="微软雅黑" panose="020B0503020204020204" charset="-122"/>
              <a:cs typeface="微软雅黑" panose="020B0503020204020204" charset="-122"/>
            </a:endParaRPr>
          </a:p>
        </p:txBody>
      </p:sp>
      <p:sp>
        <p:nvSpPr>
          <p:cNvPr id="8" name="文本框 301"/>
          <p:cNvSpPr txBox="1"/>
          <p:nvPr/>
        </p:nvSpPr>
        <p:spPr>
          <a:xfrm>
            <a:off x="7337743" y="5341303"/>
            <a:ext cx="805815" cy="18415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200" dirty="0">
                <a:solidFill>
                  <a:schemeClr val="accent6"/>
                </a:solidFill>
                <a:effectLst/>
                <a:latin typeface="微软雅黑" panose="020B0503020204020204" charset="-122"/>
                <a:ea typeface="微软雅黑" panose="020B0503020204020204" charset="-122"/>
                <a:cs typeface="微软雅黑" panose="020B0503020204020204" charset="-122"/>
              </a:rPr>
              <a:t>激发潜能</a:t>
            </a:r>
            <a:endParaRPr lang="zh-CN" altLang="en-US" sz="1200" dirty="0">
              <a:solidFill>
                <a:schemeClr val="accent6"/>
              </a:solidFill>
              <a:effectLst/>
              <a:latin typeface="微软雅黑" panose="020B0503020204020204" charset="-122"/>
              <a:ea typeface="微软雅黑" panose="020B0503020204020204" charset="-122"/>
              <a:cs typeface="微软雅黑" panose="020B0503020204020204" charset="-122"/>
            </a:endParaRPr>
          </a:p>
        </p:txBody>
      </p:sp>
      <p:sp>
        <p:nvSpPr>
          <p:cNvPr id="9" name="文本框 302"/>
          <p:cNvSpPr txBox="1"/>
          <p:nvPr/>
        </p:nvSpPr>
        <p:spPr>
          <a:xfrm>
            <a:off x="8834755" y="5341303"/>
            <a:ext cx="1027430" cy="18415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200" dirty="0">
                <a:solidFill>
                  <a:schemeClr val="accent6"/>
                </a:solidFill>
                <a:effectLst/>
                <a:latin typeface="微软雅黑" panose="020B0503020204020204" charset="-122"/>
                <a:ea typeface="微软雅黑" panose="020B0503020204020204" charset="-122"/>
                <a:cs typeface="微软雅黑" panose="020B0503020204020204" charset="-122"/>
              </a:rPr>
              <a:t>集体赋能</a:t>
            </a:r>
            <a:endParaRPr lang="zh-CN" altLang="en-US" sz="1200" dirty="0">
              <a:solidFill>
                <a:schemeClr val="accent6"/>
              </a:solidFill>
              <a:effectLst/>
              <a:latin typeface="微软雅黑" panose="020B0503020204020204" charset="-122"/>
              <a:ea typeface="微软雅黑" panose="020B0503020204020204" charset="-122"/>
              <a:cs typeface="微软雅黑" panose="020B0503020204020204" charset="-122"/>
            </a:endParaRPr>
          </a:p>
        </p:txBody>
      </p:sp>
      <p:sp>
        <p:nvSpPr>
          <p:cNvPr id="10" name="文本框 303"/>
          <p:cNvSpPr txBox="1"/>
          <p:nvPr/>
        </p:nvSpPr>
        <p:spPr>
          <a:xfrm>
            <a:off x="10501948" y="5341303"/>
            <a:ext cx="894715" cy="184150"/>
          </a:xfrm>
          <a:prstGeom prst="rect">
            <a:avLst/>
          </a:prstGeom>
          <a:noFill/>
          <a:ln>
            <a:noFill/>
          </a:ln>
          <a:extLst>
            <a:ext uri="{909E8E84-426E-40DD-AFC4-6F175D3DCCD1}">
              <a14:hiddenFill xmlns:a14="http://schemas.microsoft.com/office/drawing/2010/main">
                <a:solidFill>
                  <a:schemeClr val="accent1">
                    <a:lumMod val="20000"/>
                    <a:lumOff val="80000"/>
                  </a:schemeClr>
                </a:solidFill>
              </a14:hiddenFill>
            </a:ext>
          </a:extLst>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200" dirty="0">
                <a:solidFill>
                  <a:schemeClr val="accent6"/>
                </a:solidFill>
                <a:effectLst/>
                <a:latin typeface="微软雅黑" panose="020B0503020204020204" charset="-122"/>
                <a:ea typeface="微软雅黑" panose="020B0503020204020204" charset="-122"/>
                <a:cs typeface="微软雅黑" panose="020B0503020204020204" charset="-122"/>
              </a:rPr>
              <a:t>动态优化</a:t>
            </a:r>
            <a:endParaRPr lang="zh-CN" altLang="en-US" sz="1200" dirty="0">
              <a:solidFill>
                <a:schemeClr val="accent6"/>
              </a:solidFill>
              <a:effectLst/>
              <a:latin typeface="微软雅黑" panose="020B0503020204020204" charset="-122"/>
              <a:ea typeface="微软雅黑" panose="020B0503020204020204" charset="-122"/>
              <a:cs typeface="微软雅黑" panose="020B0503020204020204" charset="-122"/>
            </a:endParaRPr>
          </a:p>
        </p:txBody>
      </p:sp>
      <p:sp>
        <p:nvSpPr>
          <p:cNvPr id="11" name="矩形: 圆角 31"/>
          <p:cNvSpPr/>
          <p:nvPr/>
        </p:nvSpPr>
        <p:spPr>
          <a:xfrm>
            <a:off x="2562225" y="2128520"/>
            <a:ext cx="1452880" cy="299085"/>
          </a:xfrm>
          <a:prstGeom prst="roundRect">
            <a:avLst>
              <a:gd name="adj" fmla="val 8000"/>
            </a:avLst>
          </a:prstGeom>
          <a:solidFill>
            <a:schemeClr val="accent5">
              <a:lumMod val="60000"/>
              <a:lumOff val="40000"/>
            </a:schemeClr>
          </a:solidFill>
          <a:ln w="6350" cap="flat">
            <a:solidFill>
              <a:schemeClr val="accent5">
                <a:lumMod val="60000"/>
                <a:lumOff val="40000"/>
              </a:schemeClr>
            </a:solid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 name="文本框 304"/>
          <p:cNvSpPr txBox="1"/>
          <p:nvPr/>
        </p:nvSpPr>
        <p:spPr>
          <a:xfrm>
            <a:off x="2861310" y="2200910"/>
            <a:ext cx="825500" cy="15367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000" b="1" dirty="0">
                <a:solidFill>
                  <a:schemeClr val="bg1"/>
                </a:solidFill>
                <a:effectLst/>
                <a:latin typeface="微软雅黑" panose="020B0503020204020204" charset="-122"/>
                <a:ea typeface="微软雅黑" panose="020B0503020204020204" charset="-122"/>
                <a:cs typeface="微软雅黑" panose="020B0503020204020204" charset="-122"/>
              </a:rPr>
              <a:t>组织超级个体</a:t>
            </a:r>
            <a:endParaRPr lang="zh-CN" altLang="en-US" sz="1000" b="1" dirty="0">
              <a:solidFill>
                <a:schemeClr val="bg1"/>
              </a:solidFill>
              <a:effectLst/>
              <a:latin typeface="微软雅黑" panose="020B0503020204020204" charset="-122"/>
              <a:ea typeface="微软雅黑" panose="020B0503020204020204" charset="-122"/>
              <a:cs typeface="微软雅黑" panose="020B0503020204020204" charset="-122"/>
            </a:endParaRPr>
          </a:p>
        </p:txBody>
      </p:sp>
      <p:sp>
        <p:nvSpPr>
          <p:cNvPr id="16" name="矩形: 圆角 31"/>
          <p:cNvSpPr/>
          <p:nvPr/>
        </p:nvSpPr>
        <p:spPr>
          <a:xfrm>
            <a:off x="5408930" y="2128520"/>
            <a:ext cx="1452880" cy="299085"/>
          </a:xfrm>
          <a:prstGeom prst="roundRect">
            <a:avLst>
              <a:gd name="adj" fmla="val 8000"/>
            </a:avLst>
          </a:prstGeom>
          <a:solidFill>
            <a:schemeClr val="accent5">
              <a:lumMod val="60000"/>
              <a:lumOff val="40000"/>
            </a:schemeClr>
          </a:solidFill>
          <a:ln w="6350" cap="flat">
            <a:solidFill>
              <a:schemeClr val="accent5">
                <a:lumMod val="60000"/>
                <a:lumOff val="40000"/>
              </a:schemeClr>
            </a:solid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 name="文本框 304"/>
          <p:cNvSpPr txBox="1"/>
          <p:nvPr/>
        </p:nvSpPr>
        <p:spPr>
          <a:xfrm>
            <a:off x="5723255" y="2200910"/>
            <a:ext cx="825500" cy="15367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000" b="1" dirty="0">
                <a:solidFill>
                  <a:schemeClr val="bg1"/>
                </a:solidFill>
                <a:effectLst/>
                <a:latin typeface="微软雅黑" panose="020B0503020204020204" charset="-122"/>
                <a:ea typeface="微软雅黑" panose="020B0503020204020204" charset="-122"/>
                <a:cs typeface="微软雅黑" panose="020B0503020204020204" charset="-122"/>
              </a:rPr>
              <a:t>组织超级个体</a:t>
            </a:r>
            <a:endParaRPr lang="zh-CN" altLang="en-US" sz="1000" b="1" dirty="0">
              <a:solidFill>
                <a:schemeClr val="bg1"/>
              </a:solidFill>
              <a:effectLst/>
              <a:latin typeface="微软雅黑" panose="020B0503020204020204" charset="-122"/>
              <a:ea typeface="微软雅黑" panose="020B0503020204020204" charset="-122"/>
              <a:cs typeface="微软雅黑" panose="020B0503020204020204" charset="-122"/>
            </a:endParaRPr>
          </a:p>
        </p:txBody>
      </p:sp>
      <p:sp>
        <p:nvSpPr>
          <p:cNvPr id="22" name="矩形: 圆角 31"/>
          <p:cNvSpPr/>
          <p:nvPr/>
        </p:nvSpPr>
        <p:spPr>
          <a:xfrm>
            <a:off x="8281670" y="2128520"/>
            <a:ext cx="1452880" cy="299085"/>
          </a:xfrm>
          <a:prstGeom prst="roundRect">
            <a:avLst>
              <a:gd name="adj" fmla="val 8000"/>
            </a:avLst>
          </a:prstGeom>
          <a:solidFill>
            <a:schemeClr val="accent5">
              <a:lumMod val="60000"/>
              <a:lumOff val="40000"/>
            </a:schemeClr>
          </a:solidFill>
          <a:ln w="6350" cap="flat">
            <a:solidFill>
              <a:schemeClr val="accent5">
                <a:lumMod val="60000"/>
                <a:lumOff val="40000"/>
              </a:schemeClr>
            </a:solidFill>
            <a:prstDash val="solid"/>
            <a:miter/>
          </a:ln>
          <a:effectLst/>
        </p:spPr>
        <p:txBody>
          <a:bodyPr rot="0" spcFirstLastPara="0" vert="horz" wrap="square" lIns="91440" tIns="45720" rIns="91440" bIns="45720" numCol="1" spcCol="0" rtlCol="0" fromWordArt="0" anchor="ctr" anchorCtr="0" forceAA="0" compatLnSpc="1">
            <a:no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3" name="文本框 304"/>
          <p:cNvSpPr txBox="1"/>
          <p:nvPr/>
        </p:nvSpPr>
        <p:spPr>
          <a:xfrm>
            <a:off x="8595995" y="2200910"/>
            <a:ext cx="825500" cy="153670"/>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r>
              <a:rPr lang="zh-CN" altLang="en-US" sz="1000" b="1" dirty="0">
                <a:solidFill>
                  <a:schemeClr val="bg1"/>
                </a:solidFill>
                <a:effectLst/>
                <a:latin typeface="微软雅黑" panose="020B0503020204020204" charset="-122"/>
                <a:ea typeface="微软雅黑" panose="020B0503020204020204" charset="-122"/>
                <a:cs typeface="微软雅黑" panose="020B0503020204020204" charset="-122"/>
              </a:rPr>
              <a:t>组织超级个体</a:t>
            </a:r>
            <a:endParaRPr lang="zh-CN" altLang="en-US" sz="1000" b="1" dirty="0">
              <a:solidFill>
                <a:schemeClr val="bg1"/>
              </a:solidFill>
              <a:effectLst/>
              <a:latin typeface="微软雅黑" panose="020B0503020204020204" charset="-122"/>
              <a:ea typeface="微软雅黑" panose="020B0503020204020204" charset="-122"/>
              <a:cs typeface="微软雅黑" panose="020B0503020204020204" charset="-122"/>
            </a:endParaRPr>
          </a:p>
        </p:txBody>
      </p:sp>
      <p:grpSp>
        <p:nvGrpSpPr>
          <p:cNvPr id="24" name="组合 23"/>
          <p:cNvGrpSpPr/>
          <p:nvPr/>
        </p:nvGrpSpPr>
        <p:grpSpPr>
          <a:xfrm>
            <a:off x="8715375" y="348615"/>
            <a:ext cx="3219450" cy="332740"/>
            <a:chOff x="13761" y="549"/>
            <a:chExt cx="5070" cy="524"/>
          </a:xfrm>
        </p:grpSpPr>
        <p:pic>
          <p:nvPicPr>
            <p:cNvPr id="25" name="图片 24"/>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26" name="文本框 25"/>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在线化签约平台架构</a:t>
            </a:r>
            <a:endParaRPr lang="zh-CN" altLang="en-US"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 name="矩形: 圆角 39"/>
          <p:cNvSpPr/>
          <p:nvPr/>
        </p:nvSpPr>
        <p:spPr>
          <a:xfrm>
            <a:off x="5723890" y="1714500"/>
            <a:ext cx="1454150" cy="1031240"/>
          </a:xfrm>
          <a:prstGeom prst="roundRect">
            <a:avLst>
              <a:gd name="adj" fmla="val 2000"/>
            </a:avLst>
          </a:prstGeom>
          <a:ln>
            <a:solidFill>
              <a:schemeClr val="accent1">
                <a:lumMod val="60000"/>
                <a:lumOff val="40000"/>
                <a:alpha val="5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endParaRPr lang="zh-CN" altLang="en-US">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8" name="矩形: 圆角 41"/>
          <p:cNvSpPr/>
          <p:nvPr/>
        </p:nvSpPr>
        <p:spPr>
          <a:xfrm>
            <a:off x="7283450" y="1714500"/>
            <a:ext cx="1454150" cy="1031240"/>
          </a:xfrm>
          <a:prstGeom prst="roundRect">
            <a:avLst>
              <a:gd name="adj" fmla="val 2000"/>
            </a:avLst>
          </a:prstGeom>
          <a:ln>
            <a:solidFill>
              <a:schemeClr val="accent1">
                <a:lumMod val="60000"/>
                <a:lumOff val="40000"/>
                <a:alpha val="5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endParaRPr lang="zh-CN" altLang="en-US">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12" name="矩形: 圆角 42"/>
          <p:cNvSpPr/>
          <p:nvPr/>
        </p:nvSpPr>
        <p:spPr>
          <a:xfrm>
            <a:off x="8843010" y="1714500"/>
            <a:ext cx="1454150" cy="1031240"/>
          </a:xfrm>
          <a:prstGeom prst="roundRect">
            <a:avLst>
              <a:gd name="adj" fmla="val 2000"/>
            </a:avLst>
          </a:prstGeom>
          <a:ln>
            <a:solidFill>
              <a:schemeClr val="accent1">
                <a:lumMod val="60000"/>
                <a:lumOff val="40000"/>
                <a:alpha val="5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endParaRPr lang="zh-CN" altLang="en-US">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13" name="矩形: 圆角 43"/>
          <p:cNvSpPr/>
          <p:nvPr/>
        </p:nvSpPr>
        <p:spPr>
          <a:xfrm>
            <a:off x="10402570" y="1714500"/>
            <a:ext cx="1454150" cy="1031240"/>
          </a:xfrm>
          <a:prstGeom prst="roundRect">
            <a:avLst>
              <a:gd name="adj" fmla="val 2000"/>
            </a:avLst>
          </a:prstGeom>
          <a:ln>
            <a:solidFill>
              <a:schemeClr val="accent1">
                <a:lumMod val="60000"/>
                <a:lumOff val="40000"/>
                <a:alpha val="5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endParaRPr lang="zh-CN" altLang="en-US">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14" name="矩形: 圆角 38"/>
          <p:cNvSpPr/>
          <p:nvPr/>
        </p:nvSpPr>
        <p:spPr>
          <a:xfrm>
            <a:off x="4163695" y="1714500"/>
            <a:ext cx="1454150" cy="1031240"/>
          </a:xfrm>
          <a:prstGeom prst="roundRect">
            <a:avLst>
              <a:gd name="adj" fmla="val 2000"/>
            </a:avLst>
          </a:prstGeom>
          <a:ln>
            <a:solidFill>
              <a:schemeClr val="accent1">
                <a:lumMod val="60000"/>
                <a:lumOff val="40000"/>
                <a:alpha val="5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endParaRPr lang="zh-CN" altLang="en-US">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18" name="任意多边形: 形状 2"/>
          <p:cNvSpPr/>
          <p:nvPr/>
        </p:nvSpPr>
        <p:spPr>
          <a:xfrm>
            <a:off x="8354060" y="4216400"/>
            <a:ext cx="3497580" cy="1344930"/>
          </a:xfrm>
          <a:custGeom>
            <a:avLst/>
            <a:gdLst>
              <a:gd name="connsiteX0" fmla="*/ 3333750 w 3384550"/>
              <a:gd name="connsiteY0" fmla="*/ 0 h 1104900"/>
              <a:gd name="connsiteX1" fmla="*/ 3384550 w 3384550"/>
              <a:gd name="connsiteY1" fmla="*/ 0 h 1104900"/>
              <a:gd name="connsiteX2" fmla="*/ 3384550 w 3384550"/>
              <a:gd name="connsiteY2" fmla="*/ 1104900 h 1104900"/>
              <a:gd name="connsiteX3" fmla="*/ 3333750 w 3384550"/>
              <a:gd name="connsiteY3" fmla="*/ 1104900 h 1104900"/>
              <a:gd name="connsiteX4" fmla="*/ 50800 w 3384550"/>
              <a:gd name="connsiteY4" fmla="*/ 1104900 h 1104900"/>
              <a:gd name="connsiteX5" fmla="*/ 0 w 3384550"/>
              <a:gd name="connsiteY5" fmla="*/ 1104900 h 1104900"/>
              <a:gd name="connsiteX6" fmla="*/ 0 w 3384550"/>
              <a:gd name="connsiteY6" fmla="*/ 0 h 1104900"/>
              <a:gd name="connsiteX7" fmla="*/ 50800 w 3384550"/>
              <a:gd name="connsiteY7" fmla="*/ 0 h 110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4550" h="1104900">
                <a:moveTo>
                  <a:pt x="3333750" y="0"/>
                </a:moveTo>
                <a:cubicBezTo>
                  <a:pt x="3361807" y="0"/>
                  <a:pt x="3384550" y="0"/>
                  <a:pt x="3384550" y="0"/>
                </a:cubicBezTo>
                <a:lnTo>
                  <a:pt x="3384550" y="1104900"/>
                </a:lnTo>
                <a:cubicBezTo>
                  <a:pt x="3384550" y="1104900"/>
                  <a:pt x="3361807" y="1104900"/>
                  <a:pt x="3333750" y="1104900"/>
                </a:cubicBezTo>
                <a:lnTo>
                  <a:pt x="50800" y="1104900"/>
                </a:lnTo>
                <a:cubicBezTo>
                  <a:pt x="22744" y="1104900"/>
                  <a:pt x="0" y="1104900"/>
                  <a:pt x="0" y="1104900"/>
                </a:cubicBezTo>
                <a:lnTo>
                  <a:pt x="0" y="0"/>
                </a:lnTo>
                <a:cubicBezTo>
                  <a:pt x="0" y="0"/>
                  <a:pt x="22744" y="0"/>
                  <a:pt x="50800" y="0"/>
                </a:cubicBezTo>
                <a:close/>
              </a:path>
            </a:pathLst>
          </a:custGeom>
          <a:solidFill>
            <a:srgbClr val="F7F7F7">
              <a:alpha val="20000"/>
            </a:srgbClr>
          </a:solidFill>
          <a:ln w="6350" cap="flat">
            <a:solidFill>
              <a:schemeClr val="accent5">
                <a:lumMod val="75000"/>
              </a:schemeClr>
            </a:solidFill>
            <a:custDash>
              <a:ds d="600000" sp="600000"/>
            </a:custDash>
            <a:miter/>
          </a:ln>
        </p:spPr>
        <p:txBody>
          <a:bodyPr rtlCol="0" anchor="ctr"/>
          <a:lstStyle/>
          <a:p>
            <a:endParaRPr lang="zh-CN" altLang="en-US">
              <a:solidFill>
                <a:srgbClr val="A84031">
                  <a:lumMod val="75000"/>
                </a:srgbClr>
              </a:solidFill>
              <a:latin typeface="微软雅黑" panose="020B0503020204020204" charset="-122"/>
              <a:ea typeface="微软雅黑" panose="020B0503020204020204" charset="-122"/>
              <a:cs typeface="微软雅黑" panose="020B0503020204020204" charset="-122"/>
            </a:endParaRPr>
          </a:p>
        </p:txBody>
      </p:sp>
      <p:sp>
        <p:nvSpPr>
          <p:cNvPr id="19" name="矩形: 圆角 9"/>
          <p:cNvSpPr/>
          <p:nvPr/>
        </p:nvSpPr>
        <p:spPr>
          <a:xfrm>
            <a:off x="8571865" y="4603115"/>
            <a:ext cx="859155" cy="396240"/>
          </a:xfrm>
          <a:prstGeom prst="roundRect">
            <a:avLst>
              <a:gd name="adj" fmla="val 12000"/>
            </a:avLst>
          </a:prstGeom>
          <a:ln>
            <a:solidFill>
              <a:schemeClr val="accent5">
                <a:lumMod val="75000"/>
              </a:schemeClr>
            </a:solidFill>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2000">
              <a:solidFill>
                <a:srgbClr val="A84031">
                  <a:lumMod val="7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20" name="矩形: 圆角 6"/>
          <p:cNvSpPr/>
          <p:nvPr/>
        </p:nvSpPr>
        <p:spPr>
          <a:xfrm>
            <a:off x="8571865" y="5118100"/>
            <a:ext cx="859155" cy="396240"/>
          </a:xfrm>
          <a:prstGeom prst="roundRect">
            <a:avLst>
              <a:gd name="adj" fmla="val 12000"/>
            </a:avLst>
          </a:prstGeom>
          <a:ln>
            <a:solidFill>
              <a:schemeClr val="accent5">
                <a:lumMod val="75000"/>
              </a:schemeClr>
            </a:solidFill>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2000">
              <a:solidFill>
                <a:srgbClr val="A84031">
                  <a:lumMod val="7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23" name="矩形: 圆角 8"/>
          <p:cNvSpPr/>
          <p:nvPr/>
        </p:nvSpPr>
        <p:spPr>
          <a:xfrm>
            <a:off x="9735185" y="4624070"/>
            <a:ext cx="859155" cy="396240"/>
          </a:xfrm>
          <a:prstGeom prst="roundRect">
            <a:avLst>
              <a:gd name="adj" fmla="val 12000"/>
            </a:avLst>
          </a:prstGeom>
          <a:ln>
            <a:solidFill>
              <a:schemeClr val="accent5">
                <a:lumMod val="75000"/>
              </a:schemeClr>
            </a:solidFill>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2000">
              <a:solidFill>
                <a:srgbClr val="A84031">
                  <a:lumMod val="7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24" name="矩形: 圆角 21"/>
          <p:cNvSpPr/>
          <p:nvPr/>
        </p:nvSpPr>
        <p:spPr>
          <a:xfrm>
            <a:off x="10878185" y="4603115"/>
            <a:ext cx="859155" cy="396240"/>
          </a:xfrm>
          <a:prstGeom prst="roundRect">
            <a:avLst>
              <a:gd name="adj" fmla="val 12000"/>
            </a:avLst>
          </a:prstGeom>
          <a:ln>
            <a:solidFill>
              <a:schemeClr val="accent5">
                <a:lumMod val="75000"/>
              </a:schemeClr>
            </a:solidFill>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2000">
              <a:solidFill>
                <a:srgbClr val="A84031">
                  <a:lumMod val="7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25" name="矩形: 圆角 25"/>
          <p:cNvSpPr/>
          <p:nvPr/>
        </p:nvSpPr>
        <p:spPr>
          <a:xfrm>
            <a:off x="9735185" y="5118100"/>
            <a:ext cx="859155" cy="396240"/>
          </a:xfrm>
          <a:prstGeom prst="roundRect">
            <a:avLst>
              <a:gd name="adj" fmla="val 12000"/>
            </a:avLst>
          </a:prstGeom>
          <a:ln>
            <a:solidFill>
              <a:schemeClr val="accent5">
                <a:lumMod val="75000"/>
              </a:schemeClr>
            </a:solidFill>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2000">
              <a:solidFill>
                <a:srgbClr val="A84031">
                  <a:lumMod val="7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26" name="矩形: 圆角 29"/>
          <p:cNvSpPr/>
          <p:nvPr/>
        </p:nvSpPr>
        <p:spPr>
          <a:xfrm>
            <a:off x="10878185" y="5118100"/>
            <a:ext cx="859155" cy="396240"/>
          </a:xfrm>
          <a:prstGeom prst="roundRect">
            <a:avLst>
              <a:gd name="adj" fmla="val 12000"/>
            </a:avLst>
          </a:prstGeom>
          <a:ln>
            <a:solidFill>
              <a:schemeClr val="accent5">
                <a:lumMod val="75000"/>
              </a:schemeClr>
            </a:solidFill>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2000">
              <a:solidFill>
                <a:srgbClr val="A84031">
                  <a:lumMod val="7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27" name="矩形: 圆角 35"/>
          <p:cNvSpPr/>
          <p:nvPr/>
        </p:nvSpPr>
        <p:spPr>
          <a:xfrm>
            <a:off x="1044575" y="1714500"/>
            <a:ext cx="1454150" cy="1031240"/>
          </a:xfrm>
          <a:prstGeom prst="roundRect">
            <a:avLst>
              <a:gd name="adj" fmla="val 2000"/>
            </a:avLst>
          </a:prstGeom>
          <a:ln>
            <a:solidFill>
              <a:schemeClr val="accent1">
                <a:lumMod val="60000"/>
                <a:lumOff val="40000"/>
                <a:alpha val="5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endParaRPr lang="zh-CN" altLang="en-US">
              <a:solidFill>
                <a:srgbClr val="404040"/>
              </a:solidFill>
              <a:latin typeface="微软雅黑" panose="020B0503020204020204" charset="-122"/>
              <a:ea typeface="微软雅黑" panose="020B0503020204020204" charset="-122"/>
              <a:cs typeface="微软雅黑" panose="020B0503020204020204" charset="-122"/>
            </a:endParaRPr>
          </a:p>
        </p:txBody>
      </p:sp>
      <p:sp>
        <p:nvSpPr>
          <p:cNvPr id="38" name="矩形: 圆角 37"/>
          <p:cNvSpPr/>
          <p:nvPr/>
        </p:nvSpPr>
        <p:spPr>
          <a:xfrm>
            <a:off x="2604135" y="1714500"/>
            <a:ext cx="1454150" cy="1031240"/>
          </a:xfrm>
          <a:prstGeom prst="roundRect">
            <a:avLst>
              <a:gd name="adj" fmla="val 2000"/>
            </a:avLst>
          </a:prstGeom>
          <a:ln>
            <a:solidFill>
              <a:schemeClr val="accent1">
                <a:lumMod val="60000"/>
                <a:lumOff val="40000"/>
                <a:alpha val="5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endParaRPr lang="zh-CN" altLang="en-US">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39" name="任意多边形: 形状 45"/>
          <p:cNvSpPr/>
          <p:nvPr/>
        </p:nvSpPr>
        <p:spPr>
          <a:xfrm>
            <a:off x="1044575" y="2897505"/>
            <a:ext cx="3522345" cy="1149985"/>
          </a:xfrm>
          <a:custGeom>
            <a:avLst/>
            <a:gdLst>
              <a:gd name="connsiteX0" fmla="*/ 3333750 w 3384550"/>
              <a:gd name="connsiteY0" fmla="*/ 0 h 1104900"/>
              <a:gd name="connsiteX1" fmla="*/ 3384550 w 3384550"/>
              <a:gd name="connsiteY1" fmla="*/ 0 h 1104900"/>
              <a:gd name="connsiteX2" fmla="*/ 3384550 w 3384550"/>
              <a:gd name="connsiteY2" fmla="*/ 1104900 h 1104900"/>
              <a:gd name="connsiteX3" fmla="*/ 3333750 w 3384550"/>
              <a:gd name="connsiteY3" fmla="*/ 1104900 h 1104900"/>
              <a:gd name="connsiteX4" fmla="*/ 50800 w 3384550"/>
              <a:gd name="connsiteY4" fmla="*/ 1104900 h 1104900"/>
              <a:gd name="connsiteX5" fmla="*/ 0 w 3384550"/>
              <a:gd name="connsiteY5" fmla="*/ 1104900 h 1104900"/>
              <a:gd name="connsiteX6" fmla="*/ 0 w 3384550"/>
              <a:gd name="connsiteY6" fmla="*/ 0 h 1104900"/>
              <a:gd name="connsiteX7" fmla="*/ 50800 w 3384550"/>
              <a:gd name="connsiteY7" fmla="*/ 0 h 110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4550" h="1104900">
                <a:moveTo>
                  <a:pt x="3333750" y="0"/>
                </a:moveTo>
                <a:cubicBezTo>
                  <a:pt x="3361806" y="0"/>
                  <a:pt x="3384550" y="0"/>
                  <a:pt x="3384550" y="0"/>
                </a:cubicBezTo>
                <a:lnTo>
                  <a:pt x="3384550" y="1104900"/>
                </a:lnTo>
                <a:cubicBezTo>
                  <a:pt x="3384550" y="1104900"/>
                  <a:pt x="3361806" y="1104900"/>
                  <a:pt x="3333750" y="1104900"/>
                </a:cubicBezTo>
                <a:lnTo>
                  <a:pt x="50800" y="1104900"/>
                </a:lnTo>
                <a:cubicBezTo>
                  <a:pt x="22744" y="1104900"/>
                  <a:pt x="0" y="1104900"/>
                  <a:pt x="0" y="1104900"/>
                </a:cubicBezTo>
                <a:lnTo>
                  <a:pt x="0" y="0"/>
                </a:lnTo>
                <a:cubicBezTo>
                  <a:pt x="0" y="0"/>
                  <a:pt x="22744" y="0"/>
                  <a:pt x="50800" y="0"/>
                </a:cubicBezTo>
                <a:close/>
              </a:path>
            </a:pathLst>
          </a:custGeom>
          <a:ln>
            <a:solidFill>
              <a:schemeClr val="accent1">
                <a:alpha val="7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endParaRPr lang="zh-CN" altLang="en-US">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40" name="任意多边形: 形状 46"/>
          <p:cNvSpPr/>
          <p:nvPr/>
        </p:nvSpPr>
        <p:spPr>
          <a:xfrm>
            <a:off x="1044575" y="4212590"/>
            <a:ext cx="6694805" cy="1348105"/>
          </a:xfrm>
          <a:custGeom>
            <a:avLst/>
            <a:gdLst>
              <a:gd name="connsiteX0" fmla="*/ 6381750 w 6432550"/>
              <a:gd name="connsiteY0" fmla="*/ 0 h 1295400"/>
              <a:gd name="connsiteX1" fmla="*/ 6432550 w 6432550"/>
              <a:gd name="connsiteY1" fmla="*/ 0 h 1295400"/>
              <a:gd name="connsiteX2" fmla="*/ 6432550 w 6432550"/>
              <a:gd name="connsiteY2" fmla="*/ 1295400 h 1295400"/>
              <a:gd name="connsiteX3" fmla="*/ 6381750 w 6432550"/>
              <a:gd name="connsiteY3" fmla="*/ 1295400 h 1295400"/>
              <a:gd name="connsiteX4" fmla="*/ 50800 w 6432550"/>
              <a:gd name="connsiteY4" fmla="*/ 1295400 h 1295400"/>
              <a:gd name="connsiteX5" fmla="*/ 0 w 6432550"/>
              <a:gd name="connsiteY5" fmla="*/ 1295400 h 1295400"/>
              <a:gd name="connsiteX6" fmla="*/ 0 w 6432550"/>
              <a:gd name="connsiteY6" fmla="*/ 0 h 1295400"/>
              <a:gd name="connsiteX7" fmla="*/ 50800 w 6432550"/>
              <a:gd name="connsiteY7" fmla="*/ 0 h 1295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32550" h="1295400">
                <a:moveTo>
                  <a:pt x="6381750" y="0"/>
                </a:moveTo>
                <a:cubicBezTo>
                  <a:pt x="6409807" y="0"/>
                  <a:pt x="6432550" y="0"/>
                  <a:pt x="6432550" y="0"/>
                </a:cubicBezTo>
                <a:lnTo>
                  <a:pt x="6432550" y="1295400"/>
                </a:lnTo>
                <a:cubicBezTo>
                  <a:pt x="6432550" y="1295400"/>
                  <a:pt x="6409807" y="1295400"/>
                  <a:pt x="6381750" y="1295400"/>
                </a:cubicBezTo>
                <a:lnTo>
                  <a:pt x="50800" y="1295400"/>
                </a:lnTo>
                <a:cubicBezTo>
                  <a:pt x="22744" y="1295400"/>
                  <a:pt x="0" y="1295400"/>
                  <a:pt x="0" y="1295400"/>
                </a:cubicBezTo>
                <a:lnTo>
                  <a:pt x="0" y="0"/>
                </a:lnTo>
                <a:cubicBezTo>
                  <a:pt x="0" y="0"/>
                  <a:pt x="22744" y="0"/>
                  <a:pt x="50800" y="0"/>
                </a:cubicBezTo>
                <a:close/>
              </a:path>
            </a:pathLst>
          </a:custGeom>
          <a:solidFill>
            <a:srgbClr val="F7F7F7">
              <a:alpha val="20000"/>
            </a:srgbClr>
          </a:solidFill>
          <a:ln w="6350" cap="flat">
            <a:solidFill>
              <a:schemeClr val="accent5">
                <a:lumMod val="75000"/>
              </a:schemeClr>
            </a:solidFill>
            <a:custDash>
              <a:ds d="600000" sp="600000"/>
            </a:custDash>
            <a:miter/>
          </a:ln>
        </p:spPr>
        <p:txBody>
          <a:bodyPr rtlCol="0" anchor="ctr"/>
          <a:lstStyle/>
          <a:p>
            <a:endParaRPr lang="zh-CN" altLang="en-US">
              <a:solidFill>
                <a:srgbClr val="A84031">
                  <a:lumMod val="75000"/>
                </a:srgbClr>
              </a:solidFill>
              <a:latin typeface="微软雅黑" panose="020B0503020204020204" charset="-122"/>
              <a:ea typeface="微软雅黑" panose="020B0503020204020204" charset="-122"/>
              <a:cs typeface="微软雅黑" panose="020B0503020204020204" charset="-122"/>
            </a:endParaRPr>
          </a:p>
        </p:txBody>
      </p:sp>
      <p:sp>
        <p:nvSpPr>
          <p:cNvPr id="41" name="任意多边形: 形状 47"/>
          <p:cNvSpPr/>
          <p:nvPr/>
        </p:nvSpPr>
        <p:spPr>
          <a:xfrm>
            <a:off x="1044575" y="5732780"/>
            <a:ext cx="10831830" cy="654050"/>
          </a:xfrm>
          <a:custGeom>
            <a:avLst/>
            <a:gdLst>
              <a:gd name="connsiteX0" fmla="*/ 10356850 w 10407650"/>
              <a:gd name="connsiteY0" fmla="*/ 0 h 628650"/>
              <a:gd name="connsiteX1" fmla="*/ 10407650 w 10407650"/>
              <a:gd name="connsiteY1" fmla="*/ 0 h 628650"/>
              <a:gd name="connsiteX2" fmla="*/ 10407650 w 10407650"/>
              <a:gd name="connsiteY2" fmla="*/ 628650 h 628650"/>
              <a:gd name="connsiteX3" fmla="*/ 10356850 w 10407650"/>
              <a:gd name="connsiteY3" fmla="*/ 628650 h 628650"/>
              <a:gd name="connsiteX4" fmla="*/ 50800 w 10407650"/>
              <a:gd name="connsiteY4" fmla="*/ 628650 h 628650"/>
              <a:gd name="connsiteX5" fmla="*/ 0 w 10407650"/>
              <a:gd name="connsiteY5" fmla="*/ 628650 h 628650"/>
              <a:gd name="connsiteX6" fmla="*/ 0 w 10407650"/>
              <a:gd name="connsiteY6" fmla="*/ 0 h 628650"/>
              <a:gd name="connsiteX7" fmla="*/ 50800 w 10407650"/>
              <a:gd name="connsiteY7" fmla="*/ 0 h 628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07650" h="628650">
                <a:moveTo>
                  <a:pt x="10356850" y="0"/>
                </a:moveTo>
                <a:cubicBezTo>
                  <a:pt x="10384906" y="0"/>
                  <a:pt x="10407650" y="0"/>
                  <a:pt x="10407650" y="0"/>
                </a:cubicBezTo>
                <a:lnTo>
                  <a:pt x="10407650" y="628650"/>
                </a:lnTo>
                <a:cubicBezTo>
                  <a:pt x="10407650" y="628650"/>
                  <a:pt x="10384906" y="628650"/>
                  <a:pt x="10356850" y="628650"/>
                </a:cubicBezTo>
                <a:lnTo>
                  <a:pt x="50800" y="628650"/>
                </a:lnTo>
                <a:cubicBezTo>
                  <a:pt x="22744" y="628650"/>
                  <a:pt x="0" y="628650"/>
                  <a:pt x="0" y="628650"/>
                </a:cubicBezTo>
                <a:lnTo>
                  <a:pt x="0" y="0"/>
                </a:lnTo>
                <a:cubicBezTo>
                  <a:pt x="0" y="0"/>
                  <a:pt x="22744" y="0"/>
                  <a:pt x="50800" y="0"/>
                </a:cubicBezTo>
                <a:close/>
              </a:path>
            </a:pathLst>
          </a:custGeom>
          <a:solidFill>
            <a:srgbClr val="F7F7F7">
              <a:alpha val="20000"/>
            </a:srgbClr>
          </a:solidFill>
          <a:ln w="6350" cap="flat">
            <a:solidFill>
              <a:schemeClr val="accent5">
                <a:lumMod val="75000"/>
              </a:schemeClr>
            </a:solidFill>
            <a:custDash>
              <a:ds d="600000" sp="600000"/>
            </a:custDash>
            <a:miter/>
          </a:ln>
        </p:spPr>
        <p:txBody>
          <a:bodyPr rtlCol="0" anchor="ctr">
            <a:noAutofit/>
          </a:bodyPr>
          <a:lstStyle/>
          <a:p>
            <a:pPr lvl="0" algn="l">
              <a:buClrTx/>
              <a:buSzTx/>
              <a:buFontTx/>
            </a:pPr>
            <a:endParaRPr lang="zh-CN" altLang="en-US">
              <a:solidFill>
                <a:srgbClr val="A84031">
                  <a:lumMod val="7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42" name="任意多边形: 形状 49"/>
          <p:cNvSpPr/>
          <p:nvPr/>
        </p:nvSpPr>
        <p:spPr>
          <a:xfrm>
            <a:off x="4699000" y="2897505"/>
            <a:ext cx="3522345" cy="1149985"/>
          </a:xfrm>
          <a:custGeom>
            <a:avLst/>
            <a:gdLst>
              <a:gd name="connsiteX0" fmla="*/ 3333750 w 3384550"/>
              <a:gd name="connsiteY0" fmla="*/ 0 h 1104900"/>
              <a:gd name="connsiteX1" fmla="*/ 3384550 w 3384550"/>
              <a:gd name="connsiteY1" fmla="*/ 0 h 1104900"/>
              <a:gd name="connsiteX2" fmla="*/ 3384550 w 3384550"/>
              <a:gd name="connsiteY2" fmla="*/ 1104900 h 1104900"/>
              <a:gd name="connsiteX3" fmla="*/ 3333750 w 3384550"/>
              <a:gd name="connsiteY3" fmla="*/ 1104900 h 1104900"/>
              <a:gd name="connsiteX4" fmla="*/ 50800 w 3384550"/>
              <a:gd name="connsiteY4" fmla="*/ 1104900 h 1104900"/>
              <a:gd name="connsiteX5" fmla="*/ 0 w 3384550"/>
              <a:gd name="connsiteY5" fmla="*/ 1104900 h 1104900"/>
              <a:gd name="connsiteX6" fmla="*/ 0 w 3384550"/>
              <a:gd name="connsiteY6" fmla="*/ 0 h 1104900"/>
              <a:gd name="connsiteX7" fmla="*/ 50800 w 3384550"/>
              <a:gd name="connsiteY7" fmla="*/ 0 h 110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4550" h="1104900">
                <a:moveTo>
                  <a:pt x="3333750" y="0"/>
                </a:moveTo>
                <a:cubicBezTo>
                  <a:pt x="3361807" y="0"/>
                  <a:pt x="3384550" y="0"/>
                  <a:pt x="3384550" y="0"/>
                </a:cubicBezTo>
                <a:lnTo>
                  <a:pt x="3384550" y="1104900"/>
                </a:lnTo>
                <a:cubicBezTo>
                  <a:pt x="3384550" y="1104900"/>
                  <a:pt x="3361807" y="1104900"/>
                  <a:pt x="3333750" y="1104900"/>
                </a:cubicBezTo>
                <a:lnTo>
                  <a:pt x="50800" y="1104900"/>
                </a:lnTo>
                <a:cubicBezTo>
                  <a:pt x="22744" y="1104900"/>
                  <a:pt x="0" y="1104900"/>
                  <a:pt x="0" y="1104900"/>
                </a:cubicBezTo>
                <a:lnTo>
                  <a:pt x="0" y="0"/>
                </a:lnTo>
                <a:cubicBezTo>
                  <a:pt x="0" y="0"/>
                  <a:pt x="22744" y="0"/>
                  <a:pt x="50800" y="0"/>
                </a:cubicBezTo>
                <a:close/>
              </a:path>
            </a:pathLst>
          </a:custGeom>
          <a:ln>
            <a:solidFill>
              <a:schemeClr val="accent1">
                <a:alpha val="7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endParaRPr lang="zh-CN" altLang="en-US">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77" name="任意多边形: 形状 50"/>
          <p:cNvSpPr/>
          <p:nvPr/>
        </p:nvSpPr>
        <p:spPr>
          <a:xfrm>
            <a:off x="8354060" y="2897505"/>
            <a:ext cx="3497580" cy="1149985"/>
          </a:xfrm>
          <a:custGeom>
            <a:avLst/>
            <a:gdLst>
              <a:gd name="connsiteX0" fmla="*/ 3333750 w 3384550"/>
              <a:gd name="connsiteY0" fmla="*/ 0 h 1104900"/>
              <a:gd name="connsiteX1" fmla="*/ 3384550 w 3384550"/>
              <a:gd name="connsiteY1" fmla="*/ 0 h 1104900"/>
              <a:gd name="connsiteX2" fmla="*/ 3384550 w 3384550"/>
              <a:gd name="connsiteY2" fmla="*/ 1104900 h 1104900"/>
              <a:gd name="connsiteX3" fmla="*/ 3333750 w 3384550"/>
              <a:gd name="connsiteY3" fmla="*/ 1104900 h 1104900"/>
              <a:gd name="connsiteX4" fmla="*/ 50800 w 3384550"/>
              <a:gd name="connsiteY4" fmla="*/ 1104900 h 1104900"/>
              <a:gd name="connsiteX5" fmla="*/ 0 w 3384550"/>
              <a:gd name="connsiteY5" fmla="*/ 1104900 h 1104900"/>
              <a:gd name="connsiteX6" fmla="*/ 0 w 3384550"/>
              <a:gd name="connsiteY6" fmla="*/ 0 h 1104900"/>
              <a:gd name="connsiteX7" fmla="*/ 50800 w 3384550"/>
              <a:gd name="connsiteY7" fmla="*/ 0 h 110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84550" h="1104900">
                <a:moveTo>
                  <a:pt x="3333750" y="0"/>
                </a:moveTo>
                <a:cubicBezTo>
                  <a:pt x="3361807" y="0"/>
                  <a:pt x="3384550" y="0"/>
                  <a:pt x="3384550" y="0"/>
                </a:cubicBezTo>
                <a:lnTo>
                  <a:pt x="3384550" y="1104900"/>
                </a:lnTo>
                <a:cubicBezTo>
                  <a:pt x="3384550" y="1104900"/>
                  <a:pt x="3361807" y="1104900"/>
                  <a:pt x="3333750" y="1104900"/>
                </a:cubicBezTo>
                <a:lnTo>
                  <a:pt x="50800" y="1104900"/>
                </a:lnTo>
                <a:cubicBezTo>
                  <a:pt x="22744" y="1104900"/>
                  <a:pt x="0" y="1104900"/>
                  <a:pt x="0" y="1104900"/>
                </a:cubicBezTo>
                <a:lnTo>
                  <a:pt x="0" y="0"/>
                </a:lnTo>
                <a:cubicBezTo>
                  <a:pt x="0" y="0"/>
                  <a:pt x="22744" y="0"/>
                  <a:pt x="50800" y="0"/>
                </a:cubicBezTo>
                <a:close/>
              </a:path>
            </a:pathLst>
          </a:custGeom>
          <a:ln>
            <a:solidFill>
              <a:schemeClr val="accent1">
                <a:alpha val="70000"/>
              </a:schemeClr>
            </a:solidFill>
            <a:prstDash val="dash"/>
          </a:ln>
        </p:spPr>
        <p:style>
          <a:lnRef idx="2">
            <a:schemeClr val="dk1"/>
          </a:lnRef>
          <a:fillRef idx="1">
            <a:schemeClr val="lt1"/>
          </a:fillRef>
          <a:effectRef idx="0">
            <a:schemeClr val="dk1"/>
          </a:effectRef>
          <a:fontRef idx="minor">
            <a:schemeClr val="dk1"/>
          </a:fontRef>
        </p:style>
        <p:txBody>
          <a:bodyPr rtlCol="0" anchor="ctr"/>
          <a:lstStyle/>
          <a:p>
            <a:endParaRPr lang="zh-CN" altLang="en-US">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78" name="矩形: 圆角 53"/>
          <p:cNvSpPr/>
          <p:nvPr/>
        </p:nvSpPr>
        <p:spPr>
          <a:xfrm>
            <a:off x="1044575" y="1390650"/>
            <a:ext cx="1454150" cy="277495"/>
          </a:xfrm>
          <a:prstGeom prst="roundRect">
            <a:avLst>
              <a:gd name="adj" fmla="val 8000"/>
            </a:avLst>
          </a:prstGeom>
          <a:solidFill>
            <a:schemeClr val="accent1">
              <a:lumMod val="20000"/>
              <a:lumOff val="80000"/>
              <a:alpha val="50000"/>
            </a:schemeClr>
          </a:solidFill>
          <a:ln>
            <a:solidFill>
              <a:schemeClr val="accent1">
                <a:lumMod val="60000"/>
                <a:lumOff val="40000"/>
              </a:schemeClr>
            </a:solidFill>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79" name="矩形: 圆角 58"/>
          <p:cNvSpPr/>
          <p:nvPr/>
        </p:nvSpPr>
        <p:spPr>
          <a:xfrm>
            <a:off x="2055495" y="3069590"/>
            <a:ext cx="1493520" cy="290830"/>
          </a:xfrm>
          <a:prstGeom prst="roundRect">
            <a:avLst>
              <a:gd name="adj" fmla="val 8000"/>
            </a:avLst>
          </a:prstGeom>
          <a:ln>
            <a:solidFill>
              <a:schemeClr val="accent1"/>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solidFill>
                <a:srgbClr val="E59183"/>
              </a:solidFill>
              <a:latin typeface="微软雅黑" panose="020B0503020204020204" charset="-122"/>
              <a:ea typeface="微软雅黑" panose="020B0503020204020204" charset="-122"/>
              <a:cs typeface="微软雅黑" panose="020B0503020204020204" charset="-122"/>
              <a:sym typeface="+mn-ea"/>
            </a:endParaRPr>
          </a:p>
        </p:txBody>
      </p:sp>
      <p:sp>
        <p:nvSpPr>
          <p:cNvPr id="80" name="矩形: 圆角 62"/>
          <p:cNvSpPr/>
          <p:nvPr/>
        </p:nvSpPr>
        <p:spPr>
          <a:xfrm>
            <a:off x="5710555" y="3069590"/>
            <a:ext cx="1493520" cy="290830"/>
          </a:xfrm>
          <a:prstGeom prst="roundRect">
            <a:avLst>
              <a:gd name="adj" fmla="val 8000"/>
            </a:avLst>
          </a:prstGeom>
          <a:ln>
            <a:solidFill>
              <a:schemeClr val="accent1"/>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solidFill>
                <a:srgbClr val="E59183"/>
              </a:solidFill>
              <a:latin typeface="微软雅黑" panose="020B0503020204020204" charset="-122"/>
              <a:ea typeface="微软雅黑" panose="020B0503020204020204" charset="-122"/>
              <a:cs typeface="微软雅黑" panose="020B0503020204020204" charset="-122"/>
              <a:sym typeface="+mn-ea"/>
            </a:endParaRPr>
          </a:p>
        </p:txBody>
      </p:sp>
      <p:sp>
        <p:nvSpPr>
          <p:cNvPr id="83" name="矩形: 圆角 35"/>
          <p:cNvSpPr/>
          <p:nvPr/>
        </p:nvSpPr>
        <p:spPr>
          <a:xfrm>
            <a:off x="9471025" y="3069590"/>
            <a:ext cx="1493520" cy="290830"/>
          </a:xfrm>
          <a:prstGeom prst="roundRect">
            <a:avLst>
              <a:gd name="adj" fmla="val 8000"/>
            </a:avLst>
          </a:prstGeom>
          <a:ln>
            <a:solidFill>
              <a:schemeClr val="accent1"/>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solidFill>
                <a:srgbClr val="E59183"/>
              </a:solidFill>
              <a:latin typeface="微软雅黑" panose="020B0503020204020204" charset="-122"/>
              <a:ea typeface="微软雅黑" panose="020B0503020204020204" charset="-122"/>
              <a:cs typeface="微软雅黑" panose="020B0503020204020204" charset="-122"/>
              <a:sym typeface="+mn-ea"/>
            </a:endParaRPr>
          </a:p>
        </p:txBody>
      </p:sp>
      <p:sp>
        <p:nvSpPr>
          <p:cNvPr id="89" name="矩形: 圆角 36"/>
          <p:cNvSpPr/>
          <p:nvPr/>
        </p:nvSpPr>
        <p:spPr>
          <a:xfrm>
            <a:off x="2604135" y="1390650"/>
            <a:ext cx="1454150" cy="277495"/>
          </a:xfrm>
          <a:prstGeom prst="roundRect">
            <a:avLst>
              <a:gd name="adj" fmla="val 8000"/>
            </a:avLst>
          </a:prstGeom>
          <a:solidFill>
            <a:schemeClr val="accent1">
              <a:lumMod val="20000"/>
              <a:lumOff val="80000"/>
              <a:alpha val="50000"/>
            </a:schemeClr>
          </a:solidFill>
          <a:ln>
            <a:solidFill>
              <a:schemeClr val="accent1">
                <a:lumMod val="60000"/>
                <a:lumOff val="40000"/>
              </a:schemeClr>
            </a:solidFill>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90" name="矩形: 圆角 42"/>
          <p:cNvSpPr/>
          <p:nvPr/>
        </p:nvSpPr>
        <p:spPr>
          <a:xfrm>
            <a:off x="1176655" y="4464050"/>
            <a:ext cx="905510" cy="317500"/>
          </a:xfrm>
          <a:prstGeom prst="roundRect">
            <a:avLst>
              <a:gd name="adj" fmla="val 12000"/>
            </a:avLst>
          </a:prstGeom>
          <a:ln>
            <a:solidFill>
              <a:schemeClr val="accent5">
                <a:lumMod val="75000"/>
              </a:schemeClr>
            </a:solidFill>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a:solidFill>
                <a:srgbClr val="A84031">
                  <a:lumMod val="75000"/>
                </a:srgbClr>
              </a:solidFill>
              <a:latin typeface="微软雅黑" panose="020B0503020204020204" charset="-122"/>
              <a:ea typeface="微软雅黑" panose="020B0503020204020204" charset="-122"/>
              <a:cs typeface="微软雅黑" panose="020B0503020204020204" charset="-122"/>
            </a:endParaRPr>
          </a:p>
        </p:txBody>
      </p:sp>
      <p:sp>
        <p:nvSpPr>
          <p:cNvPr id="91" name="矩形: 圆角 43"/>
          <p:cNvSpPr/>
          <p:nvPr/>
        </p:nvSpPr>
        <p:spPr>
          <a:xfrm>
            <a:off x="1176655" y="4999355"/>
            <a:ext cx="6430645" cy="317500"/>
          </a:xfrm>
          <a:prstGeom prst="roundRect">
            <a:avLst>
              <a:gd name="adj" fmla="val 12000"/>
            </a:avLst>
          </a:prstGeom>
          <a:solidFill>
            <a:schemeClr val="accent5">
              <a:lumMod val="20000"/>
              <a:lumOff val="80000"/>
            </a:schemeClr>
          </a:solidFill>
          <a:ln>
            <a:solidFill>
              <a:schemeClr val="accent5"/>
            </a:solidFill>
          </a:ln>
          <a:effectLst/>
        </p:spPr>
        <p:style>
          <a:lnRef idx="0">
            <a:scrgbClr r="0" g="0" b="0"/>
          </a:lnRef>
          <a:fillRef idx="0">
            <a:scrgbClr r="0" g="0" b="0"/>
          </a:fillRef>
          <a:effectRef idx="0">
            <a:scrgbClr r="0" g="0" b="0"/>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sym typeface="+mn-ea"/>
            </a:endParaRPr>
          </a:p>
        </p:txBody>
      </p:sp>
      <p:sp>
        <p:nvSpPr>
          <p:cNvPr id="109" name="矩形: 圆角 44"/>
          <p:cNvSpPr/>
          <p:nvPr/>
        </p:nvSpPr>
        <p:spPr>
          <a:xfrm>
            <a:off x="3370580" y="4464050"/>
            <a:ext cx="905510" cy="317500"/>
          </a:xfrm>
          <a:prstGeom prst="roundRect">
            <a:avLst>
              <a:gd name="adj" fmla="val 12000"/>
            </a:avLst>
          </a:prstGeom>
          <a:solidFill>
            <a:srgbClr val="FFFFFF"/>
          </a:solidFill>
          <a:ln w="6350" cap="flat">
            <a:solidFill>
              <a:schemeClr val="accent5">
                <a:lumMod val="75000"/>
              </a:schemeClr>
            </a:solidFill>
            <a:prstDash val="solid"/>
            <a:miter/>
          </a:ln>
          <a:effectLst>
            <a:outerShdw blurRad="254000" dist="63500" dir="5400000" algn="t" rotWithShape="0">
              <a:srgbClr val="121C34">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A84031">
                  <a:lumMod val="75000"/>
                </a:srgbClr>
              </a:solidFill>
              <a:latin typeface="微软雅黑" panose="020B0503020204020204" charset="-122"/>
              <a:ea typeface="微软雅黑" panose="020B0503020204020204" charset="-122"/>
              <a:cs typeface="微软雅黑" panose="020B0503020204020204" charset="-122"/>
            </a:endParaRPr>
          </a:p>
        </p:txBody>
      </p:sp>
      <p:sp>
        <p:nvSpPr>
          <p:cNvPr id="110" name="矩形: 圆角 45"/>
          <p:cNvSpPr/>
          <p:nvPr/>
        </p:nvSpPr>
        <p:spPr>
          <a:xfrm>
            <a:off x="5591175" y="4464050"/>
            <a:ext cx="905510" cy="317500"/>
          </a:xfrm>
          <a:prstGeom prst="roundRect">
            <a:avLst>
              <a:gd name="adj" fmla="val 12000"/>
            </a:avLst>
          </a:prstGeom>
          <a:solidFill>
            <a:srgbClr val="FFFFFF"/>
          </a:solidFill>
          <a:ln w="6350" cap="flat">
            <a:solidFill>
              <a:schemeClr val="accent5">
                <a:lumMod val="75000"/>
              </a:schemeClr>
            </a:solidFill>
            <a:prstDash val="solid"/>
            <a:miter/>
          </a:ln>
          <a:effectLst>
            <a:outerShdw blurRad="254000" dist="63500" dir="5400000" algn="t" rotWithShape="0">
              <a:srgbClr val="121C34">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A84031">
                  <a:lumMod val="75000"/>
                </a:srgbClr>
              </a:solidFill>
              <a:latin typeface="微软雅黑" panose="020B0503020204020204" charset="-122"/>
              <a:ea typeface="微软雅黑" panose="020B0503020204020204" charset="-122"/>
              <a:cs typeface="微软雅黑" panose="020B0503020204020204" charset="-122"/>
            </a:endParaRPr>
          </a:p>
        </p:txBody>
      </p:sp>
      <p:sp>
        <p:nvSpPr>
          <p:cNvPr id="111" name="矩形: 圆角 46"/>
          <p:cNvSpPr/>
          <p:nvPr/>
        </p:nvSpPr>
        <p:spPr>
          <a:xfrm>
            <a:off x="2287270" y="4464050"/>
            <a:ext cx="905510" cy="317500"/>
          </a:xfrm>
          <a:prstGeom prst="roundRect">
            <a:avLst>
              <a:gd name="adj" fmla="val 12000"/>
            </a:avLst>
          </a:prstGeom>
          <a:solidFill>
            <a:srgbClr val="FFFFFF"/>
          </a:solidFill>
          <a:ln w="6350" cap="flat">
            <a:solidFill>
              <a:schemeClr val="accent5">
                <a:lumMod val="75000"/>
              </a:schemeClr>
            </a:solidFill>
            <a:prstDash val="solid"/>
            <a:miter/>
          </a:ln>
          <a:effectLst>
            <a:outerShdw blurRad="254000" dist="63500" dir="5400000" algn="t" rotWithShape="0">
              <a:srgbClr val="121C34">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A84031">
                  <a:lumMod val="75000"/>
                </a:srgbClr>
              </a:solidFill>
              <a:latin typeface="微软雅黑" panose="020B0503020204020204" charset="-122"/>
              <a:ea typeface="微软雅黑" panose="020B0503020204020204" charset="-122"/>
              <a:cs typeface="微软雅黑" panose="020B0503020204020204" charset="-122"/>
            </a:endParaRPr>
          </a:p>
        </p:txBody>
      </p:sp>
      <p:sp>
        <p:nvSpPr>
          <p:cNvPr id="112" name="矩形: 圆角 47"/>
          <p:cNvSpPr/>
          <p:nvPr/>
        </p:nvSpPr>
        <p:spPr>
          <a:xfrm>
            <a:off x="4481195" y="4464050"/>
            <a:ext cx="905510" cy="317500"/>
          </a:xfrm>
          <a:prstGeom prst="roundRect">
            <a:avLst>
              <a:gd name="adj" fmla="val 12000"/>
            </a:avLst>
          </a:prstGeom>
          <a:solidFill>
            <a:srgbClr val="FFFFFF"/>
          </a:solidFill>
          <a:ln w="6350" cap="flat">
            <a:solidFill>
              <a:schemeClr val="accent5">
                <a:lumMod val="75000"/>
              </a:schemeClr>
            </a:solidFill>
            <a:prstDash val="solid"/>
            <a:miter/>
          </a:ln>
          <a:effectLst>
            <a:outerShdw blurRad="254000" dist="63500" dir="5400000" algn="t" rotWithShape="0">
              <a:srgbClr val="121C34">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A84031">
                  <a:lumMod val="75000"/>
                </a:srgbClr>
              </a:solidFill>
              <a:latin typeface="微软雅黑" panose="020B0503020204020204" charset="-122"/>
              <a:ea typeface="微软雅黑" panose="020B0503020204020204" charset="-122"/>
              <a:cs typeface="微软雅黑" panose="020B0503020204020204" charset="-122"/>
            </a:endParaRPr>
          </a:p>
        </p:txBody>
      </p:sp>
      <p:sp>
        <p:nvSpPr>
          <p:cNvPr id="113" name="矩形: 圆角 48"/>
          <p:cNvSpPr/>
          <p:nvPr/>
        </p:nvSpPr>
        <p:spPr>
          <a:xfrm>
            <a:off x="6701790" y="4464050"/>
            <a:ext cx="905510" cy="317500"/>
          </a:xfrm>
          <a:prstGeom prst="roundRect">
            <a:avLst>
              <a:gd name="adj" fmla="val 12000"/>
            </a:avLst>
          </a:prstGeom>
          <a:solidFill>
            <a:srgbClr val="FFFFFF"/>
          </a:solidFill>
          <a:ln w="6350" cap="flat">
            <a:solidFill>
              <a:schemeClr val="accent5">
                <a:lumMod val="75000"/>
              </a:schemeClr>
            </a:solidFill>
            <a:prstDash val="solid"/>
            <a:miter/>
          </a:ln>
          <a:effectLst>
            <a:outerShdw blurRad="254000" dist="63500" dir="5400000" algn="t" rotWithShape="0">
              <a:srgbClr val="121C34">
                <a:alpha val="10000"/>
              </a:srgb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solidFill>
                <a:srgbClr val="A84031">
                  <a:lumMod val="75000"/>
                </a:srgbClr>
              </a:solidFill>
              <a:latin typeface="微软雅黑" panose="020B0503020204020204" charset="-122"/>
              <a:ea typeface="微软雅黑" panose="020B0503020204020204" charset="-122"/>
              <a:cs typeface="微软雅黑" panose="020B0503020204020204" charset="-122"/>
            </a:endParaRPr>
          </a:p>
        </p:txBody>
      </p:sp>
      <p:sp>
        <p:nvSpPr>
          <p:cNvPr id="131" name="矩形: 圆角 49"/>
          <p:cNvSpPr/>
          <p:nvPr/>
        </p:nvSpPr>
        <p:spPr>
          <a:xfrm>
            <a:off x="509270" y="1384300"/>
            <a:ext cx="416560" cy="1361440"/>
          </a:xfrm>
          <a:prstGeom prst="roundRect">
            <a:avLst>
              <a:gd name="adj" fmla="val 8000"/>
            </a:avLst>
          </a:prstGeom>
          <a:solidFill>
            <a:schemeClr val="accent1">
              <a:lumMod val="60000"/>
              <a:lumOff val="40000"/>
            </a:schemeClr>
          </a:solidFill>
          <a:ln>
            <a:solidFill>
              <a:schemeClr val="accent1">
                <a:lumMod val="60000"/>
                <a:lumOff val="40000"/>
              </a:schemeClr>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00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endParaRPr>
          </a:p>
        </p:txBody>
      </p:sp>
      <p:sp>
        <p:nvSpPr>
          <p:cNvPr id="135" name="矩形: 圆角 50"/>
          <p:cNvSpPr/>
          <p:nvPr/>
        </p:nvSpPr>
        <p:spPr>
          <a:xfrm>
            <a:off x="509270" y="2897505"/>
            <a:ext cx="416560" cy="1149985"/>
          </a:xfrm>
          <a:prstGeom prst="roundRect">
            <a:avLst>
              <a:gd name="adj" fmla="val 8000"/>
            </a:avLst>
          </a:prstGeom>
          <a:solidFill>
            <a:schemeClr val="accent1"/>
          </a:solidFill>
          <a:ln>
            <a:solidFill>
              <a:schemeClr val="accent1"/>
            </a:solid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00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endParaRPr>
          </a:p>
        </p:txBody>
      </p:sp>
      <p:sp>
        <p:nvSpPr>
          <p:cNvPr id="148" name="矩形: 圆角 51"/>
          <p:cNvSpPr/>
          <p:nvPr/>
        </p:nvSpPr>
        <p:spPr>
          <a:xfrm>
            <a:off x="509270" y="4199890"/>
            <a:ext cx="409575" cy="2193925"/>
          </a:xfrm>
          <a:prstGeom prst="roundRect">
            <a:avLst>
              <a:gd name="adj" fmla="val 8000"/>
            </a:avLst>
          </a:prstGeom>
          <a:solidFill>
            <a:schemeClr val="accent5"/>
          </a:solidFill>
        </p:spPr>
        <p:style>
          <a:lnRef idx="1">
            <a:schemeClr val="accent5"/>
          </a:lnRef>
          <a:fillRef idx="3">
            <a:schemeClr val="accent5"/>
          </a:fillRef>
          <a:effectRef idx="2">
            <a:schemeClr val="accent5"/>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00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endParaRPr>
          </a:p>
        </p:txBody>
      </p:sp>
      <p:sp>
        <p:nvSpPr>
          <p:cNvPr id="157" name="矩形: 圆角 52"/>
          <p:cNvSpPr/>
          <p:nvPr/>
        </p:nvSpPr>
        <p:spPr>
          <a:xfrm>
            <a:off x="1189990" y="3604895"/>
            <a:ext cx="554990" cy="264160"/>
          </a:xfrm>
          <a:prstGeom prst="roundRect">
            <a:avLst>
              <a:gd name="adj" fmla="val 12000"/>
            </a:avLst>
          </a:prstGeom>
          <a:ln>
            <a:solidFill>
              <a:schemeClr val="accent1">
                <a:alpha val="70000"/>
              </a:schemeClr>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1" name="任意多边形: 形状 53"/>
          <p:cNvSpPr/>
          <p:nvPr/>
        </p:nvSpPr>
        <p:spPr>
          <a:xfrm>
            <a:off x="1784985" y="3645535"/>
            <a:ext cx="257810" cy="182880"/>
          </a:xfrm>
          <a:custGeom>
            <a:avLst/>
            <a:gdLst>
              <a:gd name="connsiteX0" fmla="*/ 114300 w 247650"/>
              <a:gd name="connsiteY0" fmla="*/ 175971 h 175971"/>
              <a:gd name="connsiteX1" fmla="*/ 247650 w 247650"/>
              <a:gd name="connsiteY1" fmla="*/ 87985 h 175971"/>
              <a:gd name="connsiteX2" fmla="*/ 114300 w 247650"/>
              <a:gd name="connsiteY2" fmla="*/ 0 h 175971"/>
              <a:gd name="connsiteX3" fmla="*/ 114300 w 247650"/>
              <a:gd name="connsiteY3" fmla="*/ 43535 h 175971"/>
              <a:gd name="connsiteX4" fmla="*/ 0 w 247650"/>
              <a:gd name="connsiteY4" fmla="*/ 43535 h 175971"/>
              <a:gd name="connsiteX5" fmla="*/ 0 w 247650"/>
              <a:gd name="connsiteY5" fmla="*/ 132435 h 175971"/>
              <a:gd name="connsiteX6" fmla="*/ 114300 w 247650"/>
              <a:gd name="connsiteY6" fmla="*/ 132435 h 175971"/>
              <a:gd name="connsiteX7" fmla="*/ 114300 w 247650"/>
              <a:gd name="connsiteY7" fmla="*/ 175971 h 175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650" h="175971">
                <a:moveTo>
                  <a:pt x="114300" y="175971"/>
                </a:moveTo>
                <a:lnTo>
                  <a:pt x="247650" y="87985"/>
                </a:lnTo>
                <a:lnTo>
                  <a:pt x="114300" y="0"/>
                </a:lnTo>
                <a:lnTo>
                  <a:pt x="114300" y="43535"/>
                </a:lnTo>
                <a:lnTo>
                  <a:pt x="0" y="43535"/>
                </a:lnTo>
                <a:lnTo>
                  <a:pt x="0" y="132435"/>
                </a:lnTo>
                <a:lnTo>
                  <a:pt x="114300" y="132435"/>
                </a:lnTo>
                <a:lnTo>
                  <a:pt x="114300" y="175971"/>
                </a:lnTo>
                <a:close/>
              </a:path>
            </a:pathLst>
          </a:custGeom>
          <a:solidFill>
            <a:schemeClr val="accent1">
              <a:lumMod val="20000"/>
              <a:lumOff val="80000"/>
            </a:schemeClr>
          </a:solidFill>
          <a:ln>
            <a:solidFill>
              <a:schemeClr val="accent1"/>
            </a:solidFill>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5" name="矩形: 圆角 54"/>
          <p:cNvSpPr/>
          <p:nvPr/>
        </p:nvSpPr>
        <p:spPr>
          <a:xfrm>
            <a:off x="2082165" y="3604895"/>
            <a:ext cx="554990" cy="264160"/>
          </a:xfrm>
          <a:prstGeom prst="roundRect">
            <a:avLst>
              <a:gd name="adj" fmla="val 12000"/>
            </a:avLst>
          </a:prstGeom>
          <a:ln>
            <a:solidFill>
              <a:schemeClr val="accent1">
                <a:alpha val="70000"/>
              </a:schemeClr>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69" name="任意多边形: 形状 55"/>
          <p:cNvSpPr/>
          <p:nvPr/>
        </p:nvSpPr>
        <p:spPr>
          <a:xfrm>
            <a:off x="2677160" y="3645535"/>
            <a:ext cx="257810" cy="182880"/>
          </a:xfrm>
          <a:custGeom>
            <a:avLst/>
            <a:gdLst>
              <a:gd name="connsiteX0" fmla="*/ 114300 w 247650"/>
              <a:gd name="connsiteY0" fmla="*/ 175971 h 175971"/>
              <a:gd name="connsiteX1" fmla="*/ 247650 w 247650"/>
              <a:gd name="connsiteY1" fmla="*/ 87985 h 175971"/>
              <a:gd name="connsiteX2" fmla="*/ 114300 w 247650"/>
              <a:gd name="connsiteY2" fmla="*/ 0 h 175971"/>
              <a:gd name="connsiteX3" fmla="*/ 114300 w 247650"/>
              <a:gd name="connsiteY3" fmla="*/ 43535 h 175971"/>
              <a:gd name="connsiteX4" fmla="*/ 0 w 247650"/>
              <a:gd name="connsiteY4" fmla="*/ 43535 h 175971"/>
              <a:gd name="connsiteX5" fmla="*/ 0 w 247650"/>
              <a:gd name="connsiteY5" fmla="*/ 132435 h 175971"/>
              <a:gd name="connsiteX6" fmla="*/ 114300 w 247650"/>
              <a:gd name="connsiteY6" fmla="*/ 132435 h 175971"/>
              <a:gd name="connsiteX7" fmla="*/ 114300 w 247650"/>
              <a:gd name="connsiteY7" fmla="*/ 175971 h 175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650" h="175971">
                <a:moveTo>
                  <a:pt x="114300" y="175971"/>
                </a:moveTo>
                <a:lnTo>
                  <a:pt x="247650" y="87985"/>
                </a:lnTo>
                <a:lnTo>
                  <a:pt x="114300" y="0"/>
                </a:lnTo>
                <a:lnTo>
                  <a:pt x="114300" y="43535"/>
                </a:lnTo>
                <a:lnTo>
                  <a:pt x="0" y="43535"/>
                </a:lnTo>
                <a:lnTo>
                  <a:pt x="0" y="132435"/>
                </a:lnTo>
                <a:lnTo>
                  <a:pt x="114300" y="132435"/>
                </a:lnTo>
                <a:lnTo>
                  <a:pt x="114300" y="175971"/>
                </a:lnTo>
                <a:close/>
              </a:path>
            </a:pathLst>
          </a:custGeom>
          <a:solidFill>
            <a:schemeClr val="accent1">
              <a:lumMod val="20000"/>
              <a:lumOff val="80000"/>
            </a:schemeClr>
          </a:solidFill>
          <a:ln>
            <a:solidFill>
              <a:schemeClr val="accent1"/>
            </a:solidFill>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72" name="矩形: 圆角 56"/>
          <p:cNvSpPr/>
          <p:nvPr/>
        </p:nvSpPr>
        <p:spPr>
          <a:xfrm>
            <a:off x="2974340" y="3604895"/>
            <a:ext cx="554990" cy="264160"/>
          </a:xfrm>
          <a:prstGeom prst="roundRect">
            <a:avLst>
              <a:gd name="adj" fmla="val 12000"/>
            </a:avLst>
          </a:prstGeom>
          <a:ln>
            <a:solidFill>
              <a:schemeClr val="accent1">
                <a:alpha val="70000"/>
              </a:schemeClr>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76" name="任意多边形: 形状 57"/>
          <p:cNvSpPr/>
          <p:nvPr/>
        </p:nvSpPr>
        <p:spPr>
          <a:xfrm>
            <a:off x="3569335" y="3645535"/>
            <a:ext cx="257810" cy="182880"/>
          </a:xfrm>
          <a:custGeom>
            <a:avLst/>
            <a:gdLst>
              <a:gd name="connsiteX0" fmla="*/ 114300 w 247650"/>
              <a:gd name="connsiteY0" fmla="*/ 175971 h 175971"/>
              <a:gd name="connsiteX1" fmla="*/ 247650 w 247650"/>
              <a:gd name="connsiteY1" fmla="*/ 87985 h 175971"/>
              <a:gd name="connsiteX2" fmla="*/ 114300 w 247650"/>
              <a:gd name="connsiteY2" fmla="*/ 0 h 175971"/>
              <a:gd name="connsiteX3" fmla="*/ 114300 w 247650"/>
              <a:gd name="connsiteY3" fmla="*/ 43535 h 175971"/>
              <a:gd name="connsiteX4" fmla="*/ 0 w 247650"/>
              <a:gd name="connsiteY4" fmla="*/ 43535 h 175971"/>
              <a:gd name="connsiteX5" fmla="*/ 0 w 247650"/>
              <a:gd name="connsiteY5" fmla="*/ 132435 h 175971"/>
              <a:gd name="connsiteX6" fmla="*/ 114300 w 247650"/>
              <a:gd name="connsiteY6" fmla="*/ 132435 h 175971"/>
              <a:gd name="connsiteX7" fmla="*/ 114300 w 247650"/>
              <a:gd name="connsiteY7" fmla="*/ 175971 h 175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650" h="175971">
                <a:moveTo>
                  <a:pt x="114300" y="175971"/>
                </a:moveTo>
                <a:lnTo>
                  <a:pt x="247650" y="87985"/>
                </a:lnTo>
                <a:lnTo>
                  <a:pt x="114300" y="0"/>
                </a:lnTo>
                <a:lnTo>
                  <a:pt x="114300" y="43535"/>
                </a:lnTo>
                <a:lnTo>
                  <a:pt x="0" y="43535"/>
                </a:lnTo>
                <a:lnTo>
                  <a:pt x="0" y="132435"/>
                </a:lnTo>
                <a:lnTo>
                  <a:pt x="114300" y="132435"/>
                </a:lnTo>
                <a:lnTo>
                  <a:pt x="114300" y="175971"/>
                </a:lnTo>
                <a:close/>
              </a:path>
            </a:pathLst>
          </a:custGeom>
          <a:solidFill>
            <a:schemeClr val="accent1">
              <a:lumMod val="20000"/>
              <a:lumOff val="80000"/>
            </a:schemeClr>
          </a:solidFill>
          <a:ln>
            <a:solidFill>
              <a:schemeClr val="accent1"/>
            </a:solidFill>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80" name="矩形: 圆角 58"/>
          <p:cNvSpPr/>
          <p:nvPr/>
        </p:nvSpPr>
        <p:spPr>
          <a:xfrm>
            <a:off x="3866515" y="3604895"/>
            <a:ext cx="554990" cy="264160"/>
          </a:xfrm>
          <a:prstGeom prst="roundRect">
            <a:avLst>
              <a:gd name="adj" fmla="val 12000"/>
            </a:avLst>
          </a:prstGeom>
          <a:ln>
            <a:solidFill>
              <a:schemeClr val="accent1">
                <a:alpha val="70000"/>
              </a:schemeClr>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88" name="矩形: 圆角 60"/>
          <p:cNvSpPr/>
          <p:nvPr/>
        </p:nvSpPr>
        <p:spPr>
          <a:xfrm>
            <a:off x="4791710" y="3604895"/>
            <a:ext cx="554990" cy="264160"/>
          </a:xfrm>
          <a:prstGeom prst="roundRect">
            <a:avLst>
              <a:gd name="adj" fmla="val 12000"/>
            </a:avLst>
          </a:prstGeom>
          <a:ln>
            <a:solidFill>
              <a:schemeClr val="accent1">
                <a:alpha val="70000"/>
              </a:schemeClr>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89" name="任意多边形: 形状 61"/>
          <p:cNvSpPr/>
          <p:nvPr/>
        </p:nvSpPr>
        <p:spPr>
          <a:xfrm>
            <a:off x="5386705" y="3645535"/>
            <a:ext cx="257810" cy="182880"/>
          </a:xfrm>
          <a:custGeom>
            <a:avLst/>
            <a:gdLst>
              <a:gd name="connsiteX0" fmla="*/ 114300 w 247650"/>
              <a:gd name="connsiteY0" fmla="*/ 175971 h 175971"/>
              <a:gd name="connsiteX1" fmla="*/ 247650 w 247650"/>
              <a:gd name="connsiteY1" fmla="*/ 87985 h 175971"/>
              <a:gd name="connsiteX2" fmla="*/ 114300 w 247650"/>
              <a:gd name="connsiteY2" fmla="*/ 0 h 175971"/>
              <a:gd name="connsiteX3" fmla="*/ 114300 w 247650"/>
              <a:gd name="connsiteY3" fmla="*/ 43535 h 175971"/>
              <a:gd name="connsiteX4" fmla="*/ 0 w 247650"/>
              <a:gd name="connsiteY4" fmla="*/ 43535 h 175971"/>
              <a:gd name="connsiteX5" fmla="*/ 0 w 247650"/>
              <a:gd name="connsiteY5" fmla="*/ 132435 h 175971"/>
              <a:gd name="connsiteX6" fmla="*/ 114300 w 247650"/>
              <a:gd name="connsiteY6" fmla="*/ 132435 h 175971"/>
              <a:gd name="connsiteX7" fmla="*/ 114300 w 247650"/>
              <a:gd name="connsiteY7" fmla="*/ 175971 h 175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650" h="175971">
                <a:moveTo>
                  <a:pt x="114300" y="175971"/>
                </a:moveTo>
                <a:lnTo>
                  <a:pt x="247650" y="87985"/>
                </a:lnTo>
                <a:lnTo>
                  <a:pt x="114300" y="0"/>
                </a:lnTo>
                <a:lnTo>
                  <a:pt x="114300" y="43535"/>
                </a:lnTo>
                <a:lnTo>
                  <a:pt x="0" y="43535"/>
                </a:lnTo>
                <a:lnTo>
                  <a:pt x="0" y="132435"/>
                </a:lnTo>
                <a:lnTo>
                  <a:pt x="114300" y="132435"/>
                </a:lnTo>
                <a:lnTo>
                  <a:pt x="114300" y="175971"/>
                </a:lnTo>
                <a:close/>
              </a:path>
            </a:pathLst>
          </a:custGeom>
          <a:solidFill>
            <a:schemeClr val="accent1">
              <a:lumMod val="20000"/>
              <a:lumOff val="80000"/>
            </a:schemeClr>
          </a:solidFill>
          <a:ln>
            <a:solidFill>
              <a:schemeClr val="accent1"/>
            </a:solidFill>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90" name="矩形: 圆角 63"/>
          <p:cNvSpPr/>
          <p:nvPr/>
        </p:nvSpPr>
        <p:spPr>
          <a:xfrm>
            <a:off x="5683885" y="3604895"/>
            <a:ext cx="554990" cy="264160"/>
          </a:xfrm>
          <a:prstGeom prst="roundRect">
            <a:avLst>
              <a:gd name="adj" fmla="val 12000"/>
            </a:avLst>
          </a:prstGeom>
          <a:ln>
            <a:solidFill>
              <a:schemeClr val="accent1">
                <a:alpha val="70000"/>
              </a:schemeClr>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91" name="任意多边形: 形状 64"/>
          <p:cNvSpPr/>
          <p:nvPr/>
        </p:nvSpPr>
        <p:spPr>
          <a:xfrm>
            <a:off x="6278880" y="3645535"/>
            <a:ext cx="257810" cy="182880"/>
          </a:xfrm>
          <a:custGeom>
            <a:avLst/>
            <a:gdLst>
              <a:gd name="connsiteX0" fmla="*/ 114300 w 247650"/>
              <a:gd name="connsiteY0" fmla="*/ 175971 h 175971"/>
              <a:gd name="connsiteX1" fmla="*/ 247650 w 247650"/>
              <a:gd name="connsiteY1" fmla="*/ 87985 h 175971"/>
              <a:gd name="connsiteX2" fmla="*/ 114300 w 247650"/>
              <a:gd name="connsiteY2" fmla="*/ 0 h 175971"/>
              <a:gd name="connsiteX3" fmla="*/ 114300 w 247650"/>
              <a:gd name="connsiteY3" fmla="*/ 43535 h 175971"/>
              <a:gd name="connsiteX4" fmla="*/ 0 w 247650"/>
              <a:gd name="connsiteY4" fmla="*/ 43535 h 175971"/>
              <a:gd name="connsiteX5" fmla="*/ 0 w 247650"/>
              <a:gd name="connsiteY5" fmla="*/ 132435 h 175971"/>
              <a:gd name="connsiteX6" fmla="*/ 114300 w 247650"/>
              <a:gd name="connsiteY6" fmla="*/ 132435 h 175971"/>
              <a:gd name="connsiteX7" fmla="*/ 114300 w 247650"/>
              <a:gd name="connsiteY7" fmla="*/ 175971 h 175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650" h="175971">
                <a:moveTo>
                  <a:pt x="114300" y="175971"/>
                </a:moveTo>
                <a:lnTo>
                  <a:pt x="247650" y="87985"/>
                </a:lnTo>
                <a:lnTo>
                  <a:pt x="114300" y="0"/>
                </a:lnTo>
                <a:lnTo>
                  <a:pt x="114300" y="43535"/>
                </a:lnTo>
                <a:lnTo>
                  <a:pt x="0" y="43535"/>
                </a:lnTo>
                <a:lnTo>
                  <a:pt x="0" y="132435"/>
                </a:lnTo>
                <a:lnTo>
                  <a:pt x="114300" y="132435"/>
                </a:lnTo>
                <a:lnTo>
                  <a:pt x="114300" y="175971"/>
                </a:lnTo>
                <a:close/>
              </a:path>
            </a:pathLst>
          </a:custGeom>
          <a:solidFill>
            <a:schemeClr val="accent1">
              <a:lumMod val="20000"/>
              <a:lumOff val="80000"/>
            </a:schemeClr>
          </a:solidFill>
          <a:ln>
            <a:solidFill>
              <a:schemeClr val="accent1"/>
            </a:solidFill>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92" name="矩形: 圆角 65"/>
          <p:cNvSpPr/>
          <p:nvPr/>
        </p:nvSpPr>
        <p:spPr>
          <a:xfrm>
            <a:off x="6576060" y="3604895"/>
            <a:ext cx="554990" cy="264160"/>
          </a:xfrm>
          <a:prstGeom prst="roundRect">
            <a:avLst>
              <a:gd name="adj" fmla="val 12000"/>
            </a:avLst>
          </a:prstGeom>
          <a:ln>
            <a:solidFill>
              <a:schemeClr val="accent1">
                <a:alpha val="70000"/>
              </a:schemeClr>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93" name="任意多边形: 形状 66"/>
          <p:cNvSpPr/>
          <p:nvPr/>
        </p:nvSpPr>
        <p:spPr>
          <a:xfrm>
            <a:off x="7171055" y="3645535"/>
            <a:ext cx="257810" cy="182880"/>
          </a:xfrm>
          <a:custGeom>
            <a:avLst/>
            <a:gdLst>
              <a:gd name="connsiteX0" fmla="*/ 114300 w 247650"/>
              <a:gd name="connsiteY0" fmla="*/ 175971 h 175971"/>
              <a:gd name="connsiteX1" fmla="*/ 247650 w 247650"/>
              <a:gd name="connsiteY1" fmla="*/ 87985 h 175971"/>
              <a:gd name="connsiteX2" fmla="*/ 114300 w 247650"/>
              <a:gd name="connsiteY2" fmla="*/ 0 h 175971"/>
              <a:gd name="connsiteX3" fmla="*/ 114300 w 247650"/>
              <a:gd name="connsiteY3" fmla="*/ 43535 h 175971"/>
              <a:gd name="connsiteX4" fmla="*/ 0 w 247650"/>
              <a:gd name="connsiteY4" fmla="*/ 43535 h 175971"/>
              <a:gd name="connsiteX5" fmla="*/ 0 w 247650"/>
              <a:gd name="connsiteY5" fmla="*/ 132435 h 175971"/>
              <a:gd name="connsiteX6" fmla="*/ 114300 w 247650"/>
              <a:gd name="connsiteY6" fmla="*/ 132435 h 175971"/>
              <a:gd name="connsiteX7" fmla="*/ 114300 w 247650"/>
              <a:gd name="connsiteY7" fmla="*/ 175971 h 175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650" h="175971">
                <a:moveTo>
                  <a:pt x="114300" y="175971"/>
                </a:moveTo>
                <a:lnTo>
                  <a:pt x="247650" y="87985"/>
                </a:lnTo>
                <a:lnTo>
                  <a:pt x="114300" y="0"/>
                </a:lnTo>
                <a:lnTo>
                  <a:pt x="114300" y="43535"/>
                </a:lnTo>
                <a:lnTo>
                  <a:pt x="0" y="43535"/>
                </a:lnTo>
                <a:lnTo>
                  <a:pt x="0" y="132435"/>
                </a:lnTo>
                <a:lnTo>
                  <a:pt x="114300" y="132435"/>
                </a:lnTo>
                <a:lnTo>
                  <a:pt x="114300" y="175971"/>
                </a:lnTo>
                <a:close/>
              </a:path>
            </a:pathLst>
          </a:custGeom>
          <a:solidFill>
            <a:schemeClr val="accent1">
              <a:lumMod val="20000"/>
              <a:lumOff val="80000"/>
            </a:schemeClr>
          </a:solidFill>
          <a:ln>
            <a:solidFill>
              <a:schemeClr val="accent1"/>
            </a:solidFill>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194" name="任意多边形: 形状 72"/>
          <p:cNvSpPr/>
          <p:nvPr/>
        </p:nvSpPr>
        <p:spPr>
          <a:xfrm>
            <a:off x="7964170" y="4516755"/>
            <a:ext cx="257810" cy="182880"/>
          </a:xfrm>
          <a:custGeom>
            <a:avLst/>
            <a:gdLst>
              <a:gd name="connsiteX0" fmla="*/ 114300 w 247650"/>
              <a:gd name="connsiteY0" fmla="*/ 175978 h 175977"/>
              <a:gd name="connsiteX1" fmla="*/ 247650 w 247650"/>
              <a:gd name="connsiteY1" fmla="*/ 87986 h 175977"/>
              <a:gd name="connsiteX2" fmla="*/ 114300 w 247650"/>
              <a:gd name="connsiteY2" fmla="*/ 0 h 175977"/>
              <a:gd name="connsiteX3" fmla="*/ 114300 w 247650"/>
              <a:gd name="connsiteY3" fmla="*/ 43536 h 175977"/>
              <a:gd name="connsiteX4" fmla="*/ 0 w 247650"/>
              <a:gd name="connsiteY4" fmla="*/ 43536 h 175977"/>
              <a:gd name="connsiteX5" fmla="*/ 0 w 247650"/>
              <a:gd name="connsiteY5" fmla="*/ 132436 h 175977"/>
              <a:gd name="connsiteX6" fmla="*/ 114300 w 247650"/>
              <a:gd name="connsiteY6" fmla="*/ 132436 h 175977"/>
              <a:gd name="connsiteX7" fmla="*/ 114300 w 247650"/>
              <a:gd name="connsiteY7" fmla="*/ 175978 h 17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650" h="175977">
                <a:moveTo>
                  <a:pt x="114300" y="175978"/>
                </a:moveTo>
                <a:lnTo>
                  <a:pt x="247650" y="87986"/>
                </a:lnTo>
                <a:lnTo>
                  <a:pt x="114300" y="0"/>
                </a:lnTo>
                <a:lnTo>
                  <a:pt x="114300" y="43536"/>
                </a:lnTo>
                <a:lnTo>
                  <a:pt x="0" y="43536"/>
                </a:lnTo>
                <a:lnTo>
                  <a:pt x="0" y="132436"/>
                </a:lnTo>
                <a:lnTo>
                  <a:pt x="114300" y="132436"/>
                </a:lnTo>
                <a:lnTo>
                  <a:pt x="114300" y="175978"/>
                </a:lnTo>
                <a:close/>
              </a:path>
            </a:pathLst>
          </a:custGeom>
          <a:gradFill flip="none" rotWithShape="1">
            <a:gsLst>
              <a:gs pos="0">
                <a:schemeClr val="accent5">
                  <a:lumMod val="60000"/>
                  <a:lumOff val="40000"/>
                  <a:alpha val="0"/>
                </a:schemeClr>
              </a:gs>
              <a:gs pos="84000">
                <a:schemeClr val="accent5">
                  <a:lumMod val="60000"/>
                  <a:lumOff val="40000"/>
                </a:schemeClr>
              </a:gs>
            </a:gsLst>
            <a:lin ang="16200000" scaled="1"/>
            <a:tileRect/>
          </a:gradFill>
          <a:ln>
            <a:noFill/>
          </a:ln>
          <a:effectLst/>
        </p:spPr>
        <p:style>
          <a:lnRef idx="0">
            <a:scrgbClr r="0" g="0" b="0"/>
          </a:lnRef>
          <a:fillRef idx="0">
            <a:scrgbClr r="0" g="0" b="0"/>
          </a:fillRef>
          <a:effectRef idx="0">
            <a:scrgbClr r="0" g="0" b="0"/>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sym typeface="+mn-ea"/>
            </a:endParaRPr>
          </a:p>
        </p:txBody>
      </p:sp>
      <p:sp>
        <p:nvSpPr>
          <p:cNvPr id="195" name="任意多边形: 形状 73"/>
          <p:cNvSpPr/>
          <p:nvPr/>
        </p:nvSpPr>
        <p:spPr>
          <a:xfrm>
            <a:off x="10072370" y="3981450"/>
            <a:ext cx="182880" cy="257810"/>
          </a:xfrm>
          <a:custGeom>
            <a:avLst/>
            <a:gdLst>
              <a:gd name="connsiteX0" fmla="*/ 175958 w 175958"/>
              <a:gd name="connsiteY0" fmla="*/ 133350 h 247650"/>
              <a:gd name="connsiteX1" fmla="*/ 88011 w 175958"/>
              <a:gd name="connsiteY1" fmla="*/ 0 h 247650"/>
              <a:gd name="connsiteX2" fmla="*/ 0 w 175958"/>
              <a:gd name="connsiteY2" fmla="*/ 133350 h 247650"/>
              <a:gd name="connsiteX3" fmla="*/ 43561 w 175958"/>
              <a:gd name="connsiteY3" fmla="*/ 133350 h 247650"/>
              <a:gd name="connsiteX4" fmla="*/ 43561 w 175958"/>
              <a:gd name="connsiteY4" fmla="*/ 247650 h 247650"/>
              <a:gd name="connsiteX5" fmla="*/ 132461 w 175958"/>
              <a:gd name="connsiteY5" fmla="*/ 247650 h 247650"/>
              <a:gd name="connsiteX6" fmla="*/ 132461 w 175958"/>
              <a:gd name="connsiteY6" fmla="*/ 133350 h 247650"/>
              <a:gd name="connsiteX7" fmla="*/ 175958 w 175958"/>
              <a:gd name="connsiteY7" fmla="*/ 13335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5958" h="247650">
                <a:moveTo>
                  <a:pt x="175958" y="133350"/>
                </a:moveTo>
                <a:lnTo>
                  <a:pt x="88011" y="0"/>
                </a:lnTo>
                <a:lnTo>
                  <a:pt x="0" y="133350"/>
                </a:lnTo>
                <a:lnTo>
                  <a:pt x="43561" y="133350"/>
                </a:lnTo>
                <a:lnTo>
                  <a:pt x="43561" y="247650"/>
                </a:lnTo>
                <a:lnTo>
                  <a:pt x="132461" y="247650"/>
                </a:lnTo>
                <a:lnTo>
                  <a:pt x="132461" y="133350"/>
                </a:lnTo>
                <a:lnTo>
                  <a:pt x="175958" y="133350"/>
                </a:lnTo>
                <a:close/>
              </a:path>
            </a:pathLst>
          </a:custGeom>
          <a:gradFill flip="none" rotWithShape="1">
            <a:gsLst>
              <a:gs pos="0">
                <a:schemeClr val="accent5">
                  <a:lumMod val="60000"/>
                  <a:lumOff val="40000"/>
                  <a:alpha val="0"/>
                </a:schemeClr>
              </a:gs>
              <a:gs pos="84000">
                <a:schemeClr val="accent5">
                  <a:lumMod val="60000"/>
                  <a:lumOff val="40000"/>
                </a:schemeClr>
              </a:gs>
            </a:gsLst>
            <a:lin ang="16200000" scaled="1"/>
            <a:tileRect/>
          </a:gradFill>
          <a:ln>
            <a:noFill/>
          </a:ln>
          <a:effectLst/>
        </p:spPr>
        <p:style>
          <a:lnRef idx="0">
            <a:scrgbClr r="0" g="0" b="0"/>
          </a:lnRef>
          <a:fillRef idx="0">
            <a:scrgbClr r="0" g="0" b="0"/>
          </a:fillRef>
          <a:effectRef idx="0">
            <a:scrgbClr r="0" g="0" b="0"/>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sym typeface="+mn-ea"/>
            </a:endParaRPr>
          </a:p>
        </p:txBody>
      </p:sp>
      <p:sp>
        <p:nvSpPr>
          <p:cNvPr id="196" name="任意多边形: 形状 80"/>
          <p:cNvSpPr/>
          <p:nvPr/>
        </p:nvSpPr>
        <p:spPr>
          <a:xfrm>
            <a:off x="7065010" y="3981450"/>
            <a:ext cx="182880" cy="257810"/>
          </a:xfrm>
          <a:custGeom>
            <a:avLst/>
            <a:gdLst>
              <a:gd name="connsiteX0" fmla="*/ 175958 w 175958"/>
              <a:gd name="connsiteY0" fmla="*/ 133350 h 247650"/>
              <a:gd name="connsiteX1" fmla="*/ 88011 w 175958"/>
              <a:gd name="connsiteY1" fmla="*/ 0 h 247650"/>
              <a:gd name="connsiteX2" fmla="*/ 0 w 175958"/>
              <a:gd name="connsiteY2" fmla="*/ 133350 h 247650"/>
              <a:gd name="connsiteX3" fmla="*/ 43561 w 175958"/>
              <a:gd name="connsiteY3" fmla="*/ 133350 h 247650"/>
              <a:gd name="connsiteX4" fmla="*/ 43561 w 175958"/>
              <a:gd name="connsiteY4" fmla="*/ 247650 h 247650"/>
              <a:gd name="connsiteX5" fmla="*/ 132461 w 175958"/>
              <a:gd name="connsiteY5" fmla="*/ 247650 h 247650"/>
              <a:gd name="connsiteX6" fmla="*/ 132461 w 175958"/>
              <a:gd name="connsiteY6" fmla="*/ 133350 h 247650"/>
              <a:gd name="connsiteX7" fmla="*/ 175958 w 175958"/>
              <a:gd name="connsiteY7" fmla="*/ 13335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5958" h="247650">
                <a:moveTo>
                  <a:pt x="175958" y="133350"/>
                </a:moveTo>
                <a:lnTo>
                  <a:pt x="88011" y="0"/>
                </a:lnTo>
                <a:lnTo>
                  <a:pt x="0" y="133350"/>
                </a:lnTo>
                <a:lnTo>
                  <a:pt x="43561" y="133350"/>
                </a:lnTo>
                <a:lnTo>
                  <a:pt x="43561" y="247650"/>
                </a:lnTo>
                <a:lnTo>
                  <a:pt x="132461" y="247650"/>
                </a:lnTo>
                <a:lnTo>
                  <a:pt x="132461" y="133350"/>
                </a:lnTo>
                <a:lnTo>
                  <a:pt x="175958" y="133350"/>
                </a:lnTo>
                <a:close/>
              </a:path>
            </a:pathLst>
          </a:custGeom>
          <a:gradFill flip="none" rotWithShape="1">
            <a:gsLst>
              <a:gs pos="0">
                <a:schemeClr val="accent5">
                  <a:lumMod val="60000"/>
                  <a:lumOff val="40000"/>
                  <a:alpha val="0"/>
                </a:schemeClr>
              </a:gs>
              <a:gs pos="84000">
                <a:schemeClr val="accent5">
                  <a:lumMod val="60000"/>
                  <a:lumOff val="40000"/>
                </a:schemeClr>
              </a:gs>
            </a:gsLst>
            <a:lin ang="16200000" scaled="1"/>
            <a:tileRect/>
          </a:gradFill>
          <a:ln>
            <a:noFill/>
          </a:ln>
          <a:effectLst/>
        </p:spPr>
        <p:style>
          <a:lnRef idx="0">
            <a:scrgbClr r="0" g="0" b="0"/>
          </a:lnRef>
          <a:fillRef idx="0">
            <a:scrgbClr r="0" g="0" b="0"/>
          </a:fillRef>
          <a:effectRef idx="0">
            <a:scrgbClr r="0" g="0" b="0"/>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sym typeface="+mn-ea"/>
            </a:endParaRPr>
          </a:p>
        </p:txBody>
      </p:sp>
      <p:sp>
        <p:nvSpPr>
          <p:cNvPr id="197" name="任意多边形: 形状 81"/>
          <p:cNvSpPr/>
          <p:nvPr/>
        </p:nvSpPr>
        <p:spPr>
          <a:xfrm>
            <a:off x="5948045" y="3981450"/>
            <a:ext cx="182880" cy="257810"/>
          </a:xfrm>
          <a:custGeom>
            <a:avLst/>
            <a:gdLst>
              <a:gd name="connsiteX0" fmla="*/ 175978 w 175977"/>
              <a:gd name="connsiteY0" fmla="*/ 133350 h 247650"/>
              <a:gd name="connsiteX1" fmla="*/ 87986 w 175977"/>
              <a:gd name="connsiteY1" fmla="*/ 0 h 247650"/>
              <a:gd name="connsiteX2" fmla="*/ 0 w 175977"/>
              <a:gd name="connsiteY2" fmla="*/ 133350 h 247650"/>
              <a:gd name="connsiteX3" fmla="*/ 43536 w 175977"/>
              <a:gd name="connsiteY3" fmla="*/ 133350 h 247650"/>
              <a:gd name="connsiteX4" fmla="*/ 43536 w 175977"/>
              <a:gd name="connsiteY4" fmla="*/ 247650 h 247650"/>
              <a:gd name="connsiteX5" fmla="*/ 132436 w 175977"/>
              <a:gd name="connsiteY5" fmla="*/ 247650 h 247650"/>
              <a:gd name="connsiteX6" fmla="*/ 132436 w 175977"/>
              <a:gd name="connsiteY6" fmla="*/ 133350 h 247650"/>
              <a:gd name="connsiteX7" fmla="*/ 175978 w 175977"/>
              <a:gd name="connsiteY7" fmla="*/ 13335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5977" h="247650">
                <a:moveTo>
                  <a:pt x="175978" y="133350"/>
                </a:moveTo>
                <a:lnTo>
                  <a:pt x="87986" y="0"/>
                </a:lnTo>
                <a:lnTo>
                  <a:pt x="0" y="133350"/>
                </a:lnTo>
                <a:lnTo>
                  <a:pt x="43536" y="133350"/>
                </a:lnTo>
                <a:lnTo>
                  <a:pt x="43536" y="247650"/>
                </a:lnTo>
                <a:lnTo>
                  <a:pt x="132436" y="247650"/>
                </a:lnTo>
                <a:lnTo>
                  <a:pt x="132436" y="133350"/>
                </a:lnTo>
                <a:lnTo>
                  <a:pt x="175978" y="133350"/>
                </a:lnTo>
                <a:close/>
              </a:path>
            </a:pathLst>
          </a:custGeom>
          <a:gradFill flip="none" rotWithShape="1">
            <a:gsLst>
              <a:gs pos="0">
                <a:schemeClr val="accent5">
                  <a:lumMod val="60000"/>
                  <a:lumOff val="40000"/>
                  <a:alpha val="0"/>
                </a:schemeClr>
              </a:gs>
              <a:gs pos="84000">
                <a:schemeClr val="accent5">
                  <a:lumMod val="60000"/>
                  <a:lumOff val="40000"/>
                </a:schemeClr>
              </a:gs>
            </a:gsLst>
            <a:lin ang="16200000" scaled="1"/>
            <a:tileRect/>
          </a:gradFill>
          <a:ln>
            <a:noFill/>
          </a:ln>
          <a:effectLst/>
        </p:spPr>
        <p:style>
          <a:lnRef idx="0">
            <a:scrgbClr r="0" g="0" b="0"/>
          </a:lnRef>
          <a:fillRef idx="0">
            <a:scrgbClr r="0" g="0" b="0"/>
          </a:fillRef>
          <a:effectRef idx="0">
            <a:scrgbClr r="0" g="0" b="0"/>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sym typeface="+mn-ea"/>
            </a:endParaRPr>
          </a:p>
        </p:txBody>
      </p:sp>
      <p:sp>
        <p:nvSpPr>
          <p:cNvPr id="198" name="任意多边形: 形状 83"/>
          <p:cNvSpPr/>
          <p:nvPr/>
        </p:nvSpPr>
        <p:spPr>
          <a:xfrm>
            <a:off x="4838065" y="3981450"/>
            <a:ext cx="182880" cy="257810"/>
          </a:xfrm>
          <a:custGeom>
            <a:avLst/>
            <a:gdLst>
              <a:gd name="connsiteX0" fmla="*/ 175978 w 175977"/>
              <a:gd name="connsiteY0" fmla="*/ 133350 h 247650"/>
              <a:gd name="connsiteX1" fmla="*/ 87986 w 175977"/>
              <a:gd name="connsiteY1" fmla="*/ 0 h 247650"/>
              <a:gd name="connsiteX2" fmla="*/ 0 w 175977"/>
              <a:gd name="connsiteY2" fmla="*/ 133350 h 247650"/>
              <a:gd name="connsiteX3" fmla="*/ 43536 w 175977"/>
              <a:gd name="connsiteY3" fmla="*/ 133350 h 247650"/>
              <a:gd name="connsiteX4" fmla="*/ 43536 w 175977"/>
              <a:gd name="connsiteY4" fmla="*/ 247650 h 247650"/>
              <a:gd name="connsiteX5" fmla="*/ 132436 w 175977"/>
              <a:gd name="connsiteY5" fmla="*/ 247650 h 247650"/>
              <a:gd name="connsiteX6" fmla="*/ 132436 w 175977"/>
              <a:gd name="connsiteY6" fmla="*/ 133350 h 247650"/>
              <a:gd name="connsiteX7" fmla="*/ 175978 w 175977"/>
              <a:gd name="connsiteY7" fmla="*/ 13335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5977" h="247650">
                <a:moveTo>
                  <a:pt x="175978" y="133350"/>
                </a:moveTo>
                <a:lnTo>
                  <a:pt x="87986" y="0"/>
                </a:lnTo>
                <a:lnTo>
                  <a:pt x="0" y="133350"/>
                </a:lnTo>
                <a:lnTo>
                  <a:pt x="43536" y="133350"/>
                </a:lnTo>
                <a:lnTo>
                  <a:pt x="43536" y="247650"/>
                </a:lnTo>
                <a:lnTo>
                  <a:pt x="132436" y="247650"/>
                </a:lnTo>
                <a:lnTo>
                  <a:pt x="132436" y="133350"/>
                </a:lnTo>
                <a:lnTo>
                  <a:pt x="175978" y="133350"/>
                </a:lnTo>
                <a:close/>
              </a:path>
            </a:pathLst>
          </a:custGeom>
          <a:gradFill flip="none" rotWithShape="1">
            <a:gsLst>
              <a:gs pos="0">
                <a:schemeClr val="accent5">
                  <a:lumMod val="60000"/>
                  <a:lumOff val="40000"/>
                  <a:alpha val="0"/>
                </a:schemeClr>
              </a:gs>
              <a:gs pos="84000">
                <a:schemeClr val="accent5">
                  <a:lumMod val="60000"/>
                  <a:lumOff val="40000"/>
                </a:schemeClr>
              </a:gs>
            </a:gsLst>
            <a:lin ang="16200000" scaled="1"/>
            <a:tileRect/>
          </a:gradFill>
          <a:ln>
            <a:noFill/>
          </a:ln>
          <a:effectLst/>
        </p:spPr>
        <p:style>
          <a:lnRef idx="0">
            <a:scrgbClr r="0" g="0" b="0"/>
          </a:lnRef>
          <a:fillRef idx="0">
            <a:scrgbClr r="0" g="0" b="0"/>
          </a:fillRef>
          <a:effectRef idx="0">
            <a:scrgbClr r="0" g="0" b="0"/>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sym typeface="+mn-ea"/>
            </a:endParaRPr>
          </a:p>
        </p:txBody>
      </p:sp>
      <p:sp>
        <p:nvSpPr>
          <p:cNvPr id="199" name="任意多边形: 形状 84"/>
          <p:cNvSpPr/>
          <p:nvPr/>
        </p:nvSpPr>
        <p:spPr>
          <a:xfrm>
            <a:off x="3701415" y="3981450"/>
            <a:ext cx="182880" cy="257810"/>
          </a:xfrm>
          <a:custGeom>
            <a:avLst/>
            <a:gdLst>
              <a:gd name="connsiteX0" fmla="*/ 175978 w 175977"/>
              <a:gd name="connsiteY0" fmla="*/ 133350 h 247650"/>
              <a:gd name="connsiteX1" fmla="*/ 87986 w 175977"/>
              <a:gd name="connsiteY1" fmla="*/ 0 h 247650"/>
              <a:gd name="connsiteX2" fmla="*/ 0 w 175977"/>
              <a:gd name="connsiteY2" fmla="*/ 133350 h 247650"/>
              <a:gd name="connsiteX3" fmla="*/ 43536 w 175977"/>
              <a:gd name="connsiteY3" fmla="*/ 133350 h 247650"/>
              <a:gd name="connsiteX4" fmla="*/ 43536 w 175977"/>
              <a:gd name="connsiteY4" fmla="*/ 247650 h 247650"/>
              <a:gd name="connsiteX5" fmla="*/ 132436 w 175977"/>
              <a:gd name="connsiteY5" fmla="*/ 247650 h 247650"/>
              <a:gd name="connsiteX6" fmla="*/ 132436 w 175977"/>
              <a:gd name="connsiteY6" fmla="*/ 133350 h 247650"/>
              <a:gd name="connsiteX7" fmla="*/ 175978 w 175977"/>
              <a:gd name="connsiteY7" fmla="*/ 13335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5977" h="247650">
                <a:moveTo>
                  <a:pt x="175978" y="133350"/>
                </a:moveTo>
                <a:lnTo>
                  <a:pt x="87986" y="0"/>
                </a:lnTo>
                <a:lnTo>
                  <a:pt x="0" y="133350"/>
                </a:lnTo>
                <a:lnTo>
                  <a:pt x="43536" y="133350"/>
                </a:lnTo>
                <a:lnTo>
                  <a:pt x="43536" y="247650"/>
                </a:lnTo>
                <a:lnTo>
                  <a:pt x="132436" y="247650"/>
                </a:lnTo>
                <a:lnTo>
                  <a:pt x="132436" y="133350"/>
                </a:lnTo>
                <a:lnTo>
                  <a:pt x="175978" y="133350"/>
                </a:lnTo>
                <a:close/>
              </a:path>
            </a:pathLst>
          </a:custGeom>
          <a:gradFill flip="none" rotWithShape="1">
            <a:gsLst>
              <a:gs pos="0">
                <a:schemeClr val="accent5">
                  <a:lumMod val="60000"/>
                  <a:lumOff val="40000"/>
                  <a:alpha val="0"/>
                </a:schemeClr>
              </a:gs>
              <a:gs pos="84000">
                <a:schemeClr val="accent5">
                  <a:lumMod val="60000"/>
                  <a:lumOff val="40000"/>
                </a:schemeClr>
              </a:gs>
            </a:gsLst>
            <a:lin ang="16200000" scaled="1"/>
            <a:tileRect/>
          </a:gradFill>
          <a:ln>
            <a:noFill/>
          </a:ln>
          <a:effectLst/>
        </p:spPr>
        <p:style>
          <a:lnRef idx="0">
            <a:scrgbClr r="0" g="0" b="0"/>
          </a:lnRef>
          <a:fillRef idx="0">
            <a:scrgbClr r="0" g="0" b="0"/>
          </a:fillRef>
          <a:effectRef idx="0">
            <a:scrgbClr r="0" g="0" b="0"/>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sym typeface="+mn-ea"/>
            </a:endParaRPr>
          </a:p>
        </p:txBody>
      </p:sp>
      <p:sp>
        <p:nvSpPr>
          <p:cNvPr id="200" name="任意多边形: 形状 85"/>
          <p:cNvSpPr/>
          <p:nvPr/>
        </p:nvSpPr>
        <p:spPr>
          <a:xfrm>
            <a:off x="2644140" y="3981450"/>
            <a:ext cx="182880" cy="257810"/>
          </a:xfrm>
          <a:custGeom>
            <a:avLst/>
            <a:gdLst>
              <a:gd name="connsiteX0" fmla="*/ 175978 w 175977"/>
              <a:gd name="connsiteY0" fmla="*/ 133350 h 247650"/>
              <a:gd name="connsiteX1" fmla="*/ 87986 w 175977"/>
              <a:gd name="connsiteY1" fmla="*/ 0 h 247650"/>
              <a:gd name="connsiteX2" fmla="*/ 0 w 175977"/>
              <a:gd name="connsiteY2" fmla="*/ 133350 h 247650"/>
              <a:gd name="connsiteX3" fmla="*/ 43536 w 175977"/>
              <a:gd name="connsiteY3" fmla="*/ 133350 h 247650"/>
              <a:gd name="connsiteX4" fmla="*/ 43536 w 175977"/>
              <a:gd name="connsiteY4" fmla="*/ 247650 h 247650"/>
              <a:gd name="connsiteX5" fmla="*/ 132436 w 175977"/>
              <a:gd name="connsiteY5" fmla="*/ 247650 h 247650"/>
              <a:gd name="connsiteX6" fmla="*/ 132436 w 175977"/>
              <a:gd name="connsiteY6" fmla="*/ 133350 h 247650"/>
              <a:gd name="connsiteX7" fmla="*/ 175978 w 175977"/>
              <a:gd name="connsiteY7" fmla="*/ 13335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5977" h="247650">
                <a:moveTo>
                  <a:pt x="175978" y="133350"/>
                </a:moveTo>
                <a:lnTo>
                  <a:pt x="87986" y="0"/>
                </a:lnTo>
                <a:lnTo>
                  <a:pt x="0" y="133350"/>
                </a:lnTo>
                <a:lnTo>
                  <a:pt x="43536" y="133350"/>
                </a:lnTo>
                <a:lnTo>
                  <a:pt x="43536" y="247650"/>
                </a:lnTo>
                <a:lnTo>
                  <a:pt x="132436" y="247650"/>
                </a:lnTo>
                <a:lnTo>
                  <a:pt x="132436" y="133350"/>
                </a:lnTo>
                <a:lnTo>
                  <a:pt x="175978" y="133350"/>
                </a:lnTo>
                <a:close/>
              </a:path>
            </a:pathLst>
          </a:custGeom>
          <a:gradFill flip="none" rotWithShape="1">
            <a:gsLst>
              <a:gs pos="0">
                <a:schemeClr val="accent5">
                  <a:lumMod val="60000"/>
                  <a:lumOff val="40000"/>
                  <a:alpha val="0"/>
                </a:schemeClr>
              </a:gs>
              <a:gs pos="84000">
                <a:schemeClr val="accent5">
                  <a:lumMod val="60000"/>
                  <a:lumOff val="40000"/>
                </a:schemeClr>
              </a:gs>
            </a:gsLst>
            <a:lin ang="16200000" scaled="1"/>
            <a:tileRect/>
          </a:gradFill>
          <a:ln>
            <a:noFill/>
          </a:ln>
          <a:effectLst/>
        </p:spPr>
        <p:style>
          <a:lnRef idx="0">
            <a:scrgbClr r="0" g="0" b="0"/>
          </a:lnRef>
          <a:fillRef idx="0">
            <a:scrgbClr r="0" g="0" b="0"/>
          </a:fillRef>
          <a:effectRef idx="0">
            <a:scrgbClr r="0" g="0" b="0"/>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sym typeface="+mn-ea"/>
            </a:endParaRPr>
          </a:p>
        </p:txBody>
      </p:sp>
      <p:sp>
        <p:nvSpPr>
          <p:cNvPr id="201" name="任意多边形: 形状 86"/>
          <p:cNvSpPr/>
          <p:nvPr/>
        </p:nvSpPr>
        <p:spPr>
          <a:xfrm>
            <a:off x="1533525" y="3981450"/>
            <a:ext cx="182880" cy="257810"/>
          </a:xfrm>
          <a:custGeom>
            <a:avLst/>
            <a:gdLst>
              <a:gd name="connsiteX0" fmla="*/ 175978 w 175977"/>
              <a:gd name="connsiteY0" fmla="*/ 133350 h 247650"/>
              <a:gd name="connsiteX1" fmla="*/ 87986 w 175977"/>
              <a:gd name="connsiteY1" fmla="*/ 0 h 247650"/>
              <a:gd name="connsiteX2" fmla="*/ 0 w 175977"/>
              <a:gd name="connsiteY2" fmla="*/ 133350 h 247650"/>
              <a:gd name="connsiteX3" fmla="*/ 43536 w 175977"/>
              <a:gd name="connsiteY3" fmla="*/ 133350 h 247650"/>
              <a:gd name="connsiteX4" fmla="*/ 43536 w 175977"/>
              <a:gd name="connsiteY4" fmla="*/ 247650 h 247650"/>
              <a:gd name="connsiteX5" fmla="*/ 132436 w 175977"/>
              <a:gd name="connsiteY5" fmla="*/ 247650 h 247650"/>
              <a:gd name="connsiteX6" fmla="*/ 132436 w 175977"/>
              <a:gd name="connsiteY6" fmla="*/ 133350 h 247650"/>
              <a:gd name="connsiteX7" fmla="*/ 175978 w 175977"/>
              <a:gd name="connsiteY7" fmla="*/ 133350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5977" h="247650">
                <a:moveTo>
                  <a:pt x="175978" y="133350"/>
                </a:moveTo>
                <a:lnTo>
                  <a:pt x="87986" y="0"/>
                </a:lnTo>
                <a:lnTo>
                  <a:pt x="0" y="133350"/>
                </a:lnTo>
                <a:lnTo>
                  <a:pt x="43536" y="133350"/>
                </a:lnTo>
                <a:lnTo>
                  <a:pt x="43536" y="247650"/>
                </a:lnTo>
                <a:lnTo>
                  <a:pt x="132436" y="247650"/>
                </a:lnTo>
                <a:lnTo>
                  <a:pt x="132436" y="133350"/>
                </a:lnTo>
                <a:lnTo>
                  <a:pt x="175978" y="133350"/>
                </a:lnTo>
                <a:close/>
              </a:path>
            </a:pathLst>
          </a:custGeom>
          <a:gradFill flip="none" rotWithShape="1">
            <a:gsLst>
              <a:gs pos="0">
                <a:schemeClr val="accent5">
                  <a:lumMod val="60000"/>
                  <a:lumOff val="40000"/>
                  <a:alpha val="0"/>
                </a:schemeClr>
              </a:gs>
              <a:gs pos="84000">
                <a:schemeClr val="accent5">
                  <a:lumMod val="60000"/>
                  <a:lumOff val="40000"/>
                </a:schemeClr>
              </a:gs>
            </a:gsLst>
            <a:lin ang="16200000" scaled="1"/>
            <a:tileRect/>
          </a:gradFill>
          <a:ln>
            <a:noFill/>
          </a:ln>
          <a:effectLst/>
        </p:spPr>
        <p:style>
          <a:lnRef idx="0">
            <a:scrgbClr r="0" g="0" b="0"/>
          </a:lnRef>
          <a:fillRef idx="0">
            <a:scrgbClr r="0" g="0" b="0"/>
          </a:fillRef>
          <a:effectRef idx="0">
            <a:scrgbClr r="0" g="0" b="0"/>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100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endParaRPr>
          </a:p>
        </p:txBody>
      </p:sp>
      <p:sp>
        <p:nvSpPr>
          <p:cNvPr id="202" name="任意多边形: 形状 87"/>
          <p:cNvSpPr/>
          <p:nvPr/>
        </p:nvSpPr>
        <p:spPr>
          <a:xfrm>
            <a:off x="7964170" y="5052060"/>
            <a:ext cx="257810" cy="182880"/>
          </a:xfrm>
          <a:custGeom>
            <a:avLst/>
            <a:gdLst>
              <a:gd name="connsiteX0" fmla="*/ 114300 w 247650"/>
              <a:gd name="connsiteY0" fmla="*/ 175978 h 175977"/>
              <a:gd name="connsiteX1" fmla="*/ 247650 w 247650"/>
              <a:gd name="connsiteY1" fmla="*/ 87986 h 175977"/>
              <a:gd name="connsiteX2" fmla="*/ 114300 w 247650"/>
              <a:gd name="connsiteY2" fmla="*/ 0 h 175977"/>
              <a:gd name="connsiteX3" fmla="*/ 114300 w 247650"/>
              <a:gd name="connsiteY3" fmla="*/ 43536 h 175977"/>
              <a:gd name="connsiteX4" fmla="*/ 0 w 247650"/>
              <a:gd name="connsiteY4" fmla="*/ 43536 h 175977"/>
              <a:gd name="connsiteX5" fmla="*/ 0 w 247650"/>
              <a:gd name="connsiteY5" fmla="*/ 132436 h 175977"/>
              <a:gd name="connsiteX6" fmla="*/ 114300 w 247650"/>
              <a:gd name="connsiteY6" fmla="*/ 132436 h 175977"/>
              <a:gd name="connsiteX7" fmla="*/ 114300 w 247650"/>
              <a:gd name="connsiteY7" fmla="*/ 175978 h 175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650" h="175977">
                <a:moveTo>
                  <a:pt x="114300" y="175978"/>
                </a:moveTo>
                <a:lnTo>
                  <a:pt x="247650" y="87986"/>
                </a:lnTo>
                <a:lnTo>
                  <a:pt x="114300" y="0"/>
                </a:lnTo>
                <a:lnTo>
                  <a:pt x="114300" y="43536"/>
                </a:lnTo>
                <a:lnTo>
                  <a:pt x="0" y="43536"/>
                </a:lnTo>
                <a:lnTo>
                  <a:pt x="0" y="132436"/>
                </a:lnTo>
                <a:lnTo>
                  <a:pt x="114300" y="132436"/>
                </a:lnTo>
                <a:lnTo>
                  <a:pt x="114300" y="175978"/>
                </a:lnTo>
                <a:close/>
              </a:path>
            </a:pathLst>
          </a:custGeom>
          <a:gradFill flip="none" rotWithShape="1">
            <a:gsLst>
              <a:gs pos="0">
                <a:schemeClr val="accent5">
                  <a:lumMod val="60000"/>
                  <a:lumOff val="40000"/>
                  <a:alpha val="0"/>
                </a:schemeClr>
              </a:gs>
              <a:gs pos="84000">
                <a:schemeClr val="accent5">
                  <a:lumMod val="60000"/>
                  <a:lumOff val="40000"/>
                </a:schemeClr>
              </a:gs>
            </a:gsLst>
            <a:lin ang="16200000" scaled="1"/>
            <a:tileRect/>
          </a:gradFill>
          <a:ln>
            <a:noFill/>
          </a:ln>
          <a:effectLst/>
        </p:spPr>
        <p:style>
          <a:lnRef idx="0">
            <a:scrgbClr r="0" g="0" b="0"/>
          </a:lnRef>
          <a:fillRef idx="0">
            <a:scrgbClr r="0" g="0" b="0"/>
          </a:fillRef>
          <a:effectRef idx="0">
            <a:scrgbClr r="0" g="0" b="0"/>
          </a:effectRef>
          <a:fontRef idx="minor">
            <a:srgbClr val="FFFFFF"/>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a:gradFill flip="none" rotWithShape="1">
                <a:gsLst>
                  <a:gs pos="0">
                    <a:srgbClr val="2254F4"/>
                  </a:gs>
                  <a:gs pos="100000">
                    <a:srgbClr val="2254F4">
                      <a:lumMod val="60000"/>
                      <a:lumOff val="40000"/>
                    </a:srgbClr>
                  </a:gs>
                </a:gsLst>
                <a:lin ang="16200000" scaled="1"/>
                <a:tileRect/>
              </a:gradFill>
              <a:latin typeface="微软雅黑" panose="020B0503020204020204" charset="-122"/>
              <a:ea typeface="微软雅黑" panose="020B0503020204020204" charset="-122"/>
              <a:cs typeface="微软雅黑" panose="020B0503020204020204" charset="-122"/>
              <a:sym typeface="+mn-ea"/>
            </a:endParaRPr>
          </a:p>
        </p:txBody>
      </p:sp>
      <p:sp>
        <p:nvSpPr>
          <p:cNvPr id="203" name="矩形: 圆角 91"/>
          <p:cNvSpPr/>
          <p:nvPr/>
        </p:nvSpPr>
        <p:spPr>
          <a:xfrm>
            <a:off x="7468235" y="3604895"/>
            <a:ext cx="661035" cy="264160"/>
          </a:xfrm>
          <a:prstGeom prst="roundRect">
            <a:avLst>
              <a:gd name="adj" fmla="val 12000"/>
            </a:avLst>
          </a:prstGeom>
          <a:ln>
            <a:solidFill>
              <a:schemeClr val="accent1">
                <a:alpha val="70000"/>
              </a:schemeClr>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04" name="矩形: 圆角 92"/>
          <p:cNvSpPr/>
          <p:nvPr/>
        </p:nvSpPr>
        <p:spPr>
          <a:xfrm>
            <a:off x="8552180" y="3604895"/>
            <a:ext cx="554990" cy="264160"/>
          </a:xfrm>
          <a:prstGeom prst="roundRect">
            <a:avLst>
              <a:gd name="adj" fmla="val 12000"/>
            </a:avLst>
          </a:prstGeom>
          <a:ln>
            <a:solidFill>
              <a:schemeClr val="accent1">
                <a:alpha val="70000"/>
              </a:schemeClr>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05" name="任意多边形: 形状 93"/>
          <p:cNvSpPr/>
          <p:nvPr/>
        </p:nvSpPr>
        <p:spPr>
          <a:xfrm>
            <a:off x="9147175" y="3645535"/>
            <a:ext cx="257810" cy="182880"/>
          </a:xfrm>
          <a:custGeom>
            <a:avLst/>
            <a:gdLst>
              <a:gd name="connsiteX0" fmla="*/ 114300 w 247650"/>
              <a:gd name="connsiteY0" fmla="*/ 175971 h 175971"/>
              <a:gd name="connsiteX1" fmla="*/ 247650 w 247650"/>
              <a:gd name="connsiteY1" fmla="*/ 87985 h 175971"/>
              <a:gd name="connsiteX2" fmla="*/ 114300 w 247650"/>
              <a:gd name="connsiteY2" fmla="*/ 0 h 175971"/>
              <a:gd name="connsiteX3" fmla="*/ 114300 w 247650"/>
              <a:gd name="connsiteY3" fmla="*/ 43535 h 175971"/>
              <a:gd name="connsiteX4" fmla="*/ 0 w 247650"/>
              <a:gd name="connsiteY4" fmla="*/ 43535 h 175971"/>
              <a:gd name="connsiteX5" fmla="*/ 0 w 247650"/>
              <a:gd name="connsiteY5" fmla="*/ 132435 h 175971"/>
              <a:gd name="connsiteX6" fmla="*/ 114300 w 247650"/>
              <a:gd name="connsiteY6" fmla="*/ 132435 h 175971"/>
              <a:gd name="connsiteX7" fmla="*/ 114300 w 247650"/>
              <a:gd name="connsiteY7" fmla="*/ 175971 h 175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650" h="175971">
                <a:moveTo>
                  <a:pt x="114300" y="175971"/>
                </a:moveTo>
                <a:lnTo>
                  <a:pt x="247650" y="87985"/>
                </a:lnTo>
                <a:lnTo>
                  <a:pt x="114300" y="0"/>
                </a:lnTo>
                <a:lnTo>
                  <a:pt x="114300" y="43535"/>
                </a:lnTo>
                <a:lnTo>
                  <a:pt x="0" y="43535"/>
                </a:lnTo>
                <a:lnTo>
                  <a:pt x="0" y="132435"/>
                </a:lnTo>
                <a:lnTo>
                  <a:pt x="114300" y="132435"/>
                </a:lnTo>
                <a:lnTo>
                  <a:pt x="114300" y="175971"/>
                </a:lnTo>
                <a:close/>
              </a:path>
            </a:pathLst>
          </a:custGeom>
          <a:solidFill>
            <a:schemeClr val="accent1">
              <a:lumMod val="20000"/>
              <a:lumOff val="80000"/>
            </a:schemeClr>
          </a:solidFill>
          <a:ln>
            <a:solidFill>
              <a:schemeClr val="accent1"/>
            </a:solidFill>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06" name="矩形: 圆角 94"/>
          <p:cNvSpPr/>
          <p:nvPr/>
        </p:nvSpPr>
        <p:spPr>
          <a:xfrm>
            <a:off x="9444355" y="3604895"/>
            <a:ext cx="554990" cy="264160"/>
          </a:xfrm>
          <a:prstGeom prst="roundRect">
            <a:avLst>
              <a:gd name="adj" fmla="val 12000"/>
            </a:avLst>
          </a:prstGeom>
          <a:ln>
            <a:solidFill>
              <a:schemeClr val="accent1">
                <a:alpha val="70000"/>
              </a:schemeClr>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07" name="任意多边形: 形状 95"/>
          <p:cNvSpPr/>
          <p:nvPr/>
        </p:nvSpPr>
        <p:spPr>
          <a:xfrm>
            <a:off x="10039350" y="3645535"/>
            <a:ext cx="257810" cy="182880"/>
          </a:xfrm>
          <a:custGeom>
            <a:avLst/>
            <a:gdLst>
              <a:gd name="connsiteX0" fmla="*/ 114300 w 247650"/>
              <a:gd name="connsiteY0" fmla="*/ 175971 h 175971"/>
              <a:gd name="connsiteX1" fmla="*/ 247650 w 247650"/>
              <a:gd name="connsiteY1" fmla="*/ 87985 h 175971"/>
              <a:gd name="connsiteX2" fmla="*/ 114300 w 247650"/>
              <a:gd name="connsiteY2" fmla="*/ 0 h 175971"/>
              <a:gd name="connsiteX3" fmla="*/ 114300 w 247650"/>
              <a:gd name="connsiteY3" fmla="*/ 43535 h 175971"/>
              <a:gd name="connsiteX4" fmla="*/ 0 w 247650"/>
              <a:gd name="connsiteY4" fmla="*/ 43535 h 175971"/>
              <a:gd name="connsiteX5" fmla="*/ 0 w 247650"/>
              <a:gd name="connsiteY5" fmla="*/ 132435 h 175971"/>
              <a:gd name="connsiteX6" fmla="*/ 114300 w 247650"/>
              <a:gd name="connsiteY6" fmla="*/ 132435 h 175971"/>
              <a:gd name="connsiteX7" fmla="*/ 114300 w 247650"/>
              <a:gd name="connsiteY7" fmla="*/ 175971 h 175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650" h="175971">
                <a:moveTo>
                  <a:pt x="114300" y="175971"/>
                </a:moveTo>
                <a:lnTo>
                  <a:pt x="247650" y="87985"/>
                </a:lnTo>
                <a:lnTo>
                  <a:pt x="114300" y="0"/>
                </a:lnTo>
                <a:lnTo>
                  <a:pt x="114300" y="43535"/>
                </a:lnTo>
                <a:lnTo>
                  <a:pt x="0" y="43535"/>
                </a:lnTo>
                <a:lnTo>
                  <a:pt x="0" y="132435"/>
                </a:lnTo>
                <a:lnTo>
                  <a:pt x="114300" y="132435"/>
                </a:lnTo>
                <a:lnTo>
                  <a:pt x="114300" y="175971"/>
                </a:lnTo>
                <a:close/>
              </a:path>
            </a:pathLst>
          </a:custGeom>
          <a:solidFill>
            <a:schemeClr val="accent1">
              <a:lumMod val="20000"/>
              <a:lumOff val="80000"/>
            </a:schemeClr>
          </a:solidFill>
          <a:ln>
            <a:solidFill>
              <a:schemeClr val="accent1"/>
            </a:solidFill>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08" name="矩形: 圆角 96"/>
          <p:cNvSpPr/>
          <p:nvPr/>
        </p:nvSpPr>
        <p:spPr>
          <a:xfrm>
            <a:off x="10336530" y="3604895"/>
            <a:ext cx="449580" cy="264160"/>
          </a:xfrm>
          <a:prstGeom prst="roundRect">
            <a:avLst>
              <a:gd name="adj" fmla="val 12000"/>
            </a:avLst>
          </a:prstGeom>
          <a:ln>
            <a:solidFill>
              <a:schemeClr val="accent1">
                <a:alpha val="70000"/>
              </a:schemeClr>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09" name="任意多边形: 形状 97"/>
          <p:cNvSpPr/>
          <p:nvPr/>
        </p:nvSpPr>
        <p:spPr>
          <a:xfrm>
            <a:off x="10825480" y="3645535"/>
            <a:ext cx="257810" cy="182880"/>
          </a:xfrm>
          <a:custGeom>
            <a:avLst/>
            <a:gdLst>
              <a:gd name="connsiteX0" fmla="*/ 114300 w 247650"/>
              <a:gd name="connsiteY0" fmla="*/ 175971 h 175971"/>
              <a:gd name="connsiteX1" fmla="*/ 247650 w 247650"/>
              <a:gd name="connsiteY1" fmla="*/ 87985 h 175971"/>
              <a:gd name="connsiteX2" fmla="*/ 114300 w 247650"/>
              <a:gd name="connsiteY2" fmla="*/ 0 h 175971"/>
              <a:gd name="connsiteX3" fmla="*/ 114300 w 247650"/>
              <a:gd name="connsiteY3" fmla="*/ 43535 h 175971"/>
              <a:gd name="connsiteX4" fmla="*/ 0 w 247650"/>
              <a:gd name="connsiteY4" fmla="*/ 43535 h 175971"/>
              <a:gd name="connsiteX5" fmla="*/ 0 w 247650"/>
              <a:gd name="connsiteY5" fmla="*/ 132435 h 175971"/>
              <a:gd name="connsiteX6" fmla="*/ 114300 w 247650"/>
              <a:gd name="connsiteY6" fmla="*/ 132435 h 175971"/>
              <a:gd name="connsiteX7" fmla="*/ 114300 w 247650"/>
              <a:gd name="connsiteY7" fmla="*/ 175971 h 175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650" h="175971">
                <a:moveTo>
                  <a:pt x="114300" y="175971"/>
                </a:moveTo>
                <a:lnTo>
                  <a:pt x="247650" y="87985"/>
                </a:lnTo>
                <a:lnTo>
                  <a:pt x="114300" y="0"/>
                </a:lnTo>
                <a:lnTo>
                  <a:pt x="114300" y="43535"/>
                </a:lnTo>
                <a:lnTo>
                  <a:pt x="0" y="43535"/>
                </a:lnTo>
                <a:lnTo>
                  <a:pt x="0" y="132435"/>
                </a:lnTo>
                <a:lnTo>
                  <a:pt x="114300" y="132435"/>
                </a:lnTo>
                <a:lnTo>
                  <a:pt x="114300" y="175971"/>
                </a:lnTo>
                <a:close/>
              </a:path>
            </a:pathLst>
          </a:custGeom>
          <a:solidFill>
            <a:schemeClr val="accent1">
              <a:lumMod val="20000"/>
              <a:lumOff val="80000"/>
            </a:schemeClr>
          </a:solidFill>
          <a:ln>
            <a:solidFill>
              <a:schemeClr val="accent1"/>
            </a:solidFill>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10" name="矩形: 圆角 98"/>
          <p:cNvSpPr/>
          <p:nvPr/>
        </p:nvSpPr>
        <p:spPr>
          <a:xfrm>
            <a:off x="11123295" y="3604895"/>
            <a:ext cx="554990" cy="264160"/>
          </a:xfrm>
          <a:prstGeom prst="roundRect">
            <a:avLst>
              <a:gd name="adj" fmla="val 12000"/>
            </a:avLst>
          </a:prstGeom>
          <a:ln>
            <a:solidFill>
              <a:schemeClr val="accent1">
                <a:alpha val="70000"/>
              </a:schemeClr>
            </a:solidFill>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211" name="矩形: 圆角 99"/>
          <p:cNvSpPr/>
          <p:nvPr/>
        </p:nvSpPr>
        <p:spPr>
          <a:xfrm>
            <a:off x="4130675" y="5858510"/>
            <a:ext cx="1830705" cy="409575"/>
          </a:xfrm>
          <a:prstGeom prst="roundRect">
            <a:avLst>
              <a:gd name="adj" fmla="val 8000"/>
            </a:avLst>
          </a:prstGeom>
          <a:ln>
            <a:solidFill>
              <a:schemeClr val="accent5">
                <a:lumMod val="75000"/>
              </a:schemeClr>
            </a:solidFill>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2000">
              <a:solidFill>
                <a:srgbClr val="A84031">
                  <a:lumMod val="7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212" name="矩形: 圆角 100"/>
          <p:cNvSpPr/>
          <p:nvPr/>
        </p:nvSpPr>
        <p:spPr>
          <a:xfrm>
            <a:off x="6939915" y="5858510"/>
            <a:ext cx="1830705" cy="409575"/>
          </a:xfrm>
          <a:prstGeom prst="roundRect">
            <a:avLst>
              <a:gd name="adj" fmla="val 8000"/>
            </a:avLst>
          </a:prstGeom>
          <a:ln>
            <a:solidFill>
              <a:schemeClr val="accent5">
                <a:lumMod val="75000"/>
              </a:schemeClr>
            </a:solidFill>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2000">
              <a:solidFill>
                <a:srgbClr val="A84031">
                  <a:lumMod val="7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213" name="矩形: 圆角 101"/>
          <p:cNvSpPr/>
          <p:nvPr/>
        </p:nvSpPr>
        <p:spPr>
          <a:xfrm>
            <a:off x="9649460" y="5858510"/>
            <a:ext cx="1830705" cy="409575"/>
          </a:xfrm>
          <a:prstGeom prst="roundRect">
            <a:avLst>
              <a:gd name="adj" fmla="val 8000"/>
            </a:avLst>
          </a:prstGeom>
          <a:ln>
            <a:solidFill>
              <a:schemeClr val="accent5">
                <a:lumMod val="75000"/>
              </a:schemeClr>
            </a:solidFill>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2000">
              <a:solidFill>
                <a:srgbClr val="A84031">
                  <a:lumMod val="75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214" name="矩形: 圆角 102"/>
          <p:cNvSpPr/>
          <p:nvPr/>
        </p:nvSpPr>
        <p:spPr>
          <a:xfrm>
            <a:off x="1467485" y="5858510"/>
            <a:ext cx="1830705" cy="409575"/>
          </a:xfrm>
          <a:prstGeom prst="roundRect">
            <a:avLst>
              <a:gd name="adj" fmla="val 8000"/>
            </a:avLst>
          </a:prstGeom>
          <a:ln>
            <a:solidFill>
              <a:schemeClr val="accent5">
                <a:lumMod val="75000"/>
              </a:schemeClr>
            </a:solidFill>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2000">
              <a:solidFill>
                <a:srgbClr val="A84031">
                  <a:lumMod val="75000"/>
                </a:srgbClr>
              </a:solidFill>
              <a:latin typeface="微软雅黑" panose="020B0503020204020204" charset="-122"/>
              <a:ea typeface="微软雅黑" panose="020B0503020204020204" charset="-122"/>
              <a:cs typeface="微软雅黑" panose="020B0503020204020204" charset="-122"/>
            </a:endParaRPr>
          </a:p>
        </p:txBody>
      </p:sp>
      <p:sp>
        <p:nvSpPr>
          <p:cNvPr id="215" name="文本框 214"/>
          <p:cNvSpPr txBox="1"/>
          <p:nvPr/>
        </p:nvSpPr>
        <p:spPr>
          <a:xfrm>
            <a:off x="605155" y="1584325"/>
            <a:ext cx="225425" cy="923290"/>
          </a:xfrm>
          <a:prstGeom prst="rect">
            <a:avLst/>
          </a:prstGeom>
          <a:noFill/>
        </p:spPr>
        <p:txBody>
          <a:bodyPr wrap="square" lIns="0" tIns="0" rIns="0" bIns="0" rtlCol="0">
            <a:spAutoFit/>
          </a:bodyPr>
          <a:lstStyle/>
          <a:p>
            <a:pPr algn="ctr"/>
            <a:r>
              <a:rPr lang="zh-CN" altLang="en-US" sz="1200" b="1" dirty="0">
                <a:solidFill>
                  <a:srgbClr val="FFFFFF"/>
                </a:solidFill>
                <a:effectLst/>
                <a:latin typeface="微软雅黑" panose="020B0503020204020204" charset="-122"/>
                <a:ea typeface="微软雅黑" panose="020B0503020204020204" charset="-122"/>
                <a:cs typeface="微软雅黑" panose="020B0503020204020204" charset="-122"/>
              </a:rPr>
              <a:t>行业化应用</a:t>
            </a:r>
            <a:endParaRPr lang="zh-CN" altLang="en-US" sz="1200" b="1" dirty="0">
              <a:solidFill>
                <a:srgbClr val="FFFFFF"/>
              </a:solidFill>
              <a:effectLst/>
              <a:latin typeface="微软雅黑" panose="020B0503020204020204" charset="-122"/>
              <a:ea typeface="微软雅黑" panose="020B0503020204020204" charset="-122"/>
              <a:cs typeface="微软雅黑" panose="020B0503020204020204" charset="-122"/>
            </a:endParaRPr>
          </a:p>
        </p:txBody>
      </p:sp>
      <p:sp>
        <p:nvSpPr>
          <p:cNvPr id="216" name="文本框 215"/>
          <p:cNvSpPr txBox="1"/>
          <p:nvPr/>
        </p:nvSpPr>
        <p:spPr>
          <a:xfrm>
            <a:off x="605155" y="3088005"/>
            <a:ext cx="225425" cy="738505"/>
          </a:xfrm>
          <a:prstGeom prst="rect">
            <a:avLst/>
          </a:prstGeom>
          <a:noFill/>
        </p:spPr>
        <p:txBody>
          <a:bodyPr wrap="square" lIns="0" tIns="0" rIns="0" bIns="0" rtlCol="0">
            <a:spAutoFit/>
          </a:bodyPr>
          <a:lstStyle/>
          <a:p>
            <a:pPr algn="ctr"/>
            <a:r>
              <a:rPr lang="zh-CN" altLang="en-US" sz="1200" b="1" dirty="0">
                <a:solidFill>
                  <a:srgbClr val="FFFFFF"/>
                </a:solidFill>
                <a:effectLst/>
                <a:latin typeface="微软雅黑" panose="020B0503020204020204" charset="-122"/>
                <a:ea typeface="微软雅黑" panose="020B0503020204020204" charset="-122"/>
                <a:cs typeface="微软雅黑" panose="020B0503020204020204" charset="-122"/>
              </a:rPr>
              <a:t>通用场景</a:t>
            </a:r>
            <a:endParaRPr lang="zh-CN" altLang="en-US" sz="1200" b="1" dirty="0">
              <a:solidFill>
                <a:srgbClr val="FFFFFF"/>
              </a:solidFill>
              <a:effectLst/>
              <a:latin typeface="微软雅黑" panose="020B0503020204020204" charset="-122"/>
              <a:ea typeface="微软雅黑" panose="020B0503020204020204" charset="-122"/>
              <a:cs typeface="微软雅黑" panose="020B0503020204020204" charset="-122"/>
            </a:endParaRPr>
          </a:p>
        </p:txBody>
      </p:sp>
      <p:sp>
        <p:nvSpPr>
          <p:cNvPr id="217" name="文本框 216"/>
          <p:cNvSpPr txBox="1"/>
          <p:nvPr/>
        </p:nvSpPr>
        <p:spPr>
          <a:xfrm>
            <a:off x="601980" y="4624070"/>
            <a:ext cx="225425" cy="1292225"/>
          </a:xfrm>
          <a:prstGeom prst="rect">
            <a:avLst/>
          </a:prstGeom>
          <a:noFill/>
        </p:spPr>
        <p:txBody>
          <a:bodyPr wrap="square" lIns="0" tIns="0" rIns="0" bIns="0" rtlCol="0">
            <a:spAutoFit/>
          </a:bodyPr>
          <a:lstStyle/>
          <a:p>
            <a:pPr algn="ctr"/>
            <a:r>
              <a:rPr lang="zh-CN" altLang="en-US" sz="1200" b="1" dirty="0">
                <a:solidFill>
                  <a:srgbClr val="FFFFFF"/>
                </a:solidFill>
                <a:effectLst/>
                <a:latin typeface="微软雅黑" panose="020B0503020204020204" charset="-122"/>
                <a:ea typeface="微软雅黑" panose="020B0503020204020204" charset="-122"/>
                <a:cs typeface="微软雅黑" panose="020B0503020204020204" charset="-122"/>
              </a:rPr>
              <a:t>在线化签约平台</a:t>
            </a:r>
            <a:endParaRPr lang="zh-CN" altLang="en-US" sz="1200" b="1" dirty="0">
              <a:solidFill>
                <a:srgbClr val="FFFFFF"/>
              </a:solidFill>
              <a:effectLst/>
              <a:latin typeface="微软雅黑" panose="020B0503020204020204" charset="-122"/>
              <a:ea typeface="微软雅黑" panose="020B0503020204020204" charset="-122"/>
              <a:cs typeface="微软雅黑" panose="020B0503020204020204" charset="-122"/>
            </a:endParaRPr>
          </a:p>
        </p:txBody>
      </p:sp>
      <p:sp>
        <p:nvSpPr>
          <p:cNvPr id="220" name="文本框 219"/>
          <p:cNvSpPr txBox="1"/>
          <p:nvPr/>
        </p:nvSpPr>
        <p:spPr>
          <a:xfrm>
            <a:off x="2376805" y="3138170"/>
            <a:ext cx="850900" cy="153670"/>
          </a:xfrm>
          <a:prstGeom prst="rect">
            <a:avLst/>
          </a:prstGeom>
          <a:noFill/>
        </p:spPr>
        <p:txBody>
          <a:bodyPr wrap="square" lIns="0" tIns="0" rIns="0" bIns="0" rtlCol="0">
            <a:spAutoFit/>
          </a:bodyPr>
          <a:lstStyle/>
          <a:p>
            <a:pPr algn="ctr"/>
            <a:r>
              <a:rPr lang="zh-CN" altLang="en-US" sz="1000" b="1" dirty="0">
                <a:solidFill>
                  <a:schemeClr val="accent1"/>
                </a:solidFill>
                <a:effectLst/>
                <a:latin typeface="微软雅黑" panose="020B0503020204020204" charset="-122"/>
                <a:ea typeface="微软雅黑" panose="020B0503020204020204" charset="-122"/>
                <a:cs typeface="微软雅黑" panose="020B0503020204020204" charset="-122"/>
              </a:rPr>
              <a:t>人力资源场景</a:t>
            </a:r>
            <a:endParaRPr lang="zh-CN" altLang="en-US" sz="1000" b="1" dirty="0">
              <a:solidFill>
                <a:schemeClr val="accent1"/>
              </a:solidFill>
              <a:effectLst/>
              <a:latin typeface="微软雅黑" panose="020B0503020204020204" charset="-122"/>
              <a:ea typeface="微软雅黑" panose="020B0503020204020204" charset="-122"/>
              <a:cs typeface="微软雅黑" panose="020B0503020204020204" charset="-122"/>
            </a:endParaRPr>
          </a:p>
        </p:txBody>
      </p:sp>
      <p:sp>
        <p:nvSpPr>
          <p:cNvPr id="221" name="文本框 220"/>
          <p:cNvSpPr txBox="1"/>
          <p:nvPr/>
        </p:nvSpPr>
        <p:spPr>
          <a:xfrm>
            <a:off x="5953125" y="3138170"/>
            <a:ext cx="1008380" cy="153670"/>
          </a:xfrm>
          <a:prstGeom prst="rect">
            <a:avLst/>
          </a:prstGeom>
          <a:noFill/>
        </p:spPr>
        <p:txBody>
          <a:bodyPr wrap="square" lIns="0" tIns="0" rIns="0" bIns="0" rtlCol="0">
            <a:spAutoFit/>
          </a:bodyPr>
          <a:lstStyle/>
          <a:p>
            <a:pPr algn="ctr"/>
            <a:r>
              <a:rPr lang="zh-CN" altLang="en-US" sz="1000" b="1" dirty="0">
                <a:solidFill>
                  <a:schemeClr val="accent1"/>
                </a:solidFill>
                <a:effectLst/>
                <a:latin typeface="微软雅黑" panose="020B0503020204020204" charset="-122"/>
                <a:ea typeface="微软雅黑" panose="020B0503020204020204" charset="-122"/>
                <a:cs typeface="微软雅黑" panose="020B0503020204020204" charset="-122"/>
              </a:rPr>
              <a:t>采购供应链场景</a:t>
            </a:r>
            <a:endParaRPr lang="zh-CN" altLang="en-US" sz="1000" b="1" dirty="0">
              <a:solidFill>
                <a:schemeClr val="accent1"/>
              </a:solidFill>
              <a:effectLst/>
              <a:latin typeface="微软雅黑" panose="020B0503020204020204" charset="-122"/>
              <a:ea typeface="微软雅黑" panose="020B0503020204020204" charset="-122"/>
              <a:cs typeface="微软雅黑" panose="020B0503020204020204" charset="-122"/>
            </a:endParaRPr>
          </a:p>
        </p:txBody>
      </p:sp>
      <p:sp>
        <p:nvSpPr>
          <p:cNvPr id="222" name="文本框 221"/>
          <p:cNvSpPr txBox="1"/>
          <p:nvPr/>
        </p:nvSpPr>
        <p:spPr>
          <a:xfrm>
            <a:off x="9884410" y="3138170"/>
            <a:ext cx="666750" cy="153670"/>
          </a:xfrm>
          <a:prstGeom prst="rect">
            <a:avLst/>
          </a:prstGeom>
          <a:noFill/>
        </p:spPr>
        <p:txBody>
          <a:bodyPr wrap="square" lIns="0" tIns="0" rIns="0" bIns="0" rtlCol="0">
            <a:spAutoFit/>
          </a:bodyPr>
          <a:lstStyle/>
          <a:p>
            <a:pPr algn="ctr"/>
            <a:r>
              <a:rPr lang="zh-CN" altLang="en-US" sz="1000" b="1" dirty="0">
                <a:solidFill>
                  <a:schemeClr val="accent1"/>
                </a:solidFill>
                <a:effectLst/>
                <a:latin typeface="微软雅黑" panose="020B0503020204020204" charset="-122"/>
                <a:ea typeface="微软雅黑" panose="020B0503020204020204" charset="-122"/>
                <a:cs typeface="微软雅黑" panose="020B0503020204020204" charset="-122"/>
              </a:rPr>
              <a:t>数据汇集</a:t>
            </a:r>
            <a:endParaRPr lang="zh-CN" altLang="en-US" sz="1000" b="1" dirty="0">
              <a:solidFill>
                <a:schemeClr val="accent1"/>
              </a:solidFill>
              <a:effectLst/>
              <a:latin typeface="微软雅黑" panose="020B0503020204020204" charset="-122"/>
              <a:ea typeface="微软雅黑" panose="020B0503020204020204" charset="-122"/>
              <a:cs typeface="微软雅黑" panose="020B0503020204020204" charset="-122"/>
            </a:endParaRPr>
          </a:p>
        </p:txBody>
      </p:sp>
      <p:sp>
        <p:nvSpPr>
          <p:cNvPr id="223" name="文本框 222"/>
          <p:cNvSpPr txBox="1"/>
          <p:nvPr/>
        </p:nvSpPr>
        <p:spPr>
          <a:xfrm>
            <a:off x="1254125" y="3672840"/>
            <a:ext cx="426720" cy="122555"/>
          </a:xfrm>
          <a:prstGeom prst="rect">
            <a:avLst/>
          </a:prstGeom>
          <a:noFill/>
        </p:spPr>
        <p:txBody>
          <a:bodyPr wrap="square" lIns="0" tIns="0" rIns="0" bIns="0" rtlCol="0">
            <a:spAutoFit/>
          </a:bodyPr>
          <a:lstStyle/>
          <a:p>
            <a:pPr algn="ctr"/>
            <a:r>
              <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rPr>
              <a:t>入职场景</a:t>
            </a:r>
            <a:endPar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24" name="文本框 223"/>
          <p:cNvSpPr txBox="1"/>
          <p:nvPr/>
        </p:nvSpPr>
        <p:spPr>
          <a:xfrm>
            <a:off x="2146300" y="3672840"/>
            <a:ext cx="426720" cy="122555"/>
          </a:xfrm>
          <a:prstGeom prst="rect">
            <a:avLst/>
          </a:prstGeom>
          <a:noFill/>
        </p:spPr>
        <p:txBody>
          <a:bodyPr wrap="square" lIns="0" tIns="0" rIns="0" bIns="0" rtlCol="0">
            <a:spAutoFit/>
          </a:bodyPr>
          <a:lstStyle/>
          <a:p>
            <a:pPr algn="ctr"/>
            <a:r>
              <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rPr>
              <a:t>转岗场景</a:t>
            </a:r>
            <a:endPar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25" name="文本框 224"/>
          <p:cNvSpPr txBox="1"/>
          <p:nvPr/>
        </p:nvSpPr>
        <p:spPr>
          <a:xfrm>
            <a:off x="3038475" y="3672840"/>
            <a:ext cx="426720" cy="122555"/>
          </a:xfrm>
          <a:prstGeom prst="rect">
            <a:avLst/>
          </a:prstGeom>
          <a:noFill/>
          <a:effectLst>
            <a:outerShdw blurRad="254000" dist="63500" dir="5400000" algn="t" rotWithShape="0">
              <a:srgbClr val="121C34">
                <a:alpha val="10000"/>
              </a:srgbClr>
            </a:outerShdw>
          </a:effectLst>
        </p:spPr>
        <p:txBody>
          <a:bodyPr wrap="square" lIns="0" tIns="0" rIns="0" bIns="0" rtlCol="0">
            <a:spAutoFit/>
          </a:bodyPr>
          <a:lstStyle/>
          <a:p>
            <a:pPr algn="ctr"/>
            <a:r>
              <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rPr>
              <a:t>调岗场景</a:t>
            </a:r>
            <a:endPar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26" name="文本框 225"/>
          <p:cNvSpPr txBox="1"/>
          <p:nvPr/>
        </p:nvSpPr>
        <p:spPr>
          <a:xfrm>
            <a:off x="3930650" y="3672840"/>
            <a:ext cx="426720" cy="122555"/>
          </a:xfrm>
          <a:prstGeom prst="rect">
            <a:avLst/>
          </a:prstGeom>
          <a:noFill/>
        </p:spPr>
        <p:txBody>
          <a:bodyPr wrap="square" lIns="0" tIns="0" rIns="0" bIns="0" rtlCol="0">
            <a:spAutoFit/>
          </a:bodyPr>
          <a:lstStyle/>
          <a:p>
            <a:pPr algn="ctr"/>
            <a:r>
              <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rPr>
              <a:t>离职场景</a:t>
            </a:r>
            <a:endPar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27" name="文本框 226"/>
          <p:cNvSpPr txBox="1"/>
          <p:nvPr/>
        </p:nvSpPr>
        <p:spPr>
          <a:xfrm>
            <a:off x="4855845" y="3672840"/>
            <a:ext cx="426720" cy="122555"/>
          </a:xfrm>
          <a:prstGeom prst="rect">
            <a:avLst/>
          </a:prstGeom>
          <a:noFill/>
        </p:spPr>
        <p:txBody>
          <a:bodyPr wrap="square" lIns="0" tIns="0" rIns="0" bIns="0" rtlCol="0">
            <a:spAutoFit/>
          </a:bodyPr>
          <a:lstStyle/>
          <a:p>
            <a:pPr algn="ctr"/>
            <a:r>
              <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rPr>
              <a:t>战略合作</a:t>
            </a:r>
            <a:endPar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28" name="文本框 227"/>
          <p:cNvSpPr txBox="1"/>
          <p:nvPr/>
        </p:nvSpPr>
        <p:spPr>
          <a:xfrm>
            <a:off x="5734685" y="3672840"/>
            <a:ext cx="426720" cy="122555"/>
          </a:xfrm>
          <a:prstGeom prst="rect">
            <a:avLst/>
          </a:prstGeom>
          <a:noFill/>
        </p:spPr>
        <p:txBody>
          <a:bodyPr wrap="square" lIns="0" tIns="0" rIns="0" bIns="0" rtlCol="0">
            <a:spAutoFit/>
          </a:bodyPr>
          <a:lstStyle/>
          <a:p>
            <a:pPr algn="ctr"/>
            <a:r>
              <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rPr>
              <a:t>采集协议</a:t>
            </a:r>
            <a:endPar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29" name="文本框 228"/>
          <p:cNvSpPr txBox="1"/>
          <p:nvPr/>
        </p:nvSpPr>
        <p:spPr>
          <a:xfrm>
            <a:off x="6640195" y="3672840"/>
            <a:ext cx="426720" cy="122555"/>
          </a:xfrm>
          <a:prstGeom prst="rect">
            <a:avLst/>
          </a:prstGeom>
          <a:noFill/>
        </p:spPr>
        <p:txBody>
          <a:bodyPr wrap="square" lIns="0" tIns="0" rIns="0" bIns="0" rtlCol="0">
            <a:spAutoFit/>
          </a:bodyPr>
          <a:lstStyle/>
          <a:p>
            <a:pPr algn="ctr"/>
            <a:r>
              <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rPr>
              <a:t>采购协议</a:t>
            </a:r>
            <a:endPar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30" name="文本框 229"/>
          <p:cNvSpPr txBox="1"/>
          <p:nvPr/>
        </p:nvSpPr>
        <p:spPr>
          <a:xfrm>
            <a:off x="7531735" y="3672840"/>
            <a:ext cx="534035" cy="122555"/>
          </a:xfrm>
          <a:prstGeom prst="rect">
            <a:avLst/>
          </a:prstGeom>
          <a:noFill/>
        </p:spPr>
        <p:txBody>
          <a:bodyPr wrap="square" lIns="0" tIns="0" rIns="0" bIns="0" rtlCol="0">
            <a:spAutoFit/>
          </a:bodyPr>
          <a:lstStyle/>
          <a:p>
            <a:pPr algn="ctr"/>
            <a:r>
              <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rPr>
              <a:t>供应链金融</a:t>
            </a:r>
            <a:endPar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31" name="文本框 230"/>
          <p:cNvSpPr txBox="1"/>
          <p:nvPr/>
        </p:nvSpPr>
        <p:spPr>
          <a:xfrm>
            <a:off x="8616315" y="3672840"/>
            <a:ext cx="426720" cy="122555"/>
          </a:xfrm>
          <a:prstGeom prst="rect">
            <a:avLst/>
          </a:prstGeom>
          <a:noFill/>
        </p:spPr>
        <p:txBody>
          <a:bodyPr wrap="square" lIns="0" tIns="0" rIns="0" bIns="0" rtlCol="0">
            <a:spAutoFit/>
          </a:bodyPr>
          <a:lstStyle/>
          <a:p>
            <a:pPr algn="ctr"/>
            <a:r>
              <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rPr>
              <a:t>销售协议</a:t>
            </a:r>
            <a:endPar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32" name="文本框 231"/>
          <p:cNvSpPr txBox="1"/>
          <p:nvPr/>
        </p:nvSpPr>
        <p:spPr>
          <a:xfrm>
            <a:off x="9508490" y="3672840"/>
            <a:ext cx="426720" cy="122555"/>
          </a:xfrm>
          <a:prstGeom prst="rect">
            <a:avLst/>
          </a:prstGeom>
          <a:noFill/>
        </p:spPr>
        <p:txBody>
          <a:bodyPr wrap="square" lIns="0" tIns="0" rIns="0" bIns="0" rtlCol="0">
            <a:spAutoFit/>
          </a:bodyPr>
          <a:lstStyle/>
          <a:p>
            <a:pPr algn="ctr"/>
            <a:r>
              <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rPr>
              <a:t>销售订单</a:t>
            </a:r>
            <a:endPar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33" name="文本框 232"/>
          <p:cNvSpPr txBox="1"/>
          <p:nvPr/>
        </p:nvSpPr>
        <p:spPr>
          <a:xfrm>
            <a:off x="10401300" y="3672840"/>
            <a:ext cx="320675" cy="122555"/>
          </a:xfrm>
          <a:prstGeom prst="rect">
            <a:avLst/>
          </a:prstGeom>
          <a:noFill/>
        </p:spPr>
        <p:txBody>
          <a:bodyPr wrap="square" lIns="0" tIns="0" rIns="0" bIns="0" rtlCol="0">
            <a:spAutoFit/>
          </a:bodyPr>
          <a:lstStyle/>
          <a:p>
            <a:pPr algn="ctr"/>
            <a:r>
              <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rPr>
              <a:t>对账单</a:t>
            </a:r>
            <a:endPar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34" name="文本框 233"/>
          <p:cNvSpPr txBox="1"/>
          <p:nvPr/>
        </p:nvSpPr>
        <p:spPr>
          <a:xfrm>
            <a:off x="11186795" y="3672840"/>
            <a:ext cx="426720" cy="122555"/>
          </a:xfrm>
          <a:prstGeom prst="rect">
            <a:avLst/>
          </a:prstGeom>
          <a:noFill/>
        </p:spPr>
        <p:txBody>
          <a:bodyPr wrap="square" lIns="0" tIns="0" rIns="0" bIns="0" rtlCol="0">
            <a:spAutoFit/>
          </a:bodyPr>
          <a:lstStyle/>
          <a:p>
            <a:pPr algn="ctr"/>
            <a:r>
              <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rPr>
              <a:t>物流场景</a:t>
            </a:r>
            <a:endParaRPr lang="zh-CN" altLang="en-US" sz="8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35" name="文本框 234"/>
          <p:cNvSpPr txBox="1"/>
          <p:nvPr/>
        </p:nvSpPr>
        <p:spPr>
          <a:xfrm>
            <a:off x="1347153" y="4550410"/>
            <a:ext cx="564515" cy="153670"/>
          </a:xfrm>
          <a:prstGeom prst="rect">
            <a:avLst/>
          </a:prstGeom>
          <a:noFill/>
        </p:spPr>
        <p:txBody>
          <a:bodyPr wrap="square" lIns="0" tIns="0" rIns="0" bIns="0" rtlCol="0">
            <a:spAutoFit/>
          </a:bodyPr>
          <a:lstStyle/>
          <a:p>
            <a:pPr algn="ctr"/>
            <a:r>
              <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rPr>
              <a:t>实名认证</a:t>
            </a:r>
            <a:endPar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endParaRPr>
          </a:p>
        </p:txBody>
      </p:sp>
      <p:sp>
        <p:nvSpPr>
          <p:cNvPr id="236" name="文本框 235"/>
          <p:cNvSpPr txBox="1"/>
          <p:nvPr/>
        </p:nvSpPr>
        <p:spPr>
          <a:xfrm>
            <a:off x="2457768" y="4550410"/>
            <a:ext cx="564515" cy="153670"/>
          </a:xfrm>
          <a:prstGeom prst="rect">
            <a:avLst/>
          </a:prstGeom>
          <a:noFill/>
        </p:spPr>
        <p:txBody>
          <a:bodyPr wrap="square" lIns="0" tIns="0" rIns="0" bIns="0" rtlCol="0">
            <a:spAutoFit/>
          </a:bodyPr>
          <a:lstStyle/>
          <a:p>
            <a:pPr algn="ctr"/>
            <a:r>
              <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rPr>
              <a:t>电子文件</a:t>
            </a:r>
            <a:endPar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endParaRPr>
          </a:p>
        </p:txBody>
      </p:sp>
      <p:sp>
        <p:nvSpPr>
          <p:cNvPr id="237" name="文本框 236"/>
          <p:cNvSpPr txBox="1"/>
          <p:nvPr/>
        </p:nvSpPr>
        <p:spPr>
          <a:xfrm>
            <a:off x="3541078" y="4550410"/>
            <a:ext cx="564515" cy="153670"/>
          </a:xfrm>
          <a:prstGeom prst="rect">
            <a:avLst/>
          </a:prstGeom>
          <a:noFill/>
        </p:spPr>
        <p:txBody>
          <a:bodyPr wrap="square" lIns="0" tIns="0" rIns="0" bIns="0" rtlCol="0">
            <a:spAutoFit/>
          </a:bodyPr>
          <a:lstStyle/>
          <a:p>
            <a:pPr algn="ctr"/>
            <a:r>
              <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rPr>
              <a:t>签署服务</a:t>
            </a:r>
            <a:endPar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endParaRPr>
          </a:p>
        </p:txBody>
      </p:sp>
      <p:sp>
        <p:nvSpPr>
          <p:cNvPr id="238" name="文本框 237"/>
          <p:cNvSpPr txBox="1"/>
          <p:nvPr/>
        </p:nvSpPr>
        <p:spPr>
          <a:xfrm>
            <a:off x="4651693" y="4550410"/>
            <a:ext cx="564515" cy="153670"/>
          </a:xfrm>
          <a:prstGeom prst="rect">
            <a:avLst/>
          </a:prstGeom>
          <a:noFill/>
        </p:spPr>
        <p:txBody>
          <a:bodyPr wrap="square" lIns="0" tIns="0" rIns="0" bIns="0" rtlCol="0">
            <a:spAutoFit/>
          </a:bodyPr>
          <a:lstStyle/>
          <a:p>
            <a:pPr algn="ctr"/>
            <a:r>
              <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rPr>
              <a:t>存证出征</a:t>
            </a:r>
            <a:endPar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endParaRPr>
          </a:p>
        </p:txBody>
      </p:sp>
      <p:sp>
        <p:nvSpPr>
          <p:cNvPr id="239" name="文本框 238"/>
          <p:cNvSpPr txBox="1"/>
          <p:nvPr/>
        </p:nvSpPr>
        <p:spPr>
          <a:xfrm>
            <a:off x="5761673" y="4550410"/>
            <a:ext cx="564515" cy="153670"/>
          </a:xfrm>
          <a:prstGeom prst="rect">
            <a:avLst/>
          </a:prstGeom>
          <a:noFill/>
        </p:spPr>
        <p:txBody>
          <a:bodyPr wrap="square" lIns="0" tIns="0" rIns="0" bIns="0" rtlCol="0">
            <a:spAutoFit/>
          </a:bodyPr>
          <a:lstStyle/>
          <a:p>
            <a:pPr algn="ctr"/>
            <a:r>
              <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rPr>
              <a:t>印章管理</a:t>
            </a:r>
            <a:endPar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endParaRPr>
          </a:p>
        </p:txBody>
      </p:sp>
      <p:sp>
        <p:nvSpPr>
          <p:cNvPr id="240" name="文本框 239"/>
          <p:cNvSpPr txBox="1"/>
          <p:nvPr/>
        </p:nvSpPr>
        <p:spPr>
          <a:xfrm>
            <a:off x="6872288" y="4550410"/>
            <a:ext cx="564515" cy="153670"/>
          </a:xfrm>
          <a:prstGeom prst="rect">
            <a:avLst/>
          </a:prstGeom>
          <a:noFill/>
        </p:spPr>
        <p:txBody>
          <a:bodyPr wrap="square" lIns="0" tIns="0" rIns="0" bIns="0" rtlCol="0">
            <a:spAutoFit/>
          </a:bodyPr>
          <a:lstStyle/>
          <a:p>
            <a:pPr algn="ctr"/>
            <a:r>
              <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rPr>
              <a:t>法律服务</a:t>
            </a:r>
            <a:endPar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endParaRPr>
          </a:p>
        </p:txBody>
      </p:sp>
      <p:sp>
        <p:nvSpPr>
          <p:cNvPr id="241" name="文本框 240"/>
          <p:cNvSpPr txBox="1"/>
          <p:nvPr/>
        </p:nvSpPr>
        <p:spPr>
          <a:xfrm>
            <a:off x="3790950" y="5085715"/>
            <a:ext cx="1411605" cy="153670"/>
          </a:xfrm>
          <a:prstGeom prst="rect">
            <a:avLst/>
          </a:prstGeom>
          <a:noFill/>
        </p:spPr>
        <p:txBody>
          <a:bodyPr wrap="square" lIns="0" tIns="0" rIns="0" bIns="0" rtlCol="0">
            <a:spAutoFit/>
          </a:bodyPr>
          <a:lstStyle/>
          <a:p>
            <a:pPr algn="ctr"/>
            <a:r>
              <a:rPr lang="zh-CN" altLang="en-US" sz="1000" b="1" dirty="0">
                <a:solidFill>
                  <a:schemeClr val="accent5"/>
                </a:solidFill>
                <a:effectLst/>
                <a:latin typeface="微软雅黑" panose="020B0503020204020204" charset="-122"/>
                <a:ea typeface="微软雅黑" panose="020B0503020204020204" charset="-122"/>
                <a:cs typeface="微软雅黑" panose="020B0503020204020204" charset="-122"/>
              </a:rPr>
              <a:t>电子合同签约服务平台</a:t>
            </a:r>
            <a:endParaRPr lang="zh-CN" altLang="en-US" sz="1000" b="1" dirty="0">
              <a:solidFill>
                <a:schemeClr val="accent5"/>
              </a:solidFill>
              <a:effectLst/>
              <a:latin typeface="微软雅黑" panose="020B0503020204020204" charset="-122"/>
              <a:ea typeface="微软雅黑" panose="020B0503020204020204" charset="-122"/>
              <a:cs typeface="微软雅黑" panose="020B0503020204020204" charset="-122"/>
            </a:endParaRPr>
          </a:p>
        </p:txBody>
      </p:sp>
      <p:sp>
        <p:nvSpPr>
          <p:cNvPr id="242" name="文本框 241"/>
          <p:cNvSpPr txBox="1"/>
          <p:nvPr/>
        </p:nvSpPr>
        <p:spPr>
          <a:xfrm>
            <a:off x="8772525" y="4728845"/>
            <a:ext cx="538480" cy="153670"/>
          </a:xfrm>
          <a:prstGeom prst="rect">
            <a:avLst/>
          </a:prstGeom>
          <a:noFill/>
        </p:spPr>
        <p:txBody>
          <a:bodyPr wrap="square" lIns="0" tIns="0" rIns="0" bIns="0" rtlCol="0">
            <a:spAutoFit/>
          </a:bodyPr>
          <a:lstStyle/>
          <a:p>
            <a:pPr algn="ctr"/>
            <a:r>
              <a:rPr lang="en-US" altLang="zh-CN"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rPr>
              <a:t>ERP</a:t>
            </a:r>
            <a:r>
              <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rPr>
              <a:t>系统</a:t>
            </a:r>
            <a:endPar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endParaRPr>
          </a:p>
        </p:txBody>
      </p:sp>
      <p:sp>
        <p:nvSpPr>
          <p:cNvPr id="243" name="文本框 242"/>
          <p:cNvSpPr txBox="1"/>
          <p:nvPr/>
        </p:nvSpPr>
        <p:spPr>
          <a:xfrm>
            <a:off x="9954260" y="4728845"/>
            <a:ext cx="493395" cy="153670"/>
          </a:xfrm>
          <a:prstGeom prst="rect">
            <a:avLst/>
          </a:prstGeom>
          <a:noFill/>
        </p:spPr>
        <p:txBody>
          <a:bodyPr wrap="square" lIns="0" tIns="0" rIns="0" bIns="0" rtlCol="0">
            <a:spAutoFit/>
          </a:bodyPr>
          <a:lstStyle/>
          <a:p>
            <a:pPr algn="ctr"/>
            <a:r>
              <a:rPr lang="en-US" altLang="zh-CN"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rPr>
              <a:t>OA</a:t>
            </a:r>
            <a:r>
              <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rPr>
              <a:t>系统</a:t>
            </a:r>
            <a:endPar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endParaRPr>
          </a:p>
        </p:txBody>
      </p:sp>
      <p:sp>
        <p:nvSpPr>
          <p:cNvPr id="244" name="文本框 243"/>
          <p:cNvSpPr txBox="1"/>
          <p:nvPr/>
        </p:nvSpPr>
        <p:spPr>
          <a:xfrm>
            <a:off x="11056620" y="4728845"/>
            <a:ext cx="556260" cy="153670"/>
          </a:xfrm>
          <a:prstGeom prst="rect">
            <a:avLst/>
          </a:prstGeom>
          <a:noFill/>
        </p:spPr>
        <p:txBody>
          <a:bodyPr wrap="square" lIns="0" tIns="0" rIns="0" bIns="0" rtlCol="0">
            <a:spAutoFit/>
          </a:bodyPr>
          <a:lstStyle/>
          <a:p>
            <a:pPr algn="ctr"/>
            <a:r>
              <a:rPr lang="en-US" altLang="zh-CN"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rPr>
              <a:t>SRM</a:t>
            </a:r>
            <a:r>
              <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rPr>
              <a:t>系统</a:t>
            </a:r>
            <a:endPar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endParaRPr>
          </a:p>
        </p:txBody>
      </p:sp>
      <p:sp>
        <p:nvSpPr>
          <p:cNvPr id="245" name="文本框 244"/>
          <p:cNvSpPr txBox="1"/>
          <p:nvPr/>
        </p:nvSpPr>
        <p:spPr>
          <a:xfrm>
            <a:off x="8797290" y="5244465"/>
            <a:ext cx="479425" cy="153670"/>
          </a:xfrm>
          <a:prstGeom prst="rect">
            <a:avLst/>
          </a:prstGeom>
          <a:noFill/>
        </p:spPr>
        <p:txBody>
          <a:bodyPr wrap="square" lIns="0" tIns="0" rIns="0" bIns="0" rtlCol="0">
            <a:spAutoFit/>
          </a:bodyPr>
          <a:lstStyle/>
          <a:p>
            <a:pPr algn="ctr"/>
            <a:r>
              <a:rPr lang="en-US" altLang="zh-CN"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rPr>
              <a:t>HR</a:t>
            </a:r>
            <a:r>
              <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rPr>
              <a:t>系统</a:t>
            </a:r>
            <a:endPar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endParaRPr>
          </a:p>
        </p:txBody>
      </p:sp>
      <p:sp>
        <p:nvSpPr>
          <p:cNvPr id="246" name="文本框 245"/>
          <p:cNvSpPr txBox="1"/>
          <p:nvPr/>
        </p:nvSpPr>
        <p:spPr>
          <a:xfrm>
            <a:off x="9907905" y="5244465"/>
            <a:ext cx="603885" cy="153670"/>
          </a:xfrm>
          <a:prstGeom prst="rect">
            <a:avLst/>
          </a:prstGeom>
          <a:noFill/>
        </p:spPr>
        <p:txBody>
          <a:bodyPr wrap="square" lIns="0" tIns="0" rIns="0" bIns="0" rtlCol="0">
            <a:spAutoFit/>
          </a:bodyPr>
          <a:lstStyle/>
          <a:p>
            <a:pPr algn="ctr"/>
            <a:r>
              <a:rPr lang="en-US" altLang="zh-CN"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rPr>
              <a:t>CRM</a:t>
            </a:r>
            <a:r>
              <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rPr>
              <a:t>系统</a:t>
            </a:r>
            <a:endPar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endParaRPr>
          </a:p>
        </p:txBody>
      </p:sp>
      <p:sp>
        <p:nvSpPr>
          <p:cNvPr id="247" name="文本框 246"/>
          <p:cNvSpPr txBox="1"/>
          <p:nvPr/>
        </p:nvSpPr>
        <p:spPr>
          <a:xfrm>
            <a:off x="11067415" y="5244465"/>
            <a:ext cx="532765" cy="153670"/>
          </a:xfrm>
          <a:prstGeom prst="rect">
            <a:avLst/>
          </a:prstGeom>
          <a:noFill/>
        </p:spPr>
        <p:txBody>
          <a:bodyPr wrap="square" lIns="0" tIns="0" rIns="0" bIns="0" rtlCol="0">
            <a:spAutoFit/>
          </a:bodyPr>
          <a:lstStyle/>
          <a:p>
            <a:pPr algn="ctr"/>
            <a:r>
              <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rPr>
              <a:t>其他系统</a:t>
            </a:r>
            <a:endPar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endParaRPr>
          </a:p>
        </p:txBody>
      </p:sp>
      <p:sp>
        <p:nvSpPr>
          <p:cNvPr id="248" name="文本框 247"/>
          <p:cNvSpPr txBox="1"/>
          <p:nvPr/>
        </p:nvSpPr>
        <p:spPr>
          <a:xfrm>
            <a:off x="9757410" y="4335145"/>
            <a:ext cx="1120140" cy="184150"/>
          </a:xfrm>
          <a:prstGeom prst="rect">
            <a:avLst/>
          </a:prstGeom>
          <a:noFill/>
        </p:spPr>
        <p:txBody>
          <a:bodyPr wrap="square" lIns="0" tIns="0" rIns="0" bIns="0" rtlCol="0">
            <a:spAutoFit/>
          </a:bodyPr>
          <a:lstStyle/>
          <a:p>
            <a:pPr algn="ctr"/>
            <a:r>
              <a:rPr lang="zh-CN" altLang="en-US" sz="1200" b="1" dirty="0">
                <a:solidFill>
                  <a:schemeClr val="accent5">
                    <a:lumMod val="75000"/>
                    <a:alpha val="80000"/>
                  </a:schemeClr>
                </a:solidFill>
                <a:effectLst/>
                <a:latin typeface="微软雅黑" panose="020B0503020204020204" charset="-122"/>
                <a:ea typeface="微软雅黑" panose="020B0503020204020204" charset="-122"/>
                <a:cs typeface="微软雅黑" panose="020B0503020204020204" charset="-122"/>
              </a:rPr>
              <a:t>企业业务系统</a:t>
            </a:r>
            <a:endParaRPr lang="zh-CN" altLang="en-US" sz="1200" b="1" dirty="0">
              <a:solidFill>
                <a:schemeClr val="accent5">
                  <a:lumMod val="75000"/>
                  <a:alpha val="80000"/>
                </a:schemeClr>
              </a:solidFill>
              <a:effectLst/>
              <a:latin typeface="微软雅黑" panose="020B0503020204020204" charset="-122"/>
              <a:ea typeface="微软雅黑" panose="020B0503020204020204" charset="-122"/>
              <a:cs typeface="微软雅黑" panose="020B0503020204020204" charset="-122"/>
            </a:endParaRPr>
          </a:p>
        </p:txBody>
      </p:sp>
      <p:sp>
        <p:nvSpPr>
          <p:cNvPr id="249" name="文本框 248"/>
          <p:cNvSpPr txBox="1"/>
          <p:nvPr/>
        </p:nvSpPr>
        <p:spPr>
          <a:xfrm>
            <a:off x="7129780" y="5986780"/>
            <a:ext cx="1703705" cy="153670"/>
          </a:xfrm>
          <a:prstGeom prst="rect">
            <a:avLst/>
          </a:prstGeom>
          <a:noFill/>
        </p:spPr>
        <p:txBody>
          <a:bodyPr wrap="square" lIns="0" tIns="0" rIns="0" bIns="0" rtlCol="0" anchor="ctr">
            <a:spAutoFit/>
          </a:bodyPr>
          <a:lstStyle/>
          <a:p>
            <a:pPr algn="ctr"/>
            <a:r>
              <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rPr>
              <a:t>可信电子签（独立存储）</a:t>
            </a:r>
            <a:endPar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endParaRPr>
          </a:p>
        </p:txBody>
      </p:sp>
      <p:sp>
        <p:nvSpPr>
          <p:cNvPr id="250" name="文本框 249"/>
          <p:cNvSpPr txBox="1"/>
          <p:nvPr/>
        </p:nvSpPr>
        <p:spPr>
          <a:xfrm>
            <a:off x="4518660" y="5986780"/>
            <a:ext cx="1238250" cy="153670"/>
          </a:xfrm>
          <a:prstGeom prst="rect">
            <a:avLst/>
          </a:prstGeom>
          <a:noFill/>
        </p:spPr>
        <p:txBody>
          <a:bodyPr wrap="square" lIns="0" tIns="0" rIns="0" bIns="0" rtlCol="0" anchor="ctr">
            <a:spAutoFit/>
          </a:bodyPr>
          <a:lstStyle/>
          <a:p>
            <a:pPr algn="ctr"/>
            <a:r>
              <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rPr>
              <a:t>可信电子签约平台</a:t>
            </a:r>
            <a:endPar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endParaRPr>
          </a:p>
        </p:txBody>
      </p:sp>
      <p:sp>
        <p:nvSpPr>
          <p:cNvPr id="251" name="文本框 250"/>
          <p:cNvSpPr txBox="1"/>
          <p:nvPr/>
        </p:nvSpPr>
        <p:spPr>
          <a:xfrm>
            <a:off x="2209165" y="5986780"/>
            <a:ext cx="407035" cy="153670"/>
          </a:xfrm>
          <a:prstGeom prst="rect">
            <a:avLst/>
          </a:prstGeom>
          <a:noFill/>
        </p:spPr>
        <p:txBody>
          <a:bodyPr wrap="square" lIns="0" tIns="0" rIns="0" bIns="0" rtlCol="0" anchor="ctr">
            <a:spAutoFit/>
          </a:bodyPr>
          <a:lstStyle/>
          <a:p>
            <a:pPr algn="ctr"/>
            <a:r>
              <a:rPr lang="en-US" altLang="zh-CN"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rPr>
              <a:t>SAAS</a:t>
            </a:r>
            <a:endParaRPr lang="en-US" altLang="zh-CN"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endParaRPr>
          </a:p>
        </p:txBody>
      </p:sp>
      <p:sp>
        <p:nvSpPr>
          <p:cNvPr id="252" name="文本框 251"/>
          <p:cNvSpPr txBox="1"/>
          <p:nvPr/>
        </p:nvSpPr>
        <p:spPr>
          <a:xfrm>
            <a:off x="10234930" y="5986780"/>
            <a:ext cx="774065" cy="153670"/>
          </a:xfrm>
          <a:prstGeom prst="rect">
            <a:avLst/>
          </a:prstGeom>
          <a:noFill/>
        </p:spPr>
        <p:txBody>
          <a:bodyPr wrap="square" lIns="0" tIns="0" rIns="0" bIns="0" rtlCol="0" anchor="ctr">
            <a:spAutoFit/>
          </a:bodyPr>
          <a:lstStyle/>
          <a:p>
            <a:pPr algn="ctr"/>
            <a:r>
              <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rPr>
              <a:t>私有化部署</a:t>
            </a:r>
            <a:endParaRPr lang="zh-CN" altLang="en-US" sz="1000" dirty="0">
              <a:solidFill>
                <a:schemeClr val="accent5">
                  <a:lumMod val="75000"/>
                </a:schemeClr>
              </a:solidFill>
              <a:effectLst/>
              <a:latin typeface="微软雅黑" panose="020B0503020204020204" charset="-122"/>
              <a:ea typeface="微软雅黑" panose="020B0503020204020204" charset="-122"/>
              <a:cs typeface="微软雅黑" panose="020B0503020204020204" charset="-122"/>
            </a:endParaRPr>
          </a:p>
        </p:txBody>
      </p:sp>
      <p:sp>
        <p:nvSpPr>
          <p:cNvPr id="253" name="文本框 252"/>
          <p:cNvSpPr txBox="1"/>
          <p:nvPr/>
        </p:nvSpPr>
        <p:spPr>
          <a:xfrm>
            <a:off x="10808335" y="1875790"/>
            <a:ext cx="642620"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入驻协议</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54" name="文本框 253"/>
          <p:cNvSpPr txBox="1"/>
          <p:nvPr/>
        </p:nvSpPr>
        <p:spPr>
          <a:xfrm>
            <a:off x="10820718" y="2110105"/>
            <a:ext cx="617855" cy="153670"/>
          </a:xfrm>
          <a:prstGeom prst="rect">
            <a:avLst/>
          </a:prstGeom>
          <a:noFill/>
        </p:spPr>
        <p:txBody>
          <a:bodyPr wrap="square" lIns="0" tIns="0" rIns="0" bIns="0" rtlCol="0">
            <a:spAutoFit/>
          </a:bodyPr>
          <a:lstStyle/>
          <a:p>
            <a:pPr algn="ctr"/>
            <a:r>
              <a:rPr lang="en-US" altLang="zh-CN" sz="1000" dirty="0">
                <a:solidFill>
                  <a:srgbClr val="404040"/>
                </a:solidFill>
                <a:effectLst/>
                <a:latin typeface="微软雅黑" panose="020B0503020204020204" charset="-122"/>
                <a:ea typeface="微软雅黑" panose="020B0503020204020204" charset="-122"/>
                <a:cs typeface="微软雅黑" panose="020B0503020204020204" charset="-122"/>
              </a:rPr>
              <a:t>B2B</a:t>
            </a: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电商</a:t>
            </a:r>
            <a:endParaRPr lang="zh-CN" altLang="en-US" sz="1000" dirty="0">
              <a:solidFill>
                <a:srgbClr val="404040"/>
              </a:solidFill>
              <a:latin typeface="微软雅黑" panose="020B0503020204020204" charset="-122"/>
              <a:ea typeface="微软雅黑" panose="020B0503020204020204" charset="-122"/>
              <a:cs typeface="微软雅黑" panose="020B0503020204020204" charset="-122"/>
            </a:endParaRPr>
          </a:p>
        </p:txBody>
      </p:sp>
      <p:sp>
        <p:nvSpPr>
          <p:cNvPr id="255" name="文本框 254"/>
          <p:cNvSpPr txBox="1"/>
          <p:nvPr/>
        </p:nvSpPr>
        <p:spPr>
          <a:xfrm>
            <a:off x="9248775" y="1791970"/>
            <a:ext cx="642620"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分期贷款</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56" name="文本框 255"/>
          <p:cNvSpPr txBox="1"/>
          <p:nvPr/>
        </p:nvSpPr>
        <p:spPr>
          <a:xfrm>
            <a:off x="9248775" y="2026285"/>
            <a:ext cx="642620"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汽车金融</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57" name="文本框 256"/>
          <p:cNvSpPr txBox="1"/>
          <p:nvPr/>
        </p:nvSpPr>
        <p:spPr>
          <a:xfrm>
            <a:off x="9328468" y="2259965"/>
            <a:ext cx="483235"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经销商</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58" name="文本框 257"/>
          <p:cNvSpPr txBox="1"/>
          <p:nvPr/>
        </p:nvSpPr>
        <p:spPr>
          <a:xfrm>
            <a:off x="9167813" y="2493645"/>
            <a:ext cx="804545"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采购供应链</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59" name="文本框 258"/>
          <p:cNvSpPr txBox="1"/>
          <p:nvPr/>
        </p:nvSpPr>
        <p:spPr>
          <a:xfrm>
            <a:off x="7768908" y="1791970"/>
            <a:ext cx="483235"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经销商</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60" name="文本框 259"/>
          <p:cNvSpPr txBox="1"/>
          <p:nvPr/>
        </p:nvSpPr>
        <p:spPr>
          <a:xfrm>
            <a:off x="7608253" y="2026285"/>
            <a:ext cx="804545"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采购供应链</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61" name="文本框 260"/>
          <p:cNvSpPr txBox="1"/>
          <p:nvPr/>
        </p:nvSpPr>
        <p:spPr>
          <a:xfrm>
            <a:off x="7689215" y="2259965"/>
            <a:ext cx="642620"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人力资源</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62" name="文本框 261"/>
          <p:cNvSpPr txBox="1"/>
          <p:nvPr/>
        </p:nvSpPr>
        <p:spPr>
          <a:xfrm>
            <a:off x="7689215" y="2493645"/>
            <a:ext cx="642620"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连锁加盟</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63" name="文本框 262"/>
          <p:cNvSpPr txBox="1"/>
          <p:nvPr/>
        </p:nvSpPr>
        <p:spPr>
          <a:xfrm>
            <a:off x="6129655" y="1791970"/>
            <a:ext cx="642620"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电子证照</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64" name="文本框 263"/>
          <p:cNvSpPr txBox="1"/>
          <p:nvPr/>
        </p:nvSpPr>
        <p:spPr>
          <a:xfrm>
            <a:off x="6129655" y="2026285"/>
            <a:ext cx="642620"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公文流转</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65" name="文本框 264"/>
          <p:cNvSpPr txBox="1"/>
          <p:nvPr/>
        </p:nvSpPr>
        <p:spPr>
          <a:xfrm>
            <a:off x="6129655" y="2259965"/>
            <a:ext cx="642620"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政务服务</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66" name="文本框 265"/>
          <p:cNvSpPr txBox="1"/>
          <p:nvPr/>
        </p:nvSpPr>
        <p:spPr>
          <a:xfrm>
            <a:off x="6129655" y="2493645"/>
            <a:ext cx="642620"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政府采购</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67" name="文本框 266"/>
          <p:cNvSpPr txBox="1"/>
          <p:nvPr/>
        </p:nvSpPr>
        <p:spPr>
          <a:xfrm>
            <a:off x="4569460" y="1791970"/>
            <a:ext cx="642620"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投资协议</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68" name="文本框 267"/>
          <p:cNvSpPr txBox="1"/>
          <p:nvPr/>
        </p:nvSpPr>
        <p:spPr>
          <a:xfrm>
            <a:off x="4649153" y="2026285"/>
            <a:ext cx="483235"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担保函</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69" name="文本框 268"/>
          <p:cNvSpPr txBox="1"/>
          <p:nvPr/>
        </p:nvSpPr>
        <p:spPr>
          <a:xfrm>
            <a:off x="4569460" y="2259965"/>
            <a:ext cx="642620"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借贷协议</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70" name="文本框 269"/>
          <p:cNvSpPr txBox="1"/>
          <p:nvPr/>
        </p:nvSpPr>
        <p:spPr>
          <a:xfrm>
            <a:off x="4569460" y="2493645"/>
            <a:ext cx="642620"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抵押合同</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71" name="文本框 270"/>
          <p:cNvSpPr txBox="1"/>
          <p:nvPr/>
        </p:nvSpPr>
        <p:spPr>
          <a:xfrm>
            <a:off x="3009900" y="1791970"/>
            <a:ext cx="642620"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生产质检</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72" name="文本框 271"/>
          <p:cNvSpPr txBox="1"/>
          <p:nvPr/>
        </p:nvSpPr>
        <p:spPr>
          <a:xfrm>
            <a:off x="3009900" y="2026285"/>
            <a:ext cx="642620"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仓储管理</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73" name="文本框 272"/>
          <p:cNvSpPr txBox="1"/>
          <p:nvPr/>
        </p:nvSpPr>
        <p:spPr>
          <a:xfrm>
            <a:off x="3009900" y="2259965"/>
            <a:ext cx="642620"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物流配送</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74" name="文本框 273"/>
          <p:cNvSpPr txBox="1"/>
          <p:nvPr/>
        </p:nvSpPr>
        <p:spPr>
          <a:xfrm>
            <a:off x="3009900" y="2493645"/>
            <a:ext cx="642620"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人力资源</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75" name="文本框 274"/>
          <p:cNvSpPr txBox="1"/>
          <p:nvPr/>
        </p:nvSpPr>
        <p:spPr>
          <a:xfrm>
            <a:off x="1435418" y="1791970"/>
            <a:ext cx="616585"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地产开发</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76" name="文本框 275"/>
          <p:cNvSpPr txBox="1"/>
          <p:nvPr/>
        </p:nvSpPr>
        <p:spPr>
          <a:xfrm>
            <a:off x="1435418" y="2026285"/>
            <a:ext cx="616585"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地产销售</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77" name="文本框 276"/>
          <p:cNvSpPr txBox="1"/>
          <p:nvPr/>
        </p:nvSpPr>
        <p:spPr>
          <a:xfrm>
            <a:off x="1435418" y="2259965"/>
            <a:ext cx="616585"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地产租赁</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78" name="文本框 277"/>
          <p:cNvSpPr txBox="1"/>
          <p:nvPr/>
        </p:nvSpPr>
        <p:spPr>
          <a:xfrm>
            <a:off x="1435418" y="2493645"/>
            <a:ext cx="616585" cy="153670"/>
          </a:xfrm>
          <a:prstGeom prst="rect">
            <a:avLst/>
          </a:prstGeom>
          <a:noFill/>
        </p:spPr>
        <p:txBody>
          <a:bodyPr wrap="square" lIns="0" tIns="0" rIns="0" bIns="0" rtlCol="0">
            <a:spAutoFit/>
          </a:bodyPr>
          <a:lstStyle/>
          <a:p>
            <a:pPr algn="ctr"/>
            <a:r>
              <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rPr>
              <a:t>物业服务</a:t>
            </a:r>
            <a:endParaRPr lang="zh-CN" altLang="en-US" sz="1000" dirty="0">
              <a:solidFill>
                <a:srgbClr val="404040"/>
              </a:solidFill>
              <a:effectLst/>
              <a:latin typeface="微软雅黑" panose="020B0503020204020204" charset="-122"/>
              <a:ea typeface="微软雅黑" panose="020B0503020204020204" charset="-122"/>
              <a:cs typeface="微软雅黑" panose="020B0503020204020204" charset="-122"/>
            </a:endParaRPr>
          </a:p>
        </p:txBody>
      </p:sp>
      <p:sp>
        <p:nvSpPr>
          <p:cNvPr id="279" name="矩形: 圆角 138"/>
          <p:cNvSpPr/>
          <p:nvPr/>
        </p:nvSpPr>
        <p:spPr>
          <a:xfrm>
            <a:off x="4163695" y="1390650"/>
            <a:ext cx="1454150" cy="277495"/>
          </a:xfrm>
          <a:prstGeom prst="roundRect">
            <a:avLst>
              <a:gd name="adj" fmla="val 8000"/>
            </a:avLst>
          </a:prstGeom>
          <a:solidFill>
            <a:schemeClr val="accent1">
              <a:lumMod val="20000"/>
              <a:lumOff val="80000"/>
              <a:alpha val="50000"/>
            </a:schemeClr>
          </a:solidFill>
          <a:ln>
            <a:solidFill>
              <a:schemeClr val="accent1">
                <a:lumMod val="60000"/>
                <a:lumOff val="40000"/>
              </a:schemeClr>
            </a:solidFill>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280" name="矩形: 圆角 141"/>
          <p:cNvSpPr/>
          <p:nvPr/>
        </p:nvSpPr>
        <p:spPr>
          <a:xfrm>
            <a:off x="5723890" y="1390650"/>
            <a:ext cx="1454150" cy="277495"/>
          </a:xfrm>
          <a:prstGeom prst="roundRect">
            <a:avLst>
              <a:gd name="adj" fmla="val 8000"/>
            </a:avLst>
          </a:prstGeom>
          <a:solidFill>
            <a:schemeClr val="accent1">
              <a:lumMod val="20000"/>
              <a:lumOff val="80000"/>
              <a:alpha val="50000"/>
            </a:schemeClr>
          </a:solidFill>
          <a:ln>
            <a:solidFill>
              <a:schemeClr val="accent1">
                <a:lumMod val="60000"/>
                <a:lumOff val="40000"/>
              </a:schemeClr>
            </a:solidFill>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281" name="矩形: 圆角 145"/>
          <p:cNvSpPr/>
          <p:nvPr/>
        </p:nvSpPr>
        <p:spPr>
          <a:xfrm>
            <a:off x="7283450" y="1390650"/>
            <a:ext cx="1454150" cy="277495"/>
          </a:xfrm>
          <a:prstGeom prst="roundRect">
            <a:avLst>
              <a:gd name="adj" fmla="val 8000"/>
            </a:avLst>
          </a:prstGeom>
          <a:solidFill>
            <a:schemeClr val="accent1">
              <a:lumMod val="20000"/>
              <a:lumOff val="80000"/>
              <a:alpha val="50000"/>
            </a:schemeClr>
          </a:solidFill>
          <a:ln>
            <a:solidFill>
              <a:schemeClr val="accent1">
                <a:lumMod val="60000"/>
                <a:lumOff val="40000"/>
              </a:schemeClr>
            </a:solidFill>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282" name="矩形: 圆角 149"/>
          <p:cNvSpPr/>
          <p:nvPr/>
        </p:nvSpPr>
        <p:spPr>
          <a:xfrm>
            <a:off x="8843010" y="1390650"/>
            <a:ext cx="1454150" cy="277495"/>
          </a:xfrm>
          <a:prstGeom prst="roundRect">
            <a:avLst>
              <a:gd name="adj" fmla="val 8000"/>
            </a:avLst>
          </a:prstGeom>
          <a:solidFill>
            <a:schemeClr val="accent1">
              <a:lumMod val="20000"/>
              <a:lumOff val="80000"/>
              <a:alpha val="50000"/>
            </a:schemeClr>
          </a:solidFill>
          <a:ln>
            <a:solidFill>
              <a:schemeClr val="accent1">
                <a:lumMod val="60000"/>
                <a:lumOff val="40000"/>
              </a:schemeClr>
            </a:solidFill>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283" name="矩形: 圆角 153"/>
          <p:cNvSpPr/>
          <p:nvPr/>
        </p:nvSpPr>
        <p:spPr>
          <a:xfrm>
            <a:off x="10402570" y="1390650"/>
            <a:ext cx="1454150" cy="277495"/>
          </a:xfrm>
          <a:prstGeom prst="roundRect">
            <a:avLst>
              <a:gd name="adj" fmla="val 8000"/>
            </a:avLst>
          </a:prstGeom>
          <a:solidFill>
            <a:schemeClr val="accent1">
              <a:lumMod val="20000"/>
              <a:lumOff val="80000"/>
              <a:alpha val="50000"/>
            </a:schemeClr>
          </a:solidFill>
          <a:ln>
            <a:solidFill>
              <a:schemeClr val="accent1">
                <a:lumMod val="60000"/>
                <a:lumOff val="40000"/>
              </a:schemeClr>
            </a:solidFill>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sz="1000" dirty="0">
              <a:solidFill>
                <a:srgbClr val="404040"/>
              </a:solidFill>
              <a:latin typeface="微软雅黑" panose="020B0503020204020204" charset="-122"/>
              <a:ea typeface="微软雅黑" panose="020B0503020204020204" charset="-122"/>
              <a:cs typeface="微软雅黑" panose="020B0503020204020204" charset="-122"/>
              <a:sym typeface="+mn-ea"/>
            </a:endParaRPr>
          </a:p>
        </p:txBody>
      </p:sp>
      <p:sp>
        <p:nvSpPr>
          <p:cNvPr id="288" name="文本框 287"/>
          <p:cNvSpPr txBox="1"/>
          <p:nvPr/>
        </p:nvSpPr>
        <p:spPr>
          <a:xfrm>
            <a:off x="10827703" y="1457960"/>
            <a:ext cx="603885" cy="153670"/>
          </a:xfrm>
          <a:prstGeom prst="rect">
            <a:avLst/>
          </a:prstGeom>
          <a:noFill/>
        </p:spPr>
        <p:txBody>
          <a:bodyPr wrap="square" lIns="0" tIns="0" rIns="0" bIns="0" rtlCol="0">
            <a:spAutoFit/>
          </a:bodyPr>
          <a:lstStyle/>
          <a:p>
            <a:pPr algn="ctr"/>
            <a:r>
              <a:rPr lang="zh-CN" altLang="en-US" sz="1000" b="1" dirty="0">
                <a:solidFill>
                  <a:schemeClr val="accent1">
                    <a:lumMod val="60000"/>
                    <a:lumOff val="40000"/>
                  </a:schemeClr>
                </a:solidFill>
                <a:effectLst/>
                <a:latin typeface="微软雅黑" panose="020B0503020204020204" charset="-122"/>
                <a:ea typeface="微软雅黑" panose="020B0503020204020204" charset="-122"/>
                <a:cs typeface="微软雅黑" panose="020B0503020204020204" charset="-122"/>
              </a:rPr>
              <a:t>互联网</a:t>
            </a:r>
            <a:endParaRPr lang="zh-CN" altLang="en-US" sz="1000" b="1" dirty="0">
              <a:solidFill>
                <a:schemeClr val="accent1">
                  <a:lumMod val="60000"/>
                  <a:lumOff val="40000"/>
                </a:schemeClr>
              </a:solidFill>
              <a:effectLst/>
              <a:latin typeface="微软雅黑" panose="020B0503020204020204" charset="-122"/>
              <a:ea typeface="微软雅黑" panose="020B0503020204020204" charset="-122"/>
              <a:cs typeface="微软雅黑" panose="020B0503020204020204" charset="-122"/>
            </a:endParaRPr>
          </a:p>
        </p:txBody>
      </p:sp>
      <p:pic>
        <p:nvPicPr>
          <p:cNvPr id="3" name="图片 2"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9" name="组合 8"/>
          <p:cNvGrpSpPr/>
          <p:nvPr/>
        </p:nvGrpSpPr>
        <p:grpSpPr>
          <a:xfrm>
            <a:off x="8715375" y="348615"/>
            <a:ext cx="3219450" cy="332740"/>
            <a:chOff x="13761" y="549"/>
            <a:chExt cx="5070" cy="524"/>
          </a:xfrm>
        </p:grpSpPr>
        <p:pic>
          <p:nvPicPr>
            <p:cNvPr id="10" name="图片 9"/>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6" name="文本框 15"/>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
        <p:nvSpPr>
          <p:cNvPr id="4" name="文本框 3"/>
          <p:cNvSpPr txBox="1"/>
          <p:nvPr/>
        </p:nvSpPr>
        <p:spPr>
          <a:xfrm>
            <a:off x="1072515" y="1452563"/>
            <a:ext cx="1398270" cy="153670"/>
          </a:xfrm>
          <a:prstGeom prst="rect">
            <a:avLst/>
          </a:prstGeom>
          <a:noFill/>
          <a:ln>
            <a:noFill/>
          </a:ln>
          <a:extLst>
            <a:ext uri="{909E8E84-426E-40DD-AFC4-6F175D3DCCD1}">
              <a14:hiddenFill xmlns:a14="http://schemas.microsoft.com/office/drawing/2010/main">
                <a:solidFill>
                  <a:schemeClr val="accent2">
                    <a:lumMod val="60000"/>
                    <a:lumOff val="40000"/>
                  </a:schemeClr>
                </a:solidFill>
              </a14:hiddenFill>
            </a:ext>
          </a:extLst>
        </p:spPr>
        <p:txBody>
          <a:bodyPr rot="0" spcFirstLastPara="0" vert="horz" wrap="square" lIns="0" tIns="0" rIns="0" bIns="0" numCol="1" spcCol="0" rtlCol="0" fromWordArt="0" anchor="t" anchorCtr="0" forceAA="0" compatLnSpc="0">
            <a:spAutoFit/>
          </a:bodyPr>
          <a:lstStyle/>
          <a:p>
            <a:pPr lvl="0" algn="ctr">
              <a:buClrTx/>
              <a:buSzTx/>
              <a:buFontTx/>
            </a:pPr>
            <a:r>
              <a:rPr lang="zh-CN" altLang="en-US" sz="1000" b="1" dirty="0">
                <a:solidFill>
                  <a:schemeClr val="accent1">
                    <a:lumMod val="60000"/>
                    <a:lumOff val="40000"/>
                  </a:schemeClr>
                </a:solidFill>
                <a:effectLst/>
                <a:latin typeface="微软雅黑" panose="020B0503020204020204" charset="-122"/>
                <a:ea typeface="微软雅黑" panose="020B0503020204020204" charset="-122"/>
                <a:cs typeface="微软雅黑" panose="020B0503020204020204" charset="-122"/>
                <a:sym typeface="+mn-ea"/>
              </a:rPr>
              <a:t>房地产</a:t>
            </a:r>
            <a:endParaRPr lang="zh-CN" altLang="en-US" sz="1000" b="1" dirty="0">
              <a:solidFill>
                <a:schemeClr val="accent1">
                  <a:lumMod val="60000"/>
                  <a:lumOff val="40000"/>
                </a:schemeClr>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a:off x="2876233" y="1457960"/>
            <a:ext cx="909955" cy="153670"/>
          </a:xfrm>
          <a:prstGeom prst="rect">
            <a:avLst/>
          </a:prstGeom>
          <a:noFill/>
          <a:ln>
            <a:noFill/>
          </a:ln>
          <a:extLst>
            <a:ext uri="{909E8E84-426E-40DD-AFC4-6F175D3DCCD1}">
              <a14:hiddenFill xmlns:a14="http://schemas.microsoft.com/office/drawing/2010/main">
                <a:solidFill>
                  <a:schemeClr val="accent2">
                    <a:lumMod val="60000"/>
                    <a:lumOff val="40000"/>
                  </a:schemeClr>
                </a:solidFill>
              </a14:hiddenFill>
            </a:ext>
          </a:extLst>
        </p:spPr>
        <p:txBody>
          <a:bodyPr wrap="square" lIns="0" tIns="0" rIns="0" bIns="0" rtlCol="0">
            <a:spAutoFit/>
          </a:bodyPr>
          <a:lstStyle/>
          <a:p>
            <a:pPr algn="ctr"/>
            <a:r>
              <a:rPr lang="zh-CN" altLang="en-US" sz="1000" b="1" dirty="0">
                <a:solidFill>
                  <a:schemeClr val="accent1">
                    <a:lumMod val="60000"/>
                    <a:lumOff val="40000"/>
                  </a:schemeClr>
                </a:solidFill>
                <a:effectLst/>
                <a:latin typeface="微软雅黑" panose="020B0503020204020204" charset="-122"/>
                <a:ea typeface="微软雅黑" panose="020B0503020204020204" charset="-122"/>
                <a:cs typeface="微软雅黑" panose="020B0503020204020204" charset="-122"/>
              </a:rPr>
              <a:t>制造业</a:t>
            </a:r>
            <a:endParaRPr lang="zh-CN" altLang="en-US" sz="1000" b="1" dirty="0">
              <a:solidFill>
                <a:schemeClr val="accent1">
                  <a:lumMod val="60000"/>
                  <a:lumOff val="40000"/>
                </a:schemeClr>
              </a:solidFill>
              <a:effectLst/>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4688840" y="1456690"/>
            <a:ext cx="403860" cy="153670"/>
          </a:xfrm>
          <a:prstGeom prst="rect">
            <a:avLst/>
          </a:prstGeom>
          <a:noFill/>
        </p:spPr>
        <p:txBody>
          <a:bodyPr wrap="square" lIns="0" tIns="0" rIns="0" bIns="0" rtlCol="0">
            <a:spAutoFit/>
          </a:bodyPr>
          <a:lstStyle/>
          <a:p>
            <a:pPr algn="ctr"/>
            <a:r>
              <a:rPr lang="zh-CN" altLang="en-US" sz="1000" b="1" dirty="0">
                <a:solidFill>
                  <a:schemeClr val="accent1">
                    <a:lumMod val="60000"/>
                    <a:lumOff val="40000"/>
                  </a:schemeClr>
                </a:solidFill>
                <a:effectLst/>
                <a:latin typeface="微软雅黑" panose="020B0503020204020204" charset="-122"/>
                <a:ea typeface="微软雅黑" panose="020B0503020204020204" charset="-122"/>
                <a:cs typeface="微软雅黑" panose="020B0503020204020204" charset="-122"/>
              </a:rPr>
              <a:t>金融</a:t>
            </a:r>
            <a:endParaRPr lang="zh-CN" altLang="en-US" sz="1000" b="1" dirty="0">
              <a:solidFill>
                <a:schemeClr val="accent1">
                  <a:lumMod val="60000"/>
                  <a:lumOff val="40000"/>
                </a:schemeClr>
              </a:solidFill>
              <a:effectLst/>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6249035" y="1457960"/>
            <a:ext cx="403860" cy="153670"/>
          </a:xfrm>
          <a:prstGeom prst="rect">
            <a:avLst/>
          </a:prstGeom>
          <a:noFill/>
        </p:spPr>
        <p:txBody>
          <a:bodyPr wrap="square" lIns="0" tIns="0" rIns="0" bIns="0" rtlCol="0">
            <a:spAutoFit/>
          </a:bodyPr>
          <a:lstStyle/>
          <a:p>
            <a:pPr algn="ctr"/>
            <a:r>
              <a:rPr lang="zh-CN" altLang="en-US" sz="1000" b="1" dirty="0">
                <a:solidFill>
                  <a:schemeClr val="accent1">
                    <a:lumMod val="60000"/>
                    <a:lumOff val="40000"/>
                  </a:schemeClr>
                </a:solidFill>
                <a:effectLst/>
                <a:latin typeface="微软雅黑" panose="020B0503020204020204" charset="-122"/>
                <a:ea typeface="微软雅黑" panose="020B0503020204020204" charset="-122"/>
                <a:cs typeface="微软雅黑" panose="020B0503020204020204" charset="-122"/>
              </a:rPr>
              <a:t>政务</a:t>
            </a:r>
            <a:endParaRPr lang="zh-CN" altLang="en-US" sz="1000" b="1" dirty="0">
              <a:solidFill>
                <a:schemeClr val="accent1">
                  <a:lumMod val="60000"/>
                  <a:lumOff val="40000"/>
                </a:schemeClr>
              </a:solidFill>
              <a:effectLst/>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a:off x="7607300" y="1457960"/>
            <a:ext cx="806450" cy="153670"/>
          </a:xfrm>
          <a:prstGeom prst="rect">
            <a:avLst/>
          </a:prstGeom>
          <a:noFill/>
        </p:spPr>
        <p:txBody>
          <a:bodyPr wrap="square" lIns="0" tIns="0" rIns="0" bIns="0" rtlCol="0">
            <a:spAutoFit/>
          </a:bodyPr>
          <a:lstStyle/>
          <a:p>
            <a:pPr algn="ctr"/>
            <a:r>
              <a:rPr lang="zh-CN" altLang="en-US" sz="1000" b="1" dirty="0">
                <a:solidFill>
                  <a:schemeClr val="accent1">
                    <a:lumMod val="60000"/>
                    <a:lumOff val="40000"/>
                  </a:schemeClr>
                </a:solidFill>
                <a:effectLst/>
                <a:latin typeface="微软雅黑" panose="020B0503020204020204" charset="-122"/>
                <a:ea typeface="微软雅黑" panose="020B0503020204020204" charset="-122"/>
                <a:cs typeface="微软雅黑" panose="020B0503020204020204" charset="-122"/>
              </a:rPr>
              <a:t>连锁零售</a:t>
            </a:r>
            <a:endParaRPr lang="zh-CN" altLang="en-US" sz="1000" b="1" dirty="0">
              <a:solidFill>
                <a:schemeClr val="accent1">
                  <a:lumMod val="60000"/>
                  <a:lumOff val="40000"/>
                </a:schemeClr>
              </a:solidFill>
              <a:effectLst/>
              <a:latin typeface="微软雅黑" panose="020B0503020204020204" charset="-122"/>
              <a:ea typeface="微软雅黑" panose="020B0503020204020204" charset="-122"/>
              <a:cs typeface="微软雅黑" panose="020B0503020204020204" charset="-122"/>
            </a:endParaRPr>
          </a:p>
        </p:txBody>
      </p:sp>
      <p:sp>
        <p:nvSpPr>
          <p:cNvPr id="17" name="文本框 16"/>
          <p:cNvSpPr txBox="1"/>
          <p:nvPr/>
        </p:nvSpPr>
        <p:spPr>
          <a:xfrm>
            <a:off x="9368155" y="1457960"/>
            <a:ext cx="403860" cy="153670"/>
          </a:xfrm>
          <a:prstGeom prst="rect">
            <a:avLst/>
          </a:prstGeom>
          <a:noFill/>
        </p:spPr>
        <p:txBody>
          <a:bodyPr wrap="square" lIns="0" tIns="0" rIns="0" bIns="0" rtlCol="0">
            <a:spAutoFit/>
          </a:bodyPr>
          <a:lstStyle/>
          <a:p>
            <a:pPr algn="ctr"/>
            <a:r>
              <a:rPr lang="zh-CN" altLang="en-US" sz="1000" b="1" dirty="0">
                <a:solidFill>
                  <a:schemeClr val="accent1">
                    <a:lumMod val="60000"/>
                    <a:lumOff val="40000"/>
                  </a:schemeClr>
                </a:solidFill>
                <a:effectLst/>
                <a:latin typeface="微软雅黑" panose="020B0503020204020204" charset="-122"/>
                <a:ea typeface="微软雅黑" panose="020B0503020204020204" charset="-122"/>
                <a:cs typeface="微软雅黑" panose="020B0503020204020204" charset="-122"/>
              </a:rPr>
              <a:t>汽车</a:t>
            </a:r>
            <a:endParaRPr lang="zh-CN" altLang="en-US" sz="1000" b="1" dirty="0">
              <a:solidFill>
                <a:schemeClr val="accent1">
                  <a:lumMod val="60000"/>
                  <a:lumOff val="40000"/>
                </a:schemeClr>
              </a:solidFill>
              <a:effectLst/>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8298"/>
            <a:ext cx="751078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多层平台架构 | </a:t>
            </a:r>
            <a:r>
              <a:rPr sz="2500">
                <a:solidFill>
                  <a:schemeClr val="tx2"/>
                </a:solidFill>
                <a:effectLst/>
                <a:latin typeface="微软雅黑" panose="020B0503020204020204" charset="-122"/>
                <a:ea typeface="微软雅黑" panose="020B0503020204020204" charset="-122"/>
                <a:cs typeface="微软雅黑" panose="020B0503020204020204" charset="-122"/>
              </a:rPr>
              <a:t>人货场运营流转图</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7" name="圆角矩形 11"/>
          <p:cNvSpPr/>
          <p:nvPr/>
        </p:nvSpPr>
        <p:spPr>
          <a:xfrm>
            <a:off x="905510" y="5958205"/>
            <a:ext cx="9826625" cy="184150"/>
          </a:xfrm>
          <a:prstGeom prst="roundRect">
            <a:avLst>
              <a:gd name="adj" fmla="val 3659"/>
            </a:avLst>
          </a:prstGeom>
          <a:solidFill>
            <a:schemeClr val="tx2">
              <a:lumMod val="20000"/>
              <a:lumOff val="80000"/>
            </a:schemeClr>
          </a:solidFill>
          <a:ln w="38100">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13" name="圆角矩形 11"/>
          <p:cNvSpPr/>
          <p:nvPr/>
        </p:nvSpPr>
        <p:spPr>
          <a:xfrm>
            <a:off x="905510" y="4294505"/>
            <a:ext cx="9826625" cy="184150"/>
          </a:xfrm>
          <a:prstGeom prst="roundRect">
            <a:avLst>
              <a:gd name="adj" fmla="val 3659"/>
            </a:avLst>
          </a:prstGeom>
          <a:solidFill>
            <a:schemeClr val="tx2">
              <a:lumMod val="20000"/>
              <a:lumOff val="80000"/>
            </a:schemeClr>
          </a:solidFill>
          <a:ln w="38100">
            <a:noFill/>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18" name="圆角矩形 11"/>
          <p:cNvSpPr/>
          <p:nvPr/>
        </p:nvSpPr>
        <p:spPr>
          <a:xfrm>
            <a:off x="905510" y="2687955"/>
            <a:ext cx="9826625" cy="184150"/>
          </a:xfrm>
          <a:prstGeom prst="roundRect">
            <a:avLst>
              <a:gd name="adj" fmla="val 3659"/>
            </a:avLst>
          </a:prstGeom>
          <a:solidFill>
            <a:schemeClr val="tx2">
              <a:lumMod val="20000"/>
              <a:lumOff val="80000"/>
            </a:schemeClr>
          </a:solidFill>
          <a:ln w="38100">
            <a:noFill/>
          </a:ln>
          <a:effec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26" name="Rectangle: Top Corners Rounded 32"/>
          <p:cNvSpPr/>
          <p:nvPr/>
        </p:nvSpPr>
        <p:spPr>
          <a:xfrm>
            <a:off x="1480819" y="2173755"/>
            <a:ext cx="2885318" cy="288000"/>
          </a:xfrm>
          <a:prstGeom prst="round2SameRect">
            <a:avLst>
              <a:gd name="adj1" fmla="val 6470"/>
              <a:gd name="adj2" fmla="val 12821"/>
            </a:avLst>
          </a:prstGeom>
          <a:solidFill>
            <a:schemeClr val="accent1"/>
          </a:solidFill>
          <a:ln w="9525" cap="flat" cmpd="sng" algn="ctr">
            <a:noFill/>
            <a:prstDash val="solid"/>
            <a:miter lim="800000"/>
          </a:ln>
          <a:effectLst/>
        </p:spPr>
        <p:txBody>
          <a:bodyPr rtlCol="0" anchor="ctr"/>
          <a:lstStyle/>
          <a:p>
            <a:pPr algn="ctr"/>
            <a:r>
              <a:rPr lang="zh-CN" altLang="en-US" sz="1200" kern="0" dirty="0">
                <a:solidFill>
                  <a:prstClr val="white"/>
                </a:solidFill>
                <a:latin typeface="微软雅黑" panose="020B0503020204020204" charset="-122"/>
                <a:ea typeface="微软雅黑" panose="020B0503020204020204" charset="-122"/>
                <a:cs typeface="微软雅黑" panose="020B0503020204020204" charset="-122"/>
                <a:sym typeface="+mn-lt"/>
              </a:rPr>
              <a:t>线上渠道</a:t>
            </a:r>
            <a:endParaRPr lang="zh-CN" altLang="en-US" sz="1200" kern="0" dirty="0">
              <a:solidFill>
                <a:prstClr val="white"/>
              </a:solidFill>
              <a:latin typeface="微软雅黑" panose="020B0503020204020204" charset="-122"/>
              <a:ea typeface="微软雅黑" panose="020B0503020204020204" charset="-122"/>
              <a:cs typeface="微软雅黑" panose="020B0503020204020204" charset="-122"/>
              <a:sym typeface="+mn-lt"/>
            </a:endParaRPr>
          </a:p>
        </p:txBody>
      </p:sp>
      <p:sp>
        <p:nvSpPr>
          <p:cNvPr id="27" name="Rectangle: Top Corners Rounded 32"/>
          <p:cNvSpPr/>
          <p:nvPr/>
        </p:nvSpPr>
        <p:spPr>
          <a:xfrm>
            <a:off x="4663441" y="2173755"/>
            <a:ext cx="2885318" cy="288000"/>
          </a:xfrm>
          <a:prstGeom prst="round2SameRect">
            <a:avLst>
              <a:gd name="adj1" fmla="val 6470"/>
              <a:gd name="adj2" fmla="val 12821"/>
            </a:avLst>
          </a:prstGeom>
          <a:solidFill>
            <a:schemeClr val="accent1"/>
          </a:solidFill>
          <a:ln w="9525" cap="flat" cmpd="sng" algn="ctr">
            <a:noFill/>
            <a:prstDash val="solid"/>
            <a:miter lim="800000"/>
          </a:ln>
          <a:effectLst/>
        </p:spPr>
        <p:txBody>
          <a:bodyPr rtlCol="0" anchor="ctr"/>
          <a:lstStyle/>
          <a:p>
            <a:pPr algn="ctr"/>
            <a:r>
              <a:rPr lang="zh-CN" altLang="en-US" sz="1200" kern="0" dirty="0">
                <a:solidFill>
                  <a:prstClr val="white"/>
                </a:solidFill>
                <a:latin typeface="微软雅黑" panose="020B0503020204020204" charset="-122"/>
                <a:ea typeface="微软雅黑" panose="020B0503020204020204" charset="-122"/>
                <a:cs typeface="微软雅黑" panose="020B0503020204020204" charset="-122"/>
                <a:sym typeface="+mn-lt"/>
              </a:rPr>
              <a:t>线上渠道</a:t>
            </a:r>
            <a:endParaRPr lang="zh-CN" altLang="en-US" sz="1200" kern="0" dirty="0">
              <a:solidFill>
                <a:prstClr val="white"/>
              </a:solidFill>
              <a:latin typeface="微软雅黑" panose="020B0503020204020204" charset="-122"/>
              <a:ea typeface="微软雅黑" panose="020B0503020204020204" charset="-122"/>
              <a:cs typeface="微软雅黑" panose="020B0503020204020204" charset="-122"/>
              <a:sym typeface="+mn-lt"/>
            </a:endParaRPr>
          </a:p>
        </p:txBody>
      </p:sp>
      <p:sp>
        <p:nvSpPr>
          <p:cNvPr id="28" name="Rectangle: Top Corners Rounded 32"/>
          <p:cNvSpPr/>
          <p:nvPr/>
        </p:nvSpPr>
        <p:spPr>
          <a:xfrm>
            <a:off x="7846063" y="2173755"/>
            <a:ext cx="2885318" cy="288000"/>
          </a:xfrm>
          <a:prstGeom prst="round2SameRect">
            <a:avLst>
              <a:gd name="adj1" fmla="val 6470"/>
              <a:gd name="adj2" fmla="val 12821"/>
            </a:avLst>
          </a:prstGeom>
          <a:solidFill>
            <a:schemeClr val="accent1"/>
          </a:solidFill>
          <a:ln w="9525" cap="flat" cmpd="sng" algn="ctr">
            <a:noFill/>
            <a:prstDash val="solid"/>
            <a:miter lim="800000"/>
          </a:ln>
          <a:effectLst/>
        </p:spPr>
        <p:txBody>
          <a:bodyPr rtlCol="0" anchor="ctr"/>
          <a:lstStyle/>
          <a:p>
            <a:pPr algn="ctr"/>
            <a:r>
              <a:rPr lang="zh-CN" altLang="en-US" sz="1200" kern="0" dirty="0">
                <a:solidFill>
                  <a:prstClr val="white"/>
                </a:solidFill>
                <a:latin typeface="微软雅黑" panose="020B0503020204020204" charset="-122"/>
                <a:ea typeface="微软雅黑" panose="020B0503020204020204" charset="-122"/>
                <a:cs typeface="微软雅黑" panose="020B0503020204020204" charset="-122"/>
                <a:sym typeface="+mn-lt"/>
              </a:rPr>
              <a:t>线上渠道</a:t>
            </a:r>
            <a:endParaRPr lang="zh-CN" altLang="en-US" sz="1200" kern="0" dirty="0">
              <a:solidFill>
                <a:prstClr val="white"/>
              </a:solidFill>
              <a:latin typeface="微软雅黑" panose="020B0503020204020204" charset="-122"/>
              <a:ea typeface="微软雅黑" panose="020B0503020204020204" charset="-122"/>
              <a:cs typeface="微软雅黑" panose="020B0503020204020204" charset="-122"/>
              <a:sym typeface="+mn-lt"/>
            </a:endParaRPr>
          </a:p>
        </p:txBody>
      </p:sp>
      <p:sp>
        <p:nvSpPr>
          <p:cNvPr id="29" name="Rectangle: Top Corners Rounded 32"/>
          <p:cNvSpPr/>
          <p:nvPr/>
        </p:nvSpPr>
        <p:spPr>
          <a:xfrm>
            <a:off x="4663441" y="3923174"/>
            <a:ext cx="2885318" cy="288000"/>
          </a:xfrm>
          <a:prstGeom prst="round2SameRect">
            <a:avLst>
              <a:gd name="adj1" fmla="val 6470"/>
              <a:gd name="adj2" fmla="val 12821"/>
            </a:avLst>
          </a:prstGeom>
          <a:solidFill>
            <a:schemeClr val="bg1"/>
          </a:solidFill>
          <a:ln w="9525" cap="flat" cmpd="sng" algn="ctr">
            <a:solidFill>
              <a:schemeClr val="accent1">
                <a:lumMod val="60000"/>
                <a:lumOff val="40000"/>
              </a:schemeClr>
            </a:solidFill>
            <a:prstDash val="solid"/>
            <a:miter lim="800000"/>
          </a:ln>
          <a:effectLst/>
        </p:spPr>
        <p:txBody>
          <a:bodyPr rtlCol="0" anchor="ctr"/>
          <a:lstStyle/>
          <a:p>
            <a:pPr algn="ctr"/>
            <a:r>
              <a:rPr lang="zh-CN" altLang="en-US" sz="1200" b="1" kern="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lt"/>
              </a:rPr>
              <a:t>库存共享机制</a:t>
            </a:r>
            <a:endParaRPr lang="zh-CN" altLang="en-US" sz="1200" b="1" kern="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lt"/>
            </a:endParaRPr>
          </a:p>
        </p:txBody>
      </p:sp>
      <p:sp>
        <p:nvSpPr>
          <p:cNvPr id="30" name="文本框 29"/>
          <p:cNvSpPr txBox="1"/>
          <p:nvPr/>
        </p:nvSpPr>
        <p:spPr>
          <a:xfrm>
            <a:off x="4895790" y="2872105"/>
            <a:ext cx="2420620" cy="306705"/>
          </a:xfrm>
          <a:prstGeom prst="rect">
            <a:avLst/>
          </a:prstGeom>
          <a:noFill/>
        </p:spPr>
        <p:txBody>
          <a:bodyPr wrap="square" rtlCol="0">
            <a:spAutoFit/>
          </a:bodyPr>
          <a:lstStyle/>
          <a:p>
            <a:pPr algn="ctr"/>
            <a:r>
              <a:rPr lang="zh-CN" altLang="en-US" sz="1400" dirty="0">
                <a:solidFill>
                  <a:schemeClr val="accent5"/>
                </a:solidFill>
                <a:latin typeface="微软雅黑" panose="020B0503020204020204" charset="-122"/>
                <a:ea typeface="微软雅黑" panose="020B0503020204020204" charset="-122"/>
                <a:cs typeface="微软雅黑" panose="020B0503020204020204" charset="-122"/>
              </a:rPr>
              <a:t>就近响应</a:t>
            </a:r>
            <a:r>
              <a:rPr lang="en-US" altLang="zh-CN" sz="1400" dirty="0">
                <a:solidFill>
                  <a:schemeClr val="accent5"/>
                </a:solidFill>
                <a:latin typeface="微软雅黑" panose="020B0503020204020204" charset="-122"/>
                <a:ea typeface="微软雅黑" panose="020B0503020204020204" charset="-122"/>
                <a:cs typeface="微软雅黑" panose="020B0503020204020204" charset="-122"/>
              </a:rPr>
              <a:t>        </a:t>
            </a:r>
            <a:r>
              <a:rPr lang="zh-CN" altLang="en-US" sz="1400" dirty="0">
                <a:solidFill>
                  <a:schemeClr val="accent5"/>
                </a:solidFill>
                <a:latin typeface="微软雅黑" panose="020B0503020204020204" charset="-122"/>
                <a:ea typeface="微软雅黑" panose="020B0503020204020204" charset="-122"/>
                <a:cs typeface="微软雅黑" panose="020B0503020204020204" charset="-122"/>
              </a:rPr>
              <a:t>    用户直达</a:t>
            </a:r>
            <a:endParaRPr lang="zh-CN" altLang="en-US" sz="1400"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31" name="文本框 30"/>
          <p:cNvSpPr txBox="1"/>
          <p:nvPr/>
        </p:nvSpPr>
        <p:spPr>
          <a:xfrm>
            <a:off x="5598576" y="1331716"/>
            <a:ext cx="1015049" cy="306705"/>
          </a:xfrm>
          <a:prstGeom prst="rect">
            <a:avLst/>
          </a:prstGeom>
          <a:noFill/>
        </p:spPr>
        <p:txBody>
          <a:bodyPr wrap="square" rtlCol="0">
            <a:spAutoFit/>
          </a:bodyPr>
          <a:lstStyle/>
          <a:p>
            <a:pPr algn="ctr"/>
            <a:r>
              <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门店</a:t>
            </a:r>
            <a:endPar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nvSpPr>
        <p:spPr>
          <a:xfrm>
            <a:off x="8781198" y="1331716"/>
            <a:ext cx="1015049" cy="306705"/>
          </a:xfrm>
          <a:prstGeom prst="rect">
            <a:avLst/>
          </a:prstGeom>
          <a:noFill/>
        </p:spPr>
        <p:txBody>
          <a:bodyPr wrap="square" rtlCol="0">
            <a:spAutoFit/>
          </a:bodyPr>
          <a:lstStyle/>
          <a:p>
            <a:pPr algn="ctr"/>
            <a:r>
              <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经销商</a:t>
            </a:r>
            <a:endPar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3" name="文本框 32"/>
          <p:cNvSpPr txBox="1"/>
          <p:nvPr/>
        </p:nvSpPr>
        <p:spPr>
          <a:xfrm>
            <a:off x="2415954" y="1331716"/>
            <a:ext cx="1015049" cy="306705"/>
          </a:xfrm>
          <a:prstGeom prst="rect">
            <a:avLst/>
          </a:prstGeom>
          <a:noFill/>
        </p:spPr>
        <p:txBody>
          <a:bodyPr wrap="square" rtlCol="0">
            <a:spAutoFit/>
          </a:bodyPr>
          <a:lstStyle/>
          <a:p>
            <a:pPr algn="ctr"/>
            <a:r>
              <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rPr>
              <a:t>多渠道</a:t>
            </a:r>
            <a:endParaRPr lang="zh-CN" altLang="en-US"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4" name="文本框 33"/>
          <p:cNvSpPr txBox="1"/>
          <p:nvPr/>
        </p:nvSpPr>
        <p:spPr>
          <a:xfrm>
            <a:off x="830775" y="1495302"/>
            <a:ext cx="436809" cy="1077218"/>
          </a:xfrm>
          <a:prstGeom prst="rect">
            <a:avLst/>
          </a:prstGeom>
          <a:noFill/>
        </p:spPr>
        <p:txBody>
          <a:bodyPr wrap="square" rtlCol="0">
            <a:spAutoFit/>
          </a:bodyPr>
          <a:lstStyle/>
          <a:p>
            <a:pPr algn="ctr"/>
            <a:r>
              <a:rPr lang="zh-CN" altLang="en-US" sz="1600" b="1" dirty="0">
                <a:solidFill>
                  <a:schemeClr val="tx2"/>
                </a:solidFill>
                <a:latin typeface="微软雅黑" panose="020B0503020204020204" charset="-122"/>
                <a:ea typeface="微软雅黑" panose="020B0503020204020204" charset="-122"/>
                <a:cs typeface="微软雅黑" panose="020B0503020204020204" charset="-122"/>
              </a:rPr>
              <a:t>销售渠道</a:t>
            </a: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5" name="文本框 34"/>
          <p:cNvSpPr txBox="1"/>
          <p:nvPr/>
        </p:nvSpPr>
        <p:spPr>
          <a:xfrm>
            <a:off x="830775" y="3060916"/>
            <a:ext cx="436809" cy="1077218"/>
          </a:xfrm>
          <a:prstGeom prst="rect">
            <a:avLst/>
          </a:prstGeom>
          <a:noFill/>
        </p:spPr>
        <p:txBody>
          <a:bodyPr wrap="square" rtlCol="0">
            <a:spAutoFit/>
          </a:bodyPr>
          <a:lstStyle/>
          <a:p>
            <a:pPr algn="ctr"/>
            <a:r>
              <a:rPr lang="zh-CN" altLang="en-US" sz="1600" b="1" dirty="0">
                <a:solidFill>
                  <a:schemeClr val="tx2"/>
                </a:solidFill>
                <a:latin typeface="微软雅黑" panose="020B0503020204020204" charset="-122"/>
                <a:ea typeface="微软雅黑" panose="020B0503020204020204" charset="-122"/>
                <a:cs typeface="微软雅黑" panose="020B0503020204020204" charset="-122"/>
              </a:rPr>
              <a:t>库存中心</a:t>
            </a: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6" name="Rectangle: Top Corners Rounded 32"/>
          <p:cNvSpPr/>
          <p:nvPr/>
        </p:nvSpPr>
        <p:spPr>
          <a:xfrm>
            <a:off x="2051050" y="4955540"/>
            <a:ext cx="415290" cy="415290"/>
          </a:xfrm>
          <a:prstGeom prst="ellipse">
            <a:avLst/>
          </a:prstGeom>
          <a:solidFill>
            <a:schemeClr val="accent1">
              <a:lumMod val="60000"/>
              <a:lumOff val="40000"/>
            </a:schemeClr>
          </a:solidFill>
          <a:ln w="9525" cap="flat" cmpd="sng" algn="ctr">
            <a:noFill/>
            <a:prstDash val="solid"/>
            <a:miter lim="800000"/>
          </a:ln>
          <a:effectLst/>
        </p:spPr>
        <p:txBody>
          <a:bodyPr rtlCol="0" anchor="ctr"/>
          <a:lstStyle/>
          <a:p>
            <a:pPr algn="ctr"/>
            <a:endParaRPr lang="en-US" sz="1600" kern="0" dirty="0">
              <a:solidFill>
                <a:prstClr val="white"/>
              </a:solidFill>
              <a:latin typeface="微软雅黑" panose="020B0503020204020204" charset="-122"/>
              <a:ea typeface="微软雅黑" panose="020B0503020204020204" charset="-122"/>
              <a:cs typeface="微软雅黑" panose="020B0503020204020204" charset="-122"/>
              <a:sym typeface="+mn-lt"/>
            </a:endParaRPr>
          </a:p>
        </p:txBody>
      </p:sp>
      <p:sp>
        <p:nvSpPr>
          <p:cNvPr id="37" name="Rectangle: Top Corners Rounded 32"/>
          <p:cNvSpPr/>
          <p:nvPr/>
        </p:nvSpPr>
        <p:spPr>
          <a:xfrm>
            <a:off x="7126605" y="4955540"/>
            <a:ext cx="415290" cy="415290"/>
          </a:xfrm>
          <a:prstGeom prst="ellipse">
            <a:avLst/>
          </a:prstGeom>
          <a:solidFill>
            <a:schemeClr val="accent1">
              <a:lumMod val="60000"/>
              <a:lumOff val="40000"/>
            </a:schemeClr>
          </a:solidFill>
          <a:ln w="9525" cap="flat" cmpd="sng" algn="ctr">
            <a:noFill/>
            <a:prstDash val="solid"/>
            <a:miter lim="800000"/>
          </a:ln>
          <a:effectLst/>
        </p:spPr>
        <p:txBody>
          <a:bodyPr rtlCol="0" anchor="ctr"/>
          <a:lstStyle/>
          <a:p>
            <a:pPr algn="ctr"/>
            <a:endParaRPr lang="en-US" sz="1600" kern="0" dirty="0">
              <a:solidFill>
                <a:prstClr val="white"/>
              </a:solidFill>
              <a:latin typeface="微软雅黑" panose="020B0503020204020204" charset="-122"/>
              <a:ea typeface="微软雅黑" panose="020B0503020204020204" charset="-122"/>
              <a:cs typeface="微软雅黑" panose="020B0503020204020204" charset="-122"/>
              <a:sym typeface="+mn-lt"/>
            </a:endParaRPr>
          </a:p>
        </p:txBody>
      </p:sp>
      <p:sp>
        <p:nvSpPr>
          <p:cNvPr id="38" name="Rectangle: Top Corners Rounded 32"/>
          <p:cNvSpPr/>
          <p:nvPr/>
        </p:nvSpPr>
        <p:spPr>
          <a:xfrm>
            <a:off x="4588510" y="4955540"/>
            <a:ext cx="415290" cy="415290"/>
          </a:xfrm>
          <a:prstGeom prst="ellipse">
            <a:avLst/>
          </a:prstGeom>
          <a:solidFill>
            <a:schemeClr val="accent1">
              <a:lumMod val="60000"/>
              <a:lumOff val="40000"/>
            </a:schemeClr>
          </a:solidFill>
          <a:ln w="9525" cap="flat" cmpd="sng" algn="ctr">
            <a:noFill/>
            <a:prstDash val="solid"/>
            <a:miter lim="800000"/>
          </a:ln>
          <a:effectLst/>
        </p:spPr>
        <p:txBody>
          <a:bodyPr rtlCol="0" anchor="ctr"/>
          <a:lstStyle/>
          <a:p>
            <a:pPr algn="ctr"/>
            <a:endParaRPr lang="en-US" sz="1600" kern="0" dirty="0">
              <a:solidFill>
                <a:prstClr val="white"/>
              </a:solidFill>
              <a:latin typeface="微软雅黑" panose="020B0503020204020204" charset="-122"/>
              <a:ea typeface="微软雅黑" panose="020B0503020204020204" charset="-122"/>
              <a:cs typeface="微软雅黑" panose="020B0503020204020204" charset="-122"/>
              <a:sym typeface="+mn-lt"/>
            </a:endParaRPr>
          </a:p>
        </p:txBody>
      </p:sp>
      <p:sp>
        <p:nvSpPr>
          <p:cNvPr id="39" name="Rectangle: Top Corners Rounded 32"/>
          <p:cNvSpPr/>
          <p:nvPr/>
        </p:nvSpPr>
        <p:spPr>
          <a:xfrm>
            <a:off x="9664700" y="4955540"/>
            <a:ext cx="415290" cy="415290"/>
          </a:xfrm>
          <a:prstGeom prst="ellipse">
            <a:avLst/>
          </a:prstGeom>
          <a:solidFill>
            <a:schemeClr val="accent1">
              <a:lumMod val="60000"/>
              <a:lumOff val="40000"/>
            </a:schemeClr>
          </a:solidFill>
          <a:ln w="9525" cap="flat" cmpd="sng" algn="ctr">
            <a:noFill/>
            <a:prstDash val="solid"/>
            <a:miter lim="800000"/>
          </a:ln>
          <a:effectLst/>
        </p:spPr>
        <p:txBody>
          <a:bodyPr rtlCol="0" anchor="ctr"/>
          <a:lstStyle/>
          <a:p>
            <a:pPr algn="ctr"/>
            <a:endParaRPr lang="en-US" sz="1600" kern="0" dirty="0">
              <a:solidFill>
                <a:prstClr val="white"/>
              </a:solidFill>
              <a:latin typeface="微软雅黑" panose="020B0503020204020204" charset="-122"/>
              <a:ea typeface="微软雅黑" panose="020B0503020204020204" charset="-122"/>
              <a:cs typeface="微软雅黑" panose="020B0503020204020204" charset="-122"/>
              <a:sym typeface="+mn-lt"/>
            </a:endParaRPr>
          </a:p>
        </p:txBody>
      </p:sp>
      <p:sp>
        <p:nvSpPr>
          <p:cNvPr id="40" name="文本框 39"/>
          <p:cNvSpPr txBox="1"/>
          <p:nvPr/>
        </p:nvSpPr>
        <p:spPr>
          <a:xfrm>
            <a:off x="830775" y="4730626"/>
            <a:ext cx="436809" cy="1077218"/>
          </a:xfrm>
          <a:prstGeom prst="rect">
            <a:avLst/>
          </a:prstGeom>
          <a:noFill/>
        </p:spPr>
        <p:txBody>
          <a:bodyPr wrap="square" rtlCol="0">
            <a:spAutoFit/>
          </a:bodyPr>
          <a:lstStyle/>
          <a:p>
            <a:pPr algn="ctr"/>
            <a:r>
              <a:rPr lang="zh-CN" altLang="en-US" sz="1600" b="1" dirty="0">
                <a:solidFill>
                  <a:schemeClr val="tx2"/>
                </a:solidFill>
                <a:latin typeface="微软雅黑" panose="020B0503020204020204" charset="-122"/>
                <a:ea typeface="微软雅黑" panose="020B0503020204020204" charset="-122"/>
                <a:cs typeface="微软雅黑" panose="020B0503020204020204" charset="-122"/>
              </a:rPr>
              <a:t>仓库管理</a:t>
            </a: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1" name="文本框 40"/>
          <p:cNvSpPr txBox="1"/>
          <p:nvPr/>
        </p:nvSpPr>
        <p:spPr>
          <a:xfrm>
            <a:off x="10996066" y="2199142"/>
            <a:ext cx="436809" cy="2800767"/>
          </a:xfrm>
          <a:prstGeom prst="rect">
            <a:avLst/>
          </a:prstGeom>
          <a:noFill/>
        </p:spPr>
        <p:txBody>
          <a:bodyPr wrap="square" rtlCol="0">
            <a:spAutoFit/>
          </a:bodyPr>
          <a:lstStyle/>
          <a:p>
            <a:pPr algn="ctr"/>
            <a:r>
              <a:rPr lang="zh-CN" altLang="en-US" sz="1600" b="1" dirty="0">
                <a:solidFill>
                  <a:schemeClr val="tx2"/>
                </a:solidFill>
                <a:latin typeface="微软雅黑" panose="020B0503020204020204" charset="-122"/>
                <a:ea typeface="微软雅黑" panose="020B0503020204020204" charset="-122"/>
                <a:cs typeface="微软雅黑" panose="020B0503020204020204" charset="-122"/>
              </a:rPr>
              <a:t>库存与销售数据全程贯通</a:t>
            </a:r>
            <a:endParaRPr lang="zh-CN" altLang="en-US" sz="1600" b="1"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2" name="文本框 41"/>
          <p:cNvSpPr txBox="1"/>
          <p:nvPr/>
        </p:nvSpPr>
        <p:spPr>
          <a:xfrm>
            <a:off x="8643773" y="6278557"/>
            <a:ext cx="798414" cy="307777"/>
          </a:xfrm>
          <a:prstGeom prst="rect">
            <a:avLst/>
          </a:prstGeom>
          <a:noFill/>
          <a:ln>
            <a:noFill/>
          </a:ln>
        </p:spPr>
        <p:txBody>
          <a:bodyPr wrap="square" rtlCol="0">
            <a:spAutoFit/>
          </a:bodyPr>
          <a:lstStyle/>
          <a:p>
            <a:pPr algn="ctr"/>
            <a:r>
              <a:rPr lang="zh-CN" altLang="en-US" sz="1400" dirty="0">
                <a:solidFill>
                  <a:schemeClr val="tx2"/>
                </a:solidFill>
                <a:latin typeface="微软雅黑" panose="020B0503020204020204" charset="-122"/>
                <a:ea typeface="微软雅黑" panose="020B0503020204020204" charset="-122"/>
                <a:cs typeface="微软雅黑" panose="020B0503020204020204" charset="-122"/>
              </a:rPr>
              <a:t>信息流</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3" name="文本框 42"/>
          <p:cNvSpPr txBox="1"/>
          <p:nvPr/>
        </p:nvSpPr>
        <p:spPr>
          <a:xfrm>
            <a:off x="9969024" y="6278557"/>
            <a:ext cx="798414" cy="307777"/>
          </a:xfrm>
          <a:prstGeom prst="rect">
            <a:avLst/>
          </a:prstGeom>
          <a:noFill/>
          <a:ln>
            <a:noFill/>
          </a:ln>
        </p:spPr>
        <p:txBody>
          <a:bodyPr wrap="square" rtlCol="0">
            <a:spAutoFit/>
          </a:bodyPr>
          <a:lstStyle/>
          <a:p>
            <a:pPr algn="ctr"/>
            <a:r>
              <a:rPr lang="zh-CN" altLang="en-US" sz="1400" dirty="0">
                <a:solidFill>
                  <a:schemeClr val="tx2"/>
                </a:solidFill>
                <a:latin typeface="微软雅黑" panose="020B0503020204020204" charset="-122"/>
                <a:ea typeface="微软雅黑" panose="020B0503020204020204" charset="-122"/>
                <a:cs typeface="微软雅黑" panose="020B0503020204020204" charset="-122"/>
              </a:rPr>
              <a:t>货品流</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4" name="文本框 43"/>
          <p:cNvSpPr txBox="1"/>
          <p:nvPr/>
        </p:nvSpPr>
        <p:spPr>
          <a:xfrm>
            <a:off x="5105934" y="4761011"/>
            <a:ext cx="2000333" cy="430887"/>
          </a:xfrm>
          <a:prstGeom prst="rect">
            <a:avLst/>
          </a:prstGeom>
          <a:noFill/>
        </p:spPr>
        <p:txBody>
          <a:bodyPr wrap="square" rtlCol="0">
            <a:spAutoFit/>
          </a:bodyPr>
          <a:lstStyle/>
          <a:p>
            <a:pPr algn="ct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统一预测线上下需求</a:t>
            </a:r>
            <a:endParaRPr lang="en-US" altLang="zh-CN" sz="105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统筹规划分仓布货</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5" name="文本框 44"/>
          <p:cNvSpPr txBox="1"/>
          <p:nvPr/>
        </p:nvSpPr>
        <p:spPr>
          <a:xfrm>
            <a:off x="8780471" y="4515718"/>
            <a:ext cx="1015049" cy="307777"/>
          </a:xfrm>
          <a:prstGeom prst="rect">
            <a:avLst/>
          </a:prstGeom>
          <a:noFill/>
        </p:spPr>
        <p:txBody>
          <a:bodyPr wrap="square" rtlCol="0">
            <a:spAutoFit/>
          </a:bodyPr>
          <a:lstStyle/>
          <a:p>
            <a:pPr algn="ctr"/>
            <a:r>
              <a:rPr lang="zh-CN" altLang="en-US" sz="1400" dirty="0">
                <a:solidFill>
                  <a:schemeClr val="tx2"/>
                </a:solidFill>
                <a:latin typeface="微软雅黑" panose="020B0503020204020204" charset="-122"/>
                <a:ea typeface="微软雅黑" panose="020B0503020204020204" charset="-122"/>
                <a:cs typeface="微软雅黑" panose="020B0503020204020204" charset="-122"/>
              </a:rPr>
              <a:t>在途库存</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6" name="文本框 45"/>
          <p:cNvSpPr txBox="1"/>
          <p:nvPr/>
        </p:nvSpPr>
        <p:spPr>
          <a:xfrm>
            <a:off x="3083437" y="4823529"/>
            <a:ext cx="1015049" cy="307777"/>
          </a:xfrm>
          <a:prstGeom prst="rect">
            <a:avLst/>
          </a:prstGeom>
          <a:noFill/>
        </p:spPr>
        <p:txBody>
          <a:bodyPr wrap="square" rtlCol="0">
            <a:spAutoFit/>
          </a:bodyPr>
          <a:lstStyle/>
          <a:p>
            <a:pPr algn="ctr"/>
            <a:r>
              <a:rPr lang="zh-CN" altLang="en-US" sz="1400" dirty="0">
                <a:solidFill>
                  <a:schemeClr val="tx2"/>
                </a:solidFill>
                <a:latin typeface="微软雅黑" panose="020B0503020204020204" charset="-122"/>
                <a:ea typeface="微软雅黑" panose="020B0503020204020204" charset="-122"/>
                <a:cs typeface="微软雅黑" panose="020B0503020204020204" charset="-122"/>
              </a:rPr>
              <a:t>库存调拨</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47" name="组合 46"/>
          <p:cNvGrpSpPr/>
          <p:nvPr/>
        </p:nvGrpSpPr>
        <p:grpSpPr>
          <a:xfrm>
            <a:off x="1587975" y="1734963"/>
            <a:ext cx="2671007" cy="356711"/>
            <a:chOff x="1716107" y="1977813"/>
            <a:chExt cx="2671007" cy="356711"/>
          </a:xfrm>
          <a:solidFill>
            <a:schemeClr val="accent1"/>
          </a:solidFill>
        </p:grpSpPr>
        <p:sp>
          <p:nvSpPr>
            <p:cNvPr id="48" name="矩形: 圆角 2062"/>
            <p:cNvSpPr/>
            <p:nvPr/>
          </p:nvSpPr>
          <p:spPr>
            <a:xfrm>
              <a:off x="1716107" y="2046524"/>
              <a:ext cx="609529" cy="288000"/>
            </a:xfrm>
            <a:prstGeom prst="roundRect">
              <a:avLst>
                <a:gd name="adj" fmla="val 9340"/>
              </a:avLst>
            </a:prstGeom>
            <a:grpFill/>
            <a:ln>
              <a:noFill/>
            </a:ln>
            <a:effec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r>
                <a:rPr lang="zh-CN" altLang="en-US" sz="1200" dirty="0">
                  <a:latin typeface="微软雅黑" panose="020B0503020204020204" charset="-122"/>
                  <a:ea typeface="微软雅黑" panose="020B0503020204020204" charset="-122"/>
                  <a:cs typeface="微软雅黑" panose="020B0503020204020204" charset="-122"/>
                </a:rPr>
                <a:t>京东</a:t>
              </a:r>
              <a:endParaRPr lang="zh-CN" altLang="en-US" sz="12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9" name="矩形: 圆角 2062"/>
            <p:cNvSpPr/>
            <p:nvPr/>
          </p:nvSpPr>
          <p:spPr>
            <a:xfrm>
              <a:off x="2431189" y="2046524"/>
              <a:ext cx="609529" cy="288000"/>
            </a:xfrm>
            <a:prstGeom prst="roundRect">
              <a:avLst>
                <a:gd name="adj" fmla="val 9340"/>
              </a:avLst>
            </a:prstGeom>
            <a:grpFill/>
            <a:ln>
              <a:noFill/>
            </a:ln>
            <a:effec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r>
                <a:rPr lang="zh-CN" altLang="en-US" sz="1200" dirty="0">
                  <a:solidFill>
                    <a:srgbClr val="FFFFFF"/>
                  </a:solidFill>
                  <a:latin typeface="微软雅黑" panose="020B0503020204020204" charset="-122"/>
                  <a:ea typeface="微软雅黑" panose="020B0503020204020204" charset="-122"/>
                  <a:cs typeface="微软雅黑" panose="020B0503020204020204" charset="-122"/>
                </a:rPr>
                <a:t>天猫</a:t>
              </a:r>
              <a:endParaRPr lang="zh-CN" altLang="en-US" sz="12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0" name="矩形: 圆角 2062"/>
            <p:cNvSpPr/>
            <p:nvPr/>
          </p:nvSpPr>
          <p:spPr>
            <a:xfrm>
              <a:off x="3146271" y="2046524"/>
              <a:ext cx="775288" cy="288000"/>
            </a:xfrm>
            <a:prstGeom prst="roundRect">
              <a:avLst>
                <a:gd name="adj" fmla="val 9340"/>
              </a:avLst>
            </a:prstGeom>
            <a:grpFill/>
            <a:ln>
              <a:noFill/>
            </a:ln>
            <a:effec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r>
                <a:rPr lang="zh-CN" altLang="en-US" sz="1200" dirty="0">
                  <a:solidFill>
                    <a:srgbClr val="FFFFFF"/>
                  </a:solidFill>
                  <a:latin typeface="微软雅黑" panose="020B0503020204020204" charset="-122"/>
                  <a:ea typeface="微软雅黑" panose="020B0503020204020204" charset="-122"/>
                  <a:cs typeface="微软雅黑" panose="020B0503020204020204" charset="-122"/>
                </a:rPr>
                <a:t>小红书</a:t>
              </a:r>
              <a:endParaRPr lang="zh-CN" altLang="en-US" sz="12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1" name="文本框 50"/>
            <p:cNvSpPr txBox="1"/>
            <p:nvPr/>
          </p:nvSpPr>
          <p:spPr>
            <a:xfrm>
              <a:off x="4027113" y="1977813"/>
              <a:ext cx="360001" cy="307777"/>
            </a:xfrm>
            <a:prstGeom prst="rect">
              <a:avLst/>
            </a:prstGeom>
            <a:noFill/>
            <a:extLst>
              <a:ext uri="{909E8E84-426E-40DD-AFC4-6F175D3DCCD1}">
                <a14:hiddenFill xmlns:a14="http://schemas.microsoft.com/office/drawing/2010/main">
                  <a:grpFill/>
                </a14:hiddenFill>
              </a:ext>
            </a:extLst>
          </p:spPr>
          <p:txBody>
            <a:bodyPr wrap="square" rtlCol="0">
              <a:spAutoFit/>
            </a:bodyPr>
            <a:lstStyle/>
            <a:p>
              <a:pPr algn="ctr"/>
              <a:r>
                <a:rPr lang="en-US" altLang="zh-CN" sz="1400" b="1" dirty="0">
                  <a:solidFill>
                    <a:schemeClr val="accent1"/>
                  </a:solidFill>
                  <a:latin typeface="微软雅黑" panose="020B0503020204020204" charset="-122"/>
                  <a:ea typeface="微软雅黑" panose="020B0503020204020204" charset="-122"/>
                  <a:cs typeface="微软雅黑" panose="020B0503020204020204" charset="-122"/>
                </a:rPr>
                <a:t>…</a:t>
              </a:r>
              <a:endParaRPr lang="en-US" altLang="zh-CN"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52" name="Rectangle: Top Corners Rounded 32"/>
          <p:cNvSpPr/>
          <p:nvPr/>
        </p:nvSpPr>
        <p:spPr>
          <a:xfrm>
            <a:off x="5904865" y="3011170"/>
            <a:ext cx="400685" cy="400685"/>
          </a:xfrm>
          <a:prstGeom prst="ellipse">
            <a:avLst/>
          </a:prstGeom>
          <a:solidFill>
            <a:schemeClr val="accent5"/>
          </a:solidFill>
          <a:ln w="9525" cap="flat" cmpd="sng" algn="ctr">
            <a:noFill/>
            <a:prstDash val="solid"/>
            <a:miter lim="800000"/>
          </a:ln>
          <a:effectLst/>
        </p:spPr>
        <p:txBody>
          <a:bodyPr rtlCol="0" anchor="ctr">
            <a:noAutofit/>
          </a:bodyPr>
          <a:lstStyle/>
          <a:p>
            <a:pPr lvl="0" algn="ctr">
              <a:buClrTx/>
              <a:buSzTx/>
              <a:buFontTx/>
            </a:pPr>
            <a:endParaRPr lang="en-US" sz="1600" kern="0" dirty="0">
              <a:solidFill>
                <a:prstClr val="white"/>
              </a:solidFill>
              <a:latin typeface="微软雅黑" panose="020B0503020204020204" charset="-122"/>
              <a:ea typeface="微软雅黑" panose="020B0503020204020204" charset="-122"/>
              <a:cs typeface="微软雅黑" panose="020B0503020204020204" charset="-122"/>
              <a:sym typeface="+mn-lt"/>
            </a:endParaRPr>
          </a:p>
        </p:txBody>
      </p:sp>
      <p:sp>
        <p:nvSpPr>
          <p:cNvPr id="53" name="Rectangle: Top Corners Rounded 32"/>
          <p:cNvSpPr/>
          <p:nvPr/>
        </p:nvSpPr>
        <p:spPr>
          <a:xfrm>
            <a:off x="2722245" y="3011170"/>
            <a:ext cx="400685" cy="400685"/>
          </a:xfrm>
          <a:prstGeom prst="ellipse">
            <a:avLst/>
          </a:prstGeom>
          <a:solidFill>
            <a:schemeClr val="accent5"/>
          </a:solidFill>
          <a:ln w="9525" cap="flat" cmpd="sng" algn="ctr">
            <a:noFill/>
            <a:prstDash val="solid"/>
            <a:miter lim="800000"/>
          </a:ln>
          <a:effectLst/>
        </p:spPr>
        <p:txBody>
          <a:bodyPr rtlCol="0" anchor="ctr"/>
          <a:lstStyle/>
          <a:p>
            <a:pPr algn="ctr"/>
            <a:endParaRPr lang="en-US" sz="1600" kern="0" dirty="0">
              <a:solidFill>
                <a:prstClr val="white"/>
              </a:solidFill>
              <a:latin typeface="微软雅黑" panose="020B0503020204020204" charset="-122"/>
              <a:ea typeface="微软雅黑" panose="020B0503020204020204" charset="-122"/>
              <a:cs typeface="微软雅黑" panose="020B0503020204020204" charset="-122"/>
              <a:sym typeface="+mn-lt"/>
            </a:endParaRPr>
          </a:p>
        </p:txBody>
      </p:sp>
      <p:sp>
        <p:nvSpPr>
          <p:cNvPr id="54" name="Rectangle: Top Corners Rounded 32"/>
          <p:cNvSpPr/>
          <p:nvPr/>
        </p:nvSpPr>
        <p:spPr>
          <a:xfrm>
            <a:off x="9087485" y="3011170"/>
            <a:ext cx="400685" cy="400685"/>
          </a:xfrm>
          <a:prstGeom prst="ellipse">
            <a:avLst/>
          </a:prstGeom>
          <a:solidFill>
            <a:schemeClr val="accent5"/>
          </a:solidFill>
          <a:ln w="9525" cap="flat" cmpd="sng" algn="ctr">
            <a:noFill/>
            <a:prstDash val="solid"/>
            <a:miter lim="800000"/>
          </a:ln>
          <a:effectLst/>
        </p:spPr>
        <p:txBody>
          <a:bodyPr rtlCol="0" anchor="ctr">
            <a:noAutofit/>
          </a:bodyPr>
          <a:lstStyle/>
          <a:p>
            <a:pPr lvl="0" algn="ctr">
              <a:buClrTx/>
              <a:buSzTx/>
              <a:buFontTx/>
            </a:pPr>
            <a:endParaRPr lang="en-US" sz="1600" kern="0" dirty="0">
              <a:solidFill>
                <a:prstClr val="white"/>
              </a:solidFill>
              <a:latin typeface="微软雅黑" panose="020B0503020204020204" charset="-122"/>
              <a:ea typeface="微软雅黑" panose="020B0503020204020204" charset="-122"/>
              <a:cs typeface="微软雅黑" panose="020B0503020204020204" charset="-122"/>
              <a:sym typeface="+mn-lt"/>
            </a:endParaRPr>
          </a:p>
        </p:txBody>
      </p:sp>
      <p:sp>
        <p:nvSpPr>
          <p:cNvPr id="55" name="Rectangle: Top Corners Rounded 32"/>
          <p:cNvSpPr/>
          <p:nvPr/>
        </p:nvSpPr>
        <p:spPr>
          <a:xfrm>
            <a:off x="1484125" y="5406769"/>
            <a:ext cx="1599312" cy="288000"/>
          </a:xfrm>
          <a:prstGeom prst="round2SameRect">
            <a:avLst>
              <a:gd name="adj1" fmla="val 6470"/>
              <a:gd name="adj2" fmla="val 12821"/>
            </a:avLst>
          </a:prstGeom>
          <a:solidFill>
            <a:schemeClr val="accent1">
              <a:lumMod val="60000"/>
              <a:lumOff val="40000"/>
            </a:schemeClr>
          </a:solidFill>
          <a:ln w="9525" cap="flat" cmpd="sng" algn="ctr">
            <a:noFill/>
            <a:prstDash val="solid"/>
            <a:miter lim="800000"/>
          </a:ln>
          <a:effectLst/>
        </p:spPr>
        <p:txBody>
          <a:bodyPr rtlCol="0" anchor="ctr"/>
          <a:lstStyle/>
          <a:p>
            <a:pPr algn="ctr"/>
            <a:r>
              <a:rPr lang="zh-CN" altLang="en-US" sz="1200" kern="0" dirty="0">
                <a:solidFill>
                  <a:prstClr val="white"/>
                </a:solidFill>
                <a:latin typeface="微软雅黑" panose="020B0503020204020204" charset="-122"/>
                <a:ea typeface="微软雅黑" panose="020B0503020204020204" charset="-122"/>
                <a:cs typeface="微软雅黑" panose="020B0503020204020204" charset="-122"/>
                <a:sym typeface="+mn-lt"/>
              </a:rPr>
              <a:t>区域仓</a:t>
            </a:r>
            <a:endParaRPr lang="zh-CN" altLang="en-US" sz="1200" kern="0" dirty="0">
              <a:solidFill>
                <a:prstClr val="white"/>
              </a:solidFill>
              <a:latin typeface="微软雅黑" panose="020B0503020204020204" charset="-122"/>
              <a:ea typeface="微软雅黑" panose="020B0503020204020204" charset="-122"/>
              <a:cs typeface="微软雅黑" panose="020B0503020204020204" charset="-122"/>
              <a:sym typeface="+mn-lt"/>
            </a:endParaRPr>
          </a:p>
        </p:txBody>
      </p:sp>
      <p:sp>
        <p:nvSpPr>
          <p:cNvPr id="56" name="Rectangle: Top Corners Rounded 32"/>
          <p:cNvSpPr/>
          <p:nvPr/>
        </p:nvSpPr>
        <p:spPr>
          <a:xfrm>
            <a:off x="4019271" y="5406769"/>
            <a:ext cx="1599312" cy="288000"/>
          </a:xfrm>
          <a:prstGeom prst="round2SameRect">
            <a:avLst>
              <a:gd name="adj1" fmla="val 6470"/>
              <a:gd name="adj2" fmla="val 12821"/>
            </a:avLst>
          </a:prstGeom>
          <a:solidFill>
            <a:schemeClr val="accent1">
              <a:lumMod val="60000"/>
              <a:lumOff val="40000"/>
            </a:schemeClr>
          </a:solidFill>
          <a:ln w="9525" cap="flat" cmpd="sng" algn="ctr">
            <a:noFill/>
            <a:prstDash val="solid"/>
            <a:miter lim="800000"/>
          </a:ln>
          <a:effectLst/>
        </p:spPr>
        <p:txBody>
          <a:bodyPr rtlCol="0" anchor="ctr">
            <a:noAutofit/>
          </a:bodyPr>
          <a:lstStyle/>
          <a:p>
            <a:pPr lvl="0" algn="ctr">
              <a:buClrTx/>
              <a:buSzTx/>
              <a:buFontTx/>
            </a:pPr>
            <a:r>
              <a:rPr lang="zh-CN" altLang="en-US" sz="1200" kern="0" dirty="0">
                <a:solidFill>
                  <a:prstClr val="white"/>
                </a:solidFill>
                <a:latin typeface="微软雅黑" panose="020B0503020204020204" charset="-122"/>
                <a:ea typeface="微软雅黑" panose="020B0503020204020204" charset="-122"/>
                <a:cs typeface="微软雅黑" panose="020B0503020204020204" charset="-122"/>
                <a:sym typeface="+mn-lt"/>
              </a:rPr>
              <a:t>主仓</a:t>
            </a:r>
            <a:endParaRPr lang="zh-CN" altLang="en-US" sz="1200" kern="0" dirty="0">
              <a:solidFill>
                <a:prstClr val="white"/>
              </a:solidFill>
              <a:latin typeface="微软雅黑" panose="020B0503020204020204" charset="-122"/>
              <a:ea typeface="微软雅黑" panose="020B0503020204020204" charset="-122"/>
              <a:cs typeface="微软雅黑" panose="020B0503020204020204" charset="-122"/>
              <a:sym typeface="+mn-lt"/>
            </a:endParaRPr>
          </a:p>
        </p:txBody>
      </p:sp>
      <p:sp>
        <p:nvSpPr>
          <p:cNvPr id="57" name="Rectangle: Top Corners Rounded 32"/>
          <p:cNvSpPr/>
          <p:nvPr/>
        </p:nvSpPr>
        <p:spPr>
          <a:xfrm>
            <a:off x="6554417" y="5406769"/>
            <a:ext cx="1599312" cy="288000"/>
          </a:xfrm>
          <a:prstGeom prst="round2SameRect">
            <a:avLst>
              <a:gd name="adj1" fmla="val 6470"/>
              <a:gd name="adj2" fmla="val 12821"/>
            </a:avLst>
          </a:prstGeom>
          <a:solidFill>
            <a:schemeClr val="accent1">
              <a:lumMod val="60000"/>
              <a:lumOff val="40000"/>
            </a:schemeClr>
          </a:solidFill>
          <a:ln w="9525" cap="flat" cmpd="sng" algn="ctr">
            <a:noFill/>
            <a:prstDash val="solid"/>
            <a:miter lim="800000"/>
          </a:ln>
          <a:effectLst/>
        </p:spPr>
        <p:txBody>
          <a:bodyPr rtlCol="0" anchor="ctr">
            <a:noAutofit/>
          </a:bodyPr>
          <a:lstStyle/>
          <a:p>
            <a:pPr lvl="0" algn="ctr">
              <a:buClrTx/>
              <a:buSzTx/>
              <a:buFontTx/>
            </a:pPr>
            <a:r>
              <a:rPr lang="zh-CN" altLang="en-US" sz="1200" kern="0" dirty="0">
                <a:solidFill>
                  <a:prstClr val="white"/>
                </a:solidFill>
                <a:latin typeface="微软雅黑" panose="020B0503020204020204" charset="-122"/>
                <a:ea typeface="微软雅黑" panose="020B0503020204020204" charset="-122"/>
                <a:cs typeface="微软雅黑" panose="020B0503020204020204" charset="-122"/>
                <a:sym typeface="+mn-lt"/>
              </a:rPr>
              <a:t>门店仓</a:t>
            </a:r>
            <a:endParaRPr lang="zh-CN" altLang="en-US" sz="1200" kern="0" dirty="0">
              <a:solidFill>
                <a:prstClr val="white"/>
              </a:solidFill>
              <a:latin typeface="微软雅黑" panose="020B0503020204020204" charset="-122"/>
              <a:ea typeface="微软雅黑" panose="020B0503020204020204" charset="-122"/>
              <a:cs typeface="微软雅黑" panose="020B0503020204020204" charset="-122"/>
              <a:sym typeface="+mn-lt"/>
            </a:endParaRPr>
          </a:p>
        </p:txBody>
      </p:sp>
      <p:sp>
        <p:nvSpPr>
          <p:cNvPr id="58" name="Rectangle: Top Corners Rounded 32"/>
          <p:cNvSpPr/>
          <p:nvPr/>
        </p:nvSpPr>
        <p:spPr>
          <a:xfrm>
            <a:off x="9089563" y="5406769"/>
            <a:ext cx="1599312" cy="288000"/>
          </a:xfrm>
          <a:prstGeom prst="round2SameRect">
            <a:avLst>
              <a:gd name="adj1" fmla="val 6470"/>
              <a:gd name="adj2" fmla="val 12821"/>
            </a:avLst>
          </a:prstGeom>
          <a:solidFill>
            <a:schemeClr val="accent1">
              <a:lumMod val="60000"/>
              <a:lumOff val="40000"/>
            </a:schemeClr>
          </a:solidFill>
          <a:ln w="9525" cap="flat" cmpd="sng" algn="ctr">
            <a:noFill/>
            <a:prstDash val="solid"/>
            <a:miter lim="800000"/>
          </a:ln>
          <a:effectLst/>
        </p:spPr>
        <p:txBody>
          <a:bodyPr rtlCol="0" anchor="ctr">
            <a:noAutofit/>
          </a:bodyPr>
          <a:lstStyle/>
          <a:p>
            <a:pPr lvl="0" algn="ctr">
              <a:buClrTx/>
              <a:buSzTx/>
              <a:buFontTx/>
            </a:pPr>
            <a:r>
              <a:rPr lang="zh-CN" altLang="en-US" sz="1200" kern="0" dirty="0">
                <a:solidFill>
                  <a:prstClr val="white"/>
                </a:solidFill>
                <a:latin typeface="微软雅黑" panose="020B0503020204020204" charset="-122"/>
                <a:ea typeface="微软雅黑" panose="020B0503020204020204" charset="-122"/>
                <a:cs typeface="微软雅黑" panose="020B0503020204020204" charset="-122"/>
                <a:sym typeface="+mn-lt"/>
              </a:rPr>
              <a:t>电商仓</a:t>
            </a:r>
            <a:endParaRPr lang="zh-CN" altLang="en-US" sz="1200" kern="0" dirty="0">
              <a:solidFill>
                <a:prstClr val="white"/>
              </a:solidFill>
              <a:latin typeface="微软雅黑" panose="020B0503020204020204" charset="-122"/>
              <a:ea typeface="微软雅黑" panose="020B0503020204020204" charset="-122"/>
              <a:cs typeface="微软雅黑" panose="020B0503020204020204" charset="-122"/>
              <a:sym typeface="+mn-lt"/>
            </a:endParaRPr>
          </a:p>
        </p:txBody>
      </p:sp>
      <p:sp>
        <p:nvSpPr>
          <p:cNvPr id="59" name="矩形: 圆角 2062"/>
          <p:cNvSpPr/>
          <p:nvPr/>
        </p:nvSpPr>
        <p:spPr>
          <a:xfrm>
            <a:off x="1703254" y="3587441"/>
            <a:ext cx="2440448" cy="288000"/>
          </a:xfrm>
          <a:prstGeom prst="roundRect">
            <a:avLst>
              <a:gd name="adj" fmla="val 9340"/>
            </a:avLst>
          </a:prstGeom>
          <a:solidFill>
            <a:schemeClr val="accent5"/>
          </a:solidFill>
          <a:ln>
            <a:noFill/>
          </a:ln>
          <a:effec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r>
              <a:rPr lang="zh-CN" altLang="en-US" sz="1200" dirty="0">
                <a:solidFill>
                  <a:srgbClr val="FFFFFF"/>
                </a:solidFill>
                <a:latin typeface="微软雅黑" panose="020B0503020204020204" charset="-122"/>
                <a:ea typeface="微软雅黑" panose="020B0503020204020204" charset="-122"/>
                <a:cs typeface="微软雅黑" panose="020B0503020204020204" charset="-122"/>
              </a:rPr>
              <a:t>智能库存分配</a:t>
            </a:r>
            <a:endParaRPr lang="zh-CN" altLang="en-US" sz="12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1" name="矩形: 圆角 2062"/>
          <p:cNvSpPr/>
          <p:nvPr/>
        </p:nvSpPr>
        <p:spPr>
          <a:xfrm>
            <a:off x="8068498" y="3587441"/>
            <a:ext cx="2440448" cy="288000"/>
          </a:xfrm>
          <a:prstGeom prst="roundRect">
            <a:avLst>
              <a:gd name="adj" fmla="val 9340"/>
            </a:avLst>
          </a:prstGeom>
          <a:solidFill>
            <a:schemeClr val="accent5"/>
          </a:solidFill>
          <a:ln>
            <a:noFill/>
          </a:ln>
          <a:effec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r>
              <a:rPr lang="zh-CN" altLang="en-US" sz="1200" dirty="0">
                <a:solidFill>
                  <a:srgbClr val="FFFFFF"/>
                </a:solidFill>
                <a:latin typeface="微软雅黑" panose="020B0503020204020204" charset="-122"/>
                <a:ea typeface="微软雅黑" panose="020B0503020204020204" charset="-122"/>
                <a:cs typeface="微软雅黑" panose="020B0503020204020204" charset="-122"/>
              </a:rPr>
              <a:t>库存配额</a:t>
            </a:r>
            <a:endParaRPr lang="zh-CN" altLang="en-US" sz="12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2" name="矩形: 圆角 2062"/>
          <p:cNvSpPr/>
          <p:nvPr/>
        </p:nvSpPr>
        <p:spPr>
          <a:xfrm>
            <a:off x="4885876" y="3587441"/>
            <a:ext cx="2440448" cy="288000"/>
          </a:xfrm>
          <a:prstGeom prst="roundRect">
            <a:avLst>
              <a:gd name="adj" fmla="val 9340"/>
            </a:avLst>
          </a:prstGeom>
          <a:solidFill>
            <a:schemeClr val="accent5"/>
          </a:solidFill>
          <a:ln>
            <a:noFill/>
          </a:ln>
          <a:effec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r>
              <a:rPr lang="zh-CN" altLang="en-US" sz="1200" dirty="0">
                <a:solidFill>
                  <a:srgbClr val="FFFFFF"/>
                </a:solidFill>
                <a:latin typeface="微软雅黑" panose="020B0503020204020204" charset="-122"/>
                <a:ea typeface="微软雅黑" panose="020B0503020204020204" charset="-122"/>
                <a:cs typeface="微软雅黑" panose="020B0503020204020204" charset="-122"/>
              </a:rPr>
              <a:t>全渠道库存</a:t>
            </a:r>
            <a:endParaRPr lang="zh-CN" altLang="en-US" sz="1200" dirty="0">
              <a:solidFill>
                <a:srgbClr val="FFFFFF"/>
              </a:solidFill>
              <a:latin typeface="微软雅黑" panose="020B0503020204020204" charset="-122"/>
              <a:ea typeface="微软雅黑" panose="020B0503020204020204" charset="-122"/>
              <a:cs typeface="微软雅黑" panose="020B0503020204020204" charset="-122"/>
            </a:endParaRPr>
          </a:p>
        </p:txBody>
      </p:sp>
      <p:cxnSp>
        <p:nvCxnSpPr>
          <p:cNvPr id="64" name="直接箭头连接符 51"/>
          <p:cNvCxnSpPr>
            <a:stCxn id="28" idx="1"/>
            <a:endCxn id="54" idx="0"/>
          </p:cNvCxnSpPr>
          <p:nvPr/>
        </p:nvCxnSpPr>
        <p:spPr>
          <a:xfrm flipH="1">
            <a:off x="9287871" y="2461755"/>
            <a:ext cx="851" cy="549431"/>
          </a:xfrm>
          <a:prstGeom prst="straightConnector1">
            <a:avLst/>
          </a:prstGeom>
          <a:ln>
            <a:solidFill>
              <a:schemeClr val="accent5"/>
            </a:solidFill>
            <a:headEnd type="triangle" w="med" len="med"/>
            <a:tailEnd type="triangle" w="med" len="med"/>
          </a:ln>
        </p:spPr>
        <p:style>
          <a:lnRef idx="1">
            <a:srgbClr val="24396B"/>
          </a:lnRef>
          <a:fillRef idx="0">
            <a:srgbClr val="24396B"/>
          </a:fillRef>
          <a:effectRef idx="0">
            <a:srgbClr val="24396B"/>
          </a:effectRef>
          <a:fontRef idx="minor">
            <a:srgbClr val="000000"/>
          </a:fontRef>
        </p:style>
      </p:cxnSp>
      <p:cxnSp>
        <p:nvCxnSpPr>
          <p:cNvPr id="65" name="直接箭头连接符 53"/>
          <p:cNvCxnSpPr>
            <a:stCxn id="26" idx="1"/>
            <a:endCxn id="53" idx="0"/>
          </p:cNvCxnSpPr>
          <p:nvPr/>
        </p:nvCxnSpPr>
        <p:spPr>
          <a:xfrm flipH="1">
            <a:off x="2922627" y="2461755"/>
            <a:ext cx="851" cy="549431"/>
          </a:xfrm>
          <a:prstGeom prst="straightConnector1">
            <a:avLst/>
          </a:prstGeom>
          <a:ln>
            <a:solidFill>
              <a:schemeClr val="accent5"/>
            </a:solidFill>
            <a:headEnd type="triangle" w="med" len="med"/>
            <a:tailEnd type="triangle" w="med" len="med"/>
          </a:ln>
        </p:spPr>
        <p:style>
          <a:lnRef idx="1">
            <a:srgbClr val="24396B"/>
          </a:lnRef>
          <a:fillRef idx="0">
            <a:srgbClr val="24396B"/>
          </a:fillRef>
          <a:effectRef idx="0">
            <a:srgbClr val="24396B"/>
          </a:effectRef>
          <a:fontRef idx="minor">
            <a:srgbClr val="000000"/>
          </a:fontRef>
        </p:style>
      </p:cxnSp>
      <p:cxnSp>
        <p:nvCxnSpPr>
          <p:cNvPr id="66" name="直接箭头连接符 55"/>
          <p:cNvCxnSpPr>
            <a:stCxn id="27" idx="1"/>
            <a:endCxn id="52" idx="0"/>
          </p:cNvCxnSpPr>
          <p:nvPr/>
        </p:nvCxnSpPr>
        <p:spPr>
          <a:xfrm flipH="1">
            <a:off x="6105465" y="2461755"/>
            <a:ext cx="635" cy="549275"/>
          </a:xfrm>
          <a:prstGeom prst="straightConnector1">
            <a:avLst/>
          </a:prstGeom>
          <a:ln>
            <a:solidFill>
              <a:schemeClr val="accent5"/>
            </a:solidFill>
            <a:headEnd type="triangle" w="med" len="med"/>
            <a:tailEnd type="triangle" w="med" len="med"/>
          </a:ln>
        </p:spPr>
        <p:style>
          <a:lnRef idx="1">
            <a:srgbClr val="24396B"/>
          </a:lnRef>
          <a:fillRef idx="0">
            <a:srgbClr val="24396B"/>
          </a:fillRef>
          <a:effectRef idx="0">
            <a:srgbClr val="24396B"/>
          </a:effectRef>
          <a:fontRef idx="minor">
            <a:srgbClr val="000000"/>
          </a:fontRef>
        </p:style>
      </p:cxnSp>
      <p:cxnSp>
        <p:nvCxnSpPr>
          <p:cNvPr id="67" name="直接箭头连接符 57"/>
          <p:cNvCxnSpPr>
            <a:stCxn id="53" idx="6"/>
            <a:endCxn id="52" idx="2"/>
          </p:cNvCxnSpPr>
          <p:nvPr/>
        </p:nvCxnSpPr>
        <p:spPr>
          <a:xfrm>
            <a:off x="3122957" y="3211517"/>
            <a:ext cx="2781961" cy="0"/>
          </a:xfrm>
          <a:prstGeom prst="straightConnector1">
            <a:avLst/>
          </a:prstGeom>
          <a:ln>
            <a:solidFill>
              <a:schemeClr val="accent5"/>
            </a:solidFill>
            <a:prstDash val="lgDash"/>
            <a:headEnd type="triangle" w="med" len="med"/>
            <a:tailEnd type="triangle" w="med" len="med"/>
          </a:ln>
        </p:spPr>
        <p:style>
          <a:lnRef idx="1">
            <a:srgbClr val="24396B"/>
          </a:lnRef>
          <a:fillRef idx="0">
            <a:srgbClr val="24396B"/>
          </a:fillRef>
          <a:effectRef idx="0">
            <a:srgbClr val="24396B"/>
          </a:effectRef>
          <a:fontRef idx="minor">
            <a:srgbClr val="000000"/>
          </a:fontRef>
        </p:style>
      </p:cxnSp>
      <p:cxnSp>
        <p:nvCxnSpPr>
          <p:cNvPr id="71" name="直接箭头连接符 59"/>
          <p:cNvCxnSpPr>
            <a:stCxn id="52" idx="6"/>
            <a:endCxn id="54" idx="2"/>
          </p:cNvCxnSpPr>
          <p:nvPr/>
        </p:nvCxnSpPr>
        <p:spPr>
          <a:xfrm>
            <a:off x="6305579" y="3211517"/>
            <a:ext cx="2781961" cy="0"/>
          </a:xfrm>
          <a:prstGeom prst="straightConnector1">
            <a:avLst/>
          </a:prstGeom>
          <a:ln>
            <a:solidFill>
              <a:schemeClr val="accent5"/>
            </a:solidFill>
            <a:prstDash val="lgDash"/>
            <a:headEnd type="triangle" w="med" len="med"/>
            <a:tailEnd type="triangle" w="med" len="med"/>
          </a:ln>
        </p:spPr>
        <p:style>
          <a:lnRef idx="1">
            <a:srgbClr val="24396B"/>
          </a:lnRef>
          <a:fillRef idx="0">
            <a:srgbClr val="24396B"/>
          </a:fillRef>
          <a:effectRef idx="0">
            <a:srgbClr val="24396B"/>
          </a:effectRef>
          <a:fontRef idx="minor">
            <a:srgbClr val="000000"/>
          </a:fontRef>
        </p:style>
      </p:cxnSp>
      <p:cxnSp>
        <p:nvCxnSpPr>
          <p:cNvPr id="72" name="直接箭头连接符 61"/>
          <p:cNvCxnSpPr>
            <a:stCxn id="36" idx="6"/>
            <a:endCxn id="38" idx="2"/>
          </p:cNvCxnSpPr>
          <p:nvPr/>
        </p:nvCxnSpPr>
        <p:spPr>
          <a:xfrm>
            <a:off x="2466505" y="5162923"/>
            <a:ext cx="2122170" cy="0"/>
          </a:xfrm>
          <a:prstGeom prst="straightConnector1">
            <a:avLst/>
          </a:prstGeom>
          <a:ln>
            <a:solidFill>
              <a:schemeClr val="accent1">
                <a:lumMod val="60000"/>
                <a:lumOff val="40000"/>
              </a:schemeClr>
            </a:solidFill>
            <a:tailEnd type="triangle"/>
          </a:ln>
        </p:spPr>
        <p:style>
          <a:lnRef idx="1">
            <a:srgbClr val="24396B"/>
          </a:lnRef>
          <a:fillRef idx="0">
            <a:srgbClr val="24396B"/>
          </a:fillRef>
          <a:effectRef idx="0">
            <a:srgbClr val="24396B"/>
          </a:effectRef>
          <a:fontRef idx="minor">
            <a:srgbClr val="000000"/>
          </a:fontRef>
        </p:style>
      </p:cxnSp>
      <p:cxnSp>
        <p:nvCxnSpPr>
          <p:cNvPr id="73" name="直接箭头连接符 255"/>
          <p:cNvCxnSpPr>
            <a:stCxn id="38" idx="6"/>
            <a:endCxn id="37" idx="2"/>
          </p:cNvCxnSpPr>
          <p:nvPr/>
        </p:nvCxnSpPr>
        <p:spPr>
          <a:xfrm>
            <a:off x="5003917" y="5162923"/>
            <a:ext cx="2122805" cy="0"/>
          </a:xfrm>
          <a:prstGeom prst="straightConnector1">
            <a:avLst/>
          </a:prstGeom>
          <a:ln>
            <a:solidFill>
              <a:schemeClr val="accent1">
                <a:lumMod val="60000"/>
                <a:lumOff val="40000"/>
              </a:schemeClr>
            </a:solidFill>
            <a:headEnd type="triangle" w="med" len="med"/>
            <a:tailEnd type="triangle" w="med" len="med"/>
          </a:ln>
        </p:spPr>
        <p:style>
          <a:lnRef idx="1">
            <a:srgbClr val="24396B"/>
          </a:lnRef>
          <a:fillRef idx="0">
            <a:srgbClr val="24396B"/>
          </a:fillRef>
          <a:effectRef idx="0">
            <a:srgbClr val="24396B"/>
          </a:effectRef>
          <a:fontRef idx="minor">
            <a:srgbClr val="000000"/>
          </a:fontRef>
        </p:style>
      </p:cxnSp>
      <p:cxnSp>
        <p:nvCxnSpPr>
          <p:cNvPr id="74" name="直接箭头连接符 259"/>
          <p:cNvCxnSpPr>
            <a:stCxn id="36" idx="0"/>
            <a:endCxn id="29" idx="1"/>
          </p:cNvCxnSpPr>
          <p:nvPr/>
        </p:nvCxnSpPr>
        <p:spPr>
          <a:xfrm flipV="1">
            <a:off x="2258941" y="4211138"/>
            <a:ext cx="3847465" cy="744220"/>
          </a:xfrm>
          <a:prstGeom prst="straightConnector1">
            <a:avLst/>
          </a:prstGeom>
          <a:ln>
            <a:solidFill>
              <a:schemeClr val="accent1">
                <a:lumMod val="60000"/>
                <a:lumOff val="40000"/>
              </a:schemeClr>
            </a:solidFill>
            <a:prstDash val="lgDash"/>
            <a:tailEnd type="triangle"/>
          </a:ln>
        </p:spPr>
        <p:style>
          <a:lnRef idx="1">
            <a:srgbClr val="24396B"/>
          </a:lnRef>
          <a:fillRef idx="0">
            <a:srgbClr val="24396B"/>
          </a:fillRef>
          <a:effectRef idx="0">
            <a:srgbClr val="24396B"/>
          </a:effectRef>
          <a:fontRef idx="minor">
            <a:srgbClr val="000000"/>
          </a:fontRef>
        </p:style>
      </p:cxnSp>
      <p:cxnSp>
        <p:nvCxnSpPr>
          <p:cNvPr id="85" name="直接箭头连接符 261"/>
          <p:cNvCxnSpPr>
            <a:stCxn id="38" idx="0"/>
            <a:endCxn id="29" idx="1"/>
          </p:cNvCxnSpPr>
          <p:nvPr/>
        </p:nvCxnSpPr>
        <p:spPr>
          <a:xfrm flipV="1">
            <a:off x="4796353" y="4211138"/>
            <a:ext cx="1310005" cy="744220"/>
          </a:xfrm>
          <a:prstGeom prst="straightConnector1">
            <a:avLst/>
          </a:prstGeom>
          <a:ln>
            <a:solidFill>
              <a:schemeClr val="accent1">
                <a:lumMod val="60000"/>
                <a:lumOff val="40000"/>
              </a:schemeClr>
            </a:solidFill>
            <a:prstDash val="lgDash"/>
            <a:tailEnd type="triangle"/>
          </a:ln>
        </p:spPr>
        <p:style>
          <a:lnRef idx="1">
            <a:srgbClr val="24396B"/>
          </a:lnRef>
          <a:fillRef idx="0">
            <a:srgbClr val="24396B"/>
          </a:fillRef>
          <a:effectRef idx="0">
            <a:srgbClr val="24396B"/>
          </a:effectRef>
          <a:fontRef idx="minor">
            <a:srgbClr val="000000"/>
          </a:fontRef>
        </p:style>
      </p:cxnSp>
      <p:cxnSp>
        <p:nvCxnSpPr>
          <p:cNvPr id="87" name="直接箭头连接符 263"/>
          <p:cNvCxnSpPr>
            <a:stCxn id="37" idx="0"/>
            <a:endCxn id="29" idx="1"/>
          </p:cNvCxnSpPr>
          <p:nvPr/>
        </p:nvCxnSpPr>
        <p:spPr>
          <a:xfrm flipH="1" flipV="1">
            <a:off x="6106310" y="4211138"/>
            <a:ext cx="1228090" cy="744220"/>
          </a:xfrm>
          <a:prstGeom prst="straightConnector1">
            <a:avLst/>
          </a:prstGeom>
          <a:ln>
            <a:solidFill>
              <a:schemeClr val="accent1">
                <a:lumMod val="60000"/>
                <a:lumOff val="40000"/>
              </a:schemeClr>
            </a:solidFill>
            <a:prstDash val="lgDash"/>
            <a:tailEnd type="triangle"/>
          </a:ln>
        </p:spPr>
        <p:style>
          <a:lnRef idx="1">
            <a:srgbClr val="24396B"/>
          </a:lnRef>
          <a:fillRef idx="0">
            <a:srgbClr val="24396B"/>
          </a:fillRef>
          <a:effectRef idx="0">
            <a:srgbClr val="24396B"/>
          </a:effectRef>
          <a:fontRef idx="minor">
            <a:srgbClr val="000000"/>
          </a:fontRef>
        </p:style>
      </p:cxnSp>
      <p:cxnSp>
        <p:nvCxnSpPr>
          <p:cNvPr id="88" name="直接箭头连接符 269"/>
          <p:cNvCxnSpPr>
            <a:stCxn id="39" idx="0"/>
            <a:endCxn id="29" idx="1"/>
          </p:cNvCxnSpPr>
          <p:nvPr/>
        </p:nvCxnSpPr>
        <p:spPr>
          <a:xfrm flipH="1" flipV="1">
            <a:off x="6106261" y="4211138"/>
            <a:ext cx="3766185" cy="744220"/>
          </a:xfrm>
          <a:prstGeom prst="straightConnector1">
            <a:avLst/>
          </a:prstGeom>
          <a:ln>
            <a:solidFill>
              <a:schemeClr val="accent1">
                <a:lumMod val="60000"/>
                <a:lumOff val="40000"/>
              </a:schemeClr>
            </a:solidFill>
            <a:prstDash val="lgDash"/>
            <a:tailEnd type="triangle"/>
          </a:ln>
        </p:spPr>
        <p:style>
          <a:lnRef idx="1">
            <a:srgbClr val="24396B"/>
          </a:lnRef>
          <a:fillRef idx="0">
            <a:srgbClr val="24396B"/>
          </a:fillRef>
          <a:effectRef idx="0">
            <a:srgbClr val="24396B"/>
          </a:effectRef>
          <a:fontRef idx="minor">
            <a:srgbClr val="000000"/>
          </a:fontRef>
        </p:style>
      </p:cxnSp>
      <p:cxnSp>
        <p:nvCxnSpPr>
          <p:cNvPr id="90" name="直接箭头连接符 271"/>
          <p:cNvCxnSpPr/>
          <p:nvPr/>
        </p:nvCxnSpPr>
        <p:spPr>
          <a:xfrm>
            <a:off x="8153726" y="6501025"/>
            <a:ext cx="490047" cy="1"/>
          </a:xfrm>
          <a:prstGeom prst="straightConnector1">
            <a:avLst/>
          </a:prstGeom>
          <a:ln>
            <a:solidFill>
              <a:schemeClr val="accent5"/>
            </a:solidFill>
            <a:prstDash val="lgDash"/>
            <a:tailEnd type="triangle"/>
          </a:ln>
        </p:spPr>
        <p:style>
          <a:lnRef idx="1">
            <a:srgbClr val="24396B"/>
          </a:lnRef>
          <a:fillRef idx="0">
            <a:srgbClr val="24396B"/>
          </a:fillRef>
          <a:effectRef idx="0">
            <a:srgbClr val="24396B"/>
          </a:effectRef>
          <a:fontRef idx="minor">
            <a:srgbClr val="000000"/>
          </a:fontRef>
        </p:style>
      </p:cxnSp>
      <p:cxnSp>
        <p:nvCxnSpPr>
          <p:cNvPr id="91" name="直接箭头连接符 272"/>
          <p:cNvCxnSpPr/>
          <p:nvPr/>
        </p:nvCxnSpPr>
        <p:spPr>
          <a:xfrm>
            <a:off x="9470483" y="6346720"/>
            <a:ext cx="490047" cy="1"/>
          </a:xfrm>
          <a:prstGeom prst="straightConnector1">
            <a:avLst/>
          </a:prstGeom>
          <a:ln>
            <a:solidFill>
              <a:schemeClr val="accent1">
                <a:lumMod val="60000"/>
                <a:lumOff val="40000"/>
              </a:schemeClr>
            </a:solidFill>
            <a:tailEnd type="triangle"/>
          </a:ln>
        </p:spPr>
        <p:style>
          <a:lnRef idx="1">
            <a:srgbClr val="24396B"/>
          </a:lnRef>
          <a:fillRef idx="0">
            <a:srgbClr val="24396B"/>
          </a:fillRef>
          <a:effectRef idx="0">
            <a:srgbClr val="24396B"/>
          </a:effectRef>
          <a:fontRef idx="minor">
            <a:srgbClr val="000000"/>
          </a:fontRef>
        </p:style>
      </p:cxnSp>
      <p:cxnSp>
        <p:nvCxnSpPr>
          <p:cNvPr id="93" name="直接箭头连接符 277"/>
          <p:cNvCxnSpPr/>
          <p:nvPr/>
        </p:nvCxnSpPr>
        <p:spPr>
          <a:xfrm flipH="1" flipV="1">
            <a:off x="11214470" y="1671392"/>
            <a:ext cx="1" cy="527750"/>
          </a:xfrm>
          <a:prstGeom prst="straightConnector1">
            <a:avLst/>
          </a:prstGeom>
          <a:solidFill>
            <a:schemeClr val="accent1"/>
          </a:solidFill>
          <a:ln>
            <a:solidFill>
              <a:schemeClr val="tx2"/>
            </a:solidFill>
            <a:tailEnd type="triangle"/>
          </a:ln>
        </p:spPr>
        <p:style>
          <a:lnRef idx="1">
            <a:srgbClr val="24396B"/>
          </a:lnRef>
          <a:fillRef idx="0">
            <a:srgbClr val="24396B"/>
          </a:fillRef>
          <a:effectRef idx="0">
            <a:srgbClr val="24396B"/>
          </a:effectRef>
          <a:fontRef idx="minor">
            <a:srgbClr val="000000"/>
          </a:fontRef>
        </p:style>
      </p:cxnSp>
      <p:cxnSp>
        <p:nvCxnSpPr>
          <p:cNvPr id="94" name="直接箭头连接符 279"/>
          <p:cNvCxnSpPr/>
          <p:nvPr/>
        </p:nvCxnSpPr>
        <p:spPr>
          <a:xfrm flipH="1">
            <a:off x="11214470" y="4999909"/>
            <a:ext cx="1" cy="539999"/>
          </a:xfrm>
          <a:prstGeom prst="straightConnector1">
            <a:avLst/>
          </a:prstGeom>
          <a:ln>
            <a:solidFill>
              <a:schemeClr val="tx2"/>
            </a:solidFill>
            <a:tailEnd type="triangle"/>
          </a:ln>
        </p:spPr>
        <p:style>
          <a:lnRef idx="1">
            <a:srgbClr val="24396B"/>
          </a:lnRef>
          <a:fillRef idx="0">
            <a:srgbClr val="24396B"/>
          </a:fillRef>
          <a:effectRef idx="0">
            <a:srgbClr val="24396B"/>
          </a:effectRef>
          <a:fontRef idx="minor">
            <a:srgbClr val="000000"/>
          </a:fontRef>
        </p:style>
      </p:cxnSp>
      <p:pic>
        <p:nvPicPr>
          <p:cNvPr id="96" name="图片 95" descr="我的门店"/>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03800" y="1720850"/>
            <a:ext cx="360000" cy="360000"/>
          </a:xfrm>
          <a:prstGeom prst="rect">
            <a:avLst/>
          </a:prstGeom>
        </p:spPr>
      </p:pic>
      <p:pic>
        <p:nvPicPr>
          <p:cNvPr id="109" name="图片 108" descr="我的门店"/>
          <p:cNvPicPr>
            <a:picLocks noChangeAspect="1"/>
          </p:cNvPicPr>
          <p:nvPr/>
        </p:nvPicPr>
        <p:blipFill>
          <a:blip r:embed="rId1">
            <a:extLst>
              <a:ext uri="{96DAC541-7B7A-43D3-8B79-37D633B846F1}">
                <asvg:svgBlip xmlns:asvg="http://schemas.microsoft.com/office/drawing/2016/SVG/main" r:embed="rId3"/>
              </a:ext>
            </a:extLst>
          </a:blip>
          <a:stretch>
            <a:fillRect/>
          </a:stretch>
        </p:blipFill>
        <p:spPr>
          <a:xfrm>
            <a:off x="6349320" y="1720850"/>
            <a:ext cx="359410" cy="360000"/>
          </a:xfrm>
          <a:prstGeom prst="rect">
            <a:avLst/>
          </a:prstGeom>
        </p:spPr>
      </p:pic>
      <p:pic>
        <p:nvPicPr>
          <p:cNvPr id="110" name="图片 109" descr="我的门店"/>
          <p:cNvPicPr>
            <a:picLocks noChangeAspect="1"/>
          </p:cNvPicPr>
          <p:nvPr/>
        </p:nvPicPr>
        <p:blipFill>
          <a:blip r:embed="rId1">
            <a:extLst>
              <a:ext uri="{96DAC541-7B7A-43D3-8B79-37D633B846F1}">
                <asvg:svgBlip xmlns:asvg="http://schemas.microsoft.com/office/drawing/2016/SVG/main" r:embed="rId4"/>
              </a:ext>
            </a:extLst>
          </a:blip>
          <a:stretch>
            <a:fillRect/>
          </a:stretch>
        </p:blipFill>
        <p:spPr>
          <a:xfrm>
            <a:off x="5676855" y="1720850"/>
            <a:ext cx="359410" cy="360000"/>
          </a:xfrm>
          <a:prstGeom prst="rect">
            <a:avLst/>
          </a:prstGeom>
        </p:spPr>
      </p:pic>
      <p:sp>
        <p:nvSpPr>
          <p:cNvPr id="111" name="文本框 110"/>
          <p:cNvSpPr txBox="1"/>
          <p:nvPr/>
        </p:nvSpPr>
        <p:spPr>
          <a:xfrm>
            <a:off x="6966666" y="1734963"/>
            <a:ext cx="360001" cy="307777"/>
          </a:xfrm>
          <a:prstGeom prst="rect">
            <a:avLst/>
          </a:prstGeom>
          <a:noFill/>
          <a:extLst>
            <a:ext uri="{909E8E84-426E-40DD-AFC4-6F175D3DCCD1}">
              <a14:hiddenFill xmlns:a14="http://schemas.microsoft.com/office/drawing/2010/main">
                <a:solidFill>
                  <a:schemeClr val="accent1"/>
                </a:solidFill>
              </a14:hiddenFill>
            </a:ext>
          </a:extLst>
        </p:spPr>
        <p:txBody>
          <a:bodyPr wrap="square" rtlCol="0">
            <a:spAutoFit/>
          </a:bodyPr>
          <a:lstStyle/>
          <a:p>
            <a:pPr algn="ctr"/>
            <a:r>
              <a:rPr lang="en-US" altLang="zh-CN" sz="1400" b="1" dirty="0">
                <a:solidFill>
                  <a:schemeClr val="accent1"/>
                </a:solidFill>
                <a:latin typeface="微软雅黑" panose="020B0503020204020204" charset="-122"/>
                <a:ea typeface="微软雅黑" panose="020B0503020204020204" charset="-122"/>
                <a:cs typeface="微软雅黑" panose="020B0503020204020204" charset="-122"/>
              </a:rPr>
              <a:t>…</a:t>
            </a:r>
            <a:endParaRPr lang="en-US" altLang="zh-CN"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pic>
        <p:nvPicPr>
          <p:cNvPr id="112" name="图片 111" descr="B01-经销商"/>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54035" y="1697355"/>
            <a:ext cx="412115" cy="345440"/>
          </a:xfrm>
          <a:prstGeom prst="rect">
            <a:avLst/>
          </a:prstGeom>
        </p:spPr>
      </p:pic>
      <p:pic>
        <p:nvPicPr>
          <p:cNvPr id="113" name="图片 112" descr="B01-经销商"/>
          <p:cNvPicPr>
            <a:picLocks noChangeAspect="1"/>
          </p:cNvPicPr>
          <p:nvPr/>
        </p:nvPicPr>
        <p:blipFill>
          <a:blip r:embed="rId5">
            <a:extLst>
              <a:ext uri="{96DAC541-7B7A-43D3-8B79-37D633B846F1}">
                <asvg:svgBlip xmlns:asvg="http://schemas.microsoft.com/office/drawing/2016/SVG/main" r:embed="rId7"/>
              </a:ext>
            </a:extLst>
          </a:blip>
          <a:stretch>
            <a:fillRect/>
          </a:stretch>
        </p:blipFill>
        <p:spPr>
          <a:xfrm>
            <a:off x="8924925" y="1697355"/>
            <a:ext cx="412115" cy="345440"/>
          </a:xfrm>
          <a:prstGeom prst="rect">
            <a:avLst/>
          </a:prstGeom>
        </p:spPr>
      </p:pic>
      <p:pic>
        <p:nvPicPr>
          <p:cNvPr id="114" name="图片 113" descr="B01-经销商"/>
          <p:cNvPicPr>
            <a:picLocks noChangeAspect="1"/>
          </p:cNvPicPr>
          <p:nvPr/>
        </p:nvPicPr>
        <p:blipFill>
          <a:blip r:embed="rId5">
            <a:extLst>
              <a:ext uri="{96DAC541-7B7A-43D3-8B79-37D633B846F1}">
                <asvg:svgBlip xmlns:asvg="http://schemas.microsoft.com/office/drawing/2016/SVG/main" r:embed="rId8"/>
              </a:ext>
            </a:extLst>
          </a:blip>
          <a:stretch>
            <a:fillRect/>
          </a:stretch>
        </p:blipFill>
        <p:spPr>
          <a:xfrm>
            <a:off x="9695815" y="1697355"/>
            <a:ext cx="412115" cy="345440"/>
          </a:xfrm>
          <a:prstGeom prst="rect">
            <a:avLst/>
          </a:prstGeom>
        </p:spPr>
      </p:pic>
      <p:sp>
        <p:nvSpPr>
          <p:cNvPr id="115" name="文本框 114"/>
          <p:cNvSpPr txBox="1"/>
          <p:nvPr/>
        </p:nvSpPr>
        <p:spPr>
          <a:xfrm>
            <a:off x="10198816" y="1734963"/>
            <a:ext cx="360001" cy="307777"/>
          </a:xfrm>
          <a:prstGeom prst="rect">
            <a:avLst/>
          </a:prstGeom>
          <a:noFill/>
          <a:extLst>
            <a:ext uri="{909E8E84-426E-40DD-AFC4-6F175D3DCCD1}">
              <a14:hiddenFill xmlns:a14="http://schemas.microsoft.com/office/drawing/2010/main">
                <a:solidFill>
                  <a:schemeClr val="accent1"/>
                </a:solidFill>
              </a14:hiddenFill>
            </a:ext>
          </a:extLst>
        </p:spPr>
        <p:txBody>
          <a:bodyPr wrap="square" rtlCol="0">
            <a:spAutoFit/>
          </a:bodyPr>
          <a:lstStyle/>
          <a:p>
            <a:pPr algn="ctr"/>
            <a:r>
              <a:rPr lang="en-US" altLang="zh-CN" sz="1400" b="1" dirty="0">
                <a:solidFill>
                  <a:schemeClr val="accent1"/>
                </a:solidFill>
                <a:latin typeface="微软雅黑" panose="020B0503020204020204" charset="-122"/>
                <a:ea typeface="微软雅黑" panose="020B0503020204020204" charset="-122"/>
                <a:cs typeface="微软雅黑" panose="020B0503020204020204" charset="-122"/>
              </a:rPr>
              <a:t>…</a:t>
            </a:r>
            <a:endParaRPr lang="en-US" altLang="zh-CN" sz="1400" b="1" dirty="0">
              <a:solidFill>
                <a:schemeClr val="accent1"/>
              </a:solidFill>
              <a:latin typeface="微软雅黑" panose="020B0503020204020204" charset="-122"/>
              <a:ea typeface="微软雅黑" panose="020B0503020204020204" charset="-122"/>
              <a:cs typeface="微软雅黑" panose="020B0503020204020204" charset="-122"/>
            </a:endParaRPr>
          </a:p>
        </p:txBody>
      </p:sp>
      <p:pic>
        <p:nvPicPr>
          <p:cNvPr id="116" name="图片 115" descr="配额"/>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116695" y="3032125"/>
            <a:ext cx="358140" cy="358140"/>
          </a:xfrm>
          <a:prstGeom prst="rect">
            <a:avLst/>
          </a:prstGeom>
        </p:spPr>
      </p:pic>
      <p:pic>
        <p:nvPicPr>
          <p:cNvPr id="117" name="图片 116" descr="智能云"/>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784475" y="3077210"/>
            <a:ext cx="284480" cy="213360"/>
          </a:xfrm>
          <a:prstGeom prst="rect">
            <a:avLst/>
          </a:prstGeom>
        </p:spPr>
      </p:pic>
      <p:pic>
        <p:nvPicPr>
          <p:cNvPr id="118" name="图片 117" descr="智能优化"/>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951855" y="3060700"/>
            <a:ext cx="308610" cy="308610"/>
          </a:xfrm>
          <a:prstGeom prst="rect">
            <a:avLst/>
          </a:prstGeom>
        </p:spPr>
      </p:pic>
      <p:pic>
        <p:nvPicPr>
          <p:cNvPr id="119" name="图片 118" descr="行政区域"/>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679315" y="5037455"/>
            <a:ext cx="233680" cy="233680"/>
          </a:xfrm>
          <a:prstGeom prst="rect">
            <a:avLst/>
          </a:prstGeom>
        </p:spPr>
      </p:pic>
      <p:pic>
        <p:nvPicPr>
          <p:cNvPr id="121" name="图片 120" descr="主仓库"/>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201535" y="4999990"/>
            <a:ext cx="271145" cy="271145"/>
          </a:xfrm>
          <a:prstGeom prst="rect">
            <a:avLst/>
          </a:prstGeom>
        </p:spPr>
      </p:pic>
      <p:pic>
        <p:nvPicPr>
          <p:cNvPr id="122" name="图片 121" descr="入库"/>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2131060" y="5024755"/>
            <a:ext cx="253365" cy="253365"/>
          </a:xfrm>
          <a:prstGeom prst="rect">
            <a:avLst/>
          </a:prstGeom>
        </p:spPr>
      </p:pic>
      <p:pic>
        <p:nvPicPr>
          <p:cNvPr id="124" name="图片 123" descr="中烟-移动后台_B2B订货"/>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9760585" y="5037455"/>
            <a:ext cx="233680" cy="233680"/>
          </a:xfrm>
          <a:prstGeom prst="rect">
            <a:avLst/>
          </a:prstGeom>
        </p:spPr>
      </p:pic>
      <p:pic>
        <p:nvPicPr>
          <p:cNvPr id="4" name="图片 3" descr="屋顶资源管理"/>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355600" y="186055"/>
            <a:ext cx="549910" cy="549910"/>
          </a:xfrm>
          <a:prstGeom prst="rect">
            <a:avLst/>
          </a:prstGeom>
        </p:spPr>
      </p:pic>
      <p:grpSp>
        <p:nvGrpSpPr>
          <p:cNvPr id="9" name="组合 8"/>
          <p:cNvGrpSpPr/>
          <p:nvPr/>
        </p:nvGrpSpPr>
        <p:grpSpPr>
          <a:xfrm>
            <a:off x="8715375" y="348615"/>
            <a:ext cx="3219450" cy="332740"/>
            <a:chOff x="13761" y="549"/>
            <a:chExt cx="5070" cy="524"/>
          </a:xfrm>
        </p:grpSpPr>
        <p:pic>
          <p:nvPicPr>
            <p:cNvPr id="10" name="图片 9"/>
            <p:cNvPicPr>
              <a:picLocks noChangeAspect="1"/>
            </p:cNvPicPr>
            <p:nvPr userDrawn="1"/>
          </p:nvPicPr>
          <p:blipFill>
            <a:blip r:embed="rId25"/>
            <a:srcRect l="17002" t="-1765" r="56499" b="-1176"/>
            <a:stretch>
              <a:fillRect/>
            </a:stretch>
          </p:blipFill>
          <p:spPr>
            <a:xfrm>
              <a:off x="13761" y="549"/>
              <a:ext cx="1582" cy="525"/>
            </a:xfrm>
            <a:prstGeom prst="rect">
              <a:avLst/>
            </a:prstGeom>
          </p:spPr>
        </p:pic>
        <p:sp>
          <p:nvSpPr>
            <p:cNvPr id="16" name="文本框 15"/>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cxnSp>
        <p:nvCxnSpPr>
          <p:cNvPr id="2" name="直接箭头连接符 271"/>
          <p:cNvCxnSpPr/>
          <p:nvPr/>
        </p:nvCxnSpPr>
        <p:spPr>
          <a:xfrm>
            <a:off x="8153091" y="6346720"/>
            <a:ext cx="490047" cy="1"/>
          </a:xfrm>
          <a:prstGeom prst="straightConnector1">
            <a:avLst/>
          </a:prstGeom>
          <a:ln>
            <a:solidFill>
              <a:schemeClr val="accent1">
                <a:lumMod val="60000"/>
                <a:lumOff val="40000"/>
              </a:schemeClr>
            </a:solidFill>
            <a:prstDash val="lgDash"/>
            <a:tailEnd type="triangle"/>
          </a:ln>
        </p:spPr>
        <p:style>
          <a:lnRef idx="1">
            <a:srgbClr val="24396B"/>
          </a:lnRef>
          <a:fillRef idx="0">
            <a:srgbClr val="24396B"/>
          </a:fillRef>
          <a:effectRef idx="0">
            <a:srgbClr val="24396B"/>
          </a:effectRef>
          <a:fontRef idx="minor">
            <a:srgbClr val="000000"/>
          </a:fontRef>
        </p:style>
      </p:cxnSp>
      <p:cxnSp>
        <p:nvCxnSpPr>
          <p:cNvPr id="3" name="直接箭头连接符 272"/>
          <p:cNvCxnSpPr/>
          <p:nvPr/>
        </p:nvCxnSpPr>
        <p:spPr>
          <a:xfrm>
            <a:off x="9470483" y="6501025"/>
            <a:ext cx="490047" cy="1"/>
          </a:xfrm>
          <a:prstGeom prst="straightConnector1">
            <a:avLst/>
          </a:prstGeom>
          <a:ln>
            <a:solidFill>
              <a:schemeClr val="accent5"/>
            </a:solidFill>
            <a:tailEnd type="triangle"/>
          </a:ln>
        </p:spPr>
        <p:style>
          <a:lnRef idx="1">
            <a:srgbClr val="24396B"/>
          </a:lnRef>
          <a:fillRef idx="0">
            <a:srgbClr val="24396B"/>
          </a:fillRef>
          <a:effectRef idx="0">
            <a:srgbClr val="24396B"/>
          </a:effectRef>
          <a:fontRef idx="minor">
            <a:srgbClr val="000000"/>
          </a:fontRef>
        </p:style>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天蝎PPT1"/>
          <p:cNvPicPr>
            <a:picLocks noChangeAspect="1"/>
          </p:cNvPicPr>
          <p:nvPr/>
        </p:nvPicPr>
        <p:blipFill rotWithShape="1">
          <a:blip r:embed="rId1" cstate="email"/>
          <a:srcRect/>
          <a:stretch>
            <a:fillRect/>
          </a:stretch>
        </p:blipFill>
        <p:spPr>
          <a:xfrm flipH="1">
            <a:off x="4431665" y="1270"/>
            <a:ext cx="7755825" cy="6858000"/>
          </a:xfrm>
          <a:prstGeom prst="rect">
            <a:avLst/>
          </a:prstGeom>
        </p:spPr>
      </p:pic>
      <p:sp>
        <p:nvSpPr>
          <p:cNvPr id="36" name="矩形 35"/>
          <p:cNvSpPr/>
          <p:nvPr/>
        </p:nvSpPr>
        <p:spPr>
          <a:xfrm>
            <a:off x="0" y="1270"/>
            <a:ext cx="12268200" cy="6858000"/>
          </a:xfrm>
          <a:prstGeom prst="rect">
            <a:avLst/>
          </a:prstGeom>
          <a:gradFill>
            <a:gsLst>
              <a:gs pos="0">
                <a:srgbClr val="EDEEF2">
                  <a:lumMod val="0"/>
                  <a:lumOff val="100000"/>
                </a:srgbClr>
              </a:gs>
              <a:gs pos="100000">
                <a:srgbClr val="DBDBDD">
                  <a:alpha val="50000"/>
                </a:srgbClr>
              </a:gs>
            </a:gsLst>
            <a:lin ang="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5598" name="Group"/>
          <p:cNvGrpSpPr/>
          <p:nvPr/>
        </p:nvGrpSpPr>
        <p:grpSpPr>
          <a:xfrm>
            <a:off x="1443368" y="1358900"/>
            <a:ext cx="9305264" cy="4305301"/>
            <a:chOff x="0" y="0"/>
            <a:chExt cx="18610527" cy="8610600"/>
          </a:xfrm>
          <a:solidFill>
            <a:schemeClr val="accent1"/>
          </a:solidFill>
        </p:grpSpPr>
        <p:sp>
          <p:nvSpPr>
            <p:cNvPr id="5596" name="Triangle"/>
            <p:cNvSpPr/>
            <p:nvPr/>
          </p:nvSpPr>
          <p:spPr>
            <a:xfrm rot="5400000">
              <a:off x="0" y="7340600"/>
              <a:ext cx="1270000" cy="12700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grp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160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597" name="Rounded Rectangle"/>
            <p:cNvSpPr/>
            <p:nvPr/>
          </p:nvSpPr>
          <p:spPr>
            <a:xfrm>
              <a:off x="0" y="0"/>
              <a:ext cx="18610528" cy="7924800"/>
            </a:xfrm>
            <a:prstGeom prst="roundRect">
              <a:avLst>
                <a:gd name="adj" fmla="val 2404"/>
              </a:avLst>
            </a:prstGeom>
            <a:grp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160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2" name="TextBox 1"/>
          <p:cNvSpPr txBox="1"/>
          <p:nvPr/>
        </p:nvSpPr>
        <p:spPr>
          <a:xfrm>
            <a:off x="1454150" y="2272665"/>
            <a:ext cx="9283700" cy="1576070"/>
          </a:xfrm>
          <a:prstGeom prst="rect">
            <a:avLst/>
          </a:prstGeom>
          <a:noFill/>
        </p:spPr>
        <p:txBody>
          <a:bodyPr wrap="square" anchor="ctr" anchorCtr="0">
            <a:noAutofit/>
          </a:bodyPr>
          <a:lstStyle/>
          <a:p>
            <a:pPr algn="ctr"/>
            <a:r>
              <a:rPr lang="id-ID" sz="8000" b="1" dirty="0">
                <a:solidFill>
                  <a:schemeClr val="bg1"/>
                </a:solidFill>
                <a:latin typeface="微软雅黑" panose="020B0503020204020204" charset="-122"/>
                <a:ea typeface="微软雅黑" panose="020B0503020204020204" charset="-122"/>
                <a:cs typeface="微软雅黑" panose="020B0503020204020204" charset="-122"/>
              </a:rPr>
              <a:t>THANK YOU</a:t>
            </a:r>
            <a:endParaRPr lang="id-ID" sz="80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 name="TextBox 47"/>
          <p:cNvSpPr txBox="1"/>
          <p:nvPr/>
        </p:nvSpPr>
        <p:spPr>
          <a:xfrm>
            <a:off x="3982085" y="4293870"/>
            <a:ext cx="4970145" cy="337185"/>
          </a:xfrm>
          <a:prstGeom prst="rect">
            <a:avLst/>
          </a:prstGeom>
          <a:noFill/>
        </p:spPr>
        <p:txBody>
          <a:bodyPr wrap="square">
            <a:spAutoFit/>
          </a:bodyPr>
          <a:lstStyle/>
          <a:p>
            <a:pPr algn="ctr"/>
            <a:r>
              <a:rPr lang="id-ID" sz="1600" dirty="0" err="1">
                <a:solidFill>
                  <a:schemeClr val="bg1"/>
                </a:solidFill>
                <a:latin typeface="微软雅黑" panose="020B0503020204020204" charset="-122"/>
                <a:ea typeface="微软雅黑" panose="020B0503020204020204" charset="-122"/>
                <a:cs typeface="微软雅黑" panose="020B0503020204020204" charset="-122"/>
              </a:rPr>
              <a:t>汇报人</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：开悟思维    </a:t>
            </a:r>
            <a:r>
              <a:rPr lang="id-ID" sz="1600" dirty="0" err="1">
                <a:solidFill>
                  <a:schemeClr val="bg1"/>
                </a:solidFill>
                <a:latin typeface="微软雅黑" panose="020B0503020204020204" charset="-122"/>
                <a:ea typeface="微软雅黑" panose="020B0503020204020204" charset="-122"/>
                <a:cs typeface="微软雅黑" panose="020B0503020204020204" charset="-122"/>
              </a:rPr>
              <a:t>汇报时间</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年</a:t>
            </a:r>
            <a:r>
              <a:rPr lang="en-US" altLang="zh-CN" sz="1600"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月</a:t>
            </a:r>
            <a:r>
              <a:rPr lang="en-US" altLang="zh-CN" sz="1600"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日</a:t>
            </a:r>
            <a:endParaRPr lang="en-ID" sz="1600" dirty="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DIAGRAM_VIRTUALLY_FRAME" val="{&quot;height&quot;:410,&quot;left&quot;:29.05,&quot;top&quot;:91.25,&quot;width&quot;:920.15}"/>
</p:tagLst>
</file>

<file path=ppt/tags/tag20.xml><?xml version="1.0" encoding="utf-8"?>
<p:tagLst xmlns:p="http://schemas.openxmlformats.org/presentationml/2006/main">
  <p:tag name="KSO_WM_DIAGRAM_VIRTUALLY_FRAME" val="{&quot;height&quot;:410,&quot;left&quot;:29.05,&quot;top&quot;:91.25,&quot;width&quot;:920.15}"/>
</p:tagLst>
</file>

<file path=ppt/tags/tag21.xml><?xml version="1.0" encoding="utf-8"?>
<p:tagLst xmlns:p="http://schemas.openxmlformats.org/presentationml/2006/main">
  <p:tag name="KSO_WM_DIAGRAM_VIRTUALLY_FRAME" val="{&quot;height&quot;:410,&quot;left&quot;:29.05,&quot;top&quot;:91.25,&quot;width&quot;:920.15}"/>
</p:tagLst>
</file>

<file path=ppt/tags/tag22.xml><?xml version="1.0" encoding="utf-8"?>
<p:tagLst xmlns:p="http://schemas.openxmlformats.org/presentationml/2006/main">
  <p:tag name="KSO_WM_DIAGRAM_VIRTUALLY_FRAME" val="{&quot;height&quot;:410,&quot;left&quot;:29.05,&quot;top&quot;:91.25,&quot;width&quot;:920.15}"/>
</p:tagLst>
</file>

<file path=ppt/tags/tag23.xml><?xml version="1.0" encoding="utf-8"?>
<p:tagLst xmlns:p="http://schemas.openxmlformats.org/presentationml/2006/main">
  <p:tag name="KSO_WM_DIAGRAM_VIRTUALLY_FRAME" val="{&quot;height&quot;:410,&quot;left&quot;:29.05,&quot;top&quot;:91.25,&quot;width&quot;:920.15}"/>
</p:tagLst>
</file>

<file path=ppt/tags/tag24.xml><?xml version="1.0" encoding="utf-8"?>
<p:tagLst xmlns:p="http://schemas.openxmlformats.org/presentationml/2006/main">
  <p:tag name="KSO_WM_DIAGRAM_VIRTUALLY_FRAME" val="{&quot;height&quot;:410,&quot;left&quot;:29.05,&quot;top&quot;:91.25,&quot;width&quot;:920.15}"/>
</p:tagLst>
</file>

<file path=ppt/tags/tag25.xml><?xml version="1.0" encoding="utf-8"?>
<p:tagLst xmlns:p="http://schemas.openxmlformats.org/presentationml/2006/main">
  <p:tag name="KSO_WM_DIAGRAM_VIRTUALLY_FRAME" val="{&quot;height&quot;:410,&quot;left&quot;:29.05,&quot;top&quot;:91.25,&quot;width&quot;:920.15}"/>
</p:tagLst>
</file>

<file path=ppt/tags/tag26.xml><?xml version="1.0" encoding="utf-8"?>
<p:tagLst xmlns:p="http://schemas.openxmlformats.org/presentationml/2006/main">
  <p:tag name="KSO_WM_DIAGRAM_VIRTUALLY_FRAME" val="{&quot;height&quot;:410,&quot;left&quot;:29.05,&quot;top&quot;:91.25,&quot;width&quot;:920.15}"/>
</p:tagLst>
</file>

<file path=ppt/tags/tag27.xml><?xml version="1.0" encoding="utf-8"?>
<p:tagLst xmlns:p="http://schemas.openxmlformats.org/presentationml/2006/main">
  <p:tag name="KSO_WM_DIAGRAM_VIRTUALLY_FRAME" val="{&quot;height&quot;:410,&quot;left&quot;:29.05,&quot;top&quot;:91.25,&quot;width&quot;:912.85}"/>
</p:tagLst>
</file>

<file path=ppt/tags/tag28.xml><?xml version="1.0" encoding="utf-8"?>
<p:tagLst xmlns:p="http://schemas.openxmlformats.org/presentationml/2006/main">
  <p:tag name="KSO_WM_DIAGRAM_VIRTUALLY_FRAME" val="{&quot;height&quot;:410,&quot;left&quot;:29.05,&quot;top&quot;:91.25,&quot;width&quot;:912.85}"/>
</p:tagLst>
</file>

<file path=ppt/tags/tag29.xml><?xml version="1.0" encoding="utf-8"?>
<p:tagLst xmlns:p="http://schemas.openxmlformats.org/presentationml/2006/main">
  <p:tag name="KSO_WM_DIAGRAM_VIRTUALLY_FRAME" val="{&quot;height&quot;:410,&quot;left&quot;:29.05,&quot;top&quot;:91.25,&quot;width&quot;:912.85}"/>
</p:tagLst>
</file>

<file path=ppt/tags/tag30.xml><?xml version="1.0" encoding="utf-8"?>
<p:tagLst xmlns:p="http://schemas.openxmlformats.org/presentationml/2006/main">
  <p:tag name="KSO_WM_DIAGRAM_VIRTUALLY_FRAME" val="{&quot;height&quot;:410,&quot;left&quot;:29.05,&quot;top&quot;:91.25,&quot;width&quot;:912.85}"/>
</p:tagLst>
</file>

<file path=ppt/tags/tag31.xml><?xml version="1.0" encoding="utf-8"?>
<p:tagLst xmlns:p="http://schemas.openxmlformats.org/presentationml/2006/main">
  <p:tag name="KSO_WM_DIAGRAM_VIRTUALLY_FRAME" val="{&quot;height&quot;:410,&quot;left&quot;:29.05,&quot;top&quot;:91.25,&quot;width&quot;:912.85}"/>
</p:tagLst>
</file>

<file path=ppt/tags/tag32.xml><?xml version="1.0" encoding="utf-8"?>
<p:tagLst xmlns:p="http://schemas.openxmlformats.org/presentationml/2006/main">
  <p:tag name="KSO_WM_DIAGRAM_VIRTUALLY_FRAME" val="{&quot;height&quot;:410,&quot;left&quot;:29.05,&quot;top&quot;:91.25,&quot;width&quot;:912.85}"/>
</p:tagLst>
</file>

<file path=ppt/tags/tag33.xml><?xml version="1.0" encoding="utf-8"?>
<p:tagLst xmlns:p="http://schemas.openxmlformats.org/presentationml/2006/main">
  <p:tag name="KSO_WM_DIAGRAM_VIRTUALLY_FRAME" val="{&quot;height&quot;:410,&quot;left&quot;:29.05,&quot;top&quot;:91.25,&quot;width&quot;:912.85}"/>
</p:tagLst>
</file>

<file path=ppt/tags/tag34.xml><?xml version="1.0" encoding="utf-8"?>
<p:tagLst xmlns:p="http://schemas.openxmlformats.org/presentationml/2006/main">
  <p:tag name="KSO_WM_DIAGRAM_VIRTUALLY_FRAME" val="{&quot;height&quot;:410,&quot;left&quot;:29.05,&quot;top&quot;:91.25,&quot;width&quot;:912.85}"/>
</p:tagLst>
</file>

<file path=ppt/tags/tag35.xml><?xml version="1.0" encoding="utf-8"?>
<p:tagLst xmlns:p="http://schemas.openxmlformats.org/presentationml/2006/main">
  <p:tag name="KSO_WM_DIAGRAM_VIRTUALLY_FRAME" val="{&quot;height&quot;:410,&quot;left&quot;:29.05,&quot;top&quot;:91.25,&quot;width&quot;:912.85}"/>
</p:tagLst>
</file>

<file path=ppt/tags/tag36.xml><?xml version="1.0" encoding="utf-8"?>
<p:tagLst xmlns:p="http://schemas.openxmlformats.org/presentationml/2006/main">
  <p:tag name="KSO_WM_DIAGRAM_VIRTUALLY_FRAME" val="{&quot;height&quot;:410,&quot;left&quot;:29.05,&quot;top&quot;:91.25,&quot;width&quot;:919.5}"/>
</p:tagLst>
</file>

<file path=ppt/tags/tag37.xml><?xml version="1.0" encoding="utf-8"?>
<p:tagLst xmlns:p="http://schemas.openxmlformats.org/presentationml/2006/main">
  <p:tag name="KSO_WM_DIAGRAM_VIRTUALLY_FRAME" val="{&quot;height&quot;:410,&quot;left&quot;:29.05,&quot;top&quot;:91.25,&quot;width&quot;:919.5}"/>
</p:tagLst>
</file>

<file path=ppt/tags/tag38.xml><?xml version="1.0" encoding="utf-8"?>
<p:tagLst xmlns:p="http://schemas.openxmlformats.org/presentationml/2006/main">
  <p:tag name="KSO_WM_DIAGRAM_VIRTUALLY_FRAME" val="{&quot;height&quot;:410,&quot;left&quot;:29.05,&quot;top&quot;:91.25,&quot;width&quot;:919.5}"/>
</p:tagLst>
</file>

<file path=ppt/tags/tag39.xml><?xml version="1.0" encoding="utf-8"?>
<p:tagLst xmlns:p="http://schemas.openxmlformats.org/presentationml/2006/main">
  <p:tag name="KSO_WM_DIAGRAM_VIRTUALLY_FRAME" val="{&quot;height&quot;:410,&quot;left&quot;:29.05,&quot;top&quot;:91.25,&quot;width&quot;:919.5}"/>
</p:tagLst>
</file>

<file path=ppt/tags/tag40.xml><?xml version="1.0" encoding="utf-8"?>
<p:tagLst xmlns:p="http://schemas.openxmlformats.org/presentationml/2006/main">
  <p:tag name="KSO_WM_DIAGRAM_VIRTUALLY_FRAME" val="{&quot;height&quot;:410,&quot;left&quot;:29.05,&quot;top&quot;:91.25,&quot;width&quot;:919.5}"/>
</p:tagLst>
</file>

<file path=ppt/tags/tag41.xml><?xml version="1.0" encoding="utf-8"?>
<p:tagLst xmlns:p="http://schemas.openxmlformats.org/presentationml/2006/main">
  <p:tag name="KSO_WM_DIAGRAM_VIRTUALLY_FRAME" val="{&quot;height&quot;:410,&quot;left&quot;:29.05,&quot;top&quot;:91.25,&quot;width&quot;:919.5}"/>
</p:tagLst>
</file>

<file path=ppt/tags/tag42.xml><?xml version="1.0" encoding="utf-8"?>
<p:tagLst xmlns:p="http://schemas.openxmlformats.org/presentationml/2006/main">
  <p:tag name="KSO_WM_DIAGRAM_VIRTUALLY_FRAME" val="{&quot;height&quot;:410,&quot;left&quot;:29.05,&quot;top&quot;:91.25,&quot;width&quot;:919.5}"/>
</p:tagLst>
</file>

<file path=ppt/tags/tag43.xml><?xml version="1.0" encoding="utf-8"?>
<p:tagLst xmlns:p="http://schemas.openxmlformats.org/presentationml/2006/main">
  <p:tag name="KSO_WM_DIAGRAM_VIRTUALLY_FRAME" val="{&quot;height&quot;:410,&quot;left&quot;:29.05,&quot;top&quot;:91.25,&quot;width&quot;:919.5}"/>
</p:tagLst>
</file>

<file path=ppt/tags/tag44.xml><?xml version="1.0" encoding="utf-8"?>
<p:tagLst xmlns:p="http://schemas.openxmlformats.org/presentationml/2006/main">
  <p:tag name="KSO_WM_DIAGRAM_VIRTUALLY_FRAME" val="{&quot;height&quot;:410,&quot;left&quot;:29.05,&quot;top&quot;:91.25,&quot;width&quot;:919.5}"/>
</p:tagLst>
</file>

<file path=ppt/tags/tag45.xml><?xml version="1.0" encoding="utf-8"?>
<p:tagLst xmlns:p="http://schemas.openxmlformats.org/presentationml/2006/main">
  <p:tag name="KSO_WM_DIAGRAM_VIRTUALLY_FRAME" val="{&quot;height&quot;:410,&quot;left&quot;:29.05,&quot;top&quot;:91.25,&quot;width&quot;:919.5}"/>
</p:tagLst>
</file>

<file path=ppt/tags/tag46.xml><?xml version="1.0" encoding="utf-8"?>
<p:tagLst xmlns:p="http://schemas.openxmlformats.org/presentationml/2006/main">
  <p:tag name="KSO_WM_DIAGRAM_VIRTUALLY_FRAME" val="{&quot;height&quot;:403.1,&quot;left&quot;:55.7,&quot;top&quot;:109.25,&quot;width&quot;:860.45}"/>
</p:tagLst>
</file>

<file path=ppt/tags/tag47.xml><?xml version="1.0" encoding="utf-8"?>
<p:tagLst xmlns:p="http://schemas.openxmlformats.org/presentationml/2006/main">
  <p:tag name="KSO_WM_DIAGRAM_VIRTUALLY_FRAME" val="{&quot;height&quot;:403.1,&quot;left&quot;:55.7,&quot;top&quot;:109.25,&quot;width&quot;:860.45}"/>
</p:tagLst>
</file>

<file path=ppt/tags/tag48.xml><?xml version="1.0" encoding="utf-8"?>
<p:tagLst xmlns:p="http://schemas.openxmlformats.org/presentationml/2006/main">
  <p:tag name="KSO_WM_DIAGRAM_VIRTUALLY_FRAME" val="{&quot;height&quot;:403.1,&quot;left&quot;:55.7,&quot;top&quot;:109.25,&quot;width&quot;:860.45}"/>
</p:tagLst>
</file>

<file path=ppt/tags/tag49.xml><?xml version="1.0" encoding="utf-8"?>
<p:tagLst xmlns:p="http://schemas.openxmlformats.org/presentationml/2006/main">
  <p:tag name="KSO_WM_DIAGRAM_VIRTUALLY_FRAME" val="{&quot;height&quot;:403.1,&quot;left&quot;:55.7,&quot;top&quot;:109.25,&quot;width&quot;:860.45}"/>
</p:tagLst>
</file>

<file path=ppt/tags/tag50.xml><?xml version="1.0" encoding="utf-8"?>
<p:tagLst xmlns:p="http://schemas.openxmlformats.org/presentationml/2006/main">
  <p:tag name="KSO_WM_DIAGRAM_VIRTUALLY_FRAME" val="{&quot;height&quot;:403.1,&quot;left&quot;:55.7,&quot;top&quot;:109.25,&quot;width&quot;:860.45}"/>
</p:tagLst>
</file>

<file path=ppt/tags/tag51.xml><?xml version="1.0" encoding="utf-8"?>
<p:tagLst xmlns:p="http://schemas.openxmlformats.org/presentationml/2006/main">
  <p:tag name="KSO_WM_DIAGRAM_VIRTUALLY_FRAME" val="{&quot;height&quot;:403.1,&quot;left&quot;:55.7,&quot;top&quot;:109.25,&quot;width&quot;:860.45}"/>
</p:tagLst>
</file>

<file path=ppt/tags/tag52.xml><?xml version="1.0" encoding="utf-8"?>
<p:tagLst xmlns:p="http://schemas.openxmlformats.org/presentationml/2006/main">
  <p:tag name="KSO_WM_DIAGRAM_VIRTUALLY_FRAME" val="{&quot;height&quot;:403.1,&quot;left&quot;:55.7,&quot;top&quot;:109.25,&quot;width&quot;:860.45}"/>
</p:tagLst>
</file>

<file path=ppt/tags/tag53.xml><?xml version="1.0" encoding="utf-8"?>
<p:tagLst xmlns:p="http://schemas.openxmlformats.org/presentationml/2006/main">
  <p:tag name="KSO_WM_DIAGRAM_VIRTUALLY_FRAME" val="{&quot;height&quot;:403.1,&quot;left&quot;:55.7,&quot;top&quot;:109.25,&quot;width&quot;:860.45}"/>
</p:tagLst>
</file>

<file path=ppt/tags/tag54.xml><?xml version="1.0" encoding="utf-8"?>
<p:tagLst xmlns:p="http://schemas.openxmlformats.org/presentationml/2006/main">
  <p:tag name="KSO_WM_DIAGRAM_VIRTUALLY_FRAME" val="{&quot;height&quot;:403.1,&quot;left&quot;:55.7,&quot;top&quot;:109.25,&quot;width&quot;:860.45}"/>
</p:tagLst>
</file>

<file path=ppt/tags/tag55.xml><?xml version="1.0" encoding="utf-8"?>
<p:tagLst xmlns:p="http://schemas.openxmlformats.org/presentationml/2006/main">
  <p:tag name="KSO_WM_DIAGRAM_VIRTUALLY_FRAME" val="{&quot;height&quot;:403.1,&quot;left&quot;:55.7,&quot;top&quot;:109.25,&quot;width&quot;:860.45}"/>
</p:tagLst>
</file>

<file path=ppt/tags/tag56.xml><?xml version="1.0" encoding="utf-8"?>
<p:tagLst xmlns:p="http://schemas.openxmlformats.org/presentationml/2006/main">
  <p:tag name="KSO_WM_DIAGRAM_VIRTUALLY_FRAME" val="{&quot;height&quot;:403.1,&quot;left&quot;:55.7,&quot;top&quot;:109.25,&quot;width&quot;:860.45}"/>
</p:tagLst>
</file>

<file path=ppt/tags/tag57.xml><?xml version="1.0" encoding="utf-8"?>
<p:tagLst xmlns:p="http://schemas.openxmlformats.org/presentationml/2006/main">
  <p:tag name="KSO_WM_DIAGRAM_VIRTUALLY_FRAME" val="{&quot;height&quot;:403.1,&quot;left&quot;:55.7,&quot;top&quot;:109.25,&quot;width&quot;:860.45}"/>
</p:tagLst>
</file>

<file path=ppt/tags/tag58.xml><?xml version="1.0" encoding="utf-8"?>
<p:tagLst xmlns:p="http://schemas.openxmlformats.org/presentationml/2006/main">
  <p:tag name="KSO_WM_DIAGRAM_VIRTUALLY_FRAME" val="{&quot;height&quot;:403.1,&quot;left&quot;:55.7,&quot;top&quot;:109.25,&quot;width&quot;:860.45}"/>
</p:tagLst>
</file>

<file path=ppt/tags/tag59.xml><?xml version="1.0" encoding="utf-8"?>
<p:tagLst xmlns:p="http://schemas.openxmlformats.org/presentationml/2006/main">
  <p:tag name="KSO_WM_DIAGRAM_VIRTUALLY_FRAME" val="{&quot;height&quot;:403.1,&quot;left&quot;:55.7,&quot;top&quot;:109.25,&quot;width&quot;:860.45}"/>
</p:tagLst>
</file>

<file path=ppt/tags/tag60.xml><?xml version="1.0" encoding="utf-8"?>
<p:tagLst xmlns:p="http://schemas.openxmlformats.org/presentationml/2006/main">
  <p:tag name="KSO_WM_DIAGRAM_VIRTUALLY_FRAME" val="{&quot;height&quot;:403.1,&quot;left&quot;:55.7,&quot;top&quot;:109.25,&quot;width&quot;:860.45}"/>
</p:tagLst>
</file>

<file path=ppt/tags/tag61.xml><?xml version="1.0" encoding="utf-8"?>
<p:tagLst xmlns:p="http://schemas.openxmlformats.org/presentationml/2006/main">
  <p:tag name="KSO_WM_DIAGRAM_VIRTUALLY_FRAME" val="{&quot;height&quot;:403.1,&quot;left&quot;:55.7,&quot;top&quot;:109.25,&quot;width&quot;:860.45}"/>
</p:tagLst>
</file>

<file path=ppt/tags/tag62.xml><?xml version="1.0" encoding="utf-8"?>
<p:tagLst xmlns:p="http://schemas.openxmlformats.org/presentationml/2006/main">
  <p:tag name="KSO_WM_DIAGRAM_VIRTUALLY_FRAME" val="{&quot;height&quot;:403.1,&quot;left&quot;:55.7,&quot;top&quot;:109.25,&quot;width&quot;:860.45}"/>
</p:tagLst>
</file>

<file path=ppt/tags/tag63.xml><?xml version="1.0" encoding="utf-8"?>
<p:tagLst xmlns:p="http://schemas.openxmlformats.org/presentationml/2006/main">
  <p:tag name="KSO_WM_DIAGRAM_VIRTUALLY_FRAME" val="{&quot;height&quot;:403.1,&quot;left&quot;:55.7,&quot;top&quot;:109.25,&quot;width&quot;:860.45}"/>
</p:tagLst>
</file>

<file path=ppt/tags/tag64.xml><?xml version="1.0" encoding="utf-8"?>
<p:tagLst xmlns:p="http://schemas.openxmlformats.org/presentationml/2006/main">
  <p:tag name="KSO_WM_DIAGRAM_VIRTUALLY_FRAME" val="{&quot;height&quot;:403.1,&quot;left&quot;:55.7,&quot;top&quot;:109.25,&quot;width&quot;:860.45}"/>
</p:tagLst>
</file>

<file path=ppt/tags/tag65.xml><?xml version="1.0" encoding="utf-8"?>
<p:tagLst xmlns:p="http://schemas.openxmlformats.org/presentationml/2006/main">
  <p:tag name="KSO_WM_DIAGRAM_VIRTUALLY_FRAME" val="{&quot;height&quot;:403.1,&quot;left&quot;:55.7,&quot;top&quot;:109.25,&quot;width&quot;:860.45}"/>
</p:tagLst>
</file>

<file path=ppt/tags/tag66.xml><?xml version="1.0" encoding="utf-8"?>
<p:tagLst xmlns:p="http://schemas.openxmlformats.org/presentationml/2006/main">
  <p:tag name="KSO_WM_DIAGRAM_VIRTUALLY_FRAME" val="{&quot;height&quot;:403.1,&quot;left&quot;:55.7,&quot;top&quot;:109.25,&quot;width&quot;:860.45}"/>
</p:tagLst>
</file>

<file path=ppt/tags/tag67.xml><?xml version="1.0" encoding="utf-8"?>
<p:tagLst xmlns:p="http://schemas.openxmlformats.org/presentationml/2006/main">
  <p:tag name="KSO_WM_DIAGRAM_VIRTUALLY_FRAME" val="{&quot;height&quot;:403.1,&quot;left&quot;:55.7,&quot;top&quot;:109.25,&quot;width&quot;:860.45}"/>
</p:tagLst>
</file>

<file path=ppt/tags/tag68.xml><?xml version="1.0" encoding="utf-8"?>
<p:tagLst xmlns:p="http://schemas.openxmlformats.org/presentationml/2006/main">
  <p:tag name="KSO_WM_DIAGRAM_VIRTUALLY_FRAME" val="{&quot;height&quot;:403.1,&quot;left&quot;:55.7,&quot;top&quot;:109.25,&quot;width&quot;:860.45}"/>
</p:tagLst>
</file>

<file path=ppt/tags/tag69.xml><?xml version="1.0" encoding="utf-8"?>
<p:tagLst xmlns:p="http://schemas.openxmlformats.org/presentationml/2006/main">
  <p:tag name="KSO_WM_DIAGRAM_VIRTUALLY_FRAME" val="{&quot;height&quot;:403.1,&quot;left&quot;:55.7,&quot;top&quot;:109.25,&quot;width&quot;:860.45}"/>
</p:tagLst>
</file>

<file path=ppt/tags/tag70.xml><?xml version="1.0" encoding="utf-8"?>
<p:tagLst xmlns:p="http://schemas.openxmlformats.org/presentationml/2006/main">
  <p:tag name="KSO_WM_DIAGRAM_VIRTUALLY_FRAME" val="{&quot;height&quot;:403.1,&quot;left&quot;:55.7,&quot;top&quot;:109.25,&quot;width&quot;:860.45}"/>
</p:tagLst>
</file>

<file path=ppt/tags/tag71.xml><?xml version="1.0" encoding="utf-8"?>
<p:tagLst xmlns:p="http://schemas.openxmlformats.org/presentationml/2006/main">
  <p:tag name="KSO_WM_DIAGRAM_VIRTUALLY_FRAME" val="{&quot;height&quot;:403.1,&quot;left&quot;:55.7,&quot;top&quot;:109.25,&quot;width&quot;:860.45}"/>
</p:tagLst>
</file>

<file path=ppt/tags/tag72.xml><?xml version="1.0" encoding="utf-8"?>
<p:tagLst xmlns:p="http://schemas.openxmlformats.org/presentationml/2006/main">
  <p:tag name="KSO_WM_DIAGRAM_VIRTUALLY_FRAME" val="{&quot;height&quot;:403.1,&quot;left&quot;:55.7,&quot;top&quot;:109.25,&quot;width&quot;:860.45}"/>
</p:tagLst>
</file>

<file path=ppt/tags/tag73.xml><?xml version="1.0" encoding="utf-8"?>
<p:tagLst xmlns:p="http://schemas.openxmlformats.org/presentationml/2006/main">
  <p:tag name="KSO_WM_DIAGRAM_VIRTUALLY_FRAME" val="{&quot;height&quot;:403.1,&quot;left&quot;:55.7,&quot;top&quot;:109.25,&quot;width&quot;:860.45}"/>
</p:tagLst>
</file>

<file path=ppt/tags/tag74.xml><?xml version="1.0" encoding="utf-8"?>
<p:tagLst xmlns:p="http://schemas.openxmlformats.org/presentationml/2006/main">
  <p:tag name="KSO_WM_DIAGRAM_VIRTUALLY_FRAME" val="{&quot;height&quot;:403.1,&quot;left&quot;:55.7,&quot;top&quot;:109.25,&quot;width&quot;:860.45}"/>
</p:tagLst>
</file>

<file path=ppt/tags/tag75.xml><?xml version="1.0" encoding="utf-8"?>
<p:tagLst xmlns:p="http://schemas.openxmlformats.org/presentationml/2006/main">
  <p:tag name="KSO_WM_DIAGRAM_VIRTUALLY_FRAME" val="{&quot;height&quot;:403.1,&quot;left&quot;:55.7,&quot;top&quot;:109.25,&quot;width&quot;:860.45}"/>
</p:tagLst>
</file>

<file path=ppt/tags/tag76.xml><?xml version="1.0" encoding="utf-8"?>
<p:tagLst xmlns:p="http://schemas.openxmlformats.org/presentationml/2006/main">
  <p:tag name="KSO_WM_DIAGRAM_VIRTUALLY_FRAME" val="{&quot;height&quot;:403.1,&quot;left&quot;:55.7,&quot;top&quot;:109.25,&quot;width&quot;:860.45}"/>
</p:tagLst>
</file>

<file path=ppt/tags/tag77.xml><?xml version="1.0" encoding="utf-8"?>
<p:tagLst xmlns:p="http://schemas.openxmlformats.org/presentationml/2006/main">
  <p:tag name="KSO_WM_DIAGRAM_VIRTUALLY_FRAME" val="{&quot;height&quot;:403.1,&quot;left&quot;:55.7,&quot;top&quot;:109.25,&quot;width&quot;:860.45}"/>
</p:tagLst>
</file>

<file path=ppt/tags/tag78.xml><?xml version="1.0" encoding="utf-8"?>
<p:tagLst xmlns:p="http://schemas.openxmlformats.org/presentationml/2006/main">
  <p:tag name="KSO_WM_DIAGRAM_VIRTUALLY_FRAME" val="{&quot;height&quot;:403.1,&quot;left&quot;:55.7,&quot;top&quot;:109.25,&quot;width&quot;:860.45}"/>
</p:tagLst>
</file>

<file path=ppt/tags/tag79.xml><?xml version="1.0" encoding="utf-8"?>
<p:tagLst xmlns:p="http://schemas.openxmlformats.org/presentationml/2006/main">
  <p:tag name="KSO_WM_DIAGRAM_VIRTUALLY_FRAME" val="{&quot;height&quot;:403.1,&quot;left&quot;:55.7,&quot;top&quot;:109.25,&quot;width&quot;:860.45}"/>
</p:tagLst>
</file>

<file path=ppt/tags/tag80.xml><?xml version="1.0" encoding="utf-8"?>
<p:tagLst xmlns:p="http://schemas.openxmlformats.org/presentationml/2006/main">
  <p:tag name="KSO_WM_DIAGRAM_VIRTUALLY_FRAME" val="{&quot;height&quot;:403.1,&quot;left&quot;:55.7,&quot;top&quot;:109.25,&quot;width&quot;:860.45}"/>
</p:tagLst>
</file>

<file path=ppt/tags/tag81.xml><?xml version="1.0" encoding="utf-8"?>
<p:tagLst xmlns:p="http://schemas.openxmlformats.org/presentationml/2006/main">
  <p:tag name="KSO_WM_DIAGRAM_VIRTUALLY_FRAME" val="{&quot;height&quot;:403.1,&quot;left&quot;:55.7,&quot;top&quot;:109.25,&quot;width&quot;:860.45}"/>
</p:tagLst>
</file>

<file path=ppt/tags/tag82.xml><?xml version="1.0" encoding="utf-8"?>
<p:tagLst xmlns:p="http://schemas.openxmlformats.org/presentationml/2006/main">
  <p:tag name="KSO_WM_DIAGRAM_VIRTUALLY_FRAME" val="{&quot;height&quot;:403.1,&quot;left&quot;:55.7,&quot;top&quot;:109.25,&quot;width&quot;:860.45}"/>
</p:tagLst>
</file>

<file path=ppt/tags/tag83.xml><?xml version="1.0" encoding="utf-8"?>
<p:tagLst xmlns:p="http://schemas.openxmlformats.org/presentationml/2006/main">
  <p:tag name="KSO_WM_DIAGRAM_VIRTUALLY_FRAME" val="{&quot;height&quot;:403.1,&quot;left&quot;:55.7,&quot;top&quot;:109.25,&quot;width&quot;:860.45}"/>
</p:tagLst>
</file>

<file path=ppt/tags/tag84.xml><?xml version="1.0" encoding="utf-8"?>
<p:tagLst xmlns:p="http://schemas.openxmlformats.org/presentationml/2006/main">
  <p:tag name="KSO_WM_DIAGRAM_VIRTUALLY_FRAME" val="{&quot;height&quot;:403.1,&quot;left&quot;:55.7,&quot;top&quot;:109.25,&quot;width&quot;:860.45}"/>
</p:tagLst>
</file>

<file path=ppt/tags/tag85.xml><?xml version="1.0" encoding="utf-8"?>
<p:tagLst xmlns:p="http://schemas.openxmlformats.org/presentationml/2006/main">
  <p:tag name="KSO_WM_DIAGRAM_VIRTUALLY_FRAME" val="{&quot;height&quot;:403.1,&quot;left&quot;:55.7,&quot;top&quot;:109.25,&quot;width&quot;:860.45}"/>
</p:tagLst>
</file>

<file path=ppt/tags/tag86.xml><?xml version="1.0" encoding="utf-8"?>
<p:tagLst xmlns:p="http://schemas.openxmlformats.org/presentationml/2006/main">
  <p:tag name="KSO_WM_DIAGRAM_VIRTUALLY_FRAME" val="{&quot;height&quot;:403.1,&quot;left&quot;:55.7,&quot;top&quot;:109.25,&quot;width&quot;:860.45}"/>
</p:tagLst>
</file>

<file path=ppt/tags/tag87.xml><?xml version="1.0" encoding="utf-8"?>
<p:tagLst xmlns:p="http://schemas.openxmlformats.org/presentationml/2006/main">
  <p:tag name="KSO_WM_DIAGRAM_VIRTUALLY_FRAME" val="{&quot;height&quot;:403.1,&quot;left&quot;:55.7,&quot;top&quot;:109.25,&quot;width&quot;:860.45}"/>
</p:tagLst>
</file>

<file path=ppt/tags/tag88.xml><?xml version="1.0" encoding="utf-8"?>
<p:tagLst xmlns:p="http://schemas.openxmlformats.org/presentationml/2006/main">
  <p:tag name="KSO_WM_DIAGRAM_VIRTUALLY_FRAME" val="{&quot;height&quot;:403.1,&quot;left&quot;:55.7,&quot;top&quot;:109.25,&quot;width&quot;:860.45}"/>
</p:tagLst>
</file>

<file path=ppt/tags/tag89.xml><?xml version="1.0" encoding="utf-8"?>
<p:tagLst xmlns:p="http://schemas.openxmlformats.org/presentationml/2006/main">
  <p:tag name="KSO_WM_DIAGRAM_VIRTUALLY_FRAME" val="{&quot;height&quot;:403.1,&quot;left&quot;:55.7,&quot;top&quot;:109.25,&quot;width&quot;:860.45}"/>
</p:tagLst>
</file>

<file path=ppt/tags/tag90.xml><?xml version="1.0" encoding="utf-8"?>
<p:tagLst xmlns:p="http://schemas.openxmlformats.org/presentationml/2006/main">
  <p:tag name="KSO_WM_DIAGRAM_VIRTUALLY_FRAME" val="{&quot;height&quot;:403.1,&quot;left&quot;:55.7,&quot;top&quot;:109.25,&quot;width&quot;:860.45}"/>
</p:tagLst>
</file>

<file path=ppt/tags/tag91.xml><?xml version="1.0" encoding="utf-8"?>
<p:tagLst xmlns:p="http://schemas.openxmlformats.org/presentationml/2006/main">
  <p:tag name="KSO_WM_DIAGRAM_VIRTUALLY_FRAME" val="{&quot;height&quot;:403.1,&quot;left&quot;:55.7,&quot;top&quot;:109.25,&quot;width&quot;:860.45}"/>
</p:tagLst>
</file>

<file path=ppt/tags/tag92.xml><?xml version="1.0" encoding="utf-8"?>
<p:tagLst xmlns:p="http://schemas.openxmlformats.org/presentationml/2006/main">
  <p:tag name="KSO_WM_DIAGRAM_VIRTUALLY_FRAME" val="{&quot;height&quot;:403.1,&quot;left&quot;:55.7,&quot;top&quot;:109.25,&quot;width&quot;:860.45}"/>
</p:tagLst>
</file>

<file path=ppt/tags/tag93.xml><?xml version="1.0" encoding="utf-8"?>
<p:tagLst xmlns:p="http://schemas.openxmlformats.org/presentationml/2006/main">
  <p:tag name="KSO_WM_DIAGRAM_VIRTUALLY_FRAME" val="{&quot;height&quot;:403.1,&quot;left&quot;:55.7,&quot;top&quot;:109.25,&quot;width&quot;:860.45}"/>
</p:tagLst>
</file>

<file path=ppt/tags/tag94.xml><?xml version="1.0" encoding="utf-8"?>
<p:tagLst xmlns:p="http://schemas.openxmlformats.org/presentationml/2006/main">
  <p:tag name="KSO_WM_DIAGRAM_VIRTUALLY_FRAME" val="{&quot;height&quot;:403.1,&quot;left&quot;:55.7,&quot;top&quot;:109.25,&quot;width&quot;:860.45}"/>
</p:tagLst>
</file>

<file path=ppt/tags/tag95.xml><?xml version="1.0" encoding="utf-8"?>
<p:tagLst xmlns:p="http://schemas.openxmlformats.org/presentationml/2006/main">
  <p:tag name="KSO_WM_DIAGRAM_VIRTUALLY_FRAME" val="{&quot;height&quot;:403.1,&quot;left&quot;:55.7,&quot;top&quot;:109.25,&quot;width&quot;:860.45}"/>
</p:tagLst>
</file>

<file path=ppt/tags/tag96.xml><?xml version="1.0" encoding="utf-8"?>
<p:tagLst xmlns:p="http://schemas.openxmlformats.org/presentationml/2006/main">
  <p:tag name="KSO_WM_DIAGRAM_VIRTUALLY_FRAME" val="{&quot;height&quot;:403.1,&quot;left&quot;:55.7,&quot;top&quot;:109.25,&quot;width&quot;:860.45}"/>
</p:tagLst>
</file>

<file path=ppt/tags/tag97.xml><?xml version="1.0" encoding="utf-8"?>
<p:tagLst xmlns:p="http://schemas.openxmlformats.org/presentationml/2006/main">
  <p:tag name="KSO_WM_DIAGRAM_VIRTUALLY_FRAME" val="{&quot;height&quot;:403.1,&quot;left&quot;:55.7,&quot;top&quot;:109.25,&quot;width&quot;:860.45}"/>
</p:tagLst>
</file>

<file path=ppt/tags/tag98.xml><?xml version="1.0" encoding="utf-8"?>
<p:tagLst xmlns:p="http://schemas.openxmlformats.org/presentationml/2006/main">
  <p:tag name="KSO_WM_DIAGRAM_VIRTUALLY_FRAME" val="{&quot;height&quot;:403.1,&quot;left&quot;:55.7,&quot;top&quot;:109.25,&quot;width&quot;:860.45}"/>
</p:tagLst>
</file>

<file path=ppt/tags/tag99.xml><?xml version="1.0" encoding="utf-8"?>
<p:tagLst xmlns:p="http://schemas.openxmlformats.org/presentationml/2006/main">
  <p:tag name="KSO_WM_DIAGRAM_VIRTUALLY_FRAME" val="{&quot;height&quot;:403.1,&quot;left&quot;:55.7,&quot;top&quot;:109.25,&quot;width&quot;:860.45}"/>
</p:tagLst>
</file>

<file path=ppt/tags/tag100.xml><?xml version="1.0" encoding="utf-8"?>
<p:tagLst xmlns:p="http://schemas.openxmlformats.org/presentationml/2006/main">
  <p:tag name="KSO_WM_DIAGRAM_VIRTUALLY_FRAME" val="{&quot;height&quot;:403.1,&quot;left&quot;:55.7,&quot;top&quot;:109.25,&quot;width&quot;:860.45}"/>
</p:tagLst>
</file>

<file path=ppt/tags/tag101.xml><?xml version="1.0" encoding="utf-8"?>
<p:tagLst xmlns:p="http://schemas.openxmlformats.org/presentationml/2006/main">
  <p:tag name="KSO_WM_DIAGRAM_VIRTUALLY_FRAME" val="{&quot;height&quot;:403.1,&quot;left&quot;:55.7,&quot;top&quot;:109.25,&quot;width&quot;:860.45}"/>
</p:tagLst>
</file>

<file path=ppt/tags/tag102.xml><?xml version="1.0" encoding="utf-8"?>
<p:tagLst xmlns:p="http://schemas.openxmlformats.org/presentationml/2006/main">
  <p:tag name="KSO_WM_DIAGRAM_VIRTUALLY_FRAME" val="{&quot;height&quot;:403.1,&quot;left&quot;:55.7,&quot;top&quot;:109.25,&quot;width&quot;:860.45}"/>
</p:tagLst>
</file>

<file path=ppt/tags/tag103.xml><?xml version="1.0" encoding="utf-8"?>
<p:tagLst xmlns:p="http://schemas.openxmlformats.org/presentationml/2006/main">
  <p:tag name="KSO_WM_DIAGRAM_VIRTUALLY_FRAME" val="{&quot;height&quot;:403.1,&quot;left&quot;:55.7,&quot;top&quot;:109.25,&quot;width&quot;:860.45}"/>
</p:tagLst>
</file>

<file path=ppt/tags/tag104.xml><?xml version="1.0" encoding="utf-8"?>
<p:tagLst xmlns:p="http://schemas.openxmlformats.org/presentationml/2006/main">
  <p:tag name="KSO_WM_DIAGRAM_VIRTUALLY_FRAME" val="{&quot;height&quot;:403.1,&quot;left&quot;:55.7,&quot;top&quot;:109.25,&quot;width&quot;:860.45}"/>
</p:tagLst>
</file>

<file path=ppt/tags/tag105.xml><?xml version="1.0" encoding="utf-8"?>
<p:tagLst xmlns:p="http://schemas.openxmlformats.org/presentationml/2006/main">
  <p:tag name="KSO_WM_DIAGRAM_VIRTUALLY_FRAME" val="{&quot;height&quot;:403.1,&quot;left&quot;:55.7,&quot;top&quot;:109.25,&quot;width&quot;:860.45}"/>
</p:tagLst>
</file>

<file path=ppt/tags/tag106.xml><?xml version="1.0" encoding="utf-8"?>
<p:tagLst xmlns:p="http://schemas.openxmlformats.org/presentationml/2006/main">
  <p:tag name="KSO_WM_DIAGRAM_VIRTUALLY_FRAME" val="{&quot;height&quot;:403.1,&quot;left&quot;:55.7,&quot;top&quot;:109.25,&quot;width&quot;:860.45}"/>
</p:tagLst>
</file>

<file path=ppt/tags/tag107.xml><?xml version="1.0" encoding="utf-8"?>
<p:tagLst xmlns:p="http://schemas.openxmlformats.org/presentationml/2006/main">
  <p:tag name="KSO_WM_DIAGRAM_VIRTUALLY_FRAME" val="{&quot;height&quot;:403.1,&quot;left&quot;:55.7,&quot;top&quot;:109.25,&quot;width&quot;:860.45}"/>
</p:tagLst>
</file>

<file path=ppt/tags/tag108.xml><?xml version="1.0" encoding="utf-8"?>
<p:tagLst xmlns:p="http://schemas.openxmlformats.org/presentationml/2006/main">
  <p:tag name="KSO_WM_DIAGRAM_VIRTUALLY_FRAME" val="{&quot;height&quot;:403.1,&quot;left&quot;:55.7,&quot;top&quot;:109.25,&quot;width&quot;:860.45}"/>
</p:tagLst>
</file>

<file path=ppt/tags/tag109.xml><?xml version="1.0" encoding="utf-8"?>
<p:tagLst xmlns:p="http://schemas.openxmlformats.org/presentationml/2006/main">
  <p:tag name="KSO_WM_DIAGRAM_VIRTUALLY_FRAME" val="{&quot;height&quot;:403.1,&quot;left&quot;:55.7,&quot;top&quot;:109.25,&quot;width&quot;:860.45}"/>
</p:tagLst>
</file>

<file path=ppt/tags/tag110.xml><?xml version="1.0" encoding="utf-8"?>
<p:tagLst xmlns:p="http://schemas.openxmlformats.org/presentationml/2006/main">
  <p:tag name="KSO_WM_DIAGRAM_VIRTUALLY_FRAME" val="{&quot;height&quot;:403.1,&quot;left&quot;:55.7,&quot;top&quot;:109.25,&quot;width&quot;:860.45}"/>
</p:tagLst>
</file>

<file path=ppt/tags/tag111.xml><?xml version="1.0" encoding="utf-8"?>
<p:tagLst xmlns:p="http://schemas.openxmlformats.org/presentationml/2006/main">
  <p:tag name="KSO_WM_DIAGRAM_VIRTUALLY_FRAME" val="{&quot;height&quot;:403.1,&quot;left&quot;:55.7,&quot;top&quot;:109.25,&quot;width&quot;:860.45}"/>
</p:tagLst>
</file>

<file path=ppt/tags/tag112.xml><?xml version="1.0" encoding="utf-8"?>
<p:tagLst xmlns:p="http://schemas.openxmlformats.org/presentationml/2006/main">
  <p:tag name="KSO_WM_DIAGRAM_VIRTUALLY_FRAME" val="{&quot;height&quot;:403.1,&quot;left&quot;:55.7,&quot;top&quot;:109.25,&quot;width&quot;:860.45}"/>
</p:tagLst>
</file>

<file path=ppt/tags/tag113.xml><?xml version="1.0" encoding="utf-8"?>
<p:tagLst xmlns:p="http://schemas.openxmlformats.org/presentationml/2006/main">
  <p:tag name="KSO_WM_DIAGRAM_VIRTUALLY_FRAME" val="{&quot;height&quot;:403.1,&quot;left&quot;:55.7,&quot;top&quot;:109.25,&quot;width&quot;:860.45}"/>
</p:tagLst>
</file>

<file path=ppt/tags/tag114.xml><?xml version="1.0" encoding="utf-8"?>
<p:tagLst xmlns:p="http://schemas.openxmlformats.org/presentationml/2006/main">
  <p:tag name="KSO_WM_DIAGRAM_VIRTUALLY_FRAME" val="{&quot;height&quot;:403.1,&quot;left&quot;:55.7,&quot;top&quot;:109.25,&quot;width&quot;:860.45}"/>
</p:tagLst>
</file>

<file path=ppt/tags/tag115.xml><?xml version="1.0" encoding="utf-8"?>
<p:tagLst xmlns:p="http://schemas.openxmlformats.org/presentationml/2006/main">
  <p:tag name="KSO_WM_DIAGRAM_VIRTUALLY_FRAME" val="{&quot;height&quot;:403.1,&quot;left&quot;:55.7,&quot;top&quot;:109.25,&quot;width&quot;:860.45}"/>
</p:tagLst>
</file>

<file path=ppt/tags/tag116.xml><?xml version="1.0" encoding="utf-8"?>
<p:tagLst xmlns:p="http://schemas.openxmlformats.org/presentationml/2006/main">
  <p:tag name="KSO_WM_DIAGRAM_VIRTUALLY_FRAME" val="{&quot;height&quot;:403.1,&quot;left&quot;:55.7,&quot;top&quot;:109.25,&quot;width&quot;:860.45}"/>
</p:tagLst>
</file>

<file path=ppt/tags/tag117.xml><?xml version="1.0" encoding="utf-8"?>
<p:tagLst xmlns:p="http://schemas.openxmlformats.org/presentationml/2006/main">
  <p:tag name="KSO_WM_DIAGRAM_VIRTUALLY_FRAME" val="{&quot;height&quot;:403.1,&quot;left&quot;:55.7,&quot;top&quot;:109.25,&quot;width&quot;:860.45}"/>
</p:tagLst>
</file>

<file path=ppt/tags/tag118.xml><?xml version="1.0" encoding="utf-8"?>
<p:tagLst xmlns:p="http://schemas.openxmlformats.org/presentationml/2006/main">
  <p:tag name="KSO_WM_DIAGRAM_VIRTUALLY_FRAME" val="{&quot;height&quot;:403.1,&quot;left&quot;:55.7,&quot;top&quot;:109.25,&quot;width&quot;:860.45}"/>
</p:tagLst>
</file>

<file path=ppt/tags/tag119.xml><?xml version="1.0" encoding="utf-8"?>
<p:tagLst xmlns:p="http://schemas.openxmlformats.org/presentationml/2006/main">
  <p:tag name="KSO_WM_DIAGRAM_VIRTUALLY_FRAME" val="{&quot;height&quot;:403.1,&quot;left&quot;:55.7,&quot;top&quot;:109.25,&quot;width&quot;:860.45}"/>
</p:tagLst>
</file>

<file path=ppt/tags/tag120.xml><?xml version="1.0" encoding="utf-8"?>
<p:tagLst xmlns:p="http://schemas.openxmlformats.org/presentationml/2006/main">
  <p:tag name="KSO_WM_DIAGRAM_VIRTUALLY_FRAME" val="{&quot;height&quot;:403.1,&quot;left&quot;:55.7,&quot;top&quot;:109.25,&quot;width&quot;:860.45}"/>
</p:tagLst>
</file>

<file path=ppt/tags/tag121.xml><?xml version="1.0" encoding="utf-8"?>
<p:tagLst xmlns:p="http://schemas.openxmlformats.org/presentationml/2006/main">
  <p:tag name="KSO_WM_DIAGRAM_VIRTUALLY_FRAME" val="{&quot;height&quot;:403.1,&quot;left&quot;:55.7,&quot;top&quot;:109.25,&quot;width&quot;:860.45}"/>
</p:tagLst>
</file>

<file path=ppt/tags/tag122.xml><?xml version="1.0" encoding="utf-8"?>
<p:tagLst xmlns:p="http://schemas.openxmlformats.org/presentationml/2006/main">
  <p:tag name="KSO_WM_DIAGRAM_VIRTUALLY_FRAME" val="{&quot;height&quot;:403.1,&quot;left&quot;:55.7,&quot;top&quot;:109.25,&quot;width&quot;:860.45}"/>
</p:tagLst>
</file>

<file path=ppt/tags/tag123.xml><?xml version="1.0" encoding="utf-8"?>
<p:tagLst xmlns:p="http://schemas.openxmlformats.org/presentationml/2006/main">
  <p:tag name="KSO_WM_DIAGRAM_VIRTUALLY_FRAME" val="{&quot;height&quot;:403.1,&quot;left&quot;:55.7,&quot;top&quot;:109.25,&quot;width&quot;:860.45}"/>
</p:tagLst>
</file>

<file path=ppt/tags/tag124.xml><?xml version="1.0" encoding="utf-8"?>
<p:tagLst xmlns:p="http://schemas.openxmlformats.org/presentationml/2006/main">
  <p:tag name="KSO_WM_DIAGRAM_VIRTUALLY_FRAME" val="{&quot;height&quot;:403.1,&quot;left&quot;:55.7,&quot;top&quot;:109.25,&quot;width&quot;:860.45}"/>
</p:tagLst>
</file>

<file path=ppt/tags/tag125.xml><?xml version="1.0" encoding="utf-8"?>
<p:tagLst xmlns:p="http://schemas.openxmlformats.org/presentationml/2006/main">
  <p:tag name="KSO_WM_DIAGRAM_VIRTUALLY_FRAME" val="{&quot;height&quot;:403.1,&quot;left&quot;:55.7,&quot;top&quot;:109.25,&quot;width&quot;:860.45}"/>
</p:tagLst>
</file>

<file path=ppt/tags/tag126.xml><?xml version="1.0" encoding="utf-8"?>
<p:tagLst xmlns:p="http://schemas.openxmlformats.org/presentationml/2006/main">
  <p:tag name="TEXTZ '" val="-2.147484E+09"/>
  <p:tag name="SHADOWSIZE" val="100"/>
  <p:tag name="KSO_WM_DIAGRAM_VIRTUALLY_FRAME" val="{&quot;height&quot;:403.1,&quot;left&quot;:55.7,&quot;top&quot;:109.25,&quot;width&quot;:860.45}"/>
</p:tagLst>
</file>

<file path=ppt/tags/tag127.xml><?xml version="1.0" encoding="utf-8"?>
<p:tagLst xmlns:p="http://schemas.openxmlformats.org/presentationml/2006/main">
  <p:tag name="KSO_WM_DIAGRAM_VIRTUALLY_FRAME" val="{&quot;height&quot;:403.1,&quot;left&quot;:55.7,&quot;top&quot;:109.25,&quot;width&quot;:860.45}"/>
</p:tagLst>
</file>

<file path=ppt/tags/tag128.xml><?xml version="1.0" encoding="utf-8"?>
<p:tagLst xmlns:p="http://schemas.openxmlformats.org/presentationml/2006/main">
  <p:tag name="KSO_WM_DIAGRAM_VIRTUALLY_FRAME" val="{&quot;height&quot;:403.1,&quot;left&quot;:55.7,&quot;top&quot;:109.25,&quot;width&quot;:860.45}"/>
</p:tagLst>
</file>

<file path=ppt/tags/tag129.xml><?xml version="1.0" encoding="utf-8"?>
<p:tagLst xmlns:p="http://schemas.openxmlformats.org/presentationml/2006/main">
  <p:tag name="KSO_WM_DIAGRAM_VIRTUALLY_FRAME" val="{&quot;height&quot;:403.1,&quot;left&quot;:55.7,&quot;top&quot;:109.25,&quot;width&quot;:860.45}"/>
</p:tagLst>
</file>

<file path=ppt/tags/tag130.xml><?xml version="1.0" encoding="utf-8"?>
<p:tagLst xmlns:p="http://schemas.openxmlformats.org/presentationml/2006/main">
  <p:tag name="KSO_WM_DIAGRAM_VIRTUALLY_FRAME" val="{&quot;height&quot;:403.1,&quot;left&quot;:55.7,&quot;top&quot;:109.25,&quot;width&quot;:860.45}"/>
</p:tagLst>
</file>

<file path=ppt/tags/tag131.xml><?xml version="1.0" encoding="utf-8"?>
<p:tagLst xmlns:p="http://schemas.openxmlformats.org/presentationml/2006/main">
  <p:tag name="KSO_WM_DIAGRAM_VIRTUALLY_FRAME" val="{&quot;height&quot;:403.1,&quot;left&quot;:55.7,&quot;top&quot;:109.25,&quot;width&quot;:860.45}"/>
</p:tagLst>
</file>

<file path=ppt/tags/tag132.xml><?xml version="1.0" encoding="utf-8"?>
<p:tagLst xmlns:p="http://schemas.openxmlformats.org/presentationml/2006/main">
  <p:tag name="KSO_WM_DIAGRAM_VIRTUALLY_FRAME" val="{&quot;height&quot;:403.1,&quot;left&quot;:55.7,&quot;top&quot;:109.25,&quot;width&quot;:860.45}"/>
</p:tagLst>
</file>

<file path=ppt/tags/tag133.xml><?xml version="1.0" encoding="utf-8"?>
<p:tagLst xmlns:p="http://schemas.openxmlformats.org/presentationml/2006/main">
  <p:tag name="KSO_WM_DIAGRAM_VIRTUALLY_FRAME" val="{&quot;height&quot;:336.9,&quot;left&quot;:59.1,&quot;top&quot;:200.4,&quot;width&quot;:851.65}"/>
</p:tagLst>
</file>

<file path=ppt/tags/tag134.xml><?xml version="1.0" encoding="utf-8"?>
<p:tagLst xmlns:p="http://schemas.openxmlformats.org/presentationml/2006/main">
  <p:tag name="KSO_WM_DIAGRAM_VIRTUALLY_FRAME" val="{&quot;height&quot;:403.1,&quot;left&quot;:55.7,&quot;top&quot;:109.25,&quot;width&quot;:860.45}"/>
</p:tagLst>
</file>

<file path=ppt/tags/tag135.xml><?xml version="1.0" encoding="utf-8"?>
<p:tagLst xmlns:p="http://schemas.openxmlformats.org/presentationml/2006/main">
  <p:tag name="KSO_WM_DIAGRAM_VIRTUALLY_FRAME" val="{&quot;height&quot;:403.1,&quot;left&quot;:55.7,&quot;top&quot;:109.25,&quot;width&quot;:860.45}"/>
</p:tagLst>
</file>

<file path=ppt/tags/tag136.xml><?xml version="1.0" encoding="utf-8"?>
<p:tagLst xmlns:p="http://schemas.openxmlformats.org/presentationml/2006/main">
  <p:tag name="KSO_WM_DIAGRAM_VIRTUALLY_FRAME" val="{&quot;height&quot;:403.1,&quot;left&quot;:55.7,&quot;top&quot;:109.25,&quot;width&quot;:860.45}"/>
</p:tagLst>
</file>

<file path=ppt/tags/tag137.xml><?xml version="1.0" encoding="utf-8"?>
<p:tagLst xmlns:p="http://schemas.openxmlformats.org/presentationml/2006/main">
  <p:tag name="KSO_WM_DIAGRAM_VIRTUALLY_FRAME" val="{&quot;height&quot;:403.1,&quot;left&quot;:55.7,&quot;top&quot;:109.25,&quot;width&quot;:860.45}"/>
</p:tagLst>
</file>

<file path=ppt/tags/tag138.xml><?xml version="1.0" encoding="utf-8"?>
<p:tagLst xmlns:p="http://schemas.openxmlformats.org/presentationml/2006/main">
  <p:tag name="KSO_WM_DIAGRAM_VIRTUALLY_FRAME" val="{&quot;height&quot;:403.1,&quot;left&quot;:55.7,&quot;top&quot;:109.25,&quot;width&quot;:860.45}"/>
</p:tagLst>
</file>

<file path=ppt/tags/tag139.xml><?xml version="1.0" encoding="utf-8"?>
<p:tagLst xmlns:p="http://schemas.openxmlformats.org/presentationml/2006/main">
  <p:tag name="KSO_WM_DIAGRAM_VIRTUALLY_FRAME" val="{&quot;height&quot;:403.1,&quot;left&quot;:55.7,&quot;top&quot;:109.25,&quot;width&quot;:860.45}"/>
</p:tagLst>
</file>

<file path=ppt/tags/tag140.xml><?xml version="1.0" encoding="utf-8"?>
<p:tagLst xmlns:p="http://schemas.openxmlformats.org/presentationml/2006/main">
  <p:tag name="KSO_WM_DIAGRAM_VIRTUALLY_FRAME" val="{&quot;height&quot;:403.1,&quot;left&quot;:55.7,&quot;top&quot;:109.25,&quot;width&quot;:860.45}"/>
</p:tagLst>
</file>

<file path=ppt/tags/tag141.xml><?xml version="1.0" encoding="utf-8"?>
<p:tagLst xmlns:p="http://schemas.openxmlformats.org/presentationml/2006/main">
  <p:tag name="KSO_WM_DIAGRAM_VIRTUALLY_FRAME" val="{&quot;height&quot;:403.1,&quot;left&quot;:55.7,&quot;top&quot;:109.25,&quot;width&quot;:860.45}"/>
</p:tagLst>
</file>

<file path=ppt/tags/tag142.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DIAGRAM_VIRTUALLY_FRAME" val="{&quot;height&quot;:403.1,&quot;left&quot;:55.7,&quot;top&quot;:109.25,&quot;width&quot;:860.45}"/>
</p:tagLst>
</file>

<file path=ppt/tags/tag143.xml><?xml version="1.0" encoding="utf-8"?>
<p:tagLst xmlns:p="http://schemas.openxmlformats.org/presentationml/2006/main">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 name="KSO_WM_DIAGRAM_VIRTUALLY_FRAME" val="{&quot;height&quot;:403.1,&quot;left&quot;:55.7,&quot;top&quot;:109.25,&quot;width&quot;:860.45}"/>
</p:tagLst>
</file>

<file path=ppt/tags/tag144.xml><?xml version="1.0" encoding="utf-8"?>
<p:tagLst xmlns:p="http://schemas.openxmlformats.org/presentationml/2006/main">
  <p:tag name="KSO_WM_DIAGRAM_VIRTUALLY_FRAME" val="{&quot;height&quot;:403.1,&quot;left&quot;:55.7,&quot;top&quot;:109.25,&quot;width&quot;:860.45}"/>
</p:tagLst>
</file>

<file path=ppt/tags/tag145.xml><?xml version="1.0" encoding="utf-8"?>
<p:tagLst xmlns:p="http://schemas.openxmlformats.org/presentationml/2006/main">
  <p:tag name="KSO_WM_DIAGRAM_VIRTUALLY_FRAME" val="{&quot;height&quot;:403.1,&quot;left&quot;:55.7,&quot;top&quot;:109.25,&quot;width&quot;:860.45}"/>
</p:tagLst>
</file>

<file path=ppt/tags/tag146.xml><?xml version="1.0" encoding="utf-8"?>
<p:tagLst xmlns:p="http://schemas.openxmlformats.org/presentationml/2006/main">
  <p:tag name="KSO_WM_DIAGRAM_VIRTUALLY_FRAME" val="{&quot;height&quot;:403.1,&quot;left&quot;:55.7,&quot;top&quot;:109.25,&quot;width&quot;:860.45}"/>
</p:tagLst>
</file>

<file path=ppt/tags/tag147.xml><?xml version="1.0" encoding="utf-8"?>
<p:tagLst xmlns:p="http://schemas.openxmlformats.org/presentationml/2006/main">
  <p:tag name="KSO_WM_DIAGRAM_VIRTUALLY_FRAME" val="{&quot;height&quot;:403.1,&quot;left&quot;:55.7,&quot;top&quot;:109.25,&quot;width&quot;:860.45}"/>
</p:tagLst>
</file>

<file path=ppt/tags/tag148.xml><?xml version="1.0" encoding="utf-8"?>
<p:tagLst xmlns:p="http://schemas.openxmlformats.org/presentationml/2006/main">
  <p:tag name="KSO_WM_DIAGRAM_VIRTUALLY_FRAME" val="{&quot;height&quot;:403.1,&quot;left&quot;:55.7,&quot;top&quot;:109.25,&quot;width&quot;:860.45}"/>
</p:tagLst>
</file>

<file path=ppt/tags/tag149.xml><?xml version="1.0" encoding="utf-8"?>
<p:tagLst xmlns:p="http://schemas.openxmlformats.org/presentationml/2006/main">
  <p:tag name="KSO_WM_DIAGRAM_VIRTUALLY_FRAME" val="{&quot;height&quot;:403.1,&quot;left&quot;:55.7,&quot;top&quot;:109.25,&quot;width&quot;:860.45}"/>
</p:tagLst>
</file>

<file path=ppt/tags/tag150.xml><?xml version="1.0" encoding="utf-8"?>
<p:tagLst xmlns:p="http://schemas.openxmlformats.org/presentationml/2006/main">
  <p:tag name="KSO_WM_DIAGRAM_VIRTUALLY_FRAME" val="{&quot;height&quot;:403.1,&quot;left&quot;:55.7,&quot;top&quot;:109.25,&quot;width&quot;:860.45}"/>
</p:tagLst>
</file>

<file path=ppt/tags/tag151.xml><?xml version="1.0" encoding="utf-8"?>
<p:tagLst xmlns:p="http://schemas.openxmlformats.org/presentationml/2006/main">
  <p:tag name="KSO_WM_DIAGRAM_VIRTUALLY_FRAME" val="{&quot;height&quot;:403.1,&quot;left&quot;:55.7,&quot;top&quot;:109.25,&quot;width&quot;:860.45}"/>
</p:tagLst>
</file>

<file path=ppt/tags/tag152.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153.xml><?xml version="1.0" encoding="utf-8"?>
<p:tagLst xmlns:p="http://schemas.openxmlformats.org/presentationml/2006/main">
  <p:tag name="KSO_WM_DIAGRAM_VIRTUALLY_FRAME" val="{&quot;height&quot;:403.1,&quot;left&quot;:55.7,&quot;top&quot;:109.25,&quot;width&quot;:860.45}"/>
</p:tagLst>
</file>

<file path=ppt/tags/tag154.xml><?xml version="1.0" encoding="utf-8"?>
<p:tagLst xmlns:p="http://schemas.openxmlformats.org/presentationml/2006/main">
  <p:tag name="KSO_WM_DIAGRAM_VIRTUALLY_FRAME" val="{&quot;height&quot;:403.1,&quot;left&quot;:55.7,&quot;top&quot;:109.25,&quot;width&quot;:860.45}"/>
</p:tagLst>
</file>

<file path=ppt/tags/tag155.xml><?xml version="1.0" encoding="utf-8"?>
<p:tagLst xmlns:p="http://schemas.openxmlformats.org/presentationml/2006/main">
  <p:tag name="KSO_WM_DIAGRAM_VIRTUALLY_FRAME" val="{&quot;height&quot;:403.1,&quot;left&quot;:55.7,&quot;top&quot;:109.25,&quot;width&quot;:860.45}"/>
</p:tagLst>
</file>

<file path=ppt/tags/tag156.xml><?xml version="1.0" encoding="utf-8"?>
<p:tagLst xmlns:p="http://schemas.openxmlformats.org/presentationml/2006/main">
  <p:tag name="KSO_WM_DIAGRAM_VIRTUALLY_FRAME" val="{&quot;height&quot;:403.1,&quot;left&quot;:55.7,&quot;top&quot;:109.25,&quot;width&quot;:860.45}"/>
</p:tagLst>
</file>

<file path=ppt/tags/tag157.xml><?xml version="1.0" encoding="utf-8"?>
<p:tagLst xmlns:p="http://schemas.openxmlformats.org/presentationml/2006/main">
  <p:tag name="KSO_WM_DIAGRAM_VIRTUALLY_FRAME" val="{&quot;height&quot;:403.1,&quot;left&quot;:55.7,&quot;top&quot;:109.25,&quot;width&quot;:860.45}"/>
</p:tagLst>
</file>

<file path=ppt/tags/tag158.xml><?xml version="1.0" encoding="utf-8"?>
<p:tagLst xmlns:p="http://schemas.openxmlformats.org/presentationml/2006/main">
  <p:tag name="KSO_WM_DIAGRAM_VIRTUALLY_FRAME" val="{&quot;height&quot;:403.1,&quot;left&quot;:55.7,&quot;top&quot;:109.25,&quot;width&quot;:860.45}"/>
</p:tagLst>
</file>

<file path=ppt/tags/tag159.xml><?xml version="1.0" encoding="utf-8"?>
<p:tagLst xmlns:p="http://schemas.openxmlformats.org/presentationml/2006/main">
  <p:tag name="KSO_WM_DIAGRAM_VIRTUALLY_FRAME" val="{&quot;height&quot;:403.1,&quot;left&quot;:55.7,&quot;top&quot;:109.25,&quot;width&quot;:860.45}"/>
</p:tagLst>
</file>

<file path=ppt/tags/tag160.xml><?xml version="1.0" encoding="utf-8"?>
<p:tagLst xmlns:p="http://schemas.openxmlformats.org/presentationml/2006/main">
  <p:tag name="KSO_WM_DIAGRAM_VIRTUALLY_FRAME" val="{&quot;height&quot;:403.1,&quot;left&quot;:55.7,&quot;top&quot;:109.25,&quot;width&quot;:860.45}"/>
</p:tagLst>
</file>

<file path=ppt/tags/tag161.xml><?xml version="1.0" encoding="utf-8"?>
<p:tagLst xmlns:p="http://schemas.openxmlformats.org/presentationml/2006/main">
  <p:tag name="KSO_WM_DIAGRAM_VIRTUALLY_FRAME" val="{&quot;height&quot;:403.1,&quot;left&quot;:55.7,&quot;top&quot;:109.25,&quot;width&quot;:860.45}"/>
</p:tagLst>
</file>

<file path=ppt/tags/tag162.xml><?xml version="1.0" encoding="utf-8"?>
<p:tagLst xmlns:p="http://schemas.openxmlformats.org/presentationml/2006/main">
  <p:tag name="KSO_WM_DIAGRAM_VIRTUALLY_FRAME" val="{&quot;height&quot;:403.1,&quot;left&quot;:55.7,&quot;top&quot;:109.25,&quot;width&quot;:860.45}"/>
</p:tagLst>
</file>

<file path=ppt/tags/tag163.xml><?xml version="1.0" encoding="utf-8"?>
<p:tagLst xmlns:p="http://schemas.openxmlformats.org/presentationml/2006/main">
  <p:tag name="KSO_WM_DIAGRAM_VIRTUALLY_FRAME" val="{&quot;height&quot;:403.1,&quot;left&quot;:55.7,&quot;top&quot;:109.25,&quot;width&quot;:860.45}"/>
</p:tagLst>
</file>

<file path=ppt/tags/tag164.xml><?xml version="1.0" encoding="utf-8"?>
<p:tagLst xmlns:p="http://schemas.openxmlformats.org/presentationml/2006/main">
  <p:tag name="KSO_WM_DIAGRAM_VIRTUALLY_FRAME" val="{&quot;height&quot;:403.1,&quot;left&quot;:55.7,&quot;top&quot;:109.25,&quot;width&quot;:860.45}"/>
</p:tagLst>
</file>

<file path=ppt/tags/tag165.xml><?xml version="1.0" encoding="utf-8"?>
<p:tagLst xmlns:p="http://schemas.openxmlformats.org/presentationml/2006/main">
  <p:tag name="KSO_WM_DIAGRAM_VIRTUALLY_FRAME" val="{&quot;height&quot;:403.1,&quot;left&quot;:55.7,&quot;top&quot;:109.25,&quot;width&quot;:860.45}"/>
</p:tagLst>
</file>

<file path=ppt/tags/tag166.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167.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168.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169.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170.xml><?xml version="1.0" encoding="utf-8"?>
<p:tagLst xmlns:p="http://schemas.openxmlformats.org/presentationml/2006/main">
  <p:tag name="KSO_WM_DIAGRAM_VIRTUALLY_FRAME" val="{&quot;height&quot;:403.1,&quot;left&quot;:55.7,&quot;top&quot;:109.25,&quot;width&quot;:860.45}"/>
</p:tagLst>
</file>

<file path=ppt/tags/tag171.xml><?xml version="1.0" encoding="utf-8"?>
<p:tagLst xmlns:p="http://schemas.openxmlformats.org/presentationml/2006/main">
  <p:tag name="KSO_WM_DIAGRAM_VIRTUALLY_FRAME" val="{&quot;height&quot;:403.1,&quot;left&quot;:55.7,&quot;top&quot;:109.25,&quot;width&quot;:860.45}"/>
</p:tagLst>
</file>

<file path=ppt/tags/tag172.xml><?xml version="1.0" encoding="utf-8"?>
<p:tagLst xmlns:p="http://schemas.openxmlformats.org/presentationml/2006/main">
  <p:tag name="KSO_WM_DIAGRAM_VIRTUALLY_FRAME" val="{&quot;height&quot;:403.1,&quot;left&quot;:55.7,&quot;top&quot;:109.25,&quot;width&quot;:860.45}"/>
</p:tagLst>
</file>

<file path=ppt/tags/tag173.xml><?xml version="1.0" encoding="utf-8"?>
<p:tagLst xmlns:p="http://schemas.openxmlformats.org/presentationml/2006/main">
  <p:tag name="KSO_WM_DIAGRAM_VIRTUALLY_FRAME" val="{&quot;height&quot;:403.1,&quot;left&quot;:55.7,&quot;top&quot;:109.25,&quot;width&quot;:860.45}"/>
</p:tagLst>
</file>

<file path=ppt/tags/tag174.xml><?xml version="1.0" encoding="utf-8"?>
<p:tagLst xmlns:p="http://schemas.openxmlformats.org/presentationml/2006/main">
  <p:tag name="KSO_WM_DIAGRAM_VIRTUALLY_FRAME" val="{&quot;height&quot;:403.1,&quot;left&quot;:55.7,&quot;top&quot;:109.25,&quot;width&quot;:860.45}"/>
</p:tagLst>
</file>

<file path=ppt/tags/tag175.xml><?xml version="1.0" encoding="utf-8"?>
<p:tagLst xmlns:p="http://schemas.openxmlformats.org/presentationml/2006/main">
  <p:tag name="KSO_WM_DIAGRAM_VIRTUALLY_FRAME" val="{&quot;height&quot;:403.1,&quot;left&quot;:55.7,&quot;top&quot;:109.25,&quot;width&quot;:860.45}"/>
</p:tagLst>
</file>

<file path=ppt/tags/tag176.xml><?xml version="1.0" encoding="utf-8"?>
<p:tagLst xmlns:p="http://schemas.openxmlformats.org/presentationml/2006/main">
  <p:tag name="KSO_WM_DIAGRAM_VIRTUALLY_FRAME" val="{&quot;height&quot;:403.1,&quot;left&quot;:55.7,&quot;top&quot;:109.25,&quot;width&quot;:860.45}"/>
</p:tagLst>
</file>

<file path=ppt/tags/tag177.xml><?xml version="1.0" encoding="utf-8"?>
<p:tagLst xmlns:p="http://schemas.openxmlformats.org/presentationml/2006/main">
  <p:tag name="KSO_WM_DIAGRAM_VIRTUALLY_FRAME" val="{&quot;height&quot;:403.1,&quot;left&quot;:55.7,&quot;top&quot;:109.25,&quot;width&quot;:860.45}"/>
</p:tagLst>
</file>

<file path=ppt/tags/tag178.xml><?xml version="1.0" encoding="utf-8"?>
<p:tagLst xmlns:p="http://schemas.openxmlformats.org/presentationml/2006/main">
  <p:tag name="KSO_WM_DIAGRAM_VIRTUALLY_FRAME" val="{&quot;height&quot;:403.1,&quot;left&quot;:55.7,&quot;top&quot;:109.25,&quot;width&quot;:860.45}"/>
</p:tagLst>
</file>

<file path=ppt/tags/tag179.xml><?xml version="1.0" encoding="utf-8"?>
<p:tagLst xmlns:p="http://schemas.openxmlformats.org/presentationml/2006/main">
  <p:tag name="KSO_WM_DIAGRAM_VIRTUALLY_FRAME" val="{&quot;height&quot;:403.1,&quot;left&quot;:55.7,&quot;top&quot;:109.25,&quot;width&quot;:860.45}"/>
</p:tagLst>
</file>

<file path=ppt/tags/tag180.xml><?xml version="1.0" encoding="utf-8"?>
<p:tagLst xmlns:p="http://schemas.openxmlformats.org/presentationml/2006/main">
  <p:tag name="KSO_WM_DIAGRAM_VIRTUALLY_FRAME" val="{&quot;height&quot;:403.1,&quot;left&quot;:55.7,&quot;top&quot;:109.25,&quot;width&quot;:860.45}"/>
</p:tagLst>
</file>

<file path=ppt/tags/tag181.xml><?xml version="1.0" encoding="utf-8"?>
<p:tagLst xmlns:p="http://schemas.openxmlformats.org/presentationml/2006/main">
  <p:tag name="KSO_WM_DIAGRAM_VIRTUALLY_FRAME" val="{&quot;height&quot;:403.1,&quot;left&quot;:55.7,&quot;top&quot;:109.25,&quot;width&quot;:860.45}"/>
</p:tagLst>
</file>

<file path=ppt/tags/tag182.xml><?xml version="1.0" encoding="utf-8"?>
<p:tagLst xmlns:p="http://schemas.openxmlformats.org/presentationml/2006/main">
  <p:tag name="KSO_WM_DIAGRAM_VIRTUALLY_FRAME" val="{&quot;height&quot;:403.1,&quot;left&quot;:55.7,&quot;top&quot;:109.25,&quot;width&quot;:860.45}"/>
</p:tagLst>
</file>

<file path=ppt/tags/tag183.xml><?xml version="1.0" encoding="utf-8"?>
<p:tagLst xmlns:p="http://schemas.openxmlformats.org/presentationml/2006/main">
  <p:tag name="KSO_WM_DIAGRAM_VIRTUALLY_FRAME" val="{&quot;height&quot;:403.1,&quot;left&quot;:55.7,&quot;top&quot;:109.25,&quot;width&quot;:860.45}"/>
</p:tagLst>
</file>

<file path=ppt/tags/tag184.xml><?xml version="1.0" encoding="utf-8"?>
<p:tagLst xmlns:p="http://schemas.openxmlformats.org/presentationml/2006/main">
  <p:tag name="KSO_WM_DIAGRAM_VIRTUALLY_FRAME" val="{&quot;height&quot;:403.1,&quot;left&quot;:55.7,&quot;top&quot;:109.25,&quot;width&quot;:860.45}"/>
</p:tagLst>
</file>

<file path=ppt/tags/tag185.xml><?xml version="1.0" encoding="utf-8"?>
<p:tagLst xmlns:p="http://schemas.openxmlformats.org/presentationml/2006/main">
  <p:tag name="KSO_WM_DIAGRAM_VIRTUALLY_FRAME" val="{&quot;height&quot;:403.1,&quot;left&quot;:55.7,&quot;top&quot;:109.25,&quot;width&quot;:860.45}"/>
</p:tagLst>
</file>

<file path=ppt/tags/tag186.xml><?xml version="1.0" encoding="utf-8"?>
<p:tagLst xmlns:p="http://schemas.openxmlformats.org/presentationml/2006/main">
  <p:tag name="KSO_WM_DIAGRAM_VIRTUALLY_FRAME" val="{&quot;height&quot;:403.1,&quot;left&quot;:55.7,&quot;top&quot;:109.25,&quot;width&quot;:860.45}"/>
</p:tagLst>
</file>

<file path=ppt/tags/tag187.xml><?xml version="1.0" encoding="utf-8"?>
<p:tagLst xmlns:p="http://schemas.openxmlformats.org/presentationml/2006/main">
  <p:tag name="KSO_WM_DIAGRAM_VIRTUALLY_FRAME" val="{&quot;height&quot;:403.1,&quot;left&quot;:55.7,&quot;top&quot;:109.25,&quot;width&quot;:860.45}"/>
</p:tagLst>
</file>

<file path=ppt/tags/tag188.xml><?xml version="1.0" encoding="utf-8"?>
<p:tagLst xmlns:p="http://schemas.openxmlformats.org/presentationml/2006/main">
  <p:tag name="KSO_WM_DIAGRAM_VIRTUALLY_FRAME" val="{&quot;height&quot;:403.1,&quot;left&quot;:55.7,&quot;top&quot;:109.25,&quot;width&quot;:860.45}"/>
</p:tagLst>
</file>

<file path=ppt/tags/tag189.xml><?xml version="1.0" encoding="utf-8"?>
<p:tagLst xmlns:p="http://schemas.openxmlformats.org/presentationml/2006/main">
  <p:tag name="KSO_WM_DIAGRAM_VIRTUALLY_FRAME" val="{&quot;height&quot;:403.1,&quot;left&quot;:55.7,&quot;top&quot;:109.25,&quot;width&quot;:860.45}"/>
</p:tagLst>
</file>

<file path=ppt/tags/tag190.xml><?xml version="1.0" encoding="utf-8"?>
<p:tagLst xmlns:p="http://schemas.openxmlformats.org/presentationml/2006/main">
  <p:tag name="KSO_WM_DIAGRAM_VIRTUALLY_FRAME" val="{&quot;height&quot;:403.1,&quot;left&quot;:55.7,&quot;top&quot;:109.25,&quot;width&quot;:860.45}"/>
</p:tagLst>
</file>

<file path=ppt/tags/tag191.xml><?xml version="1.0" encoding="utf-8"?>
<p:tagLst xmlns:p="http://schemas.openxmlformats.org/presentationml/2006/main">
  <p:tag name="ADJUSTMENTS" val="9.331733"/>
</p:tagLst>
</file>

<file path=ppt/tags/tag192.xml><?xml version="1.0" encoding="utf-8"?>
<p:tagLst xmlns:p="http://schemas.openxmlformats.org/presentationml/2006/main">
  <p:tag name="ADJUSTMENTS" val="9.331733"/>
</p:tagLst>
</file>

<file path=ppt/tags/tag193.xml><?xml version="1.0" encoding="utf-8"?>
<p:tagLst xmlns:p="http://schemas.openxmlformats.org/presentationml/2006/main">
  <p:tag name="ADJUSTMENTS" val="9.331733"/>
</p:tagLst>
</file>

<file path=ppt/tags/tag194.xml><?xml version="1.0" encoding="utf-8"?>
<p:tagLst xmlns:p="http://schemas.openxmlformats.org/presentationml/2006/main">
  <p:tag name="ADJUSTMENTS" val="9.331733"/>
</p:tagLst>
</file>

<file path=ppt/tags/tag195.xml><?xml version="1.0" encoding="utf-8"?>
<p:tagLst xmlns:p="http://schemas.openxmlformats.org/presentationml/2006/main">
  <p:tag name="ADJUSTMENTS" val="9.331733"/>
</p:tagLst>
</file>

<file path=ppt/tags/tag196.xml><?xml version="1.0" encoding="utf-8"?>
<p:tagLst xmlns:p="http://schemas.openxmlformats.org/presentationml/2006/main">
  <p:tag name="ADJUSTMENTS" val="9.331733"/>
</p:tagLst>
</file>

<file path=ppt/tags/tag197.xml><?xml version="1.0" encoding="utf-8"?>
<p:tagLst xmlns:p="http://schemas.openxmlformats.org/presentationml/2006/main">
  <p:tag name="SHADOWSIZE" val="108"/>
  <p:tag name="TEXTSHADOWSIZE" val="100"/>
</p:tagLst>
</file>

<file path=ppt/tags/tag198.xml><?xml version="1.0" encoding="utf-8"?>
<p:tagLst xmlns:p="http://schemas.openxmlformats.org/presentationml/2006/main">
  <p:tag name="SHADOWSIZE" val="108"/>
  <p:tag name="TEXTSHADOWSIZE" val="100"/>
</p:tagLst>
</file>

<file path=ppt/tags/tag199.xml><?xml version="1.0" encoding="utf-8"?>
<p:tagLst xmlns:p="http://schemas.openxmlformats.org/presentationml/2006/main">
  <p:tag name="SHADOWSIZE" val="108"/>
  <p:tag name="TEXTSHADOWSIZE" val="100"/>
</p:tagLst>
</file>

<file path=ppt/tags/tag200.xml><?xml version="1.0" encoding="utf-8"?>
<p:tagLst xmlns:p="http://schemas.openxmlformats.org/presentationml/2006/main">
  <p:tag name="SHADOWSIZE" val="108"/>
  <p:tag name="TEXTSHADOWSIZE" val="100"/>
</p:tagLst>
</file>

<file path=ppt/tags/tag201.xml><?xml version="1.0" encoding="utf-8"?>
<p:tagLst xmlns:p="http://schemas.openxmlformats.org/presentationml/2006/main">
  <p:tag name="SHADOWSIZE" val="108"/>
  <p:tag name="TEXTSHADOWSIZE" val="100"/>
</p:tagLst>
</file>

<file path=ppt/tags/tag202.xml><?xml version="1.0" encoding="utf-8"?>
<p:tagLst xmlns:p="http://schemas.openxmlformats.org/presentationml/2006/main">
  <p:tag name="ESVMK000365" val="000365; 2024/8/19 22:37:31 ; 因律社群"/>
</p:tagLst>
</file>

<file path=ppt/tags/tag203.xml><?xml version="1.0" encoding="utf-8"?>
<p:tagLst xmlns:p="http://schemas.openxmlformats.org/presentationml/2006/main">
  <p:tag name="ADJUSTMENTS" val="9.331733"/>
</p:tagLst>
</file>

<file path=ppt/tags/tag204.xml><?xml version="1.0" encoding="utf-8"?>
<p:tagLst xmlns:p="http://schemas.openxmlformats.org/presentationml/2006/main">
  <p:tag name="ADJUSTMENTS" val="9.331733"/>
</p:tagLst>
</file>

<file path=ppt/tags/tag205.xml><?xml version="1.0" encoding="utf-8"?>
<p:tagLst xmlns:p="http://schemas.openxmlformats.org/presentationml/2006/main">
  <p:tag name="ADJUSTMENTS" val="9.331733"/>
</p:tagLst>
</file>

<file path=ppt/tags/tag206.xml><?xml version="1.0" encoding="utf-8"?>
<p:tagLst xmlns:p="http://schemas.openxmlformats.org/presentationml/2006/main">
  <p:tag name="ADJUSTMENTS" val="9.331733"/>
</p:tagLst>
</file>

<file path=ppt/tags/tag207.xml><?xml version="1.0" encoding="utf-8"?>
<p:tagLst xmlns:p="http://schemas.openxmlformats.org/presentationml/2006/main">
  <p:tag name="ADJUSTMENTS" val="9.331733"/>
</p:tagLst>
</file>

<file path=ppt/tags/tag208.xml><?xml version="1.0" encoding="utf-8"?>
<p:tagLst xmlns:p="http://schemas.openxmlformats.org/presentationml/2006/main">
  <p:tag name="ADJUSTMENTS" val="9.331733"/>
</p:tagLst>
</file>

<file path=ppt/tags/tag209.xml><?xml version="1.0" encoding="utf-8"?>
<p:tagLst xmlns:p="http://schemas.openxmlformats.org/presentationml/2006/main">
  <p:tag name="SHADOWSIZE" val="108"/>
  <p:tag name="TEXTSHADOWSIZE" val="100"/>
</p:tagLst>
</file>

<file path=ppt/tags/tag210.xml><?xml version="1.0" encoding="utf-8"?>
<p:tagLst xmlns:p="http://schemas.openxmlformats.org/presentationml/2006/main">
  <p:tag name="SHADOWSIZE" val="108"/>
  <p:tag name="TEXTSHADOWSIZE" val="100"/>
</p:tagLst>
</file>

<file path=ppt/tags/tag211.xml><?xml version="1.0" encoding="utf-8"?>
<p:tagLst xmlns:p="http://schemas.openxmlformats.org/presentationml/2006/main">
  <p:tag name="SHADOWSIZE" val="108"/>
  <p:tag name="TEXTSHADOWSIZE" val="100"/>
</p:tagLst>
</file>

<file path=ppt/tags/tag212.xml><?xml version="1.0" encoding="utf-8"?>
<p:tagLst xmlns:p="http://schemas.openxmlformats.org/presentationml/2006/main">
  <p:tag name="SHADOWSIZE" val="108"/>
  <p:tag name="TEXTSHADOWSIZE" val="100"/>
</p:tagLst>
</file>

<file path=ppt/tags/tag213.xml><?xml version="1.0" encoding="utf-8"?>
<p:tagLst xmlns:p="http://schemas.openxmlformats.org/presentationml/2006/main">
  <p:tag name="SHADOWSIZE" val="108"/>
  <p:tag name="TEXTSHADOWSIZE" val="100"/>
</p:tagLst>
</file>

<file path=ppt/tags/tag214.xml><?xml version="1.0" encoding="utf-8"?>
<p:tagLst xmlns:p="http://schemas.openxmlformats.org/presentationml/2006/main">
  <p:tag name="KSO_WM_UNIT_FILL_FORE_SCHEMECOLOR_INDEX_1_BRIGHTNESS" val="0"/>
  <p:tag name="KSO_WM_UNIT_FILL_FORE_SCHEMECOLOR_INDEX_1" val="7"/>
  <p:tag name="KSO_WM_UNIT_FILL_FORE_SCHEMECOLOR_INDEX_1_POS" val="0"/>
  <p:tag name="KSO_WM_UNIT_FILL_FORE_SCHEMECOLOR_INDEX_1_TRANS" val="0"/>
  <p:tag name="KSO_WM_UNIT_FILL_FORE_SCHEMECOLOR_INDEX_2_BRIGHTNESS" val="0.8"/>
  <p:tag name="KSO_WM_UNIT_FILL_FORE_SCHEMECOLOR_INDEX_2" val="7"/>
  <p:tag name="KSO_WM_UNIT_FILL_FORE_SCHEMECOLOR_INDEX_2_POS" val="1"/>
  <p:tag name="KSO_WM_UNIT_FILL_FORE_SCHEMECOLOR_INDEX_2_TRANS" val="0"/>
  <p:tag name="KSO_WM_UNIT_FILL_GRADIENT_TYPE" val="0"/>
  <p:tag name="KSO_WM_UNIT_FILL_GRADIENT_ANGLE" val="90"/>
  <p:tag name="KSO_WM_UNIT_FILL_GRADIENT_DIRECTION" val="1"/>
  <p:tag name="KSO_WM_UNIT_FILL_TYPE" val="3"/>
  <p:tag name="KSO_WM_UNIT_LINE_FORE_SCHEMECOLOR_INDEX_BRIGHTNESS" val="0"/>
  <p:tag name="KSO_WM_UNIT_LINE_FORE_SCHEMECOLOR_INDEX" val="14"/>
  <p:tag name="KSO_WM_UNIT_LINE_FILL_TYPE" val="2"/>
</p:tagLst>
</file>

<file path=ppt/tags/tag215.xml><?xml version="1.0" encoding="utf-8"?>
<p:tagLst xmlns:p="http://schemas.openxmlformats.org/presentationml/2006/main">
  <p:tag name="KSO_WM_UNIT_FILL_FORE_SCHEMECOLOR_INDEX_1_BRIGHTNESS" val="0"/>
  <p:tag name="KSO_WM_UNIT_FILL_FORE_SCHEMECOLOR_INDEX_1" val="7"/>
  <p:tag name="KSO_WM_UNIT_FILL_FORE_SCHEMECOLOR_INDEX_1_POS" val="0"/>
  <p:tag name="KSO_WM_UNIT_FILL_FORE_SCHEMECOLOR_INDEX_1_TRANS" val="0"/>
  <p:tag name="KSO_WM_UNIT_FILL_FORE_SCHEMECOLOR_INDEX_2_BRIGHTNESS" val="0.8"/>
  <p:tag name="KSO_WM_UNIT_FILL_FORE_SCHEMECOLOR_INDEX_2" val="7"/>
  <p:tag name="KSO_WM_UNIT_FILL_FORE_SCHEMECOLOR_INDEX_2_POS" val="1"/>
  <p:tag name="KSO_WM_UNIT_FILL_FORE_SCHEMECOLOR_INDEX_2_TRANS" val="0"/>
  <p:tag name="KSO_WM_UNIT_FILL_GRADIENT_TYPE" val="0"/>
  <p:tag name="KSO_WM_UNIT_FILL_GRADIENT_ANGLE" val="90"/>
  <p:tag name="KSO_WM_UNIT_FILL_GRADIENT_DIRECTION" val="1"/>
  <p:tag name="KSO_WM_UNIT_FILL_TYPE" val="3"/>
  <p:tag name="KSO_WM_UNIT_LINE_FORE_SCHEMECOLOR_INDEX_BRIGHTNESS" val="0"/>
  <p:tag name="KSO_WM_UNIT_LINE_FORE_SCHEMECOLOR_INDEX" val="14"/>
  <p:tag name="KSO_WM_UNIT_LINE_FILL_TYPE" val="2"/>
</p:tagLst>
</file>

<file path=ppt/tags/tag216.xml><?xml version="1.0" encoding="utf-8"?>
<p:tagLst xmlns:p="http://schemas.openxmlformats.org/presentationml/2006/main">
  <p:tag name="KSO_WM_DIAGRAM_VIRTUALLY_FRAME" val="{&quot;height&quot;:432.57811023622054,&quot;left&quot;:31.814409448818896,&quot;top&quot;:86.10307086614173,&quot;width&quot;:878.1855905511811}"/>
</p:tagLst>
</file>

<file path=ppt/tags/tag217.xml><?xml version="1.0" encoding="utf-8"?>
<p:tagLst xmlns:p="http://schemas.openxmlformats.org/presentationml/2006/main">
  <p:tag name="KSO_WM_DIAGRAM_VIRTUALLY_FRAME" val="{&quot;height&quot;:432.57811023622054,&quot;left&quot;:31.814409448818896,&quot;top&quot;:86.10307086614173,&quot;width&quot;:878.1855905511811}"/>
</p:tagLst>
</file>

<file path=ppt/tags/tag218.xml><?xml version="1.0" encoding="utf-8"?>
<p:tagLst xmlns:p="http://schemas.openxmlformats.org/presentationml/2006/main">
  <p:tag name="KSO_WM_DIAGRAM_VIRTUALLY_FRAME" val="{&quot;height&quot;:432.57811023622054,&quot;left&quot;:31.814409448818896,&quot;top&quot;:86.10307086614173,&quot;width&quot;:878.1855905511811}"/>
</p:tagLst>
</file>

<file path=ppt/tags/tag219.xml><?xml version="1.0" encoding="utf-8"?>
<p:tagLst xmlns:p="http://schemas.openxmlformats.org/presentationml/2006/main">
  <p:tag name="KSO_WM_DIAGRAM_VIRTUALLY_FRAME" val="{&quot;height&quot;:432.57811023622054,&quot;left&quot;:31.814409448818896,&quot;top&quot;:86.10307086614173,&quot;width&quot;:878.1855905511811}"/>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DIAGRAM_VIRTUALLY_FRAME" val="{&quot;height&quot;:130.2,&quot;left&quot;:103.8,&quot;top&quot;:91.5,&quot;width&quot;:749.7}"/>
</p:tagLst>
</file>

<file path=ppt/tags/tag230.xml><?xml version="1.0" encoding="utf-8"?>
<p:tagLst xmlns:p="http://schemas.openxmlformats.org/presentationml/2006/main">
  <p:tag name="KSO_WM_DIAGRAM_VIRTUALLY_FRAME" val="{&quot;height&quot;:130.2,&quot;left&quot;:103.8,&quot;top&quot;:91.5,&quot;width&quot;:749.7}"/>
</p:tagLst>
</file>

<file path=ppt/tags/tag231.xml><?xml version="1.0" encoding="utf-8"?>
<p:tagLst xmlns:p="http://schemas.openxmlformats.org/presentationml/2006/main">
  <p:tag name="KSO_WM_DIAGRAM_VIRTUALLY_FRAME" val="{&quot;height&quot;:130.2,&quot;left&quot;:103.8,&quot;top&quot;:91.5,&quot;width&quot;:749.7}"/>
</p:tagLst>
</file>

<file path=ppt/tags/tag232.xml><?xml version="1.0" encoding="utf-8"?>
<p:tagLst xmlns:p="http://schemas.openxmlformats.org/presentationml/2006/main">
  <p:tag name="KSO_WM_DIAGRAM_VIRTUALLY_FRAME" val="{&quot;height&quot;:130.2,&quot;left&quot;:103.8,&quot;top&quot;:91.5,&quot;width&quot;:749.7}"/>
</p:tagLst>
</file>

<file path=ppt/tags/tag233.xml><?xml version="1.0" encoding="utf-8"?>
<p:tagLst xmlns:p="http://schemas.openxmlformats.org/presentationml/2006/main">
  <p:tag name="KSO_WM_DIAGRAM_VIRTUALLY_FRAME" val="{&quot;height&quot;:130.2,&quot;left&quot;:103.8,&quot;top&quot;:91.5,&quot;width&quot;:749.7}"/>
</p:tagLst>
</file>

<file path=ppt/tags/tag234.xml><?xml version="1.0" encoding="utf-8"?>
<p:tagLst xmlns:p="http://schemas.openxmlformats.org/presentationml/2006/main">
  <p:tag name="KSO_WM_DIAGRAM_VIRTUALLY_FRAME" val="{&quot;height&quot;:130.2,&quot;left&quot;:103.8,&quot;top&quot;:91.5,&quot;width&quot;:749.7}"/>
</p:tagLst>
</file>

<file path=ppt/tags/tag235.xml><?xml version="1.0" encoding="utf-8"?>
<p:tagLst xmlns:p="http://schemas.openxmlformats.org/presentationml/2006/main">
  <p:tag name="KSO_WM_DIAGRAM_VIRTUALLY_FRAME" val="{&quot;height&quot;:130.2,&quot;left&quot;:103.8,&quot;top&quot;:91.5,&quot;width&quot;:749.7}"/>
</p:tagLst>
</file>

<file path=ppt/tags/tag236.xml><?xml version="1.0" encoding="utf-8"?>
<p:tagLst xmlns:p="http://schemas.openxmlformats.org/presentationml/2006/main">
  <p:tag name="KSO_WM_DIAGRAM_VIRTUALLY_FRAME" val="{&quot;height&quot;:130.2,&quot;left&quot;:103.8,&quot;top&quot;:91.5,&quot;width&quot;:749.7}"/>
</p:tagLst>
</file>

<file path=ppt/tags/tag237.xml><?xml version="1.0" encoding="utf-8"?>
<p:tagLst xmlns:p="http://schemas.openxmlformats.org/presentationml/2006/main">
  <p:tag name="KSO_WM_DIAGRAM_VIRTUALLY_FRAME" val="{&quot;height&quot;:130.2,&quot;left&quot;:103.8,&quot;top&quot;:91.5,&quot;width&quot;:749.7}"/>
</p:tagLst>
</file>

<file path=ppt/tags/tag238.xml><?xml version="1.0" encoding="utf-8"?>
<p:tagLst xmlns:p="http://schemas.openxmlformats.org/presentationml/2006/main">
  <p:tag name="KSO_WM_DIAGRAM_VIRTUALLY_FRAME" val="{&quot;height&quot;:130.2,&quot;left&quot;:103.8,&quot;top&quot;:91.5,&quot;width&quot;:749.7}"/>
</p:tagLst>
</file>

<file path=ppt/tags/tag239.xml><?xml version="1.0" encoding="utf-8"?>
<p:tagLst xmlns:p="http://schemas.openxmlformats.org/presentationml/2006/main">
  <p:tag name="KSO_WM_DIAGRAM_VIRTUALLY_FRAME" val="{&quot;height&quot;:130.2,&quot;left&quot;:103.8,&quot;top&quot;:91.5,&quot;width&quot;:749.7}"/>
</p:tagLst>
</file>

<file path=ppt/tags/tag240.xml><?xml version="1.0" encoding="utf-8"?>
<p:tagLst xmlns:p="http://schemas.openxmlformats.org/presentationml/2006/main">
  <p:tag name="KSO_WM_DIAGRAM_VIRTUALLY_FRAME" val="{&quot;height&quot;:130.2,&quot;left&quot;:103.8,&quot;top&quot;:91.5,&quot;width&quot;:749.7}"/>
</p:tagLst>
</file>

<file path=ppt/tags/tag241.xml><?xml version="1.0" encoding="utf-8"?>
<p:tagLst xmlns:p="http://schemas.openxmlformats.org/presentationml/2006/main">
  <p:tag name="KSO_WM_DIAGRAM_VIRTUALLY_FRAME" val="{&quot;height&quot;:130.2,&quot;left&quot;:103.8,&quot;top&quot;:91.5,&quot;width&quot;:749.7}"/>
</p:tagLst>
</file>

<file path=ppt/tags/tag242.xml><?xml version="1.0" encoding="utf-8"?>
<p:tagLst xmlns:p="http://schemas.openxmlformats.org/presentationml/2006/main">
  <p:tag name="KSO_WM_DIAGRAM_VIRTUALLY_FRAME" val="{&quot;height&quot;:130.2,&quot;left&quot;:103.8,&quot;top&quot;:91.5,&quot;width&quot;:749.7}"/>
</p:tagLst>
</file>

<file path=ppt/tags/tag243.xml><?xml version="1.0" encoding="utf-8"?>
<p:tagLst xmlns:p="http://schemas.openxmlformats.org/presentationml/2006/main">
  <p:tag name="KSO_WM_DIAGRAM_VIRTUALLY_FRAME" val="{&quot;height&quot;:130.2,&quot;left&quot;:103.8,&quot;top&quot;:91.5,&quot;width&quot;:749.7}"/>
</p:tagLst>
</file>

<file path=ppt/tags/tag244.xml><?xml version="1.0" encoding="utf-8"?>
<p:tagLst xmlns:p="http://schemas.openxmlformats.org/presentationml/2006/main">
  <p:tag name="KSO_WM_DIAGRAM_VIRTUALLY_FRAME" val="{&quot;height&quot;:130.2,&quot;left&quot;:103.8,&quot;top&quot;:91.5,&quot;width&quot;:749.7}"/>
</p:tagLst>
</file>

<file path=ppt/tags/tag245.xml><?xml version="1.0" encoding="utf-8"?>
<p:tagLst xmlns:p="http://schemas.openxmlformats.org/presentationml/2006/main">
  <p:tag name="KSO_WM_DIAGRAM_VIRTUALLY_FRAME" val="{&quot;height&quot;:130.2,&quot;left&quot;:103.8,&quot;top&quot;:91.5,&quot;width&quot;:749.7}"/>
</p:tagLst>
</file>

<file path=ppt/tags/tag246.xml><?xml version="1.0" encoding="utf-8"?>
<p:tagLst xmlns:p="http://schemas.openxmlformats.org/presentationml/2006/main">
  <p:tag name="KSO_WM_DIAGRAM_VIRTUALLY_FRAME" val="{&quot;height&quot;:130.2,&quot;left&quot;:103.8,&quot;top&quot;:91.5,&quot;width&quot;:749.7}"/>
</p:tagLst>
</file>

<file path=ppt/tags/tag247.xml><?xml version="1.0" encoding="utf-8"?>
<p:tagLst xmlns:p="http://schemas.openxmlformats.org/presentationml/2006/main">
  <p:tag name="KSO_WM_DIAGRAM_VIRTUALLY_FRAME" val="{&quot;height&quot;:130.2,&quot;left&quot;:103.8,&quot;top&quot;:91.5,&quot;width&quot;:749.7}"/>
</p:tagLst>
</file>

<file path=ppt/tags/tag248.xml><?xml version="1.0" encoding="utf-8"?>
<p:tagLst xmlns:p="http://schemas.openxmlformats.org/presentationml/2006/main">
  <p:tag name="KSO_WM_DIAGRAM_VIRTUALLY_FRAME" val="{&quot;height&quot;:130.2,&quot;left&quot;:103.8,&quot;top&quot;:91.5,&quot;width&quot;:749.7}"/>
</p:tagLst>
</file>

<file path=ppt/tags/tag249.xml><?xml version="1.0" encoding="utf-8"?>
<p:tagLst xmlns:p="http://schemas.openxmlformats.org/presentationml/2006/main">
  <p:tag name="KSO_WM_DIAGRAM_VIRTUALLY_FRAME" val="{&quot;height&quot;:130.2,&quot;left&quot;:103.8,&quot;top&quot;:91.5,&quot;width&quot;:749.7}"/>
</p:tagLst>
</file>

<file path=ppt/tags/tag250.xml><?xml version="1.0" encoding="utf-8"?>
<p:tagLst xmlns:p="http://schemas.openxmlformats.org/presentationml/2006/main">
  <p:tag name="KSO_WM_DIAGRAM_VIRTUALLY_FRAME" val="{&quot;height&quot;:130.2,&quot;left&quot;:103.8,&quot;top&quot;:91.5,&quot;width&quot;:749.7}"/>
</p:tagLst>
</file>

<file path=ppt/tags/tag251.xml><?xml version="1.0" encoding="utf-8"?>
<p:tagLst xmlns:p="http://schemas.openxmlformats.org/presentationml/2006/main">
  <p:tag name="KSO_WM_DIAGRAM_VIRTUALLY_FRAME" val="{&quot;height&quot;:130.2,&quot;left&quot;:103.8,&quot;top&quot;:91.5,&quot;width&quot;:749.7}"/>
</p:tagLst>
</file>

<file path=ppt/tags/tag252.xml><?xml version="1.0" encoding="utf-8"?>
<p:tagLst xmlns:p="http://schemas.openxmlformats.org/presentationml/2006/main">
  <p:tag name="KSO_WM_DIAGRAM_VIRTUALLY_FRAME" val="{&quot;height&quot;:130.2,&quot;left&quot;:103.8,&quot;top&quot;:91.5,&quot;width&quot;:749.7}"/>
</p:tagLst>
</file>

<file path=ppt/tags/tag253.xml><?xml version="1.0" encoding="utf-8"?>
<p:tagLst xmlns:p="http://schemas.openxmlformats.org/presentationml/2006/main">
  <p:tag name="KSO_WM_DIAGRAM_VIRTUALLY_FRAME" val="{&quot;height&quot;:130.2,&quot;left&quot;:103.8,&quot;top&quot;:91.5,&quot;width&quot;:749.7}"/>
</p:tagLst>
</file>

<file path=ppt/tags/tag254.xml><?xml version="1.0" encoding="utf-8"?>
<p:tagLst xmlns:p="http://schemas.openxmlformats.org/presentationml/2006/main">
  <p:tag name="KSO_WM_DIAGRAM_VIRTUALLY_FRAME" val="{&quot;height&quot;:130.2,&quot;left&quot;:103.8,&quot;top&quot;:91.5,&quot;width&quot;:749.7}"/>
</p:tagLst>
</file>

<file path=ppt/tags/tag255.xml><?xml version="1.0" encoding="utf-8"?>
<p:tagLst xmlns:p="http://schemas.openxmlformats.org/presentationml/2006/main">
  <p:tag name="KSO_WM_DIAGRAM_VIRTUALLY_FRAME" val="{&quot;height&quot;:130.2,&quot;left&quot;:103.8,&quot;top&quot;:91.5,&quot;width&quot;:749.7}"/>
</p:tagLst>
</file>

<file path=ppt/tags/tag256.xml><?xml version="1.0" encoding="utf-8"?>
<p:tagLst xmlns:p="http://schemas.openxmlformats.org/presentationml/2006/main">
  <p:tag name="KSO_WM_DIAGRAM_VIRTUALLY_FRAME" val="{&quot;height&quot;:130.2,&quot;left&quot;:103.8,&quot;top&quot;:91.5,&quot;width&quot;:749.7}"/>
</p:tagLst>
</file>

<file path=ppt/tags/tag257.xml><?xml version="1.0" encoding="utf-8"?>
<p:tagLst xmlns:p="http://schemas.openxmlformats.org/presentationml/2006/main">
  <p:tag name="KSO_WM_DIAGRAM_VIRTUALLY_FRAME" val="{&quot;height&quot;:130.2,&quot;left&quot;:103.8,&quot;top&quot;:91.5,&quot;width&quot;:749.7}"/>
</p:tagLst>
</file>

<file path=ppt/tags/tag258.xml><?xml version="1.0" encoding="utf-8"?>
<p:tagLst xmlns:p="http://schemas.openxmlformats.org/presentationml/2006/main">
  <p:tag name="KSO_WM_DIAGRAM_VIRTUALLY_FRAME" val="{&quot;height&quot;:130.2,&quot;left&quot;:103.8,&quot;top&quot;:91.5,&quot;width&quot;:749.7}"/>
</p:tagLst>
</file>

<file path=ppt/tags/tag259.xml><?xml version="1.0" encoding="utf-8"?>
<p:tagLst xmlns:p="http://schemas.openxmlformats.org/presentationml/2006/main">
  <p:tag name="KSO_WM_DIAGRAM_VIRTUALLY_FRAME" val="{&quot;height&quot;:130.2,&quot;left&quot;:103.8,&quot;top&quot;:91.5,&quot;width&quot;:749.7}"/>
</p:tagLst>
</file>

<file path=ppt/tags/tag260.xml><?xml version="1.0" encoding="utf-8"?>
<p:tagLst xmlns:p="http://schemas.openxmlformats.org/presentationml/2006/main">
  <p:tag name="KSO_WM_DIAGRAM_VIRTUALLY_FRAME" val="{&quot;height&quot;:130.2,&quot;left&quot;:103.8,&quot;top&quot;:91.5,&quot;width&quot;:749.7}"/>
</p:tagLst>
</file>

<file path=ppt/tags/tag261.xml><?xml version="1.0" encoding="utf-8"?>
<p:tagLst xmlns:p="http://schemas.openxmlformats.org/presentationml/2006/main">
  <p:tag name="KSO_WM_DIAGRAM_VIRTUALLY_FRAME" val="{&quot;height&quot;:130.2,&quot;left&quot;:103.8,&quot;top&quot;:91.5,&quot;width&quot;:749.7}"/>
</p:tagLst>
</file>

<file path=ppt/tags/tag262.xml><?xml version="1.0" encoding="utf-8"?>
<p:tagLst xmlns:p="http://schemas.openxmlformats.org/presentationml/2006/main">
  <p:tag name="KSO_WM_DIAGRAM_VIRTUALLY_FRAME" val="{&quot;height&quot;:130.2,&quot;left&quot;:103.8,&quot;top&quot;:91.5,&quot;width&quot;:749.7}"/>
</p:tagLst>
</file>

<file path=ppt/tags/tag263.xml><?xml version="1.0" encoding="utf-8"?>
<p:tagLst xmlns:p="http://schemas.openxmlformats.org/presentationml/2006/main">
  <p:tag name="KSO_WM_DIAGRAM_VIRTUALLY_FRAME" val="{&quot;height&quot;:130.2,&quot;left&quot;:103.8,&quot;top&quot;:91.5,&quot;width&quot;:749.7}"/>
</p:tagLst>
</file>

<file path=ppt/tags/tag264.xml><?xml version="1.0" encoding="utf-8"?>
<p:tagLst xmlns:p="http://schemas.openxmlformats.org/presentationml/2006/main">
  <p:tag name="KSO_WM_DIAGRAM_VIRTUALLY_FRAME" val="{&quot;height&quot;:130.2,&quot;left&quot;:103.8,&quot;top&quot;:91.5,&quot;width&quot;:749.7}"/>
</p:tagLst>
</file>

<file path=ppt/tags/tag265.xml><?xml version="1.0" encoding="utf-8"?>
<p:tagLst xmlns:p="http://schemas.openxmlformats.org/presentationml/2006/main">
  <p:tag name="KSO_WM_DIAGRAM_VIRTUALLY_FRAME" val="{&quot;height&quot;:130.2,&quot;left&quot;:103.8,&quot;top&quot;:91.5,&quot;width&quot;:749.7}"/>
</p:tagLst>
</file>

<file path=ppt/tags/tag266.xml><?xml version="1.0" encoding="utf-8"?>
<p:tagLst xmlns:p="http://schemas.openxmlformats.org/presentationml/2006/main">
  <p:tag name="KSO_WM_DIAGRAM_VIRTUALLY_FRAME" val="{&quot;height&quot;:130.2,&quot;left&quot;:103.8,&quot;top&quot;:91.5,&quot;width&quot;:749.7}"/>
</p:tagLst>
</file>

<file path=ppt/tags/tag267.xml><?xml version="1.0" encoding="utf-8"?>
<p:tagLst xmlns:p="http://schemas.openxmlformats.org/presentationml/2006/main">
  <p:tag name="KSO_WM_DIAGRAM_VIRTUALLY_FRAME" val="{&quot;height&quot;:130.2,&quot;left&quot;:103.8,&quot;top&quot;:91.5,&quot;width&quot;:749.7}"/>
</p:tagLst>
</file>

<file path=ppt/tags/tag268.xml><?xml version="1.0" encoding="utf-8"?>
<p:tagLst xmlns:p="http://schemas.openxmlformats.org/presentationml/2006/main">
  <p:tag name="KSO_WM_DIAGRAM_VIRTUALLY_FRAME" val="{&quot;height&quot;:130.2,&quot;left&quot;:103.8,&quot;top&quot;:91.5,&quot;width&quot;:749.7}"/>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SHADOWSIZE" val="100"/>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SHADOWSIZE" val="108"/>
  <p:tag name="TEXTSHADOWSIZE" val="100"/>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SHADOWSIZE" val="108"/>
  <p:tag name="TEXTSHADOWSIZE" val="100"/>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SHADOWSIZE" val="108"/>
  <p:tag name="TEXTSHADOWSIZE" val="100"/>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SHADOWSIZE" val="100"/>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SHADOWSIZE" val="108"/>
  <p:tag name="TEXTSHADOWSIZE" val="100"/>
  <p:tag name="KSO_WM_BEAUTIFY_FLAG" val=""/>
</p:tagLst>
</file>

<file path=ppt/tags/tag320.xml><?xml version="1.0" encoding="utf-8"?>
<p:tagLst xmlns:p="http://schemas.openxmlformats.org/presentationml/2006/main">
  <p:tag name="SHADOWSIZE" val="108"/>
  <p:tag name="TEXTSHADOWSIZE" val="100"/>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SHADOWSIZE" val="108"/>
  <p:tag name="TEXTSHADOWSIZE" val="100"/>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SHADOWSIZE" val="108"/>
  <p:tag name="TEXTSHADOWSIZE" val="100"/>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SHADOWSIZE" val="108"/>
  <p:tag name="TEXTSHADOWSIZE" val="100"/>
  <p:tag name="KSO_WM_BEAUTIFY_FLAG" val=""/>
</p:tagLst>
</file>

<file path=ppt/tags/tag327.xml><?xml version="1.0" encoding="utf-8"?>
<p:tagLst xmlns:p="http://schemas.openxmlformats.org/presentationml/2006/main">
  <p:tag name="SHADOWSIZE" val="108"/>
  <p:tag name="TEXTSHADOWSIZE" val="100"/>
  <p:tag name="KSO_WM_BEAUTIFY_FLAG" val=""/>
</p:tagLst>
</file>

<file path=ppt/tags/tag328.xml><?xml version="1.0" encoding="utf-8"?>
<p:tagLst xmlns:p="http://schemas.openxmlformats.org/presentationml/2006/main">
  <p:tag name="SHADOWSIZE" val="108"/>
  <p:tag name="TEXTSHADOWSIZE" val="100"/>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SHADOWSIZE" val="100"/>
</p:tagLst>
</file>

<file path=ppt/tags/tag340.xml><?xml version="1.0" encoding="utf-8"?>
<p:tagLst xmlns:p="http://schemas.openxmlformats.org/presentationml/2006/main">
  <p:tag name="SHADOWSIZE" val="100"/>
</p:tagLst>
</file>

<file path=ppt/tags/tag341.xml><?xml version="1.0" encoding="utf-8"?>
<p:tagLst xmlns:p="http://schemas.openxmlformats.org/presentationml/2006/main">
  <p:tag name="SHADOWSIZE" val="100"/>
</p:tagLst>
</file>

<file path=ppt/tags/tag342.xml><?xml version="1.0" encoding="utf-8"?>
<p:tagLst xmlns:p="http://schemas.openxmlformats.org/presentationml/2006/main">
  <p:tag name="SHADOWSIZE" val="100"/>
</p:tagLst>
</file>

<file path=ppt/tags/tag343.xml><?xml version="1.0" encoding="utf-8"?>
<p:tagLst xmlns:p="http://schemas.openxmlformats.org/presentationml/2006/main">
  <p:tag name="SHADOWSIZE" val="100"/>
</p:tagLst>
</file>

<file path=ppt/tags/tag344.xml><?xml version="1.0" encoding="utf-8"?>
<p:tagLst xmlns:p="http://schemas.openxmlformats.org/presentationml/2006/main">
  <p:tag name="SHADOWSIZE" val="100"/>
</p:tagLst>
</file>

<file path=ppt/tags/tag345.xml><?xml version="1.0" encoding="utf-8"?>
<p:tagLst xmlns:p="http://schemas.openxmlformats.org/presentationml/2006/main">
  <p:tag name="SHADOWSIZE" val="100"/>
</p:tagLst>
</file>

<file path=ppt/tags/tag346.xml><?xml version="1.0" encoding="utf-8"?>
<p:tagLst xmlns:p="http://schemas.openxmlformats.org/presentationml/2006/main">
  <p:tag name="SHADOWSIZE" val="100"/>
</p:tagLst>
</file>

<file path=ppt/tags/tag347.xml><?xml version="1.0" encoding="utf-8"?>
<p:tagLst xmlns:p="http://schemas.openxmlformats.org/presentationml/2006/main">
  <p:tag name="SHADOWSIZE" val="100"/>
</p:tagLst>
</file>

<file path=ppt/tags/tag348.xml><?xml version="1.0" encoding="utf-8"?>
<p:tagLst xmlns:p="http://schemas.openxmlformats.org/presentationml/2006/main">
  <p:tag name="SHADOWSIZE" val="100"/>
</p:tagLst>
</file>

<file path=ppt/tags/tag349.xml><?xml version="1.0" encoding="utf-8"?>
<p:tagLst xmlns:p="http://schemas.openxmlformats.org/presentationml/2006/main">
  <p:tag name="SHADOWSIZE" val="100"/>
</p:tagLst>
</file>

<file path=ppt/tags/tag350.xml><?xml version="1.0" encoding="utf-8"?>
<p:tagLst xmlns:p="http://schemas.openxmlformats.org/presentationml/2006/main">
  <p:tag name="SHADOWSIZE" val="100"/>
</p:tagLst>
</file>

<file path=ppt/tags/tag351.xml><?xml version="1.0" encoding="utf-8"?>
<p:tagLst xmlns:p="http://schemas.openxmlformats.org/presentationml/2006/main">
  <p:tag name="TEXTZ '" val="0"/>
</p:tagLst>
</file>

<file path=ppt/tags/tag352.xml><?xml version="1.0" encoding="utf-8"?>
<p:tagLst xmlns:p="http://schemas.openxmlformats.org/presentationml/2006/main">
  <p:tag name="KSO_WM_DIAGRAM_VIRTUALLY_FRAME" val="{&quot;height&quot;:352.3,&quot;left&quot;:217.3,&quot;top&quot;:110.65,&quot;width&quot;:707.1}"/>
</p:tagLst>
</file>

<file path=ppt/tags/tag353.xml><?xml version="1.0" encoding="utf-8"?>
<p:tagLst xmlns:p="http://schemas.openxmlformats.org/presentationml/2006/main">
  <p:tag name="KSO_WM_DIAGRAM_VIRTUALLY_FRAME" val="{&quot;height&quot;:352.3,&quot;left&quot;:217.3,&quot;top&quot;:110.65,&quot;width&quot;:707.1}"/>
</p:tagLst>
</file>

<file path=ppt/tags/tag354.xml><?xml version="1.0" encoding="utf-8"?>
<p:tagLst xmlns:p="http://schemas.openxmlformats.org/presentationml/2006/main">
  <p:tag name="KSO_WM_DIAGRAM_VIRTUALLY_FRAME" val="{&quot;height&quot;:352.3,&quot;left&quot;:217.3,&quot;top&quot;:110.65,&quot;width&quot;:707.1}"/>
</p:tagLst>
</file>

<file path=ppt/tags/tag355.xml><?xml version="1.0" encoding="utf-8"?>
<p:tagLst xmlns:p="http://schemas.openxmlformats.org/presentationml/2006/main">
  <p:tag name="KSO_WM_DIAGRAM_VIRTUALLY_FRAME" val="{&quot;height&quot;:352.3,&quot;left&quot;:217.3,&quot;top&quot;:110.65,&quot;width&quot;:707.1}"/>
</p:tagLst>
</file>

<file path=ppt/tags/tag356.xml><?xml version="1.0" encoding="utf-8"?>
<p:tagLst xmlns:p="http://schemas.openxmlformats.org/presentationml/2006/main">
  <p:tag name="KSO_WM_DIAGRAM_VIRTUALLY_FRAME" val="{&quot;height&quot;:352.3,&quot;left&quot;:217.3,&quot;top&quot;:110.65,&quot;width&quot;:707.1}"/>
</p:tagLst>
</file>

<file path=ppt/tags/tag357.xml><?xml version="1.0" encoding="utf-8"?>
<p:tagLst xmlns:p="http://schemas.openxmlformats.org/presentationml/2006/main">
  <p:tag name="KSO_WM_DIAGRAM_VIRTUALLY_FRAME" val="{&quot;height&quot;:352.3,&quot;left&quot;:217.3,&quot;top&quot;:110.65,&quot;width&quot;:707.1}"/>
</p:tagLst>
</file>

<file path=ppt/tags/tag358.xml><?xml version="1.0" encoding="utf-8"?>
<p:tagLst xmlns:p="http://schemas.openxmlformats.org/presentationml/2006/main">
  <p:tag name="KSO_WM_DIAGRAM_VIRTUALLY_FRAME" val="{&quot;height&quot;:352.3,&quot;left&quot;:217.3,&quot;top&quot;:110.65,&quot;width&quot;:707.1}"/>
</p:tagLst>
</file>

<file path=ppt/tags/tag359.xml><?xml version="1.0" encoding="utf-8"?>
<p:tagLst xmlns:p="http://schemas.openxmlformats.org/presentationml/2006/main">
  <p:tag name="KSO_WM_DIAGRAM_VIRTUALLY_FRAME" val="{&quot;height&quot;:352.3,&quot;left&quot;:217.3,&quot;top&quot;:110.65,&quot;width&quot;:707.1}"/>
</p:tagLst>
</file>

<file path=ppt/tags/tag360.xml><?xml version="1.0" encoding="utf-8"?>
<p:tagLst xmlns:p="http://schemas.openxmlformats.org/presentationml/2006/main">
  <p:tag name="KSO_WM_DIAGRAM_VIRTUALLY_FRAME" val="{&quot;height&quot;:352.3,&quot;left&quot;:217.3,&quot;top&quot;:110.65,&quot;width&quot;:707.1}"/>
</p:tagLst>
</file>

<file path=ppt/tags/tag361.xml><?xml version="1.0" encoding="utf-8"?>
<p:tagLst xmlns:p="http://schemas.openxmlformats.org/presentationml/2006/main">
  <p:tag name="KSO_WM_DIAGRAM_VIRTUALLY_FRAME" val="{&quot;height&quot;:352.3,&quot;left&quot;:217.3,&quot;top&quot;:110.65,&quot;width&quot;:707.1}"/>
</p:tagLst>
</file>

<file path=ppt/tags/tag362.xml><?xml version="1.0" encoding="utf-8"?>
<p:tagLst xmlns:p="http://schemas.openxmlformats.org/presentationml/2006/main">
  <p:tag name="KSO_WM_DIAGRAM_VIRTUALLY_FRAME" val="{&quot;height&quot;:352.3,&quot;left&quot;:217.3,&quot;top&quot;:110.65,&quot;width&quot;:707.1}"/>
</p:tagLst>
</file>

<file path=ppt/tags/tag363.xml><?xml version="1.0" encoding="utf-8"?>
<p:tagLst xmlns:p="http://schemas.openxmlformats.org/presentationml/2006/main">
  <p:tag name="KSO_WM_DIAGRAM_VIRTUALLY_FRAME" val="{&quot;height&quot;:352.3,&quot;left&quot;:217.3,&quot;top&quot;:110.65,&quot;width&quot;:707.1}"/>
</p:tagLst>
</file>

<file path=ppt/tags/tag364.xml><?xml version="1.0" encoding="utf-8"?>
<p:tagLst xmlns:p="http://schemas.openxmlformats.org/presentationml/2006/main">
  <p:tag name="KSO_WM_DIAGRAM_VIRTUALLY_FRAME" val="{&quot;height&quot;:352.3,&quot;left&quot;:217.3,&quot;top&quot;:110.65,&quot;width&quot;:707.1}"/>
</p:tagLst>
</file>

<file path=ppt/tags/tag365.xml><?xml version="1.0" encoding="utf-8"?>
<p:tagLst xmlns:p="http://schemas.openxmlformats.org/presentationml/2006/main">
  <p:tag name="KSO_WM_DIAGRAM_VIRTUALLY_FRAME" val="{&quot;height&quot;:352.3,&quot;left&quot;:217.3,&quot;top&quot;:110.65,&quot;width&quot;:707.1}"/>
</p:tagLst>
</file>

<file path=ppt/tags/tag366.xml><?xml version="1.0" encoding="utf-8"?>
<p:tagLst xmlns:p="http://schemas.openxmlformats.org/presentationml/2006/main">
  <p:tag name="KSO_WM_DIAGRAM_VIRTUALLY_FRAME" val="{&quot;height&quot;:352.3,&quot;left&quot;:217.3,&quot;top&quot;:110.65,&quot;width&quot;:707.1}"/>
</p:tagLst>
</file>

<file path=ppt/tags/tag367.xml><?xml version="1.0" encoding="utf-8"?>
<p:tagLst xmlns:p="http://schemas.openxmlformats.org/presentationml/2006/main">
  <p:tag name="KSO_WM_DIAGRAM_VIRTUALLY_FRAME" val="{&quot;height&quot;:352.3,&quot;left&quot;:217.3,&quot;top&quot;:110.65,&quot;width&quot;:707.1}"/>
</p:tagLst>
</file>

<file path=ppt/tags/tag368.xml><?xml version="1.0" encoding="utf-8"?>
<p:tagLst xmlns:p="http://schemas.openxmlformats.org/presentationml/2006/main">
  <p:tag name="KSO_WM_DIAGRAM_VIRTUALLY_FRAME" val="{&quot;height&quot;:352.3,&quot;left&quot;:217.3,&quot;top&quot;:110.65,&quot;width&quot;:707.1}"/>
</p:tagLst>
</file>

<file path=ppt/tags/tag369.xml><?xml version="1.0" encoding="utf-8"?>
<p:tagLst xmlns:p="http://schemas.openxmlformats.org/presentationml/2006/main">
  <p:tag name="KSO_WM_DIAGRAM_VIRTUALLY_FRAME" val="{&quot;height&quot;:352.3,&quot;left&quot;:217.3,&quot;top&quot;:110.65,&quot;width&quot;:707.1}"/>
</p:tagLst>
</file>

<file path=ppt/tags/tag370.xml><?xml version="1.0" encoding="utf-8"?>
<p:tagLst xmlns:p="http://schemas.openxmlformats.org/presentationml/2006/main">
  <p:tag name="KSO_WM_DIAGRAM_VIRTUALLY_FRAME" val="{&quot;height&quot;:352.3,&quot;left&quot;:217.3,&quot;top&quot;:110.65,&quot;width&quot;:707.1}"/>
</p:tagLst>
</file>

<file path=ppt/tags/tag371.xml><?xml version="1.0" encoding="utf-8"?>
<p:tagLst xmlns:p="http://schemas.openxmlformats.org/presentationml/2006/main">
  <p:tag name="KSO_WM_DIAGRAM_VIRTUALLY_FRAME" val="{&quot;height&quot;:352.3,&quot;left&quot;:217.3,&quot;top&quot;:110.65,&quot;width&quot;:707.1}"/>
</p:tagLst>
</file>

<file path=ppt/tags/tag372.xml><?xml version="1.0" encoding="utf-8"?>
<p:tagLst xmlns:p="http://schemas.openxmlformats.org/presentationml/2006/main">
  <p:tag name="KSO_WM_DIAGRAM_VIRTUALLY_FRAME" val="{&quot;height&quot;:352.3,&quot;left&quot;:217.3,&quot;top&quot;:110.65,&quot;width&quot;:707.1}"/>
</p:tagLst>
</file>

<file path=ppt/tags/tag373.xml><?xml version="1.0" encoding="utf-8"?>
<p:tagLst xmlns:p="http://schemas.openxmlformats.org/presentationml/2006/main">
  <p:tag name="KSO_WM_DIAGRAM_VIRTUALLY_FRAME" val="{&quot;height&quot;:352.3,&quot;left&quot;:217.3,&quot;top&quot;:110.65,&quot;width&quot;:707.1}"/>
</p:tagLst>
</file>

<file path=ppt/tags/tag374.xml><?xml version="1.0" encoding="utf-8"?>
<p:tagLst xmlns:p="http://schemas.openxmlformats.org/presentationml/2006/main">
  <p:tag name="KSO_WM_DIAGRAM_VIRTUALLY_FRAME" val="{&quot;height&quot;:352.3,&quot;left&quot;:217.3,&quot;top&quot;:110.65,&quot;width&quot;:707.1}"/>
</p:tagLst>
</file>

<file path=ppt/tags/tag375.xml><?xml version="1.0" encoding="utf-8"?>
<p:tagLst xmlns:p="http://schemas.openxmlformats.org/presentationml/2006/main">
  <p:tag name="KSO_WM_DIAGRAM_VIRTUALLY_FRAME" val="{&quot;height&quot;:352.3,&quot;left&quot;:217.3,&quot;top&quot;:110.65,&quot;width&quot;:707.1}"/>
</p:tagLst>
</file>

<file path=ppt/tags/tag376.xml><?xml version="1.0" encoding="utf-8"?>
<p:tagLst xmlns:p="http://schemas.openxmlformats.org/presentationml/2006/main">
  <p:tag name="KSO_WM_DIAGRAM_VIRTUALLY_FRAME" val="{&quot;height&quot;:352.3,&quot;left&quot;:217.3,&quot;top&quot;:110.65,&quot;width&quot;:707.1}"/>
</p:tagLst>
</file>

<file path=ppt/tags/tag377.xml><?xml version="1.0" encoding="utf-8"?>
<p:tagLst xmlns:p="http://schemas.openxmlformats.org/presentationml/2006/main">
  <p:tag name="KSO_WM_DIAGRAM_VIRTUALLY_FRAME" val="{&quot;height&quot;:352.3,&quot;left&quot;:217.3,&quot;top&quot;:110.65,&quot;width&quot;:707.1}"/>
</p:tagLst>
</file>

<file path=ppt/tags/tag378.xml><?xml version="1.0" encoding="utf-8"?>
<p:tagLst xmlns:p="http://schemas.openxmlformats.org/presentationml/2006/main">
  <p:tag name="KSO_WM_DIAGRAM_VIRTUALLY_FRAME" val="{&quot;height&quot;:352.3,&quot;left&quot;:217.3,&quot;top&quot;:110.65,&quot;width&quot;:707.1}"/>
</p:tagLst>
</file>

<file path=ppt/tags/tag379.xml><?xml version="1.0" encoding="utf-8"?>
<p:tagLst xmlns:p="http://schemas.openxmlformats.org/presentationml/2006/main">
  <p:tag name="KSO_WM_DIAGRAM_VIRTUALLY_FRAME" val="{&quot;height&quot;:352.3,&quot;left&quot;:217.3,&quot;top&quot;:110.65,&quot;width&quot;:707.1}"/>
</p:tagLst>
</file>

<file path=ppt/tags/tag380.xml><?xml version="1.0" encoding="utf-8"?>
<p:tagLst xmlns:p="http://schemas.openxmlformats.org/presentationml/2006/main">
  <p:tag name="KSO_WM_DIAGRAM_VIRTUALLY_FRAME" val="{&quot;height&quot;:352.3,&quot;left&quot;:217.3,&quot;top&quot;:110.65,&quot;width&quot;:707.1}"/>
</p:tagLst>
</file>

<file path=ppt/tags/tag381.xml><?xml version="1.0" encoding="utf-8"?>
<p:tagLst xmlns:p="http://schemas.openxmlformats.org/presentationml/2006/main">
  <p:tag name="KSO_WM_DIAGRAM_VIRTUALLY_FRAME" val="{&quot;height&quot;:352.3,&quot;left&quot;:217.3,&quot;top&quot;:110.65,&quot;width&quot;:707.1}"/>
</p:tagLst>
</file>

<file path=ppt/tags/tag382.xml><?xml version="1.0" encoding="utf-8"?>
<p:tagLst xmlns:p="http://schemas.openxmlformats.org/presentationml/2006/main">
  <p:tag name="KSO_WM_DIAGRAM_VIRTUALLY_FRAME" val="{&quot;height&quot;:352.3,&quot;left&quot;:217.3,&quot;top&quot;:110.65,&quot;width&quot;:707.1}"/>
</p:tagLst>
</file>

<file path=ppt/tags/tag383.xml><?xml version="1.0" encoding="utf-8"?>
<p:tagLst xmlns:p="http://schemas.openxmlformats.org/presentationml/2006/main">
  <p:tag name="KSO_WM_DIAGRAM_VIRTUALLY_FRAME" val="{&quot;height&quot;:352.3,&quot;left&quot;:217.3,&quot;top&quot;:110.65,&quot;width&quot;:707.1}"/>
</p:tagLst>
</file>

<file path=ppt/tags/tag384.xml><?xml version="1.0" encoding="utf-8"?>
<p:tagLst xmlns:p="http://schemas.openxmlformats.org/presentationml/2006/main">
  <p:tag name="KSO_WM_DIAGRAM_VIRTUALLY_FRAME" val="{&quot;height&quot;:352.3,&quot;left&quot;:217.3,&quot;top&quot;:110.65,&quot;width&quot;:707.1}"/>
</p:tagLst>
</file>

<file path=ppt/tags/tag385.xml><?xml version="1.0" encoding="utf-8"?>
<p:tagLst xmlns:p="http://schemas.openxmlformats.org/presentationml/2006/main">
  <p:tag name="KSO_WM_DIAGRAM_VIRTUALLY_FRAME" val="{&quot;height&quot;:352.3,&quot;left&quot;:217.3,&quot;top&quot;:110.65,&quot;width&quot;:707.1}"/>
</p:tagLst>
</file>

<file path=ppt/tags/tag386.xml><?xml version="1.0" encoding="utf-8"?>
<p:tagLst xmlns:p="http://schemas.openxmlformats.org/presentationml/2006/main">
  <p:tag name="KSO_WM_DIAGRAM_VIRTUALLY_FRAME" val="{&quot;height&quot;:352.3,&quot;left&quot;:217.3,&quot;top&quot;:110.65,&quot;width&quot;:707.1}"/>
</p:tagLst>
</file>

<file path=ppt/tags/tag387.xml><?xml version="1.0" encoding="utf-8"?>
<p:tagLst xmlns:p="http://schemas.openxmlformats.org/presentationml/2006/main">
  <p:tag name="KSO_WM_DIAGRAM_VIRTUALLY_FRAME" val="{&quot;height&quot;:352.3,&quot;left&quot;:217.3,&quot;top&quot;:110.65,&quot;width&quot;:707.1}"/>
</p:tagLst>
</file>

<file path=ppt/tags/tag388.xml><?xml version="1.0" encoding="utf-8"?>
<p:tagLst xmlns:p="http://schemas.openxmlformats.org/presentationml/2006/main">
  <p:tag name="KSO_WM_DIAGRAM_VIRTUALLY_FRAME" val="{&quot;height&quot;:352.3,&quot;left&quot;:217.3,&quot;top&quot;:110.65,&quot;width&quot;:707.1}"/>
</p:tagLst>
</file>

<file path=ppt/tags/tag389.xml><?xml version="1.0" encoding="utf-8"?>
<p:tagLst xmlns:p="http://schemas.openxmlformats.org/presentationml/2006/main">
  <p:tag name="KSO_WM_DIAGRAM_VIRTUALLY_FRAME" val="{&quot;height&quot;:352.3,&quot;left&quot;:217.3,&quot;top&quot;:110.65,&quot;width&quot;:707.1}"/>
</p:tagLst>
</file>

<file path=ppt/tags/tag390.xml><?xml version="1.0" encoding="utf-8"?>
<p:tagLst xmlns:p="http://schemas.openxmlformats.org/presentationml/2006/main">
  <p:tag name="KSO_WM_DIAGRAM_VIRTUALLY_FRAME" val="{&quot;height&quot;:352.3,&quot;left&quot;:217.3,&quot;top&quot;:110.65,&quot;width&quot;:707.1}"/>
</p:tagLst>
</file>

<file path=ppt/tags/tag391.xml><?xml version="1.0" encoding="utf-8"?>
<p:tagLst xmlns:p="http://schemas.openxmlformats.org/presentationml/2006/main">
  <p:tag name="KSO_WM_DIAGRAM_VIRTUALLY_FRAME" val="{&quot;height&quot;:352.3,&quot;left&quot;:217.3,&quot;top&quot;:110.65,&quot;width&quot;:707.1}"/>
</p:tagLst>
</file>

<file path=ppt/tags/tag392.xml><?xml version="1.0" encoding="utf-8"?>
<p:tagLst xmlns:p="http://schemas.openxmlformats.org/presentationml/2006/main">
  <p:tag name="KSO_WM_DIAGRAM_VIRTUALLY_FRAME" val="{&quot;height&quot;:352.3,&quot;left&quot;:217.3,&quot;top&quot;:110.65,&quot;width&quot;:707.1}"/>
</p:tagLst>
</file>

<file path=ppt/tags/tag393.xml><?xml version="1.0" encoding="utf-8"?>
<p:tagLst xmlns:p="http://schemas.openxmlformats.org/presentationml/2006/main">
  <p:tag name="KSO_WM_DIAGRAM_VIRTUALLY_FRAME" val="{&quot;height&quot;:352.3,&quot;left&quot;:217.3,&quot;top&quot;:110.65,&quot;width&quot;:707.1}"/>
</p:tagLst>
</file>

<file path=ppt/tags/tag394.xml><?xml version="1.0" encoding="utf-8"?>
<p:tagLst xmlns:p="http://schemas.openxmlformats.org/presentationml/2006/main">
  <p:tag name="KSO_WM_DIAGRAM_VIRTUALLY_FRAME" val="{&quot;height&quot;:352.3,&quot;left&quot;:217.3,&quot;top&quot;:110.65,&quot;width&quot;:707.1}"/>
</p:tagLst>
</file>

<file path=ppt/tags/tag395.xml><?xml version="1.0" encoding="utf-8"?>
<p:tagLst xmlns:p="http://schemas.openxmlformats.org/presentationml/2006/main">
  <p:tag name="KSO_WM_DIAGRAM_VIRTUALLY_FRAME" val="{&quot;height&quot;:352.3,&quot;left&quot;:217.3,&quot;top&quot;:110.65,&quot;width&quot;:707.1}"/>
</p:tagLst>
</file>

<file path=ppt/tags/tag396.xml><?xml version="1.0" encoding="utf-8"?>
<p:tagLst xmlns:p="http://schemas.openxmlformats.org/presentationml/2006/main">
  <p:tag name="KSO_WM_DIAGRAM_VIRTUALLY_FRAME" val="{&quot;height&quot;:352.3,&quot;left&quot;:217.3,&quot;top&quot;:110.65,&quot;width&quot;:707.1}"/>
</p:tagLst>
</file>

<file path=ppt/tags/tag397.xml><?xml version="1.0" encoding="utf-8"?>
<p:tagLst xmlns:p="http://schemas.openxmlformats.org/presentationml/2006/main">
  <p:tag name="KSO_WM_DIAGRAM_VIRTUALLY_FRAME" val="{&quot;height&quot;:352.3,&quot;left&quot;:217.3,&quot;top&quot;:110.65,&quot;width&quot;:707.1}"/>
</p:tagLst>
</file>

<file path=ppt/tags/tag398.xml><?xml version="1.0" encoding="utf-8"?>
<p:tagLst xmlns:p="http://schemas.openxmlformats.org/presentationml/2006/main">
  <p:tag name="KSO_WM_DIAGRAM_VIRTUALLY_FRAME" val="{&quot;height&quot;:352.3,&quot;left&quot;:217.3,&quot;top&quot;:110.65,&quot;width&quot;:707.1}"/>
</p:tagLst>
</file>

<file path=ppt/tags/tag399.xml><?xml version="1.0" encoding="utf-8"?>
<p:tagLst xmlns:p="http://schemas.openxmlformats.org/presentationml/2006/main">
  <p:tag name="KSO_WM_DIAGRAM_VIRTUALLY_FRAME" val="{&quot;height&quot;:352.3,&quot;left&quot;:217.3,&quot;top&quot;:110.65,&quot;width&quot;:707.1}"/>
</p:tagLst>
</file>

<file path=ppt/tags/tag400.xml><?xml version="1.0" encoding="utf-8"?>
<p:tagLst xmlns:p="http://schemas.openxmlformats.org/presentationml/2006/main">
  <p:tag name="KSO_WM_DIAGRAM_VIRTUALLY_FRAME" val="{&quot;height&quot;:352.3,&quot;left&quot;:217.3,&quot;top&quot;:110.65,&quot;width&quot;:707.1}"/>
</p:tagLst>
</file>

<file path=ppt/tags/tag401.xml><?xml version="1.0" encoding="utf-8"?>
<p:tagLst xmlns:p="http://schemas.openxmlformats.org/presentationml/2006/main">
  <p:tag name="KSO_WM_DIAGRAM_VIRTUALLY_FRAME" val="{&quot;height&quot;:352.3,&quot;left&quot;:217.3,&quot;top&quot;:110.65,&quot;width&quot;:707.1}"/>
</p:tagLst>
</file>

<file path=ppt/tags/tag402.xml><?xml version="1.0" encoding="utf-8"?>
<p:tagLst xmlns:p="http://schemas.openxmlformats.org/presentationml/2006/main">
  <p:tag name="KSO_WM_DIAGRAM_VIRTUALLY_FRAME" val="{&quot;height&quot;:352.3,&quot;left&quot;:217.3,&quot;top&quot;:110.65,&quot;width&quot;:707.1}"/>
</p:tagLst>
</file>

<file path=ppt/tags/tag403.xml><?xml version="1.0" encoding="utf-8"?>
<p:tagLst xmlns:p="http://schemas.openxmlformats.org/presentationml/2006/main">
  <p:tag name="KSO_WM_DIAGRAM_VIRTUALLY_FRAME" val="{&quot;height&quot;:352.3,&quot;left&quot;:217.3,&quot;top&quot;:110.65,&quot;width&quot;:707.1}"/>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BEAUTIFY_FLAG" val=""/>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SHADOWSIZE" val="108"/>
  <p:tag name="TEXTSHADOWSIZE" val="100"/>
</p:tagLst>
</file>

<file path=ppt/tags/tag451.xml><?xml version="1.0" encoding="utf-8"?>
<p:tagLst xmlns:p="http://schemas.openxmlformats.org/presentationml/2006/main">
  <p:tag name="SHADOWSIZE" val="108"/>
  <p:tag name="TEXTSHADOWSIZE" val="100"/>
</p:tagLst>
</file>

<file path=ppt/tags/tag452.xml><?xml version="1.0" encoding="utf-8"?>
<p:tagLst xmlns:p="http://schemas.openxmlformats.org/presentationml/2006/main">
  <p:tag name="SHADOWSIZE" val="108"/>
  <p:tag name="TEXTSHADOWSIZE" val="100"/>
</p:tagLst>
</file>

<file path=ppt/tags/tag453.xml><?xml version="1.0" encoding="utf-8"?>
<p:tagLst xmlns:p="http://schemas.openxmlformats.org/presentationml/2006/main">
  <p:tag name="SHADOWSIZE" val="108"/>
  <p:tag name="TEXTSHADOWSIZE" val="100"/>
</p:tagLst>
</file>

<file path=ppt/tags/tag454.xml><?xml version="1.0" encoding="utf-8"?>
<p:tagLst xmlns:p="http://schemas.openxmlformats.org/presentationml/2006/main">
  <p:tag name="SHADOWSIZE" val="108"/>
  <p:tag name="TEXTSHADOWSIZE" val="100"/>
</p:tagLst>
</file>

<file path=ppt/tags/tag455.xml><?xml version="1.0" encoding="utf-8"?>
<p:tagLst xmlns:p="http://schemas.openxmlformats.org/presentationml/2006/main">
  <p:tag name="SHADOWSIZE" val="108"/>
  <p:tag name="TEXTSHADOWSIZE" val="100"/>
</p:tagLst>
</file>

<file path=ppt/tags/tag456.xml><?xml version="1.0" encoding="utf-8"?>
<p:tagLst xmlns:p="http://schemas.openxmlformats.org/presentationml/2006/main">
  <p:tag name="SHADOWSIZE" val="100"/>
</p:tagLst>
</file>

<file path=ppt/tags/tag457.xml><?xml version="1.0" encoding="utf-8"?>
<p:tagLst xmlns:p="http://schemas.openxmlformats.org/presentationml/2006/main">
  <p:tag name="SHADOWSIZE" val="100"/>
</p:tagLst>
</file>

<file path=ppt/tags/tag458.xml><?xml version="1.0" encoding="utf-8"?>
<p:tagLst xmlns:p="http://schemas.openxmlformats.org/presentationml/2006/main">
  <p:tag name="SHADOWSIZE" val="100"/>
</p:tagLst>
</file>

<file path=ppt/tags/tag459.xml><?xml version="1.0" encoding="utf-8"?>
<p:tagLst xmlns:p="http://schemas.openxmlformats.org/presentationml/2006/main">
  <p:tag name="SHADOWSIZE" val="100"/>
</p:tagLst>
</file>

<file path=ppt/tags/tag460.xml><?xml version="1.0" encoding="utf-8"?>
<p:tagLst xmlns:p="http://schemas.openxmlformats.org/presentationml/2006/main">
  <p:tag name="SHADOWSIZE" val="100"/>
</p:tagLst>
</file>

<file path=ppt/tags/tag461.xml><?xml version="1.0" encoding="utf-8"?>
<p:tagLst xmlns:p="http://schemas.openxmlformats.org/presentationml/2006/main">
  <p:tag name="KSO_WM_DIAGRAM_VIRTUALLY_FRAME" val="{&quot;height&quot;:352.3,&quot;left&quot;:217.3,&quot;top&quot;:110.65,&quot;width&quot;:707.1}"/>
</p:tagLst>
</file>

<file path=ppt/tags/tag462.xml><?xml version="1.0" encoding="utf-8"?>
<p:tagLst xmlns:p="http://schemas.openxmlformats.org/presentationml/2006/main">
  <p:tag name="KSO_WM_DIAGRAM_VIRTUALLY_FRAME" val="{&quot;height&quot;:352.3,&quot;left&quot;:217.3,&quot;top&quot;:110.65,&quot;width&quot;:707.1}"/>
</p:tagLst>
</file>

<file path=ppt/tags/tag463.xml><?xml version="1.0" encoding="utf-8"?>
<p:tagLst xmlns:p="http://schemas.openxmlformats.org/presentationml/2006/main">
  <p:tag name="KSO_WM_DIAGRAM_VIRTUALLY_FRAME" val="{&quot;height&quot;:352.3,&quot;left&quot;:217.3,&quot;top&quot;:110.65,&quot;width&quot;:707.1}"/>
</p:tagLst>
</file>

<file path=ppt/tags/tag464.xml><?xml version="1.0" encoding="utf-8"?>
<p:tagLst xmlns:p="http://schemas.openxmlformats.org/presentationml/2006/main">
  <p:tag name="KSO_WM_DIAGRAM_VIRTUALLY_FRAME" val="{&quot;height&quot;:352.3,&quot;left&quot;:217.3,&quot;top&quot;:110.65,&quot;width&quot;:707.1}"/>
</p:tagLst>
</file>

<file path=ppt/tags/tag465.xml><?xml version="1.0" encoding="utf-8"?>
<p:tagLst xmlns:p="http://schemas.openxmlformats.org/presentationml/2006/main">
  <p:tag name="KSO_WM_DIAGRAM_VIRTUALLY_FRAME" val="{&quot;height&quot;:352.3,&quot;left&quot;:217.3,&quot;top&quot;:110.65,&quot;width&quot;:707.1}"/>
</p:tagLst>
</file>

<file path=ppt/tags/tag466.xml><?xml version="1.0" encoding="utf-8"?>
<p:tagLst xmlns:p="http://schemas.openxmlformats.org/presentationml/2006/main">
  <p:tag name="KSO_WM_DIAGRAM_VIRTUALLY_FRAME" val="{&quot;height&quot;:352.3,&quot;left&quot;:217.3,&quot;top&quot;:110.65,&quot;width&quot;:707.1}"/>
</p:tagLst>
</file>

<file path=ppt/tags/tag467.xml><?xml version="1.0" encoding="utf-8"?>
<p:tagLst xmlns:p="http://schemas.openxmlformats.org/presentationml/2006/main">
  <p:tag name="KSO_WM_DIAGRAM_VIRTUALLY_FRAME" val="{&quot;height&quot;:352.3,&quot;left&quot;:217.3,&quot;top&quot;:110.65,&quot;width&quot;:707.1}"/>
</p:tagLst>
</file>

<file path=ppt/tags/tag468.xml><?xml version="1.0" encoding="utf-8"?>
<p:tagLst xmlns:p="http://schemas.openxmlformats.org/presentationml/2006/main">
  <p:tag name="KSO_WM_DIAGRAM_VIRTUALLY_FRAME" val="{&quot;height&quot;:352.3,&quot;left&quot;:217.3,&quot;top&quot;:110.65,&quot;width&quot;:707.1}"/>
</p:tagLst>
</file>

<file path=ppt/tags/tag469.xml><?xml version="1.0" encoding="utf-8"?>
<p:tagLst xmlns:p="http://schemas.openxmlformats.org/presentationml/2006/main">
  <p:tag name="KSO_WM_DIAGRAM_VIRTUALLY_FRAME" val="{&quot;height&quot;:352.3,&quot;left&quot;:217.3,&quot;top&quot;:110.65,&quot;width&quot;:707.1}"/>
</p:tagLst>
</file>

<file path=ppt/tags/tag470.xml><?xml version="1.0" encoding="utf-8"?>
<p:tagLst xmlns:p="http://schemas.openxmlformats.org/presentationml/2006/main">
  <p:tag name="KSO_WM_DIAGRAM_VIRTUALLY_FRAME" val="{&quot;height&quot;:352.3,&quot;left&quot;:217.3,&quot;top&quot;:110.65,&quot;width&quot;:707.1}"/>
</p:tagLst>
</file>

<file path=ppt/tags/tag471.xml><?xml version="1.0" encoding="utf-8"?>
<p:tagLst xmlns:p="http://schemas.openxmlformats.org/presentationml/2006/main">
  <p:tag name="KSO_WM_DIAGRAM_VIRTUALLY_FRAME" val="{&quot;height&quot;:352.3,&quot;left&quot;:217.3,&quot;top&quot;:110.65,&quot;width&quot;:707.1}"/>
</p:tagLst>
</file>

<file path=ppt/tags/tag472.xml><?xml version="1.0" encoding="utf-8"?>
<p:tagLst xmlns:p="http://schemas.openxmlformats.org/presentationml/2006/main">
  <p:tag name="KSO_WM_DIAGRAM_VIRTUALLY_FRAME" val="{&quot;height&quot;:352.3,&quot;left&quot;:217.3,&quot;top&quot;:110.65,&quot;width&quot;:707.1}"/>
</p:tagLst>
</file>

<file path=ppt/tags/tag473.xml><?xml version="1.0" encoding="utf-8"?>
<p:tagLst xmlns:p="http://schemas.openxmlformats.org/presentationml/2006/main">
  <p:tag name="KSO_WM_DIAGRAM_VIRTUALLY_FRAME" val="{&quot;height&quot;:352.3,&quot;left&quot;:217.3,&quot;top&quot;:110.65,&quot;width&quot;:707.1}"/>
</p:tagLst>
</file>

<file path=ppt/tags/tag474.xml><?xml version="1.0" encoding="utf-8"?>
<p:tagLst xmlns:p="http://schemas.openxmlformats.org/presentationml/2006/main">
  <p:tag name="KSO_WM_DIAGRAM_VIRTUALLY_FRAME" val="{&quot;height&quot;:352.3,&quot;left&quot;:217.3,&quot;top&quot;:110.65,&quot;width&quot;:707.1}"/>
</p:tagLst>
</file>

<file path=ppt/tags/tag475.xml><?xml version="1.0" encoding="utf-8"?>
<p:tagLst xmlns:p="http://schemas.openxmlformats.org/presentationml/2006/main">
  <p:tag name="KSO_WM_DIAGRAM_VIRTUALLY_FRAME" val="{&quot;height&quot;:352.3,&quot;left&quot;:217.3,&quot;top&quot;:110.65,&quot;width&quot;:707.1}"/>
</p:tagLst>
</file>

<file path=ppt/tags/tag476.xml><?xml version="1.0" encoding="utf-8"?>
<p:tagLst xmlns:p="http://schemas.openxmlformats.org/presentationml/2006/main">
  <p:tag name="KSO_WM_DIAGRAM_VIRTUALLY_FRAME" val="{&quot;height&quot;:352.3,&quot;left&quot;:217.3,&quot;top&quot;:110.65,&quot;width&quot;:707.1}"/>
</p:tagLst>
</file>

<file path=ppt/tags/tag477.xml><?xml version="1.0" encoding="utf-8"?>
<p:tagLst xmlns:p="http://schemas.openxmlformats.org/presentationml/2006/main">
  <p:tag name="KSO_WM_DIAGRAM_VIRTUALLY_FRAME" val="{&quot;height&quot;:352.3,&quot;left&quot;:217.3,&quot;top&quot;:110.65,&quot;width&quot;:707.1}"/>
</p:tagLst>
</file>

<file path=ppt/tags/tag478.xml><?xml version="1.0" encoding="utf-8"?>
<p:tagLst xmlns:p="http://schemas.openxmlformats.org/presentationml/2006/main">
  <p:tag name="KSO_WM_DIAGRAM_VIRTUALLY_FRAME" val="{&quot;height&quot;:352.3,&quot;left&quot;:217.3,&quot;top&quot;:110.65,&quot;width&quot;:707.1}"/>
</p:tagLst>
</file>

<file path=ppt/tags/tag479.xml><?xml version="1.0" encoding="utf-8"?>
<p:tagLst xmlns:p="http://schemas.openxmlformats.org/presentationml/2006/main">
  <p:tag name="KSO_WM_DIAGRAM_VIRTUALLY_FRAME" val="{&quot;height&quot;:352.3,&quot;left&quot;:217.3,&quot;top&quot;:110.65,&quot;width&quot;:707.1}"/>
</p:tagLst>
</file>

<file path=ppt/tags/tag480.xml><?xml version="1.0" encoding="utf-8"?>
<p:tagLst xmlns:p="http://schemas.openxmlformats.org/presentationml/2006/main">
  <p:tag name="KSO_WM_DIAGRAM_VIRTUALLY_FRAME" val="{&quot;height&quot;:352.3,&quot;left&quot;:217.3,&quot;top&quot;:110.65,&quot;width&quot;:707.1}"/>
</p:tagLst>
</file>

<file path=ppt/tags/tag481.xml><?xml version="1.0" encoding="utf-8"?>
<p:tagLst xmlns:p="http://schemas.openxmlformats.org/presentationml/2006/main">
  <p:tag name="KSO_WM_DIAGRAM_VIRTUALLY_FRAME" val="{&quot;height&quot;:352.3,&quot;left&quot;:217.3,&quot;top&quot;:110.65,&quot;width&quot;:707.1}"/>
</p:tagLst>
</file>

<file path=ppt/tags/tag482.xml><?xml version="1.0" encoding="utf-8"?>
<p:tagLst xmlns:p="http://schemas.openxmlformats.org/presentationml/2006/main">
  <p:tag name="KSO_WM_DIAGRAM_VIRTUALLY_FRAME" val="{&quot;height&quot;:352.3,&quot;left&quot;:217.3,&quot;top&quot;:110.65,&quot;width&quot;:707.1}"/>
</p:tagLst>
</file>

<file path=ppt/tags/tag483.xml><?xml version="1.0" encoding="utf-8"?>
<p:tagLst xmlns:p="http://schemas.openxmlformats.org/presentationml/2006/main">
  <p:tag name="KSO_WM_DIAGRAM_VIRTUALLY_FRAME" val="{&quot;height&quot;:352.3,&quot;left&quot;:217.3,&quot;top&quot;:110.65,&quot;width&quot;:707.1}"/>
</p:tagLst>
</file>

<file path=ppt/tags/tag484.xml><?xml version="1.0" encoding="utf-8"?>
<p:tagLst xmlns:p="http://schemas.openxmlformats.org/presentationml/2006/main">
  <p:tag name="KSO_WM_DIAGRAM_VIRTUALLY_FRAME" val="{&quot;height&quot;:352.3,&quot;left&quot;:217.3,&quot;top&quot;:110.65,&quot;width&quot;:707.1}"/>
</p:tagLst>
</file>

<file path=ppt/tags/tag485.xml><?xml version="1.0" encoding="utf-8"?>
<p:tagLst xmlns:p="http://schemas.openxmlformats.org/presentationml/2006/main">
  <p:tag name="KSO_WM_DIAGRAM_VIRTUALLY_FRAME" val="{&quot;height&quot;:352.3,&quot;left&quot;:217.3,&quot;top&quot;:110.65,&quot;width&quot;:707.1}"/>
</p:tagLst>
</file>

<file path=ppt/tags/tag486.xml><?xml version="1.0" encoding="utf-8"?>
<p:tagLst xmlns:p="http://schemas.openxmlformats.org/presentationml/2006/main">
  <p:tag name="KSO_WM_DIAGRAM_VIRTUALLY_FRAME" val="{&quot;height&quot;:352.3,&quot;left&quot;:217.3,&quot;top&quot;:110.65,&quot;width&quot;:707.1}"/>
</p:tagLst>
</file>

<file path=ppt/tags/tag487.xml><?xml version="1.0" encoding="utf-8"?>
<p:tagLst xmlns:p="http://schemas.openxmlformats.org/presentationml/2006/main">
  <p:tag name="KSO_WM_DIAGRAM_VIRTUALLY_FRAME" val="{&quot;height&quot;:352.3,&quot;left&quot;:217.3,&quot;top&quot;:110.65,&quot;width&quot;:707.1}"/>
</p:tagLst>
</file>

<file path=ppt/tags/tag488.xml><?xml version="1.0" encoding="utf-8"?>
<p:tagLst xmlns:p="http://schemas.openxmlformats.org/presentationml/2006/main">
  <p:tag name="KSO_WM_DIAGRAM_VIRTUALLY_FRAME" val="{&quot;height&quot;:352.3,&quot;left&quot;:217.3,&quot;top&quot;:110.65,&quot;width&quot;:707.1}"/>
</p:tagLst>
</file>

<file path=ppt/tags/tag489.xml><?xml version="1.0" encoding="utf-8"?>
<p:tagLst xmlns:p="http://schemas.openxmlformats.org/presentationml/2006/main">
  <p:tag name="KSO_WM_DIAGRAM_VIRTUALLY_FRAME" val="{&quot;height&quot;:352.3,&quot;left&quot;:217.3,&quot;top&quot;:110.65,&quot;width&quot;:707.1}"/>
</p:tagLst>
</file>

<file path=ppt/tags/tag490.xml><?xml version="1.0" encoding="utf-8"?>
<p:tagLst xmlns:p="http://schemas.openxmlformats.org/presentationml/2006/main">
  <p:tag name="KSO_WM_DIAGRAM_VIRTUALLY_FRAME" val="{&quot;height&quot;:352.3,&quot;left&quot;:217.3,&quot;top&quot;:110.65,&quot;width&quot;:707.1}"/>
</p:tagLst>
</file>

<file path=ppt/tags/tag491.xml><?xml version="1.0" encoding="utf-8"?>
<p:tagLst xmlns:p="http://schemas.openxmlformats.org/presentationml/2006/main">
  <p:tag name="KSO_WM_DIAGRAM_VIRTUALLY_FRAME" val="{&quot;height&quot;:352.3,&quot;left&quot;:217.3,&quot;top&quot;:110.65,&quot;width&quot;:707.1}"/>
</p:tagLst>
</file>

<file path=ppt/tags/tag492.xml><?xml version="1.0" encoding="utf-8"?>
<p:tagLst xmlns:p="http://schemas.openxmlformats.org/presentationml/2006/main">
  <p:tag name="KSO_WM_DIAGRAM_VIRTUALLY_FRAME" val="{&quot;height&quot;:352.3,&quot;left&quot;:217.3,&quot;top&quot;:110.65,&quot;width&quot;:707.1}"/>
</p:tagLst>
</file>

<file path=ppt/tags/tag493.xml><?xml version="1.0" encoding="utf-8"?>
<p:tagLst xmlns:p="http://schemas.openxmlformats.org/presentationml/2006/main">
  <p:tag name="SHADOWSIZE" val="99"/>
  <p:tag name="TEXTSHADOWSIZE" val="100"/>
</p:tagLst>
</file>

<file path=ppt/tags/tag494.xml><?xml version="1.0" encoding="utf-8"?>
<p:tagLst xmlns:p="http://schemas.openxmlformats.org/presentationml/2006/main">
  <p:tag name="SHADOWSIZE" val="99"/>
  <p:tag name="TEXTSHADOWSIZE" val="100"/>
</p:tagLst>
</file>

<file path=ppt/tags/tag495.xml><?xml version="1.0" encoding="utf-8"?>
<p:tagLst xmlns:p="http://schemas.openxmlformats.org/presentationml/2006/main">
  <p:tag name="SHADOWSIZE" val="99"/>
  <p:tag name="TEXTSHADOWSIZE" val="100"/>
</p:tagLst>
</file>

<file path=ppt/tags/tag496.xml><?xml version="1.0" encoding="utf-8"?>
<p:tagLst xmlns:p="http://schemas.openxmlformats.org/presentationml/2006/main">
  <p:tag name="SHADOWSIZE" val="108"/>
  <p:tag name="TEXTSHADOWSIZE" val="100"/>
</p:tagLst>
</file>

<file path=ppt/tags/tag497.xml><?xml version="1.0" encoding="utf-8"?>
<p:tagLst xmlns:p="http://schemas.openxmlformats.org/presentationml/2006/main">
  <p:tag name="SHADOWSIZE" val="108"/>
  <p:tag name="TEXTSHADOWSIZE" val="100"/>
</p:tagLst>
</file>

<file path=ppt/tags/tag498.xml><?xml version="1.0" encoding="utf-8"?>
<p:tagLst xmlns:p="http://schemas.openxmlformats.org/presentationml/2006/main">
  <p:tag name="SHADOWSIZE" val="108"/>
  <p:tag name="TEXTSHADOWSIZE" val="100"/>
</p:tagLst>
</file>

<file path=ppt/tags/tag499.xml><?xml version="1.0" encoding="utf-8"?>
<p:tagLst xmlns:p="http://schemas.openxmlformats.org/presentationml/2006/main">
  <p:tag name="SHADOWSIZE" val="108"/>
  <p:tag name="TEXTSHADOWSIZE" val="100"/>
</p:tagLst>
</file>

<file path=ppt/tags/tag500.xml><?xml version="1.0" encoding="utf-8"?>
<p:tagLst xmlns:p="http://schemas.openxmlformats.org/presentationml/2006/main">
  <p:tag name="SHADOWSIZE" val="99"/>
  <p:tag name="TEXTSHADOWSIZE" val="100"/>
</p:tagLst>
</file>

<file path=ppt/tags/tag501.xml><?xml version="1.0" encoding="utf-8"?>
<p:tagLst xmlns:p="http://schemas.openxmlformats.org/presentationml/2006/main">
  <p:tag name="SHADOWSIZE" val="99"/>
  <p:tag name="TEXTSHADOWSIZE" val="100"/>
</p:tagLst>
</file>

<file path=ppt/tags/tag502.xml><?xml version="1.0" encoding="utf-8"?>
<p:tagLst xmlns:p="http://schemas.openxmlformats.org/presentationml/2006/main">
  <p:tag name="SHADOWSIZE" val="108"/>
  <p:tag name="TEXTSHADOWSIZE" val="100"/>
</p:tagLst>
</file>

<file path=ppt/tags/tag503.xml><?xml version="1.0" encoding="utf-8"?>
<p:tagLst xmlns:p="http://schemas.openxmlformats.org/presentationml/2006/main">
  <p:tag name="SHADOWSIZE" val="99"/>
  <p:tag name="TEXTSHADOWSIZE" val="100"/>
</p:tagLst>
</file>

<file path=ppt/tags/tag504.xml><?xml version="1.0" encoding="utf-8"?>
<p:tagLst xmlns:p="http://schemas.openxmlformats.org/presentationml/2006/main">
  <p:tag name="SHADOWSIZE" val="99"/>
  <p:tag name="TEXTSHADOWSIZE" val="100"/>
</p:tagLst>
</file>

<file path=ppt/tags/tag505.xml><?xml version="1.0" encoding="utf-8"?>
<p:tagLst xmlns:p="http://schemas.openxmlformats.org/presentationml/2006/main">
  <p:tag name="SHADOWSIZE" val="99"/>
  <p:tag name="TEXTSHADOWSIZE" val="100"/>
</p:tagLst>
</file>

<file path=ppt/tags/tag506.xml><?xml version="1.0" encoding="utf-8"?>
<p:tagLst xmlns:p="http://schemas.openxmlformats.org/presentationml/2006/main">
  <p:tag name="SHADOWSIZE" val="99"/>
  <p:tag name="TEXTSHADOWSIZE" val="100"/>
</p:tagLst>
</file>

<file path=ppt/tags/tag507.xml><?xml version="1.0" encoding="utf-8"?>
<p:tagLst xmlns:p="http://schemas.openxmlformats.org/presentationml/2006/main">
  <p:tag name="SHADOWSIZE" val="99"/>
  <p:tag name="TEXTSHADOWSIZE" val="100"/>
</p:tagLst>
</file>

<file path=ppt/tags/tag508.xml><?xml version="1.0" encoding="utf-8"?>
<p:tagLst xmlns:p="http://schemas.openxmlformats.org/presentationml/2006/main">
  <p:tag name="SHADOWSIZE" val="99"/>
  <p:tag name="TEXTSHADOWSIZE" val="100"/>
</p:tagLst>
</file>

<file path=ppt/tags/tag509.xml><?xml version="1.0" encoding="utf-8"?>
<p:tagLst xmlns:p="http://schemas.openxmlformats.org/presentationml/2006/main">
  <p:tag name="SHADOWSIZE" val="99"/>
  <p:tag name="TEXTSHADOWSIZE" val="100"/>
</p:tagLst>
</file>

<file path=ppt/tags/tag510.xml><?xml version="1.0" encoding="utf-8"?>
<p:tagLst xmlns:p="http://schemas.openxmlformats.org/presentationml/2006/main">
  <p:tag name="ADJUSTMENTS" val="11.23327"/>
  <p:tag name="SHADOWSIZE" val="108"/>
  <p:tag name="TEXTSHADOWSIZE" val="100"/>
</p:tagLst>
</file>

<file path=ppt/tags/tag511.xml><?xml version="1.0" encoding="utf-8"?>
<p:tagLst xmlns:p="http://schemas.openxmlformats.org/presentationml/2006/main">
  <p:tag name="ADJUSTMENTS" val="7.334567"/>
  <p:tag name="SHADOWSIZE" val="108"/>
  <p:tag name="TEXTSHADOWSIZE" val="100"/>
</p:tagLst>
</file>

<file path=ppt/tags/tag512.xml><?xml version="1.0" encoding="utf-8"?>
<p:tagLst xmlns:p="http://schemas.openxmlformats.org/presentationml/2006/main">
  <p:tag name="SHADOWSIZE" val="99"/>
  <p:tag name="TEXTSHADOWSIZE" val="100"/>
</p:tagLst>
</file>

<file path=ppt/tags/tag513.xml><?xml version="1.0" encoding="utf-8"?>
<p:tagLst xmlns:p="http://schemas.openxmlformats.org/presentationml/2006/main">
  <p:tag name="SHADOWSIZE" val="99"/>
  <p:tag name="TEXTSHADOWSIZE" val="100"/>
</p:tagLst>
</file>

<file path=ppt/tags/tag514.xml><?xml version="1.0" encoding="utf-8"?>
<p:tagLst xmlns:p="http://schemas.openxmlformats.org/presentationml/2006/main">
  <p:tag name="ADJUSTMENTS" val="11.23327"/>
  <p:tag name="SHADOWSIZE" val="108"/>
  <p:tag name="TEXTSHADOWSIZE" val="100"/>
</p:tagLst>
</file>

<file path=ppt/tags/tag515.xml><?xml version="1.0" encoding="utf-8"?>
<p:tagLst xmlns:p="http://schemas.openxmlformats.org/presentationml/2006/main">
  <p:tag name="ADJUSTMENTS" val="11.23327"/>
  <p:tag name="SHADOWSIZE" val="108"/>
  <p:tag name="TEXTSHADOWSIZE" val="100"/>
</p:tagLst>
</file>

<file path=ppt/tags/tag516.xml><?xml version="1.0" encoding="utf-8"?>
<p:tagLst xmlns:p="http://schemas.openxmlformats.org/presentationml/2006/main">
  <p:tag name="ADJUSTMENTS" val="11.23327"/>
  <p:tag name="SHADOWSIZE" val="108"/>
  <p:tag name="TEXTSHADOWSIZE" val="100"/>
</p:tagLst>
</file>

<file path=ppt/tags/tag517.xml><?xml version="1.0" encoding="utf-8"?>
<p:tagLst xmlns:p="http://schemas.openxmlformats.org/presentationml/2006/main">
  <p:tag name="ADJUSTMENTS" val="11.23327"/>
  <p:tag name="SHADOWSIZE" val="108"/>
  <p:tag name="TEXTSHADOWSIZE" val="100"/>
</p:tagLst>
</file>

<file path=ppt/tags/tag518.xml><?xml version="1.0" encoding="utf-8"?>
<p:tagLst xmlns:p="http://schemas.openxmlformats.org/presentationml/2006/main">
  <p:tag name="ADJUSTMENTS" val="11.23327"/>
  <p:tag name="SHADOWSIZE" val="108"/>
  <p:tag name="TEXTSHADOWSIZE" val="100"/>
</p:tagLst>
</file>

<file path=ppt/tags/tag519.xml><?xml version="1.0" encoding="utf-8"?>
<p:tagLst xmlns:p="http://schemas.openxmlformats.org/presentationml/2006/main">
  <p:tag name="ADJUSTMENTS" val="11.23327"/>
  <p:tag name="SHADOWSIZE" val="108"/>
  <p:tag name="TEXTSHADOWSIZE" val="100"/>
</p:tagLst>
</file>

<file path=ppt/tags/tag520.xml><?xml version="1.0" encoding="utf-8"?>
<p:tagLst xmlns:p="http://schemas.openxmlformats.org/presentationml/2006/main">
  <p:tag name="ADJUSTMENTS" val="11.23327"/>
  <p:tag name="SHADOWSIZE" val="108"/>
  <p:tag name="TEXTSHADOWSIZE" val="100"/>
</p:tagLst>
</file>

<file path=ppt/tags/tag521.xml><?xml version="1.0" encoding="utf-8"?>
<p:tagLst xmlns:p="http://schemas.openxmlformats.org/presentationml/2006/main">
  <p:tag name="ADJUSTMENTS" val="11.23327"/>
  <p:tag name="SHADOWSIZE" val="108"/>
  <p:tag name="TEXTSHADOWSIZE" val="100"/>
</p:tagLst>
</file>

<file path=ppt/tags/tag522.xml><?xml version="1.0" encoding="utf-8"?>
<p:tagLst xmlns:p="http://schemas.openxmlformats.org/presentationml/2006/main">
  <p:tag name="ADJUSTMENTS" val="7.334567"/>
  <p:tag name="SHADOWSIZE" val="108"/>
  <p:tag name="TEXTSHADOWSIZE" val="100"/>
</p:tagLst>
</file>

<file path=ppt/tags/tag523.xml><?xml version="1.0" encoding="utf-8"?>
<p:tagLst xmlns:p="http://schemas.openxmlformats.org/presentationml/2006/main">
  <p:tag name="ADJUSTMENTS" val="7.334567"/>
  <p:tag name="SHADOWSIZE" val="108"/>
  <p:tag name="TEXTSHADOWSIZE" val="100"/>
</p:tagLst>
</file>

<file path=ppt/tags/tag524.xml><?xml version="1.0" encoding="utf-8"?>
<p:tagLst xmlns:p="http://schemas.openxmlformats.org/presentationml/2006/main">
  <p:tag name="ADJUSTMENTS" val="7.334567"/>
  <p:tag name="SHADOWSIZE" val="108"/>
  <p:tag name="TEXTSHADOWSIZE" val="100"/>
</p:tagLst>
</file>

<file path=ppt/tags/tag525.xml><?xml version="1.0" encoding="utf-8"?>
<p:tagLst xmlns:p="http://schemas.openxmlformats.org/presentationml/2006/main">
  <p:tag name="ADJUSTMENTS" val="7.334567"/>
  <p:tag name="SHADOWSIZE" val="108"/>
  <p:tag name="TEXTSHADOWSIZE" val="100"/>
</p:tagLst>
</file>

<file path=ppt/tags/tag526.xml><?xml version="1.0" encoding="utf-8"?>
<p:tagLst xmlns:p="http://schemas.openxmlformats.org/presentationml/2006/main">
  <p:tag name="ADJUSTMENTS" val="7.334567"/>
  <p:tag name="SHADOWSIZE" val="108"/>
  <p:tag name="TEXTSHADOWSIZE" val="100"/>
</p:tagLst>
</file>

<file path=ppt/tags/tag527.xml><?xml version="1.0" encoding="utf-8"?>
<p:tagLst xmlns:p="http://schemas.openxmlformats.org/presentationml/2006/main">
  <p:tag name="ISLIDE.GUIDESSETTING" val="{&quot;Id&quot;:&quot;GuidesStyle_Moderate&quot;,&quot;Name&quot;:&quot;适中&quot;,&quot;Kind&quot;:&quot;System&quot;,&quot;OldGuidesSetting&quot;:{&quot;HeaderHeight&quot;:13.0,&quot;FooterHeight&quot;:6.0,&quot;SideMargin&quot;:4.0,&quot;TopMargin&quot;:0.0,&quot;BottomMargin&quot;:0.0,&quot;IntervalMargin&quot;:1.5}}"/>
  <p:tag name="COMMONDATA" val="eyJoZGlkIjoiMmIxOGE2NGY5MzIzZTFjYjRkMjdkOTZiZDJlY2ZhYzQifQ=="/>
  <p:tag name="RESOURCE_RECORD_KEY" val="{&quot;29&quot;:[50000086]}"/>
</p:tagLst>
</file>

<file path=ppt/theme/theme1.xml><?xml version="1.0" encoding="utf-8"?>
<a:theme xmlns:a="http://schemas.openxmlformats.org/drawingml/2006/main" name="Office 主题​​">
  <a:themeElements>
    <a:clrScheme name="纯蓝色配色">
      <a:dk1>
        <a:srgbClr val="000000"/>
      </a:dk1>
      <a:lt1>
        <a:srgbClr val="FFFFFF"/>
      </a:lt1>
      <a:dk2>
        <a:srgbClr val="44546A"/>
      </a:dk2>
      <a:lt2>
        <a:srgbClr val="E7E6E6"/>
      </a:lt2>
      <a:accent1>
        <a:srgbClr val="1C4274"/>
      </a:accent1>
      <a:accent2>
        <a:srgbClr val="A23424"/>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lang="en-US" altLang="zh-CN">
            <a:latin typeface="HONOR Sans CN" panose="05000200000000000000" charset="-122"/>
            <a:ea typeface="HONOR Sans CN" panose="05000200000000000000"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Office 主题​​">
  <a:themeElements>
    <a:clrScheme name="">
      <a:dk1>
        <a:srgbClr val="202020"/>
      </a:dk1>
      <a:lt1>
        <a:srgbClr val="FFFFFF"/>
      </a:lt1>
      <a:dk2>
        <a:srgbClr val="404040"/>
      </a:dk2>
      <a:lt2>
        <a:srgbClr val="FFFFFF"/>
      </a:lt2>
      <a:accent1>
        <a:srgbClr val="1C4274"/>
      </a:accent1>
      <a:accent2>
        <a:srgbClr val="89B0E3"/>
      </a:accent2>
      <a:accent3>
        <a:srgbClr val="1C4274"/>
      </a:accent3>
      <a:accent4>
        <a:srgbClr val="A5A5A5"/>
      </a:accent4>
      <a:accent5>
        <a:srgbClr val="4E88D4"/>
      </a:accent5>
      <a:accent6>
        <a:srgbClr val="404040"/>
      </a:accent6>
      <a:hlink>
        <a:srgbClr val="0026E5"/>
      </a:hlink>
      <a:folHlink>
        <a:srgbClr val="7E1FAD"/>
      </a:folHlink>
    </a:clrScheme>
    <a:fontScheme name="">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lang="en-US" altLang="zh-CN">
            <a:latin typeface="HONOR Sans CN" panose="05000200000000000000" charset="-122"/>
            <a:ea typeface="HONOR Sans CN" panose="05000200000000000000"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121C34"/>
    </a:dk2>
    <a:lt2>
      <a:srgbClr val="F5F7FC"/>
    </a:lt2>
    <a:accent1>
      <a:srgbClr val="24396B"/>
    </a:accent1>
    <a:accent2>
      <a:srgbClr val="58729A"/>
    </a:accent2>
    <a:accent3>
      <a:srgbClr val="A84031"/>
    </a:accent3>
    <a:accent4>
      <a:srgbClr val="648CAE"/>
    </a:accent4>
    <a:accent5>
      <a:srgbClr val="A5B6CD"/>
    </a:accent5>
    <a:accent6>
      <a:srgbClr val="959DAE"/>
    </a:accent6>
    <a:hlink>
      <a:srgbClr val="0026E5"/>
    </a:hlink>
    <a:folHlink>
      <a:srgbClr val="7E1FAD"/>
    </a:folHlink>
  </a:clrScheme>
  <a:fontScheme name="">
    <a:majorFont>
      <a:latin typeface="BrownStd"/>
      <a:ea typeface="HONOR Sans CN Bold"/>
      <a:cs typeface=""/>
    </a:majorFont>
    <a:minorFont>
      <a:latin typeface="BrownStd Light"/>
      <a:ea typeface="HONOR Sans C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Office Theme</Template>
  <TotalTime>0</TotalTime>
  <Words>16358</Words>
  <Application>WPS 演示</Application>
  <PresentationFormat>宽屏</PresentationFormat>
  <Paragraphs>3586</Paragraphs>
  <Slides>47</Slides>
  <Notes>40</Notes>
  <HiddenSlides>0</HiddenSlides>
  <MMClips>0</MMClips>
  <ScaleCrop>false</ScaleCrop>
  <HeadingPairs>
    <vt:vector size="6" baseType="variant">
      <vt:variant>
        <vt:lpstr>已用的字体</vt:lpstr>
      </vt:variant>
      <vt:variant>
        <vt:i4>26</vt:i4>
      </vt:variant>
      <vt:variant>
        <vt:lpstr>主题</vt:lpstr>
      </vt:variant>
      <vt:variant>
        <vt:i4>2</vt:i4>
      </vt:variant>
      <vt:variant>
        <vt:lpstr>幻灯片标题</vt:lpstr>
      </vt:variant>
      <vt:variant>
        <vt:i4>47</vt:i4>
      </vt:variant>
    </vt:vector>
  </HeadingPairs>
  <TitlesOfParts>
    <vt:vector size="75" baseType="lpstr">
      <vt:lpstr>Arial</vt:lpstr>
      <vt:lpstr>宋体</vt:lpstr>
      <vt:lpstr>Wingdings</vt:lpstr>
      <vt:lpstr>HONOR Sans CN</vt:lpstr>
      <vt:lpstr>微软雅黑</vt:lpstr>
      <vt:lpstr>OPPOSans H</vt:lpstr>
      <vt:lpstr>Wingdings</vt:lpstr>
      <vt:lpstr>Arial Unicode MS</vt:lpstr>
      <vt:lpstr>思源宋体 CN Heavy</vt:lpstr>
      <vt:lpstr>OPPOSans B</vt:lpstr>
      <vt:lpstr>MiSans Semibold</vt:lpstr>
      <vt:lpstr>思源黑体 CN Bold</vt:lpstr>
      <vt:lpstr>方正兰亭黑简体</vt:lpstr>
      <vt:lpstr>黑体</vt:lpstr>
      <vt:lpstr>阿里巴巴普惠体 H</vt:lpstr>
      <vt:lpstr>京东朗正体</vt:lpstr>
      <vt:lpstr>Segoe Print</vt:lpstr>
      <vt:lpstr>Times New Roman</vt:lpstr>
      <vt:lpstr>OPPOSans R</vt:lpstr>
      <vt:lpstr>Helvetica Neue Medium</vt:lpstr>
      <vt:lpstr>BrownStd Light</vt:lpstr>
      <vt:lpstr>Barlow Medium</vt:lpstr>
      <vt:lpstr>Arial</vt:lpstr>
      <vt:lpstr>OPPOSans M</vt:lpstr>
      <vt:lpstr>Calibri</vt:lpstr>
      <vt:lpstr>思源黑体 CN Regular</vt:lpstr>
      <vt:lpstr>Office 主题​​</vt:lpstr>
      <vt:lpstr>5_Office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徐鸣冲</dc:creator>
  <cp:lastModifiedBy>冲Sherman</cp:lastModifiedBy>
  <cp:revision>361</cp:revision>
  <dcterms:created xsi:type="dcterms:W3CDTF">2022-10-13T07:27:00Z</dcterms:created>
  <dcterms:modified xsi:type="dcterms:W3CDTF">2026-02-21T18:16:04Z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CA97EDF6D6A64F93AC17D52C38E77688_13</vt:lpwstr>
  </property>
  <property fmtid="{D5CDD505-2E9C-101B-9397-08002B2CF9AE}" pid="3" name="KSOProductBuildVer">
    <vt:lpwstr>2052-12.1.0.25222</vt:lpwstr>
  </property>
</Properties>
</file>